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360.xml" ContentType="application/vnd.openxmlformats-officedocument.presentationml.tags+xml"/>
  <Override PartName="/ppt/tags/tag370.xml" ContentType="application/vnd.openxmlformats-officedocument.presentationml.tags+xml"/>
  <Override PartName="/ppt/tags/tag380.xml" ContentType="application/vnd.openxmlformats-officedocument.presentationml.tags+xml"/>
  <Override PartName="/ppt/tags/tag390.xml" ContentType="application/vnd.openxmlformats-officedocument.presentationml.tags+xml"/>
  <Override PartName="/ppt/tags/tag40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1186" r:id="rId5"/>
    <p:sldId id="262" r:id="rId6"/>
    <p:sldId id="1222" r:id="rId7"/>
    <p:sldId id="1195" r:id="rId8"/>
    <p:sldId id="1196" r:id="rId9"/>
    <p:sldId id="938" r:id="rId10"/>
    <p:sldId id="939" r:id="rId11"/>
    <p:sldId id="1143" r:id="rId12"/>
    <p:sldId id="1185" r:id="rId13"/>
    <p:sldId id="1199" r:id="rId14"/>
    <p:sldId id="1200" r:id="rId15"/>
    <p:sldId id="308" r:id="rId16"/>
    <p:sldId id="943" r:id="rId17"/>
    <p:sldId id="1201" r:id="rId18"/>
    <p:sldId id="480" r:id="rId19"/>
    <p:sldId id="1202" r:id="rId20"/>
    <p:sldId id="841" r:id="rId21"/>
    <p:sldId id="945" r:id="rId22"/>
    <p:sldId id="874" r:id="rId23"/>
    <p:sldId id="851" r:id="rId24"/>
    <p:sldId id="852" r:id="rId25"/>
    <p:sldId id="1193" r:id="rId26"/>
    <p:sldId id="900" r:id="rId27"/>
    <p:sldId id="496" r:id="rId28"/>
    <p:sldId id="497" r:id="rId29"/>
    <p:sldId id="893" r:id="rId30"/>
    <p:sldId id="1210" r:id="rId31"/>
    <p:sldId id="89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38" autoAdjust="0"/>
    <p:restoredTop sz="94662" autoAdjust="0"/>
  </p:normalViewPr>
  <p:slideViewPr>
    <p:cSldViewPr snapToGrid="0">
      <p:cViewPr varScale="1">
        <p:scale>
          <a:sx n="158" d="100"/>
          <a:sy n="158" d="100"/>
        </p:scale>
        <p:origin x="9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733EA-8E6D-4666-B9D4-9ACE27AD59EA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FE689-547E-4EC7-A7DE-41A4901E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26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91080336-09C4-46B6-BBE4-0CDED8EE3B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B025F0B-D201-4C2C-BAC0-40A365022723}" type="slidenum">
              <a:rPr lang="en-US" altLang="zh-CN" smtClean="0">
                <a:solidFill>
                  <a:srgbClr val="000000"/>
                </a:solidFill>
                <a:ea typeface="华文楷体" panose="02010600040101010101" pitchFamily="2" charset="-122"/>
              </a:rPr>
              <a:pPr>
                <a:spcBef>
                  <a:spcPct val="0"/>
                </a:spcBef>
              </a:pPr>
              <a:t>15</a:t>
            </a:fld>
            <a:endParaRPr lang="en-US" altLang="zh-CN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79A145D5-5AE8-4101-AB83-673B750E0F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49A4E28B-EB43-49C9-B447-3193F41617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76148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91080336-09C4-46B6-BBE4-0CDED8EE3B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B025F0B-D201-4C2C-BAC0-40A365022723}" type="slidenum">
              <a:rPr lang="en-US" altLang="zh-CN" smtClean="0">
                <a:solidFill>
                  <a:srgbClr val="000000"/>
                </a:solidFill>
                <a:ea typeface="华文楷体" panose="02010600040101010101" pitchFamily="2" charset="-122"/>
              </a:rPr>
              <a:pPr>
                <a:spcBef>
                  <a:spcPct val="0"/>
                </a:spcBef>
              </a:pPr>
              <a:t>16</a:t>
            </a:fld>
            <a:endParaRPr lang="en-US" altLang="zh-CN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79A145D5-5AE8-4101-AB83-673B750E0F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49A4E28B-EB43-49C9-B447-3193F41617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61190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C103D3-6AD7-49DD-951F-9630ECC8A06A}" type="slidenum">
              <a:rPr lang="zh-CN" altLang="en-US" smtClean="0">
                <a:ea typeface="华文楷体" panose="02010600040101010101" pitchFamily="2" charset="-122"/>
              </a:rPr>
              <a:t>17</a:t>
            </a:fld>
            <a:endParaRPr lang="zh-CN" altLang="en-US" dirty="0"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209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B334C963-9F9A-44C7-92E1-34D8B4CE71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8F74C25-4F81-41FC-8D70-1F5808C73A36}" type="slidenum">
              <a:rPr lang="en-US" altLang="zh-CN" smtClean="0">
                <a:solidFill>
                  <a:srgbClr val="000000"/>
                </a:solidFill>
                <a:ea typeface="华文楷体" panose="02010600040101010101" pitchFamily="2" charset="-122"/>
              </a:rPr>
              <a:pPr>
                <a:spcBef>
                  <a:spcPct val="0"/>
                </a:spcBef>
              </a:pPr>
              <a:t>24</a:t>
            </a:fld>
            <a:endParaRPr lang="en-US" altLang="zh-CN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3B229AF1-8020-4C58-88AF-CB478E40FF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6B7361DE-27AB-4B38-B27D-C49E4B780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70917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442C86E0-1F3B-4489-BC5C-D00937E634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81352F1-7127-44C8-B8FB-3FF83ED4B39F}" type="slidenum">
              <a:rPr lang="en-US" altLang="zh-CN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EE0472FB-8B64-4A35-8272-CDDDEB1709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A6C89334-F433-47D7-8CCB-E7AAFC7E28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85846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075D9-9C0A-4907-9E0A-2E1C5E387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3CDB30-CF70-4C98-8777-71D0DE601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455DCF-EA4C-4853-BD99-7C8B1152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57D055-1BEA-4835-BCF3-DA518BC7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424949-9B6D-4ABE-81D0-3E8016102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83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3ECBA-8D3D-44FD-8451-1C68376A6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32FE7C-6E4F-4D24-8713-B2191E020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4F968E-F782-49B7-8CFB-D5AD5205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733CAE-7B6D-4B2F-A356-51AA8A9B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C30F0-28D6-4C9B-AEE5-03D12DB8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E53B1-9079-49D9-9131-26E0E03C6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F01D29-1A52-4551-9AAD-87EDF9D76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D2B19E-2D1A-4065-8E51-732596D1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70643E-4976-4353-A93C-94547389C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E8924-C3CD-4AD0-8D20-BDBCD27DF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8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BD28B-F5E7-4DEF-A7ED-85E67C83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B5A803-634D-4E5A-8215-1F45D12CCD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45702B-45D0-4EB5-AAA5-C47494C79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713FAE-28EA-4DD1-B781-345A797EE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B78BAD-ABD9-461C-A7F6-83BEE5EA7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AFC4C7-93A9-4642-A356-4D4E2BD38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57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4F436-0EA1-486E-BFA5-AEFC10B54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E3DD6-1221-4B2B-A081-C438B4EA1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A0C97E-5BD2-4E0E-B6D8-06BA9CC07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A250BC-6CDA-4F55-9122-E95732154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9A7F6C-B16D-4596-8C2E-4B3AAA5992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6CDA96-F74A-4624-A701-06BB40E85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82C964-0DCE-4251-A2D2-8B40BD442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F80643-74A0-4D0A-B3AE-FDFCC0037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4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1D687-2952-433A-A486-099C48C4B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4DCF08-EA4B-4E0C-B9DA-AF780B86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DF4D79-43A3-4D15-AADB-49E2A00CD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7F9052-09FA-4D04-AB45-329EED24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6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E4DD36-7F96-444A-A9B7-5FBBE9CE7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8F5D18-B09A-4096-AFDA-96A804D6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CC0151-1B68-4B32-AB2F-4A65BE2AD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6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FBC3E4-C582-4A91-A7AE-1D796218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42F964-0EB5-4901-BC24-85E335433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6385E8-484A-4DCD-B049-3172288A7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569B17-EB32-4F6A-9B7C-5B597E7C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4C8B3B-8E4D-4EBB-8A2B-D5C7322C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762D6F-D0D3-4812-B6E8-731E7AFBF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66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4EBE16-E626-4C00-8722-0F82B3A32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5C2DE1-D969-4D9C-B72F-3E40B96720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0D0D84-9E46-41CD-A472-B1029A0FC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C908C6-21BD-4D14-B9E5-67673794C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237D1E-BE48-42AB-BF84-696F9BA0C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5CDD9A-D6DD-4908-A730-2867C019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83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F7F10-CD63-4FB1-A171-A7DAAE888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F1AB79-8425-466E-A8A5-DADBC36F2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9E2F66-1492-47A7-BCD3-BF219BAE6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42A3AF-5C92-49DE-B7CE-F57501C22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E16F9F-8375-4DF1-A57B-BDA6BF36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09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CEAE66-692B-4D65-A7C3-1680609F0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818DC3-D68F-47FD-9934-DB88063C3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197317-A46D-420C-A392-2D9B93AC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B454CD-23C0-496D-BC54-03322B1D9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57EF11-F507-4D48-9B8C-E8680A05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28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8EF7D3-5A27-4B57-8A33-E7C0DD1B0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E378D8-CAD9-4EDA-B737-D08910374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61C7E5-DED7-4901-BEA1-361A29013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9C8CB-8203-4113-BC19-5C96839CBD45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BCA12B-ADFA-4389-8BED-E30DC2D60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7DB51E-6AD4-4AAC-BD8A-505C38223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3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png"/><Relationship Id="rId7" Type="http://schemas.openxmlformats.org/officeDocument/2006/relationships/image" Target="../media/image72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0.png"/><Relationship Id="rId11" Type="http://schemas.openxmlformats.org/officeDocument/2006/relationships/image" Target="../media/image760.png"/><Relationship Id="rId5" Type="http://schemas.openxmlformats.org/officeDocument/2006/relationships/image" Target="../media/image700.png"/><Relationship Id="rId10" Type="http://schemas.openxmlformats.org/officeDocument/2006/relationships/image" Target="../media/image750.png"/><Relationship Id="rId9" Type="http://schemas.openxmlformats.org/officeDocument/2006/relationships/image" Target="../media/image7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51.png"/><Relationship Id="rId7" Type="http://schemas.openxmlformats.org/officeDocument/2006/relationships/image" Target="../media/image7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52.png"/><Relationship Id="rId4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13" Type="http://schemas.openxmlformats.org/officeDocument/2006/relationships/image" Target="../media/image561.png"/><Relationship Id="rId3" Type="http://schemas.openxmlformats.org/officeDocument/2006/relationships/image" Target="../media/image411.png"/><Relationship Id="rId7" Type="http://schemas.openxmlformats.org/officeDocument/2006/relationships/image" Target="../media/image45.png"/><Relationship Id="rId12" Type="http://schemas.openxmlformats.org/officeDocument/2006/relationships/image" Target="../media/image551.png"/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1.png"/><Relationship Id="rId11" Type="http://schemas.openxmlformats.org/officeDocument/2006/relationships/image" Target="../media/image540.png"/><Relationship Id="rId5" Type="http://schemas.openxmlformats.org/officeDocument/2006/relationships/image" Target="../media/image4300.png"/><Relationship Id="rId15" Type="http://schemas.openxmlformats.org/officeDocument/2006/relationships/image" Target="../media/image98.png"/><Relationship Id="rId10" Type="http://schemas.openxmlformats.org/officeDocument/2006/relationships/image" Target="../media/image530.png"/><Relationship Id="rId4" Type="http://schemas.openxmlformats.org/officeDocument/2006/relationships/image" Target="../media/image4200.png"/><Relationship Id="rId9" Type="http://schemas.openxmlformats.org/officeDocument/2006/relationships/image" Target="../media/image520.png"/><Relationship Id="rId14" Type="http://schemas.openxmlformats.org/officeDocument/2006/relationships/image" Target="../media/image57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1.png"/><Relationship Id="rId3" Type="http://schemas.openxmlformats.org/officeDocument/2006/relationships/image" Target="../media/image601.png"/><Relationship Id="rId7" Type="http://schemas.openxmlformats.org/officeDocument/2006/relationships/image" Target="../media/image641.png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1.png"/><Relationship Id="rId5" Type="http://schemas.openxmlformats.org/officeDocument/2006/relationships/image" Target="../media/image621.png"/><Relationship Id="rId10" Type="http://schemas.openxmlformats.org/officeDocument/2006/relationships/image" Target="../media/image690.png"/><Relationship Id="rId4" Type="http://schemas.openxmlformats.org/officeDocument/2006/relationships/image" Target="../media/image611.png"/><Relationship Id="rId9" Type="http://schemas.openxmlformats.org/officeDocument/2006/relationships/image" Target="../media/image66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30.png"/><Relationship Id="rId3" Type="http://schemas.openxmlformats.org/officeDocument/2006/relationships/image" Target="../media/image9.png"/><Relationship Id="rId17" Type="http://schemas.openxmlformats.org/officeDocument/2006/relationships/image" Target="../media/image129.png"/><Relationship Id="rId2" Type="http://schemas.openxmlformats.org/officeDocument/2006/relationships/image" Target="../media/image8.png"/><Relationship Id="rId16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15" Type="http://schemas.openxmlformats.org/officeDocument/2006/relationships/image" Target="../media/image118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00.png"/><Relationship Id="rId4" Type="http://schemas.openxmlformats.org/officeDocument/2006/relationships/image" Target="../media/image139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4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wmf"/><Relationship Id="rId11" Type="http://schemas.openxmlformats.org/officeDocument/2006/relationships/image" Target="../media/image21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20.png"/><Relationship Id="rId4" Type="http://schemas.openxmlformats.org/officeDocument/2006/relationships/image" Target="../media/image1510.png"/><Relationship Id="rId9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0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199.png"/><Relationship Id="rId3" Type="http://schemas.openxmlformats.org/officeDocument/2006/relationships/tags" Target="../tags/tag3.xml"/><Relationship Id="rId21" Type="http://schemas.openxmlformats.org/officeDocument/2006/relationships/tags" Target="../tags/tag370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390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96.png"/><Relationship Id="rId29" Type="http://schemas.openxmlformats.org/officeDocument/2006/relationships/image" Target="../media/image36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98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380.xml"/><Relationship Id="rId28" Type="http://schemas.openxmlformats.org/officeDocument/2006/relationships/image" Target="../media/image200.png"/><Relationship Id="rId10" Type="http://schemas.openxmlformats.org/officeDocument/2006/relationships/tags" Target="../tags/tag10.xml"/><Relationship Id="rId19" Type="http://schemas.openxmlformats.org/officeDocument/2006/relationships/tags" Target="../tags/tag36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97.png"/><Relationship Id="rId27" Type="http://schemas.openxmlformats.org/officeDocument/2006/relationships/tags" Target="../tags/tag400.xml"/><Relationship Id="rId30" Type="http://schemas.openxmlformats.org/officeDocument/2006/relationships/image" Target="../media/image37.tmp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6.png"/><Relationship Id="rId18" Type="http://schemas.openxmlformats.org/officeDocument/2006/relationships/image" Target="../media/image58.png"/><Relationship Id="rId26" Type="http://schemas.openxmlformats.org/officeDocument/2006/relationships/image" Target="../media/image66.png"/><Relationship Id="rId3" Type="http://schemas.openxmlformats.org/officeDocument/2006/relationships/image" Target="../media/image390.png"/><Relationship Id="rId21" Type="http://schemas.openxmlformats.org/officeDocument/2006/relationships/image" Target="../media/image61.png"/><Relationship Id="rId7" Type="http://schemas.openxmlformats.org/officeDocument/2006/relationships/image" Target="../media/image46.png"/><Relationship Id="rId12" Type="http://schemas.openxmlformats.org/officeDocument/2006/relationships/image" Target="../media/image55.png"/><Relationship Id="rId17" Type="http://schemas.openxmlformats.org/officeDocument/2006/relationships/image" Target="../media/image570.png"/><Relationship Id="rId25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60.png"/><Relationship Id="rId20" Type="http://schemas.openxmlformats.org/officeDocument/2006/relationships/image" Target="../media/image60.png"/><Relationship Id="rId29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54.png"/><Relationship Id="rId24" Type="http://schemas.openxmlformats.org/officeDocument/2006/relationships/image" Target="../media/image420.png"/><Relationship Id="rId5" Type="http://schemas.openxmlformats.org/officeDocument/2006/relationships/image" Target="../media/image43.png"/><Relationship Id="rId15" Type="http://schemas.openxmlformats.org/officeDocument/2006/relationships/image" Target="../media/image550.png"/><Relationship Id="rId23" Type="http://schemas.openxmlformats.org/officeDocument/2006/relationships/image" Target="../media/image410.png"/><Relationship Id="rId28" Type="http://schemas.openxmlformats.org/officeDocument/2006/relationships/image" Target="../media/image63.png"/><Relationship Id="rId10" Type="http://schemas.openxmlformats.org/officeDocument/2006/relationships/image" Target="../media/image53.png"/><Relationship Id="rId19" Type="http://schemas.openxmlformats.org/officeDocument/2006/relationships/image" Target="../media/image59.png"/><Relationship Id="rId4" Type="http://schemas.openxmlformats.org/officeDocument/2006/relationships/image" Target="../media/image42.png"/><Relationship Id="rId9" Type="http://schemas.openxmlformats.org/officeDocument/2006/relationships/image" Target="../media/image49.png"/><Relationship Id="rId14" Type="http://schemas.openxmlformats.org/officeDocument/2006/relationships/image" Target="../media/image57.png"/><Relationship Id="rId22" Type="http://schemas.openxmlformats.org/officeDocument/2006/relationships/image" Target="../media/image62.png"/><Relationship Id="rId27" Type="http://schemas.openxmlformats.org/officeDocument/2006/relationships/image" Target="../media/image43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image" Target="../media/image640.png"/><Relationship Id="rId21" Type="http://schemas.openxmlformats.org/officeDocument/2006/relationships/image" Target="../media/image84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5" Type="http://schemas.openxmlformats.org/officeDocument/2006/relationships/image" Target="../media/image8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9.png"/><Relationship Id="rId20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1.png"/><Relationship Id="rId11" Type="http://schemas.openxmlformats.org/officeDocument/2006/relationships/image" Target="../media/image74.png"/><Relationship Id="rId24" Type="http://schemas.openxmlformats.org/officeDocument/2006/relationships/image" Target="../media/image87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23" Type="http://schemas.openxmlformats.org/officeDocument/2006/relationships/image" Target="../media/image86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0.png"/><Relationship Id="rId22" Type="http://schemas.openxmlformats.org/officeDocument/2006/relationships/image" Target="../media/image8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2" Type="http://schemas.openxmlformats.org/officeDocument/2006/relationships/image" Target="../media/image1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10" Type="http://schemas.openxmlformats.org/officeDocument/2006/relationships/image" Target="../media/image90.png"/><Relationship Id="rId4" Type="http://schemas.openxmlformats.org/officeDocument/2006/relationships/image" Target="../media/image132.png"/><Relationship Id="rId9" Type="http://schemas.openxmlformats.org/officeDocument/2006/relationships/image" Target="../media/image8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0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Text Box 13">
            <a:extLst>
              <a:ext uri="{FF2B5EF4-FFF2-40B4-BE49-F238E27FC236}">
                <a16:creationId xmlns:a16="http://schemas.microsoft.com/office/drawing/2014/main" id="{B1D77FAA-C6EC-4AC5-A3F5-4CC64C94B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0115" y="263316"/>
            <a:ext cx="709712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14</a:t>
            </a:r>
            <a:r>
              <a:rPr lang="zh-CN" altLang="en-US" sz="3600" b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 章     静电场中的导体</a:t>
            </a:r>
            <a:endParaRPr lang="zh-CN" altLang="en-US" sz="3200" b="1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112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E4498F14-2B16-44E2-8121-1F90B8015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8128" y="1706312"/>
            <a:ext cx="5231995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14.1  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静电平衡条件</a:t>
            </a:r>
          </a:p>
        </p:txBody>
      </p:sp>
      <p:sp>
        <p:nvSpPr>
          <p:cNvPr id="4114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6FD6935D-21DB-4E0A-A113-0012E404D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8128" y="3001712"/>
            <a:ext cx="75368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14.3  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有导体存在时静电场的分析与计算</a:t>
            </a:r>
          </a:p>
        </p:txBody>
      </p:sp>
      <p:sp>
        <p:nvSpPr>
          <p:cNvPr id="4115" name="Text Box 19">
            <a:hlinkClick r:id="" action="ppaction://noaction"/>
            <a:extLst>
              <a:ext uri="{FF2B5EF4-FFF2-40B4-BE49-F238E27FC236}">
                <a16:creationId xmlns:a16="http://schemas.microsoft.com/office/drawing/2014/main" id="{2E74E40B-D4E9-420C-843A-63B8B00C8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8605" y="3650998"/>
            <a:ext cx="274947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14.4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  静电屏蔽</a:t>
            </a:r>
          </a:p>
        </p:txBody>
      </p:sp>
      <p:sp>
        <p:nvSpPr>
          <p:cNvPr id="4116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163FEB06-B244-41DC-9745-09D2B510C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8129" y="4370137"/>
            <a:ext cx="467995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066FF"/>
                </a:solidFill>
                <a:latin typeface="+mn-lt"/>
                <a:ea typeface="+mn-ea"/>
                <a:cs typeface="Arial" panose="020B0604020202020204" pitchFamily="34" charset="0"/>
              </a:rPr>
              <a:t>14.5</a:t>
            </a:r>
            <a:r>
              <a:rPr lang="en-US" altLang="zh-CN" sz="3200" dirty="0">
                <a:solidFill>
                  <a:srgbClr val="0066FF"/>
                </a:solidFill>
                <a:latin typeface="+mn-lt"/>
                <a:cs typeface="Arial" panose="020B0604020202020204" pitchFamily="34" charset="0"/>
              </a:rPr>
              <a:t> *</a:t>
            </a:r>
            <a:r>
              <a:rPr lang="en-US" altLang="zh-CN" sz="3200" dirty="0">
                <a:solidFill>
                  <a:srgbClr val="0066FF"/>
                </a:solidFill>
                <a:latin typeface="+mn-lt"/>
                <a:ea typeface="+mn-ea"/>
                <a:cs typeface="Arial" panose="020B0604020202020204" pitchFamily="34" charset="0"/>
              </a:rPr>
              <a:t>  </a:t>
            </a:r>
            <a:r>
              <a:rPr lang="zh-CN" altLang="en-US" sz="3200" dirty="0">
                <a:solidFill>
                  <a:srgbClr val="0066FF"/>
                </a:solidFill>
                <a:latin typeface="+mn-lt"/>
                <a:ea typeface="+mn-ea"/>
                <a:cs typeface="Arial" panose="020B0604020202020204" pitchFamily="34" charset="0"/>
              </a:rPr>
              <a:t>唯一性定理</a:t>
            </a:r>
          </a:p>
        </p:txBody>
      </p:sp>
      <p:sp>
        <p:nvSpPr>
          <p:cNvPr id="9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33F5298E-54F0-4E10-A769-B55A508ED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8130" y="2354012"/>
            <a:ext cx="6154243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14.2  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静电平衡时的电荷分布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DB04A1-0ED6-47DB-AB21-B6B2EFE1D30C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14" name="Group 10">
            <a:extLst>
              <a:ext uri="{FF2B5EF4-FFF2-40B4-BE49-F238E27FC236}">
                <a16:creationId xmlns:a16="http://schemas.microsoft.com/office/drawing/2014/main" id="{E0368B62-16F5-4741-9E71-32B4EA878F5B}"/>
              </a:ext>
            </a:extLst>
          </p:cNvPr>
          <p:cNvGrpSpPr>
            <a:grpSpLocks/>
          </p:cNvGrpSpPr>
          <p:nvPr/>
        </p:nvGrpSpPr>
        <p:grpSpPr bwMode="auto">
          <a:xfrm>
            <a:off x="11124269" y="312853"/>
            <a:ext cx="1657850" cy="1794587"/>
            <a:chOff x="3185" y="2351"/>
            <a:chExt cx="2183" cy="2367"/>
          </a:xfrm>
        </p:grpSpPr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56FB10CD-B000-48EF-9FEB-DE0E09CE6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5" y="3022"/>
              <a:ext cx="310" cy="9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CN" sz="32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13">
              <a:extLst>
                <a:ext uri="{FF2B5EF4-FFF2-40B4-BE49-F238E27FC236}">
                  <a16:creationId xmlns:a16="http://schemas.microsoft.com/office/drawing/2014/main" id="{FCE506A5-CA4A-4CEB-9FD5-274A2B213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5" y="2735"/>
              <a:ext cx="310" cy="9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CN" sz="32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14">
              <a:extLst>
                <a:ext uri="{FF2B5EF4-FFF2-40B4-BE49-F238E27FC236}">
                  <a16:creationId xmlns:a16="http://schemas.microsoft.com/office/drawing/2014/main" id="{E60E15B0-2CC0-4D15-852E-D2C0C7990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2351"/>
              <a:ext cx="310" cy="9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CN" sz="32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19">
              <a:extLst>
                <a:ext uri="{FF2B5EF4-FFF2-40B4-BE49-F238E27FC236}">
                  <a16:creationId xmlns:a16="http://schemas.microsoft.com/office/drawing/2014/main" id="{6A504767-562D-4DC0-B5BA-EC1EAD143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0" y="3742"/>
              <a:ext cx="310" cy="9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CN" sz="32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E3EE02CE-54DD-4F65-B21F-AF2DE8AE5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3" y="3312"/>
              <a:ext cx="310" cy="9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CN" sz="32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22">
              <a:extLst>
                <a:ext uri="{FF2B5EF4-FFF2-40B4-BE49-F238E27FC236}">
                  <a16:creationId xmlns:a16="http://schemas.microsoft.com/office/drawing/2014/main" id="{45827645-85E6-4C84-93E4-6717B2A70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3022"/>
              <a:ext cx="310" cy="9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CN" sz="32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23">
              <a:extLst>
                <a:ext uri="{FF2B5EF4-FFF2-40B4-BE49-F238E27FC236}">
                  <a16:creationId xmlns:a16="http://schemas.microsoft.com/office/drawing/2014/main" id="{D94F2924-9355-48B8-8227-5F8408F3E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8" y="2687"/>
              <a:ext cx="310" cy="9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CN" sz="32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24">
              <a:extLst>
                <a:ext uri="{FF2B5EF4-FFF2-40B4-BE49-F238E27FC236}">
                  <a16:creationId xmlns:a16="http://schemas.microsoft.com/office/drawing/2014/main" id="{3A3F8AA3-8032-4063-9397-71B035F33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8" y="3599"/>
              <a:ext cx="310" cy="9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CN" sz="32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592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55F89DA1-9303-42F1-BD78-C1E2AC0B1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4896" y="494836"/>
            <a:ext cx="7848600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l" eaLnBrk="1" hangingPunct="1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有导体存在时静电场的分析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3200" b="1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点电荷</a:t>
            </a:r>
            <a:r>
              <a:rPr lang="en-US" altLang="zh-CN" sz="3200" b="1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3200" b="1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叠加原理或基本性质方程    </a:t>
            </a:r>
            <a:endParaRPr lang="en-US" altLang="zh-CN" sz="3200" b="1" dirty="0">
              <a:solidFill>
                <a:srgbClr val="FF0000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</a:p>
          <a:p>
            <a:pPr algn="l" eaLnBrk="1" hangingPunct="1">
              <a:spcBef>
                <a:spcPct val="50000"/>
              </a:spcBef>
            </a:pPr>
            <a:endParaRPr lang="zh-CN" altLang="en-US" sz="3200" b="1" dirty="0">
              <a:solidFill>
                <a:srgbClr val="000099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 eaLnBrk="1" hangingPunct="1">
              <a:spcBef>
                <a:spcPct val="50000"/>
              </a:spcBef>
            </a:pPr>
            <a:endParaRPr lang="zh-CN" altLang="en-US" sz="3200" b="1" dirty="0">
              <a:solidFill>
                <a:srgbClr val="000099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3200" b="1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电荷守恒定律</a:t>
            </a:r>
            <a:endParaRPr lang="en-US" altLang="zh-CN" sz="3200" b="1" dirty="0">
              <a:solidFill>
                <a:srgbClr val="FF0000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 eaLnBrk="1" hangingPunct="1">
              <a:spcBef>
                <a:spcPct val="50000"/>
              </a:spcBef>
            </a:pPr>
            <a:endParaRPr lang="zh-CN" altLang="en-US" sz="3200" b="1" dirty="0">
              <a:solidFill>
                <a:srgbClr val="000099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3200" b="1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静电平衡的条件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6" name="Object 4">
                <a:extLst>
                  <a:ext uri="{FF2B5EF4-FFF2-40B4-BE49-F238E27FC236}">
                    <a16:creationId xmlns:a16="http://schemas.microsoft.com/office/drawing/2014/main" id="{98AC4A45-1E01-4C95-9A0B-DBC8656EB0AC}"/>
                  </a:ext>
                </a:extLst>
              </p:cNvPr>
              <p:cNvSpPr txBox="1"/>
              <p:nvPr/>
            </p:nvSpPr>
            <p:spPr bwMode="auto">
              <a:xfrm>
                <a:off x="5094356" y="5511594"/>
                <a:ext cx="1828800" cy="8001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32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</m:e>
                        <m:sub>
                          <m:r>
                            <a:rPr lang="en-US" altLang="zh-CN" sz="3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</m:sub>
                      </m:sSub>
                      <m:r>
                        <a:rPr lang="en-US" altLang="zh-CN" sz="3200" b="1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32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96" name="Object 4">
                <a:extLst>
                  <a:ext uri="{FF2B5EF4-FFF2-40B4-BE49-F238E27FC236}">
                    <a16:creationId xmlns:a16="http://schemas.microsoft.com/office/drawing/2014/main" id="{98AC4A45-1E01-4C95-9A0B-DBC8656EB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94356" y="5511594"/>
                <a:ext cx="1828800" cy="8001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7" name="Object 5">
                <a:extLst>
                  <a:ext uri="{FF2B5EF4-FFF2-40B4-BE49-F238E27FC236}">
                    <a16:creationId xmlns:a16="http://schemas.microsoft.com/office/drawing/2014/main" id="{A4809FA8-87B1-48B5-924F-B5AE6A7C818A}"/>
                  </a:ext>
                </a:extLst>
              </p:cNvPr>
              <p:cNvSpPr txBox="1"/>
              <p:nvPr/>
            </p:nvSpPr>
            <p:spPr bwMode="auto">
              <a:xfrm>
                <a:off x="7322586" y="5511594"/>
                <a:ext cx="3102457" cy="584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或</m:t>
                    </m:r>
                    <m:r>
                      <a:rPr 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（</m:t>
                    </m:r>
                  </m:oMath>
                </a14:m>
                <a:r>
                  <a:rPr lang="zh-CN" altLang="en-US" sz="32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常数）</a:t>
                </a:r>
                <a:endParaRPr lang="en-US" sz="32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97" name="Object 5">
                <a:extLst>
                  <a:ext uri="{FF2B5EF4-FFF2-40B4-BE49-F238E27FC236}">
                    <a16:creationId xmlns:a16="http://schemas.microsoft.com/office/drawing/2014/main" id="{A4809FA8-87B1-48B5-924F-B5AE6A7C8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22586" y="5511594"/>
                <a:ext cx="3102457" cy="584200"/>
              </a:xfrm>
              <a:prstGeom prst="rect">
                <a:avLst/>
              </a:prstGeom>
              <a:blipFill>
                <a:blip r:embed="rId3"/>
                <a:stretch>
                  <a:fillRect t="-13542" r="-18075" b="-33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9" name="Object 7">
                <a:extLst>
                  <a:ext uri="{FF2B5EF4-FFF2-40B4-BE49-F238E27FC236}">
                    <a16:creationId xmlns:a16="http://schemas.microsoft.com/office/drawing/2014/main" id="{25471846-0C74-4D4F-9B5F-42FB86983537}"/>
                  </a:ext>
                </a:extLst>
              </p:cNvPr>
              <p:cNvSpPr txBox="1"/>
              <p:nvPr/>
            </p:nvSpPr>
            <p:spPr bwMode="auto">
              <a:xfrm>
                <a:off x="1848816" y="2142920"/>
                <a:ext cx="3642696" cy="1635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limLoc m:val="undOvr"/>
                          <m:supHide m:val="on"/>
                          <m:ctrlP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3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3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99" name="Object 7">
                <a:extLst>
                  <a:ext uri="{FF2B5EF4-FFF2-40B4-BE49-F238E27FC236}">
                    <a16:creationId xmlns:a16="http://schemas.microsoft.com/office/drawing/2014/main" id="{25471846-0C74-4D4F-9B5F-42FB86983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8816" y="2142920"/>
                <a:ext cx="3642696" cy="16351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0" name="Object 8">
                <a:extLst>
                  <a:ext uri="{FF2B5EF4-FFF2-40B4-BE49-F238E27FC236}">
                    <a16:creationId xmlns:a16="http://schemas.microsoft.com/office/drawing/2014/main" id="{8B6914A2-5475-44E4-B119-6925358E9254}"/>
                  </a:ext>
                </a:extLst>
              </p:cNvPr>
              <p:cNvSpPr txBox="1"/>
              <p:nvPr/>
            </p:nvSpPr>
            <p:spPr bwMode="auto">
              <a:xfrm>
                <a:off x="5333762" y="2204763"/>
                <a:ext cx="3178787" cy="9302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sz="3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00" name="Object 8">
                <a:extLst>
                  <a:ext uri="{FF2B5EF4-FFF2-40B4-BE49-F238E27FC236}">
                    <a16:creationId xmlns:a16="http://schemas.microsoft.com/office/drawing/2014/main" id="{8B6914A2-5475-44E4-B119-6925358E9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3762" y="2204763"/>
                <a:ext cx="3178787" cy="930275"/>
              </a:xfrm>
              <a:prstGeom prst="rect">
                <a:avLst/>
              </a:prstGeom>
              <a:blipFill>
                <a:blip r:embed="rId5"/>
                <a:stretch>
                  <a:fillRect b="-592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1" name="Object 9">
                <a:extLst>
                  <a:ext uri="{FF2B5EF4-FFF2-40B4-BE49-F238E27FC236}">
                    <a16:creationId xmlns:a16="http://schemas.microsoft.com/office/drawing/2014/main" id="{8CB0B27A-8844-414F-B1A5-2F7FB0989BB3}"/>
                  </a:ext>
                </a:extLst>
              </p:cNvPr>
              <p:cNvSpPr txBox="1"/>
              <p:nvPr/>
            </p:nvSpPr>
            <p:spPr bwMode="auto">
              <a:xfrm>
                <a:off x="4807986" y="3828016"/>
                <a:ext cx="2514600" cy="990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𝑐𝑜𝑛𝑠𝑡</m:t>
                          </m:r>
                        </m:e>
                      </m:nary>
                    </m:oMath>
                  </m:oMathPara>
                </a14:m>
                <a:endParaRPr lang="en-US" sz="32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01" name="Object 9">
                <a:extLst>
                  <a:ext uri="{FF2B5EF4-FFF2-40B4-BE49-F238E27FC236}">
                    <a16:creationId xmlns:a16="http://schemas.microsoft.com/office/drawing/2014/main" id="{8CB0B27A-8844-414F-B1A5-2F7FB0989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7986" y="3828016"/>
                <a:ext cx="2514600" cy="990600"/>
              </a:xfrm>
              <a:prstGeom prst="rect">
                <a:avLst/>
              </a:prstGeom>
              <a:blipFill>
                <a:blip r:embed="rId6"/>
                <a:stretch>
                  <a:fillRect r="-3883" b="-2530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8D8EE4C-DE0B-66BF-4701-06EAA4A75216}"/>
              </a:ext>
            </a:extLst>
          </p:cNvPr>
          <p:cNvSpPr txBox="1"/>
          <p:nvPr/>
        </p:nvSpPr>
        <p:spPr>
          <a:xfrm>
            <a:off x="831723" y="431301"/>
            <a:ext cx="102889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思考题</a:t>
            </a:r>
            <a:r>
              <a:rPr lang="en-US" altLang="zh-CN" sz="2800" dirty="0"/>
              <a:t>14.11</a:t>
            </a:r>
            <a:r>
              <a:rPr lang="zh-CN" altLang="en-US" sz="2800" dirty="0"/>
              <a:t>：</a:t>
            </a:r>
            <a:r>
              <a:rPr lang="en-US" altLang="zh-CN" sz="2800" dirty="0"/>
              <a:t>A</a:t>
            </a:r>
            <a:r>
              <a:rPr lang="zh-CN" altLang="en-US" sz="2800" dirty="0"/>
              <a:t>，</a:t>
            </a:r>
            <a:r>
              <a:rPr lang="en-US" altLang="zh-CN" sz="2800" dirty="0"/>
              <a:t>B</a:t>
            </a:r>
            <a:r>
              <a:rPr lang="zh-CN" altLang="en-US" sz="2800" dirty="0"/>
              <a:t>两球用导线相连，在</a:t>
            </a:r>
            <a:r>
              <a:rPr lang="en-US" altLang="zh-CN" sz="2800" dirty="0"/>
              <a:t>A</a:t>
            </a:r>
            <a:r>
              <a:rPr lang="zh-CN" altLang="en-US" sz="2800" dirty="0"/>
              <a:t>，</a:t>
            </a:r>
            <a:r>
              <a:rPr lang="en-US" altLang="zh-CN" sz="2800" dirty="0"/>
              <a:t>B</a:t>
            </a:r>
            <a:r>
              <a:rPr lang="zh-CN" altLang="en-US" sz="2800" dirty="0"/>
              <a:t>两球旁边分别放一个带正（负）电的</a:t>
            </a:r>
            <a:r>
              <a:rPr lang="en-US" altLang="zh-CN" sz="2800" dirty="0"/>
              <a:t>C</a:t>
            </a:r>
            <a:r>
              <a:rPr lang="zh-CN" altLang="en-US" sz="2800" dirty="0"/>
              <a:t>（</a:t>
            </a:r>
            <a:r>
              <a:rPr lang="en-US" altLang="zh-CN" sz="2800" dirty="0"/>
              <a:t>D</a:t>
            </a:r>
            <a:r>
              <a:rPr lang="zh-CN" altLang="en-US" sz="2800" dirty="0"/>
              <a:t>）球，最终四个球达到静电平衡。此时将</a:t>
            </a:r>
            <a:r>
              <a:rPr lang="en-US" altLang="zh-CN" sz="2800" dirty="0"/>
              <a:t>C</a:t>
            </a:r>
            <a:r>
              <a:rPr lang="zh-CN" altLang="en-US" sz="2800" dirty="0"/>
              <a:t>球和</a:t>
            </a:r>
            <a:r>
              <a:rPr lang="en-US" altLang="zh-CN" sz="2800" dirty="0"/>
              <a:t>D</a:t>
            </a:r>
            <a:r>
              <a:rPr lang="zh-CN" altLang="en-US" sz="2800" dirty="0"/>
              <a:t>球用导线相连，则各导体球带电情况是否改变？</a:t>
            </a:r>
            <a:endParaRPr lang="en-US" altLang="zh-CN" sz="2800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E47CE53-8104-59F5-143C-608F7F083B56}"/>
              </a:ext>
            </a:extLst>
          </p:cNvPr>
          <p:cNvSpPr/>
          <p:nvPr/>
        </p:nvSpPr>
        <p:spPr>
          <a:xfrm>
            <a:off x="3803287" y="2892153"/>
            <a:ext cx="1080135" cy="108013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600" b="1" i="0" u="none" strike="noStrike" cap="none" normalizeH="0" baseline="0">
              <a:ln>
                <a:noFill/>
              </a:ln>
              <a:solidFill>
                <a:srgbClr val="1C1C1C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F177367-23CB-ACD8-0EDE-0E5CE04D99DB}"/>
              </a:ext>
            </a:extLst>
          </p:cNvPr>
          <p:cNvSpPr/>
          <p:nvPr/>
        </p:nvSpPr>
        <p:spPr>
          <a:xfrm>
            <a:off x="6611892" y="2963908"/>
            <a:ext cx="1080135" cy="108013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600" b="1" i="0" u="none" strike="noStrike" cap="none" normalizeH="0" baseline="0">
              <a:ln>
                <a:noFill/>
              </a:ln>
              <a:solidFill>
                <a:srgbClr val="1C1C1C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9E14815-D137-84D4-25F4-47F657FACC90}"/>
              </a:ext>
            </a:extLst>
          </p:cNvPr>
          <p:cNvSpPr/>
          <p:nvPr/>
        </p:nvSpPr>
        <p:spPr>
          <a:xfrm>
            <a:off x="6611892" y="5124178"/>
            <a:ext cx="1080135" cy="108013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600" b="1" i="0" u="none" strike="noStrike" cap="none" normalizeH="0" baseline="0">
              <a:ln>
                <a:noFill/>
              </a:ln>
              <a:solidFill>
                <a:srgbClr val="1C1C1C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F99C310-9A62-D2A9-099E-A6C9B25FCADF}"/>
              </a:ext>
            </a:extLst>
          </p:cNvPr>
          <p:cNvSpPr/>
          <p:nvPr/>
        </p:nvSpPr>
        <p:spPr>
          <a:xfrm>
            <a:off x="3803287" y="5020673"/>
            <a:ext cx="1080135" cy="108013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600" b="1" i="0" u="none" strike="noStrike" cap="none" normalizeH="0" baseline="0">
              <a:ln>
                <a:noFill/>
              </a:ln>
              <a:solidFill>
                <a:srgbClr val="1C1C1C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F2382D9-CEAE-807F-F7DC-73EF8FB69B8E}"/>
              </a:ext>
            </a:extLst>
          </p:cNvPr>
          <p:cNvCxnSpPr>
            <a:stCxn id="3" idx="2"/>
          </p:cNvCxnSpPr>
          <p:nvPr/>
        </p:nvCxnSpPr>
        <p:spPr>
          <a:xfrm flipH="1">
            <a:off x="3299732" y="3432538"/>
            <a:ext cx="503555" cy="355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46E0E62-8FC5-C8C1-0BEF-9125E5C76E99}"/>
              </a:ext>
            </a:extLst>
          </p:cNvPr>
          <p:cNvCxnSpPr/>
          <p:nvPr/>
        </p:nvCxnSpPr>
        <p:spPr>
          <a:xfrm>
            <a:off x="3299732" y="3468098"/>
            <a:ext cx="0" cy="22320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F35F0F2-553A-00D6-1496-ADF90E6C4EFB}"/>
              </a:ext>
            </a:extLst>
          </p:cNvPr>
          <p:cNvCxnSpPr/>
          <p:nvPr/>
        </p:nvCxnSpPr>
        <p:spPr>
          <a:xfrm flipH="1">
            <a:off x="3299732" y="5628368"/>
            <a:ext cx="503555" cy="355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9ACFD42-B45A-54D9-7D1E-E3E9EB5810B8}"/>
              </a:ext>
            </a:extLst>
          </p:cNvPr>
          <p:cNvSpPr txBox="1"/>
          <p:nvPr/>
        </p:nvSpPr>
        <p:spPr>
          <a:xfrm>
            <a:off x="4543062" y="3181078"/>
            <a:ext cx="29527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-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C3E6569-4749-7360-5FDD-B732F8901A50}"/>
              </a:ext>
            </a:extLst>
          </p:cNvPr>
          <p:cNvSpPr txBox="1"/>
          <p:nvPr/>
        </p:nvSpPr>
        <p:spPr>
          <a:xfrm>
            <a:off x="4543062" y="2956288"/>
            <a:ext cx="29527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-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0DFD6E5-A8B7-5AC4-B820-10F3C81D3FBD}"/>
              </a:ext>
            </a:extLst>
          </p:cNvPr>
          <p:cNvSpPr txBox="1"/>
          <p:nvPr/>
        </p:nvSpPr>
        <p:spPr>
          <a:xfrm>
            <a:off x="4438922" y="2819763"/>
            <a:ext cx="29527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-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6422142-88E5-0C94-9C24-40FC6D1F2201}"/>
              </a:ext>
            </a:extLst>
          </p:cNvPr>
          <p:cNvSpPr txBox="1"/>
          <p:nvPr/>
        </p:nvSpPr>
        <p:spPr>
          <a:xfrm>
            <a:off x="4454797" y="3379833"/>
            <a:ext cx="29527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-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917280-139F-2D9F-665C-9DF7E6208F85}"/>
              </a:ext>
            </a:extLst>
          </p:cNvPr>
          <p:cNvSpPr txBox="1"/>
          <p:nvPr/>
        </p:nvSpPr>
        <p:spPr>
          <a:xfrm>
            <a:off x="6540137" y="3325223"/>
            <a:ext cx="37221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+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7CB03CE-8E06-4FF3-7A61-3F68E517F956}"/>
              </a:ext>
            </a:extLst>
          </p:cNvPr>
          <p:cNvSpPr txBox="1"/>
          <p:nvPr/>
        </p:nvSpPr>
        <p:spPr>
          <a:xfrm>
            <a:off x="6677297" y="2925173"/>
            <a:ext cx="37221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+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DF674E7-D1CC-FF65-780C-0F814DA84E31}"/>
              </a:ext>
            </a:extLst>
          </p:cNvPr>
          <p:cNvSpPr txBox="1"/>
          <p:nvPr/>
        </p:nvSpPr>
        <p:spPr>
          <a:xfrm>
            <a:off x="6589032" y="3123928"/>
            <a:ext cx="37221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+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629D61E-95D1-2E66-C62F-E55E031FB23C}"/>
              </a:ext>
            </a:extLst>
          </p:cNvPr>
          <p:cNvSpPr txBox="1"/>
          <p:nvPr/>
        </p:nvSpPr>
        <p:spPr>
          <a:xfrm>
            <a:off x="6644277" y="3537948"/>
            <a:ext cx="37221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+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BCA1B3B-2429-A85C-BF2E-7152D463A813}"/>
              </a:ext>
            </a:extLst>
          </p:cNvPr>
          <p:cNvSpPr txBox="1"/>
          <p:nvPr/>
        </p:nvSpPr>
        <p:spPr>
          <a:xfrm>
            <a:off x="6974477" y="2459718"/>
            <a:ext cx="40748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C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51ADBCD-2298-B672-877C-BE8127914F0E}"/>
              </a:ext>
            </a:extLst>
          </p:cNvPr>
          <p:cNvSpPr txBox="1"/>
          <p:nvPr/>
        </p:nvSpPr>
        <p:spPr>
          <a:xfrm>
            <a:off x="4143012" y="2403203"/>
            <a:ext cx="42511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A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758D1B5-2429-A6C8-609E-34BC28BE915F}"/>
              </a:ext>
            </a:extLst>
          </p:cNvPr>
          <p:cNvSpPr txBox="1"/>
          <p:nvPr/>
        </p:nvSpPr>
        <p:spPr>
          <a:xfrm>
            <a:off x="4163332" y="6066518"/>
            <a:ext cx="40748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B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2AF9773-A5DC-96D4-02C3-4B8BFCF3D5B0}"/>
              </a:ext>
            </a:extLst>
          </p:cNvPr>
          <p:cNvSpPr txBox="1"/>
          <p:nvPr/>
        </p:nvSpPr>
        <p:spPr>
          <a:xfrm>
            <a:off x="6971302" y="6204948"/>
            <a:ext cx="42511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D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CFF1D2C-9AAD-47D9-4834-5A4CA84F7A46}"/>
              </a:ext>
            </a:extLst>
          </p:cNvPr>
          <p:cNvSpPr txBox="1"/>
          <p:nvPr/>
        </p:nvSpPr>
        <p:spPr>
          <a:xfrm>
            <a:off x="6679202" y="5460728"/>
            <a:ext cx="29527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-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497C030-C666-732B-92DB-4EECB1081D26}"/>
              </a:ext>
            </a:extLst>
          </p:cNvPr>
          <p:cNvSpPr txBox="1"/>
          <p:nvPr/>
        </p:nvSpPr>
        <p:spPr>
          <a:xfrm>
            <a:off x="6607447" y="5307693"/>
            <a:ext cx="29527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-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8DCBAE8-11B7-4307-C694-BDC94F671E64}"/>
              </a:ext>
            </a:extLst>
          </p:cNvPr>
          <p:cNvSpPr txBox="1"/>
          <p:nvPr/>
        </p:nvSpPr>
        <p:spPr>
          <a:xfrm>
            <a:off x="6646817" y="5099413"/>
            <a:ext cx="29527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-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E7BED07-46B8-2F96-96EC-1157917FF629}"/>
              </a:ext>
            </a:extLst>
          </p:cNvPr>
          <p:cNvSpPr txBox="1"/>
          <p:nvPr/>
        </p:nvSpPr>
        <p:spPr>
          <a:xfrm>
            <a:off x="6693807" y="5629638"/>
            <a:ext cx="29527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-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B300703-9DFE-9B44-636C-4C81CF97BB55}"/>
              </a:ext>
            </a:extLst>
          </p:cNvPr>
          <p:cNvSpPr txBox="1"/>
          <p:nvPr/>
        </p:nvSpPr>
        <p:spPr>
          <a:xfrm>
            <a:off x="4514487" y="5389608"/>
            <a:ext cx="37221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+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B16FD50-1A51-6CA3-D64F-C83CA663D0C3}"/>
              </a:ext>
            </a:extLst>
          </p:cNvPr>
          <p:cNvSpPr txBox="1"/>
          <p:nvPr/>
        </p:nvSpPr>
        <p:spPr>
          <a:xfrm>
            <a:off x="4436382" y="4989558"/>
            <a:ext cx="37221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+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41147FE-FA28-C14D-612C-524B218E2A9B}"/>
              </a:ext>
            </a:extLst>
          </p:cNvPr>
          <p:cNvSpPr txBox="1"/>
          <p:nvPr/>
        </p:nvSpPr>
        <p:spPr>
          <a:xfrm>
            <a:off x="4563382" y="5188313"/>
            <a:ext cx="37221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+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DEE9166-6369-3F81-D6FB-C9F99663C470}"/>
              </a:ext>
            </a:extLst>
          </p:cNvPr>
          <p:cNvSpPr txBox="1"/>
          <p:nvPr/>
        </p:nvSpPr>
        <p:spPr>
          <a:xfrm>
            <a:off x="4403362" y="5602333"/>
            <a:ext cx="37221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893990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9" name="Text Box 19">
            <a:hlinkClick r:id="rId2" action="ppaction://hlinksldjump"/>
            <a:extLst>
              <a:ext uri="{FF2B5EF4-FFF2-40B4-BE49-F238E27FC236}">
                <a16:creationId xmlns:a16="http://schemas.microsoft.com/office/drawing/2014/main" id="{4E53918C-30E3-49AB-8933-32B15D49C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30" y="5778647"/>
            <a:ext cx="898621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给定边界条件后</a:t>
            </a:r>
            <a:r>
              <a:rPr lang="en-US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静电场的分布就唯一地确定了</a:t>
            </a:r>
          </a:p>
        </p:txBody>
      </p:sp>
      <p:sp>
        <p:nvSpPr>
          <p:cNvPr id="28676" name="Text Box 19">
            <a:hlinkClick r:id="rId2" action="ppaction://hlinksldjump"/>
            <a:extLst>
              <a:ext uri="{FF2B5EF4-FFF2-40B4-BE49-F238E27FC236}">
                <a16:creationId xmlns:a16="http://schemas.microsoft.com/office/drawing/2014/main" id="{41C8AED2-B171-4FE0-A6EA-2576C9359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832" y="494578"/>
            <a:ext cx="537371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静电场的唯一性定理</a:t>
            </a:r>
            <a:r>
              <a:rPr lang="en-US" altLang="zh-CN" sz="3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*</a:t>
            </a:r>
            <a:endParaRPr lang="zh-CN" altLang="en-US" sz="32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E3D3F5-8159-48B4-84CB-57F6D7900843}"/>
              </a:ext>
            </a:extLst>
          </p:cNvPr>
          <p:cNvSpPr/>
          <p:nvPr/>
        </p:nvSpPr>
        <p:spPr>
          <a:xfrm>
            <a:off x="344555" y="1530206"/>
            <a:ext cx="900087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有若干个导体存在时，在给定的条件下，空间的电场分布和导体表面的电荷分布是唯一确定的。</a:t>
            </a:r>
            <a:endParaRPr lang="en-US" altLang="zh-CN" sz="2800" dirty="0"/>
          </a:p>
          <a:p>
            <a:endParaRPr lang="en-US" altLang="zh-CN" sz="2800" dirty="0"/>
          </a:p>
          <a:p>
            <a:pPr marL="285750" indent="-285750">
              <a:buFontTx/>
              <a:buChar char="-"/>
            </a:pPr>
            <a:r>
              <a:rPr lang="zh-CN" altLang="en-US" sz="2800" dirty="0"/>
              <a:t>给定每个导体上的带电量</a:t>
            </a:r>
            <a:endParaRPr lang="en-US" altLang="zh-CN" sz="2800" dirty="0"/>
          </a:p>
          <a:p>
            <a:pPr marL="285750" indent="-285750">
              <a:buFontTx/>
              <a:buChar char="-"/>
            </a:pPr>
            <a:r>
              <a:rPr lang="zh-CN" altLang="en-US" sz="2800" dirty="0"/>
              <a:t>给定每个导体的电势</a:t>
            </a:r>
            <a:endParaRPr lang="en-US" altLang="zh-CN" sz="2800" dirty="0"/>
          </a:p>
          <a:p>
            <a:pPr marL="285750" indent="-285750">
              <a:buFontTx/>
              <a:buChar char="-"/>
            </a:pPr>
            <a:r>
              <a:rPr lang="zh-CN" altLang="en-US" sz="2800" dirty="0"/>
              <a:t>给定一些导体的总电量和另一些导体的电势</a:t>
            </a:r>
            <a:endParaRPr lang="en-US" sz="2800" dirty="0"/>
          </a:p>
        </p:txBody>
      </p:sp>
      <p:grpSp>
        <p:nvGrpSpPr>
          <p:cNvPr id="2" name="Group 41">
            <a:extLst>
              <a:ext uri="{FF2B5EF4-FFF2-40B4-BE49-F238E27FC236}">
                <a16:creationId xmlns:a16="http://schemas.microsoft.com/office/drawing/2014/main" id="{CB44684A-E066-52BE-8332-FD509323632D}"/>
              </a:ext>
            </a:extLst>
          </p:cNvPr>
          <p:cNvGrpSpPr>
            <a:grpSpLocks/>
          </p:cNvGrpSpPr>
          <p:nvPr/>
        </p:nvGrpSpPr>
        <p:grpSpPr bwMode="auto">
          <a:xfrm>
            <a:off x="8591370" y="2162597"/>
            <a:ext cx="2889250" cy="2459037"/>
            <a:chOff x="3510" y="1609"/>
            <a:chExt cx="1820" cy="1549"/>
          </a:xfrm>
        </p:grpSpPr>
        <p:sp>
          <p:nvSpPr>
            <p:cNvPr id="3" name="Line 42">
              <a:extLst>
                <a:ext uri="{FF2B5EF4-FFF2-40B4-BE49-F238E27FC236}">
                  <a16:creationId xmlns:a16="http://schemas.microsoft.com/office/drawing/2014/main" id="{50E41C20-8C88-59FE-C578-2536A9020B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5" y="1766"/>
              <a:ext cx="67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Line 43">
              <a:extLst>
                <a:ext uri="{FF2B5EF4-FFF2-40B4-BE49-F238E27FC236}">
                  <a16:creationId xmlns:a16="http://schemas.microsoft.com/office/drawing/2014/main" id="{AF28B4D3-06AE-5294-C73E-B1686E170B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5" y="1766"/>
              <a:ext cx="67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44">
              <a:extLst>
                <a:ext uri="{FF2B5EF4-FFF2-40B4-BE49-F238E27FC236}">
                  <a16:creationId xmlns:a16="http://schemas.microsoft.com/office/drawing/2014/main" id="{E65974CE-DF0B-0EE7-7EE2-C17F4EB0D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5" y="2198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45">
              <a:extLst>
                <a:ext uri="{FF2B5EF4-FFF2-40B4-BE49-F238E27FC236}">
                  <a16:creationId xmlns:a16="http://schemas.microsoft.com/office/drawing/2014/main" id="{FE04F471-A195-7048-7DCC-6CC561F011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7" y="176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46">
              <a:extLst>
                <a:ext uri="{FF2B5EF4-FFF2-40B4-BE49-F238E27FC236}">
                  <a16:creationId xmlns:a16="http://schemas.microsoft.com/office/drawing/2014/main" id="{A8CBDABF-DCCA-998E-2F11-6ADA2F8CE1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5" y="2198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47">
              <a:extLst>
                <a:ext uri="{FF2B5EF4-FFF2-40B4-BE49-F238E27FC236}">
                  <a16:creationId xmlns:a16="http://schemas.microsoft.com/office/drawing/2014/main" id="{AE84EEAF-7C01-AF55-035C-9A7CDA9994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5" y="2198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48">
              <a:extLst>
                <a:ext uri="{FF2B5EF4-FFF2-40B4-BE49-F238E27FC236}">
                  <a16:creationId xmlns:a16="http://schemas.microsoft.com/office/drawing/2014/main" id="{C84D899D-60DB-8DAA-8351-E351FBF630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5" y="315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49">
              <a:extLst>
                <a:ext uri="{FF2B5EF4-FFF2-40B4-BE49-F238E27FC236}">
                  <a16:creationId xmlns:a16="http://schemas.microsoft.com/office/drawing/2014/main" id="{0D314D0D-C9D7-5924-6385-38A395147D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5" y="2870"/>
              <a:ext cx="432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50">
              <a:extLst>
                <a:ext uri="{FF2B5EF4-FFF2-40B4-BE49-F238E27FC236}">
                  <a16:creationId xmlns:a16="http://schemas.microsoft.com/office/drawing/2014/main" id="{9683E040-E6AD-DCA9-293C-352B8E9DD1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7" y="1766"/>
              <a:ext cx="67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51">
              <a:extLst>
                <a:ext uri="{FF2B5EF4-FFF2-40B4-BE49-F238E27FC236}">
                  <a16:creationId xmlns:a16="http://schemas.microsoft.com/office/drawing/2014/main" id="{A7DA2CBE-35F9-A52F-452B-8DFF81A19B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7" y="1766"/>
              <a:ext cx="67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52">
              <a:extLst>
                <a:ext uri="{FF2B5EF4-FFF2-40B4-BE49-F238E27FC236}">
                  <a16:creationId xmlns:a16="http://schemas.microsoft.com/office/drawing/2014/main" id="{BE499C6C-7569-45AB-0F5E-36760D07F1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7" y="2198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53">
              <a:extLst>
                <a:ext uri="{FF2B5EF4-FFF2-40B4-BE49-F238E27FC236}">
                  <a16:creationId xmlns:a16="http://schemas.microsoft.com/office/drawing/2014/main" id="{07767739-F4F4-8126-3B7C-CD65EA0329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9" y="176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54">
              <a:extLst>
                <a:ext uri="{FF2B5EF4-FFF2-40B4-BE49-F238E27FC236}">
                  <a16:creationId xmlns:a16="http://schemas.microsoft.com/office/drawing/2014/main" id="{BE06BB0E-79D3-AD23-E063-1C6D219776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7" y="2198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55">
              <a:extLst>
                <a:ext uri="{FF2B5EF4-FFF2-40B4-BE49-F238E27FC236}">
                  <a16:creationId xmlns:a16="http://schemas.microsoft.com/office/drawing/2014/main" id="{8B263C56-17C7-EFDE-0E2F-942E96F578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7" y="2198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56">
              <a:extLst>
                <a:ext uri="{FF2B5EF4-FFF2-40B4-BE49-F238E27FC236}">
                  <a16:creationId xmlns:a16="http://schemas.microsoft.com/office/drawing/2014/main" id="{59CE0F92-D760-6581-5141-F669E9E54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7" y="315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57">
              <a:extLst>
                <a:ext uri="{FF2B5EF4-FFF2-40B4-BE49-F238E27FC236}">
                  <a16:creationId xmlns:a16="http://schemas.microsoft.com/office/drawing/2014/main" id="{C9325F52-B100-00F4-E3D8-FD1EC94E9B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7" y="2678"/>
              <a:ext cx="672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Freeform 58">
              <a:extLst>
                <a:ext uri="{FF2B5EF4-FFF2-40B4-BE49-F238E27FC236}">
                  <a16:creationId xmlns:a16="http://schemas.microsoft.com/office/drawing/2014/main" id="{4E0059A5-8945-CC1F-13E7-B5A22F526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1766"/>
              <a:ext cx="1" cy="288"/>
            </a:xfrm>
            <a:custGeom>
              <a:avLst/>
              <a:gdLst>
                <a:gd name="T0" fmla="*/ 0 w 1"/>
                <a:gd name="T1" fmla="*/ 0 h 288"/>
                <a:gd name="T2" fmla="*/ 0 w 1"/>
                <a:gd name="T3" fmla="*/ 288 h 28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88">
                  <a:moveTo>
                    <a:pt x="0" y="0"/>
                  </a:moveTo>
                  <a:cubicBezTo>
                    <a:pt x="0" y="124"/>
                    <a:pt x="0" y="248"/>
                    <a:pt x="0" y="28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59">
              <a:extLst>
                <a:ext uri="{FF2B5EF4-FFF2-40B4-BE49-F238E27FC236}">
                  <a16:creationId xmlns:a16="http://schemas.microsoft.com/office/drawing/2014/main" id="{52B0532F-57DA-4FAC-FC2F-9BD5DC211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9" y="1766"/>
              <a:ext cx="1" cy="912"/>
            </a:xfrm>
            <a:custGeom>
              <a:avLst/>
              <a:gdLst>
                <a:gd name="T0" fmla="*/ 0 w 1"/>
                <a:gd name="T1" fmla="*/ 0 h 912"/>
                <a:gd name="T2" fmla="*/ 0 w 1"/>
                <a:gd name="T3" fmla="*/ 912 h 9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12">
                  <a:moveTo>
                    <a:pt x="0" y="0"/>
                  </a:moveTo>
                  <a:cubicBezTo>
                    <a:pt x="0" y="380"/>
                    <a:pt x="0" y="760"/>
                    <a:pt x="0" y="91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bject 60">
                  <a:extLst>
                    <a:ext uri="{FF2B5EF4-FFF2-40B4-BE49-F238E27FC236}">
                      <a16:creationId xmlns:a16="http://schemas.microsoft.com/office/drawing/2014/main" id="{ECD2F6F3-5E12-6743-770F-590FA83B7B18}"/>
                    </a:ext>
                  </a:extLst>
                </p:cNvPr>
                <p:cNvSpPr txBox="1"/>
                <p:nvPr/>
              </p:nvSpPr>
              <p:spPr bwMode="auto">
                <a:xfrm>
                  <a:off x="4150" y="1609"/>
                  <a:ext cx="207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7" name="Object 60">
                  <a:extLst>
                    <a:ext uri="{FF2B5EF4-FFF2-40B4-BE49-F238E27FC236}">
                      <a16:creationId xmlns:a16="http://schemas.microsoft.com/office/drawing/2014/main" id="{0E272089-BF7D-45DC-A8DB-F72E7A0175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50" y="1609"/>
                  <a:ext cx="207" cy="20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bject 61">
                  <a:extLst>
                    <a:ext uri="{FF2B5EF4-FFF2-40B4-BE49-F238E27FC236}">
                      <a16:creationId xmlns:a16="http://schemas.microsoft.com/office/drawing/2014/main" id="{64016507-46FD-6BA2-4283-13C60A5B9359}"/>
                    </a:ext>
                  </a:extLst>
                </p:cNvPr>
                <p:cNvSpPr txBox="1"/>
                <p:nvPr/>
              </p:nvSpPr>
              <p:spPr bwMode="auto">
                <a:xfrm>
                  <a:off x="4801" y="1659"/>
                  <a:ext cx="203" cy="2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8" name="Object 61">
                  <a:extLst>
                    <a:ext uri="{FF2B5EF4-FFF2-40B4-BE49-F238E27FC236}">
                      <a16:creationId xmlns:a16="http://schemas.microsoft.com/office/drawing/2014/main" id="{2933F6F1-CCFE-4B46-A97C-9BB6A421B6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01" y="1659"/>
                  <a:ext cx="203" cy="20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bject 62">
                  <a:extLst>
                    <a:ext uri="{FF2B5EF4-FFF2-40B4-BE49-F238E27FC236}">
                      <a16:creationId xmlns:a16="http://schemas.microsoft.com/office/drawing/2014/main" id="{0C828700-0ED2-066A-313C-F3D9E0ACBBD3}"/>
                    </a:ext>
                  </a:extLst>
                </p:cNvPr>
                <p:cNvSpPr txBox="1"/>
                <p:nvPr/>
              </p:nvSpPr>
              <p:spPr bwMode="auto">
                <a:xfrm>
                  <a:off x="3510" y="2054"/>
                  <a:ext cx="248" cy="2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9" name="Object 62">
                  <a:extLst>
                    <a:ext uri="{FF2B5EF4-FFF2-40B4-BE49-F238E27FC236}">
                      <a16:creationId xmlns:a16="http://schemas.microsoft.com/office/drawing/2014/main" id="{A69CFA08-F016-40EC-AE95-AF5B68337E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0" y="2054"/>
                  <a:ext cx="248" cy="28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63">
                  <a:extLst>
                    <a:ext uri="{FF2B5EF4-FFF2-40B4-BE49-F238E27FC236}">
                      <a16:creationId xmlns:a16="http://schemas.microsoft.com/office/drawing/2014/main" id="{07DF6F60-7563-20FC-D14C-361B77492006}"/>
                    </a:ext>
                  </a:extLst>
                </p:cNvPr>
                <p:cNvSpPr txBox="1"/>
                <p:nvPr/>
              </p:nvSpPr>
              <p:spPr bwMode="auto">
                <a:xfrm>
                  <a:off x="3982" y="2086"/>
                  <a:ext cx="230" cy="3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Object 63">
                  <a:extLst>
                    <a:ext uri="{FF2B5EF4-FFF2-40B4-BE49-F238E27FC236}">
                      <a16:creationId xmlns:a16="http://schemas.microsoft.com/office/drawing/2014/main" id="{E13FB952-7EF6-4529-BAC7-F6E9B47DB0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82" y="2086"/>
                  <a:ext cx="230" cy="30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bject 64">
                  <a:extLst>
                    <a:ext uri="{FF2B5EF4-FFF2-40B4-BE49-F238E27FC236}">
                      <a16:creationId xmlns:a16="http://schemas.microsoft.com/office/drawing/2014/main" id="{76433C55-4AD8-711C-5D2A-7C51079368F0}"/>
                    </a:ext>
                  </a:extLst>
                </p:cNvPr>
                <p:cNvSpPr txBox="1"/>
                <p:nvPr/>
              </p:nvSpPr>
              <p:spPr bwMode="auto">
                <a:xfrm>
                  <a:off x="4252" y="2129"/>
                  <a:ext cx="280" cy="3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" name="Object 64">
                  <a:extLst>
                    <a:ext uri="{FF2B5EF4-FFF2-40B4-BE49-F238E27FC236}">
                      <a16:creationId xmlns:a16="http://schemas.microsoft.com/office/drawing/2014/main" id="{3AA216F9-A637-4C66-A48D-4BBED00552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52" y="2129"/>
                  <a:ext cx="280" cy="31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bject 65">
                  <a:extLst>
                    <a:ext uri="{FF2B5EF4-FFF2-40B4-BE49-F238E27FC236}">
                      <a16:creationId xmlns:a16="http://schemas.microsoft.com/office/drawing/2014/main" id="{82DF30D6-88F0-26FB-CBE1-DF38A4695D22}"/>
                    </a:ext>
                  </a:extLst>
                </p:cNvPr>
                <p:cNvSpPr txBox="1"/>
                <p:nvPr/>
              </p:nvSpPr>
              <p:spPr bwMode="auto">
                <a:xfrm>
                  <a:off x="4647" y="2113"/>
                  <a:ext cx="235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4.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2" name="Object 65">
                  <a:extLst>
                    <a:ext uri="{FF2B5EF4-FFF2-40B4-BE49-F238E27FC236}">
                      <a16:creationId xmlns:a16="http://schemas.microsoft.com/office/drawing/2014/main" id="{3A6143E1-06E8-4268-87A5-6739E3EBF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47" y="2113"/>
                  <a:ext cx="235" cy="25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bject 66">
                  <a:extLst>
                    <a:ext uri="{FF2B5EF4-FFF2-40B4-BE49-F238E27FC236}">
                      <a16:creationId xmlns:a16="http://schemas.microsoft.com/office/drawing/2014/main" id="{23682EA9-DF1D-B168-E090-B644EC71C6CF}"/>
                    </a:ext>
                  </a:extLst>
                </p:cNvPr>
                <p:cNvSpPr txBox="1"/>
                <p:nvPr/>
              </p:nvSpPr>
              <p:spPr bwMode="auto">
                <a:xfrm>
                  <a:off x="4609" y="2531"/>
                  <a:ext cx="235" cy="2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3" name="Object 66">
                  <a:extLst>
                    <a:ext uri="{FF2B5EF4-FFF2-40B4-BE49-F238E27FC236}">
                      <a16:creationId xmlns:a16="http://schemas.microsoft.com/office/drawing/2014/main" id="{17BC7531-D18E-44FD-AC09-DC69BB5412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9" y="2531"/>
                  <a:ext cx="235" cy="27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Text Box 19">
            <a:hlinkClick r:id="rId2" action="ppaction://hlinksldjump"/>
            <a:extLst>
              <a:ext uri="{FF2B5EF4-FFF2-40B4-BE49-F238E27FC236}">
                <a16:creationId xmlns:a16="http://schemas.microsoft.com/office/drawing/2014/main" id="{FCA6E55F-5BBA-4A0B-8ED8-87C61D74B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506" y="4713134"/>
            <a:ext cx="898621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边界条件：导体表面或导体与真空分界面的情况（电荷或电势）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39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3F8881A8-5443-4E43-9424-059B9C86D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9671" y="1080261"/>
            <a:ext cx="8141529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求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:1)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点电荷一侧的场的分布</a:t>
            </a:r>
          </a:p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2)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导体表面的感应电荷面密度</a:t>
            </a:r>
          </a:p>
        </p:txBody>
      </p:sp>
      <p:sp>
        <p:nvSpPr>
          <p:cNvPr id="33798" name="Text Box 6">
            <a:extLst>
              <a:ext uri="{FF2B5EF4-FFF2-40B4-BE49-F238E27FC236}">
                <a16:creationId xmlns:a16="http://schemas.microsoft.com/office/drawing/2014/main" id="{4A17764D-8FD1-4C61-B78E-EFCA3606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270" y="239645"/>
            <a:ext cx="7772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无限大接地导体平板附近有一点电荷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799" name="Object 7">
                <a:extLst>
                  <a:ext uri="{FF2B5EF4-FFF2-40B4-BE49-F238E27FC236}">
                    <a16:creationId xmlns:a16="http://schemas.microsoft.com/office/drawing/2014/main" id="{B89B2351-8C74-4684-A79E-AAF45471CE72}"/>
                  </a:ext>
                </a:extLst>
              </p:cNvPr>
              <p:cNvSpPr txBox="1"/>
              <p:nvPr/>
            </p:nvSpPr>
            <p:spPr bwMode="auto">
              <a:xfrm>
                <a:off x="6887040" y="162362"/>
                <a:ext cx="3937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799" name="Object 7">
                <a:extLst>
                  <a:ext uri="{FF2B5EF4-FFF2-40B4-BE49-F238E27FC236}">
                    <a16:creationId xmlns:a16="http://schemas.microsoft.com/office/drawing/2014/main" id="{B89B2351-8C74-4684-A79E-AAF45471C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87040" y="162362"/>
                <a:ext cx="393700" cy="457200"/>
              </a:xfrm>
              <a:prstGeom prst="rect">
                <a:avLst/>
              </a:prstGeom>
              <a:blipFill>
                <a:blip r:embed="rId2"/>
                <a:stretch>
                  <a:fillRect b="-1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806" name="Text Box 14">
            <a:extLst>
              <a:ext uri="{FF2B5EF4-FFF2-40B4-BE49-F238E27FC236}">
                <a16:creationId xmlns:a16="http://schemas.microsoft.com/office/drawing/2014/main" id="{BF15E6D5-E00B-4843-8930-3FC0B54E5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5431" y="4534118"/>
            <a:ext cx="475138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镜像电荷与原电荷产生的</a:t>
            </a:r>
          </a:p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合场满足同样的边界条件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2422D6-5212-B2EA-E97B-66F9CCFBE474}"/>
              </a:ext>
            </a:extLst>
          </p:cNvPr>
          <p:cNvGrpSpPr/>
          <p:nvPr/>
        </p:nvGrpSpPr>
        <p:grpSpPr>
          <a:xfrm>
            <a:off x="7161029" y="1421039"/>
            <a:ext cx="2827512" cy="1412872"/>
            <a:chOff x="7161029" y="1421039"/>
            <a:chExt cx="2827512" cy="1412872"/>
          </a:xfrm>
        </p:grpSpPr>
        <p:grpSp>
          <p:nvGrpSpPr>
            <p:cNvPr id="33807" name="Group 15">
              <a:extLst>
                <a:ext uri="{FF2B5EF4-FFF2-40B4-BE49-F238E27FC236}">
                  <a16:creationId xmlns:a16="http://schemas.microsoft.com/office/drawing/2014/main" id="{70303DDD-9E0F-40BD-8776-7A4E9A6072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93882" y="1421039"/>
              <a:ext cx="1758950" cy="1412872"/>
              <a:chOff x="4172" y="397"/>
              <a:chExt cx="1108" cy="899"/>
            </a:xfrm>
          </p:grpSpPr>
          <p:grpSp>
            <p:nvGrpSpPr>
              <p:cNvPr id="25620" name="Group 17">
                <a:extLst>
                  <a:ext uri="{FF2B5EF4-FFF2-40B4-BE49-F238E27FC236}">
                    <a16:creationId xmlns:a16="http://schemas.microsoft.com/office/drawing/2014/main" id="{F07A70D0-416E-4A42-B7E6-4841C3095E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36" y="1104"/>
                <a:ext cx="144" cy="192"/>
                <a:chOff x="5136" y="1104"/>
                <a:chExt cx="144" cy="192"/>
              </a:xfrm>
            </p:grpSpPr>
            <p:sp>
              <p:nvSpPr>
                <p:cNvPr id="25625" name="Line 18">
                  <a:extLst>
                    <a:ext uri="{FF2B5EF4-FFF2-40B4-BE49-F238E27FC236}">
                      <a16:creationId xmlns:a16="http://schemas.microsoft.com/office/drawing/2014/main" id="{C6F1FB8B-52EB-4749-BE9F-80930D3B6A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84" y="1104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2800">
                    <a:latin typeface="华文楷体" panose="02010600040101010101" pitchFamily="2" charset="-122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5626" name="Line 19">
                  <a:extLst>
                    <a:ext uri="{FF2B5EF4-FFF2-40B4-BE49-F238E27FC236}">
                      <a16:creationId xmlns:a16="http://schemas.microsoft.com/office/drawing/2014/main" id="{F7DB81F2-24D9-45D1-B356-3902786E64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36" y="1200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2800">
                    <a:latin typeface="华文楷体" panose="02010600040101010101" pitchFamily="2" charset="-122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5627" name="Line 20">
                  <a:extLst>
                    <a:ext uri="{FF2B5EF4-FFF2-40B4-BE49-F238E27FC236}">
                      <a16:creationId xmlns:a16="http://schemas.microsoft.com/office/drawing/2014/main" id="{BDDE78CF-4764-4474-BF0B-BD1799741F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84" y="124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2800">
                    <a:latin typeface="华文楷体" panose="02010600040101010101" pitchFamily="2" charset="-122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5628" name="Line 21">
                  <a:extLst>
                    <a:ext uri="{FF2B5EF4-FFF2-40B4-BE49-F238E27FC236}">
                      <a16:creationId xmlns:a16="http://schemas.microsoft.com/office/drawing/2014/main" id="{232FBF2D-728E-4D83-BA24-B694FB280E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32" y="1296"/>
                  <a:ext cx="4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2800">
                    <a:latin typeface="华文楷体" panose="02010600040101010101" pitchFamily="2" charset="-122"/>
                    <a:ea typeface="华文楷体" panose="02010600040101010101" pitchFamily="2" charset="-122"/>
                  </a:endParaRPr>
                </a:p>
              </p:txBody>
            </p:sp>
          </p:grpSp>
          <p:sp>
            <p:nvSpPr>
              <p:cNvPr id="25621" name="Line 22">
                <a:extLst>
                  <a:ext uri="{FF2B5EF4-FFF2-40B4-BE49-F238E27FC236}">
                    <a16:creationId xmlns:a16="http://schemas.microsoft.com/office/drawing/2014/main" id="{94FEE577-8FE2-4324-93B8-67A458A5FD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57" y="397"/>
                <a:ext cx="0" cy="644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622" name="Object 23">
                    <a:extLst>
                      <a:ext uri="{FF2B5EF4-FFF2-40B4-BE49-F238E27FC236}">
                        <a16:creationId xmlns:a16="http://schemas.microsoft.com/office/drawing/2014/main" id="{5974E4CB-CFFF-404B-9C17-327FAC515E22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560" y="624"/>
                    <a:ext cx="288" cy="2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5622" name="Object 23">
                    <a:extLst>
                      <a:ext uri="{FF2B5EF4-FFF2-40B4-BE49-F238E27FC236}">
                        <a16:creationId xmlns:a16="http://schemas.microsoft.com/office/drawing/2014/main" id="{5974E4CB-CFFF-404B-9C17-327FAC515E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560" y="624"/>
                    <a:ext cx="288" cy="26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0145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623" name="Object 24">
                    <a:extLst>
                      <a:ext uri="{FF2B5EF4-FFF2-40B4-BE49-F238E27FC236}">
                        <a16:creationId xmlns:a16="http://schemas.microsoft.com/office/drawing/2014/main" id="{9174E15A-1A8F-4CC4-8B85-8BCF0D8963D1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172" y="768"/>
                    <a:ext cx="216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5623" name="Object 24">
                    <a:extLst>
                      <a:ext uri="{FF2B5EF4-FFF2-40B4-BE49-F238E27FC236}">
                        <a16:creationId xmlns:a16="http://schemas.microsoft.com/office/drawing/2014/main" id="{9174E15A-1A8F-4CC4-8B85-8BCF0D8963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72" y="768"/>
                    <a:ext cx="216" cy="24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3226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624" name="Oval 25">
                <a:extLst>
                  <a:ext uri="{FF2B5EF4-FFF2-40B4-BE49-F238E27FC236}">
                    <a16:creationId xmlns:a16="http://schemas.microsoft.com/office/drawing/2014/main" id="{2B4318A1-E83C-4D38-9E94-C10B8B36A2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6" y="443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50E5E8F0-D4EB-4EAE-B862-FF33269936D8}"/>
                </a:ext>
              </a:extLst>
            </p:cNvPr>
            <p:cNvSpPr txBox="1"/>
            <p:nvPr/>
          </p:nvSpPr>
          <p:spPr>
            <a:xfrm>
              <a:off x="7161029" y="2416968"/>
              <a:ext cx="2827512" cy="16113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txBody>
            <a:bodyPr vert="eaVert" wrap="square" rtlCol="0">
              <a:spAutoFit/>
            </a:bodyPr>
            <a:lstStyle/>
            <a:p>
              <a:endParaRPr lang="en-US" sz="2800"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862A569-652F-A669-4764-39D7DB6001D5}"/>
              </a:ext>
            </a:extLst>
          </p:cNvPr>
          <p:cNvGrpSpPr/>
          <p:nvPr/>
        </p:nvGrpSpPr>
        <p:grpSpPr>
          <a:xfrm>
            <a:off x="7239000" y="3930650"/>
            <a:ext cx="3481389" cy="2370142"/>
            <a:chOff x="7239000" y="3930650"/>
            <a:chExt cx="3481389" cy="2370142"/>
          </a:xfrm>
        </p:grpSpPr>
        <p:grpSp>
          <p:nvGrpSpPr>
            <p:cNvPr id="33800" name="Group 8">
              <a:extLst>
                <a:ext uri="{FF2B5EF4-FFF2-40B4-BE49-F238E27FC236}">
                  <a16:creationId xmlns:a16="http://schemas.microsoft.com/office/drawing/2014/main" id="{0409F950-8509-4DB8-8D8F-7A2C146715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48601" y="5683254"/>
              <a:ext cx="2871788" cy="617538"/>
              <a:chOff x="3984" y="2928"/>
              <a:chExt cx="1809" cy="389"/>
            </a:xfrm>
          </p:grpSpPr>
          <p:sp>
            <p:nvSpPr>
              <p:cNvPr id="25629" name="Oval 9">
                <a:extLst>
                  <a:ext uri="{FF2B5EF4-FFF2-40B4-BE49-F238E27FC236}">
                    <a16:creationId xmlns:a16="http://schemas.microsoft.com/office/drawing/2014/main" id="{B1346F3B-65F8-47AE-BFA6-B4BE3E25D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312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25630" name="Text Box 10">
                <a:extLst>
                  <a:ext uri="{FF2B5EF4-FFF2-40B4-BE49-F238E27FC236}">
                    <a16:creationId xmlns:a16="http://schemas.microsoft.com/office/drawing/2014/main" id="{46C1351A-5484-4C9A-9BDA-8C363214D8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2928"/>
                <a:ext cx="118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镜像电荷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631" name="Object 11">
                    <a:extLst>
                      <a:ext uri="{FF2B5EF4-FFF2-40B4-BE49-F238E27FC236}">
                        <a16:creationId xmlns:a16="http://schemas.microsoft.com/office/drawing/2014/main" id="{EE031229-9424-47BE-A4DF-DF052344A558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3984" y="3051"/>
                    <a:ext cx="435" cy="2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5631" name="Object 11">
                    <a:extLst>
                      <a:ext uri="{FF2B5EF4-FFF2-40B4-BE49-F238E27FC236}">
                        <a16:creationId xmlns:a16="http://schemas.microsoft.com/office/drawing/2014/main" id="{EE031229-9424-47BE-A4DF-DF052344A5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984" y="3051"/>
                    <a:ext cx="435" cy="26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0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805" name="Object 13">
                  <a:extLst>
                    <a:ext uri="{FF2B5EF4-FFF2-40B4-BE49-F238E27FC236}">
                      <a16:creationId xmlns:a16="http://schemas.microsoft.com/office/drawing/2014/main" id="{7BCEA38D-1449-4406-899C-04B2A39236CE}"/>
                    </a:ext>
                  </a:extLst>
                </p:cNvPr>
                <p:cNvSpPr txBox="1"/>
                <p:nvPr/>
              </p:nvSpPr>
              <p:spPr bwMode="auto">
                <a:xfrm>
                  <a:off x="8153401" y="5226050"/>
                  <a:ext cx="404813" cy="4508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3805" name="Object 13">
                  <a:extLst>
                    <a:ext uri="{FF2B5EF4-FFF2-40B4-BE49-F238E27FC236}">
                      <a16:creationId xmlns:a16="http://schemas.microsoft.com/office/drawing/2014/main" id="{7BCEA38D-1449-4406-899C-04B2A39236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53401" y="5226050"/>
                  <a:ext cx="404813" cy="45085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3819" name="Group 27">
              <a:extLst>
                <a:ext uri="{FF2B5EF4-FFF2-40B4-BE49-F238E27FC236}">
                  <a16:creationId xmlns:a16="http://schemas.microsoft.com/office/drawing/2014/main" id="{B896F22F-40FF-456F-AB22-B3C4C54C5F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39000" y="3930650"/>
              <a:ext cx="3200400" cy="1995488"/>
              <a:chOff x="3600" y="1920"/>
              <a:chExt cx="2016" cy="1257"/>
            </a:xfrm>
          </p:grpSpPr>
          <p:sp>
            <p:nvSpPr>
              <p:cNvPr id="25613" name="Line 28">
                <a:extLst>
                  <a:ext uri="{FF2B5EF4-FFF2-40B4-BE49-F238E27FC236}">
                    <a16:creationId xmlns:a16="http://schemas.microsoft.com/office/drawing/2014/main" id="{391243A8-5507-4A8C-AEAD-5C7B8E019E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2160"/>
                <a:ext cx="0" cy="1017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25614" name="Line 29">
                <a:extLst>
                  <a:ext uri="{FF2B5EF4-FFF2-40B4-BE49-F238E27FC236}">
                    <a16:creationId xmlns:a16="http://schemas.microsoft.com/office/drawing/2014/main" id="{06DE5A38-1558-4633-BF63-7EAFBBFDE7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716"/>
                <a:ext cx="2016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25615" name="Oval 30">
                <a:extLst>
                  <a:ext uri="{FF2B5EF4-FFF2-40B4-BE49-F238E27FC236}">
                    <a16:creationId xmlns:a16="http://schemas.microsoft.com/office/drawing/2014/main" id="{FFC8B565-335D-41B5-860D-5D1CA69BD0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214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25616" name="Text Box 31">
                <a:extLst>
                  <a:ext uri="{FF2B5EF4-FFF2-40B4-BE49-F238E27FC236}">
                    <a16:creationId xmlns:a16="http://schemas.microsoft.com/office/drawing/2014/main" id="{CEF8B283-A975-4573-BDBB-B03A7DF11D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1920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原电荷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617" name="Object 32">
                    <a:extLst>
                      <a:ext uri="{FF2B5EF4-FFF2-40B4-BE49-F238E27FC236}">
                        <a16:creationId xmlns:a16="http://schemas.microsoft.com/office/drawing/2014/main" id="{087653D0-66D8-4C46-B1D7-533AC22AB1DA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512" y="1920"/>
                    <a:ext cx="213" cy="2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5617" name="Object 32">
                    <a:extLst>
                      <a:ext uri="{FF2B5EF4-FFF2-40B4-BE49-F238E27FC236}">
                        <a16:creationId xmlns:a16="http://schemas.microsoft.com/office/drawing/2014/main" id="{087653D0-66D8-4C46-B1D7-533AC22AB1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512" y="1920"/>
                    <a:ext cx="213" cy="26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8571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618" name="Object 33">
                    <a:extLst>
                      <a:ext uri="{FF2B5EF4-FFF2-40B4-BE49-F238E27FC236}">
                        <a16:creationId xmlns:a16="http://schemas.microsoft.com/office/drawing/2014/main" id="{F86E6831-F1A5-4011-B354-52AFF4C6C95A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176" y="2256"/>
                    <a:ext cx="255" cy="2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5618" name="Object 33">
                    <a:extLst>
                      <a:ext uri="{FF2B5EF4-FFF2-40B4-BE49-F238E27FC236}">
                        <a16:creationId xmlns:a16="http://schemas.microsoft.com/office/drawing/2014/main" id="{F86E6831-F1A5-4011-B354-52AFF4C6C9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76" y="2256"/>
                    <a:ext cx="255" cy="28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Object 1">
                  <a:extLst>
                    <a:ext uri="{FF2B5EF4-FFF2-40B4-BE49-F238E27FC236}">
                      <a16:creationId xmlns:a16="http://schemas.microsoft.com/office/drawing/2014/main" id="{9AAD2154-8761-4BBA-83EF-C0F8FA9E7731}"/>
                    </a:ext>
                  </a:extLst>
                </p:cNvPr>
                <p:cNvSpPr txBox="1"/>
                <p:nvPr/>
              </p:nvSpPr>
              <p:spPr bwMode="auto">
                <a:xfrm>
                  <a:off x="9169401" y="5119688"/>
                  <a:ext cx="1057275" cy="603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" name="Object 1">
                  <a:extLst>
                    <a:ext uri="{FF2B5EF4-FFF2-40B4-BE49-F238E27FC236}">
                      <a16:creationId xmlns:a16="http://schemas.microsoft.com/office/drawing/2014/main" id="{9AAD2154-8761-4BBA-83EF-C0F8FA9E77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169401" y="5119688"/>
                  <a:ext cx="1057275" cy="60325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C533ABF1-5E28-F8E5-592A-99191A73DF49}"/>
              </a:ext>
            </a:extLst>
          </p:cNvPr>
          <p:cNvSpPr txBox="1"/>
          <p:nvPr/>
        </p:nvSpPr>
        <p:spPr>
          <a:xfrm>
            <a:off x="658219" y="2958084"/>
            <a:ext cx="6338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分析： 电荷电量已知，导体电势为零，已知；电场唯一确定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4">
            <a:extLst>
              <a:ext uri="{FF2B5EF4-FFF2-40B4-BE49-F238E27FC236}">
                <a16:creationId xmlns:a16="http://schemas.microsoft.com/office/drawing/2014/main" id="{A6D739BF-500C-462A-B018-A1F6654C7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033" y="550288"/>
            <a:ext cx="45973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点电荷一侧的场的分布</a:t>
            </a:r>
            <a:endParaRPr lang="zh-CN" altLang="en-US" sz="3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34821" name="Group 5">
            <a:extLst>
              <a:ext uri="{FF2B5EF4-FFF2-40B4-BE49-F238E27FC236}">
                <a16:creationId xmlns:a16="http://schemas.microsoft.com/office/drawing/2014/main" id="{94B0A1DF-4CC1-4F1F-998B-37805BEFD265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1516063"/>
            <a:ext cx="2057400" cy="1695450"/>
            <a:chOff x="2256" y="432"/>
            <a:chExt cx="1296" cy="10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49" name="Object 6">
                  <a:extLst>
                    <a:ext uri="{FF2B5EF4-FFF2-40B4-BE49-F238E27FC236}">
                      <a16:creationId xmlns:a16="http://schemas.microsoft.com/office/drawing/2014/main" id="{96B6DA4D-FE41-4E49-915F-20A4EBEDAF9B}"/>
                    </a:ext>
                  </a:extLst>
                </p:cNvPr>
                <p:cNvSpPr txBox="1"/>
                <p:nvPr/>
              </p:nvSpPr>
              <p:spPr bwMode="auto">
                <a:xfrm>
                  <a:off x="2832" y="432"/>
                  <a:ext cx="254" cy="4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600"/>
                </a:p>
              </p:txBody>
            </p:sp>
          </mc:Choice>
          <mc:Fallback xmlns="">
            <p:sp>
              <p:nvSpPr>
                <p:cNvPr id="26649" name="Object 6">
                  <a:extLst>
                    <a:ext uri="{FF2B5EF4-FFF2-40B4-BE49-F238E27FC236}">
                      <a16:creationId xmlns:a16="http://schemas.microsoft.com/office/drawing/2014/main" id="{96B6DA4D-FE41-4E49-915F-20A4EBEDAF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32" y="432"/>
                  <a:ext cx="254" cy="49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650" name="Line 7">
              <a:extLst>
                <a:ext uri="{FF2B5EF4-FFF2-40B4-BE49-F238E27FC236}">
                  <a16:creationId xmlns:a16="http://schemas.microsoft.com/office/drawing/2014/main" id="{ECCCF9E3-FBB5-4E2F-95C9-5A24FB5206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864"/>
              <a:ext cx="1008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600"/>
            </a:p>
          </p:txBody>
        </p:sp>
        <p:sp>
          <p:nvSpPr>
            <p:cNvPr id="26651" name="Line 8">
              <a:extLst>
                <a:ext uri="{FF2B5EF4-FFF2-40B4-BE49-F238E27FC236}">
                  <a16:creationId xmlns:a16="http://schemas.microsoft.com/office/drawing/2014/main" id="{38C9EA0B-B15A-4975-951A-E9059C7E1D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720"/>
              <a:ext cx="105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52" name="Object 9">
                  <a:extLst>
                    <a:ext uri="{FF2B5EF4-FFF2-40B4-BE49-F238E27FC236}">
                      <a16:creationId xmlns:a16="http://schemas.microsoft.com/office/drawing/2014/main" id="{DAD109AC-1DC9-4BDD-911F-EDF0D0F0C1EC}"/>
                    </a:ext>
                  </a:extLst>
                </p:cNvPr>
                <p:cNvSpPr txBox="1"/>
                <p:nvPr/>
              </p:nvSpPr>
              <p:spPr bwMode="auto">
                <a:xfrm>
                  <a:off x="2256" y="768"/>
                  <a:ext cx="256" cy="2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600"/>
                </a:p>
              </p:txBody>
            </p:sp>
          </mc:Choice>
          <mc:Fallback xmlns="">
            <p:sp>
              <p:nvSpPr>
                <p:cNvPr id="26652" name="Object 9">
                  <a:extLst>
                    <a:ext uri="{FF2B5EF4-FFF2-40B4-BE49-F238E27FC236}">
                      <a16:creationId xmlns:a16="http://schemas.microsoft.com/office/drawing/2014/main" id="{DAD109AC-1DC9-4BDD-911F-EDF0D0F0C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56" y="768"/>
                  <a:ext cx="256" cy="2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53" name="Object 10">
                  <a:extLst>
                    <a:ext uri="{FF2B5EF4-FFF2-40B4-BE49-F238E27FC236}">
                      <a16:creationId xmlns:a16="http://schemas.microsoft.com/office/drawing/2014/main" id="{4289F467-3AF0-42AC-A624-54F8ADF75AC1}"/>
                    </a:ext>
                  </a:extLst>
                </p:cNvPr>
                <p:cNvSpPr txBox="1"/>
                <p:nvPr/>
              </p:nvSpPr>
              <p:spPr bwMode="auto">
                <a:xfrm>
                  <a:off x="2880" y="1056"/>
                  <a:ext cx="279" cy="4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600"/>
                </a:p>
              </p:txBody>
            </p:sp>
          </mc:Choice>
          <mc:Fallback xmlns="">
            <p:sp>
              <p:nvSpPr>
                <p:cNvPr id="26653" name="Object 10">
                  <a:extLst>
                    <a:ext uri="{FF2B5EF4-FFF2-40B4-BE49-F238E27FC236}">
                      <a16:creationId xmlns:a16="http://schemas.microsoft.com/office/drawing/2014/main" id="{4289F467-3AF0-42AC-A624-54F8ADF75A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0" y="1056"/>
                  <a:ext cx="279" cy="44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827" name="Group 11">
            <a:extLst>
              <a:ext uri="{FF2B5EF4-FFF2-40B4-BE49-F238E27FC236}">
                <a16:creationId xmlns:a16="http://schemas.microsoft.com/office/drawing/2014/main" id="{5124819E-62C5-4408-ACDF-A280FC70CB24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1058863"/>
            <a:ext cx="3657600" cy="2667000"/>
            <a:chOff x="3312" y="192"/>
            <a:chExt cx="2304" cy="1680"/>
          </a:xfrm>
        </p:grpSpPr>
        <p:sp>
          <p:nvSpPr>
            <p:cNvPr id="26635" name="Line 12">
              <a:extLst>
                <a:ext uri="{FF2B5EF4-FFF2-40B4-BE49-F238E27FC236}">
                  <a16:creationId xmlns:a16="http://schemas.microsoft.com/office/drawing/2014/main" id="{57F97ABA-7CEB-462B-9AA4-D93FC6916F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200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600"/>
            </a:p>
          </p:txBody>
        </p:sp>
        <p:sp>
          <p:nvSpPr>
            <p:cNvPr id="26636" name="Line 13">
              <a:extLst>
                <a:ext uri="{FF2B5EF4-FFF2-40B4-BE49-F238E27FC236}">
                  <a16:creationId xmlns:a16="http://schemas.microsoft.com/office/drawing/2014/main" id="{B0860151-2C8A-42B7-AD74-082CE8DC82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120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600"/>
            </a:p>
          </p:txBody>
        </p:sp>
        <p:sp>
          <p:nvSpPr>
            <p:cNvPr id="26637" name="Line 14">
              <a:extLst>
                <a:ext uri="{FF2B5EF4-FFF2-40B4-BE49-F238E27FC236}">
                  <a16:creationId xmlns:a16="http://schemas.microsoft.com/office/drawing/2014/main" id="{89F982CD-00C1-4EA9-9B25-40433F4B45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240"/>
              <a:ext cx="0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38" name="Object 15">
                  <a:extLst>
                    <a:ext uri="{FF2B5EF4-FFF2-40B4-BE49-F238E27FC236}">
                      <a16:creationId xmlns:a16="http://schemas.microsoft.com/office/drawing/2014/main" id="{5AE22DAF-2982-4881-9189-0B91A19227BD}"/>
                    </a:ext>
                  </a:extLst>
                </p:cNvPr>
                <p:cNvSpPr txBox="1"/>
                <p:nvPr/>
              </p:nvSpPr>
              <p:spPr bwMode="auto">
                <a:xfrm>
                  <a:off x="5333" y="1296"/>
                  <a:ext cx="283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600"/>
                </a:p>
              </p:txBody>
            </p:sp>
          </mc:Choice>
          <mc:Fallback xmlns="">
            <p:sp>
              <p:nvSpPr>
                <p:cNvPr id="26638" name="Object 15">
                  <a:extLst>
                    <a:ext uri="{FF2B5EF4-FFF2-40B4-BE49-F238E27FC236}">
                      <a16:creationId xmlns:a16="http://schemas.microsoft.com/office/drawing/2014/main" id="{5AE22DAF-2982-4881-9189-0B91A1922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33" y="1296"/>
                  <a:ext cx="283" cy="33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39" name="Object 16">
                  <a:extLst>
                    <a:ext uri="{FF2B5EF4-FFF2-40B4-BE49-F238E27FC236}">
                      <a16:creationId xmlns:a16="http://schemas.microsoft.com/office/drawing/2014/main" id="{2690BCF8-797A-472E-976E-491AAAE35908}"/>
                    </a:ext>
                  </a:extLst>
                </p:cNvPr>
                <p:cNvSpPr txBox="1"/>
                <p:nvPr/>
              </p:nvSpPr>
              <p:spPr bwMode="auto">
                <a:xfrm>
                  <a:off x="4416" y="192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2600"/>
                </a:p>
              </p:txBody>
            </p:sp>
          </mc:Choice>
          <mc:Fallback xmlns="">
            <p:sp>
              <p:nvSpPr>
                <p:cNvPr id="26639" name="Object 16">
                  <a:extLst>
                    <a:ext uri="{FF2B5EF4-FFF2-40B4-BE49-F238E27FC236}">
                      <a16:creationId xmlns:a16="http://schemas.microsoft.com/office/drawing/2014/main" id="{2690BCF8-797A-472E-976E-491AAAE359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16" y="192"/>
                  <a:ext cx="288" cy="28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640" name="Group 17">
              <a:extLst>
                <a:ext uri="{FF2B5EF4-FFF2-40B4-BE49-F238E27FC236}">
                  <a16:creationId xmlns:a16="http://schemas.microsoft.com/office/drawing/2014/main" id="{CCD858B4-8E4C-456B-9704-7C36E68F04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0" y="480"/>
              <a:ext cx="288" cy="336"/>
              <a:chOff x="4896" y="240"/>
              <a:chExt cx="288" cy="336"/>
            </a:xfrm>
          </p:grpSpPr>
          <p:sp>
            <p:nvSpPr>
              <p:cNvPr id="26647" name="Oval 18">
                <a:extLst>
                  <a:ext uri="{FF2B5EF4-FFF2-40B4-BE49-F238E27FC236}">
                    <a16:creationId xmlns:a16="http://schemas.microsoft.com/office/drawing/2014/main" id="{495293FC-ED2D-45F6-9CE6-B3944BE45E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8" y="48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600" dirty="0">
                  <a:ea typeface="华文楷体" panose="0201060004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648" name="Object 19">
                    <a:extLst>
                      <a:ext uri="{FF2B5EF4-FFF2-40B4-BE49-F238E27FC236}">
                        <a16:creationId xmlns:a16="http://schemas.microsoft.com/office/drawing/2014/main" id="{924C44B3-CABB-4BBA-93FB-2C563A540152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896" y="240"/>
                    <a:ext cx="213" cy="31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en-US" sz="2600" dirty="0"/>
                  </a:p>
                </p:txBody>
              </p:sp>
            </mc:Choice>
            <mc:Fallback xmlns="">
              <p:sp>
                <p:nvSpPr>
                  <p:cNvPr id="26648" name="Object 19">
                    <a:extLst>
                      <a:ext uri="{FF2B5EF4-FFF2-40B4-BE49-F238E27FC236}">
                        <a16:creationId xmlns:a16="http://schemas.microsoft.com/office/drawing/2014/main" id="{924C44B3-CABB-4BBA-93FB-2C563A5401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896" y="240"/>
                    <a:ext cx="213" cy="31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641" name="Group 20">
              <a:extLst>
                <a:ext uri="{FF2B5EF4-FFF2-40B4-BE49-F238E27FC236}">
                  <a16:creationId xmlns:a16="http://schemas.microsoft.com/office/drawing/2014/main" id="{1402CE93-FE89-46EB-8AA7-703F81231A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1488"/>
              <a:ext cx="556" cy="281"/>
              <a:chOff x="4272" y="1440"/>
              <a:chExt cx="556" cy="281"/>
            </a:xfrm>
          </p:grpSpPr>
          <p:sp>
            <p:nvSpPr>
              <p:cNvPr id="26645" name="Oval 21">
                <a:extLst>
                  <a:ext uri="{FF2B5EF4-FFF2-40B4-BE49-F238E27FC236}">
                    <a16:creationId xmlns:a16="http://schemas.microsoft.com/office/drawing/2014/main" id="{DF846B7D-3FE5-4561-9301-6D76EDEA5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148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600" dirty="0">
                  <a:ea typeface="华文楷体" panose="0201060004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646" name="Object 22">
                    <a:extLst>
                      <a:ext uri="{FF2B5EF4-FFF2-40B4-BE49-F238E27FC236}">
                        <a16:creationId xmlns:a16="http://schemas.microsoft.com/office/drawing/2014/main" id="{41317BA0-D0C1-47D2-B55D-10B923F0C5E9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368" y="1440"/>
                    <a:ext cx="460" cy="28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en-US" sz="2600"/>
                  </a:p>
                </p:txBody>
              </p:sp>
            </mc:Choice>
            <mc:Fallback xmlns="">
              <p:sp>
                <p:nvSpPr>
                  <p:cNvPr id="26646" name="Object 22">
                    <a:extLst>
                      <a:ext uri="{FF2B5EF4-FFF2-40B4-BE49-F238E27FC236}">
                        <a16:creationId xmlns:a16="http://schemas.microsoft.com/office/drawing/2014/main" id="{41317BA0-D0C1-47D2-B55D-10B923F0C5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68" y="1440"/>
                    <a:ext cx="460" cy="28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42" name="Object 23">
                  <a:extLst>
                    <a:ext uri="{FF2B5EF4-FFF2-40B4-BE49-F238E27FC236}">
                      <a16:creationId xmlns:a16="http://schemas.microsoft.com/office/drawing/2014/main" id="{5FD885EF-F491-4E71-BD15-9E7640C35581}"/>
                    </a:ext>
                  </a:extLst>
                </p:cNvPr>
                <p:cNvSpPr txBox="1"/>
                <p:nvPr/>
              </p:nvSpPr>
              <p:spPr bwMode="auto">
                <a:xfrm>
                  <a:off x="4395" y="633"/>
                  <a:ext cx="252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26642" name="Object 23">
                  <a:extLst>
                    <a:ext uri="{FF2B5EF4-FFF2-40B4-BE49-F238E27FC236}">
                      <a16:creationId xmlns:a16="http://schemas.microsoft.com/office/drawing/2014/main" id="{5FD885EF-F491-4E71-BD15-9E7640C355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5" y="633"/>
                  <a:ext cx="252" cy="25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43" name="Object 24">
                  <a:extLst>
                    <a:ext uri="{FF2B5EF4-FFF2-40B4-BE49-F238E27FC236}">
                      <a16:creationId xmlns:a16="http://schemas.microsoft.com/office/drawing/2014/main" id="{77438124-5437-49C7-ACFB-C64F76517927}"/>
                    </a:ext>
                  </a:extLst>
                </p:cNvPr>
                <p:cNvSpPr txBox="1"/>
                <p:nvPr/>
              </p:nvSpPr>
              <p:spPr bwMode="auto">
                <a:xfrm>
                  <a:off x="4372" y="1325"/>
                  <a:ext cx="252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26643" name="Object 24">
                  <a:extLst>
                    <a:ext uri="{FF2B5EF4-FFF2-40B4-BE49-F238E27FC236}">
                      <a16:creationId xmlns:a16="http://schemas.microsoft.com/office/drawing/2014/main" id="{77438124-5437-49C7-ACFB-C64F765179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72" y="1325"/>
                  <a:ext cx="252" cy="25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44" name="Object 25">
                  <a:extLst>
                    <a:ext uri="{FF2B5EF4-FFF2-40B4-BE49-F238E27FC236}">
                      <a16:creationId xmlns:a16="http://schemas.microsoft.com/office/drawing/2014/main" id="{FB758A7C-73BB-4123-B202-B04BDCA5FD23}"/>
                    </a:ext>
                  </a:extLst>
                </p:cNvPr>
                <p:cNvSpPr txBox="1"/>
                <p:nvPr/>
              </p:nvSpPr>
              <p:spPr bwMode="auto">
                <a:xfrm>
                  <a:off x="4080" y="1152"/>
                  <a:ext cx="212" cy="2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oMath>
                    </m:oMathPara>
                  </a14:m>
                  <a:endParaRPr lang="en-US" sz="2600"/>
                </a:p>
              </p:txBody>
            </p:sp>
          </mc:Choice>
          <mc:Fallback xmlns="">
            <p:sp>
              <p:nvSpPr>
                <p:cNvPr id="26644" name="Object 25">
                  <a:extLst>
                    <a:ext uri="{FF2B5EF4-FFF2-40B4-BE49-F238E27FC236}">
                      <a16:creationId xmlns:a16="http://schemas.microsoft.com/office/drawing/2014/main" id="{FB758A7C-73BB-4123-B202-B04BDCA5FD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80" y="1152"/>
                  <a:ext cx="212" cy="23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842" name="Group 26">
            <a:extLst>
              <a:ext uri="{FF2B5EF4-FFF2-40B4-BE49-F238E27FC236}">
                <a16:creationId xmlns:a16="http://schemas.microsoft.com/office/drawing/2014/main" id="{83E4AB86-7795-4840-8C60-E4BB42967CA2}"/>
              </a:ext>
            </a:extLst>
          </p:cNvPr>
          <p:cNvGrpSpPr>
            <a:grpSpLocks/>
          </p:cNvGrpSpPr>
          <p:nvPr/>
        </p:nvGrpSpPr>
        <p:grpSpPr bwMode="auto">
          <a:xfrm>
            <a:off x="6218240" y="1211262"/>
            <a:ext cx="1325563" cy="512762"/>
            <a:chOff x="4685" y="2544"/>
            <a:chExt cx="835" cy="3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33" name="Object 27">
                  <a:extLst>
                    <a:ext uri="{FF2B5EF4-FFF2-40B4-BE49-F238E27FC236}">
                      <a16:creationId xmlns:a16="http://schemas.microsoft.com/office/drawing/2014/main" id="{08027470-1D11-4B1D-B395-3D91DE3511E3}"/>
                    </a:ext>
                  </a:extLst>
                </p:cNvPr>
                <p:cNvSpPr txBox="1"/>
                <p:nvPr/>
              </p:nvSpPr>
              <p:spPr bwMode="auto">
                <a:xfrm>
                  <a:off x="4685" y="2552"/>
                  <a:ext cx="614" cy="3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26633" name="Object 27">
                  <a:extLst>
                    <a:ext uri="{FF2B5EF4-FFF2-40B4-BE49-F238E27FC236}">
                      <a16:creationId xmlns:a16="http://schemas.microsoft.com/office/drawing/2014/main" id="{08027470-1D11-4B1D-B395-3D91DE351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85" y="2552"/>
                  <a:ext cx="614" cy="31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634" name="Text Box 28">
              <a:extLst>
                <a:ext uri="{FF2B5EF4-FFF2-40B4-BE49-F238E27FC236}">
                  <a16:creationId xmlns:a16="http://schemas.microsoft.com/office/drawing/2014/main" id="{2EAA1467-8CC6-4E49-A16C-9BE0BB4132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2544"/>
              <a:ext cx="528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600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&gt;0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845" name="Object 29">
                <a:extLst>
                  <a:ext uri="{FF2B5EF4-FFF2-40B4-BE49-F238E27FC236}">
                    <a16:creationId xmlns:a16="http://schemas.microsoft.com/office/drawing/2014/main" id="{1F8F2104-72F9-4270-A4AC-F9B53AA804B2}"/>
                  </a:ext>
                </a:extLst>
              </p:cNvPr>
              <p:cNvSpPr txBox="1"/>
              <p:nvPr/>
            </p:nvSpPr>
            <p:spPr bwMode="auto">
              <a:xfrm>
                <a:off x="2800350" y="2852739"/>
                <a:ext cx="2990850" cy="1152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34845" name="Object 29">
                <a:extLst>
                  <a:ext uri="{FF2B5EF4-FFF2-40B4-BE49-F238E27FC236}">
                    <a16:creationId xmlns:a16="http://schemas.microsoft.com/office/drawing/2014/main" id="{1F8F2104-72F9-4270-A4AC-F9B53AA80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00350" y="2852739"/>
                <a:ext cx="2990850" cy="115252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">
                <a:extLst>
                  <a:ext uri="{FF2B5EF4-FFF2-40B4-BE49-F238E27FC236}">
                    <a16:creationId xmlns:a16="http://schemas.microsoft.com/office/drawing/2014/main" id="{8130F2CF-572D-4DCC-B767-86FFC0DC3DD2}"/>
                  </a:ext>
                </a:extLst>
              </p:cNvPr>
              <p:cNvSpPr txBox="1"/>
              <p:nvPr/>
            </p:nvSpPr>
            <p:spPr bwMode="auto">
              <a:xfrm>
                <a:off x="2424113" y="1676401"/>
                <a:ext cx="2519362" cy="773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2" name="Object 1">
                <a:extLst>
                  <a:ext uri="{FF2B5EF4-FFF2-40B4-BE49-F238E27FC236}">
                    <a16:creationId xmlns:a16="http://schemas.microsoft.com/office/drawing/2014/main" id="{8130F2CF-572D-4DCC-B767-86FFC0DC3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4113" y="1676401"/>
                <a:ext cx="2519362" cy="77311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9E1ED748-9915-4A85-ACF8-B5D8E0D1397B}"/>
                  </a:ext>
                </a:extLst>
              </p:cNvPr>
              <p:cNvSpPr txBox="1"/>
              <p:nvPr/>
            </p:nvSpPr>
            <p:spPr bwMode="auto">
              <a:xfrm>
                <a:off x="1791698" y="4335463"/>
                <a:ext cx="8372475" cy="1368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+(</m:t>
                                  </m:r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p>
                                    <m:sSupPr>
                                      <m:ctrlP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+(</m:t>
                                  </m:r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p>
                                    <m:sSupPr>
                                      <m:ctrlP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9E1ED748-9915-4A85-ACF8-B5D8E0D13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1698" y="4335463"/>
                <a:ext cx="8372475" cy="136842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45" grpId="0"/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43" name="Object 3">
                <a:extLst>
                  <a:ext uri="{FF2B5EF4-FFF2-40B4-BE49-F238E27FC236}">
                    <a16:creationId xmlns:a16="http://schemas.microsoft.com/office/drawing/2014/main" id="{F0EBBEE6-03B1-4347-837B-CD21CD5F2E40}"/>
                  </a:ext>
                </a:extLst>
              </p:cNvPr>
              <p:cNvSpPr txBox="1"/>
              <p:nvPr/>
            </p:nvSpPr>
            <p:spPr bwMode="auto">
              <a:xfrm>
                <a:off x="4283076" y="3017839"/>
                <a:ext cx="4264025" cy="1133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843" name="Object 3">
                <a:extLst>
                  <a:ext uri="{FF2B5EF4-FFF2-40B4-BE49-F238E27FC236}">
                    <a16:creationId xmlns:a16="http://schemas.microsoft.com/office/drawing/2014/main" id="{F0EBBEE6-03B1-4347-837B-CD21CD5F2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3076" y="3017839"/>
                <a:ext cx="4264025" cy="1133475"/>
              </a:xfrm>
              <a:prstGeom prst="rect">
                <a:avLst/>
              </a:prstGeom>
              <a:blipFill>
                <a:blip r:embed="rId2"/>
                <a:stretch>
                  <a:fillRect b="-538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44" name="Text Box 4">
            <a:extLst>
              <a:ext uri="{FF2B5EF4-FFF2-40B4-BE49-F238E27FC236}">
                <a16:creationId xmlns:a16="http://schemas.microsoft.com/office/drawing/2014/main" id="{2C4B7BCD-1677-44C4-A868-DA0A85D38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464050"/>
            <a:ext cx="4038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2)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平板上电荷面密度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5" name="Object 5">
                <a:extLst>
                  <a:ext uri="{FF2B5EF4-FFF2-40B4-BE49-F238E27FC236}">
                    <a16:creationId xmlns:a16="http://schemas.microsoft.com/office/drawing/2014/main" id="{2223B586-6560-4C8C-BFEB-325876155FCB}"/>
                  </a:ext>
                </a:extLst>
              </p:cNvPr>
              <p:cNvSpPr txBox="1"/>
              <p:nvPr/>
            </p:nvSpPr>
            <p:spPr bwMode="auto">
              <a:xfrm>
                <a:off x="2590800" y="5454651"/>
                <a:ext cx="1905000" cy="7540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845" name="Object 5">
                <a:extLst>
                  <a:ext uri="{FF2B5EF4-FFF2-40B4-BE49-F238E27FC236}">
                    <a16:creationId xmlns:a16="http://schemas.microsoft.com/office/drawing/2014/main" id="{2223B586-6560-4C8C-BFEB-325876155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0800" y="5454651"/>
                <a:ext cx="1905000" cy="7540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46" name="Object 6">
                <a:extLst>
                  <a:ext uri="{FF2B5EF4-FFF2-40B4-BE49-F238E27FC236}">
                    <a16:creationId xmlns:a16="http://schemas.microsoft.com/office/drawing/2014/main" id="{B188F198-6468-41B0-B3E2-C67AEBFBBE52}"/>
                  </a:ext>
                </a:extLst>
              </p:cNvPr>
              <p:cNvSpPr txBox="1"/>
              <p:nvPr/>
            </p:nvSpPr>
            <p:spPr bwMode="auto">
              <a:xfrm>
                <a:off x="4495800" y="5251450"/>
                <a:ext cx="3962400" cy="1447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𝑞𝑎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846" name="Object 6">
                <a:extLst>
                  <a:ext uri="{FF2B5EF4-FFF2-40B4-BE49-F238E27FC236}">
                    <a16:creationId xmlns:a16="http://schemas.microsoft.com/office/drawing/2014/main" id="{B188F198-6468-41B0-B3E2-C67AEBFBB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5800" y="5251450"/>
                <a:ext cx="3962400" cy="1447800"/>
              </a:xfrm>
              <a:prstGeom prst="rect">
                <a:avLst/>
              </a:prstGeom>
              <a:blipFill>
                <a:blip r:embed="rId4"/>
                <a:stretch>
                  <a:fillRect r="-923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47" name="Object 7">
                <a:extLst>
                  <a:ext uri="{FF2B5EF4-FFF2-40B4-BE49-F238E27FC236}">
                    <a16:creationId xmlns:a16="http://schemas.microsoft.com/office/drawing/2014/main" id="{3233315B-4534-4DC0-9A86-886689EBA108}"/>
                  </a:ext>
                </a:extLst>
              </p:cNvPr>
              <p:cNvSpPr txBox="1"/>
              <p:nvPr/>
            </p:nvSpPr>
            <p:spPr bwMode="auto">
              <a:xfrm>
                <a:off x="4211638" y="1649414"/>
                <a:ext cx="3332162" cy="1157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𝑞𝑦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847" name="Object 7">
                <a:extLst>
                  <a:ext uri="{FF2B5EF4-FFF2-40B4-BE49-F238E27FC236}">
                    <a16:creationId xmlns:a16="http://schemas.microsoft.com/office/drawing/2014/main" id="{3233315B-4534-4DC0-9A86-886689EBA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1638" y="1649414"/>
                <a:ext cx="3332162" cy="11572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50" name="Object 10">
                <a:extLst>
                  <a:ext uri="{FF2B5EF4-FFF2-40B4-BE49-F238E27FC236}">
                    <a16:creationId xmlns:a16="http://schemas.microsoft.com/office/drawing/2014/main" id="{DB8E2E76-A712-4EE2-B206-DCEB265BF8A1}"/>
                  </a:ext>
                </a:extLst>
              </p:cNvPr>
              <p:cNvSpPr txBox="1"/>
              <p:nvPr/>
            </p:nvSpPr>
            <p:spPr bwMode="auto">
              <a:xfrm>
                <a:off x="4211639" y="209551"/>
                <a:ext cx="3044825" cy="12176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𝑞𝑥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850" name="Object 10">
                <a:extLst>
                  <a:ext uri="{FF2B5EF4-FFF2-40B4-BE49-F238E27FC236}">
                    <a16:creationId xmlns:a16="http://schemas.microsoft.com/office/drawing/2014/main" id="{DB8E2E76-A712-4EE2-B206-DCEB265BF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1639" y="209551"/>
                <a:ext cx="3044825" cy="12176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51" name="Object 11">
                <a:extLst>
                  <a:ext uri="{FF2B5EF4-FFF2-40B4-BE49-F238E27FC236}">
                    <a16:creationId xmlns:a16="http://schemas.microsoft.com/office/drawing/2014/main" id="{F5F7BEA7-E1CF-46FE-A15D-558D12420BE4}"/>
                  </a:ext>
                </a:extLst>
              </p:cNvPr>
              <p:cNvSpPr txBox="1"/>
              <p:nvPr/>
            </p:nvSpPr>
            <p:spPr bwMode="auto">
              <a:xfrm>
                <a:off x="5943600" y="4464051"/>
                <a:ext cx="1238250" cy="6397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851" name="Object 11">
                <a:extLst>
                  <a:ext uri="{FF2B5EF4-FFF2-40B4-BE49-F238E27FC236}">
                    <a16:creationId xmlns:a16="http://schemas.microsoft.com/office/drawing/2014/main" id="{F5F7BEA7-E1CF-46FE-A15D-558D12420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3600" y="4464051"/>
                <a:ext cx="1238250" cy="6397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57" name="Object 2">
                <a:extLst>
                  <a:ext uri="{FF2B5EF4-FFF2-40B4-BE49-F238E27FC236}">
                    <a16:creationId xmlns:a16="http://schemas.microsoft.com/office/drawing/2014/main" id="{EF355F94-C990-4801-AEF7-75CE7AC81AAF}"/>
                  </a:ext>
                </a:extLst>
              </p:cNvPr>
              <p:cNvSpPr txBox="1"/>
              <p:nvPr/>
            </p:nvSpPr>
            <p:spPr bwMode="auto">
              <a:xfrm>
                <a:off x="2424114" y="333375"/>
                <a:ext cx="1800225" cy="1073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𝜕𝜙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7657" name="Object 2">
                <a:extLst>
                  <a:ext uri="{FF2B5EF4-FFF2-40B4-BE49-F238E27FC236}">
                    <a16:creationId xmlns:a16="http://schemas.microsoft.com/office/drawing/2014/main" id="{EF355F94-C990-4801-AEF7-75CE7AC81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4114" y="333375"/>
                <a:ext cx="1800225" cy="10731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9F4C9464-2F26-4F3B-B587-5213CDE84CFA}"/>
                  </a:ext>
                </a:extLst>
              </p:cNvPr>
              <p:cNvSpPr txBox="1"/>
              <p:nvPr/>
            </p:nvSpPr>
            <p:spPr bwMode="auto">
              <a:xfrm>
                <a:off x="2424114" y="1665288"/>
                <a:ext cx="1800225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𝜕𝜙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9F4C9464-2F26-4F3B-B587-5213CDE84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4114" y="1665288"/>
                <a:ext cx="1800225" cy="1143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1A7C4617-B92C-464D-B2E0-7F082DD287DE}"/>
                  </a:ext>
                </a:extLst>
              </p:cNvPr>
              <p:cNvSpPr txBox="1"/>
              <p:nvPr/>
            </p:nvSpPr>
            <p:spPr bwMode="auto">
              <a:xfrm>
                <a:off x="2441575" y="3068638"/>
                <a:ext cx="1765300" cy="1073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𝜕𝜙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1A7C4617-B92C-464D-B2E0-7F082DD28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1575" y="3068638"/>
                <a:ext cx="1765300" cy="10731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  <p:bldP spid="35844" grpId="0"/>
      <p:bldP spid="35845" grpId="0"/>
      <p:bldP spid="35846" grpId="0"/>
      <p:bldP spid="35847" grpId="0"/>
      <p:bldP spid="35850" grpId="0"/>
      <p:bldP spid="35851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1EE6B56-DBAD-4460-85C8-B9D868FF6142}"/>
              </a:ext>
            </a:extLst>
          </p:cNvPr>
          <p:cNvSpPr/>
          <p:nvPr/>
        </p:nvSpPr>
        <p:spPr>
          <a:xfrm>
            <a:off x="2391265" y="2363801"/>
            <a:ext cx="74687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作业 ：课后习题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14.3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，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14.5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，</a:t>
            </a:r>
            <a:r>
              <a:rPr lang="en-US" altLang="zh-CN" sz="3200" kern="0" dirty="0">
                <a:solidFill>
                  <a:srgbClr val="000000"/>
                </a:solidFill>
                <a:cs typeface="宋体" panose="02010600030101010101" pitchFamily="2" charset="-122"/>
              </a:rPr>
              <a:t> 14.7</a:t>
            </a:r>
            <a:r>
              <a:rPr lang="zh-CN" altLang="en-US" sz="3200" kern="0" dirty="0">
                <a:solidFill>
                  <a:srgbClr val="000000"/>
                </a:solidFill>
                <a:cs typeface="宋体" panose="02010600030101010101" pitchFamily="2" charset="-122"/>
              </a:rPr>
              <a:t>， 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14.8</a:t>
            </a:r>
            <a:endParaRPr lang="en-US" sz="3200" kern="100" dirty="0">
              <a:effectLst/>
              <a:latin typeface="+mj-lt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7FC185-3475-403F-A50E-0427321BF6DE}"/>
              </a:ext>
            </a:extLst>
          </p:cNvPr>
          <p:cNvSpPr/>
          <p:nvPr/>
        </p:nvSpPr>
        <p:spPr>
          <a:xfrm>
            <a:off x="3240772" y="3667837"/>
            <a:ext cx="48013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截止时间： 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4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月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2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日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10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：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10</a:t>
            </a:r>
            <a:endParaRPr lang="en-US" sz="3200" kern="100" dirty="0">
              <a:effectLst/>
              <a:latin typeface="+mj-lt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958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61A349-6AB9-47CA-BC56-8C559ED725C5}"/>
              </a:ext>
            </a:extLst>
          </p:cNvPr>
          <p:cNvSpPr txBox="1"/>
          <p:nvPr/>
        </p:nvSpPr>
        <p:spPr>
          <a:xfrm>
            <a:off x="3144413" y="1584013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静电场与物质的相互作用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185EDD-3A52-4CB9-9F03-C0BDAB333313}"/>
              </a:ext>
            </a:extLst>
          </p:cNvPr>
          <p:cNvSpPr txBox="1"/>
          <p:nvPr/>
        </p:nvSpPr>
        <p:spPr>
          <a:xfrm>
            <a:off x="980415" y="3256056"/>
            <a:ext cx="5774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静电场中的导体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A6C1AE-AA5B-4809-B1DD-CC4B1980663F}"/>
              </a:ext>
            </a:extLst>
          </p:cNvPr>
          <p:cNvSpPr txBox="1"/>
          <p:nvPr/>
        </p:nvSpPr>
        <p:spPr>
          <a:xfrm>
            <a:off x="7195715" y="3276890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静电场中的电介质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6" name="Object 4">
                <a:extLst>
                  <a:ext uri="{FF2B5EF4-FFF2-40B4-BE49-F238E27FC236}">
                    <a16:creationId xmlns:a16="http://schemas.microsoft.com/office/drawing/2014/main" id="{98AC4A45-1E01-4C95-9A0B-DBC8656EB0AC}"/>
                  </a:ext>
                </a:extLst>
              </p:cNvPr>
              <p:cNvSpPr txBox="1"/>
              <p:nvPr/>
            </p:nvSpPr>
            <p:spPr bwMode="auto">
              <a:xfrm>
                <a:off x="771198" y="4170374"/>
                <a:ext cx="1828800" cy="8001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32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</m:e>
                        <m:sub>
                          <m:r>
                            <a:rPr lang="en-US" altLang="zh-CN" sz="3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</m:sub>
                      </m:sSub>
                      <m:r>
                        <a:rPr lang="en-US" altLang="zh-CN" sz="3200" b="1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32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96" name="Object 4">
                <a:extLst>
                  <a:ext uri="{FF2B5EF4-FFF2-40B4-BE49-F238E27FC236}">
                    <a16:creationId xmlns:a16="http://schemas.microsoft.com/office/drawing/2014/main" id="{98AC4A45-1E01-4C95-9A0B-DBC8656EB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1198" y="4170374"/>
                <a:ext cx="1828800" cy="8001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7" name="Object 5">
                <a:extLst>
                  <a:ext uri="{FF2B5EF4-FFF2-40B4-BE49-F238E27FC236}">
                    <a16:creationId xmlns:a16="http://schemas.microsoft.com/office/drawing/2014/main" id="{A4809FA8-87B1-48B5-924F-B5AE6A7C818A}"/>
                  </a:ext>
                </a:extLst>
              </p:cNvPr>
              <p:cNvSpPr txBox="1"/>
              <p:nvPr/>
            </p:nvSpPr>
            <p:spPr bwMode="auto">
              <a:xfrm>
                <a:off x="2606623" y="4263810"/>
                <a:ext cx="3102457" cy="584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或</m:t>
                    </m:r>
                    <m:r>
                      <a:rPr 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（</m:t>
                    </m:r>
                  </m:oMath>
                </a14:m>
                <a:r>
                  <a:rPr lang="zh-CN" altLang="en-US" sz="32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常数）</a:t>
                </a:r>
                <a:endParaRPr lang="en-US" sz="32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97" name="Object 5">
                <a:extLst>
                  <a:ext uri="{FF2B5EF4-FFF2-40B4-BE49-F238E27FC236}">
                    <a16:creationId xmlns:a16="http://schemas.microsoft.com/office/drawing/2014/main" id="{A4809FA8-87B1-48B5-924F-B5AE6A7C8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6623" y="4263810"/>
                <a:ext cx="3102457" cy="584200"/>
              </a:xfrm>
              <a:prstGeom prst="rect">
                <a:avLst/>
              </a:prstGeom>
              <a:blipFill>
                <a:blip r:embed="rId3"/>
                <a:stretch>
                  <a:fillRect t="-13542" r="-17878" b="-33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431D013-02B8-F62A-B4A6-FF86D0F754D5}"/>
              </a:ext>
            </a:extLst>
          </p:cNvPr>
          <p:cNvSpPr txBox="1"/>
          <p:nvPr/>
        </p:nvSpPr>
        <p:spPr>
          <a:xfrm>
            <a:off x="8233222" y="420528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极化电场</a:t>
            </a:r>
          </a:p>
        </p:txBody>
      </p:sp>
    </p:spTree>
    <p:extLst>
      <p:ext uri="{BB962C8B-B14F-4D97-AF65-F5344CB8AC3E}">
        <p14:creationId xmlns:p14="http://schemas.microsoft.com/office/powerpoint/2010/main" val="17962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8197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Text Box 13">
            <a:extLst>
              <a:ext uri="{FF2B5EF4-FFF2-40B4-BE49-F238E27FC236}">
                <a16:creationId xmlns:a16="http://schemas.microsoft.com/office/drawing/2014/main" id="{B1D77FAA-C6EC-4AC5-A3F5-4CC64C94B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0115" y="263316"/>
            <a:ext cx="709712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章     静电场中的电介质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112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E4498F14-2B16-44E2-8121-1F90B8015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3240" y="1697521"/>
            <a:ext cx="5231995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15.1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电介质对电场的影响</a:t>
            </a:r>
          </a:p>
        </p:txBody>
      </p:sp>
      <p:sp>
        <p:nvSpPr>
          <p:cNvPr id="4114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6FD6935D-21DB-4E0A-A113-0012E404D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240" y="2992921"/>
            <a:ext cx="65270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15.3   </a:t>
            </a:r>
            <a:r>
              <a:rPr lang="en-US" altLang="zh-CN" sz="3200" b="1" dirty="0">
                <a:solidFill>
                  <a:srgbClr val="0066FF"/>
                </a:solidFill>
                <a:latin typeface="+mn-lt"/>
                <a:ea typeface="华文楷体" panose="02010600040101010101" pitchFamily="2" charset="-122"/>
                <a:cs typeface="Arial" panose="020B0604020202020204" pitchFamily="34" charset="0"/>
              </a:rPr>
              <a:t>D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的高斯定律</a:t>
            </a:r>
          </a:p>
        </p:txBody>
      </p:sp>
      <p:sp>
        <p:nvSpPr>
          <p:cNvPr id="4115" name="Text Box 19">
            <a:hlinkClick r:id="" action="ppaction://noaction"/>
            <a:extLst>
              <a:ext uri="{FF2B5EF4-FFF2-40B4-BE49-F238E27FC236}">
                <a16:creationId xmlns:a16="http://schemas.microsoft.com/office/drawing/2014/main" id="{2E74E40B-D4E9-420C-843A-63B8B00C8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717" y="3642207"/>
            <a:ext cx="449193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15.4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 电容器和它的电容</a:t>
            </a:r>
          </a:p>
        </p:txBody>
      </p:sp>
      <p:sp>
        <p:nvSpPr>
          <p:cNvPr id="4116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163FEB06-B244-41DC-9745-09D2B510C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3240" y="4351546"/>
            <a:ext cx="467995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15.5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电容器的能量</a:t>
            </a:r>
          </a:p>
        </p:txBody>
      </p:sp>
      <p:sp>
        <p:nvSpPr>
          <p:cNvPr id="9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33F5298E-54F0-4E10-A769-B55A508ED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3242" y="2345221"/>
            <a:ext cx="6154243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15.2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电介质的极化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DB04A1-0ED6-47DB-AB21-B6B2EFE1D30C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01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C59E6DF-6026-4BF2-A0A7-080D555FDA56}"/>
              </a:ext>
            </a:extLst>
          </p:cNvPr>
          <p:cNvSpPr/>
          <p:nvPr/>
        </p:nvSpPr>
        <p:spPr>
          <a:xfrm>
            <a:off x="789827" y="417535"/>
            <a:ext cx="1042151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电介质</a:t>
            </a:r>
          </a:p>
        </p:txBody>
      </p:sp>
      <p:pic>
        <p:nvPicPr>
          <p:cNvPr id="37890" name="Picture 2" descr="how to draw a sodium chloride lattice">
            <a:extLst>
              <a:ext uri="{FF2B5EF4-FFF2-40B4-BE49-F238E27FC236}">
                <a16:creationId xmlns:a16="http://schemas.microsoft.com/office/drawing/2014/main" id="{7036E9F1-FF45-EECE-10A2-6A6AAB9C4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101" y="1800171"/>
            <a:ext cx="2942366" cy="1979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41810EC-B0D8-AB77-F6E5-79E0993E93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28"/>
          <a:stretch/>
        </p:blipFill>
        <p:spPr>
          <a:xfrm>
            <a:off x="5962494" y="3969712"/>
            <a:ext cx="3295333" cy="1594759"/>
          </a:xfrm>
          <a:prstGeom prst="rect">
            <a:avLst/>
          </a:prstGeom>
        </p:spPr>
      </p:pic>
      <p:pic>
        <p:nvPicPr>
          <p:cNvPr id="37892" name="Picture 4" descr="Natural rubber (cis-1,4-polyisoprene), chemical structure - linear fragment  (detail). used to manufacture surgeons' gloves, | CanStock">
            <a:extLst>
              <a:ext uri="{FF2B5EF4-FFF2-40B4-BE49-F238E27FC236}">
                <a16:creationId xmlns:a16="http://schemas.microsoft.com/office/drawing/2014/main" id="{6C19C91F-D3CD-0883-2CB5-F2E0F1FB2F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02"/>
          <a:stretch/>
        </p:blipFill>
        <p:spPr bwMode="auto">
          <a:xfrm>
            <a:off x="1278834" y="1489185"/>
            <a:ext cx="3681098" cy="3559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1CD4AC9-6831-4C91-A706-677CD23B0FCC}"/>
              </a:ext>
            </a:extLst>
          </p:cNvPr>
          <p:cNvSpPr/>
          <p:nvPr/>
        </p:nvSpPr>
        <p:spPr>
          <a:xfrm>
            <a:off x="3124178" y="4773046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橡胶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5467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5" descr="25%">
            <a:extLst>
              <a:ext uri="{FF2B5EF4-FFF2-40B4-BE49-F238E27FC236}">
                <a16:creationId xmlns:a16="http://schemas.microsoft.com/office/drawing/2014/main" id="{7C522CF6-1915-65ED-31B5-1B602E38C85F}"/>
              </a:ext>
            </a:extLst>
          </p:cNvPr>
          <p:cNvSpPr/>
          <p:nvPr/>
        </p:nvSpPr>
        <p:spPr>
          <a:xfrm>
            <a:off x="7696200" y="2333625"/>
            <a:ext cx="1524000" cy="609600"/>
          </a:xfrm>
          <a:prstGeom prst="rect">
            <a:avLst/>
          </a:prstGeom>
          <a:pattFill prst="pct25">
            <a:fgClr>
              <a:srgbClr val="0066FF"/>
            </a:fgClr>
            <a:bgClr>
              <a:schemeClr val="bg1"/>
            </a:bgClr>
          </a:patt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1828800" y="1708150"/>
            <a:ext cx="4832350" cy="2057400"/>
            <a:chOff x="480" y="1056"/>
            <a:chExt cx="3044" cy="1296"/>
          </a:xfrm>
        </p:grpSpPr>
        <p:grpSp>
          <p:nvGrpSpPr>
            <p:cNvPr id="43012" name="Group 5"/>
            <p:cNvGrpSpPr/>
            <p:nvPr/>
          </p:nvGrpSpPr>
          <p:grpSpPr>
            <a:xfrm>
              <a:off x="480" y="1056"/>
              <a:ext cx="2016" cy="1296"/>
              <a:chOff x="480" y="1056"/>
              <a:chExt cx="2016" cy="1296"/>
            </a:xfrm>
          </p:grpSpPr>
          <p:sp>
            <p:nvSpPr>
              <p:cNvPr id="43013" name="Oval 6"/>
              <p:cNvSpPr/>
              <p:nvPr/>
            </p:nvSpPr>
            <p:spPr>
              <a:xfrm>
                <a:off x="480" y="1440"/>
                <a:ext cx="768" cy="72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99CCFF"/>
                  </a:gs>
                </a:gsLst>
                <a:path path="shape">
                  <a:fillToRect l="50000" t="50000" r="50000" b="50000"/>
                </a:path>
                <a:tileRect/>
              </a:gra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014" name="Arc 7"/>
              <p:cNvSpPr/>
              <p:nvPr/>
            </p:nvSpPr>
            <p:spPr>
              <a:xfrm rot="-3252027">
                <a:off x="634" y="1482"/>
                <a:ext cx="384" cy="4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3905" fill="none">
                    <a:moveTo>
                      <a:pt x="4136" y="-1"/>
                    </a:moveTo>
                    <a:cubicBezTo>
                      <a:pt x="14279" y="1978"/>
                      <a:pt x="21600" y="10865"/>
                      <a:pt x="21600" y="21200"/>
                    </a:cubicBezTo>
                    <a:cubicBezTo>
                      <a:pt x="21600" y="22104"/>
                      <a:pt x="21543" y="23007"/>
                      <a:pt x="21429" y="23904"/>
                    </a:cubicBezTo>
                  </a:path>
                  <a:path w="21600" h="23905" stroke="0">
                    <a:moveTo>
                      <a:pt x="4136" y="-1"/>
                    </a:moveTo>
                    <a:cubicBezTo>
                      <a:pt x="14279" y="1978"/>
                      <a:pt x="21600" y="10865"/>
                      <a:pt x="21600" y="21200"/>
                    </a:cubicBezTo>
                    <a:cubicBezTo>
                      <a:pt x="21600" y="22104"/>
                      <a:pt x="21543" y="23007"/>
                      <a:pt x="21429" y="23904"/>
                    </a:cubicBezTo>
                    <a:lnTo>
                      <a:pt x="0" y="21200"/>
                    </a:lnTo>
                    <a:lnTo>
                      <a:pt x="4136" y="-1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5" name="Freeform 8"/>
              <p:cNvSpPr/>
              <p:nvPr/>
            </p:nvSpPr>
            <p:spPr>
              <a:xfrm>
                <a:off x="858" y="1605"/>
                <a:ext cx="177" cy="255"/>
              </a:xfrm>
              <a:custGeom>
                <a:avLst/>
                <a:gdLst/>
                <a:ahLst/>
                <a:cxnLst>
                  <a:cxn ang="0">
                    <a:pos x="0" y="255"/>
                  </a:cxn>
                  <a:cxn ang="0">
                    <a:pos x="177" y="0"/>
                  </a:cxn>
                </a:cxnLst>
                <a:rect l="0" t="0" r="0" b="0"/>
                <a:pathLst>
                  <a:path w="177" h="255">
                    <a:moveTo>
                      <a:pt x="0" y="255"/>
                    </a:moveTo>
                    <a:lnTo>
                      <a:pt x="177" y="0"/>
                    </a:ln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6" name="Line 9"/>
              <p:cNvSpPr/>
              <p:nvPr/>
            </p:nvSpPr>
            <p:spPr>
              <a:xfrm>
                <a:off x="864" y="1056"/>
                <a:ext cx="115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43017" name="Line 10"/>
              <p:cNvSpPr/>
              <p:nvPr/>
            </p:nvSpPr>
            <p:spPr>
              <a:xfrm>
                <a:off x="864" y="2352"/>
                <a:ext cx="115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43018" name="Line 11"/>
              <p:cNvSpPr/>
              <p:nvPr/>
            </p:nvSpPr>
            <p:spPr>
              <a:xfrm>
                <a:off x="864" y="1056"/>
                <a:ext cx="0" cy="38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43019" name="Line 12"/>
              <p:cNvSpPr/>
              <p:nvPr/>
            </p:nvSpPr>
            <p:spPr>
              <a:xfrm>
                <a:off x="864" y="2160"/>
                <a:ext cx="0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43020" name="Line 13"/>
              <p:cNvSpPr/>
              <p:nvPr/>
            </p:nvSpPr>
            <p:spPr>
              <a:xfrm>
                <a:off x="1488" y="1440"/>
                <a:ext cx="960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43021" name="Line 14"/>
              <p:cNvSpPr/>
              <p:nvPr/>
            </p:nvSpPr>
            <p:spPr>
              <a:xfrm>
                <a:off x="1488" y="1824"/>
                <a:ext cx="960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43022" name="Line 15"/>
              <p:cNvSpPr/>
              <p:nvPr/>
            </p:nvSpPr>
            <p:spPr>
              <a:xfrm>
                <a:off x="2016" y="1056"/>
                <a:ext cx="0" cy="38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43023" name="Line 16"/>
              <p:cNvSpPr/>
              <p:nvPr/>
            </p:nvSpPr>
            <p:spPr>
              <a:xfrm flipV="1">
                <a:off x="2016" y="1824"/>
                <a:ext cx="0" cy="52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43024" name="Text Box 17"/>
              <p:cNvSpPr txBox="1"/>
              <p:nvPr/>
            </p:nvSpPr>
            <p:spPr>
              <a:xfrm>
                <a:off x="2112" y="1200"/>
                <a:ext cx="28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zh-CN" altLang="zh-CN" sz="24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025" name="Object 18"/>
                  <p:cNvSpPr txBox="1"/>
                  <p:nvPr/>
                </p:nvSpPr>
                <p:spPr>
                  <a:xfrm>
                    <a:off x="2185" y="1104"/>
                    <a:ext cx="263" cy="336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43025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85" y="1104"/>
                    <a:ext cx="263" cy="33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899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026" name="Object 19"/>
                  <p:cNvSpPr txBox="1"/>
                  <p:nvPr/>
                </p:nvSpPr>
                <p:spPr>
                  <a:xfrm>
                    <a:off x="2040" y="1872"/>
                    <a:ext cx="456" cy="327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43026" name="Object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0" y="1872"/>
                    <a:ext cx="456" cy="32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3027" name="Group 20"/>
              <p:cNvGrpSpPr/>
              <p:nvPr/>
            </p:nvGrpSpPr>
            <p:grpSpPr>
              <a:xfrm>
                <a:off x="624" y="1559"/>
                <a:ext cx="432" cy="169"/>
                <a:chOff x="624" y="1559"/>
                <a:chExt cx="432" cy="169"/>
              </a:xfrm>
            </p:grpSpPr>
            <p:sp>
              <p:nvSpPr>
                <p:cNvPr id="43028" name="Line 21"/>
                <p:cNvSpPr/>
                <p:nvPr/>
              </p:nvSpPr>
              <p:spPr>
                <a:xfrm>
                  <a:off x="861" y="1559"/>
                  <a:ext cx="3" cy="121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3029" name="Line 22"/>
                <p:cNvSpPr/>
                <p:nvPr/>
              </p:nvSpPr>
              <p:spPr>
                <a:xfrm rot="-1526445">
                  <a:off x="720" y="1584"/>
                  <a:ext cx="1" cy="96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3030" name="Line 23"/>
                <p:cNvSpPr/>
                <p:nvPr/>
              </p:nvSpPr>
              <p:spPr>
                <a:xfrm rot="1620760">
                  <a:off x="960" y="1584"/>
                  <a:ext cx="1" cy="96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3031" name="Line 24"/>
                <p:cNvSpPr/>
                <p:nvPr/>
              </p:nvSpPr>
              <p:spPr>
                <a:xfrm rot="2498013">
                  <a:off x="1055" y="1632"/>
                  <a:ext cx="1" cy="96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3032" name="Line 25"/>
                <p:cNvSpPr/>
                <p:nvPr/>
              </p:nvSpPr>
              <p:spPr>
                <a:xfrm rot="-2345562">
                  <a:off x="624" y="1632"/>
                  <a:ext cx="1" cy="96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43033" name="Group 26"/>
            <p:cNvGrpSpPr/>
            <p:nvPr/>
          </p:nvGrpSpPr>
          <p:grpSpPr>
            <a:xfrm>
              <a:off x="1440" y="1392"/>
              <a:ext cx="2084" cy="494"/>
              <a:chOff x="1440" y="1392"/>
              <a:chExt cx="2084" cy="494"/>
            </a:xfrm>
          </p:grpSpPr>
          <p:sp>
            <p:nvSpPr>
              <p:cNvPr id="43034" name="Text Box 27"/>
              <p:cNvSpPr txBox="1"/>
              <p:nvPr/>
            </p:nvSpPr>
            <p:spPr>
              <a:xfrm>
                <a:off x="1440" y="1392"/>
                <a:ext cx="124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 + + + + + + </a:t>
                </a:r>
              </a:p>
            </p:txBody>
          </p:sp>
          <p:sp>
            <p:nvSpPr>
              <p:cNvPr id="43035" name="Text Box 28"/>
              <p:cNvSpPr txBox="1"/>
              <p:nvPr/>
            </p:nvSpPr>
            <p:spPr>
              <a:xfrm>
                <a:off x="1460" y="1556"/>
                <a:ext cx="2064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- - - - - - -</a:t>
                </a:r>
              </a:p>
            </p:txBody>
          </p:sp>
        </p:grpSp>
      </p:grpSp>
      <p:grpSp>
        <p:nvGrpSpPr>
          <p:cNvPr id="9" name="Group 41"/>
          <p:cNvGrpSpPr/>
          <p:nvPr/>
        </p:nvGrpSpPr>
        <p:grpSpPr>
          <a:xfrm>
            <a:off x="2663826" y="1708150"/>
            <a:ext cx="536575" cy="2057400"/>
            <a:chOff x="1006" y="1056"/>
            <a:chExt cx="338" cy="1296"/>
          </a:xfrm>
        </p:grpSpPr>
        <p:sp>
          <p:nvSpPr>
            <p:cNvPr id="43049" name="Line 42"/>
            <p:cNvSpPr/>
            <p:nvPr/>
          </p:nvSpPr>
          <p:spPr>
            <a:xfrm flipH="1">
              <a:off x="1344" y="1056"/>
              <a:ext cx="0" cy="1296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50" name="Object 43"/>
                <p:cNvSpPr txBox="1"/>
                <p:nvPr/>
              </p:nvSpPr>
              <p:spPr>
                <a:xfrm>
                  <a:off x="1006" y="1104"/>
                  <a:ext cx="338" cy="38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3050" name="Object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" y="1104"/>
                  <a:ext cx="338" cy="38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46"/>
          <p:cNvGrpSpPr/>
          <p:nvPr/>
        </p:nvGrpSpPr>
        <p:grpSpPr>
          <a:xfrm>
            <a:off x="6705600" y="1708150"/>
            <a:ext cx="533400" cy="2057400"/>
            <a:chOff x="3552" y="1056"/>
            <a:chExt cx="336" cy="12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54" name="Object 47"/>
                <p:cNvSpPr txBox="1"/>
                <p:nvPr/>
              </p:nvSpPr>
              <p:spPr>
                <a:xfrm>
                  <a:off x="3552" y="1152"/>
                  <a:ext cx="288" cy="28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3054" name="Object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2" y="1152"/>
                  <a:ext cx="288" cy="28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055" name="Line 48"/>
            <p:cNvSpPr/>
            <p:nvPr/>
          </p:nvSpPr>
          <p:spPr>
            <a:xfrm>
              <a:off x="3888" y="1056"/>
              <a:ext cx="0" cy="1296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round/>
              <a:headEnd type="triangle" w="sm" len="lg"/>
              <a:tailEnd type="triangle" w="sm" len="lg"/>
            </a:ln>
          </p:spPr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4673" name="Object 49"/>
              <p:cNvSpPr txBox="1"/>
              <p:nvPr/>
            </p:nvSpPr>
            <p:spPr>
              <a:xfrm>
                <a:off x="7332623" y="2274609"/>
                <a:ext cx="978474" cy="1338541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4673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2623" y="2274609"/>
                <a:ext cx="978474" cy="13385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50"/>
          <p:cNvGrpSpPr/>
          <p:nvPr/>
        </p:nvGrpSpPr>
        <p:grpSpPr>
          <a:xfrm>
            <a:off x="5943600" y="1708150"/>
            <a:ext cx="3733800" cy="2057400"/>
            <a:chOff x="3072" y="1056"/>
            <a:chExt cx="2352" cy="1296"/>
          </a:xfrm>
        </p:grpSpPr>
        <p:grpSp>
          <p:nvGrpSpPr>
            <p:cNvPr id="43058" name="Group 51"/>
            <p:cNvGrpSpPr/>
            <p:nvPr/>
          </p:nvGrpSpPr>
          <p:grpSpPr>
            <a:xfrm>
              <a:off x="3072" y="1056"/>
              <a:ext cx="2352" cy="1296"/>
              <a:chOff x="3072" y="1056"/>
              <a:chExt cx="2352" cy="1296"/>
            </a:xfrm>
          </p:grpSpPr>
          <p:sp>
            <p:nvSpPr>
              <p:cNvPr id="43059" name="Oval 52"/>
              <p:cNvSpPr/>
              <p:nvPr/>
            </p:nvSpPr>
            <p:spPr>
              <a:xfrm>
                <a:off x="3072" y="1440"/>
                <a:ext cx="768" cy="72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99CCFF"/>
                  </a:gs>
                </a:gsLst>
                <a:path path="shape">
                  <a:fillToRect l="50000" t="50000" r="50000" b="50000"/>
                </a:path>
                <a:tileRect/>
              </a:gra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060" name="Arc 53"/>
              <p:cNvSpPr/>
              <p:nvPr/>
            </p:nvSpPr>
            <p:spPr>
              <a:xfrm rot="-3252027">
                <a:off x="3226" y="1482"/>
                <a:ext cx="384" cy="4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3905" fill="none">
                    <a:moveTo>
                      <a:pt x="4136" y="-1"/>
                    </a:moveTo>
                    <a:cubicBezTo>
                      <a:pt x="14279" y="1978"/>
                      <a:pt x="21600" y="10865"/>
                      <a:pt x="21600" y="21200"/>
                    </a:cubicBezTo>
                    <a:cubicBezTo>
                      <a:pt x="21600" y="22104"/>
                      <a:pt x="21543" y="23007"/>
                      <a:pt x="21429" y="23904"/>
                    </a:cubicBezTo>
                  </a:path>
                  <a:path w="21600" h="23905" stroke="0">
                    <a:moveTo>
                      <a:pt x="4136" y="-1"/>
                    </a:moveTo>
                    <a:cubicBezTo>
                      <a:pt x="14279" y="1978"/>
                      <a:pt x="21600" y="10865"/>
                      <a:pt x="21600" y="21200"/>
                    </a:cubicBezTo>
                    <a:cubicBezTo>
                      <a:pt x="21600" y="22104"/>
                      <a:pt x="21543" y="23007"/>
                      <a:pt x="21429" y="23904"/>
                    </a:cubicBezTo>
                    <a:lnTo>
                      <a:pt x="0" y="21200"/>
                    </a:lnTo>
                    <a:lnTo>
                      <a:pt x="4136" y="-1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3061" name="Group 54"/>
              <p:cNvGrpSpPr/>
              <p:nvPr/>
            </p:nvGrpSpPr>
            <p:grpSpPr>
              <a:xfrm>
                <a:off x="3216" y="1559"/>
                <a:ext cx="432" cy="169"/>
                <a:chOff x="624" y="1559"/>
                <a:chExt cx="432" cy="169"/>
              </a:xfrm>
            </p:grpSpPr>
            <p:sp>
              <p:nvSpPr>
                <p:cNvPr id="43062" name="Line 55"/>
                <p:cNvSpPr/>
                <p:nvPr/>
              </p:nvSpPr>
              <p:spPr>
                <a:xfrm>
                  <a:off x="861" y="1559"/>
                  <a:ext cx="3" cy="121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3063" name="Line 56"/>
                <p:cNvSpPr/>
                <p:nvPr/>
              </p:nvSpPr>
              <p:spPr>
                <a:xfrm rot="-1526445">
                  <a:off x="720" y="1584"/>
                  <a:ext cx="1" cy="96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3064" name="Line 57"/>
                <p:cNvSpPr/>
                <p:nvPr/>
              </p:nvSpPr>
              <p:spPr>
                <a:xfrm rot="1620760">
                  <a:off x="960" y="1584"/>
                  <a:ext cx="1" cy="96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3065" name="Line 58"/>
                <p:cNvSpPr/>
                <p:nvPr/>
              </p:nvSpPr>
              <p:spPr>
                <a:xfrm rot="2498013">
                  <a:off x="1055" y="1632"/>
                  <a:ext cx="1" cy="96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3066" name="Line 59"/>
                <p:cNvSpPr/>
                <p:nvPr/>
              </p:nvSpPr>
              <p:spPr>
                <a:xfrm rot="-2345562">
                  <a:off x="624" y="1632"/>
                  <a:ext cx="1" cy="96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3067" name="Freeform 60"/>
              <p:cNvSpPr/>
              <p:nvPr/>
            </p:nvSpPr>
            <p:spPr>
              <a:xfrm>
                <a:off x="3366" y="1578"/>
                <a:ext cx="138" cy="294"/>
              </a:xfrm>
              <a:custGeom>
                <a:avLst/>
                <a:gdLst/>
                <a:ahLst/>
                <a:cxnLst>
                  <a:cxn ang="0">
                    <a:pos x="138" y="294"/>
                  </a:cxn>
                  <a:cxn ang="0">
                    <a:pos x="0" y="0"/>
                  </a:cxn>
                </a:cxnLst>
                <a:rect l="0" t="0" r="0" b="0"/>
                <a:pathLst>
                  <a:path w="138" h="294">
                    <a:moveTo>
                      <a:pt x="138" y="294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8" name="Line 61"/>
              <p:cNvSpPr/>
              <p:nvPr/>
            </p:nvSpPr>
            <p:spPr>
              <a:xfrm>
                <a:off x="3456" y="1056"/>
                <a:ext cx="117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43069" name="Line 62"/>
              <p:cNvSpPr/>
              <p:nvPr/>
            </p:nvSpPr>
            <p:spPr>
              <a:xfrm>
                <a:off x="3456" y="2352"/>
                <a:ext cx="117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43070" name="Line 63"/>
              <p:cNvSpPr/>
              <p:nvPr/>
            </p:nvSpPr>
            <p:spPr>
              <a:xfrm>
                <a:off x="3456" y="1056"/>
                <a:ext cx="0" cy="38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43071" name="Line 64"/>
              <p:cNvSpPr/>
              <p:nvPr/>
            </p:nvSpPr>
            <p:spPr>
              <a:xfrm>
                <a:off x="3456" y="2160"/>
                <a:ext cx="0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43073" name="Line 66"/>
              <p:cNvSpPr/>
              <p:nvPr/>
            </p:nvSpPr>
            <p:spPr>
              <a:xfrm>
                <a:off x="4176" y="1824"/>
                <a:ext cx="960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074" name="Object 67"/>
                  <p:cNvSpPr txBox="1"/>
                  <p:nvPr/>
                </p:nvSpPr>
                <p:spPr>
                  <a:xfrm>
                    <a:off x="4873" y="1104"/>
                    <a:ext cx="263" cy="336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43074" name="Object 6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3" y="1104"/>
                    <a:ext cx="263" cy="33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899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075" name="Object 68"/>
                  <p:cNvSpPr txBox="1"/>
                  <p:nvPr/>
                </p:nvSpPr>
                <p:spPr>
                  <a:xfrm>
                    <a:off x="4728" y="1872"/>
                    <a:ext cx="456" cy="327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43075" name="Object 6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28" y="1872"/>
                    <a:ext cx="456" cy="32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3076" name="Text Box 69"/>
              <p:cNvSpPr txBox="1"/>
              <p:nvPr/>
            </p:nvSpPr>
            <p:spPr>
              <a:xfrm>
                <a:off x="4176" y="1392"/>
                <a:ext cx="124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 + + + + + + </a:t>
                </a:r>
              </a:p>
            </p:txBody>
          </p:sp>
          <p:sp>
            <p:nvSpPr>
              <p:cNvPr id="43077" name="Text Box 70"/>
              <p:cNvSpPr txBox="1"/>
              <p:nvPr/>
            </p:nvSpPr>
            <p:spPr>
              <a:xfrm>
                <a:off x="4176" y="1545"/>
                <a:ext cx="1137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- - - - - - -</a:t>
                </a:r>
              </a:p>
            </p:txBody>
          </p:sp>
          <p:sp>
            <p:nvSpPr>
              <p:cNvPr id="43078" name="Line 71"/>
              <p:cNvSpPr/>
              <p:nvPr/>
            </p:nvSpPr>
            <p:spPr>
              <a:xfrm>
                <a:off x="4608" y="1056"/>
                <a:ext cx="0" cy="38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43079" name="Line 72"/>
              <p:cNvSpPr/>
              <p:nvPr/>
            </p:nvSpPr>
            <p:spPr>
              <a:xfrm flipV="1">
                <a:off x="4608" y="1824"/>
                <a:ext cx="0" cy="52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</p:grpSp>
        <p:sp>
          <p:nvSpPr>
            <p:cNvPr id="43080" name="Line 73"/>
            <p:cNvSpPr/>
            <p:nvPr/>
          </p:nvSpPr>
          <p:spPr>
            <a:xfrm>
              <a:off x="4176" y="1440"/>
              <a:ext cx="96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</p:spPr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56FD0C0A-366B-89F4-E6EB-324D6BD98EC3}"/>
              </a:ext>
            </a:extLst>
          </p:cNvPr>
          <p:cNvSpPr/>
          <p:nvPr/>
        </p:nvSpPr>
        <p:spPr>
          <a:xfrm>
            <a:off x="689252" y="415999"/>
            <a:ext cx="44550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电介质对电场的影响</a:t>
            </a:r>
            <a:endParaRPr lang="en-US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155090-7F70-530B-160F-31F81AFE5EBF}"/>
              </a:ext>
            </a:extLst>
          </p:cNvPr>
          <p:cNvSpPr txBox="1"/>
          <p:nvPr/>
        </p:nvSpPr>
        <p:spPr>
          <a:xfrm>
            <a:off x="1727791" y="4651653"/>
            <a:ext cx="82942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- </a:t>
            </a:r>
            <a:r>
              <a:rPr lang="zh-CN" altLang="en-US" sz="2800" dirty="0"/>
              <a:t>带电量不变的情况下，有电解质的平板间电压变小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2">
                <a:extLst>
                  <a:ext uri="{FF2B5EF4-FFF2-40B4-BE49-F238E27FC236}">
                    <a16:creationId xmlns:a16="http://schemas.microsoft.com/office/drawing/2014/main" id="{DE890B55-E230-180E-FF90-D83DD020D4B8}"/>
                  </a:ext>
                </a:extLst>
              </p:cNvPr>
              <p:cNvSpPr txBox="1"/>
              <p:nvPr/>
            </p:nvSpPr>
            <p:spPr>
              <a:xfrm>
                <a:off x="2838450" y="4038600"/>
                <a:ext cx="1866900" cy="136683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𝐸𝑑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Object 32">
                <a:extLst>
                  <a:ext uri="{FF2B5EF4-FFF2-40B4-BE49-F238E27FC236}">
                    <a16:creationId xmlns:a16="http://schemas.microsoft.com/office/drawing/2014/main" id="{DE890B55-E230-180E-FF90-D83DD020D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450" y="4038600"/>
                <a:ext cx="1866900" cy="136683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30">
                <a:extLst>
                  <a:ext uri="{FF2B5EF4-FFF2-40B4-BE49-F238E27FC236}">
                    <a16:creationId xmlns:a16="http://schemas.microsoft.com/office/drawing/2014/main" id="{241F55F4-2606-1AC5-97B9-D6D5D2F902C4}"/>
                  </a:ext>
                </a:extLst>
              </p:cNvPr>
              <p:cNvSpPr txBox="1"/>
              <p:nvPr/>
            </p:nvSpPr>
            <p:spPr>
              <a:xfrm>
                <a:off x="8102600" y="5422010"/>
                <a:ext cx="1400175" cy="113823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Object 30">
                <a:extLst>
                  <a:ext uri="{FF2B5EF4-FFF2-40B4-BE49-F238E27FC236}">
                    <a16:creationId xmlns:a16="http://schemas.microsoft.com/office/drawing/2014/main" id="{241F55F4-2606-1AC5-97B9-D6D5D2F90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600" y="5422010"/>
                <a:ext cx="1400175" cy="113823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2">
                <a:extLst>
                  <a:ext uri="{FF2B5EF4-FFF2-40B4-BE49-F238E27FC236}">
                    <a16:creationId xmlns:a16="http://schemas.microsoft.com/office/drawing/2014/main" id="{BC3FF5FA-7FEE-BA96-693E-3F74B9D0C508}"/>
                  </a:ext>
                </a:extLst>
              </p:cNvPr>
              <p:cNvSpPr txBox="1"/>
              <p:nvPr/>
            </p:nvSpPr>
            <p:spPr>
              <a:xfrm>
                <a:off x="2378075" y="5446341"/>
                <a:ext cx="1633538" cy="11969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Object 32">
                <a:extLst>
                  <a:ext uri="{FF2B5EF4-FFF2-40B4-BE49-F238E27FC236}">
                    <a16:creationId xmlns:a16="http://schemas.microsoft.com/office/drawing/2014/main" id="{BC3FF5FA-7FEE-BA96-693E-3F74B9D0C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075" y="5446341"/>
                <a:ext cx="1633538" cy="11969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582E572-F4CD-5830-6158-8F88362A9B0B}"/>
                  </a:ext>
                </a:extLst>
              </p:cNvPr>
              <p:cNvSpPr txBox="1"/>
              <p:nvPr/>
            </p:nvSpPr>
            <p:spPr>
              <a:xfrm>
                <a:off x="4202050" y="5625961"/>
                <a:ext cx="37878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zh-CN" altLang="en-US" sz="2800" dirty="0"/>
                  <a:t>：相对介电常量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582E572-F4CD-5830-6158-8F88362A9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050" y="5625961"/>
                <a:ext cx="3787899" cy="523220"/>
              </a:xfrm>
              <a:prstGeom prst="rect">
                <a:avLst/>
              </a:prstGeom>
              <a:blipFill>
                <a:blip r:embed="rId18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4673" grpId="0"/>
      <p:bldP spid="4" grpId="0"/>
      <p:bldP spid="5" grpId="0"/>
      <p:bldP spid="14" grpId="0"/>
      <p:bldP spid="15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3">
                <a:extLst>
                  <a:ext uri="{FF2B5EF4-FFF2-40B4-BE49-F238E27FC236}">
                    <a16:creationId xmlns:a16="http://schemas.microsoft.com/office/drawing/2014/main" id="{647DD398-7BF8-4AEF-9E70-1EE817DCF7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9252" y="1106159"/>
                <a:ext cx="10884293" cy="23147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正负电荷重心不重合，构成一对距离极近的电偶极子：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accPr>
                      <m:e>
                        <m:r>
                          <a:rPr lang="en-US" altLang="zh-CN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𝒑</m:t>
                        </m:r>
                      </m:e>
                    </m:acc>
                    <m:r>
                      <a:rPr lang="en-US" altLang="zh-CN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𝒒</m:t>
                    </m:r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accPr>
                      <m:e>
                        <m:r>
                          <a:rPr lang="en-US" altLang="zh-CN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𝒍</m:t>
                        </m:r>
                      </m:e>
                    </m:acc>
                  </m:oMath>
                </a14:m>
                <a:endParaRPr lang="zh-CN" alt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内容占位符 3">
                <a:extLst>
                  <a:ext uri="{FF2B5EF4-FFF2-40B4-BE49-F238E27FC236}">
                    <a16:creationId xmlns:a16="http://schemas.microsoft.com/office/drawing/2014/main" id="{647DD398-7BF8-4AEF-9E70-1EE817DCF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52" y="1106159"/>
                <a:ext cx="10884293" cy="2314786"/>
              </a:xfrm>
              <a:prstGeom prst="rect">
                <a:avLst/>
              </a:prstGeom>
              <a:blipFill>
                <a:blip r:embed="rId2"/>
                <a:stretch>
                  <a:fillRect l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CF5B1115-E6C8-4C36-AFD9-559EF3DBF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635" y="1987085"/>
            <a:ext cx="4877517" cy="1624560"/>
          </a:xfrm>
          <a:prstGeom prst="rect">
            <a:avLst/>
          </a:prstGeom>
        </p:spPr>
      </p:pic>
      <p:sp>
        <p:nvSpPr>
          <p:cNvPr id="9" name="内容占位符 5">
            <a:extLst>
              <a:ext uri="{FF2B5EF4-FFF2-40B4-BE49-F238E27FC236}">
                <a16:creationId xmlns:a16="http://schemas.microsoft.com/office/drawing/2014/main" id="{173A69DF-4835-482E-8A7D-CA1DB06ACAED}"/>
              </a:ext>
            </a:extLst>
          </p:cNvPr>
          <p:cNvSpPr txBox="1">
            <a:spLocks/>
          </p:cNvSpPr>
          <p:nvPr/>
        </p:nvSpPr>
        <p:spPr>
          <a:xfrm>
            <a:off x="4323580" y="5530805"/>
            <a:ext cx="7543801" cy="4023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zh-CN" sz="3200" dirty="0">
              <a:solidFill>
                <a:srgbClr val="9933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BA5058-6F76-432A-898A-DC62B8297DB3}"/>
              </a:ext>
            </a:extLst>
          </p:cNvPr>
          <p:cNvSpPr/>
          <p:nvPr/>
        </p:nvSpPr>
        <p:spPr>
          <a:xfrm>
            <a:off x="689252" y="415999"/>
            <a:ext cx="36343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极性分子电介质</a:t>
            </a:r>
            <a:endParaRPr lang="en-US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Picture 6" descr="FG25_21">
            <a:extLst>
              <a:ext uri="{FF2B5EF4-FFF2-40B4-BE49-F238E27FC236}">
                <a16:creationId xmlns:a16="http://schemas.microsoft.com/office/drawing/2014/main" id="{914566DE-30EA-4400-B2D5-8D24148963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982" b="65159"/>
          <a:stretch/>
        </p:blipFill>
        <p:spPr bwMode="auto">
          <a:xfrm>
            <a:off x="2237535" y="3709845"/>
            <a:ext cx="2644729" cy="2538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6" descr="FG25_21">
            <a:extLst>
              <a:ext uri="{FF2B5EF4-FFF2-40B4-BE49-F238E27FC236}">
                <a16:creationId xmlns:a16="http://schemas.microsoft.com/office/drawing/2014/main" id="{8FE5F0DB-1658-4A22-B1C6-09A93B0A62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93" b="65159"/>
          <a:stretch/>
        </p:blipFill>
        <p:spPr bwMode="auto">
          <a:xfrm>
            <a:off x="5310588" y="3709845"/>
            <a:ext cx="3166585" cy="2538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3533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6" name="Picture 4" descr="Glass–ceramic dielectric materials with high energy density and ultra-fast  discharge speed for high power energy storage applications - Journal of  Materials Chemistry C (RSC Publishing) DOI:10.1039/C9TC05253D">
            <a:extLst>
              <a:ext uri="{FF2B5EF4-FFF2-40B4-BE49-F238E27FC236}">
                <a16:creationId xmlns:a16="http://schemas.microsoft.com/office/drawing/2014/main" id="{E2FD043B-7ECE-4E60-AF91-5DB3A26B03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05" t="7524" r="38768" b="70084"/>
          <a:stretch/>
        </p:blipFill>
        <p:spPr bwMode="auto">
          <a:xfrm>
            <a:off x="1231131" y="4195342"/>
            <a:ext cx="2204632" cy="2058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 4">
            <a:extLst>
              <a:ext uri="{FF2B5EF4-FFF2-40B4-BE49-F238E27FC236}">
                <a16:creationId xmlns:a16="http://schemas.microsoft.com/office/drawing/2014/main" id="{BFA4D439-47D8-4B22-A54D-370684883A54}"/>
              </a:ext>
            </a:extLst>
          </p:cNvPr>
          <p:cNvSpPr txBox="1">
            <a:spLocks/>
          </p:cNvSpPr>
          <p:nvPr/>
        </p:nvSpPr>
        <p:spPr>
          <a:xfrm>
            <a:off x="1231131" y="1188100"/>
            <a:ext cx="7543800" cy="127770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非极性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分子：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分子正负电荷中心重合  无固有电偶极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例如  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CO</a:t>
            </a:r>
            <a:r>
              <a:rPr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CH</a:t>
            </a:r>
            <a:r>
              <a:rPr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FF567C9-5797-4DB5-A727-655E0B1D1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049" y="2136882"/>
            <a:ext cx="3690100" cy="205846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F827992-B0CC-4293-BE09-5F16F3712C2B}"/>
              </a:ext>
            </a:extLst>
          </p:cNvPr>
          <p:cNvSpPr/>
          <p:nvPr/>
        </p:nvSpPr>
        <p:spPr>
          <a:xfrm>
            <a:off x="689252" y="415999"/>
            <a:ext cx="40671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非极性分子电介质</a:t>
            </a:r>
            <a:endParaRPr lang="en-US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Picture 6" descr="FG25_21">
            <a:extLst>
              <a:ext uri="{FF2B5EF4-FFF2-40B4-BE49-F238E27FC236}">
                <a16:creationId xmlns:a16="http://schemas.microsoft.com/office/drawing/2014/main" id="{6EAF7FE9-E370-4252-8AFB-8CE4E367E3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8" t="50000" b="14479"/>
          <a:stretch/>
        </p:blipFill>
        <p:spPr bwMode="auto">
          <a:xfrm>
            <a:off x="6276278" y="2139629"/>
            <a:ext cx="4802414" cy="3716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Glass–ceramic dielectric materials with high energy density and ultra-fast  discharge speed for high power energy storage applications - Journal of  Materials Chemistry C (RSC Publishing) DOI:10.1039/C9TC05253D">
            <a:extLst>
              <a:ext uri="{FF2B5EF4-FFF2-40B4-BE49-F238E27FC236}">
                <a16:creationId xmlns:a16="http://schemas.microsoft.com/office/drawing/2014/main" id="{244A642C-879A-4F7E-AF42-424D4A171B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16" t="7524" b="70084"/>
          <a:stretch/>
        </p:blipFill>
        <p:spPr bwMode="auto">
          <a:xfrm>
            <a:off x="3582405" y="4234598"/>
            <a:ext cx="2513595" cy="2058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952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8" name="Picture 6" descr="FG25_21">
            <a:extLst>
              <a:ext uri="{FF2B5EF4-FFF2-40B4-BE49-F238E27FC236}">
                <a16:creationId xmlns:a16="http://schemas.microsoft.com/office/drawing/2014/main" id="{51BA6E6B-A3DD-4DB7-B4C1-F7F706E08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521" y="966131"/>
            <a:ext cx="4758800" cy="5639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1897" name="Text Box 9">
            <a:extLst>
              <a:ext uri="{FF2B5EF4-FFF2-40B4-BE49-F238E27FC236}">
                <a16:creationId xmlns:a16="http://schemas.microsoft.com/office/drawing/2014/main" id="{D96D432A-9C74-4F4A-AF56-BABE1C7DD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5728" y="4759123"/>
            <a:ext cx="1945830" cy="576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位移极化</a:t>
            </a:r>
          </a:p>
        </p:txBody>
      </p:sp>
      <p:sp>
        <p:nvSpPr>
          <p:cNvPr id="421899" name="Text Box 11">
            <a:extLst>
              <a:ext uri="{FF2B5EF4-FFF2-40B4-BE49-F238E27FC236}">
                <a16:creationId xmlns:a16="http://schemas.microsoft.com/office/drawing/2014/main" id="{4AC5636A-384B-4810-83D7-5858B8A52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7994" y="1704843"/>
            <a:ext cx="2044708" cy="576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取向极化</a:t>
            </a:r>
          </a:p>
        </p:txBody>
      </p:sp>
      <p:sp>
        <p:nvSpPr>
          <p:cNvPr id="421900" name="Text Box 12">
            <a:extLst>
              <a:ext uri="{FF2B5EF4-FFF2-40B4-BE49-F238E27FC236}">
                <a16:creationId xmlns:a16="http://schemas.microsoft.com/office/drawing/2014/main" id="{8B9576CD-6DD1-457D-B19A-2D6DD60BA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8808" y="3968009"/>
            <a:ext cx="22835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无极分子</a:t>
            </a:r>
          </a:p>
        </p:txBody>
      </p:sp>
      <p:sp>
        <p:nvSpPr>
          <p:cNvPr id="421901" name="Text Box 13">
            <a:extLst>
              <a:ext uri="{FF2B5EF4-FFF2-40B4-BE49-F238E27FC236}">
                <a16:creationId xmlns:a16="http://schemas.microsoft.com/office/drawing/2014/main" id="{483A9D59-A707-4A31-A90B-A89AC0343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9212" y="966131"/>
            <a:ext cx="21174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有极分子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B9A80576-E8DB-454C-B438-A3F46EDD3075}"/>
                  </a:ext>
                </a:extLst>
              </p:cNvPr>
              <p:cNvSpPr txBox="1"/>
              <p:nvPr/>
            </p:nvSpPr>
            <p:spPr bwMode="auto">
              <a:xfrm>
                <a:off x="8347869" y="2496772"/>
                <a:ext cx="2942998" cy="8175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B9A80576-E8DB-454C-B438-A3F46EDD3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47869" y="2496772"/>
                <a:ext cx="2942998" cy="817563"/>
              </a:xfrm>
              <a:prstGeom prst="rect">
                <a:avLst/>
              </a:prstGeom>
              <a:blipFill>
                <a:blip r:embed="rId4"/>
                <a:stretch>
                  <a:fillRect b="-320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24">
                <a:extLst>
                  <a:ext uri="{FF2B5EF4-FFF2-40B4-BE49-F238E27FC236}">
                    <a16:creationId xmlns:a16="http://schemas.microsoft.com/office/drawing/2014/main" id="{F270653B-5E4C-46D9-9392-06D2AAE36B7C}"/>
                  </a:ext>
                </a:extLst>
              </p:cNvPr>
              <p:cNvSpPr txBox="1"/>
              <p:nvPr/>
            </p:nvSpPr>
            <p:spPr bwMode="auto">
              <a:xfrm>
                <a:off x="6399212" y="2522299"/>
                <a:ext cx="2562346" cy="8366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Object 24">
                <a:extLst>
                  <a:ext uri="{FF2B5EF4-FFF2-40B4-BE49-F238E27FC236}">
                    <a16:creationId xmlns:a16="http://schemas.microsoft.com/office/drawing/2014/main" id="{F270653B-5E4C-46D9-9392-06D2AAE36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9212" y="2522299"/>
                <a:ext cx="2562346" cy="836613"/>
              </a:xfrm>
              <a:prstGeom prst="rect">
                <a:avLst/>
              </a:prstGeom>
              <a:blipFill>
                <a:blip r:embed="rId5"/>
                <a:stretch>
                  <a:fillRect b="-291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DB5DCD32-37AA-4A09-A6FC-B14316672769}"/>
              </a:ext>
            </a:extLst>
          </p:cNvPr>
          <p:cNvSpPr/>
          <p:nvPr/>
        </p:nvSpPr>
        <p:spPr>
          <a:xfrm>
            <a:off x="764239" y="87128"/>
            <a:ext cx="33265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电介质的极化 </a:t>
            </a:r>
            <a:endParaRPr lang="en-US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Text Box 9">
            <a:extLst>
              <a:ext uri="{FF2B5EF4-FFF2-40B4-BE49-F238E27FC236}">
                <a16:creationId xmlns:a16="http://schemas.microsoft.com/office/drawing/2014/main" id="{5E0CDBC4-FD8C-44B4-97DE-6633A0386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5728" y="5522425"/>
            <a:ext cx="1945830" cy="576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感生电矩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7" grpId="0"/>
      <p:bldP spid="421899" grpId="0"/>
      <p:bldP spid="421900" grpId="0"/>
      <p:bldP spid="421901" grpId="0"/>
      <p:bldP spid="21" grpId="0"/>
      <p:bldP spid="22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DB5DCD32-37AA-4A09-A6FC-B14316672769}"/>
              </a:ext>
            </a:extLst>
          </p:cNvPr>
          <p:cNvSpPr/>
          <p:nvPr/>
        </p:nvSpPr>
        <p:spPr>
          <a:xfrm>
            <a:off x="765268" y="239870"/>
            <a:ext cx="3223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电介质的极化</a:t>
            </a:r>
            <a:endParaRPr lang="en-US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4" name="Group 458">
            <a:extLst>
              <a:ext uri="{FF2B5EF4-FFF2-40B4-BE49-F238E27FC236}">
                <a16:creationId xmlns:a16="http://schemas.microsoft.com/office/drawing/2014/main" id="{F0987F6E-277D-49EB-814F-05B47B5C2885}"/>
              </a:ext>
            </a:extLst>
          </p:cNvPr>
          <p:cNvGrpSpPr>
            <a:grpSpLocks/>
          </p:cNvGrpSpPr>
          <p:nvPr/>
        </p:nvGrpSpPr>
        <p:grpSpPr bwMode="auto">
          <a:xfrm>
            <a:off x="638519" y="1299194"/>
            <a:ext cx="5065318" cy="1839500"/>
            <a:chOff x="1147" y="2850"/>
            <a:chExt cx="3613" cy="823"/>
          </a:xfrm>
        </p:grpSpPr>
        <p:sp>
          <p:nvSpPr>
            <p:cNvPr id="15" name="Line 426">
              <a:extLst>
                <a:ext uri="{FF2B5EF4-FFF2-40B4-BE49-F238E27FC236}">
                  <a16:creationId xmlns:a16="http://schemas.microsoft.com/office/drawing/2014/main" id="{3A41457E-B52C-4BBA-826A-5458D5DDD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5" y="3575"/>
              <a:ext cx="331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425">
              <a:extLst>
                <a:ext uri="{FF2B5EF4-FFF2-40B4-BE49-F238E27FC236}">
                  <a16:creationId xmlns:a16="http://schemas.microsoft.com/office/drawing/2014/main" id="{672EEC3C-57AE-47EE-86DC-97E778D03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1" y="3288"/>
              <a:ext cx="331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Line 152">
              <a:extLst>
                <a:ext uri="{FF2B5EF4-FFF2-40B4-BE49-F238E27FC236}">
                  <a16:creationId xmlns:a16="http://schemas.microsoft.com/office/drawing/2014/main" id="{D1137B89-B5C5-4A74-A11B-9FDC2D0A2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7" y="3004"/>
              <a:ext cx="331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19FA349C-196D-4FFF-BFB2-6D6F3CE5D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3" y="2872"/>
              <a:ext cx="1922" cy="801"/>
            </a:xfrm>
            <a:prstGeom prst="rect">
              <a:avLst/>
            </a:prstGeom>
            <a:solidFill>
              <a:srgbClr val="33663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9" name="Group 155">
              <a:extLst>
                <a:ext uri="{FF2B5EF4-FFF2-40B4-BE49-F238E27FC236}">
                  <a16:creationId xmlns:a16="http://schemas.microsoft.com/office/drawing/2014/main" id="{B9AE5C1C-74EC-42DE-9032-F750BCCA75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4" y="3430"/>
              <a:ext cx="530" cy="234"/>
              <a:chOff x="3124" y="1430"/>
              <a:chExt cx="530" cy="234"/>
            </a:xfrm>
          </p:grpSpPr>
          <p:sp>
            <p:nvSpPr>
              <p:cNvPr id="102" name="AutoShape 156">
                <a:extLst>
                  <a:ext uri="{FF2B5EF4-FFF2-40B4-BE49-F238E27FC236}">
                    <a16:creationId xmlns:a16="http://schemas.microsoft.com/office/drawing/2014/main" id="{A0236D41-9DDA-4DFD-A0EB-DE3302289F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3" name="Rectangle 157">
                <a:extLst>
                  <a:ext uri="{FF2B5EF4-FFF2-40B4-BE49-F238E27FC236}">
                    <a16:creationId xmlns:a16="http://schemas.microsoft.com/office/drawing/2014/main" id="{89A3DCA3-E339-4969-86E7-15EB21B72C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104" name="Line 158">
                <a:extLst>
                  <a:ext uri="{FF2B5EF4-FFF2-40B4-BE49-F238E27FC236}">
                    <a16:creationId xmlns:a16="http://schemas.microsoft.com/office/drawing/2014/main" id="{67002342-F3ED-4A6F-B8A4-DD040CCE39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" name="Group 163">
              <a:extLst>
                <a:ext uri="{FF2B5EF4-FFF2-40B4-BE49-F238E27FC236}">
                  <a16:creationId xmlns:a16="http://schemas.microsoft.com/office/drawing/2014/main" id="{89299436-B4F5-4048-B822-9304E6606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1" y="3228"/>
              <a:ext cx="530" cy="234"/>
              <a:chOff x="3124" y="1430"/>
              <a:chExt cx="530" cy="234"/>
            </a:xfrm>
          </p:grpSpPr>
          <p:sp>
            <p:nvSpPr>
              <p:cNvPr id="99" name="AutoShape 164">
                <a:extLst>
                  <a:ext uri="{FF2B5EF4-FFF2-40B4-BE49-F238E27FC236}">
                    <a16:creationId xmlns:a16="http://schemas.microsoft.com/office/drawing/2014/main" id="{5EC3AEB5-81FF-4F16-B4F7-DC1F580E1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Rectangle 165">
                <a:extLst>
                  <a:ext uri="{FF2B5EF4-FFF2-40B4-BE49-F238E27FC236}">
                    <a16:creationId xmlns:a16="http://schemas.microsoft.com/office/drawing/2014/main" id="{7AC9BD23-B5FA-4948-9D99-0C398212F8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101" name="Line 166">
                <a:extLst>
                  <a:ext uri="{FF2B5EF4-FFF2-40B4-BE49-F238E27FC236}">
                    <a16:creationId xmlns:a16="http://schemas.microsoft.com/office/drawing/2014/main" id="{B12DB3DB-BF26-4C7E-A263-4BDE52FCBB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3" name="Group 171">
              <a:extLst>
                <a:ext uri="{FF2B5EF4-FFF2-40B4-BE49-F238E27FC236}">
                  <a16:creationId xmlns:a16="http://schemas.microsoft.com/office/drawing/2014/main" id="{0EA3C296-05F2-4A9D-A46D-B3D99699D8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4" y="3034"/>
              <a:ext cx="530" cy="234"/>
              <a:chOff x="3124" y="1430"/>
              <a:chExt cx="530" cy="234"/>
            </a:xfrm>
          </p:grpSpPr>
          <p:sp>
            <p:nvSpPr>
              <p:cNvPr id="96" name="AutoShape 172">
                <a:extLst>
                  <a:ext uri="{FF2B5EF4-FFF2-40B4-BE49-F238E27FC236}">
                    <a16:creationId xmlns:a16="http://schemas.microsoft.com/office/drawing/2014/main" id="{DAA2B4F7-EFDE-4CF1-A33F-75B48CDC2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7" name="Rectangle 173">
                <a:extLst>
                  <a:ext uri="{FF2B5EF4-FFF2-40B4-BE49-F238E27FC236}">
                    <a16:creationId xmlns:a16="http://schemas.microsoft.com/office/drawing/2014/main" id="{799A9756-A7F7-4501-B7E3-4717631D8F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98" name="Line 174">
                <a:extLst>
                  <a:ext uri="{FF2B5EF4-FFF2-40B4-BE49-F238E27FC236}">
                    <a16:creationId xmlns:a16="http://schemas.microsoft.com/office/drawing/2014/main" id="{35230FD0-1245-4BDF-89A7-23F224D0D9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7" name="Group 175">
              <a:extLst>
                <a:ext uri="{FF2B5EF4-FFF2-40B4-BE49-F238E27FC236}">
                  <a16:creationId xmlns:a16="http://schemas.microsoft.com/office/drawing/2014/main" id="{838C20F6-22FE-499D-84FB-262E44A156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4" y="2850"/>
              <a:ext cx="530" cy="234"/>
              <a:chOff x="3124" y="1430"/>
              <a:chExt cx="530" cy="234"/>
            </a:xfrm>
          </p:grpSpPr>
          <p:sp>
            <p:nvSpPr>
              <p:cNvPr id="93" name="AutoShape 176">
                <a:extLst>
                  <a:ext uri="{FF2B5EF4-FFF2-40B4-BE49-F238E27FC236}">
                    <a16:creationId xmlns:a16="http://schemas.microsoft.com/office/drawing/2014/main" id="{E6C62E33-9F32-42FB-9DE6-C3EB36DB4E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Rectangle 177">
                <a:extLst>
                  <a:ext uri="{FF2B5EF4-FFF2-40B4-BE49-F238E27FC236}">
                    <a16:creationId xmlns:a16="http://schemas.microsoft.com/office/drawing/2014/main" id="{0D263A1D-A55C-4291-AE38-4FE8B69AD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95" name="Line 178">
                <a:extLst>
                  <a:ext uri="{FF2B5EF4-FFF2-40B4-BE49-F238E27FC236}">
                    <a16:creationId xmlns:a16="http://schemas.microsoft.com/office/drawing/2014/main" id="{1B22C4A2-798F-424A-831F-CE0AA804DB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8" name="Group 215">
              <a:extLst>
                <a:ext uri="{FF2B5EF4-FFF2-40B4-BE49-F238E27FC236}">
                  <a16:creationId xmlns:a16="http://schemas.microsoft.com/office/drawing/2014/main" id="{70516440-8B45-4D5F-91FA-BC06D4B007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4" y="3430"/>
              <a:ext cx="530" cy="234"/>
              <a:chOff x="3124" y="1430"/>
              <a:chExt cx="530" cy="234"/>
            </a:xfrm>
          </p:grpSpPr>
          <p:sp>
            <p:nvSpPr>
              <p:cNvPr id="90" name="AutoShape 216">
                <a:extLst>
                  <a:ext uri="{FF2B5EF4-FFF2-40B4-BE49-F238E27FC236}">
                    <a16:creationId xmlns:a16="http://schemas.microsoft.com/office/drawing/2014/main" id="{D6165A2F-A8FD-4573-9A94-42237D9F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Rectangle 217">
                <a:extLst>
                  <a:ext uri="{FF2B5EF4-FFF2-40B4-BE49-F238E27FC236}">
                    <a16:creationId xmlns:a16="http://schemas.microsoft.com/office/drawing/2014/main" id="{10031028-8567-4921-8453-A43068295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92" name="Line 218">
                <a:extLst>
                  <a:ext uri="{FF2B5EF4-FFF2-40B4-BE49-F238E27FC236}">
                    <a16:creationId xmlns:a16="http://schemas.microsoft.com/office/drawing/2014/main" id="{EE206451-3B94-4EF6-9895-8DCFEE74F4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" name="Group 223">
              <a:extLst>
                <a:ext uri="{FF2B5EF4-FFF2-40B4-BE49-F238E27FC236}">
                  <a16:creationId xmlns:a16="http://schemas.microsoft.com/office/drawing/2014/main" id="{659B0C68-CC6F-462F-8048-E19660CB35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1" y="3228"/>
              <a:ext cx="530" cy="234"/>
              <a:chOff x="3124" y="1430"/>
              <a:chExt cx="530" cy="234"/>
            </a:xfrm>
          </p:grpSpPr>
          <p:sp>
            <p:nvSpPr>
              <p:cNvPr id="87" name="AutoShape 224">
                <a:extLst>
                  <a:ext uri="{FF2B5EF4-FFF2-40B4-BE49-F238E27FC236}">
                    <a16:creationId xmlns:a16="http://schemas.microsoft.com/office/drawing/2014/main" id="{39617DA6-BEC9-4E08-B3FC-D246337C6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Rectangle 225">
                <a:extLst>
                  <a:ext uri="{FF2B5EF4-FFF2-40B4-BE49-F238E27FC236}">
                    <a16:creationId xmlns:a16="http://schemas.microsoft.com/office/drawing/2014/main" id="{6A1FA35A-406A-4A3D-8BEB-25C9F2651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89" name="Line 226">
                <a:extLst>
                  <a:ext uri="{FF2B5EF4-FFF2-40B4-BE49-F238E27FC236}">
                    <a16:creationId xmlns:a16="http://schemas.microsoft.com/office/drawing/2014/main" id="{A02538AB-BFA6-4A71-B45F-9FD7453D20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0" name="Group 231">
              <a:extLst>
                <a:ext uri="{FF2B5EF4-FFF2-40B4-BE49-F238E27FC236}">
                  <a16:creationId xmlns:a16="http://schemas.microsoft.com/office/drawing/2014/main" id="{EFD0E3BA-84D3-445A-9019-6622527461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4" y="3034"/>
              <a:ext cx="530" cy="234"/>
              <a:chOff x="3124" y="1430"/>
              <a:chExt cx="530" cy="234"/>
            </a:xfrm>
          </p:grpSpPr>
          <p:sp>
            <p:nvSpPr>
              <p:cNvPr id="84" name="AutoShape 232">
                <a:extLst>
                  <a:ext uri="{FF2B5EF4-FFF2-40B4-BE49-F238E27FC236}">
                    <a16:creationId xmlns:a16="http://schemas.microsoft.com/office/drawing/2014/main" id="{268ADFCE-33E7-46E8-AC6E-91A90182F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Rectangle 233">
                <a:extLst>
                  <a:ext uri="{FF2B5EF4-FFF2-40B4-BE49-F238E27FC236}">
                    <a16:creationId xmlns:a16="http://schemas.microsoft.com/office/drawing/2014/main" id="{ABC00E59-AFEC-41C4-92DF-82E98C238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86" name="Line 234">
                <a:extLst>
                  <a:ext uri="{FF2B5EF4-FFF2-40B4-BE49-F238E27FC236}">
                    <a16:creationId xmlns:a16="http://schemas.microsoft.com/office/drawing/2014/main" id="{75485EA9-37E4-4131-92F4-37B53E95FE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1" name="Group 235">
              <a:extLst>
                <a:ext uri="{FF2B5EF4-FFF2-40B4-BE49-F238E27FC236}">
                  <a16:creationId xmlns:a16="http://schemas.microsoft.com/office/drawing/2014/main" id="{7D489DEF-8BA4-4A84-8197-DDD3050CF6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4" y="2850"/>
              <a:ext cx="530" cy="234"/>
              <a:chOff x="3124" y="1430"/>
              <a:chExt cx="530" cy="234"/>
            </a:xfrm>
          </p:grpSpPr>
          <p:sp>
            <p:nvSpPr>
              <p:cNvPr id="81" name="AutoShape 236">
                <a:extLst>
                  <a:ext uri="{FF2B5EF4-FFF2-40B4-BE49-F238E27FC236}">
                    <a16:creationId xmlns:a16="http://schemas.microsoft.com/office/drawing/2014/main" id="{D1AA2DA9-76DE-496D-823A-B70E24291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Rectangle 237">
                <a:extLst>
                  <a:ext uri="{FF2B5EF4-FFF2-40B4-BE49-F238E27FC236}">
                    <a16:creationId xmlns:a16="http://schemas.microsoft.com/office/drawing/2014/main" id="{32D80E3A-18AD-4CC7-BA7E-2319DA207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83" name="Line 238">
                <a:extLst>
                  <a:ext uri="{FF2B5EF4-FFF2-40B4-BE49-F238E27FC236}">
                    <a16:creationId xmlns:a16="http://schemas.microsoft.com/office/drawing/2014/main" id="{B972B40F-F127-43A7-8BDC-27EEF160C8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2" name="Group 244">
              <a:extLst>
                <a:ext uri="{FF2B5EF4-FFF2-40B4-BE49-F238E27FC236}">
                  <a16:creationId xmlns:a16="http://schemas.microsoft.com/office/drawing/2014/main" id="{41E8FE72-1DCC-4460-AD95-F141203A25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4" y="3430"/>
              <a:ext cx="530" cy="234"/>
              <a:chOff x="3124" y="1430"/>
              <a:chExt cx="530" cy="234"/>
            </a:xfrm>
          </p:grpSpPr>
          <p:sp>
            <p:nvSpPr>
              <p:cNvPr id="78" name="AutoShape 245">
                <a:extLst>
                  <a:ext uri="{FF2B5EF4-FFF2-40B4-BE49-F238E27FC236}">
                    <a16:creationId xmlns:a16="http://schemas.microsoft.com/office/drawing/2014/main" id="{2BBDD20F-FFB2-4A15-A149-E0A10A030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Rectangle 246">
                <a:extLst>
                  <a:ext uri="{FF2B5EF4-FFF2-40B4-BE49-F238E27FC236}">
                    <a16:creationId xmlns:a16="http://schemas.microsoft.com/office/drawing/2014/main" id="{B391F847-C25E-46F4-90A4-BF93E5A53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80" name="Line 247">
                <a:extLst>
                  <a:ext uri="{FF2B5EF4-FFF2-40B4-BE49-F238E27FC236}">
                    <a16:creationId xmlns:a16="http://schemas.microsoft.com/office/drawing/2014/main" id="{078C0339-9DC9-4074-BC36-AB7626D244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3" name="Group 252">
              <a:extLst>
                <a:ext uri="{FF2B5EF4-FFF2-40B4-BE49-F238E27FC236}">
                  <a16:creationId xmlns:a16="http://schemas.microsoft.com/office/drawing/2014/main" id="{E3697B28-7F86-44D8-B9A5-803DA1B581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1" y="3228"/>
              <a:ext cx="530" cy="234"/>
              <a:chOff x="3124" y="1430"/>
              <a:chExt cx="530" cy="234"/>
            </a:xfrm>
          </p:grpSpPr>
          <p:sp>
            <p:nvSpPr>
              <p:cNvPr id="75" name="AutoShape 253">
                <a:extLst>
                  <a:ext uri="{FF2B5EF4-FFF2-40B4-BE49-F238E27FC236}">
                    <a16:creationId xmlns:a16="http://schemas.microsoft.com/office/drawing/2014/main" id="{A11BEC0C-76F1-4321-9B17-C91DBCD884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Rectangle 254">
                <a:extLst>
                  <a:ext uri="{FF2B5EF4-FFF2-40B4-BE49-F238E27FC236}">
                    <a16:creationId xmlns:a16="http://schemas.microsoft.com/office/drawing/2014/main" id="{92734AD1-3B13-4FC9-A3D6-D09E752C0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77" name="Line 255">
                <a:extLst>
                  <a:ext uri="{FF2B5EF4-FFF2-40B4-BE49-F238E27FC236}">
                    <a16:creationId xmlns:a16="http://schemas.microsoft.com/office/drawing/2014/main" id="{F963A90E-3054-475D-B071-8D10273F12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4" name="Group 260">
              <a:extLst>
                <a:ext uri="{FF2B5EF4-FFF2-40B4-BE49-F238E27FC236}">
                  <a16:creationId xmlns:a16="http://schemas.microsoft.com/office/drawing/2014/main" id="{AD20CD90-0DBB-4079-8C62-222BF8F873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4" y="3034"/>
              <a:ext cx="530" cy="234"/>
              <a:chOff x="3124" y="1430"/>
              <a:chExt cx="530" cy="234"/>
            </a:xfrm>
          </p:grpSpPr>
          <p:sp>
            <p:nvSpPr>
              <p:cNvPr id="72" name="AutoShape 261">
                <a:extLst>
                  <a:ext uri="{FF2B5EF4-FFF2-40B4-BE49-F238E27FC236}">
                    <a16:creationId xmlns:a16="http://schemas.microsoft.com/office/drawing/2014/main" id="{DF4D762C-36AB-4734-8457-242E14E92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Rectangle 262">
                <a:extLst>
                  <a:ext uri="{FF2B5EF4-FFF2-40B4-BE49-F238E27FC236}">
                    <a16:creationId xmlns:a16="http://schemas.microsoft.com/office/drawing/2014/main" id="{913EEA3B-AB80-4B30-83E3-CE75714BD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74" name="Line 263">
                <a:extLst>
                  <a:ext uri="{FF2B5EF4-FFF2-40B4-BE49-F238E27FC236}">
                    <a16:creationId xmlns:a16="http://schemas.microsoft.com/office/drawing/2014/main" id="{CF026114-DD27-4110-BC53-1A4D6B46B1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264">
              <a:extLst>
                <a:ext uri="{FF2B5EF4-FFF2-40B4-BE49-F238E27FC236}">
                  <a16:creationId xmlns:a16="http://schemas.microsoft.com/office/drawing/2014/main" id="{491E0E94-746D-4A40-B2B6-CB9E65810C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4" y="2850"/>
              <a:ext cx="530" cy="234"/>
              <a:chOff x="3124" y="1430"/>
              <a:chExt cx="530" cy="234"/>
            </a:xfrm>
          </p:grpSpPr>
          <p:sp>
            <p:nvSpPr>
              <p:cNvPr id="69" name="AutoShape 265">
                <a:extLst>
                  <a:ext uri="{FF2B5EF4-FFF2-40B4-BE49-F238E27FC236}">
                    <a16:creationId xmlns:a16="http://schemas.microsoft.com/office/drawing/2014/main" id="{760C8F54-C5F0-46C2-B464-A852BF61DE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Rectangle 266">
                <a:extLst>
                  <a:ext uri="{FF2B5EF4-FFF2-40B4-BE49-F238E27FC236}">
                    <a16:creationId xmlns:a16="http://schemas.microsoft.com/office/drawing/2014/main" id="{4A23EFE4-6D28-45ED-859D-F505027D11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71" name="Line 267">
                <a:extLst>
                  <a:ext uri="{FF2B5EF4-FFF2-40B4-BE49-F238E27FC236}">
                    <a16:creationId xmlns:a16="http://schemas.microsoft.com/office/drawing/2014/main" id="{8208E342-21A9-45DA-A0A9-90584EB5C2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6" name="Group 276">
              <a:extLst>
                <a:ext uri="{FF2B5EF4-FFF2-40B4-BE49-F238E27FC236}">
                  <a16:creationId xmlns:a16="http://schemas.microsoft.com/office/drawing/2014/main" id="{766440BB-BA2C-400B-95D1-2AB026917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8" y="3430"/>
              <a:ext cx="530" cy="234"/>
              <a:chOff x="3124" y="1430"/>
              <a:chExt cx="530" cy="234"/>
            </a:xfrm>
          </p:grpSpPr>
          <p:sp>
            <p:nvSpPr>
              <p:cNvPr id="66" name="AutoShape 277">
                <a:extLst>
                  <a:ext uri="{FF2B5EF4-FFF2-40B4-BE49-F238E27FC236}">
                    <a16:creationId xmlns:a16="http://schemas.microsoft.com/office/drawing/2014/main" id="{E6F2134A-27EC-4D71-9CA7-8E38D5E6E4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Rectangle 278">
                <a:extLst>
                  <a:ext uri="{FF2B5EF4-FFF2-40B4-BE49-F238E27FC236}">
                    <a16:creationId xmlns:a16="http://schemas.microsoft.com/office/drawing/2014/main" id="{FED4184F-25E3-4C4C-87CD-3C144CF2D0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68" name="Line 279">
                <a:extLst>
                  <a:ext uri="{FF2B5EF4-FFF2-40B4-BE49-F238E27FC236}">
                    <a16:creationId xmlns:a16="http://schemas.microsoft.com/office/drawing/2014/main" id="{3A4E2C54-E5EC-4653-9075-BD5D65455C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7" name="Group 284">
              <a:extLst>
                <a:ext uri="{FF2B5EF4-FFF2-40B4-BE49-F238E27FC236}">
                  <a16:creationId xmlns:a16="http://schemas.microsoft.com/office/drawing/2014/main" id="{A2EB15D4-BF77-44FB-91BE-CACC2C7C99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5" y="3228"/>
              <a:ext cx="530" cy="234"/>
              <a:chOff x="3124" y="1430"/>
              <a:chExt cx="530" cy="234"/>
            </a:xfrm>
          </p:grpSpPr>
          <p:sp>
            <p:nvSpPr>
              <p:cNvPr id="63" name="AutoShape 285">
                <a:extLst>
                  <a:ext uri="{FF2B5EF4-FFF2-40B4-BE49-F238E27FC236}">
                    <a16:creationId xmlns:a16="http://schemas.microsoft.com/office/drawing/2014/main" id="{EE535D97-DC9A-4E62-ADD8-077463CED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Rectangle 286">
                <a:extLst>
                  <a:ext uri="{FF2B5EF4-FFF2-40B4-BE49-F238E27FC236}">
                    <a16:creationId xmlns:a16="http://schemas.microsoft.com/office/drawing/2014/main" id="{A9723EB1-669E-47B3-8AA2-90AD7BFD8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65" name="Line 287">
                <a:extLst>
                  <a:ext uri="{FF2B5EF4-FFF2-40B4-BE49-F238E27FC236}">
                    <a16:creationId xmlns:a16="http://schemas.microsoft.com/office/drawing/2014/main" id="{92FFA59D-4166-40FB-A456-7A41724347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8" name="Group 292">
              <a:extLst>
                <a:ext uri="{FF2B5EF4-FFF2-40B4-BE49-F238E27FC236}">
                  <a16:creationId xmlns:a16="http://schemas.microsoft.com/office/drawing/2014/main" id="{801D3253-2D68-4A31-9956-966456BB1B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8" y="3034"/>
              <a:ext cx="530" cy="234"/>
              <a:chOff x="3124" y="1430"/>
              <a:chExt cx="530" cy="234"/>
            </a:xfrm>
          </p:grpSpPr>
          <p:sp>
            <p:nvSpPr>
              <p:cNvPr id="60" name="AutoShape 293">
                <a:extLst>
                  <a:ext uri="{FF2B5EF4-FFF2-40B4-BE49-F238E27FC236}">
                    <a16:creationId xmlns:a16="http://schemas.microsoft.com/office/drawing/2014/main" id="{DBFD6E27-D86C-486E-906A-82D76E1947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Rectangle 294">
                <a:extLst>
                  <a:ext uri="{FF2B5EF4-FFF2-40B4-BE49-F238E27FC236}">
                    <a16:creationId xmlns:a16="http://schemas.microsoft.com/office/drawing/2014/main" id="{5A5835FF-EDFD-4957-A6DE-BE659E51C5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62" name="Line 295">
                <a:extLst>
                  <a:ext uri="{FF2B5EF4-FFF2-40B4-BE49-F238E27FC236}">
                    <a16:creationId xmlns:a16="http://schemas.microsoft.com/office/drawing/2014/main" id="{2EFC7EF6-A092-4FBA-AFBF-0779F4298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9" name="Group 296">
              <a:extLst>
                <a:ext uri="{FF2B5EF4-FFF2-40B4-BE49-F238E27FC236}">
                  <a16:creationId xmlns:a16="http://schemas.microsoft.com/office/drawing/2014/main" id="{7C57DC89-A05C-4059-BBB6-CAF0FC95F2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8" y="2850"/>
              <a:ext cx="530" cy="234"/>
              <a:chOff x="3124" y="1430"/>
              <a:chExt cx="530" cy="234"/>
            </a:xfrm>
          </p:grpSpPr>
          <p:sp>
            <p:nvSpPr>
              <p:cNvPr id="57" name="AutoShape 297">
                <a:extLst>
                  <a:ext uri="{FF2B5EF4-FFF2-40B4-BE49-F238E27FC236}">
                    <a16:creationId xmlns:a16="http://schemas.microsoft.com/office/drawing/2014/main" id="{685EABF0-F891-4E53-8CB9-5FEA257A88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Rectangle 298">
                <a:extLst>
                  <a:ext uri="{FF2B5EF4-FFF2-40B4-BE49-F238E27FC236}">
                    <a16:creationId xmlns:a16="http://schemas.microsoft.com/office/drawing/2014/main" id="{310F0C79-92A3-452A-A75A-0E5B9557AE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9" name="Line 299">
                <a:extLst>
                  <a:ext uri="{FF2B5EF4-FFF2-40B4-BE49-F238E27FC236}">
                    <a16:creationId xmlns:a16="http://schemas.microsoft.com/office/drawing/2014/main" id="{0B0CB785-59DB-470A-9A8B-616FAF308E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0" name="Group 305">
              <a:extLst>
                <a:ext uri="{FF2B5EF4-FFF2-40B4-BE49-F238E27FC236}">
                  <a16:creationId xmlns:a16="http://schemas.microsoft.com/office/drawing/2014/main" id="{D629609A-61E6-4991-B96A-B76D0306D6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8" y="3430"/>
              <a:ext cx="530" cy="234"/>
              <a:chOff x="3124" y="1430"/>
              <a:chExt cx="530" cy="234"/>
            </a:xfrm>
          </p:grpSpPr>
          <p:sp>
            <p:nvSpPr>
              <p:cNvPr id="54" name="AutoShape 306">
                <a:extLst>
                  <a:ext uri="{FF2B5EF4-FFF2-40B4-BE49-F238E27FC236}">
                    <a16:creationId xmlns:a16="http://schemas.microsoft.com/office/drawing/2014/main" id="{56C2E279-1A3D-4F1C-92BF-F60FF36FAB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Rectangle 307">
                <a:extLst>
                  <a:ext uri="{FF2B5EF4-FFF2-40B4-BE49-F238E27FC236}">
                    <a16:creationId xmlns:a16="http://schemas.microsoft.com/office/drawing/2014/main" id="{30BB5E92-0185-4F42-B7CC-A0945DFC0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6" name="Line 308">
                <a:extLst>
                  <a:ext uri="{FF2B5EF4-FFF2-40B4-BE49-F238E27FC236}">
                    <a16:creationId xmlns:a16="http://schemas.microsoft.com/office/drawing/2014/main" id="{DA90B327-5310-420C-806E-AA328140B7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1" name="Group 313">
              <a:extLst>
                <a:ext uri="{FF2B5EF4-FFF2-40B4-BE49-F238E27FC236}">
                  <a16:creationId xmlns:a16="http://schemas.microsoft.com/office/drawing/2014/main" id="{151CF26F-CEDB-4133-9782-1A75A4CDF5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5" y="3228"/>
              <a:ext cx="530" cy="234"/>
              <a:chOff x="3124" y="1430"/>
              <a:chExt cx="530" cy="234"/>
            </a:xfrm>
          </p:grpSpPr>
          <p:sp>
            <p:nvSpPr>
              <p:cNvPr id="51" name="AutoShape 314">
                <a:extLst>
                  <a:ext uri="{FF2B5EF4-FFF2-40B4-BE49-F238E27FC236}">
                    <a16:creationId xmlns:a16="http://schemas.microsoft.com/office/drawing/2014/main" id="{C482FC3D-6B3B-492F-9172-D402C3613A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Rectangle 315">
                <a:extLst>
                  <a:ext uri="{FF2B5EF4-FFF2-40B4-BE49-F238E27FC236}">
                    <a16:creationId xmlns:a16="http://schemas.microsoft.com/office/drawing/2014/main" id="{19C2BEA2-AAD0-453B-8D84-1C5E6A389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3" name="Line 316">
                <a:extLst>
                  <a:ext uri="{FF2B5EF4-FFF2-40B4-BE49-F238E27FC236}">
                    <a16:creationId xmlns:a16="http://schemas.microsoft.com/office/drawing/2014/main" id="{4FBDF1C9-3487-4D00-BB81-E3F443E3A9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2" name="Group 321">
              <a:extLst>
                <a:ext uri="{FF2B5EF4-FFF2-40B4-BE49-F238E27FC236}">
                  <a16:creationId xmlns:a16="http://schemas.microsoft.com/office/drawing/2014/main" id="{FCA9378B-EBA7-4F54-832D-46B83C43F2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8" y="3034"/>
              <a:ext cx="530" cy="234"/>
              <a:chOff x="3124" y="1430"/>
              <a:chExt cx="530" cy="234"/>
            </a:xfrm>
          </p:grpSpPr>
          <p:sp>
            <p:nvSpPr>
              <p:cNvPr id="48" name="AutoShape 322">
                <a:extLst>
                  <a:ext uri="{FF2B5EF4-FFF2-40B4-BE49-F238E27FC236}">
                    <a16:creationId xmlns:a16="http://schemas.microsoft.com/office/drawing/2014/main" id="{F6B78BE2-600E-4E5D-8DDB-BE403F4CFB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Rectangle 323">
                <a:extLst>
                  <a:ext uri="{FF2B5EF4-FFF2-40B4-BE49-F238E27FC236}">
                    <a16:creationId xmlns:a16="http://schemas.microsoft.com/office/drawing/2014/main" id="{6A861CE9-DFD3-41E8-91EF-B5451AD8B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0" name="Line 324">
                <a:extLst>
                  <a:ext uri="{FF2B5EF4-FFF2-40B4-BE49-F238E27FC236}">
                    <a16:creationId xmlns:a16="http://schemas.microsoft.com/office/drawing/2014/main" id="{3376BA7C-3804-430D-A9B2-61FBB5D852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" name="Group 325">
              <a:extLst>
                <a:ext uri="{FF2B5EF4-FFF2-40B4-BE49-F238E27FC236}">
                  <a16:creationId xmlns:a16="http://schemas.microsoft.com/office/drawing/2014/main" id="{8E3C003B-1423-4426-BAB5-70E4D9C2F1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8" y="2850"/>
              <a:ext cx="530" cy="234"/>
              <a:chOff x="3124" y="1430"/>
              <a:chExt cx="530" cy="234"/>
            </a:xfrm>
          </p:grpSpPr>
          <p:sp>
            <p:nvSpPr>
              <p:cNvPr id="45" name="AutoShape 326">
                <a:extLst>
                  <a:ext uri="{FF2B5EF4-FFF2-40B4-BE49-F238E27FC236}">
                    <a16:creationId xmlns:a16="http://schemas.microsoft.com/office/drawing/2014/main" id="{5250DCD0-DC11-42CA-9B9C-CAB0B6123D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1492"/>
                <a:ext cx="472" cy="136"/>
              </a:xfrm>
              <a:prstGeom prst="roundRect">
                <a:avLst>
                  <a:gd name="adj" fmla="val 254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66"/>
                  </a:solidFill>
                  <a:effectLst/>
                  <a:uLnTx/>
                  <a:uFillTx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Rectangle 327">
                <a:extLst>
                  <a:ext uri="{FF2B5EF4-FFF2-40B4-BE49-F238E27FC236}">
                    <a16:creationId xmlns:a16="http://schemas.microsoft.com/office/drawing/2014/main" id="{2A411FCD-8019-420C-ACC9-534217ADCE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1430"/>
                <a:ext cx="256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47" name="Line 328">
                <a:extLst>
                  <a:ext uri="{FF2B5EF4-FFF2-40B4-BE49-F238E27FC236}">
                    <a16:creationId xmlns:a16="http://schemas.microsoft.com/office/drawing/2014/main" id="{BA55DC52-36C4-4437-ADF6-E908E5705A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Object 421">
                  <a:extLst>
                    <a:ext uri="{FF2B5EF4-FFF2-40B4-BE49-F238E27FC236}">
                      <a16:creationId xmlns:a16="http://schemas.microsoft.com/office/drawing/2014/main" id="{02F9DB3B-362C-4B75-91CB-178D34219FC3}"/>
                    </a:ext>
                  </a:extLst>
                </p:cNvPr>
                <p:cNvSpPr txBox="1"/>
                <p:nvPr/>
              </p:nvSpPr>
              <p:spPr bwMode="auto">
                <a:xfrm>
                  <a:off x="4504" y="3109"/>
                  <a:ext cx="256" cy="2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zh-CN" alt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外</m:t>
                            </m:r>
                          </m:sub>
                        </m:sSub>
                      </m:oMath>
                    </m:oMathPara>
                  </a14:m>
                  <a:endParaRPr lang="zh-CN" altLang="en-US" sz="26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Object 421">
                  <a:extLst>
                    <a:ext uri="{FF2B5EF4-FFF2-40B4-BE49-F238E27FC236}">
                      <a16:creationId xmlns:a16="http://schemas.microsoft.com/office/drawing/2014/main" id="{02F9DB3B-362C-4B75-91CB-178D34219F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04" y="3109"/>
                  <a:ext cx="256" cy="255"/>
                </a:xfrm>
                <a:prstGeom prst="rect">
                  <a:avLst/>
                </a:prstGeom>
                <a:blipFill>
                  <a:blip r:embed="rId4"/>
                  <a:stretch>
                    <a:fillRect r="-69492" b="-319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A7B9D8AF-13B0-4FB2-B3CE-1E5D576EC30F}"/>
              </a:ext>
            </a:extLst>
          </p:cNvPr>
          <p:cNvSpPr/>
          <p:nvPr/>
        </p:nvSpPr>
        <p:spPr>
          <a:xfrm>
            <a:off x="878117" y="3401435"/>
            <a:ext cx="416693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在外电场中，电介质表面出现束缚电荷层的现象</a:t>
            </a:r>
            <a:endParaRPr lang="en-US" sz="28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087292-0049-4B1D-883D-CE15FC45DDDF}"/>
              </a:ext>
            </a:extLst>
          </p:cNvPr>
          <p:cNvSpPr/>
          <p:nvPr/>
        </p:nvSpPr>
        <p:spPr>
          <a:xfrm>
            <a:off x="5860994" y="733459"/>
            <a:ext cx="21900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电极化强度</a:t>
            </a:r>
            <a:endParaRPr lang="en-US" sz="28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" name="内容占位符 2">
            <a:extLst>
              <a:ext uri="{FF2B5EF4-FFF2-40B4-BE49-F238E27FC236}">
                <a16:creationId xmlns:a16="http://schemas.microsoft.com/office/drawing/2014/main" id="{87C15AD9-854C-4911-8CCF-1692F1B31130}"/>
              </a:ext>
            </a:extLst>
          </p:cNvPr>
          <p:cNvSpPr txBox="1">
            <a:spLocks/>
          </p:cNvSpPr>
          <p:nvPr/>
        </p:nvSpPr>
        <p:spPr>
          <a:xfrm>
            <a:off x="6022085" y="1306035"/>
            <a:ext cx="5997450" cy="6920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电介质中，单位体积内分子电矩的矢量和，量度电介质的极化程度</a:t>
            </a:r>
          </a:p>
        </p:txBody>
      </p:sp>
      <p:graphicFrame>
        <p:nvGraphicFramePr>
          <p:cNvPr id="107" name="Object 6">
            <a:extLst>
              <a:ext uri="{FF2B5EF4-FFF2-40B4-BE49-F238E27FC236}">
                <a16:creationId xmlns:a16="http://schemas.microsoft.com/office/drawing/2014/main" id="{48F2D03B-9895-4A3C-BB3D-13E25D7E8E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36911" y="2243530"/>
          <a:ext cx="2060467" cy="920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公式" r:id="rId5" imgW="1333500" imgH="571500" progId="Equation.3">
                  <p:embed/>
                </p:oleObj>
              </mc:Choice>
              <mc:Fallback>
                <p:oleObj name="公式" r:id="rId5" imgW="1333500" imgH="571500" progId="Equation.3">
                  <p:embed/>
                  <p:pic>
                    <p:nvPicPr>
                      <p:cNvPr id="107" name="Object 6">
                        <a:extLst>
                          <a:ext uri="{FF2B5EF4-FFF2-40B4-BE49-F238E27FC236}">
                            <a16:creationId xmlns:a16="http://schemas.microsoft.com/office/drawing/2014/main" id="{48F2D03B-9895-4A3C-BB3D-13E25D7E8E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6911" y="2243530"/>
                        <a:ext cx="2060467" cy="920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Text Box 9">
            <a:extLst>
              <a:ext uri="{FF2B5EF4-FFF2-40B4-BE49-F238E27FC236}">
                <a16:creationId xmlns:a16="http://schemas.microsoft.com/office/drawing/2014/main" id="{90D7CF9B-047C-4DE4-8A45-510BC8E18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8232" y="3291289"/>
            <a:ext cx="56453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2800" b="0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="0" i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V </a:t>
            </a:r>
            <a:r>
              <a:rPr lang="en-US" altLang="zh-CN" sz="2800" b="0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 </a:t>
            </a:r>
            <a:r>
              <a:rPr lang="zh-CN" altLang="en-US" sz="2800" b="0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宏观小、微观大的体积元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Object 33">
                <a:extLst>
                  <a:ext uri="{FF2B5EF4-FFF2-40B4-BE49-F238E27FC236}">
                    <a16:creationId xmlns:a16="http://schemas.microsoft.com/office/drawing/2014/main" id="{1D7EA38F-CCBE-4D45-8EE8-FE66D9919AF7}"/>
                  </a:ext>
                </a:extLst>
              </p:cNvPr>
              <p:cNvSpPr txBox="1"/>
              <p:nvPr/>
            </p:nvSpPr>
            <p:spPr bwMode="auto">
              <a:xfrm>
                <a:off x="8618431" y="2420541"/>
                <a:ext cx="1216025" cy="6937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3" name="Object 33">
                <a:extLst>
                  <a:ext uri="{FF2B5EF4-FFF2-40B4-BE49-F238E27FC236}">
                    <a16:creationId xmlns:a16="http://schemas.microsoft.com/office/drawing/2014/main" id="{1D7EA38F-CCBE-4D45-8EE8-FE66D9919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18431" y="2420541"/>
                <a:ext cx="1216025" cy="6937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Text Box 9">
            <a:extLst>
              <a:ext uri="{FF2B5EF4-FFF2-40B4-BE49-F238E27FC236}">
                <a16:creationId xmlns:a16="http://schemas.microsoft.com/office/drawing/2014/main" id="{9D59043E-C15B-4DF9-8F44-08A959CD7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9693" y="2448043"/>
            <a:ext cx="205707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b="0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均匀极化</a:t>
            </a:r>
            <a:endParaRPr lang="zh-CN" altLang="en-US" sz="2800" b="0" dirty="0">
              <a:solidFill>
                <a:srgbClr val="FF0000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Object 23">
                <a:extLst>
                  <a:ext uri="{FF2B5EF4-FFF2-40B4-BE49-F238E27FC236}">
                    <a16:creationId xmlns:a16="http://schemas.microsoft.com/office/drawing/2014/main" id="{7448E454-DC90-426C-B3A9-31ACDAAA19AA}"/>
                  </a:ext>
                </a:extLst>
              </p:cNvPr>
              <p:cNvSpPr txBox="1"/>
              <p:nvPr/>
            </p:nvSpPr>
            <p:spPr bwMode="auto">
              <a:xfrm>
                <a:off x="5011318" y="4646526"/>
                <a:ext cx="1944687" cy="663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5" name="Object 23">
                <a:extLst>
                  <a:ext uri="{FF2B5EF4-FFF2-40B4-BE49-F238E27FC236}">
                    <a16:creationId xmlns:a16="http://schemas.microsoft.com/office/drawing/2014/main" id="{7448E454-DC90-426C-B3A9-31ACDAAA1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1318" y="4646526"/>
                <a:ext cx="1944687" cy="6635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Object 24">
                <a:extLst>
                  <a:ext uri="{FF2B5EF4-FFF2-40B4-BE49-F238E27FC236}">
                    <a16:creationId xmlns:a16="http://schemas.microsoft.com/office/drawing/2014/main" id="{1A46BF36-775C-42A6-91C8-4D037F7503C5}"/>
                  </a:ext>
                </a:extLst>
              </p:cNvPr>
              <p:cNvSpPr txBox="1"/>
              <p:nvPr/>
            </p:nvSpPr>
            <p:spPr bwMode="auto">
              <a:xfrm>
                <a:off x="7237241" y="5229410"/>
                <a:ext cx="2147140" cy="7224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6" name="Object 24">
                <a:extLst>
                  <a:ext uri="{FF2B5EF4-FFF2-40B4-BE49-F238E27FC236}">
                    <a16:creationId xmlns:a16="http://schemas.microsoft.com/office/drawing/2014/main" id="{1A46BF36-775C-42A6-91C8-4D037F750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37241" y="5229410"/>
                <a:ext cx="2147140" cy="722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Object 41">
                <a:extLst>
                  <a:ext uri="{FF2B5EF4-FFF2-40B4-BE49-F238E27FC236}">
                    <a16:creationId xmlns:a16="http://schemas.microsoft.com/office/drawing/2014/main" id="{D223ADC0-4913-4047-998B-9CA34A1CC495}"/>
                  </a:ext>
                </a:extLst>
              </p:cNvPr>
              <p:cNvSpPr txBox="1"/>
              <p:nvPr/>
            </p:nvSpPr>
            <p:spPr bwMode="auto">
              <a:xfrm>
                <a:off x="7323350" y="4456912"/>
                <a:ext cx="476250" cy="57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7" name="Object 41">
                <a:extLst>
                  <a:ext uri="{FF2B5EF4-FFF2-40B4-BE49-F238E27FC236}">
                    <a16:creationId xmlns:a16="http://schemas.microsoft.com/office/drawing/2014/main" id="{D223ADC0-4913-4047-998B-9CA34A1CC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23350" y="4456912"/>
                <a:ext cx="476250" cy="5715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Rectangle 1090">
            <a:extLst>
              <a:ext uri="{FF2B5EF4-FFF2-40B4-BE49-F238E27FC236}">
                <a16:creationId xmlns:a16="http://schemas.microsoft.com/office/drawing/2014/main" id="{3786547D-4CA1-4923-B6D8-EC74237F4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111" y="4640316"/>
            <a:ext cx="3384550" cy="580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50000"/>
              </a:spcBef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50000"/>
              </a:spcBef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50000"/>
              </a:spcBef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50000"/>
              </a:spcBef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50000"/>
              </a:spcBef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各向同性线性电介质</a:t>
            </a:r>
          </a:p>
        </p:txBody>
      </p:sp>
      <p:sp>
        <p:nvSpPr>
          <p:cNvPr id="131" name="Text Box 1095">
            <a:extLst>
              <a:ext uri="{FF2B5EF4-FFF2-40B4-BE49-F238E27FC236}">
                <a16:creationId xmlns:a16="http://schemas.microsoft.com/office/drawing/2014/main" id="{1AE13002-4012-4620-86BE-432D66E72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144" y="4519065"/>
            <a:ext cx="28130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电介质的极化率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0963363B-99CF-440A-88CE-BA03A47F2F2F}"/>
                  </a:ext>
                </a:extLst>
              </p:cNvPr>
              <p:cNvSpPr/>
              <p:nvPr/>
            </p:nvSpPr>
            <p:spPr>
              <a:xfrm>
                <a:off x="7315212" y="5942303"/>
                <a:ext cx="59426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0963363B-99CF-440A-88CE-BA03A47F2F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12" y="5942303"/>
                <a:ext cx="59426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 134">
            <a:extLst>
              <a:ext uri="{FF2B5EF4-FFF2-40B4-BE49-F238E27FC236}">
                <a16:creationId xmlns:a16="http://schemas.microsoft.com/office/drawing/2014/main" id="{7201B9C8-3773-49DC-9AD2-E4D8D711B663}"/>
              </a:ext>
            </a:extLst>
          </p:cNvPr>
          <p:cNvSpPr/>
          <p:nvPr/>
        </p:nvSpPr>
        <p:spPr>
          <a:xfrm>
            <a:off x="7745115" y="5951854"/>
            <a:ext cx="3775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电介质的相对介电常量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C1846-E637-4585-BC36-BD0E67940028}"/>
              </a:ext>
            </a:extLst>
          </p:cNvPr>
          <p:cNvSpPr/>
          <p:nvPr/>
        </p:nvSpPr>
        <p:spPr>
          <a:xfrm>
            <a:off x="812435" y="5553698"/>
            <a:ext cx="464612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dirty="0">
                <a:solidFill>
                  <a:srgbClr val="121212"/>
                </a:solidFill>
                <a:latin typeface="-apple-system"/>
              </a:rPr>
              <a:t>-</a:t>
            </a:r>
            <a:r>
              <a:rPr lang="zh-CN" altLang="en-US" sz="2600" dirty="0">
                <a:solidFill>
                  <a:srgbClr val="121212"/>
                </a:solidFill>
                <a:latin typeface="-apple-system"/>
              </a:rPr>
              <a:t>介电常数与场强的大小无关 </a:t>
            </a:r>
            <a:endParaRPr lang="en-US" altLang="zh-CN" sz="2600" dirty="0">
              <a:solidFill>
                <a:srgbClr val="121212"/>
              </a:solidFill>
              <a:latin typeface="-apple-system"/>
            </a:endParaRPr>
          </a:p>
          <a:p>
            <a:r>
              <a:rPr lang="en-US" altLang="zh-CN" sz="2600" dirty="0">
                <a:solidFill>
                  <a:srgbClr val="121212"/>
                </a:solidFill>
                <a:latin typeface="-apple-system"/>
              </a:rPr>
              <a:t>- </a:t>
            </a:r>
            <a:r>
              <a:rPr lang="zh-CN" altLang="en-US" sz="2600" dirty="0">
                <a:solidFill>
                  <a:srgbClr val="121212"/>
                </a:solidFill>
                <a:latin typeface="-apple-system"/>
              </a:rPr>
              <a:t>与外加场强方向无关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11495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06" grpId="0"/>
      <p:bldP spid="108" grpId="0"/>
      <p:bldP spid="123" grpId="0"/>
      <p:bldP spid="124" grpId="0"/>
      <p:bldP spid="125" grpId="0"/>
      <p:bldP spid="126" grpId="0"/>
      <p:bldP spid="127" grpId="0"/>
      <p:bldP spid="129" grpId="0"/>
      <p:bldP spid="131" grpId="0"/>
      <p:bldP spid="133" grpId="0"/>
      <p:bldP spid="1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93704" y="2096782"/>
                <a:ext cx="5964864" cy="4023360"/>
              </a:xfrm>
            </p:spPr>
            <p:txBody>
              <a:bodyPr>
                <a:noAutofit/>
              </a:bodyPr>
              <a:lstStyle/>
              <a:p>
                <a:pPr marL="0" indent="0" eaLnBrk="0" fontAlgn="base" hangingPunct="0">
                  <a:lnSpc>
                    <a:spcPct val="13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  <a:defRPr/>
                </a:pPr>
                <a:r>
                  <a:rPr lang="zh-CN" altLang="en-US" dirty="0"/>
                  <a:t>表面 </a:t>
                </a:r>
                <a:r>
                  <a:rPr lang="en-US" altLang="zh-CN" dirty="0" err="1"/>
                  <a:t>d</a:t>
                </a:r>
                <a:r>
                  <a:rPr lang="en-US" altLang="zh-CN" i="1" dirty="0" err="1"/>
                  <a:t>S</a:t>
                </a:r>
                <a:r>
                  <a:rPr lang="en-US" altLang="zh-CN" i="1" dirty="0"/>
                  <a:t> </a:t>
                </a:r>
                <a:r>
                  <a:rPr lang="zh-CN" altLang="en-US" dirty="0"/>
                  <a:t>附近出现的束缚电荷：</a:t>
                </a:r>
                <a:endParaRPr lang="en-US" altLang="zh-CN" dirty="0"/>
              </a:p>
              <a:p>
                <a:pPr marL="0" indent="0" eaLnBrk="0" fontAlgn="base" hangingPunct="0">
                  <a:lnSpc>
                    <a:spcPct val="13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𝑛𝑞𝑑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𝑛𝑞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𝑺</m:t>
                              </m:r>
                            </m:e>
                          </m:acc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𝑛𝑞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𝑺</m:t>
                          </m:r>
                        </m:e>
                      </m:acc>
                    </m:oMath>
                  </m:oMathPara>
                </a14:m>
                <a:endParaRPr lang="en-US" altLang="zh-CN" dirty="0"/>
              </a:p>
              <a:p>
                <a:pPr marL="0" indent="0" eaLnBrk="0" fontAlgn="base" hangingPunct="0">
                  <a:lnSpc>
                    <a:spcPct val="13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𝑺</m:t>
                          </m:r>
                        </m:e>
                      </m:acc>
                    </m:oMath>
                  </m:oMathPara>
                </a14:m>
                <a:endParaRPr lang="en-US" altLang="zh-CN" dirty="0"/>
              </a:p>
              <a:p>
                <a:pPr marL="0" indent="0" eaLnBrk="0" fontAlgn="base" hangingPunct="0">
                  <a:lnSpc>
                    <a:spcPct val="13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  <a:defRPr/>
                </a:pPr>
                <a:r>
                  <a:rPr lang="zh-CN" altLang="en-US" dirty="0"/>
                  <a:t>极化电荷面密度</a:t>
                </a:r>
                <a:endParaRPr lang="en-US" altLang="zh-CN" dirty="0"/>
              </a:p>
              <a:p>
                <a:pPr marL="0" indent="0" eaLnBrk="0" fontAlgn="base" hangingPunct="0">
                  <a:lnSpc>
                    <a:spcPct val="13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𝑑𝑆</m:t>
                          </m:r>
                        </m:den>
                      </m:f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𝑺</m:t>
                          </m:r>
                        </m:e>
                      </m:acc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93704" y="2096782"/>
                <a:ext cx="5964864" cy="4023360"/>
              </a:xfrm>
              <a:blipFill>
                <a:blip r:embed="rId3"/>
                <a:stretch>
                  <a:fillRect l="-2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052" y="1342667"/>
            <a:ext cx="2725362" cy="3534712"/>
          </a:xfrm>
        </p:spPr>
      </p:pic>
      <p:sp>
        <p:nvSpPr>
          <p:cNvPr id="85" name="Rectangle 25"/>
          <p:cNvSpPr>
            <a:spLocks noChangeArrowheads="1"/>
          </p:cNvSpPr>
          <p:nvPr/>
        </p:nvSpPr>
        <p:spPr bwMode="auto">
          <a:xfrm>
            <a:off x="747547" y="5838370"/>
            <a:ext cx="690499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0" lang="zh-CN" altLang="en-US" sz="2800" b="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束缚电荷面密度，等于</a:t>
            </a:r>
            <a:r>
              <a:rPr lang="zh-CN" altLang="en-US" sz="2800" b="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电极化强度的法向分量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6CE40521-7745-4AD7-A3DB-A88A57689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451" y="944382"/>
            <a:ext cx="57601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+mn-ea"/>
                <a:ea typeface="+mn-ea"/>
              </a:rPr>
              <a:t>小面元</a:t>
            </a:r>
            <a:r>
              <a:rPr lang="en-US" altLang="zh-CN" sz="2800" i="1" dirty="0" err="1">
                <a:latin typeface="+mn-ea"/>
                <a:ea typeface="+mn-ea"/>
              </a:rPr>
              <a:t>dS</a:t>
            </a:r>
            <a:r>
              <a:rPr lang="en-US" altLang="zh-CN" sz="2800" i="1" dirty="0">
                <a:latin typeface="+mn-ea"/>
                <a:ea typeface="+mn-ea"/>
              </a:rPr>
              <a:t> </a:t>
            </a:r>
            <a:r>
              <a:rPr lang="zh-CN" altLang="en-US" sz="2800" dirty="0">
                <a:latin typeface="+mn-ea"/>
                <a:ea typeface="+mn-ea"/>
              </a:rPr>
              <a:t>对面</a:t>
            </a:r>
            <a:r>
              <a:rPr lang="en-US" altLang="zh-CN" sz="2800" i="1" dirty="0">
                <a:latin typeface="+mn-ea"/>
                <a:ea typeface="+mn-ea"/>
              </a:rPr>
              <a:t>S</a:t>
            </a:r>
            <a:r>
              <a:rPr lang="zh-CN" altLang="en-US" sz="2800" dirty="0">
                <a:latin typeface="+mn-ea"/>
                <a:ea typeface="+mn-ea"/>
              </a:rPr>
              <a:t>内极化电荷的贡献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ED95CD89-FB11-4FFE-B0F2-5AC167CA7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936" y="1587339"/>
            <a:ext cx="56710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+mn-ea"/>
                <a:ea typeface="+mn-ea"/>
              </a:rPr>
              <a:t>在</a:t>
            </a:r>
            <a:r>
              <a:rPr lang="en-US" altLang="zh-CN" sz="2800" i="1" dirty="0" err="1">
                <a:latin typeface="+mn-ea"/>
                <a:ea typeface="+mn-ea"/>
              </a:rPr>
              <a:t>dS</a:t>
            </a:r>
            <a:r>
              <a:rPr lang="en-US" altLang="zh-CN" sz="2800" i="1" dirty="0">
                <a:latin typeface="+mn-ea"/>
                <a:ea typeface="+mn-ea"/>
              </a:rPr>
              <a:t> </a:t>
            </a:r>
            <a:r>
              <a:rPr lang="zh-CN" altLang="en-US" sz="2800" dirty="0">
                <a:latin typeface="+mn-ea"/>
                <a:ea typeface="+mn-ea"/>
              </a:rPr>
              <a:t>附近薄层内认为介质均匀极化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8DB1BB-70D4-4B86-A21B-33570D65C9C6}"/>
              </a:ext>
            </a:extLst>
          </p:cNvPr>
          <p:cNvSpPr/>
          <p:nvPr/>
        </p:nvSpPr>
        <p:spPr>
          <a:xfrm>
            <a:off x="7215449" y="713549"/>
            <a:ext cx="35269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C0000"/>
                </a:solidFill>
                <a:latin typeface="华文楷体" panose="02010600040101010101" pitchFamily="2" charset="-122"/>
              </a:rPr>
              <a:t>只考虑穿过</a:t>
            </a:r>
            <a:r>
              <a:rPr lang="en-US" altLang="zh-CN" sz="2800" i="1" dirty="0" err="1">
                <a:solidFill>
                  <a:srgbClr val="CC0000"/>
                </a:solidFill>
                <a:latin typeface="华文楷体" panose="02010600040101010101" pitchFamily="2" charset="-122"/>
              </a:rPr>
              <a:t>d</a:t>
            </a:r>
            <a:r>
              <a:rPr lang="en-US" altLang="zh-CN" sz="2800" i="1" dirty="0" err="1">
                <a:solidFill>
                  <a:srgbClr val="CC0000"/>
                </a:solidFill>
              </a:rPr>
              <a:t>S</a:t>
            </a:r>
            <a:r>
              <a:rPr lang="en-US" altLang="zh-CN" sz="2800" i="1" dirty="0">
                <a:solidFill>
                  <a:srgbClr val="CC0000"/>
                </a:solidFill>
              </a:rPr>
              <a:t> </a:t>
            </a:r>
            <a:r>
              <a:rPr lang="zh-CN" altLang="en-US" sz="2800" dirty="0">
                <a:solidFill>
                  <a:srgbClr val="CC0000"/>
                </a:solidFill>
                <a:latin typeface="华文楷体" panose="02010600040101010101" pitchFamily="2" charset="-122"/>
              </a:rPr>
              <a:t>的分子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CFA67A9-4845-40A1-B066-858A9190EF97}"/>
                  </a:ext>
                </a:extLst>
              </p:cNvPr>
              <p:cNvSpPr/>
              <p:nvPr/>
            </p:nvSpPr>
            <p:spPr>
              <a:xfrm>
                <a:off x="8335536" y="5122597"/>
                <a:ext cx="2652906" cy="7157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800" dirty="0">
                    <a:solidFill>
                      <a:srgbClr val="0066FF"/>
                    </a:solidFill>
                  </a:rPr>
                  <a:t>q'</a:t>
                </a:r>
                <a:r>
                  <a:rPr kumimoji="1" lang="en-US" altLang="zh-CN" sz="2800" baseline="-25000" dirty="0" err="1">
                    <a:solidFill>
                      <a:srgbClr val="0066FF"/>
                    </a:solidFill>
                  </a:rPr>
                  <a:t>out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∯"/>
                        <m:ctrlPr>
                          <a:rPr kumimoji="1" lang="zh-CN" altLang="en-US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kumimoji="1" lang="en-US" altLang="zh-CN" sz="28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  <m:r>
                          <m:rPr>
                            <m:brk m:alnAt="23"/>
                          </m:rPr>
                          <a:rPr kumimoji="1" lang="zh-CN" altLang="en-US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kumimoji="1" lang="en-US" altLang="zh-CN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kumimoji="1" lang="en-US" altLang="zh-CN" sz="28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</m:nary>
                  </m:oMath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CFA67A9-4845-40A1-B066-858A9190E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536" y="5122597"/>
                <a:ext cx="2652906" cy="715773"/>
              </a:xfrm>
              <a:prstGeom prst="rect">
                <a:avLst/>
              </a:prstGeom>
              <a:blipFill>
                <a:blip r:embed="rId5"/>
                <a:stretch>
                  <a:fillRect l="-4587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BBC2AE2-4689-47D8-AB41-8DC70877D2A4}"/>
                  </a:ext>
                </a:extLst>
              </p:cNvPr>
              <p:cNvSpPr/>
              <p:nvPr/>
            </p:nvSpPr>
            <p:spPr>
              <a:xfrm>
                <a:off x="8335536" y="5762640"/>
                <a:ext cx="2961260" cy="7150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800" dirty="0">
                    <a:solidFill>
                      <a:srgbClr val="0066FF"/>
                    </a:solidFill>
                  </a:rPr>
                  <a:t>q'</a:t>
                </a:r>
                <a:r>
                  <a:rPr kumimoji="1" lang="en-US" altLang="zh-CN" sz="2800" baseline="-25000" dirty="0" err="1">
                    <a:solidFill>
                      <a:srgbClr val="0066FF"/>
                    </a:solidFill>
                  </a:rPr>
                  <a:t>in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∯"/>
                        <m:ctrlPr>
                          <a:rPr kumimoji="1" lang="zh-CN" altLang="en-US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kumimoji="1" lang="en-US" altLang="zh-CN" sz="28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  <m:r>
                          <m:rPr>
                            <m:brk m:alnAt="23"/>
                          </m:rPr>
                          <a:rPr kumimoji="1" lang="zh-CN" altLang="en-US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kumimoji="1" lang="en-US" altLang="zh-CN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kumimoji="1" lang="en-US" altLang="zh-CN" sz="28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</m:nary>
                  </m:oMath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BBC2AE2-4689-47D8-AB41-8DC70877D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536" y="5762640"/>
                <a:ext cx="2961260" cy="715004"/>
              </a:xfrm>
              <a:prstGeom prst="rect">
                <a:avLst/>
              </a:prstGeom>
              <a:blipFill>
                <a:blip r:embed="rId6"/>
                <a:stretch>
                  <a:fillRect l="-4115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45BDEAB7-7709-177B-7811-13123F9F21FA}"/>
              </a:ext>
            </a:extLst>
          </p:cNvPr>
          <p:cNvSpPr/>
          <p:nvPr/>
        </p:nvSpPr>
        <p:spPr>
          <a:xfrm>
            <a:off x="765268" y="239870"/>
            <a:ext cx="52758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束缚电荷与极化强度关系</a:t>
            </a:r>
            <a:endParaRPr lang="en-US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161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7" grpId="0"/>
      <p:bldP spid="8" grpId="0"/>
      <p:bldP spid="3" grpId="0"/>
      <p:bldP spid="5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D4AF0D-DA06-4F01-A35B-4454D90B471C}"/>
              </a:ext>
            </a:extLst>
          </p:cNvPr>
          <p:cNvSpPr/>
          <p:nvPr/>
        </p:nvSpPr>
        <p:spPr>
          <a:xfrm>
            <a:off x="1295979" y="600210"/>
            <a:ext cx="48926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altLang="zh-CN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有电介质时的高斯定理</a:t>
            </a: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4D536BE1-C5CC-4774-8B03-2E1121D5D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519" y="1813391"/>
            <a:ext cx="1339568" cy="533400"/>
          </a:xfrm>
          <a:prstGeom prst="wedgeRoundRectCallout">
            <a:avLst>
              <a:gd name="adj1" fmla="val 47946"/>
              <a:gd name="adj2" fmla="val 101235"/>
              <a:gd name="adj3" fmla="val 16667"/>
            </a:avLst>
          </a:prstGeom>
          <a:solidFill>
            <a:srgbClr val="3787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ea typeface="华文楷体" panose="02010600040101010101" pitchFamily="2" charset="-122"/>
                <a:cs typeface="Times New Roman" panose="02020603050405020304" pitchFamily="18" charset="0"/>
              </a:rPr>
              <a:t>总电场</a:t>
            </a:r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C1C60A59-0D0C-417B-AAA3-B0BF21826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293" y="1430235"/>
            <a:ext cx="1755195" cy="615341"/>
          </a:xfrm>
          <a:prstGeom prst="wedgeRoundRectCallout">
            <a:avLst>
              <a:gd name="adj1" fmla="val -34757"/>
              <a:gd name="adj2" fmla="val 118109"/>
              <a:gd name="adj3" fmla="val 16667"/>
            </a:avLst>
          </a:prstGeom>
          <a:solidFill>
            <a:srgbClr val="3787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ea typeface="华文楷体" panose="02010600040101010101" pitchFamily="2" charset="-122"/>
                <a:cs typeface="Times New Roman" panose="02020603050405020304" pitchFamily="18" charset="0"/>
              </a:rPr>
              <a:t>极化电荷</a:t>
            </a: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1873B9E7-963F-4C80-81A8-BAF217E6A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227" y="1462435"/>
            <a:ext cx="1710190" cy="609600"/>
          </a:xfrm>
          <a:prstGeom prst="wedgeRoundRectCallout">
            <a:avLst>
              <a:gd name="adj1" fmla="val 13077"/>
              <a:gd name="adj2" fmla="val 108963"/>
              <a:gd name="adj3" fmla="val 16667"/>
            </a:avLst>
          </a:prstGeom>
          <a:solidFill>
            <a:srgbClr val="3787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ea typeface="华文楷体" panose="02010600040101010101" pitchFamily="2" charset="-122"/>
                <a:cs typeface="Times New Roman" panose="02020603050405020304" pitchFamily="18" charset="0"/>
              </a:rPr>
              <a:t>自由电荷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6C85FFE-DE62-4BE5-9181-AE8A6D0353A1}"/>
                  </a:ext>
                </a:extLst>
              </p:cNvPr>
              <p:cNvSpPr txBox="1"/>
              <p:nvPr/>
            </p:nvSpPr>
            <p:spPr>
              <a:xfrm>
                <a:off x="1682808" y="2477709"/>
                <a:ext cx="4172424" cy="10063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kumimoji="1" lang="zh-CN" altLang="en-US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kumimoji="1" lang="zh-CN" altLang="en-US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kumimoji="1" lang="en-US" altLang="zh-CN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  <m:r>
                        <a:rPr kumimoji="1" lang="en-US" altLang="zh-CN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kumimoji="1" lang="en-US" altLang="zh-CN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nary>
                          <m:r>
                            <a:rPr kumimoji="1" lang="en-US" altLang="zh-CN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kumimoji="1" lang="en-US" altLang="zh-CN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kumimoji="1" lang="en-US" altLang="zh-CN" sz="2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p>
                                  <m:r>
                                    <a:rPr kumimoji="1" lang="en-US" altLang="zh-CN" sz="2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2800" b="1" i="1" u="none" strike="noStrike" kern="1200" cap="none" spc="0" normalizeH="0" baseline="-2500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𝒊𝒏</m:t>
                              </m:r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kumimoji="1" lang="en-US" altLang="zh-CN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kumimoji="1" lang="en-US" altLang="zh-CN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6C85FFE-DE62-4BE5-9181-AE8A6D035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2808" y="2477709"/>
                <a:ext cx="4172424" cy="10063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FEB104C-0066-4E94-9298-D3D82CBD4CB1}"/>
                  </a:ext>
                </a:extLst>
              </p:cNvPr>
              <p:cNvSpPr/>
              <p:nvPr/>
            </p:nvSpPr>
            <p:spPr>
              <a:xfrm>
                <a:off x="5931195" y="2580493"/>
                <a:ext cx="3983665" cy="8007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kumimoji="1"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nary>
                      </m:num>
                      <m:den>
                        <m:sSub>
                          <m:sSubPr>
                            <m:ctrlPr>
                              <a:rPr kumimoji="1"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kumimoji="1"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kumimoji="1"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kumimoji="1"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kumimoji="1"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kumimoji="1"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∯"/>
                        <m:ctrlPr>
                          <a:rPr kumimoji="1" lang="zh-CN" alt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kumimoji="1"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acc>
                        <m:r>
                          <m:rPr>
                            <m:brk m:alnAt="23"/>
                          </m:rPr>
                          <a:rPr kumimoji="1" lang="zh-CN" alt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acc>
                          <m:accPr>
                            <m:chr m:val="⃗"/>
                            <m:ctrlPr>
                              <a:rPr kumimoji="1"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acc>
                      </m:e>
                    </m:nary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FEB104C-0066-4E94-9298-D3D82CBD4C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1195" y="2580493"/>
                <a:ext cx="3983665" cy="800732"/>
              </a:xfrm>
              <a:prstGeom prst="rect">
                <a:avLst/>
              </a:prstGeom>
              <a:blipFill>
                <a:blip r:embed="rId3"/>
                <a:stretch>
                  <a:fillRect l="-3216"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1FC4D25-E3D6-4AEA-A724-8779D5A0D5D6}"/>
                  </a:ext>
                </a:extLst>
              </p:cNvPr>
              <p:cNvSpPr/>
              <p:nvPr/>
            </p:nvSpPr>
            <p:spPr>
              <a:xfrm>
                <a:off x="6891670" y="4648511"/>
                <a:ext cx="3317801" cy="19708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defRPr/>
                </a:pPr>
                <a:endParaRPr lang="en-US" altLang="zh-CN" sz="2800" b="1" dirty="0">
                  <a:solidFill>
                    <a:schemeClr val="tx1"/>
                  </a:solidFill>
                  <a:latin typeface="华文楷体" panose="02010600040101010101" pitchFamily="2" charset="-122"/>
                </a:endParaRPr>
              </a:p>
              <a:p>
                <a:pPr lvl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nary>
                        <m:naryPr>
                          <m:chr m:val="∯"/>
                          <m:ctrlP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  <m:r>
                        <a:rPr lang="en-US" altLang="zh-CN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1FC4D25-E3D6-4AEA-A724-8779D5A0D5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670" y="4648511"/>
                <a:ext cx="3317801" cy="19708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D7A49590-61FE-4CD4-B69E-F5DAF38B0828}"/>
                  </a:ext>
                </a:extLst>
              </p:cNvPr>
              <p:cNvSpPr/>
              <p:nvPr/>
            </p:nvSpPr>
            <p:spPr>
              <a:xfrm>
                <a:off x="3999879" y="3671671"/>
                <a:ext cx="2961260" cy="7150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800" b="1" dirty="0">
                    <a:solidFill>
                      <a:schemeClr val="tx1"/>
                    </a:solidFill>
                  </a:rPr>
                  <a:t>q'</a:t>
                </a:r>
                <a:r>
                  <a:rPr kumimoji="1" lang="en-US" altLang="zh-CN" sz="2800" b="1" baseline="-25000" dirty="0" err="1">
                    <a:solidFill>
                      <a:schemeClr val="tx1"/>
                    </a:solidFill>
                  </a:rPr>
                  <a:t>in</a:t>
                </a:r>
                <a14:m>
                  <m:oMath xmlns:m="http://schemas.openxmlformats.org/officeDocument/2006/math">
                    <m:r>
                      <a:rPr kumimoji="1" lang="en-US" altLang="zh-CN" sz="2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∯"/>
                        <m:ctrlPr>
                          <a:rPr kumimoji="1" lang="zh-CN" alt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kumimoji="1"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acc>
                        <m:r>
                          <m:rPr>
                            <m:brk m:alnAt="23"/>
                          </m:rPr>
                          <a:rPr kumimoji="1" lang="zh-CN" alt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acc>
                          <m:accPr>
                            <m:chr m:val="⃗"/>
                            <m:ctrlPr>
                              <a:rPr kumimoji="1"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acc>
                      </m:e>
                    </m:nary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D7A49590-61FE-4CD4-B69E-F5DAF38B08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879" y="3671671"/>
                <a:ext cx="2961260" cy="715004"/>
              </a:xfrm>
              <a:prstGeom prst="rect">
                <a:avLst/>
              </a:prstGeom>
              <a:blipFill>
                <a:blip r:embed="rId5"/>
                <a:stretch>
                  <a:fillRect l="-4115" b="-135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36719DB-704E-4FF8-B777-6EB5EDEF6390}"/>
                  </a:ext>
                </a:extLst>
              </p:cNvPr>
              <p:cNvSpPr/>
              <p:nvPr/>
            </p:nvSpPr>
            <p:spPr>
              <a:xfrm>
                <a:off x="1451492" y="4574336"/>
                <a:ext cx="4062009" cy="10986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acc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brk m:alnAt="23"/>
                            </m:r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36719DB-704E-4FF8-B777-6EB5EDEF63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492" y="4574336"/>
                <a:ext cx="4062009" cy="10986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D105B81-F30A-42BA-89E9-7CFA901D61A9}"/>
                  </a:ext>
                </a:extLst>
              </p:cNvPr>
              <p:cNvSpPr/>
              <p:nvPr/>
            </p:nvSpPr>
            <p:spPr>
              <a:xfrm>
                <a:off x="5972891" y="4665874"/>
                <a:ext cx="4097707" cy="6231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defRPr/>
                </a:pPr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电位移：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acc>
                      <m:accPr>
                        <m:chr m:val="⃗"/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  <m:r>
                      <a:rPr kumimoji="1"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</m:acc>
                  </m:oMath>
                </a14:m>
                <a:endParaRPr kumimoji="1" lang="en-US" altLang="zh-CN" sz="2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D105B81-F30A-42BA-89E9-7CFA901D61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2891" y="4665874"/>
                <a:ext cx="4097707" cy="623184"/>
              </a:xfrm>
              <a:prstGeom prst="rect">
                <a:avLst/>
              </a:prstGeom>
              <a:blipFill>
                <a:blip r:embed="rId7"/>
                <a:stretch>
                  <a:fillRect b="-26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5893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/>
      <p:bldP spid="9" grpId="0"/>
      <p:bldP spid="12" grpId="0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30865" y="1004222"/>
            <a:ext cx="10515600" cy="1325563"/>
          </a:xfrm>
        </p:spPr>
        <p:txBody>
          <a:bodyPr>
            <a:normAutofit/>
          </a:bodyPr>
          <a:lstStyle/>
          <a:p>
            <a:r>
              <a:rPr kumimoji="1"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</a:rPr>
              <a:t>各向同性电介质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>
              <a:xfrm>
                <a:off x="2731829" y="1722016"/>
                <a:ext cx="5473700" cy="1006475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zh-CN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kumimoji="1"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kumimoji="1"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−1) </m:t>
                      </m:r>
                      <m:acc>
                        <m:accPr>
                          <m:chr m:val="⃗"/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内容占位符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31829" y="1722016"/>
                <a:ext cx="5473700" cy="10064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F4A0330-FA81-40E6-85FA-18879961D626}"/>
                  </a:ext>
                </a:extLst>
              </p:cNvPr>
              <p:cNvSpPr/>
              <p:nvPr/>
            </p:nvSpPr>
            <p:spPr>
              <a:xfrm>
                <a:off x="1377950" y="2598301"/>
                <a:ext cx="3803650" cy="8170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kumimoji="1"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</m:oMath>
                  </m:oMathPara>
                </a14:m>
                <a:endParaRPr kumimoji="1" lang="en-US" altLang="zh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F4A0330-FA81-40E6-85FA-18879961D6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950" y="2598301"/>
                <a:ext cx="3803650" cy="8170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20DD093-7921-427C-B612-5678F046ECB7}"/>
                  </a:ext>
                </a:extLst>
              </p:cNvPr>
              <p:cNvSpPr/>
              <p:nvPr/>
            </p:nvSpPr>
            <p:spPr>
              <a:xfrm>
                <a:off x="4191158" y="2733797"/>
                <a:ext cx="3612079" cy="5754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−1) 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20DD093-7921-427C-B612-5678F046EC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158" y="2733797"/>
                <a:ext cx="3612079" cy="5754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9930005-BC75-4F8F-BBBF-0E5160924485}"/>
                  </a:ext>
                </a:extLst>
              </p:cNvPr>
              <p:cNvSpPr/>
              <p:nvPr/>
            </p:nvSpPr>
            <p:spPr>
              <a:xfrm>
                <a:off x="7675584" y="2733797"/>
                <a:ext cx="1574149" cy="5754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9930005-BC75-4F8F-BBBF-0E5160924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584" y="2733797"/>
                <a:ext cx="1574149" cy="5754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E58E05D-864B-412D-A405-E563079C348F}"/>
                  </a:ext>
                </a:extLst>
              </p:cNvPr>
              <p:cNvSpPr/>
              <p:nvPr/>
            </p:nvSpPr>
            <p:spPr>
              <a:xfrm>
                <a:off x="694322" y="3572277"/>
                <a:ext cx="6096000" cy="7386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ctr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令</m:t>
                      </m:r>
                      <m:r>
                        <a:rPr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kumimoji="1"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E58E05D-864B-412D-A405-E563079C34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22" y="3572277"/>
                <a:ext cx="6096000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77CE0CD-A787-437E-A912-9897EC22862C}"/>
                  </a:ext>
                </a:extLst>
              </p:cNvPr>
              <p:cNvSpPr/>
              <p:nvPr/>
            </p:nvSpPr>
            <p:spPr>
              <a:xfrm>
                <a:off x="6923657" y="4189820"/>
                <a:ext cx="1832104" cy="8170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⃗"/>
                          <m:ctrlPr>
                            <a:rPr kumimoji="1"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acc>
                      <m:r>
                        <a:rPr kumimoji="1" lang="en-US" altLang="zh-C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zh-CN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acc>
                    </m:oMath>
                  </m:oMathPara>
                </a14:m>
                <a:endParaRPr kumimoji="1" lang="en-US" altLang="zh-C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77CE0CD-A787-437E-A912-9897EC2286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657" y="4189820"/>
                <a:ext cx="1832104" cy="8170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094">
            <a:extLst>
              <a:ext uri="{FF2B5EF4-FFF2-40B4-BE49-F238E27FC236}">
                <a16:creationId xmlns:a16="http://schemas.microsoft.com/office/drawing/2014/main" id="{264689D9-0A44-4C1A-9EA5-CAF2E4918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38" y="4426744"/>
            <a:ext cx="4751387" cy="580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电容率（电介质的介电常量）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07731DC-2454-4C9E-AFEF-66EB43DFA043}"/>
                  </a:ext>
                </a:extLst>
              </p:cNvPr>
              <p:cNvSpPr/>
              <p:nvPr/>
            </p:nvSpPr>
            <p:spPr>
              <a:xfrm>
                <a:off x="4881378" y="4598361"/>
                <a:ext cx="3324151" cy="19708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defRPr/>
                </a:pPr>
                <a:endParaRPr lang="en-US" altLang="zh-CN" sz="2800" b="1" dirty="0">
                  <a:solidFill>
                    <a:srgbClr val="0066FF"/>
                  </a:solidFill>
                  <a:latin typeface="华文楷体" panose="02010600040101010101" pitchFamily="2" charset="-122"/>
                </a:endParaRPr>
              </a:p>
              <a:p>
                <a:pPr lvl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𝜺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  <m:r>
                        <a:rPr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07731DC-2454-4C9E-AFEF-66EB43DFA0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378" y="4598361"/>
                <a:ext cx="3324151" cy="19708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A1E00309-3E19-51FA-C7AA-E63669A42E28}"/>
              </a:ext>
            </a:extLst>
          </p:cNvPr>
          <p:cNvSpPr/>
          <p:nvPr/>
        </p:nvSpPr>
        <p:spPr>
          <a:xfrm>
            <a:off x="1295979" y="600210"/>
            <a:ext cx="48926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altLang="zh-CN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有电介质时的高斯定理</a:t>
            </a:r>
          </a:p>
        </p:txBody>
      </p:sp>
    </p:spTree>
    <p:extLst>
      <p:ext uri="{BB962C8B-B14F-4D97-AF65-F5344CB8AC3E}">
        <p14:creationId xmlns:p14="http://schemas.microsoft.com/office/powerpoint/2010/main" val="100446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例：一半径为</a:t>
                </a:r>
                <a14:m>
                  <m:oMath xmlns:m="http://schemas.openxmlformats.org/officeDocument/2006/math">
                    <m:r>
                      <a:rPr kumimoji="1" lang="en-US" altLang="zh-CN" sz="28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的金属球，带有电荷</a:t>
                </a:r>
                <a14:m>
                  <m:oMath xmlns:m="http://schemas.openxmlformats.org/officeDocument/2006/math">
                    <m:r>
                      <a:rPr kumimoji="1" lang="en-US" altLang="zh-CN" sz="28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kumimoji="1" lang="en-US" altLang="zh-CN" sz="2800" b="0" i="1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，浸埋在一个大油箱中，油的相对介电常数为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sz="28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，求球外电场和极化电荷分布。</a:t>
                </a:r>
                <a:endParaRPr lang="zh-CN" altLang="en-US" sz="28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17" b="-4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46735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  <a:defRPr/>
                </a:pPr>
                <a:r>
                  <a:rPr kumimoji="1" lang="zh-CN" altLang="en-US" dirty="0">
                    <a:solidFill>
                      <a:schemeClr val="tx1"/>
                    </a:solidFill>
                    <a:latin typeface="华文楷体" panose="02010600040101010101" pitchFamily="2" charset="-122"/>
                    <a:sym typeface="Wingdings" panose="05000000000000000000" pitchFamily="2" charset="2"/>
                  </a:rPr>
                  <a:t>过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P</m:t>
                    </m:r>
                  </m:oMath>
                </a14:m>
                <a:r>
                  <a:rPr kumimoji="1" lang="zh-CN" altLang="en-US" dirty="0">
                    <a:solidFill>
                      <a:schemeClr val="tx1"/>
                    </a:solidFill>
                    <a:latin typeface="华文楷体" panose="02010600040101010101" pitchFamily="2" charset="-122"/>
                    <a:sym typeface="Wingdings" panose="05000000000000000000" pitchFamily="2" charset="2"/>
                  </a:rPr>
                  <a:t>点作一半径为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r</m:t>
                    </m:r>
                  </m:oMath>
                </a14:m>
                <a:r>
                  <a:rPr kumimoji="1" lang="zh-CN" altLang="en-US" dirty="0">
                    <a:solidFill>
                      <a:schemeClr val="tx1"/>
                    </a:solidFill>
                    <a:latin typeface="华文楷体" panose="02010600040101010101" pitchFamily="2" charset="-122"/>
                    <a:sym typeface="Wingdings" panose="05000000000000000000" pitchFamily="2" charset="2"/>
                  </a:rPr>
                  <a:t>并与金属球同心的闭合球面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S</m:t>
                    </m:r>
                  </m:oMath>
                </a14:m>
                <a:r>
                  <a:rPr kumimoji="1" lang="zh-CN" altLang="en-US" dirty="0">
                    <a:solidFill>
                      <a:schemeClr val="tx1"/>
                    </a:solidFill>
                    <a:latin typeface="华文楷体" panose="02010600040101010101" pitchFamily="2" charset="-122"/>
                    <a:sym typeface="Wingdings" panose="05000000000000000000" pitchFamily="2" charset="2"/>
                  </a:rPr>
                  <a:t>，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zh-CN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</m:acc>
                    <m:r>
                      <a:rPr kumimoji="1" lang="en-US" altLang="zh-CN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acc>
                      <m:accPr>
                        <m:chr m:val="⃗"/>
                        <m:ctrlPr>
                          <a:rPr kumimoji="1"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zh-CN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</m:acc>
                  </m:oMath>
                </a14:m>
                <a:r>
                  <a:rPr kumimoji="1" lang="zh-CN" altLang="en-US" dirty="0">
                    <a:solidFill>
                      <a:schemeClr val="tx1"/>
                    </a:solidFill>
                    <a:latin typeface="华文楷体" panose="02010600040101010101" pitchFamily="2" charset="-122"/>
                    <a:sym typeface="Wingdings" panose="05000000000000000000" pitchFamily="2" charset="2"/>
                  </a:rPr>
                  <a:t>具球对称性</a:t>
                </a:r>
                <a:endParaRPr kumimoji="1" lang="en-US" altLang="zh-CN" dirty="0">
                  <a:solidFill>
                    <a:schemeClr val="tx1"/>
                  </a:solidFill>
                  <a:latin typeface="华文楷体" panose="02010600040101010101" pitchFamily="2" charset="-122"/>
                  <a:sym typeface="Wingdings" panose="05000000000000000000" pitchFamily="2" charset="2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  <a:defRPr/>
                </a:pPr>
                <a:r>
                  <a:rPr kumimoji="1" lang="zh-CN" altLang="en-US" dirty="0">
                    <a:solidFill>
                      <a:schemeClr val="tx1"/>
                    </a:solidFill>
                    <a:latin typeface="华文楷体" panose="02010600040101010101" pitchFamily="2" charset="-122"/>
                    <a:sym typeface="Wingdings" panose="05000000000000000000" pitchFamily="2" charset="2"/>
                  </a:rPr>
                  <a:t>由高斯定理知</a:t>
                </a:r>
                <a:endParaRPr lang="en-US" altLang="zh-CN" i="1" dirty="0">
                  <a:solidFill>
                    <a:schemeClr val="tx1"/>
                  </a:solidFill>
                  <a:latin typeface="Cambria Math" panose="02040503050406030204" pitchFamily="18" charset="0"/>
                  <a:ea typeface="华文新魏" panose="0201080004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lang="zh-CN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𝐷</m:t>
                              </m:r>
                            </m:e>
                          </m:acc>
                          <m:r>
                            <m:rPr>
                              <m:brk/>
                            </m:rPr>
                            <a:rPr lang="zh-CN" alt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∙</m:t>
                          </m:r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𝐷</m:t>
                      </m:r>
                      <m:r>
                        <a:rPr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∙4</m:t>
                      </m:r>
                      <m:r>
                        <a:rPr lang="zh-CN" alt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467350" cy="4351338"/>
              </a:xfrm>
              <a:blipFill>
                <a:blip r:embed="rId3"/>
                <a:stretch>
                  <a:fillRect l="-2344" t="-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2" y="2054073"/>
            <a:ext cx="3603048" cy="350550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7817EAE-6ED7-AF06-0B0E-8892073CC156}"/>
                  </a:ext>
                </a:extLst>
              </p:cNvPr>
              <p:cNvSpPr txBox="1"/>
              <p:nvPr/>
            </p:nvSpPr>
            <p:spPr>
              <a:xfrm>
                <a:off x="406402" y="5922962"/>
                <a:ext cx="6096000" cy="8302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𝐷</m:t>
                      </m:r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7817EAE-6ED7-AF06-0B0E-8892073CC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2" y="5922962"/>
                <a:ext cx="6096000" cy="8302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4718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472586" y="664747"/>
                <a:ext cx="8116529" cy="50987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矢量形式：</a:t>
                </a:r>
                <a:endParaRPr kumimoji="1"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𝐷</m:t>
                          </m:r>
                        </m:e>
                      </m:acc>
                      <m:r>
                        <a:rPr kumimoji="1" lang="en-US" altLang="zh-CN" sz="2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zh-CN" altLang="en-US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kumimoji="1"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任一点</a:t>
                </a:r>
                <a14:m>
                  <m:oMath xmlns:m="http://schemas.openxmlformats.org/officeDocument/2006/math">
                    <m:r>
                      <a:rPr kumimoji="1" lang="en-US" altLang="zh-CN" sz="28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𝑃</m:t>
                    </m:r>
                  </m:oMath>
                </a14:m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的场强：</a:t>
                </a:r>
                <a:endParaRPr kumimoji="1"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𝐸</m:t>
                          </m:r>
                        </m:e>
                      </m:acc>
                      <m:r>
                        <a:rPr kumimoji="1" lang="en-US" altLang="zh-CN" sz="2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𝐷</m:t>
                              </m:r>
                            </m:e>
                          </m:acc>
                        </m:num>
                        <m:den>
                          <m:r>
                            <a:rPr kumimoji="1" lang="zh-CN" altLang="en-US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  <m:r>
                        <a:rPr kumimoji="1" lang="en-US" altLang="zh-CN" sz="2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zh-CN" altLang="en-US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kumimoji="1" lang="en-US" altLang="zh-CN" sz="2800" b="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kumimoji="1" lang="en-US" altLang="zh-CN" sz="2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800" b="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en-US" altLang="zh-CN" sz="2800" dirty="0">
                  <a:solidFill>
                    <a:srgbClr val="0066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rgbClr val="0066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带电金属球周围充满均匀无限大电介质后，其场强减弱到真空时的</a:t>
                </a:r>
                <a14:m>
                  <m:oMath xmlns:m="http://schemas.openxmlformats.org/officeDocument/2006/math">
                    <m:r>
                      <a:rPr kumimoji="1" lang="en-US" altLang="zh-CN" sz="2800" b="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1/</m:t>
                    </m:r>
                    <m:sSub>
                      <m:sSubPr>
                        <m:ctrlPr>
                          <a:rPr kumimoji="1" lang="en-US" altLang="zh-C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kumimoji="1" lang="zh-CN" altLang="en-US" sz="2800" b="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𝜀</m:t>
                        </m:r>
                      </m:e>
                      <m:sub>
                        <m:r>
                          <a:rPr kumimoji="1" lang="en-US" altLang="zh-CN" sz="2800" b="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𝑟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66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倍。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586" y="664747"/>
                <a:ext cx="8116529" cy="5098768"/>
              </a:xfrm>
              <a:prstGeom prst="rect">
                <a:avLst/>
              </a:prstGeom>
              <a:blipFill>
                <a:blip r:embed="rId2"/>
                <a:stretch>
                  <a:fillRect l="-1578" b="-23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内容占位符 5">
            <a:extLst>
              <a:ext uri="{FF2B5EF4-FFF2-40B4-BE49-F238E27FC236}">
                <a16:creationId xmlns:a16="http://schemas.microsoft.com/office/drawing/2014/main" id="{08D089C8-F0FF-47EC-8B83-AB4ED256F1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286" y="746200"/>
            <a:ext cx="2967227" cy="288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835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569625" y="78757"/>
                <a:ext cx="8481250" cy="59257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电极化强度：</a:t>
                </a:r>
                <a:endParaRPr kumimoji="1" lang="en-US" altLang="zh-CN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𝑃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sub>
                      </m:sSub>
                      <m:r>
                        <a:rPr kumimoji="1"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−1)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𝐸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kumimoji="1"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kumimoji="1"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kumimoji="1" lang="en-US" altLang="zh-CN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面电荷密度：</a:t>
                </a:r>
                <a:endParaRPr kumimoji="1" lang="en-US" altLang="zh-CN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pPr>
                        <m:e>
                          <m:r>
                            <a:rPr kumimoji="1"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𝑃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𝑺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−</m:t>
                      </m:r>
                      <m:f>
                        <m:f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kumimoji="1"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kumimoji="1"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kumimoji="1"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kumimoji="1" lang="en-US" altLang="zh-CN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表面电荷总量为：</a:t>
                </a:r>
                <a:endParaRPr kumimoji="1" lang="en-US" altLang="zh-CN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𝑞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pPr>
                        <m:e>
                          <m:r>
                            <a:rPr kumimoji="1"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∙4</m:t>
                      </m:r>
                      <m:r>
                        <a:rPr kumimoji="1"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kumimoji="1"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en-US" altLang="zh-CN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800" b="1" dirty="0">
                    <a:solidFill>
                      <a:srgbClr val="0066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- </a:t>
                </a:r>
                <a:r>
                  <a:rPr kumimoji="1" lang="zh-CN" altLang="en-US" sz="2800" dirty="0">
                    <a:solidFill>
                      <a:srgbClr val="0066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总电荷量减小到自由电荷量的</a:t>
                </a:r>
                <a14:m>
                  <m:oMath xmlns:m="http://schemas.openxmlformats.org/officeDocument/2006/math">
                    <m:r>
                      <a:rPr kumimoji="1" lang="en-US" altLang="zh-CN" sz="2800" b="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1/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66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倍，这是</a:t>
                </a:r>
                <a:r>
                  <a:rPr kumimoji="1" lang="zh-CN" altLang="en-US" sz="2800" dirty="0">
                    <a:solidFill>
                      <a:srgbClr val="0066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离球心</a:t>
                </a:r>
                <a14:m>
                  <m:oMath xmlns:m="http://schemas.openxmlformats.org/officeDocument/2006/math">
                    <m:r>
                      <a:rPr kumimoji="1" lang="en-US" altLang="zh-CN" sz="2800" b="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𝑟</m:t>
                    </m:r>
                  </m:oMath>
                </a14:m>
                <a:r>
                  <a:rPr kumimoji="1" lang="zh-CN" altLang="en-US" sz="2800" dirty="0">
                    <a:solidFill>
                      <a:srgbClr val="0066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处</a:t>
                </a:r>
                <a:r>
                  <a:rPr kumimoji="1" lang="en-US" altLang="zh-CN" sz="2800" dirty="0">
                    <a:solidFill>
                      <a:srgbClr val="0066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P</a:t>
                </a:r>
                <a:r>
                  <a:rPr kumimoji="1" lang="zh-CN" altLang="en-US" sz="2800" dirty="0">
                    <a:solidFill>
                      <a:srgbClr val="0066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点的场强</a:t>
                </a:r>
                <a:r>
                  <a:rPr kumimoji="1" lang="zh-CN" altLang="en-US" sz="2800" dirty="0">
                    <a:solidFill>
                      <a:srgbClr val="0066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减小到真空时的</a:t>
                </a:r>
                <a14:m>
                  <m:oMath xmlns:m="http://schemas.openxmlformats.org/officeDocument/2006/math">
                    <m:r>
                      <a:rPr kumimoji="1" lang="en-US" altLang="zh-CN" sz="2800" b="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1/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66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倍的原因。</a:t>
                </a:r>
                <a:endParaRPr kumimoji="1" lang="en-US" altLang="zh-CN" sz="2800" dirty="0">
                  <a:solidFill>
                    <a:srgbClr val="0066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625" y="78757"/>
                <a:ext cx="8481250" cy="5925789"/>
              </a:xfrm>
              <a:prstGeom prst="rect">
                <a:avLst/>
              </a:prstGeom>
              <a:blipFill>
                <a:blip r:embed="rId2"/>
                <a:stretch>
                  <a:fillRect l="-1437" t="-206" b="-2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4">
            <a:extLst>
              <a:ext uri="{FF2B5EF4-FFF2-40B4-BE49-F238E27FC236}">
                <a16:creationId xmlns:a16="http://schemas.microsoft.com/office/drawing/2014/main" id="{7F3EBD68-760A-3C53-3982-E717D02C77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2" t="47500" r="40951" b="21292"/>
          <a:stretch/>
        </p:blipFill>
        <p:spPr bwMode="auto">
          <a:xfrm>
            <a:off x="9352375" y="2504382"/>
            <a:ext cx="2540000" cy="1849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6DFA14E-2831-D3A2-5274-783164C71FC9}"/>
                  </a:ext>
                </a:extLst>
              </p:cNvPr>
              <p:cNvSpPr txBox="1"/>
              <p:nvPr/>
            </p:nvSpPr>
            <p:spPr>
              <a:xfrm>
                <a:off x="1569625" y="6119504"/>
                <a:ext cx="60951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sz="2800" dirty="0">
                    <a:solidFill>
                      <a:srgbClr val="0066FF"/>
                    </a:solidFill>
                    <a:ea typeface="华文新魏" panose="02010800040101010101" pitchFamily="2" charset="-122"/>
                  </a:rPr>
                  <a:t>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80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pPr>
                      <m:e>
                        <m:r>
                          <a:rPr kumimoji="1" lang="en-US" altLang="zh-CN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𝑞</m:t>
                        </m:r>
                      </m:e>
                      <m:sup>
                        <m:r>
                          <a:rPr kumimoji="1" lang="en-US" altLang="zh-CN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′</m:t>
                        </m:r>
                      </m:sup>
                    </m:sSup>
                    <m:r>
                      <a:rPr kumimoji="1" lang="zh-CN" altLang="en-US" sz="2800" i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总与</m:t>
                    </m:r>
                  </m:oMath>
                </a14:m>
                <a:r>
                  <a:rPr lang="en-US" altLang="zh-CN" sz="2800" i="1" dirty="0">
                    <a:solidFill>
                      <a:srgbClr val="0066FF"/>
                    </a:solidFill>
                  </a:rPr>
                  <a:t>q</a:t>
                </a:r>
                <a:r>
                  <a:rPr lang="zh-CN" altLang="en-US" sz="2800" dirty="0">
                    <a:solidFill>
                      <a:srgbClr val="0066FF"/>
                    </a:solidFill>
                  </a:rPr>
                  <a:t>反号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6DFA14E-2831-D3A2-5274-783164C71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625" y="6119504"/>
                <a:ext cx="6095170" cy="523220"/>
              </a:xfrm>
              <a:prstGeom prst="rect">
                <a:avLst/>
              </a:prstGeom>
              <a:blipFill>
                <a:blip r:embed="rId4"/>
                <a:stretch>
                  <a:fillRect l="-2000" t="-15116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896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2438400" y="535782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真空中有一半径为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R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，带电量为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Q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的导体球，测得距球中心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O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为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r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（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r&gt;2R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 ）的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A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点场强为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E</a:t>
                </a:r>
                <a:r>
                  <a:rPr lang="en-US" altLang="zh-CN" sz="2600" baseline="-25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A0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，现以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A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为中心，再放上一个半径为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R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、相对介电常数为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𝜀</m:t>
                        </m:r>
                      </m:e>
                      <m:sub>
                        <m: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的介质球，如图所示，此时下列各式正确的是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2438400" y="535782"/>
                <a:ext cx="7315200" cy="2143125"/>
              </a:xfrm>
              <a:prstGeom prst="rect">
                <a:avLst/>
              </a:prstGeom>
              <a:blipFill>
                <a:blip r:embed="rId20"/>
                <a:stretch>
                  <a:fillRect l="-1500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3352800" y="27860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A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点场强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𝐸</m:t>
                        </m:r>
                      </m:e>
                      <m:sub>
                        <m: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𝐴</m:t>
                        </m:r>
                      </m:sub>
                    </m:sSub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𝐸</m:t>
                        </m:r>
                      </m:e>
                      <m:sub>
                        <m: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𝐴</m:t>
                        </m:r>
                        <m: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/</m:t>
                    </m:r>
                    <m:sSub>
                      <m:sSub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𝜀</m:t>
                        </m:r>
                      </m:e>
                      <m:sub>
                        <m: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𝑟</m:t>
                        </m:r>
                      </m:sub>
                    </m:sSub>
                  </m:oMath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3352800" y="2786063"/>
                <a:ext cx="6400800" cy="642938"/>
              </a:xfrm>
              <a:prstGeom prst="rect">
                <a:avLst/>
              </a:prstGeom>
              <a:blipFill>
                <a:blip r:embed="rId22"/>
                <a:stretch>
                  <a:fillRect l="-1714"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352801" y="3643313"/>
                <a:ext cx="3106994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zh-CN" altLang="en-US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𝐸</m:t>
                              </m:r>
                            </m:e>
                          </m:acc>
                          <m:r>
                            <m:rPr>
                              <m:brk/>
                            </m:rPr>
                            <a:rPr lang="zh-CN" altLang="en-US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∙</m:t>
                          </m:r>
                          <m: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6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3352801" y="3643313"/>
                <a:ext cx="3106994" cy="642938"/>
              </a:xfrm>
              <a:prstGeom prst="rect">
                <a:avLst/>
              </a:prstGeom>
              <a:blipFill>
                <a:blip r:embed="rId24"/>
                <a:stretch>
                  <a:fillRect b="-2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352800" y="4500563"/>
                <a:ext cx="2585884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zh-CN" altLang="en-US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𝐷</m:t>
                              </m:r>
                            </m:e>
                          </m:acc>
                          <m:r>
                            <m:rPr>
                              <m:brk/>
                            </m:rPr>
                            <a:rPr lang="zh-CN" altLang="en-US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∙</m:t>
                          </m:r>
                          <m: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6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=</m:t>
                      </m:r>
                      <m:r>
                        <a:rPr lang="en-US" altLang="zh-CN" sz="26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𝑄</m:t>
                      </m:r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3352800" y="4500563"/>
                <a:ext cx="2585884" cy="642938"/>
              </a:xfrm>
              <a:prstGeom prst="rect">
                <a:avLst/>
              </a:prstGeom>
              <a:blipFill>
                <a:blip r:embed="rId26"/>
                <a:stretch>
                  <a:fillRect b="-20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352800" y="53578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导体球上的面电荷密度</a:t>
                </a:r>
                <a14:m>
                  <m:oMath xmlns:m="http://schemas.openxmlformats.org/officeDocument/2006/math"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𝜎</m:t>
                    </m:r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𝑄</m:t>
                        </m:r>
                      </m:num>
                      <m:den>
                        <m: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4</m:t>
                        </m:r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𝜋</m:t>
                        </m:r>
                        <m:sSup>
                          <m:sSupPr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3352800" y="5357813"/>
                <a:ext cx="6400800" cy="642938"/>
              </a:xfrm>
              <a:prstGeom prst="rect">
                <a:avLst/>
              </a:prstGeom>
              <a:blipFill>
                <a:blip r:embed="rId28"/>
                <a:stretch>
                  <a:fillRect l="-1714" b="-1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96845" y="2141999"/>
            <a:ext cx="2965514" cy="3001502"/>
          </a:xfrm>
          <a:prstGeom prst="rect">
            <a:avLst/>
          </a:prstGeom>
        </p:spPr>
      </p:pic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7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58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587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58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75255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2">
            <a:extLst>
              <a:ext uri="{FF2B5EF4-FFF2-40B4-BE49-F238E27FC236}">
                <a16:creationId xmlns:a16="http://schemas.microsoft.com/office/drawing/2014/main" id="{A53AA0DB-A6AE-4D8F-8378-020070835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911" y="1008063"/>
            <a:ext cx="6264275" cy="1032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800"/>
              </a:lnSpc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000000"/>
                </a:solidFill>
                <a:ea typeface="华文楷体" panose="02010600040101010101" pitchFamily="2" charset="-122"/>
                <a:sym typeface="Monotype Sorts" pitchFamily="2" charset="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ea typeface="华文楷体" panose="02010600040101010101" pitchFamily="2" charset="-122"/>
                <a:sym typeface="Monotype Sorts" pitchFamily="2" charset="2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ea typeface="华文楷体" panose="02010600040101010101" pitchFamily="2" charset="-122"/>
                <a:sym typeface="Monotype Sorts" pitchFamily="2" charset="2"/>
              </a:rPr>
              <a:t>）</a:t>
            </a:r>
            <a:r>
              <a:rPr lang="zh-CN" altLang="en-US" sz="2800" dirty="0">
                <a:solidFill>
                  <a:srgbClr val="000000"/>
                </a:solidFill>
                <a:ea typeface="华文楷体" panose="02010600040101010101" pitchFamily="2" charset="-122"/>
              </a:rPr>
              <a:t>场强分布？</a:t>
            </a:r>
          </a:p>
          <a:p>
            <a:pPr>
              <a:lnSpc>
                <a:spcPts val="2800"/>
              </a:lnSpc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000000"/>
                </a:solidFill>
                <a:ea typeface="华文楷体" panose="02010600040101010101" pitchFamily="2" charset="-122"/>
                <a:sym typeface="Monotype Sorts" pitchFamily="2" charset="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ea typeface="华文楷体" panose="02010600040101010101" pitchFamily="2" charset="-122"/>
                <a:sym typeface="Monotype Sorts" pitchFamily="2" charset="2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ea typeface="华文楷体" panose="02010600040101010101" pitchFamily="2" charset="-122"/>
                <a:sym typeface="Monotype Sorts" pitchFamily="2" charset="2"/>
              </a:rPr>
              <a:t>）电极化强度</a:t>
            </a:r>
            <a:endParaRPr lang="zh-CN" altLang="en-US" sz="2800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grpSp>
        <p:nvGrpSpPr>
          <p:cNvPr id="95235" name="组合 2">
            <a:extLst>
              <a:ext uri="{FF2B5EF4-FFF2-40B4-BE49-F238E27FC236}">
                <a16:creationId xmlns:a16="http://schemas.microsoft.com/office/drawing/2014/main" id="{9EC87599-70B9-4FB9-97B1-CD1D5AD0CD12}"/>
              </a:ext>
            </a:extLst>
          </p:cNvPr>
          <p:cNvGrpSpPr>
            <a:grpSpLocks/>
          </p:cNvGrpSpPr>
          <p:nvPr/>
        </p:nvGrpSpPr>
        <p:grpSpPr bwMode="auto">
          <a:xfrm>
            <a:off x="659216" y="248633"/>
            <a:ext cx="8063693" cy="523220"/>
            <a:chOff x="-865476" y="304743"/>
            <a:chExt cx="8064437" cy="523231"/>
          </a:xfrm>
        </p:grpSpPr>
        <p:sp>
          <p:nvSpPr>
            <p:cNvPr id="95283" name="Text Box 12">
              <a:extLst>
                <a:ext uri="{FF2B5EF4-FFF2-40B4-BE49-F238E27FC236}">
                  <a16:creationId xmlns:a16="http://schemas.microsoft.com/office/drawing/2014/main" id="{F819D653-CB32-4CD4-AAB6-244B85B9C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65476" y="304743"/>
              <a:ext cx="8064437" cy="523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导体球置于均匀各向同性介质球壳中，</a:t>
              </a:r>
              <a:r>
                <a: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带电量为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284" name="Object 13">
                  <a:extLst>
                    <a:ext uri="{FF2B5EF4-FFF2-40B4-BE49-F238E27FC236}">
                      <a16:creationId xmlns:a16="http://schemas.microsoft.com/office/drawing/2014/main" id="{6E97A914-5974-41AA-AF68-A57AAF6752B3}"/>
                    </a:ext>
                  </a:extLst>
                </p:cNvPr>
                <p:cNvSpPr txBox="1"/>
                <p:nvPr/>
              </p:nvSpPr>
              <p:spPr bwMode="auto">
                <a:xfrm>
                  <a:off x="6632609" y="313711"/>
                  <a:ext cx="371475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5284" name="Object 13">
                  <a:extLst>
                    <a:ext uri="{FF2B5EF4-FFF2-40B4-BE49-F238E27FC236}">
                      <a16:creationId xmlns:a16="http://schemas.microsoft.com/office/drawing/2014/main" id="{6E97A914-5974-41AA-AF68-A57AAF675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32609" y="313711"/>
                  <a:ext cx="371475" cy="4572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2588" name="Object 44">
                <a:extLst>
                  <a:ext uri="{FF2B5EF4-FFF2-40B4-BE49-F238E27FC236}">
                    <a16:creationId xmlns:a16="http://schemas.microsoft.com/office/drawing/2014/main" id="{124D0DE9-47F8-4611-9B62-35167D311204}"/>
                  </a:ext>
                </a:extLst>
              </p:cNvPr>
              <p:cNvSpPr txBox="1"/>
              <p:nvPr/>
            </p:nvSpPr>
            <p:spPr bwMode="auto">
              <a:xfrm>
                <a:off x="4279541" y="2690024"/>
                <a:ext cx="1629886" cy="5127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2588" name="Object 44">
                <a:extLst>
                  <a:ext uri="{FF2B5EF4-FFF2-40B4-BE49-F238E27FC236}">
                    <a16:creationId xmlns:a16="http://schemas.microsoft.com/office/drawing/2014/main" id="{124D0DE9-47F8-4611-9B62-35167D311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9541" y="2690024"/>
                <a:ext cx="1629886" cy="5127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2589" name="Object 45">
                <a:extLst>
                  <a:ext uri="{FF2B5EF4-FFF2-40B4-BE49-F238E27FC236}">
                    <a16:creationId xmlns:a16="http://schemas.microsoft.com/office/drawing/2014/main" id="{45B7C989-E62C-43E2-86AF-8FA856A53307}"/>
                  </a:ext>
                </a:extLst>
              </p:cNvPr>
              <p:cNvSpPr txBox="1"/>
              <p:nvPr/>
            </p:nvSpPr>
            <p:spPr bwMode="auto">
              <a:xfrm>
                <a:off x="5870215" y="2690023"/>
                <a:ext cx="1420193" cy="5270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2589" name="Object 45">
                <a:extLst>
                  <a:ext uri="{FF2B5EF4-FFF2-40B4-BE49-F238E27FC236}">
                    <a16:creationId xmlns:a16="http://schemas.microsoft.com/office/drawing/2014/main" id="{45B7C989-E62C-43E2-86AF-8FA856A53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70215" y="2690023"/>
                <a:ext cx="1420193" cy="5270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2590" name="Object 46">
                <a:extLst>
                  <a:ext uri="{FF2B5EF4-FFF2-40B4-BE49-F238E27FC236}">
                    <a16:creationId xmlns:a16="http://schemas.microsoft.com/office/drawing/2014/main" id="{292FDEB3-EF13-4B2D-94FD-776F728EE55C}"/>
                  </a:ext>
                </a:extLst>
              </p:cNvPr>
              <p:cNvSpPr txBox="1"/>
              <p:nvPr/>
            </p:nvSpPr>
            <p:spPr bwMode="auto">
              <a:xfrm>
                <a:off x="2623890" y="2709866"/>
                <a:ext cx="1729967" cy="546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2590" name="Object 46">
                <a:extLst>
                  <a:ext uri="{FF2B5EF4-FFF2-40B4-BE49-F238E27FC236}">
                    <a16:creationId xmlns:a16="http://schemas.microsoft.com/office/drawing/2014/main" id="{292FDEB3-EF13-4B2D-94FD-776F728EE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3890" y="2709866"/>
                <a:ext cx="1729967" cy="546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47" name="对象 3">
                <a:extLst>
                  <a:ext uri="{FF2B5EF4-FFF2-40B4-BE49-F238E27FC236}">
                    <a16:creationId xmlns:a16="http://schemas.microsoft.com/office/drawing/2014/main" id="{D6DF6FB0-A1C1-4970-8785-A210DFCC6924}"/>
                  </a:ext>
                </a:extLst>
              </p:cNvPr>
              <p:cNvSpPr txBox="1"/>
              <p:nvPr/>
            </p:nvSpPr>
            <p:spPr bwMode="auto">
              <a:xfrm>
                <a:off x="1039871" y="3543453"/>
                <a:ext cx="2755789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 &lt;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447" name="对象 3">
                <a:extLst>
                  <a:ext uri="{FF2B5EF4-FFF2-40B4-BE49-F238E27FC236}">
                    <a16:creationId xmlns:a16="http://schemas.microsoft.com/office/drawing/2014/main" id="{D6DF6FB0-A1C1-4970-8785-A210DFCC6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9871" y="3543453"/>
                <a:ext cx="2755789" cy="5207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821860DD-6BDF-4B56-A2BF-105D25D3E0FF}"/>
                  </a:ext>
                </a:extLst>
              </p:cNvPr>
              <p:cNvSpPr txBox="1"/>
              <p:nvPr/>
            </p:nvSpPr>
            <p:spPr bwMode="auto">
              <a:xfrm>
                <a:off x="3759331" y="3382527"/>
                <a:ext cx="2925923" cy="846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821860DD-6BDF-4B56-A2BF-105D25D3E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59331" y="3382527"/>
                <a:ext cx="2925923" cy="846138"/>
              </a:xfrm>
              <a:prstGeom prst="rect">
                <a:avLst/>
              </a:prstGeom>
              <a:blipFill>
                <a:blip r:embed="rId8"/>
                <a:stretch>
                  <a:fillRect b="-374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08C489A0-8479-4D67-9BE3-B9DF670C346D}"/>
                  </a:ext>
                </a:extLst>
              </p:cNvPr>
              <p:cNvSpPr txBox="1"/>
              <p:nvPr/>
            </p:nvSpPr>
            <p:spPr bwMode="auto">
              <a:xfrm>
                <a:off x="6446778" y="3589981"/>
                <a:ext cx="2340060" cy="5286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08C489A0-8479-4D67-9BE3-B9DF670C3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46778" y="3589981"/>
                <a:ext cx="2340060" cy="5286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1FE84CF8-0BE9-4250-8C5F-20A45231051F}"/>
                  </a:ext>
                </a:extLst>
              </p:cNvPr>
              <p:cNvSpPr txBox="1"/>
              <p:nvPr/>
            </p:nvSpPr>
            <p:spPr bwMode="auto">
              <a:xfrm>
                <a:off x="943341" y="4497045"/>
                <a:ext cx="1612900" cy="8620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1FE84CF8-0BE9-4250-8C5F-20A452310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3341" y="4497045"/>
                <a:ext cx="1612900" cy="862012"/>
              </a:xfrm>
              <a:prstGeom prst="rect">
                <a:avLst/>
              </a:prstGeom>
              <a:blipFill>
                <a:blip r:embed="rId10"/>
                <a:stretch>
                  <a:fillRect r="-40152" b="-354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15231085-80C2-4600-A259-260AE65F11EE}"/>
                  </a:ext>
                </a:extLst>
              </p:cNvPr>
              <p:cNvSpPr txBox="1"/>
              <p:nvPr/>
            </p:nvSpPr>
            <p:spPr bwMode="auto">
              <a:xfrm>
                <a:off x="3314918" y="4497045"/>
                <a:ext cx="1646238" cy="835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𝑑𝑆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15231085-80C2-4600-A259-260AE65F1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918" y="4497045"/>
                <a:ext cx="1646238" cy="835025"/>
              </a:xfrm>
              <a:prstGeom prst="rect">
                <a:avLst/>
              </a:prstGeom>
              <a:blipFill>
                <a:blip r:embed="rId11"/>
                <a:stretch>
                  <a:fillRect r="-41852" b="-394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>
                <a:extLst>
                  <a:ext uri="{FF2B5EF4-FFF2-40B4-BE49-F238E27FC236}">
                    <a16:creationId xmlns:a16="http://schemas.microsoft.com/office/drawing/2014/main" id="{120F87B0-14FA-443E-A51F-254FFF146AB7}"/>
                  </a:ext>
                </a:extLst>
              </p:cNvPr>
              <p:cNvSpPr txBox="1"/>
              <p:nvPr/>
            </p:nvSpPr>
            <p:spPr bwMode="auto">
              <a:xfrm>
                <a:off x="5828915" y="4824077"/>
                <a:ext cx="3533857" cy="4921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⋅4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对象 8">
                <a:extLst>
                  <a:ext uri="{FF2B5EF4-FFF2-40B4-BE49-F238E27FC236}">
                    <a16:creationId xmlns:a16="http://schemas.microsoft.com/office/drawing/2014/main" id="{120F87B0-14FA-443E-A51F-254FFF146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8915" y="4824077"/>
                <a:ext cx="3533857" cy="49212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extLst>
                  <a:ext uri="{FF2B5EF4-FFF2-40B4-BE49-F238E27FC236}">
                    <a16:creationId xmlns:a16="http://schemas.microsoft.com/office/drawing/2014/main" id="{C038329C-45B1-493F-884A-A876A850DBB1}"/>
                  </a:ext>
                </a:extLst>
              </p:cNvPr>
              <p:cNvSpPr txBox="1"/>
              <p:nvPr/>
            </p:nvSpPr>
            <p:spPr bwMode="auto">
              <a:xfrm>
                <a:off x="8521282" y="4790145"/>
                <a:ext cx="684213" cy="4016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对象 9">
                <a:extLst>
                  <a:ext uri="{FF2B5EF4-FFF2-40B4-BE49-F238E27FC236}">
                    <a16:creationId xmlns:a16="http://schemas.microsoft.com/office/drawing/2014/main" id="{C038329C-45B1-493F-884A-A876A850D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21282" y="4790145"/>
                <a:ext cx="684213" cy="401637"/>
              </a:xfrm>
              <a:prstGeom prst="rect">
                <a:avLst/>
              </a:prstGeom>
              <a:blipFill>
                <a:blip r:embed="rId13"/>
                <a:stretch>
                  <a:fillRect b="-136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>
                <a:extLst>
                  <a:ext uri="{FF2B5EF4-FFF2-40B4-BE49-F238E27FC236}">
                    <a16:creationId xmlns:a16="http://schemas.microsoft.com/office/drawing/2014/main" id="{C61E62C1-C59A-44F1-B039-372451AC0E2D}"/>
                  </a:ext>
                </a:extLst>
              </p:cNvPr>
              <p:cNvSpPr txBox="1"/>
              <p:nvPr/>
            </p:nvSpPr>
            <p:spPr bwMode="auto">
              <a:xfrm>
                <a:off x="1148834" y="5600450"/>
                <a:ext cx="4553077" cy="973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对象 10">
                <a:extLst>
                  <a:ext uri="{FF2B5EF4-FFF2-40B4-BE49-F238E27FC236}">
                    <a16:creationId xmlns:a16="http://schemas.microsoft.com/office/drawing/2014/main" id="{C61E62C1-C59A-44F1-B039-372451AC0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8834" y="5600450"/>
                <a:ext cx="4553077" cy="97313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4" name="组合 11">
            <a:extLst>
              <a:ext uri="{FF2B5EF4-FFF2-40B4-BE49-F238E27FC236}">
                <a16:creationId xmlns:a16="http://schemas.microsoft.com/office/drawing/2014/main" id="{C295BC4A-DBCA-4ED4-95E5-7AE15FACC017}"/>
              </a:ext>
            </a:extLst>
          </p:cNvPr>
          <p:cNvGrpSpPr>
            <a:grpSpLocks/>
          </p:cNvGrpSpPr>
          <p:nvPr/>
        </p:nvGrpSpPr>
        <p:grpSpPr bwMode="auto">
          <a:xfrm>
            <a:off x="8528050" y="382588"/>
            <a:ext cx="2160587" cy="1841500"/>
            <a:chOff x="6659563" y="147638"/>
            <a:chExt cx="2160587" cy="1841500"/>
          </a:xfrm>
        </p:grpSpPr>
        <p:sp>
          <p:nvSpPr>
            <p:cNvPr id="85" name="椭圆 63">
              <a:extLst>
                <a:ext uri="{FF2B5EF4-FFF2-40B4-BE49-F238E27FC236}">
                  <a16:creationId xmlns:a16="http://schemas.microsoft.com/office/drawing/2014/main" id="{E8903B8C-0A38-4C95-B852-EE83D67B5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4236" y="692429"/>
              <a:ext cx="720080" cy="73213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grpSp>
          <p:nvGrpSpPr>
            <p:cNvPr id="86" name="组合 1">
              <a:extLst>
                <a:ext uri="{FF2B5EF4-FFF2-40B4-BE49-F238E27FC236}">
                  <a16:creationId xmlns:a16="http://schemas.microsoft.com/office/drawing/2014/main" id="{98B10A65-CF30-4707-8254-4C334B9EA4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59563" y="147638"/>
              <a:ext cx="2160587" cy="1841500"/>
              <a:chOff x="6659563" y="147638"/>
              <a:chExt cx="2160587" cy="1841500"/>
            </a:xfrm>
          </p:grpSpPr>
          <p:sp>
            <p:nvSpPr>
              <p:cNvPr id="87" name="AutoShape 73" descr="深色下对角线">
                <a:extLst>
                  <a:ext uri="{FF2B5EF4-FFF2-40B4-BE49-F238E27FC236}">
                    <a16:creationId xmlns:a16="http://schemas.microsoft.com/office/drawing/2014/main" id="{3B59E99F-3BD8-4E7A-9917-DD69626D6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59563" y="160991"/>
                <a:ext cx="1904716" cy="1828147"/>
              </a:xfrm>
              <a:custGeom>
                <a:avLst/>
                <a:gdLst>
                  <a:gd name="T0" fmla="*/ 2147483646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2147483646 w 21600"/>
                  <a:gd name="T7" fmla="*/ 2147483646 h 21600"/>
                  <a:gd name="T8" fmla="*/ 2147483646 w 21600"/>
                  <a:gd name="T9" fmla="*/ 2147483646 h 21600"/>
                  <a:gd name="T10" fmla="*/ 2147483646 w 21600"/>
                  <a:gd name="T11" fmla="*/ 2147483646 h 21600"/>
                  <a:gd name="T12" fmla="*/ 2147483646 w 21600"/>
                  <a:gd name="T13" fmla="*/ 2147483646 h 21600"/>
                  <a:gd name="T14" fmla="*/ 2147483646 w 21600"/>
                  <a:gd name="T15" fmla="*/ 2147483646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8 w 21600"/>
                  <a:gd name="T25" fmla="*/ 3172 h 21600"/>
                  <a:gd name="T26" fmla="*/ 18432 w 21600"/>
                  <a:gd name="T27" fmla="*/ 18428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024" y="10800"/>
                    </a:moveTo>
                    <a:cubicBezTo>
                      <a:pt x="3024" y="15095"/>
                      <a:pt x="6505" y="18576"/>
                      <a:pt x="10800" y="18576"/>
                    </a:cubicBezTo>
                    <a:cubicBezTo>
                      <a:pt x="15095" y="18576"/>
                      <a:pt x="18576" y="15095"/>
                      <a:pt x="18576" y="10800"/>
                    </a:cubicBezTo>
                    <a:cubicBezTo>
                      <a:pt x="18576" y="6505"/>
                      <a:pt x="15095" y="3024"/>
                      <a:pt x="10800" y="3024"/>
                    </a:cubicBezTo>
                    <a:cubicBezTo>
                      <a:pt x="6505" y="3024"/>
                      <a:pt x="3024" y="6505"/>
                      <a:pt x="3024" y="10800"/>
                    </a:cubicBezTo>
                    <a:close/>
                  </a:path>
                </a:pathLst>
              </a:custGeom>
              <a:pattFill prst="dkDnDiag">
                <a:fgClr>
                  <a:srgbClr val="00CC99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楷体" panose="02010600040101010101" pitchFamily="2" charset="-122"/>
                </a:endParaRPr>
              </a:p>
            </p:txBody>
          </p:sp>
          <p:sp>
            <p:nvSpPr>
              <p:cNvPr id="88" name="AutoShape 74" descr="深色上对角线">
                <a:extLst>
                  <a:ext uri="{FF2B5EF4-FFF2-40B4-BE49-F238E27FC236}">
                    <a16:creationId xmlns:a16="http://schemas.microsoft.com/office/drawing/2014/main" id="{E31C0397-774A-4659-B0BB-3B5E7CC852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8129" y="410355"/>
                <a:ext cx="1447584" cy="1329417"/>
              </a:xfrm>
              <a:custGeom>
                <a:avLst/>
                <a:gdLst>
                  <a:gd name="T0" fmla="*/ 2147483646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2147483646 w 21600"/>
                  <a:gd name="T7" fmla="*/ 2147483646 h 21600"/>
                  <a:gd name="T8" fmla="*/ 2147483646 w 21600"/>
                  <a:gd name="T9" fmla="*/ 2147483646 h 21600"/>
                  <a:gd name="T10" fmla="*/ 2147483646 w 21600"/>
                  <a:gd name="T11" fmla="*/ 2147483646 h 21600"/>
                  <a:gd name="T12" fmla="*/ 2147483646 w 21600"/>
                  <a:gd name="T13" fmla="*/ 2147483646 h 21600"/>
                  <a:gd name="T14" fmla="*/ 2147483646 w 21600"/>
                  <a:gd name="T15" fmla="*/ 2147483646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74 w 21600"/>
                  <a:gd name="T25" fmla="*/ 3174 h 21600"/>
                  <a:gd name="T26" fmla="*/ 18426 w 21600"/>
                  <a:gd name="T27" fmla="*/ 18426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pattFill prst="dkUpDiag">
                <a:fgClr>
                  <a:srgbClr val="CCCCFF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楷体" panose="02010600040101010101" pitchFamily="2" charset="-122"/>
                </a:endParaRPr>
              </a:p>
            </p:txBody>
          </p:sp>
          <p:sp>
            <p:nvSpPr>
              <p:cNvPr id="89" name="Line 75">
                <a:extLst>
                  <a:ext uri="{FF2B5EF4-FFF2-40B4-BE49-F238E27FC236}">
                    <a16:creationId xmlns:a16="http://schemas.microsoft.com/office/drawing/2014/main" id="{DBD1A263-061A-48EC-9A48-5017B62C4D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07159" y="1052033"/>
                <a:ext cx="160313" cy="320839"/>
              </a:xfrm>
              <a:prstGeom prst="line">
                <a:avLst/>
              </a:prstGeom>
              <a:noFill/>
              <a:ln w="28575">
                <a:solidFill>
                  <a:srgbClr val="2D23A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楷体" panose="02010600040101010101" pitchFamily="2" charset="-122"/>
                </a:endParaRPr>
              </a:p>
            </p:txBody>
          </p:sp>
          <p:sp>
            <p:nvSpPr>
              <p:cNvPr id="90" name="Line 76">
                <a:extLst>
                  <a:ext uri="{FF2B5EF4-FFF2-40B4-BE49-F238E27FC236}">
                    <a16:creationId xmlns:a16="http://schemas.microsoft.com/office/drawing/2014/main" id="{EACEA6A3-484C-4697-B3AA-867DB90184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121456" y="1052033"/>
                <a:ext cx="485703" cy="493965"/>
              </a:xfrm>
              <a:prstGeom prst="line">
                <a:avLst/>
              </a:prstGeom>
              <a:noFill/>
              <a:ln w="28575">
                <a:solidFill>
                  <a:srgbClr val="3333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楷体" panose="02010600040101010101" pitchFamily="2" charset="-122"/>
                </a:endParaRPr>
              </a:p>
            </p:txBody>
          </p:sp>
          <p:sp>
            <p:nvSpPr>
              <p:cNvPr id="91" name="Line 77">
                <a:extLst>
                  <a:ext uri="{FF2B5EF4-FFF2-40B4-BE49-F238E27FC236}">
                    <a16:creationId xmlns:a16="http://schemas.microsoft.com/office/drawing/2014/main" id="{A34D3F8A-5308-4C49-97F7-D33F23F3C1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659563" y="1052033"/>
                <a:ext cx="947596" cy="2223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楷体" panose="0201060004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Object 78">
                    <a:extLst>
                      <a:ext uri="{FF2B5EF4-FFF2-40B4-BE49-F238E27FC236}">
                        <a16:creationId xmlns:a16="http://schemas.microsoft.com/office/drawing/2014/main" id="{00D2C596-CE62-4AE3-BE36-20E656DD96F3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8458254" y="147638"/>
                    <a:ext cx="361896" cy="5447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/>
                  </a:p>
                </p:txBody>
              </p:sp>
            </mc:Choice>
            <mc:Fallback xmlns="">
              <p:sp>
                <p:nvSpPr>
                  <p:cNvPr id="92" name="Object 78">
                    <a:extLst>
                      <a:ext uri="{FF2B5EF4-FFF2-40B4-BE49-F238E27FC236}">
                        <a16:creationId xmlns:a16="http://schemas.microsoft.com/office/drawing/2014/main" id="{00D2C596-CE62-4AE3-BE36-20E656DD96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458254" y="147638"/>
                    <a:ext cx="361896" cy="54479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18644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Object 79">
                    <a:extLst>
                      <a:ext uri="{FF2B5EF4-FFF2-40B4-BE49-F238E27FC236}">
                        <a16:creationId xmlns:a16="http://schemas.microsoft.com/office/drawing/2014/main" id="{15062D9A-DE25-46CD-A314-07A1346D57AF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557379" y="941771"/>
                    <a:ext cx="433814" cy="44067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/>
                  </a:p>
                </p:txBody>
              </p:sp>
            </mc:Choice>
            <mc:Fallback xmlns="">
              <p:sp>
                <p:nvSpPr>
                  <p:cNvPr id="93" name="Object 79">
                    <a:extLst>
                      <a:ext uri="{FF2B5EF4-FFF2-40B4-BE49-F238E27FC236}">
                        <a16:creationId xmlns:a16="http://schemas.microsoft.com/office/drawing/2014/main" id="{15062D9A-DE25-46CD-A314-07A1346D57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557379" y="941771"/>
                    <a:ext cx="433814" cy="440673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817" r="-11268" b="-8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Object 80">
                    <a:extLst>
                      <a:ext uri="{FF2B5EF4-FFF2-40B4-BE49-F238E27FC236}">
                        <a16:creationId xmlns:a16="http://schemas.microsoft.com/office/drawing/2014/main" id="{243FA51D-7A77-44EA-A853-0B6914E19CEC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907058" y="535528"/>
                    <a:ext cx="342831" cy="4636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94" name="Object 80">
                    <a:extLst>
                      <a:ext uri="{FF2B5EF4-FFF2-40B4-BE49-F238E27FC236}">
                        <a16:creationId xmlns:a16="http://schemas.microsoft.com/office/drawing/2014/main" id="{243FA51D-7A77-44EA-A853-0B6914E19C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907058" y="535528"/>
                    <a:ext cx="342831" cy="46366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60714" b="-2632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Object 81">
                    <a:extLst>
                      <a:ext uri="{FF2B5EF4-FFF2-40B4-BE49-F238E27FC236}">
                        <a16:creationId xmlns:a16="http://schemas.microsoft.com/office/drawing/2014/main" id="{55D7E271-610A-42A1-B846-D40118C0518D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8105834" y="1395109"/>
                    <a:ext cx="377414" cy="4754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/>
                  </a:p>
                </p:txBody>
              </p:sp>
            </mc:Choice>
            <mc:Fallback xmlns="">
              <p:sp>
                <p:nvSpPr>
                  <p:cNvPr id="95" name="Object 81">
                    <a:extLst>
                      <a:ext uri="{FF2B5EF4-FFF2-40B4-BE49-F238E27FC236}">
                        <a16:creationId xmlns:a16="http://schemas.microsoft.com/office/drawing/2014/main" id="{55D7E271-610A-42A1-B846-D40118C051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105834" y="1395109"/>
                    <a:ext cx="377414" cy="47542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4516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Object 82">
                    <a:extLst>
                      <a:ext uri="{FF2B5EF4-FFF2-40B4-BE49-F238E27FC236}">
                        <a16:creationId xmlns:a16="http://schemas.microsoft.com/office/drawing/2014/main" id="{13183AF0-6779-45FA-80C5-1B25EBEB28AD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6747845" y="610797"/>
                    <a:ext cx="416443" cy="45295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/>
                  </a:p>
                </p:txBody>
              </p:sp>
            </mc:Choice>
            <mc:Fallback xmlns="">
              <p:sp>
                <p:nvSpPr>
                  <p:cNvPr id="96" name="Object 82">
                    <a:extLst>
                      <a:ext uri="{FF2B5EF4-FFF2-40B4-BE49-F238E27FC236}">
                        <a16:creationId xmlns:a16="http://schemas.microsoft.com/office/drawing/2014/main" id="{13183AF0-6779-45FA-80C5-1B25EBEB28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747845" y="610797"/>
                    <a:ext cx="416443" cy="452956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2899" r="-14493" b="-4054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Object 83">
                    <a:extLst>
                      <a:ext uri="{FF2B5EF4-FFF2-40B4-BE49-F238E27FC236}">
                        <a16:creationId xmlns:a16="http://schemas.microsoft.com/office/drawing/2014/main" id="{0B0E790E-197A-475C-9EED-7EA15D2D6B06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234152" y="1326406"/>
                    <a:ext cx="344694" cy="42598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/>
                  </a:p>
                </p:txBody>
              </p:sp>
            </mc:Choice>
            <mc:Fallback xmlns="">
              <p:sp>
                <p:nvSpPr>
                  <p:cNvPr id="97" name="Object 83">
                    <a:extLst>
                      <a:ext uri="{FF2B5EF4-FFF2-40B4-BE49-F238E27FC236}">
                        <a16:creationId xmlns:a16="http://schemas.microsoft.com/office/drawing/2014/main" id="{0B0E790E-197A-475C-9EED-7EA15D2D6B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234152" y="1326406"/>
                    <a:ext cx="344694" cy="42598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3509" r="-36842" b="-1142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E50E46D6-CCD0-4795-AA3F-01F7F796FA4C}"/>
              </a:ext>
            </a:extLst>
          </p:cNvPr>
          <p:cNvGrpSpPr>
            <a:grpSpLocks/>
          </p:cNvGrpSpPr>
          <p:nvPr/>
        </p:nvGrpSpPr>
        <p:grpSpPr bwMode="auto">
          <a:xfrm>
            <a:off x="9016651" y="3095132"/>
            <a:ext cx="2203450" cy="1839913"/>
            <a:chOff x="6659563" y="3533304"/>
            <a:chExt cx="2203450" cy="1839912"/>
          </a:xfrm>
        </p:grpSpPr>
        <p:sp>
          <p:nvSpPr>
            <p:cNvPr id="99" name="椭圆 64">
              <a:extLst>
                <a:ext uri="{FF2B5EF4-FFF2-40B4-BE49-F238E27FC236}">
                  <a16:creationId xmlns:a16="http://schemas.microsoft.com/office/drawing/2014/main" id="{DD2B9A37-7689-45FF-BFF9-B9D231BB3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4236" y="4098333"/>
              <a:ext cx="720080" cy="72085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grpSp>
          <p:nvGrpSpPr>
            <p:cNvPr id="100" name="组合 2">
              <a:extLst>
                <a:ext uri="{FF2B5EF4-FFF2-40B4-BE49-F238E27FC236}">
                  <a16:creationId xmlns:a16="http://schemas.microsoft.com/office/drawing/2014/main" id="{A15EDFDC-A9CC-4D53-876C-FB92A84B1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59563" y="3533304"/>
              <a:ext cx="2203450" cy="1839912"/>
              <a:chOff x="6659563" y="4468663"/>
              <a:chExt cx="2203160" cy="1840063"/>
            </a:xfrm>
          </p:grpSpPr>
          <p:sp>
            <p:nvSpPr>
              <p:cNvPr id="101" name="AutoShape 15" descr="深色下对角线">
                <a:extLst>
                  <a:ext uri="{FF2B5EF4-FFF2-40B4-BE49-F238E27FC236}">
                    <a16:creationId xmlns:a16="http://schemas.microsoft.com/office/drawing/2014/main" id="{24493D46-456A-4DAF-AFE8-797A5F4630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59563" y="4481513"/>
                <a:ext cx="1905000" cy="1827213"/>
              </a:xfrm>
              <a:custGeom>
                <a:avLst/>
                <a:gdLst>
                  <a:gd name="T0" fmla="*/ 2147483646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2147483646 w 21600"/>
                  <a:gd name="T7" fmla="*/ 2147483646 h 21600"/>
                  <a:gd name="T8" fmla="*/ 2147483646 w 21600"/>
                  <a:gd name="T9" fmla="*/ 2147483646 h 21600"/>
                  <a:gd name="T10" fmla="*/ 2147483646 w 21600"/>
                  <a:gd name="T11" fmla="*/ 2147483646 h 21600"/>
                  <a:gd name="T12" fmla="*/ 2147483646 w 21600"/>
                  <a:gd name="T13" fmla="*/ 2147483646 h 21600"/>
                  <a:gd name="T14" fmla="*/ 2147483646 w 21600"/>
                  <a:gd name="T15" fmla="*/ 2147483646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8 w 21600"/>
                  <a:gd name="T25" fmla="*/ 3172 h 21600"/>
                  <a:gd name="T26" fmla="*/ 18432 w 21600"/>
                  <a:gd name="T27" fmla="*/ 18428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024" y="10800"/>
                    </a:moveTo>
                    <a:cubicBezTo>
                      <a:pt x="3024" y="15095"/>
                      <a:pt x="6505" y="18576"/>
                      <a:pt x="10800" y="18576"/>
                    </a:cubicBezTo>
                    <a:cubicBezTo>
                      <a:pt x="15095" y="18576"/>
                      <a:pt x="18576" y="15095"/>
                      <a:pt x="18576" y="10800"/>
                    </a:cubicBezTo>
                    <a:cubicBezTo>
                      <a:pt x="18576" y="6505"/>
                      <a:pt x="15095" y="3024"/>
                      <a:pt x="10800" y="3024"/>
                    </a:cubicBezTo>
                    <a:cubicBezTo>
                      <a:pt x="6505" y="3024"/>
                      <a:pt x="3024" y="6505"/>
                      <a:pt x="3024" y="10800"/>
                    </a:cubicBezTo>
                    <a:close/>
                  </a:path>
                </a:pathLst>
              </a:custGeom>
              <a:pattFill prst="dkDnDiag">
                <a:fgClr>
                  <a:srgbClr val="00CC99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楷体" panose="02010600040101010101" pitchFamily="2" charset="-122"/>
                </a:endParaRPr>
              </a:p>
            </p:txBody>
          </p:sp>
          <p:sp>
            <p:nvSpPr>
              <p:cNvPr id="102" name="AutoShape 16" descr="深色上对角线">
                <a:extLst>
                  <a:ext uri="{FF2B5EF4-FFF2-40B4-BE49-F238E27FC236}">
                    <a16:creationId xmlns:a16="http://schemas.microsoft.com/office/drawing/2014/main" id="{EF629877-4448-42C2-AF12-1ED52DEA5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8163" y="4730750"/>
                <a:ext cx="1447800" cy="1328738"/>
              </a:xfrm>
              <a:custGeom>
                <a:avLst/>
                <a:gdLst>
                  <a:gd name="T0" fmla="*/ 2147483646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2147483646 w 21600"/>
                  <a:gd name="T7" fmla="*/ 2147483646 h 21600"/>
                  <a:gd name="T8" fmla="*/ 2147483646 w 21600"/>
                  <a:gd name="T9" fmla="*/ 2147483646 h 21600"/>
                  <a:gd name="T10" fmla="*/ 2147483646 w 21600"/>
                  <a:gd name="T11" fmla="*/ 2147483646 h 21600"/>
                  <a:gd name="T12" fmla="*/ 2147483646 w 21600"/>
                  <a:gd name="T13" fmla="*/ 2147483646 h 21600"/>
                  <a:gd name="T14" fmla="*/ 2147483646 w 21600"/>
                  <a:gd name="T15" fmla="*/ 2147483646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74 w 21600"/>
                  <a:gd name="T25" fmla="*/ 3174 h 21600"/>
                  <a:gd name="T26" fmla="*/ 18426 w 21600"/>
                  <a:gd name="T27" fmla="*/ 18426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pattFill prst="dkUpDiag">
                <a:fgClr>
                  <a:srgbClr val="CCCCFF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楷体" panose="02010600040101010101" pitchFamily="2" charset="-122"/>
                </a:endParaRPr>
              </a:p>
            </p:txBody>
          </p:sp>
          <p:sp>
            <p:nvSpPr>
              <p:cNvPr id="103" name="Line 17">
                <a:extLst>
                  <a:ext uri="{FF2B5EF4-FFF2-40B4-BE49-F238E27FC236}">
                    <a16:creationId xmlns:a16="http://schemas.microsoft.com/office/drawing/2014/main" id="{F3BAE01A-BCD5-4CC6-9C6D-37C324A90D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07300" y="5372100"/>
                <a:ext cx="160337" cy="320675"/>
              </a:xfrm>
              <a:prstGeom prst="line">
                <a:avLst/>
              </a:prstGeom>
              <a:noFill/>
              <a:ln w="28575">
                <a:solidFill>
                  <a:srgbClr val="2D23A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楷体" panose="02010600040101010101" pitchFamily="2" charset="-122"/>
                </a:endParaRPr>
              </a:p>
            </p:txBody>
          </p:sp>
          <p:sp>
            <p:nvSpPr>
              <p:cNvPr id="104" name="Line 18">
                <a:extLst>
                  <a:ext uri="{FF2B5EF4-FFF2-40B4-BE49-F238E27FC236}">
                    <a16:creationId xmlns:a16="http://schemas.microsoft.com/office/drawing/2014/main" id="{CB3F3A5F-B6EE-4E41-A279-4A642841EB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121525" y="5372100"/>
                <a:ext cx="485775" cy="493713"/>
              </a:xfrm>
              <a:prstGeom prst="line">
                <a:avLst/>
              </a:prstGeom>
              <a:noFill/>
              <a:ln w="28575">
                <a:solidFill>
                  <a:srgbClr val="3333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楷体" panose="02010600040101010101" pitchFamily="2" charset="-122"/>
                </a:endParaRPr>
              </a:p>
            </p:txBody>
          </p:sp>
          <p:sp>
            <p:nvSpPr>
              <p:cNvPr id="105" name="Line 19">
                <a:extLst>
                  <a:ext uri="{FF2B5EF4-FFF2-40B4-BE49-F238E27FC236}">
                    <a16:creationId xmlns:a16="http://schemas.microsoft.com/office/drawing/2014/main" id="{1168517D-7DBC-46C7-8FEC-666940797B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659563" y="5372100"/>
                <a:ext cx="947737" cy="2222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楷体" panose="0201060004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Object 20">
                    <a:extLst>
                      <a:ext uri="{FF2B5EF4-FFF2-40B4-BE49-F238E27FC236}">
                        <a16:creationId xmlns:a16="http://schemas.microsoft.com/office/drawing/2014/main" id="{B5D8CAD1-2F71-45EA-A551-B5141D93D724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8500773" y="4468663"/>
                    <a:ext cx="361950" cy="54451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/>
                  </a:p>
                </p:txBody>
              </p:sp>
            </mc:Choice>
            <mc:Fallback xmlns="">
              <p:sp>
                <p:nvSpPr>
                  <p:cNvPr id="106" name="Object 20">
                    <a:extLst>
                      <a:ext uri="{FF2B5EF4-FFF2-40B4-BE49-F238E27FC236}">
                        <a16:creationId xmlns:a16="http://schemas.microsoft.com/office/drawing/2014/main" id="{B5D8CAD1-2F71-45EA-A551-B5141D93D7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500773" y="4468663"/>
                    <a:ext cx="361950" cy="544513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r="-18644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Object 21">
                    <a:extLst>
                      <a:ext uri="{FF2B5EF4-FFF2-40B4-BE49-F238E27FC236}">
                        <a16:creationId xmlns:a16="http://schemas.microsoft.com/office/drawing/2014/main" id="{0490254C-6479-433B-A60A-7234D58F0735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584496" y="5239535"/>
                    <a:ext cx="433487" cy="4395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rmAutofit fontScale="925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/>
                  </a:p>
                </p:txBody>
              </p:sp>
            </mc:Choice>
            <mc:Fallback xmlns="">
              <p:sp>
                <p:nvSpPr>
                  <p:cNvPr id="107" name="Object 21">
                    <a:extLst>
                      <a:ext uri="{FF2B5EF4-FFF2-40B4-BE49-F238E27FC236}">
                        <a16:creationId xmlns:a16="http://schemas.microsoft.com/office/drawing/2014/main" id="{0490254C-6479-433B-A60A-7234D58F07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584496" y="5239535"/>
                    <a:ext cx="433487" cy="439566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1408" r="-4225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Object 22">
                    <a:extLst>
                      <a:ext uri="{FF2B5EF4-FFF2-40B4-BE49-F238E27FC236}">
                        <a16:creationId xmlns:a16="http://schemas.microsoft.com/office/drawing/2014/main" id="{1D71040D-E1F0-4DC9-965A-6354CE0E17BF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937065" y="4750760"/>
                    <a:ext cx="376545" cy="50892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 dirty="0"/>
                  </a:p>
                </p:txBody>
              </p:sp>
            </mc:Choice>
            <mc:Fallback xmlns="">
              <p:sp>
                <p:nvSpPr>
                  <p:cNvPr id="108" name="Object 22">
                    <a:extLst>
                      <a:ext uri="{FF2B5EF4-FFF2-40B4-BE49-F238E27FC236}">
                        <a16:creationId xmlns:a16="http://schemas.microsoft.com/office/drawing/2014/main" id="{1D71040D-E1F0-4DC9-965A-6354CE0E17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937065" y="4750760"/>
                    <a:ext cx="376545" cy="508926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r="-29032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Object 23">
                    <a:extLst>
                      <a:ext uri="{FF2B5EF4-FFF2-40B4-BE49-F238E27FC236}">
                        <a16:creationId xmlns:a16="http://schemas.microsoft.com/office/drawing/2014/main" id="{16B3C12E-D0B3-42F7-AD42-75229DBBF007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8064466" y="5602141"/>
                    <a:ext cx="388583" cy="48917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109" name="Object 23">
                    <a:extLst>
                      <a:ext uri="{FF2B5EF4-FFF2-40B4-BE49-F238E27FC236}">
                        <a16:creationId xmlns:a16="http://schemas.microsoft.com/office/drawing/2014/main" id="{16B3C12E-D0B3-42F7-AD42-75229DBBF0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064466" y="5602141"/>
                    <a:ext cx="388583" cy="489174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r="-25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Object 24">
                    <a:extLst>
                      <a:ext uri="{FF2B5EF4-FFF2-40B4-BE49-F238E27FC236}">
                        <a16:creationId xmlns:a16="http://schemas.microsoft.com/office/drawing/2014/main" id="{DC5E1938-B001-42EC-BB62-8F9EB9100EC8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6773863" y="4935538"/>
                    <a:ext cx="401637" cy="4365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925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/>
                  </a:p>
                </p:txBody>
              </p:sp>
            </mc:Choice>
            <mc:Fallback xmlns="">
              <p:sp>
                <p:nvSpPr>
                  <p:cNvPr id="110" name="Object 24">
                    <a:extLst>
                      <a:ext uri="{FF2B5EF4-FFF2-40B4-BE49-F238E27FC236}">
                        <a16:creationId xmlns:a16="http://schemas.microsoft.com/office/drawing/2014/main" id="{DC5E1938-B001-42EC-BB62-8F9EB9100E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773863" y="4935538"/>
                    <a:ext cx="401637" cy="436563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1538" r="-13846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" name="Object 25">
                    <a:extLst>
                      <a:ext uri="{FF2B5EF4-FFF2-40B4-BE49-F238E27FC236}">
                        <a16:creationId xmlns:a16="http://schemas.microsoft.com/office/drawing/2014/main" id="{593DFB21-38B6-4947-98E2-F09B76E2E0AF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234238" y="5602288"/>
                    <a:ext cx="344487" cy="4254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85000" lnSpcReduction="1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/>
                  </a:p>
                </p:txBody>
              </p:sp>
            </mc:Choice>
            <mc:Fallback xmlns="">
              <p:sp>
                <p:nvSpPr>
                  <p:cNvPr id="111" name="Object 25">
                    <a:extLst>
                      <a:ext uri="{FF2B5EF4-FFF2-40B4-BE49-F238E27FC236}">
                        <a16:creationId xmlns:a16="http://schemas.microsoft.com/office/drawing/2014/main" id="{593DFB21-38B6-4947-98E2-F09B76E2E0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234238" y="5602288"/>
                    <a:ext cx="344487" cy="425450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r="-19298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Object 28">
                    <a:extLst>
                      <a:ext uri="{FF2B5EF4-FFF2-40B4-BE49-F238E27FC236}">
                        <a16:creationId xmlns:a16="http://schemas.microsoft.com/office/drawing/2014/main" id="{FB668BF2-481B-482E-AD6B-B970E69D044B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340703" y="4776206"/>
                    <a:ext cx="335234" cy="27769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112" name="Object 28">
                    <a:extLst>
                      <a:ext uri="{FF2B5EF4-FFF2-40B4-BE49-F238E27FC236}">
                        <a16:creationId xmlns:a16="http://schemas.microsoft.com/office/drawing/2014/main" id="{FB668BF2-481B-482E-AD6B-B970E69D04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340703" y="4776206"/>
                    <a:ext cx="335234" cy="277697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b="-47826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3" name="Oval 29">
                <a:extLst>
                  <a:ext uri="{FF2B5EF4-FFF2-40B4-BE49-F238E27FC236}">
                    <a16:creationId xmlns:a16="http://schemas.microsoft.com/office/drawing/2014/main" id="{288D2DF4-EF11-4DB4-B8E5-55985158A8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9775" y="4897438"/>
                <a:ext cx="1049337" cy="1008063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50000"/>
                  </a:spcBef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50000"/>
                  </a:spcBef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50000"/>
                  </a:spcBef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50000"/>
                  </a:spcBef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50000"/>
                  </a:spcBef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14" name="Line 30">
                <a:extLst>
                  <a:ext uri="{FF2B5EF4-FFF2-40B4-BE49-F238E27FC236}">
                    <a16:creationId xmlns:a16="http://schemas.microsoft.com/office/drawing/2014/main" id="{487F7596-6793-4682-99FB-7DEBD2EDB2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258619" y="5018923"/>
                <a:ext cx="358775" cy="360363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楷体" panose="02010600040101010101" pitchFamily="2" charset="-122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51">
                <a:extLst>
                  <a:ext uri="{FF2B5EF4-FFF2-40B4-BE49-F238E27FC236}">
                    <a16:creationId xmlns:a16="http://schemas.microsoft.com/office/drawing/2014/main" id="{CE2F0216-20BC-4D48-9542-3E77AD225E06}"/>
                  </a:ext>
                </a:extLst>
              </p:cNvPr>
              <p:cNvSpPr txBox="1"/>
              <p:nvPr/>
            </p:nvSpPr>
            <p:spPr bwMode="auto">
              <a:xfrm>
                <a:off x="4415169" y="5710238"/>
                <a:ext cx="4422774" cy="5508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" name="Object 51">
                <a:extLst>
                  <a:ext uri="{FF2B5EF4-FFF2-40B4-BE49-F238E27FC236}">
                    <a16:creationId xmlns:a16="http://schemas.microsoft.com/office/drawing/2014/main" id="{CE2F0216-20BC-4D48-9542-3E77AD225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5169" y="5710238"/>
                <a:ext cx="4422774" cy="55086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65">
                <a:extLst>
                  <a:ext uri="{FF2B5EF4-FFF2-40B4-BE49-F238E27FC236}">
                    <a16:creationId xmlns:a16="http://schemas.microsoft.com/office/drawing/2014/main" id="{E0D69472-9505-4C0C-9288-F5474926B92D}"/>
                  </a:ext>
                </a:extLst>
              </p:cNvPr>
              <p:cNvSpPr txBox="1"/>
              <p:nvPr/>
            </p:nvSpPr>
            <p:spPr bwMode="auto">
              <a:xfrm>
                <a:off x="7348659" y="5470192"/>
                <a:ext cx="4485486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" name="Object 65">
                <a:extLst>
                  <a:ext uri="{FF2B5EF4-FFF2-40B4-BE49-F238E27FC236}">
                    <a16:creationId xmlns:a16="http://schemas.microsoft.com/office/drawing/2014/main" id="{E0D69472-9505-4C0C-9288-F5474926B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48659" y="5470192"/>
                <a:ext cx="4485486" cy="96520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88" grpId="0"/>
      <p:bldP spid="492589" grpId="0"/>
      <p:bldP spid="492590" grpId="0"/>
      <p:bldP spid="18447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49" grpId="0"/>
      <p:bldP spid="5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2953" name="Object 25">
                <a:extLst>
                  <a:ext uri="{FF2B5EF4-FFF2-40B4-BE49-F238E27FC236}">
                    <a16:creationId xmlns:a16="http://schemas.microsoft.com/office/drawing/2014/main" id="{A8BE0296-F4E5-467C-9A17-4C8E7204582D}"/>
                  </a:ext>
                </a:extLst>
              </p:cNvPr>
              <p:cNvSpPr txBox="1"/>
              <p:nvPr/>
            </p:nvSpPr>
            <p:spPr bwMode="auto">
              <a:xfrm>
                <a:off x="5159375" y="5732464"/>
                <a:ext cx="1365250" cy="5429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2953" name="Object 25">
                <a:extLst>
                  <a:ext uri="{FF2B5EF4-FFF2-40B4-BE49-F238E27FC236}">
                    <a16:creationId xmlns:a16="http://schemas.microsoft.com/office/drawing/2014/main" id="{A8BE0296-F4E5-467C-9A17-4C8E72045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59375" y="5732464"/>
                <a:ext cx="1365250" cy="5429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985" name="Object 57">
                <a:extLst>
                  <a:ext uri="{FF2B5EF4-FFF2-40B4-BE49-F238E27FC236}">
                    <a16:creationId xmlns:a16="http://schemas.microsoft.com/office/drawing/2014/main" id="{62915AB8-DF2E-46B6-ABC1-1CC538E280C3}"/>
                  </a:ext>
                </a:extLst>
              </p:cNvPr>
              <p:cNvSpPr txBox="1"/>
              <p:nvPr/>
            </p:nvSpPr>
            <p:spPr bwMode="auto">
              <a:xfrm>
                <a:off x="984251" y="702987"/>
                <a:ext cx="3168649" cy="4873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2985" name="Object 57">
                <a:extLst>
                  <a:ext uri="{FF2B5EF4-FFF2-40B4-BE49-F238E27FC236}">
                    <a16:creationId xmlns:a16="http://schemas.microsoft.com/office/drawing/2014/main" id="{62915AB8-DF2E-46B6-ABC1-1CC538E28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4251" y="702987"/>
                <a:ext cx="3168649" cy="4873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989" name="Object 61">
                <a:extLst>
                  <a:ext uri="{FF2B5EF4-FFF2-40B4-BE49-F238E27FC236}">
                    <a16:creationId xmlns:a16="http://schemas.microsoft.com/office/drawing/2014/main" id="{9FDBD4F5-6E3D-4DBE-B273-91D456191800}"/>
                  </a:ext>
                </a:extLst>
              </p:cNvPr>
              <p:cNvSpPr txBox="1"/>
              <p:nvPr/>
            </p:nvSpPr>
            <p:spPr bwMode="auto">
              <a:xfrm>
                <a:off x="2120434" y="2617747"/>
                <a:ext cx="4252911" cy="1020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2989" name="Object 61">
                <a:extLst>
                  <a:ext uri="{FF2B5EF4-FFF2-40B4-BE49-F238E27FC236}">
                    <a16:creationId xmlns:a16="http://schemas.microsoft.com/office/drawing/2014/main" id="{9FDBD4F5-6E3D-4DBE-B273-91D456191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0434" y="2617747"/>
                <a:ext cx="4252911" cy="10207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992" name="Object 64">
                <a:extLst>
                  <a:ext uri="{FF2B5EF4-FFF2-40B4-BE49-F238E27FC236}">
                    <a16:creationId xmlns:a16="http://schemas.microsoft.com/office/drawing/2014/main" id="{24E7B81B-7CE3-4024-BB84-9EDA0F6E8AC1}"/>
                  </a:ext>
                </a:extLst>
              </p:cNvPr>
              <p:cNvSpPr txBox="1"/>
              <p:nvPr/>
            </p:nvSpPr>
            <p:spPr bwMode="auto">
              <a:xfrm>
                <a:off x="1058242" y="3745663"/>
                <a:ext cx="4252911" cy="565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2992" name="Object 64">
                <a:extLst>
                  <a:ext uri="{FF2B5EF4-FFF2-40B4-BE49-F238E27FC236}">
                    <a16:creationId xmlns:a16="http://schemas.microsoft.com/office/drawing/2014/main" id="{24E7B81B-7CE3-4024-BB84-9EDA0F6E8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8242" y="3745663"/>
                <a:ext cx="4252911" cy="5651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995" name="Object 67">
                <a:extLst>
                  <a:ext uri="{FF2B5EF4-FFF2-40B4-BE49-F238E27FC236}">
                    <a16:creationId xmlns:a16="http://schemas.microsoft.com/office/drawing/2014/main" id="{D8DBC043-2E06-4092-AFFE-0EA9C6371883}"/>
                  </a:ext>
                </a:extLst>
              </p:cNvPr>
              <p:cNvSpPr txBox="1"/>
              <p:nvPr/>
            </p:nvSpPr>
            <p:spPr bwMode="auto">
              <a:xfrm>
                <a:off x="1919288" y="4743451"/>
                <a:ext cx="3141662" cy="4857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2995" name="Object 67">
                <a:extLst>
                  <a:ext uri="{FF2B5EF4-FFF2-40B4-BE49-F238E27FC236}">
                    <a16:creationId xmlns:a16="http://schemas.microsoft.com/office/drawing/2014/main" id="{D8DBC043-2E06-4092-AFFE-0EA9C637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9288" y="4743451"/>
                <a:ext cx="3141662" cy="485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998" name="Object 70">
                <a:extLst>
                  <a:ext uri="{FF2B5EF4-FFF2-40B4-BE49-F238E27FC236}">
                    <a16:creationId xmlns:a16="http://schemas.microsoft.com/office/drawing/2014/main" id="{4ECED415-E33C-4B2E-BB3B-7214A544A628}"/>
                  </a:ext>
                </a:extLst>
              </p:cNvPr>
              <p:cNvSpPr txBox="1"/>
              <p:nvPr/>
            </p:nvSpPr>
            <p:spPr bwMode="auto">
              <a:xfrm>
                <a:off x="2063751" y="5516563"/>
                <a:ext cx="3740149" cy="996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2998" name="Object 70">
                <a:extLst>
                  <a:ext uri="{FF2B5EF4-FFF2-40B4-BE49-F238E27FC236}">
                    <a16:creationId xmlns:a16="http://schemas.microsoft.com/office/drawing/2014/main" id="{4ECED415-E33C-4B2E-BB3B-7214A544A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3751" y="5516563"/>
                <a:ext cx="3740149" cy="9969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0818" name="Object 66">
                <a:extLst>
                  <a:ext uri="{FF2B5EF4-FFF2-40B4-BE49-F238E27FC236}">
                    <a16:creationId xmlns:a16="http://schemas.microsoft.com/office/drawing/2014/main" id="{30D608C5-A4FB-43FB-9875-C5F9989AC94A}"/>
                  </a:ext>
                </a:extLst>
              </p:cNvPr>
              <p:cNvSpPr txBox="1"/>
              <p:nvPr/>
            </p:nvSpPr>
            <p:spPr bwMode="auto">
              <a:xfrm>
                <a:off x="4035822" y="3576641"/>
                <a:ext cx="4580340" cy="9890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0818" name="Object 66">
                <a:extLst>
                  <a:ext uri="{FF2B5EF4-FFF2-40B4-BE49-F238E27FC236}">
                    <a16:creationId xmlns:a16="http://schemas.microsoft.com/office/drawing/2014/main" id="{30D608C5-A4FB-43FB-9875-C5F9989AC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5822" y="3576641"/>
                <a:ext cx="4580340" cy="98901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11BFBF9A-3ACD-4B31-9A6B-6882DE2F6205}"/>
              </a:ext>
            </a:extLst>
          </p:cNvPr>
          <p:cNvGrpSpPr>
            <a:grpSpLocks/>
          </p:cNvGrpSpPr>
          <p:nvPr/>
        </p:nvGrpSpPr>
        <p:grpSpPr bwMode="auto">
          <a:xfrm>
            <a:off x="8511386" y="1314032"/>
            <a:ext cx="2027238" cy="2016125"/>
            <a:chOff x="6721475" y="2028825"/>
            <a:chExt cx="2027238" cy="2016125"/>
          </a:xfrm>
        </p:grpSpPr>
        <p:sp>
          <p:nvSpPr>
            <p:cNvPr id="112" name="椭圆 69">
              <a:extLst>
                <a:ext uri="{FF2B5EF4-FFF2-40B4-BE49-F238E27FC236}">
                  <a16:creationId xmlns:a16="http://schemas.microsoft.com/office/drawing/2014/main" id="{BFD1922C-BD87-4BAC-995E-6EB0A7EE3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9321" y="2780155"/>
              <a:ext cx="720080" cy="72085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13" name="Group 47">
              <a:extLst>
                <a:ext uri="{FF2B5EF4-FFF2-40B4-BE49-F238E27FC236}">
                  <a16:creationId xmlns:a16="http://schemas.microsoft.com/office/drawing/2014/main" id="{E5C9A975-98E1-4853-BF44-BAF3D14116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1475" y="2028825"/>
              <a:ext cx="2027238" cy="2016125"/>
              <a:chOff x="4415" y="1570"/>
              <a:chExt cx="1277" cy="1270"/>
            </a:xfrm>
          </p:grpSpPr>
          <p:sp>
            <p:nvSpPr>
              <p:cNvPr id="114" name="AutoShape 33" descr="深色下对角线">
                <a:extLst>
                  <a:ext uri="{FF2B5EF4-FFF2-40B4-BE49-F238E27FC236}">
                    <a16:creationId xmlns:a16="http://schemas.microsoft.com/office/drawing/2014/main" id="{C83E5F8C-191F-4BB1-8DFE-C3EE61197D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5" y="1689"/>
                <a:ext cx="1200" cy="115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8 w 21600"/>
                  <a:gd name="T25" fmla="*/ 3172 h 21600"/>
                  <a:gd name="T26" fmla="*/ 18432 w 21600"/>
                  <a:gd name="T27" fmla="*/ 18428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024" y="10800"/>
                    </a:moveTo>
                    <a:cubicBezTo>
                      <a:pt x="3024" y="15095"/>
                      <a:pt x="6505" y="18576"/>
                      <a:pt x="10800" y="18576"/>
                    </a:cubicBezTo>
                    <a:cubicBezTo>
                      <a:pt x="15095" y="18576"/>
                      <a:pt x="18576" y="15095"/>
                      <a:pt x="18576" y="10800"/>
                    </a:cubicBezTo>
                    <a:cubicBezTo>
                      <a:pt x="18576" y="6505"/>
                      <a:pt x="15095" y="3024"/>
                      <a:pt x="10800" y="3024"/>
                    </a:cubicBezTo>
                    <a:cubicBezTo>
                      <a:pt x="6505" y="3024"/>
                      <a:pt x="3024" y="6505"/>
                      <a:pt x="3024" y="10800"/>
                    </a:cubicBezTo>
                    <a:close/>
                  </a:path>
                </a:pathLst>
              </a:custGeom>
              <a:pattFill prst="dkDnDiag">
                <a:fgClr>
                  <a:srgbClr val="00CC99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15" name="AutoShape 34" descr="深色上对角线">
                <a:extLst>
                  <a:ext uri="{FF2B5EF4-FFF2-40B4-BE49-F238E27FC236}">
                    <a16:creationId xmlns:a16="http://schemas.microsoft.com/office/drawing/2014/main" id="{688EA262-CE05-4189-938E-B555EE4E64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9" y="1846"/>
                <a:ext cx="912" cy="83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74 w 21600"/>
                  <a:gd name="T25" fmla="*/ 3174 h 21600"/>
                  <a:gd name="T26" fmla="*/ 18426 w 21600"/>
                  <a:gd name="T27" fmla="*/ 18426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pattFill prst="dkUpDiag">
                <a:fgClr>
                  <a:srgbClr val="CCCCFF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16" name="Line 35">
                <a:extLst>
                  <a:ext uri="{FF2B5EF4-FFF2-40B4-BE49-F238E27FC236}">
                    <a16:creationId xmlns:a16="http://schemas.microsoft.com/office/drawing/2014/main" id="{852FDD89-2C3F-4B86-99AE-DCC2E6DFAF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2" y="2250"/>
                <a:ext cx="101" cy="202"/>
              </a:xfrm>
              <a:prstGeom prst="line">
                <a:avLst/>
              </a:prstGeom>
              <a:noFill/>
              <a:ln w="28575">
                <a:solidFill>
                  <a:srgbClr val="2D23A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17" name="Line 36">
                <a:extLst>
                  <a:ext uri="{FF2B5EF4-FFF2-40B4-BE49-F238E27FC236}">
                    <a16:creationId xmlns:a16="http://schemas.microsoft.com/office/drawing/2014/main" id="{E2C7B918-396D-45A3-847E-4599FF7B15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6" y="2250"/>
                <a:ext cx="306" cy="311"/>
              </a:xfrm>
              <a:prstGeom prst="line">
                <a:avLst/>
              </a:prstGeom>
              <a:noFill/>
              <a:ln w="28575">
                <a:solidFill>
                  <a:srgbClr val="3333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18" name="Line 37">
                <a:extLst>
                  <a:ext uri="{FF2B5EF4-FFF2-40B4-BE49-F238E27FC236}">
                    <a16:creationId xmlns:a16="http://schemas.microsoft.com/office/drawing/2014/main" id="{D39B4071-BE51-48A3-B63B-529FD18AB9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5" y="2250"/>
                <a:ext cx="597" cy="1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Object 38">
                    <a:extLst>
                      <a:ext uri="{FF2B5EF4-FFF2-40B4-BE49-F238E27FC236}">
                        <a16:creationId xmlns:a16="http://schemas.microsoft.com/office/drawing/2014/main" id="{DFBD885F-F2C3-447B-96AA-FB711C2CAED3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5464" y="1570"/>
                    <a:ext cx="228" cy="34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119" name="Object 38">
                    <a:extLst>
                      <a:ext uri="{FF2B5EF4-FFF2-40B4-BE49-F238E27FC236}">
                        <a16:creationId xmlns:a16="http://schemas.microsoft.com/office/drawing/2014/main" id="{DFBD885F-F2C3-447B-96AA-FB711C2CAE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464" y="1570"/>
                    <a:ext cx="228" cy="34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Object 39">
                    <a:extLst>
                      <a:ext uri="{FF2B5EF4-FFF2-40B4-BE49-F238E27FC236}">
                        <a16:creationId xmlns:a16="http://schemas.microsoft.com/office/drawing/2014/main" id="{46657C6D-3937-48EF-BEFE-45057B4C0834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990" y="2180"/>
                    <a:ext cx="268" cy="27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120" name="Object 39">
                    <a:extLst>
                      <a:ext uri="{FF2B5EF4-FFF2-40B4-BE49-F238E27FC236}">
                        <a16:creationId xmlns:a16="http://schemas.microsoft.com/office/drawing/2014/main" id="{46657C6D-3937-48EF-BEFE-45057B4C08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990" y="2180"/>
                    <a:ext cx="268" cy="27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Object 40">
                    <a:extLst>
                      <a:ext uri="{FF2B5EF4-FFF2-40B4-BE49-F238E27FC236}">
                        <a16:creationId xmlns:a16="http://schemas.microsoft.com/office/drawing/2014/main" id="{5DED5FB8-7594-45FB-89E0-9DA1B4AE999A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5140" y="1859"/>
                    <a:ext cx="220" cy="29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 dirty="0"/>
                  </a:p>
                </p:txBody>
              </p:sp>
            </mc:Choice>
            <mc:Fallback xmlns="">
              <p:sp>
                <p:nvSpPr>
                  <p:cNvPr id="121" name="Object 40">
                    <a:extLst>
                      <a:ext uri="{FF2B5EF4-FFF2-40B4-BE49-F238E27FC236}">
                        <a16:creationId xmlns:a16="http://schemas.microsoft.com/office/drawing/2014/main" id="{5DED5FB8-7594-45FB-89E0-9DA1B4AE99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140" y="1859"/>
                    <a:ext cx="220" cy="29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4035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Object 41">
                    <a:extLst>
                      <a:ext uri="{FF2B5EF4-FFF2-40B4-BE49-F238E27FC236}">
                        <a16:creationId xmlns:a16="http://schemas.microsoft.com/office/drawing/2014/main" id="{4CA45995-2565-4249-84DA-9DA13D82229A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5209" y="2333"/>
                    <a:ext cx="236" cy="29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 dirty="0"/>
                  </a:p>
                </p:txBody>
              </p:sp>
            </mc:Choice>
            <mc:Fallback xmlns="">
              <p:sp>
                <p:nvSpPr>
                  <p:cNvPr id="122" name="Object 41">
                    <a:extLst>
                      <a:ext uri="{FF2B5EF4-FFF2-40B4-BE49-F238E27FC236}">
                        <a16:creationId xmlns:a16="http://schemas.microsoft.com/office/drawing/2014/main" id="{4CA45995-2565-4249-84DA-9DA13D8222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209" y="2333"/>
                    <a:ext cx="236" cy="29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31148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Object 42">
                    <a:extLst>
                      <a:ext uri="{FF2B5EF4-FFF2-40B4-BE49-F238E27FC236}">
                        <a16:creationId xmlns:a16="http://schemas.microsoft.com/office/drawing/2014/main" id="{8B64C81B-17EC-4E38-B6B2-EA0A1E97CE5A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545" y="2005"/>
                    <a:ext cx="240" cy="26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123" name="Object 42">
                    <a:extLst>
                      <a:ext uri="{FF2B5EF4-FFF2-40B4-BE49-F238E27FC236}">
                        <a16:creationId xmlns:a16="http://schemas.microsoft.com/office/drawing/2014/main" id="{8B64C81B-17EC-4E38-B6B2-EA0A1E97CE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545" y="2005"/>
                    <a:ext cx="240" cy="26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7937" b="-4412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Object 43">
                    <a:extLst>
                      <a:ext uri="{FF2B5EF4-FFF2-40B4-BE49-F238E27FC236}">
                        <a16:creationId xmlns:a16="http://schemas.microsoft.com/office/drawing/2014/main" id="{EAADC647-A460-467F-B91C-DA872220A08A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777" y="2395"/>
                    <a:ext cx="211" cy="2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124" name="Object 43">
                    <a:extLst>
                      <a:ext uri="{FF2B5EF4-FFF2-40B4-BE49-F238E27FC236}">
                        <a16:creationId xmlns:a16="http://schemas.microsoft.com/office/drawing/2014/main" id="{EAADC647-A460-467F-B91C-DA872220A0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777" y="2395"/>
                    <a:ext cx="211" cy="26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23636" b="-4412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Object 44">
                    <a:extLst>
                      <a:ext uri="{FF2B5EF4-FFF2-40B4-BE49-F238E27FC236}">
                        <a16:creationId xmlns:a16="http://schemas.microsoft.com/office/drawing/2014/main" id="{288287DF-2471-4949-89B3-6490E2F457AF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757" y="1876"/>
                    <a:ext cx="223" cy="18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125" name="Object 44">
                    <a:extLst>
                      <a:ext uri="{FF2B5EF4-FFF2-40B4-BE49-F238E27FC236}">
                        <a16:creationId xmlns:a16="http://schemas.microsoft.com/office/drawing/2014/main" id="{288287DF-2471-4949-89B3-6490E2F457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757" y="1876"/>
                    <a:ext cx="223" cy="185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25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6" name="Oval 45">
                <a:extLst>
                  <a:ext uri="{FF2B5EF4-FFF2-40B4-BE49-F238E27FC236}">
                    <a16:creationId xmlns:a16="http://schemas.microsoft.com/office/drawing/2014/main" id="{19EA5A01-7E50-4C60-895B-5BEA47370A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7" y="1761"/>
                <a:ext cx="1070" cy="998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50000"/>
                  </a:spcBef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50000"/>
                  </a:spcBef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50000"/>
                  </a:spcBef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50000"/>
                  </a:spcBef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50000"/>
                  </a:spcBef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7" name="Line 46">
                <a:extLst>
                  <a:ext uri="{FF2B5EF4-FFF2-40B4-BE49-F238E27FC236}">
                    <a16:creationId xmlns:a16="http://schemas.microsoft.com/office/drawing/2014/main" id="{27AAA193-BCFD-4740-AAF1-7ED348B72F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4" y="1842"/>
                <a:ext cx="317" cy="409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39D4A8F2-DE8E-4518-BA46-BE58A16B3BE8}"/>
              </a:ext>
            </a:extLst>
          </p:cNvPr>
          <p:cNvGrpSpPr>
            <a:grpSpLocks/>
          </p:cNvGrpSpPr>
          <p:nvPr/>
        </p:nvGrpSpPr>
        <p:grpSpPr bwMode="auto">
          <a:xfrm>
            <a:off x="8349462" y="3507956"/>
            <a:ext cx="2189163" cy="2159000"/>
            <a:chOff x="6559550" y="4222750"/>
            <a:chExt cx="2189163" cy="2159000"/>
          </a:xfrm>
        </p:grpSpPr>
        <p:sp>
          <p:nvSpPr>
            <p:cNvPr id="129" name="椭圆 70">
              <a:extLst>
                <a:ext uri="{FF2B5EF4-FFF2-40B4-BE49-F238E27FC236}">
                  <a16:creationId xmlns:a16="http://schemas.microsoft.com/office/drawing/2014/main" id="{A44267A9-4B4B-4E2C-828A-8DAF04DCD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8304" y="4968335"/>
              <a:ext cx="720080" cy="72085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30" name="Group 63">
              <a:extLst>
                <a:ext uri="{FF2B5EF4-FFF2-40B4-BE49-F238E27FC236}">
                  <a16:creationId xmlns:a16="http://schemas.microsoft.com/office/drawing/2014/main" id="{183BC77B-37C6-4914-9D3E-05897B246E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9550" y="4222750"/>
              <a:ext cx="2189163" cy="2159000"/>
              <a:chOff x="4241" y="2886"/>
              <a:chExt cx="1379" cy="1360"/>
            </a:xfrm>
          </p:grpSpPr>
          <p:sp>
            <p:nvSpPr>
              <p:cNvPr id="131" name="AutoShape 49" descr="深色下对角线">
                <a:extLst>
                  <a:ext uri="{FF2B5EF4-FFF2-40B4-BE49-F238E27FC236}">
                    <a16:creationId xmlns:a16="http://schemas.microsoft.com/office/drawing/2014/main" id="{DD4086D1-51FF-4CB1-81BD-97012A116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" y="3005"/>
                <a:ext cx="1200" cy="115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8 w 21600"/>
                  <a:gd name="T25" fmla="*/ 3172 h 21600"/>
                  <a:gd name="T26" fmla="*/ 18432 w 21600"/>
                  <a:gd name="T27" fmla="*/ 18428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024" y="10800"/>
                    </a:moveTo>
                    <a:cubicBezTo>
                      <a:pt x="3024" y="15095"/>
                      <a:pt x="6505" y="18576"/>
                      <a:pt x="10800" y="18576"/>
                    </a:cubicBezTo>
                    <a:cubicBezTo>
                      <a:pt x="15095" y="18576"/>
                      <a:pt x="18576" y="15095"/>
                      <a:pt x="18576" y="10800"/>
                    </a:cubicBezTo>
                    <a:cubicBezTo>
                      <a:pt x="18576" y="6505"/>
                      <a:pt x="15095" y="3024"/>
                      <a:pt x="10800" y="3024"/>
                    </a:cubicBezTo>
                    <a:cubicBezTo>
                      <a:pt x="6505" y="3024"/>
                      <a:pt x="3024" y="6505"/>
                      <a:pt x="3024" y="10800"/>
                    </a:cubicBezTo>
                    <a:close/>
                  </a:path>
                </a:pathLst>
              </a:custGeom>
              <a:pattFill prst="dkDnDiag">
                <a:fgClr>
                  <a:srgbClr val="00CC99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32" name="AutoShape 50" descr="深色上对角线">
                <a:extLst>
                  <a:ext uri="{FF2B5EF4-FFF2-40B4-BE49-F238E27FC236}">
                    <a16:creationId xmlns:a16="http://schemas.microsoft.com/office/drawing/2014/main" id="{302F645F-3520-4677-A475-B67A205E14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6" y="3162"/>
                <a:ext cx="912" cy="83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74 w 21600"/>
                  <a:gd name="T25" fmla="*/ 3174 h 21600"/>
                  <a:gd name="T26" fmla="*/ 18426 w 21600"/>
                  <a:gd name="T27" fmla="*/ 18426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pattFill prst="dkUpDiag">
                <a:fgClr>
                  <a:srgbClr val="CCCCFF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33" name="Line 51">
                <a:extLst>
                  <a:ext uri="{FF2B5EF4-FFF2-40B4-BE49-F238E27FC236}">
                    <a16:creationId xmlns:a16="http://schemas.microsoft.com/office/drawing/2014/main" id="{1490E0CE-C668-4A4E-90B9-B90DFA26D3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9" y="3566"/>
                <a:ext cx="101" cy="202"/>
              </a:xfrm>
              <a:prstGeom prst="line">
                <a:avLst/>
              </a:prstGeom>
              <a:noFill/>
              <a:ln w="28575">
                <a:solidFill>
                  <a:srgbClr val="2D23A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34" name="Line 52">
                <a:extLst>
                  <a:ext uri="{FF2B5EF4-FFF2-40B4-BE49-F238E27FC236}">
                    <a16:creationId xmlns:a16="http://schemas.microsoft.com/office/drawing/2014/main" id="{59D2F0CB-BD88-4A3F-960E-0D3E991DCB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23" y="3566"/>
                <a:ext cx="306" cy="311"/>
              </a:xfrm>
              <a:prstGeom prst="line">
                <a:avLst/>
              </a:prstGeom>
              <a:noFill/>
              <a:ln w="28575">
                <a:solidFill>
                  <a:srgbClr val="3333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35" name="Line 53">
                <a:extLst>
                  <a:ext uri="{FF2B5EF4-FFF2-40B4-BE49-F238E27FC236}">
                    <a16:creationId xmlns:a16="http://schemas.microsoft.com/office/drawing/2014/main" id="{9C63C405-4832-411A-AA87-3B44455B7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32" y="3566"/>
                <a:ext cx="597" cy="1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Object 54">
                    <a:extLst>
                      <a:ext uri="{FF2B5EF4-FFF2-40B4-BE49-F238E27FC236}">
                        <a16:creationId xmlns:a16="http://schemas.microsoft.com/office/drawing/2014/main" id="{BFB8A27B-DF1E-4E21-8055-A7DAF0E102DD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5381" y="2886"/>
                    <a:ext cx="228" cy="34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136" name="Object 54">
                    <a:extLst>
                      <a:ext uri="{FF2B5EF4-FFF2-40B4-BE49-F238E27FC236}">
                        <a16:creationId xmlns:a16="http://schemas.microsoft.com/office/drawing/2014/main" id="{BFB8A27B-DF1E-4E21-8055-A7DAF0E102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381" y="2886"/>
                    <a:ext cx="228" cy="343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Object 55">
                    <a:extLst>
                      <a:ext uri="{FF2B5EF4-FFF2-40B4-BE49-F238E27FC236}">
                        <a16:creationId xmlns:a16="http://schemas.microsoft.com/office/drawing/2014/main" id="{8E7A3503-482E-4612-A117-4DC68446D2CE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901" y="3494"/>
                    <a:ext cx="262" cy="26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137" name="Object 55">
                    <a:extLst>
                      <a:ext uri="{FF2B5EF4-FFF2-40B4-BE49-F238E27FC236}">
                        <a16:creationId xmlns:a16="http://schemas.microsoft.com/office/drawing/2014/main" id="{8E7A3503-482E-4612-A117-4DC68446D2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901" y="3494"/>
                    <a:ext cx="262" cy="26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289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Object 56">
                    <a:extLst>
                      <a:ext uri="{FF2B5EF4-FFF2-40B4-BE49-F238E27FC236}">
                        <a16:creationId xmlns:a16="http://schemas.microsoft.com/office/drawing/2014/main" id="{D1844289-03F0-4E78-8111-23F8393853C2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5032" y="3172"/>
                    <a:ext cx="199" cy="2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 dirty="0"/>
                  </a:p>
                </p:txBody>
              </p:sp>
            </mc:Choice>
            <mc:Fallback xmlns="">
              <p:sp>
                <p:nvSpPr>
                  <p:cNvPr id="138" name="Object 56">
                    <a:extLst>
                      <a:ext uri="{FF2B5EF4-FFF2-40B4-BE49-F238E27FC236}">
                        <a16:creationId xmlns:a16="http://schemas.microsoft.com/office/drawing/2014/main" id="{D1844289-03F0-4E78-8111-23F8393853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032" y="3172"/>
                    <a:ext cx="199" cy="265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r="-56863" b="-289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Object 57">
                    <a:extLst>
                      <a:ext uri="{FF2B5EF4-FFF2-40B4-BE49-F238E27FC236}">
                        <a16:creationId xmlns:a16="http://schemas.microsoft.com/office/drawing/2014/main" id="{46DAD468-3322-464C-A36A-86B96AD9BE5C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5160" y="3703"/>
                    <a:ext cx="242" cy="3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 dirty="0"/>
                  </a:p>
                </p:txBody>
              </p:sp>
            </mc:Choice>
            <mc:Fallback xmlns="">
              <p:sp>
                <p:nvSpPr>
                  <p:cNvPr id="139" name="Object 57">
                    <a:extLst>
                      <a:ext uri="{FF2B5EF4-FFF2-40B4-BE49-F238E27FC236}">
                        <a16:creationId xmlns:a16="http://schemas.microsoft.com/office/drawing/2014/main" id="{46DAD468-3322-464C-A36A-86B96AD9BE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160" y="3703"/>
                    <a:ext cx="242" cy="305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26984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Object 58">
                    <a:extLst>
                      <a:ext uri="{FF2B5EF4-FFF2-40B4-BE49-F238E27FC236}">
                        <a16:creationId xmlns:a16="http://schemas.microsoft.com/office/drawing/2014/main" id="{E51147B9-D1AA-4045-A0C7-E8EC85D3622D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453" y="3319"/>
                    <a:ext cx="253" cy="27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140" name="Object 58">
                    <a:extLst>
                      <a:ext uri="{FF2B5EF4-FFF2-40B4-BE49-F238E27FC236}">
                        <a16:creationId xmlns:a16="http://schemas.microsoft.com/office/drawing/2014/main" id="{E51147B9-D1AA-4045-A0C7-E8EC85D362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453" y="3319"/>
                    <a:ext cx="253" cy="275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r="-1515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Object 59">
                    <a:extLst>
                      <a:ext uri="{FF2B5EF4-FFF2-40B4-BE49-F238E27FC236}">
                        <a16:creationId xmlns:a16="http://schemas.microsoft.com/office/drawing/2014/main" id="{F0665D01-EA91-4687-98AA-969B0A10CC8D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694" y="3711"/>
                    <a:ext cx="217" cy="2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141" name="Object 59">
                    <a:extLst>
                      <a:ext uri="{FF2B5EF4-FFF2-40B4-BE49-F238E27FC236}">
                        <a16:creationId xmlns:a16="http://schemas.microsoft.com/office/drawing/2014/main" id="{F0665D01-EA91-4687-98AA-969B0A10CC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694" y="3711"/>
                    <a:ext cx="217" cy="268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19643" b="-1429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Object 60">
                    <a:extLst>
                      <a:ext uri="{FF2B5EF4-FFF2-40B4-BE49-F238E27FC236}">
                        <a16:creationId xmlns:a16="http://schemas.microsoft.com/office/drawing/2014/main" id="{4CBB6FC2-CE3A-4CA1-A515-A41DA8FDA8B7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598" y="3046"/>
                    <a:ext cx="227" cy="1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142" name="Object 60">
                    <a:extLst>
                      <a:ext uri="{FF2B5EF4-FFF2-40B4-BE49-F238E27FC236}">
                        <a16:creationId xmlns:a16="http://schemas.microsoft.com/office/drawing/2014/main" id="{4CBB6FC2-CE3A-4CA1-A515-A41DA8FDA8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598" y="3046"/>
                    <a:ext cx="227" cy="188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2244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3" name="Oval 61">
                <a:extLst>
                  <a:ext uri="{FF2B5EF4-FFF2-40B4-BE49-F238E27FC236}">
                    <a16:creationId xmlns:a16="http://schemas.microsoft.com/office/drawing/2014/main" id="{65BFA9B4-6316-41E4-A59A-8F380B996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1" y="2913"/>
                <a:ext cx="1379" cy="1333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50000"/>
                  </a:spcBef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50000"/>
                  </a:spcBef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50000"/>
                  </a:spcBef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50000"/>
                  </a:spcBef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50000"/>
                  </a:spcBef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" name="Line 62">
                <a:extLst>
                  <a:ext uri="{FF2B5EF4-FFF2-40B4-BE49-F238E27FC236}">
                    <a16:creationId xmlns:a16="http://schemas.microsoft.com/office/drawing/2014/main" id="{5C1D0517-8860-4570-BA15-CABFFB4CDF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13" y="3022"/>
                <a:ext cx="415" cy="545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对象 4">
                <a:extLst>
                  <a:ext uri="{FF2B5EF4-FFF2-40B4-BE49-F238E27FC236}">
                    <a16:creationId xmlns:a16="http://schemas.microsoft.com/office/drawing/2014/main" id="{ED2EC14D-769D-4FE8-BDDA-57710F52CC48}"/>
                  </a:ext>
                </a:extLst>
              </p:cNvPr>
              <p:cNvSpPr txBox="1"/>
              <p:nvPr/>
            </p:nvSpPr>
            <p:spPr bwMode="auto">
              <a:xfrm>
                <a:off x="2066057" y="1275956"/>
                <a:ext cx="2925923" cy="846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pHide m:val="on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9" name="对象 4">
                <a:extLst>
                  <a:ext uri="{FF2B5EF4-FFF2-40B4-BE49-F238E27FC236}">
                    <a16:creationId xmlns:a16="http://schemas.microsoft.com/office/drawing/2014/main" id="{ED2EC14D-769D-4FE8-BDDA-57710F52C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6057" y="1275956"/>
                <a:ext cx="2925923" cy="846138"/>
              </a:xfrm>
              <a:prstGeom prst="rect">
                <a:avLst/>
              </a:prstGeom>
              <a:blipFill>
                <a:blip r:embed="rId24"/>
                <a:stretch>
                  <a:fillRect b="-381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对象 5">
                <a:extLst>
                  <a:ext uri="{FF2B5EF4-FFF2-40B4-BE49-F238E27FC236}">
                    <a16:creationId xmlns:a16="http://schemas.microsoft.com/office/drawing/2014/main" id="{B9D310D8-7A3C-44AE-9C25-D4ECF950FCBF}"/>
                  </a:ext>
                </a:extLst>
              </p:cNvPr>
              <p:cNvSpPr txBox="1"/>
              <p:nvPr/>
            </p:nvSpPr>
            <p:spPr bwMode="auto">
              <a:xfrm>
                <a:off x="4996061" y="1469612"/>
                <a:ext cx="2340060" cy="7252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0" name="对象 5">
                <a:extLst>
                  <a:ext uri="{FF2B5EF4-FFF2-40B4-BE49-F238E27FC236}">
                    <a16:creationId xmlns:a16="http://schemas.microsoft.com/office/drawing/2014/main" id="{B9D310D8-7A3C-44AE-9C25-D4ECF950F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96061" y="1469612"/>
                <a:ext cx="2340060" cy="72520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53" grpId="0"/>
      <p:bldP spid="252989" grpId="0"/>
      <p:bldP spid="252992" grpId="0"/>
      <p:bldP spid="252995" grpId="0"/>
      <p:bldP spid="252998" grpId="0"/>
      <p:bldP spid="330818" grpId="0"/>
      <p:bldP spid="59" grpId="0"/>
      <p:bldP spid="6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494853" y="4516349"/>
            <a:ext cx="754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两种介质的界面电场满足什么样的边界条件？</a:t>
            </a:r>
          </a:p>
        </p:txBody>
      </p:sp>
      <p:grpSp>
        <p:nvGrpSpPr>
          <p:cNvPr id="5" name="组合 11">
            <a:extLst>
              <a:ext uri="{FF2B5EF4-FFF2-40B4-BE49-F238E27FC236}">
                <a16:creationId xmlns:a16="http://schemas.microsoft.com/office/drawing/2014/main" id="{03397D45-BC6B-4557-A79A-B12764823C7B}"/>
              </a:ext>
            </a:extLst>
          </p:cNvPr>
          <p:cNvGrpSpPr>
            <a:grpSpLocks/>
          </p:cNvGrpSpPr>
          <p:nvPr/>
        </p:nvGrpSpPr>
        <p:grpSpPr bwMode="auto">
          <a:xfrm>
            <a:off x="972382" y="1998056"/>
            <a:ext cx="2160587" cy="1841500"/>
            <a:chOff x="6659563" y="147638"/>
            <a:chExt cx="2160587" cy="1841500"/>
          </a:xfrm>
        </p:grpSpPr>
        <p:sp>
          <p:nvSpPr>
            <p:cNvPr id="6" name="椭圆 63">
              <a:extLst>
                <a:ext uri="{FF2B5EF4-FFF2-40B4-BE49-F238E27FC236}">
                  <a16:creationId xmlns:a16="http://schemas.microsoft.com/office/drawing/2014/main" id="{53F552ED-A975-4EA6-96BA-6D25FBDE6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4236" y="692429"/>
              <a:ext cx="720080" cy="73213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50000"/>
                </a:spcBef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grpSp>
          <p:nvGrpSpPr>
            <p:cNvPr id="7" name="组合 1">
              <a:extLst>
                <a:ext uri="{FF2B5EF4-FFF2-40B4-BE49-F238E27FC236}">
                  <a16:creationId xmlns:a16="http://schemas.microsoft.com/office/drawing/2014/main" id="{FC684279-7D78-49E7-94A4-4D829FB8C2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59563" y="147638"/>
              <a:ext cx="2160587" cy="1841500"/>
              <a:chOff x="6659563" y="147638"/>
              <a:chExt cx="2160587" cy="1841500"/>
            </a:xfrm>
          </p:grpSpPr>
          <p:sp>
            <p:nvSpPr>
              <p:cNvPr id="8" name="AutoShape 73" descr="深色下对角线">
                <a:extLst>
                  <a:ext uri="{FF2B5EF4-FFF2-40B4-BE49-F238E27FC236}">
                    <a16:creationId xmlns:a16="http://schemas.microsoft.com/office/drawing/2014/main" id="{565876C7-FFAE-4FD1-854F-7BCAFFD6E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59563" y="160991"/>
                <a:ext cx="1904716" cy="1828147"/>
              </a:xfrm>
              <a:custGeom>
                <a:avLst/>
                <a:gdLst>
                  <a:gd name="T0" fmla="*/ 2147483646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2147483646 w 21600"/>
                  <a:gd name="T7" fmla="*/ 2147483646 h 21600"/>
                  <a:gd name="T8" fmla="*/ 2147483646 w 21600"/>
                  <a:gd name="T9" fmla="*/ 2147483646 h 21600"/>
                  <a:gd name="T10" fmla="*/ 2147483646 w 21600"/>
                  <a:gd name="T11" fmla="*/ 2147483646 h 21600"/>
                  <a:gd name="T12" fmla="*/ 2147483646 w 21600"/>
                  <a:gd name="T13" fmla="*/ 2147483646 h 21600"/>
                  <a:gd name="T14" fmla="*/ 2147483646 w 21600"/>
                  <a:gd name="T15" fmla="*/ 2147483646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8 w 21600"/>
                  <a:gd name="T25" fmla="*/ 3172 h 21600"/>
                  <a:gd name="T26" fmla="*/ 18432 w 21600"/>
                  <a:gd name="T27" fmla="*/ 18428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024" y="10800"/>
                    </a:moveTo>
                    <a:cubicBezTo>
                      <a:pt x="3024" y="15095"/>
                      <a:pt x="6505" y="18576"/>
                      <a:pt x="10800" y="18576"/>
                    </a:cubicBezTo>
                    <a:cubicBezTo>
                      <a:pt x="15095" y="18576"/>
                      <a:pt x="18576" y="15095"/>
                      <a:pt x="18576" y="10800"/>
                    </a:cubicBezTo>
                    <a:cubicBezTo>
                      <a:pt x="18576" y="6505"/>
                      <a:pt x="15095" y="3024"/>
                      <a:pt x="10800" y="3024"/>
                    </a:cubicBezTo>
                    <a:cubicBezTo>
                      <a:pt x="6505" y="3024"/>
                      <a:pt x="3024" y="6505"/>
                      <a:pt x="3024" y="10800"/>
                    </a:cubicBezTo>
                    <a:close/>
                  </a:path>
                </a:pathLst>
              </a:custGeom>
              <a:pattFill prst="dkDnDiag">
                <a:fgClr>
                  <a:srgbClr val="00CC99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楷体" panose="02010600040101010101" pitchFamily="2" charset="-122"/>
                </a:endParaRPr>
              </a:p>
            </p:txBody>
          </p:sp>
          <p:sp>
            <p:nvSpPr>
              <p:cNvPr id="9" name="AutoShape 74" descr="深色上对角线">
                <a:extLst>
                  <a:ext uri="{FF2B5EF4-FFF2-40B4-BE49-F238E27FC236}">
                    <a16:creationId xmlns:a16="http://schemas.microsoft.com/office/drawing/2014/main" id="{68C1656A-F27E-4CC7-B22D-EDB82AFF6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8129" y="410355"/>
                <a:ext cx="1447584" cy="1329417"/>
              </a:xfrm>
              <a:custGeom>
                <a:avLst/>
                <a:gdLst>
                  <a:gd name="T0" fmla="*/ 2147483646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2147483646 w 21600"/>
                  <a:gd name="T7" fmla="*/ 2147483646 h 21600"/>
                  <a:gd name="T8" fmla="*/ 2147483646 w 21600"/>
                  <a:gd name="T9" fmla="*/ 2147483646 h 21600"/>
                  <a:gd name="T10" fmla="*/ 2147483646 w 21600"/>
                  <a:gd name="T11" fmla="*/ 2147483646 h 21600"/>
                  <a:gd name="T12" fmla="*/ 2147483646 w 21600"/>
                  <a:gd name="T13" fmla="*/ 2147483646 h 21600"/>
                  <a:gd name="T14" fmla="*/ 2147483646 w 21600"/>
                  <a:gd name="T15" fmla="*/ 2147483646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74 w 21600"/>
                  <a:gd name="T25" fmla="*/ 3174 h 21600"/>
                  <a:gd name="T26" fmla="*/ 18426 w 21600"/>
                  <a:gd name="T27" fmla="*/ 18426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pattFill prst="dkUpDiag">
                <a:fgClr>
                  <a:srgbClr val="CCCCFF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楷体" panose="02010600040101010101" pitchFamily="2" charset="-122"/>
                </a:endParaRPr>
              </a:p>
            </p:txBody>
          </p:sp>
          <p:sp>
            <p:nvSpPr>
              <p:cNvPr id="10" name="Line 75">
                <a:extLst>
                  <a:ext uri="{FF2B5EF4-FFF2-40B4-BE49-F238E27FC236}">
                    <a16:creationId xmlns:a16="http://schemas.microsoft.com/office/drawing/2014/main" id="{A304FD91-8DD6-4965-BA69-5F2E133DBA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07159" y="1052033"/>
                <a:ext cx="160313" cy="320839"/>
              </a:xfrm>
              <a:prstGeom prst="line">
                <a:avLst/>
              </a:prstGeom>
              <a:noFill/>
              <a:ln w="28575">
                <a:solidFill>
                  <a:srgbClr val="2D23A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楷体" panose="02010600040101010101" pitchFamily="2" charset="-122"/>
                </a:endParaRPr>
              </a:p>
            </p:txBody>
          </p:sp>
          <p:sp>
            <p:nvSpPr>
              <p:cNvPr id="11" name="Line 76">
                <a:extLst>
                  <a:ext uri="{FF2B5EF4-FFF2-40B4-BE49-F238E27FC236}">
                    <a16:creationId xmlns:a16="http://schemas.microsoft.com/office/drawing/2014/main" id="{A9C79DB7-0E19-429A-AA2E-BDB366D813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121456" y="1052033"/>
                <a:ext cx="485703" cy="493965"/>
              </a:xfrm>
              <a:prstGeom prst="line">
                <a:avLst/>
              </a:prstGeom>
              <a:noFill/>
              <a:ln w="28575">
                <a:solidFill>
                  <a:srgbClr val="3333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楷体" panose="02010600040101010101" pitchFamily="2" charset="-122"/>
                </a:endParaRPr>
              </a:p>
            </p:txBody>
          </p:sp>
          <p:sp>
            <p:nvSpPr>
              <p:cNvPr id="12" name="Line 77">
                <a:extLst>
                  <a:ext uri="{FF2B5EF4-FFF2-40B4-BE49-F238E27FC236}">
                    <a16:creationId xmlns:a16="http://schemas.microsoft.com/office/drawing/2014/main" id="{8D897CC3-0EB2-4B4E-B159-EACF92796E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659563" y="1052033"/>
                <a:ext cx="947596" cy="2223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楷体" panose="0201060004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Object 78">
                    <a:extLst>
                      <a:ext uri="{FF2B5EF4-FFF2-40B4-BE49-F238E27FC236}">
                        <a16:creationId xmlns:a16="http://schemas.microsoft.com/office/drawing/2014/main" id="{4A43FF79-38A6-4D5A-9014-93B62C5F1270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8458254" y="147638"/>
                    <a:ext cx="361896" cy="5447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/>
                  </a:p>
                </p:txBody>
              </p:sp>
            </mc:Choice>
            <mc:Fallback xmlns="">
              <p:sp>
                <p:nvSpPr>
                  <p:cNvPr id="13" name="Object 78">
                    <a:extLst>
                      <a:ext uri="{FF2B5EF4-FFF2-40B4-BE49-F238E27FC236}">
                        <a16:creationId xmlns:a16="http://schemas.microsoft.com/office/drawing/2014/main" id="{4A43FF79-38A6-4D5A-9014-93B62C5F12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458254" y="147638"/>
                    <a:ext cx="361896" cy="54479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r="-3390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Object 79">
                    <a:extLst>
                      <a:ext uri="{FF2B5EF4-FFF2-40B4-BE49-F238E27FC236}">
                        <a16:creationId xmlns:a16="http://schemas.microsoft.com/office/drawing/2014/main" id="{A9D9A0BE-6842-474A-AF05-4321AA8B6078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557379" y="941771"/>
                    <a:ext cx="433814" cy="44067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/>
                  </a:p>
                </p:txBody>
              </p:sp>
            </mc:Choice>
            <mc:Fallback xmlns="">
              <p:sp>
                <p:nvSpPr>
                  <p:cNvPr id="14" name="Object 79">
                    <a:extLst>
                      <a:ext uri="{FF2B5EF4-FFF2-40B4-BE49-F238E27FC236}">
                        <a16:creationId xmlns:a16="http://schemas.microsoft.com/office/drawing/2014/main" id="{A9D9A0BE-6842-474A-AF05-4321AA8B60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557379" y="941771"/>
                    <a:ext cx="433814" cy="44067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2817" b="-5556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Object 80">
                    <a:extLst>
                      <a:ext uri="{FF2B5EF4-FFF2-40B4-BE49-F238E27FC236}">
                        <a16:creationId xmlns:a16="http://schemas.microsoft.com/office/drawing/2014/main" id="{3F40E56D-DF5D-4C0D-9798-0909A0B8F3BB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907058" y="535528"/>
                    <a:ext cx="342831" cy="4636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15" name="Object 80">
                    <a:extLst>
                      <a:ext uri="{FF2B5EF4-FFF2-40B4-BE49-F238E27FC236}">
                        <a16:creationId xmlns:a16="http://schemas.microsoft.com/office/drawing/2014/main" id="{3F40E56D-DF5D-4C0D-9798-0909A0B8F3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907058" y="535528"/>
                    <a:ext cx="342831" cy="46366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60714" b="-2632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Object 81">
                    <a:extLst>
                      <a:ext uri="{FF2B5EF4-FFF2-40B4-BE49-F238E27FC236}">
                        <a16:creationId xmlns:a16="http://schemas.microsoft.com/office/drawing/2014/main" id="{7B4AFCD8-0E8E-45A9-A86A-B5E2334A30E7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8105834" y="1395109"/>
                    <a:ext cx="377414" cy="4754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/>
                  </a:p>
                </p:txBody>
              </p:sp>
            </mc:Choice>
            <mc:Fallback xmlns="">
              <p:sp>
                <p:nvSpPr>
                  <p:cNvPr id="16" name="Object 81">
                    <a:extLst>
                      <a:ext uri="{FF2B5EF4-FFF2-40B4-BE49-F238E27FC236}">
                        <a16:creationId xmlns:a16="http://schemas.microsoft.com/office/drawing/2014/main" id="{7B4AFCD8-0E8E-45A9-A86A-B5E2334A30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105834" y="1395109"/>
                    <a:ext cx="377414" cy="47542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4516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Object 82">
                    <a:extLst>
                      <a:ext uri="{FF2B5EF4-FFF2-40B4-BE49-F238E27FC236}">
                        <a16:creationId xmlns:a16="http://schemas.microsoft.com/office/drawing/2014/main" id="{F2AB03F3-7806-4517-A895-4D56565C4196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6747845" y="610797"/>
                    <a:ext cx="416443" cy="45295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/>
                  </a:p>
                </p:txBody>
              </p:sp>
            </mc:Choice>
            <mc:Fallback xmlns="">
              <p:sp>
                <p:nvSpPr>
                  <p:cNvPr id="17" name="Object 82">
                    <a:extLst>
                      <a:ext uri="{FF2B5EF4-FFF2-40B4-BE49-F238E27FC236}">
                        <a16:creationId xmlns:a16="http://schemas.microsoft.com/office/drawing/2014/main" id="{F2AB03F3-7806-4517-A895-4D56565C41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747845" y="610797"/>
                    <a:ext cx="416443" cy="45295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5882" b="-270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Object 83">
                    <a:extLst>
                      <a:ext uri="{FF2B5EF4-FFF2-40B4-BE49-F238E27FC236}">
                        <a16:creationId xmlns:a16="http://schemas.microsoft.com/office/drawing/2014/main" id="{2F8A5CC8-A9B9-40A6-B361-4BAD052B2C84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234152" y="1326406"/>
                    <a:ext cx="344694" cy="42598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/>
                  </a:p>
                </p:txBody>
              </p:sp>
            </mc:Choice>
            <mc:Fallback xmlns="">
              <p:sp>
                <p:nvSpPr>
                  <p:cNvPr id="18" name="Object 83">
                    <a:extLst>
                      <a:ext uri="{FF2B5EF4-FFF2-40B4-BE49-F238E27FC236}">
                        <a16:creationId xmlns:a16="http://schemas.microsoft.com/office/drawing/2014/main" id="{2F8A5CC8-A9B9-40A6-B361-4BAD052B2C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234152" y="1326406"/>
                    <a:ext cx="344694" cy="4259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6786" b="-857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对象 18">
                <a:extLst>
                  <a:ext uri="{FF2B5EF4-FFF2-40B4-BE49-F238E27FC236}">
                    <a16:creationId xmlns:a16="http://schemas.microsoft.com/office/drawing/2014/main" id="{FA38ECB8-D60D-4073-A058-94281D764759}"/>
                  </a:ext>
                </a:extLst>
              </p:cNvPr>
              <p:cNvSpPr txBox="1"/>
              <p:nvPr/>
            </p:nvSpPr>
            <p:spPr bwMode="auto">
              <a:xfrm>
                <a:off x="5936605" y="3209773"/>
                <a:ext cx="2129920" cy="5286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对象 18">
                <a:extLst>
                  <a:ext uri="{FF2B5EF4-FFF2-40B4-BE49-F238E27FC236}">
                    <a16:creationId xmlns:a16="http://schemas.microsoft.com/office/drawing/2014/main" id="{FA38ECB8-D60D-4073-A058-94281D764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6605" y="3209773"/>
                <a:ext cx="2129920" cy="5286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对象 19">
                <a:extLst>
                  <a:ext uri="{FF2B5EF4-FFF2-40B4-BE49-F238E27FC236}">
                    <a16:creationId xmlns:a16="http://schemas.microsoft.com/office/drawing/2014/main" id="{3A07578F-29EB-445D-8BC0-941C8E412D08}"/>
                  </a:ext>
                </a:extLst>
              </p:cNvPr>
              <p:cNvSpPr txBox="1"/>
              <p:nvPr/>
            </p:nvSpPr>
            <p:spPr bwMode="auto">
              <a:xfrm>
                <a:off x="3815647" y="1824115"/>
                <a:ext cx="3033451" cy="973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对象 19">
                <a:extLst>
                  <a:ext uri="{FF2B5EF4-FFF2-40B4-BE49-F238E27FC236}">
                    <a16:creationId xmlns:a16="http://schemas.microsoft.com/office/drawing/2014/main" id="{3A07578F-29EB-445D-8BC0-941C8E412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5647" y="1824115"/>
                <a:ext cx="3033451" cy="9731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61">
                <a:extLst>
                  <a:ext uri="{FF2B5EF4-FFF2-40B4-BE49-F238E27FC236}">
                    <a16:creationId xmlns:a16="http://schemas.microsoft.com/office/drawing/2014/main" id="{52B5CAA1-6CDC-47B8-8512-3F93045A844F}"/>
                  </a:ext>
                </a:extLst>
              </p:cNvPr>
              <p:cNvSpPr txBox="1"/>
              <p:nvPr/>
            </p:nvSpPr>
            <p:spPr bwMode="auto">
              <a:xfrm>
                <a:off x="7394681" y="1792893"/>
                <a:ext cx="3033451" cy="1020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Object 61">
                <a:extLst>
                  <a:ext uri="{FF2B5EF4-FFF2-40B4-BE49-F238E27FC236}">
                    <a16:creationId xmlns:a16="http://schemas.microsoft.com/office/drawing/2014/main" id="{52B5CAA1-6CDC-47B8-8512-3F93045A8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94681" y="1792893"/>
                <a:ext cx="3033451" cy="10207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不等号 40">
            <a:extLst>
              <a:ext uri="{FF2B5EF4-FFF2-40B4-BE49-F238E27FC236}">
                <a16:creationId xmlns:a16="http://schemas.microsoft.com/office/drawing/2014/main" id="{0944A93A-C530-28C3-A176-6A1BD434D65E}"/>
              </a:ext>
            </a:extLst>
          </p:cNvPr>
          <p:cNvSpPr/>
          <p:nvPr/>
        </p:nvSpPr>
        <p:spPr>
          <a:xfrm>
            <a:off x="6756153" y="2126481"/>
            <a:ext cx="494259" cy="406499"/>
          </a:xfrm>
          <a:prstGeom prst="mathNotEqual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6309A60-0FE7-4446-9893-9E0A22A10DC0}"/>
              </a:ext>
            </a:extLst>
          </p:cNvPr>
          <p:cNvSpPr/>
          <p:nvPr/>
        </p:nvSpPr>
        <p:spPr>
          <a:xfrm>
            <a:off x="1200948" y="595613"/>
            <a:ext cx="39356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静电场的边界条件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C6D6235-0DEA-4782-AEC6-1734E672B48B}"/>
              </a:ext>
            </a:extLst>
          </p:cNvPr>
          <p:cNvSpPr/>
          <p:nvPr/>
        </p:nvSpPr>
        <p:spPr>
          <a:xfrm>
            <a:off x="3422794" y="5457507"/>
            <a:ext cx="754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电场线与介质界面垂直吗？</a:t>
            </a:r>
          </a:p>
        </p:txBody>
      </p:sp>
    </p:spTree>
    <p:extLst>
      <p:ext uri="{BB962C8B-B14F-4D97-AF65-F5344CB8AC3E}">
        <p14:creationId xmlns:p14="http://schemas.microsoft.com/office/powerpoint/2010/main" val="3296028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4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62" r="8965" b="51505"/>
          <a:stretch/>
        </p:blipFill>
        <p:spPr>
          <a:xfrm rot="16200000">
            <a:off x="1808054" y="-73065"/>
            <a:ext cx="1936860" cy="4443766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998367" y="903369"/>
                <a:ext cx="7543800" cy="22401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2800" dirty="0"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altLang="zh-CN" sz="2800" dirty="0">
                    <a:latin typeface="+mn-ea"/>
                    <a:cs typeface="Times New Roman" panose="02020603050405020304" pitchFamily="18" charset="0"/>
                  </a:rPr>
                  <a:t>-  </a:t>
                </a:r>
                <a:r>
                  <a:rPr lang="zh-CN" altLang="en-US" sz="2800" dirty="0">
                    <a:latin typeface="+mn-ea"/>
                    <a:cs typeface="Times New Roman" panose="02020603050405020304" pitchFamily="18" charset="0"/>
                  </a:rPr>
                  <a:t>分界面两侧的电场强度的切向分量相等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367" y="903369"/>
                <a:ext cx="7543800" cy="2240100"/>
              </a:xfrm>
              <a:prstGeom prst="rect">
                <a:avLst/>
              </a:prstGeom>
              <a:blipFill>
                <a:blip r:embed="rId3"/>
                <a:stretch>
                  <a:fillRect l="-1698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图片 21">
            <a:extLst>
              <a:ext uri="{FF2B5EF4-FFF2-40B4-BE49-F238E27FC236}">
                <a16:creationId xmlns:a16="http://schemas.microsoft.com/office/drawing/2014/main" id="{B6DD5D99-8C05-78CE-1793-3880FE909D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687" b="42237"/>
          <a:stretch/>
        </p:blipFill>
        <p:spPr>
          <a:xfrm>
            <a:off x="924947" y="3623167"/>
            <a:ext cx="3480472" cy="17110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547BB7E2-17C4-2261-A947-CD6F068EC972}"/>
                  </a:ext>
                </a:extLst>
              </p:cNvPr>
              <p:cNvSpPr/>
              <p:nvPr/>
            </p:nvSpPr>
            <p:spPr>
              <a:xfrm>
                <a:off x="4862762" y="3583731"/>
                <a:ext cx="7114676" cy="24810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800" i="1" dirty="0">
                  <a:solidFill>
                    <a:srgbClr val="000000"/>
                  </a:solidFill>
                  <a:latin typeface="+mn-ea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800" i="1" dirty="0">
                  <a:solidFill>
                    <a:srgbClr val="000000"/>
                  </a:solidFill>
                  <a:latin typeface="+mn-ea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-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分界面两侧电位移矢量的法向分量相等</a:t>
                </a: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547BB7E2-17C4-2261-A947-CD6F068EC9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762" y="3583731"/>
                <a:ext cx="7114676" cy="2481000"/>
              </a:xfrm>
              <a:prstGeom prst="rect">
                <a:avLst/>
              </a:prstGeom>
              <a:blipFill>
                <a:blip r:embed="rId5"/>
                <a:stretch>
                  <a:fillRect l="-1799" b="-58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10">
            <a:extLst>
              <a:ext uri="{FF2B5EF4-FFF2-40B4-BE49-F238E27FC236}">
                <a16:creationId xmlns:a16="http://schemas.microsoft.com/office/drawing/2014/main" id="{333F3741-1AF9-CD93-11D7-502ED0625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099" y="5500126"/>
            <a:ext cx="306076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如果分界面上没有自由电荷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6408AC-165C-4FAE-A7B6-586A9C298274}"/>
              </a:ext>
            </a:extLst>
          </p:cNvPr>
          <p:cNvSpPr/>
          <p:nvPr/>
        </p:nvSpPr>
        <p:spPr>
          <a:xfrm>
            <a:off x="1200948" y="595613"/>
            <a:ext cx="39356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静电场的边界条件</a:t>
            </a:r>
          </a:p>
        </p:txBody>
      </p:sp>
    </p:spTree>
    <p:extLst>
      <p:ext uri="{BB962C8B-B14F-4D97-AF65-F5344CB8AC3E}">
        <p14:creationId xmlns:p14="http://schemas.microsoft.com/office/powerpoint/2010/main" val="1262484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AEB7A1BA-C814-40E0-B523-BCD7753B3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6993" y="3429000"/>
            <a:ext cx="4983922" cy="1325563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0066FF"/>
                </a:solidFill>
              </a:rPr>
              <a:t>D</a:t>
            </a:r>
            <a:r>
              <a:rPr lang="zh-CN" altLang="en-US" sz="3200" dirty="0">
                <a:solidFill>
                  <a:srgbClr val="0066FF"/>
                </a:solidFill>
              </a:rPr>
              <a:t>线的折射定律</a:t>
            </a:r>
          </a:p>
        </p:txBody>
      </p:sp>
      <p:pic>
        <p:nvPicPr>
          <p:cNvPr id="12" name="内容占位符 3">
            <a:extLst>
              <a:ext uri="{FF2B5EF4-FFF2-40B4-BE49-F238E27FC236}">
                <a16:creationId xmlns:a16="http://schemas.microsoft.com/office/drawing/2014/main" id="{E3DAE083-846A-447E-9F02-836C4EF6A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92"/>
          <a:stretch/>
        </p:blipFill>
        <p:spPr>
          <a:xfrm rot="5400000">
            <a:off x="1630819" y="930510"/>
            <a:ext cx="2144867" cy="370302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07EE38B-822C-4D42-A260-267BCDF0D3CC}"/>
                  </a:ext>
                </a:extLst>
              </p:cNvPr>
              <p:cNvSpPr/>
              <p:nvPr/>
            </p:nvSpPr>
            <p:spPr>
              <a:xfrm>
                <a:off x="4388624" y="2277298"/>
                <a:ext cx="7543800" cy="1009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𝒕𝒂𝒏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US" altLang="zh-CN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  <m:r>
                        <a:rPr lang="en-US" altLang="zh-CN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07EE38B-822C-4D42-A260-267BCDF0D3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624" y="2277298"/>
                <a:ext cx="7543800" cy="1009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5755D55A-D87F-465E-A132-6CCD81E7F282}"/>
              </a:ext>
            </a:extLst>
          </p:cNvPr>
          <p:cNvSpPr/>
          <p:nvPr/>
        </p:nvSpPr>
        <p:spPr>
          <a:xfrm>
            <a:off x="1200948" y="595613"/>
            <a:ext cx="39356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静电场的边界条件</a:t>
            </a:r>
          </a:p>
        </p:txBody>
      </p:sp>
    </p:spTree>
    <p:extLst>
      <p:ext uri="{BB962C8B-B14F-4D97-AF65-F5344CB8AC3E}">
        <p14:creationId xmlns:p14="http://schemas.microsoft.com/office/powerpoint/2010/main" val="41244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大学物理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CA343C45D49B2744AE1406E56A2ED666" ma:contentTypeVersion="1" ma:contentTypeDescription="新建文档。" ma:contentTypeScope="" ma:versionID="6b0f810430c447e99b80ecacf0b04663">
  <xsd:schema xmlns:xsd="http://www.w3.org/2001/XMLSchema" xmlns:xs="http://www.w3.org/2001/XMLSchema" xmlns:p="http://schemas.microsoft.com/office/2006/metadata/properties" xmlns:ns3="25ea6e4d-8952-4839-be57-11fda0df19d2" targetNamespace="http://schemas.microsoft.com/office/2006/metadata/properties" ma:root="true" ma:fieldsID="eb43a71fd68e81875b93fced2c01a36c" ns3:_="">
    <xsd:import namespace="25ea6e4d-8952-4839-be57-11fda0df19d2"/>
    <xsd:element name="properties">
      <xsd:complexType>
        <xsd:sequence>
          <xsd:element name="documentManagement">
            <xsd:complexType>
              <xsd:all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ea6e4d-8952-4839-be57-11fda0df19d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5ea6e4d-8952-4839-be57-11fda0df19d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0120BB-0242-44D2-A7C4-92F3A0AE11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ea6e4d-8952-4839-be57-11fda0df19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680EDA7-8B72-4DCC-8942-51E1EC2DBC5E}">
  <ds:schemaRefs>
    <ds:schemaRef ds:uri="http://schemas.microsoft.com/office/infopath/2007/PartnerControls"/>
    <ds:schemaRef ds:uri="25ea6e4d-8952-4839-be57-11fda0df19d2"/>
    <ds:schemaRef ds:uri="http://purl.org/dc/dcmitype/"/>
    <ds:schemaRef ds:uri="http://purl.org/dc/elements/1.1/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2006/metadata/properties"/>
    <ds:schemaRef ds:uri="http://schemas.microsoft.com/office/2006/documentManagement/types"/>
  </ds:schemaRefs>
</ds:datastoreItem>
</file>

<file path=customXml/itemProps3.xml><?xml version="1.0" encoding="utf-8"?>
<ds:datastoreItem xmlns:ds="http://schemas.openxmlformats.org/officeDocument/2006/customXml" ds:itemID="{D0BC6AA1-A723-4C18-A512-D9ED6B3D7C6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13586</TotalTime>
  <Words>1455</Words>
  <Application>Microsoft Office PowerPoint</Application>
  <PresentationFormat>宽屏</PresentationFormat>
  <Paragraphs>327</Paragraphs>
  <Slides>28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4" baseType="lpstr">
      <vt:lpstr>-apple-system</vt:lpstr>
      <vt:lpstr>Microsoft Yahei</vt:lpstr>
      <vt:lpstr>Monotype Sorts</vt:lpstr>
      <vt:lpstr>等线</vt:lpstr>
      <vt:lpstr>黑体</vt:lpstr>
      <vt:lpstr>华文楷体</vt:lpstr>
      <vt:lpstr>华文新魏</vt:lpstr>
      <vt:lpstr>宋体</vt:lpstr>
      <vt:lpstr>Arial</vt:lpstr>
      <vt:lpstr>Calibri</vt:lpstr>
      <vt:lpstr>Cambria Math</vt:lpstr>
      <vt:lpstr>Symbol</vt:lpstr>
      <vt:lpstr>Times New Roman</vt:lpstr>
      <vt:lpstr>Wingdings</vt:lpstr>
      <vt:lpstr>Office 主题​​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各向同性电介质</vt:lpstr>
      <vt:lpstr>例：一半径为R的金属球，带有电荷q0，浸埋在一个大油箱中，油的相对介电常数为ε_r，求球外电场和极化电荷分布。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D线的折射定律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Jingcheng  Li</dc:creator>
  <cp:lastModifiedBy>Jingcheng  Li</cp:lastModifiedBy>
  <cp:revision>270</cp:revision>
  <dcterms:created xsi:type="dcterms:W3CDTF">2023-02-17T03:39:54Z</dcterms:created>
  <dcterms:modified xsi:type="dcterms:W3CDTF">2024-03-28T04:25:34Z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0x010100CA343C45D49B2744AE1406E56A2ED666</vt:lpwstr>
  </property>
</Properties>
</file>