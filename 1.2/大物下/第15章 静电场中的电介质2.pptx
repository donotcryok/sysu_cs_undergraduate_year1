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1199" r:id="rId5"/>
    <p:sldId id="480" r:id="rId6"/>
    <p:sldId id="841" r:id="rId7"/>
    <p:sldId id="874" r:id="rId8"/>
    <p:sldId id="1210" r:id="rId9"/>
    <p:sldId id="898" r:id="rId10"/>
    <p:sldId id="1222" r:id="rId11"/>
    <p:sldId id="1211" r:id="rId12"/>
    <p:sldId id="1212" r:id="rId13"/>
    <p:sldId id="475" r:id="rId14"/>
    <p:sldId id="1218" r:id="rId15"/>
    <p:sldId id="1207" r:id="rId16"/>
    <p:sldId id="1219" r:id="rId17"/>
    <p:sldId id="884" r:id="rId18"/>
    <p:sldId id="885" r:id="rId19"/>
    <p:sldId id="886" r:id="rId20"/>
    <p:sldId id="476" r:id="rId21"/>
    <p:sldId id="1215" r:id="rId22"/>
    <p:sldId id="320" r:id="rId23"/>
    <p:sldId id="321" r:id="rId24"/>
    <p:sldId id="322" r:id="rId25"/>
    <p:sldId id="323" r:id="rId26"/>
    <p:sldId id="1221" r:id="rId27"/>
    <p:sldId id="304" r:id="rId28"/>
    <p:sldId id="1220" r:id="rId29"/>
    <p:sldId id="1224" r:id="rId30"/>
    <p:sldId id="318" r:id="rId31"/>
    <p:sldId id="122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38" autoAdjust="0"/>
    <p:restoredTop sz="94662" autoAdjust="0"/>
  </p:normalViewPr>
  <p:slideViewPr>
    <p:cSldViewPr snapToGrid="0">
      <p:cViewPr varScale="1">
        <p:scale>
          <a:sx n="80" d="100"/>
          <a:sy n="80" d="100"/>
        </p:scale>
        <p:origin x="5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733EA-8E6D-4666-B9D4-9ACE27AD59EA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FE689-547E-4EC7-A7DE-41A4901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26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1080336-09C4-46B6-BBE4-0CDED8EE3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B025F0B-D201-4C2C-BAC0-40A365022723}" type="slidenum">
              <a:rPr lang="en-US" altLang="zh-CN" smtClean="0">
                <a:solidFill>
                  <a:srgbClr val="000000"/>
                </a:solidFill>
                <a:ea typeface="华文楷体" panose="02010600040101010101" pitchFamily="2" charset="-122"/>
              </a:rPr>
              <a:pPr>
                <a:spcBef>
                  <a:spcPct val="0"/>
                </a:spcBef>
              </a:pPr>
              <a:t>2</a:t>
            </a:fld>
            <a:endParaRPr lang="en-US" altLang="zh-CN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79A145D5-5AE8-4101-AB83-673B750E0F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9A4E28B-EB43-49C9-B447-3193F41617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76148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C103D3-6AD7-49DD-951F-9630ECC8A06A}" type="slidenum">
              <a:rPr lang="zh-CN" altLang="en-US" smtClean="0">
                <a:ea typeface="华文楷体" panose="02010600040101010101" pitchFamily="2" charset="-122"/>
              </a:rPr>
              <a:t>3</a:t>
            </a:fld>
            <a:endParaRPr lang="zh-CN" altLang="en-US" dirty="0"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209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000000"/>
                </a:solidFill>
                <a:latin typeface="+mj-ea"/>
              </a:rPr>
              <a:t>在做电学实验时，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+mj-ea"/>
              </a:rPr>
              <a:t>无意中把一个带了电的钉子掉进玻璃瓶里，他以为要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+mj-ea"/>
              </a:rPr>
              <a:t>不了多久，铁钉上所带的电就会很容易跑掉的，过了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+mj-ea"/>
              </a:rPr>
              <a:t>一会，他想把钉子取出来，可当他一只手拿起桌上的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+mj-ea"/>
              </a:rPr>
              <a:t>瓶子，另一只手刚碰到钉子时，突然感到有一种电击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+mj-ea"/>
              </a:rPr>
              <a:t>式的振动。他又重复了好几次，而结果都一样。于是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+mj-ea"/>
              </a:rPr>
              <a:t>他</a:t>
            </a:r>
            <a:r>
              <a:rPr lang="zh-CN" altLang="en-US" sz="1200" dirty="0">
                <a:solidFill>
                  <a:srgbClr val="FF0000"/>
                </a:solidFill>
                <a:latin typeface="+mj-ea"/>
              </a:rPr>
              <a:t>得出结论</a:t>
            </a:r>
            <a:r>
              <a:rPr lang="zh-CN" altLang="en-US" sz="1200" dirty="0">
                <a:solidFill>
                  <a:srgbClr val="000000"/>
                </a:solidFill>
                <a:latin typeface="+mj-ea"/>
              </a:rPr>
              <a:t>：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5CF267-BCE1-47DE-964D-4AC24D6E46A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41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5CF267-BCE1-47DE-964D-4AC24D6E46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84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3416B844-3D5D-441A-9346-8677539070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4B73C6B-D8D3-4F94-9B24-F99BF05FFDAA}" type="slidenum">
              <a:rPr lang="en-US" altLang="zh-CN" smtClean="0">
                <a:solidFill>
                  <a:srgbClr val="000000"/>
                </a:solidFill>
                <a:ea typeface="华文楷体" panose="02010600040101010101" pitchFamily="2" charset="-122"/>
              </a:rPr>
              <a:pPr>
                <a:spcBef>
                  <a:spcPct val="0"/>
                </a:spcBef>
              </a:pPr>
              <a:t>10</a:t>
            </a:fld>
            <a:endParaRPr lang="en-US" altLang="zh-CN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0387EEC8-1ADC-438F-A0AA-086B7ADC55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4AC320EF-1308-4283-949A-F31ECA17E7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3416B844-3D5D-441A-9346-8677539070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4B73C6B-D8D3-4F94-9B24-F99BF05FFDAA}" type="slidenum">
              <a:rPr lang="en-US" altLang="zh-CN" smtClean="0">
                <a:solidFill>
                  <a:srgbClr val="000000"/>
                </a:solidFill>
                <a:ea typeface="华文楷体" panose="02010600040101010101" pitchFamily="2" charset="-122"/>
              </a:rPr>
              <a:pPr>
                <a:spcBef>
                  <a:spcPct val="0"/>
                </a:spcBef>
              </a:pPr>
              <a:t>11</a:t>
            </a:fld>
            <a:endParaRPr lang="en-US" altLang="zh-CN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0387EEC8-1ADC-438F-A0AA-086B7ADC55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4AC320EF-1308-4283-949A-F31ECA17E7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88226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上下平分，距离为</a:t>
            </a:r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5CF267-BCE1-47DE-964D-4AC24D6E46A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46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61C5C8F1-61C7-43D1-B10A-7776E630A0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7D22465-F57C-462C-B5C8-F5CAB43AADDF}" type="slidenum">
              <a:rPr lang="en-US" altLang="zh-CN" smtClean="0">
                <a:solidFill>
                  <a:srgbClr val="000000"/>
                </a:solidFill>
                <a:ea typeface="华文楷体" panose="02010600040101010101" pitchFamily="2" charset="-122"/>
              </a:rPr>
              <a:pPr>
                <a:spcBef>
                  <a:spcPct val="0"/>
                </a:spcBef>
              </a:pPr>
              <a:t>17</a:t>
            </a:fld>
            <a:endParaRPr lang="en-US" altLang="zh-CN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0812E8AE-0592-430A-A7A9-B52DEE279C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A2A7A1BA-3CBA-4502-BF32-9DFD461E45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5CF267-BCE1-47DE-964D-4AC24D6E46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03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6763"/>
            <a:ext cx="6815138" cy="3833812"/>
          </a:xfrm>
          <a:prstGeom prst="rect">
            <a:avLst/>
          </a:prstGeo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759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075D9-9C0A-4907-9E0A-2E1C5E387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3CDB30-CF70-4C98-8777-71D0DE601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455DCF-EA4C-4853-BD99-7C8B1152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57D055-1BEA-4835-BCF3-DA518BC7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424949-9B6D-4ABE-81D0-3E801610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8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3ECBA-8D3D-44FD-8451-1C68376A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32FE7C-6E4F-4D24-8713-B2191E020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4F968E-F782-49B7-8CFB-D5AD5205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733CAE-7B6D-4B2F-A356-51AA8A9B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C30F0-28D6-4C9B-AEE5-03D12DB8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E53B1-9079-49D9-9131-26E0E03C6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F01D29-1A52-4551-9AAD-87EDF9D76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D2B19E-2D1A-4065-8E51-732596D1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70643E-4976-4353-A93C-94547389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E8924-C3CD-4AD0-8D20-BDBCD27DF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BD28B-F5E7-4DEF-A7ED-85E67C83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B5A803-634D-4E5A-8215-1F45D12CC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45702B-45D0-4EB5-AAA5-C47494C79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713FAE-28EA-4DD1-B781-345A797E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B78BAD-ABD9-461C-A7F6-83BEE5EA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AFC4C7-93A9-4642-A356-4D4E2BD3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57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4F436-0EA1-486E-BFA5-AEFC10B54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E3DD6-1221-4B2B-A081-C438B4EA1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A0C97E-5BD2-4E0E-B6D8-06BA9CC07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A250BC-6CDA-4F55-9122-E95732154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9A7F6C-B16D-4596-8C2E-4B3AAA599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6CDA96-F74A-4624-A701-06BB40E85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82C964-0DCE-4251-A2D2-8B40BD44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F80643-74A0-4D0A-B3AE-FDFCC0037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4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1D687-2952-433A-A486-099C48C4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4DCF08-EA4B-4E0C-B9DA-AF780B86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DF4D79-43A3-4D15-AADB-49E2A00CD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7F9052-09FA-4D04-AB45-329EED24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6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E4DD36-7F96-444A-A9B7-5FBBE9CE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8F5D18-B09A-4096-AFDA-96A804D6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CC0151-1B68-4B32-AB2F-4A65BE2A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6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FBC3E4-C582-4A91-A7AE-1D796218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42F964-0EB5-4901-BC24-85E335433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6385E8-484A-4DCD-B049-3172288A7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569B17-EB32-4F6A-9B7C-5B597E7C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4C8B3B-8E4D-4EBB-8A2B-D5C7322C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762D6F-D0D3-4812-B6E8-731E7AFB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6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EBE16-E626-4C00-8722-0F82B3A32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5C2DE1-D969-4D9C-B72F-3E40B9672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0D0D84-9E46-41CD-A472-B1029A0FC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C908C6-21BD-4D14-B9E5-67673794C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237D1E-BE48-42AB-BF84-696F9BA0C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5CDD9A-D6DD-4908-A730-2867C019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83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F7F10-CD63-4FB1-A171-A7DAAE888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F1AB79-8425-466E-A8A5-DADBC36F2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9E2F66-1492-47A7-BCD3-BF219BAE6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42A3AF-5C92-49DE-B7CE-F57501C2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E16F9F-8375-4DF1-A57B-BDA6BF36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09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CEAE66-692B-4D65-A7C3-1680609F0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818DC3-D68F-47FD-9934-DB88063C3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197317-A46D-420C-A392-2D9B93AC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B454CD-23C0-496D-BC54-03322B1D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57EF11-F507-4D48-9B8C-E8680A05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2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8EF7D3-5A27-4B57-8A33-E7C0DD1B0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E378D8-CAD9-4EDA-B737-D08910374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61C7E5-DED7-4901-BEA1-361A29013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9C8CB-8203-4113-BC19-5C96839CBD45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BCA12B-ADFA-4389-8BED-E30DC2D60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7DB51E-6AD4-4AAC-BD8A-505C38223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3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96.png"/><Relationship Id="rId7" Type="http://schemas.openxmlformats.org/officeDocument/2006/relationships/image" Target="../media/image14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73.png"/><Relationship Id="rId10" Type="http://schemas.openxmlformats.org/officeDocument/2006/relationships/image" Target="../media/image16.png"/><Relationship Id="rId4" Type="http://schemas.openxmlformats.org/officeDocument/2006/relationships/image" Target="../media/image62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17.png"/><Relationship Id="rId18" Type="http://schemas.openxmlformats.org/officeDocument/2006/relationships/image" Target="../media/image113.png"/><Relationship Id="rId3" Type="http://schemas.openxmlformats.org/officeDocument/2006/relationships/image" Target="../media/image107.png"/><Relationship Id="rId21" Type="http://schemas.openxmlformats.org/officeDocument/2006/relationships/image" Target="../media/image119.png"/><Relationship Id="rId7" Type="http://schemas.openxmlformats.org/officeDocument/2006/relationships/image" Target="../media/image1010.png"/><Relationship Id="rId12" Type="http://schemas.openxmlformats.org/officeDocument/2006/relationships/image" Target="../media/image116.png"/><Relationship Id="rId17" Type="http://schemas.openxmlformats.org/officeDocument/2006/relationships/image" Target="../media/image11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1.png"/><Relationship Id="rId20" Type="http://schemas.openxmlformats.org/officeDocument/2006/relationships/image" Target="../media/image1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01.png"/><Relationship Id="rId23" Type="http://schemas.openxmlformats.org/officeDocument/2006/relationships/image" Target="../media/image121.png"/><Relationship Id="rId19" Type="http://schemas.openxmlformats.org/officeDocument/2006/relationships/image" Target="../media/image114.png"/><Relationship Id="rId4" Type="http://schemas.openxmlformats.org/officeDocument/2006/relationships/image" Target="../media/image108.png"/><Relationship Id="rId14" Type="http://schemas.openxmlformats.org/officeDocument/2006/relationships/image" Target="../media/image1060.png"/><Relationship Id="rId22" Type="http://schemas.openxmlformats.org/officeDocument/2006/relationships/image" Target="../media/image1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0.png"/><Relationship Id="rId13" Type="http://schemas.openxmlformats.org/officeDocument/2006/relationships/image" Target="../media/image117.png"/><Relationship Id="rId3" Type="http://schemas.openxmlformats.org/officeDocument/2006/relationships/image" Target="../media/image107.png"/><Relationship Id="rId7" Type="http://schemas.openxmlformats.org/officeDocument/2006/relationships/image" Target="../media/image1110.png"/><Relationship Id="rId12" Type="http://schemas.openxmlformats.org/officeDocument/2006/relationships/image" Target="../media/image1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0" Type="http://schemas.openxmlformats.org/officeDocument/2006/relationships/image" Target="../media/image20.png"/><Relationship Id="rId4" Type="http://schemas.openxmlformats.org/officeDocument/2006/relationships/image" Target="../media/image108.png"/><Relationship Id="rId9" Type="http://schemas.openxmlformats.org/officeDocument/2006/relationships/image" Target="../media/image1130.png"/><Relationship Id="rId14" Type="http://schemas.openxmlformats.org/officeDocument/2006/relationships/image" Target="../media/image118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0.png"/><Relationship Id="rId5" Type="http://schemas.openxmlformats.org/officeDocument/2006/relationships/image" Target="../media/image1220.png"/><Relationship Id="rId4" Type="http://schemas.openxmlformats.org/officeDocument/2006/relationships/image" Target="../media/image12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80.png"/><Relationship Id="rId18" Type="http://schemas.openxmlformats.org/officeDocument/2006/relationships/image" Target="../media/image185.png"/><Relationship Id="rId3" Type="http://schemas.openxmlformats.org/officeDocument/2006/relationships/image" Target="../media/image137.png"/><Relationship Id="rId7" Type="http://schemas.openxmlformats.org/officeDocument/2006/relationships/image" Target="../media/image143.png"/><Relationship Id="rId12" Type="http://schemas.openxmlformats.org/officeDocument/2006/relationships/image" Target="../media/image179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83.png"/><Relationship Id="rId20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3.png"/><Relationship Id="rId11" Type="http://schemas.openxmlformats.org/officeDocument/2006/relationships/image" Target="../media/image148.png"/><Relationship Id="rId5" Type="http://schemas.openxmlformats.org/officeDocument/2006/relationships/image" Target="../media/image172.png"/><Relationship Id="rId15" Type="http://schemas.openxmlformats.org/officeDocument/2006/relationships/image" Target="../media/image182.png"/><Relationship Id="rId10" Type="http://schemas.openxmlformats.org/officeDocument/2006/relationships/image" Target="../media/image147.png"/><Relationship Id="rId19" Type="http://schemas.openxmlformats.org/officeDocument/2006/relationships/image" Target="../media/image186.png"/><Relationship Id="rId4" Type="http://schemas.openxmlformats.org/officeDocument/2006/relationships/image" Target="../media/image138.png"/><Relationship Id="rId9" Type="http://schemas.openxmlformats.org/officeDocument/2006/relationships/image" Target="../media/image146.png"/><Relationship Id="rId14" Type="http://schemas.openxmlformats.org/officeDocument/2006/relationships/image" Target="../media/image18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1.png"/><Relationship Id="rId7" Type="http://schemas.openxmlformats.org/officeDocument/2006/relationships/image" Target="../media/image15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3" Type="http://schemas.openxmlformats.org/officeDocument/2006/relationships/image" Target="../media/image158.png"/><Relationship Id="rId7" Type="http://schemas.openxmlformats.org/officeDocument/2006/relationships/image" Target="../media/image164.png"/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3.png"/><Relationship Id="rId11" Type="http://schemas.openxmlformats.org/officeDocument/2006/relationships/image" Target="../media/image254.png"/><Relationship Id="rId5" Type="http://schemas.openxmlformats.org/officeDocument/2006/relationships/image" Target="../media/image162.png"/><Relationship Id="rId10" Type="http://schemas.openxmlformats.org/officeDocument/2006/relationships/image" Target="../media/image253.png"/><Relationship Id="rId4" Type="http://schemas.openxmlformats.org/officeDocument/2006/relationships/image" Target="../media/image161.png"/><Relationship Id="rId9" Type="http://schemas.openxmlformats.org/officeDocument/2006/relationships/image" Target="../media/image25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12" Type="http://schemas.openxmlformats.org/officeDocument/2006/relationships/image" Target="../media/image265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9.png"/><Relationship Id="rId11" Type="http://schemas.openxmlformats.org/officeDocument/2006/relationships/image" Target="../media/image264.png"/><Relationship Id="rId5" Type="http://schemas.openxmlformats.org/officeDocument/2006/relationships/image" Target="../media/image168.png"/><Relationship Id="rId10" Type="http://schemas.openxmlformats.org/officeDocument/2006/relationships/image" Target="../media/image263.png"/><Relationship Id="rId4" Type="http://schemas.openxmlformats.org/officeDocument/2006/relationships/image" Target="../media/image167.png"/><Relationship Id="rId9" Type="http://schemas.openxmlformats.org/officeDocument/2006/relationships/image" Target="../media/image26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3" Type="http://schemas.openxmlformats.org/officeDocument/2006/relationships/image" Target="../media/image277.png"/><Relationship Id="rId3" Type="http://schemas.openxmlformats.org/officeDocument/2006/relationships/image" Target="../media/image174.png"/><Relationship Id="rId7" Type="http://schemas.openxmlformats.org/officeDocument/2006/relationships/image" Target="../media/image178.png"/><Relationship Id="rId12" Type="http://schemas.openxmlformats.org/officeDocument/2006/relationships/image" Target="../media/image276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png"/><Relationship Id="rId11" Type="http://schemas.openxmlformats.org/officeDocument/2006/relationships/image" Target="../media/image275.png"/><Relationship Id="rId5" Type="http://schemas.openxmlformats.org/officeDocument/2006/relationships/image" Target="../media/image176.png"/><Relationship Id="rId10" Type="http://schemas.openxmlformats.org/officeDocument/2006/relationships/image" Target="../media/image274.png"/><Relationship Id="rId4" Type="http://schemas.openxmlformats.org/officeDocument/2006/relationships/image" Target="../media/image175.png"/><Relationship Id="rId9" Type="http://schemas.openxmlformats.org/officeDocument/2006/relationships/image" Target="../media/image27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13" Type="http://schemas.openxmlformats.org/officeDocument/2006/relationships/image" Target="../media/image263.png"/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12" Type="http://schemas.openxmlformats.org/officeDocument/2006/relationships/image" Target="../media/image262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1.png"/><Relationship Id="rId11" Type="http://schemas.openxmlformats.org/officeDocument/2006/relationships/image" Target="../media/image261.png"/><Relationship Id="rId5" Type="http://schemas.openxmlformats.org/officeDocument/2006/relationships/image" Target="../media/image190.png"/><Relationship Id="rId15" Type="http://schemas.openxmlformats.org/officeDocument/2006/relationships/image" Target="../media/image265.png"/><Relationship Id="rId10" Type="http://schemas.openxmlformats.org/officeDocument/2006/relationships/image" Target="../media/image195.png"/><Relationship Id="rId4" Type="http://schemas.openxmlformats.org/officeDocument/2006/relationships/image" Target="../media/image189.png"/><Relationship Id="rId9" Type="http://schemas.openxmlformats.org/officeDocument/2006/relationships/image" Target="../media/image194.png"/><Relationship Id="rId14" Type="http://schemas.openxmlformats.org/officeDocument/2006/relationships/image" Target="../media/image26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12.png"/><Relationship Id="rId18" Type="http://schemas.openxmlformats.org/officeDocument/2006/relationships/image" Target="../media/image217.png"/><Relationship Id="rId3" Type="http://schemas.openxmlformats.org/officeDocument/2006/relationships/image" Target="../media/image202.png"/><Relationship Id="rId21" Type="http://schemas.openxmlformats.org/officeDocument/2006/relationships/image" Target="../media/image220.png"/><Relationship Id="rId7" Type="http://schemas.openxmlformats.org/officeDocument/2006/relationships/image" Target="../media/image28.png"/><Relationship Id="rId12" Type="http://schemas.openxmlformats.org/officeDocument/2006/relationships/image" Target="../media/image211.png"/><Relationship Id="rId17" Type="http://schemas.openxmlformats.org/officeDocument/2006/relationships/image" Target="../media/image216.png"/><Relationship Id="rId2" Type="http://schemas.openxmlformats.org/officeDocument/2006/relationships/image" Target="../media/image20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5.png"/><Relationship Id="rId11" Type="http://schemas.openxmlformats.org/officeDocument/2006/relationships/image" Target="../media/image31.png"/><Relationship Id="rId5" Type="http://schemas.openxmlformats.org/officeDocument/2006/relationships/image" Target="../media/image204.png"/><Relationship Id="rId10" Type="http://schemas.openxmlformats.org/officeDocument/2006/relationships/image" Target="../media/image209.png"/><Relationship Id="rId19" Type="http://schemas.openxmlformats.org/officeDocument/2006/relationships/image" Target="../media/image218.png"/><Relationship Id="rId4" Type="http://schemas.openxmlformats.org/officeDocument/2006/relationships/image" Target="../media/image203.png"/><Relationship Id="rId9" Type="http://schemas.openxmlformats.org/officeDocument/2006/relationships/image" Target="../media/image30.png"/><Relationship Id="rId1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0.png"/><Relationship Id="rId3" Type="http://schemas.openxmlformats.org/officeDocument/2006/relationships/image" Target="../media/image2010.png"/><Relationship Id="rId7" Type="http://schemas.openxmlformats.org/officeDocument/2006/relationships/image" Target="../media/image20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0.png"/><Relationship Id="rId11" Type="http://schemas.openxmlformats.org/officeDocument/2006/relationships/image" Target="../media/image36.png"/><Relationship Id="rId5" Type="http://schemas.openxmlformats.org/officeDocument/2006/relationships/image" Target="../media/image2030.png"/><Relationship Id="rId10" Type="http://schemas.openxmlformats.org/officeDocument/2006/relationships/image" Target="../media/image2080.png"/><Relationship Id="rId4" Type="http://schemas.openxmlformats.org/officeDocument/2006/relationships/image" Target="../media/image27.png"/><Relationship Id="rId9" Type="http://schemas.openxmlformats.org/officeDocument/2006/relationships/image" Target="../media/image207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6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5.png"/><Relationship Id="rId2" Type="http://schemas.openxmlformats.org/officeDocument/2006/relationships/image" Target="../media/image49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3.png"/><Relationship Id="rId10" Type="http://schemas.openxmlformats.org/officeDocument/2006/relationships/image" Target="../media/image57.png"/><Relationship Id="rId19" Type="http://schemas.openxmlformats.org/officeDocument/2006/relationships/image" Target="../media/image6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3.png"/><Relationship Id="rId18" Type="http://schemas.openxmlformats.org/officeDocument/2006/relationships/image" Target="../media/image76.png"/><Relationship Id="rId3" Type="http://schemas.openxmlformats.org/officeDocument/2006/relationships/image" Target="../media/image71.png"/><Relationship Id="rId21" Type="http://schemas.openxmlformats.org/officeDocument/2006/relationships/image" Target="../media/image79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74.png"/><Relationship Id="rId2" Type="http://schemas.openxmlformats.org/officeDocument/2006/relationships/image" Target="../media/image69.png"/><Relationship Id="rId16" Type="http://schemas.openxmlformats.org/officeDocument/2006/relationships/image" Target="../media/image72.png"/><Relationship Id="rId20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5.png"/><Relationship Id="rId10" Type="http://schemas.openxmlformats.org/officeDocument/2006/relationships/image" Target="../media/image59.png"/><Relationship Id="rId19" Type="http://schemas.openxmlformats.org/officeDocument/2006/relationships/image" Target="../media/image77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Text Box 13">
            <a:extLst>
              <a:ext uri="{FF2B5EF4-FFF2-40B4-BE49-F238E27FC236}">
                <a16:creationId xmlns:a16="http://schemas.microsoft.com/office/drawing/2014/main" id="{B1D77FAA-C6EC-4AC5-A3F5-4CC64C94B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0115" y="263316"/>
            <a:ext cx="70971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章     静电场中的电介质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11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E4498F14-2B16-44E2-8121-1F90B801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240" y="1697521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15.1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电介质对电场的影响</a:t>
            </a:r>
          </a:p>
        </p:txBody>
      </p:sp>
      <p:sp>
        <p:nvSpPr>
          <p:cNvPr id="4114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6FD6935D-21DB-4E0A-A113-0012E404D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240" y="2992921"/>
            <a:ext cx="65270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15.3   </a:t>
            </a:r>
            <a:r>
              <a:rPr lang="en-US" altLang="zh-CN" sz="3200" b="1" dirty="0">
                <a:solidFill>
                  <a:srgbClr val="0066FF"/>
                </a:solidFill>
                <a:latin typeface="+mn-lt"/>
                <a:ea typeface="华文楷体" panose="02010600040101010101" pitchFamily="2" charset="-122"/>
                <a:cs typeface="Arial" panose="020B0604020202020204" pitchFamily="34" charset="0"/>
              </a:rPr>
              <a:t>D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的高斯定律</a:t>
            </a:r>
          </a:p>
        </p:txBody>
      </p:sp>
      <p:sp>
        <p:nvSpPr>
          <p:cNvPr id="4115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2E74E40B-D4E9-420C-843A-63B8B00C8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717" y="3642207"/>
            <a:ext cx="44919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15.4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电容器和它的电容</a:t>
            </a:r>
          </a:p>
        </p:txBody>
      </p:sp>
      <p:sp>
        <p:nvSpPr>
          <p:cNvPr id="4116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163FEB06-B244-41DC-9745-09D2B510C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240" y="4351546"/>
            <a:ext cx="46799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15.5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电容器的能量</a:t>
            </a:r>
          </a:p>
        </p:txBody>
      </p:sp>
      <p:sp>
        <p:nvSpPr>
          <p:cNvPr id="9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33F5298E-54F0-4E10-A769-B55A508ED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242" y="2345221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15.2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电介质的极化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DB04A1-0ED6-47DB-AB21-B6B2EFE1D30C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01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8" name="Picture 6" descr="FG25_21">
            <a:extLst>
              <a:ext uri="{FF2B5EF4-FFF2-40B4-BE49-F238E27FC236}">
                <a16:creationId xmlns:a16="http://schemas.microsoft.com/office/drawing/2014/main" id="{51BA6E6B-A3DD-4DB7-B4C1-F7F706E089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610"/>
          <a:stretch/>
        </p:blipFill>
        <p:spPr bwMode="auto">
          <a:xfrm>
            <a:off x="942521" y="966132"/>
            <a:ext cx="4276339" cy="2046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1897" name="Text Box 9">
            <a:extLst>
              <a:ext uri="{FF2B5EF4-FFF2-40B4-BE49-F238E27FC236}">
                <a16:creationId xmlns:a16="http://schemas.microsoft.com/office/drawing/2014/main" id="{D96D432A-9C74-4F4A-AF56-BABE1C7DD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4583" y="3769418"/>
            <a:ext cx="1945830" cy="576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位移极化</a:t>
            </a:r>
          </a:p>
        </p:txBody>
      </p:sp>
      <p:sp>
        <p:nvSpPr>
          <p:cNvPr id="421899" name="Text Box 11">
            <a:extLst>
              <a:ext uri="{FF2B5EF4-FFF2-40B4-BE49-F238E27FC236}">
                <a16:creationId xmlns:a16="http://schemas.microsoft.com/office/drawing/2014/main" id="{4AC5636A-384B-4810-83D7-5858B8A52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740" y="3769418"/>
            <a:ext cx="2044708" cy="576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取向极化</a:t>
            </a:r>
          </a:p>
        </p:txBody>
      </p:sp>
      <p:sp>
        <p:nvSpPr>
          <p:cNvPr id="421900" name="Text Box 12">
            <a:extLst>
              <a:ext uri="{FF2B5EF4-FFF2-40B4-BE49-F238E27FC236}">
                <a16:creationId xmlns:a16="http://schemas.microsoft.com/office/drawing/2014/main" id="{8B9576CD-6DD1-457D-B19A-2D6DD60BA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3776" y="3129644"/>
            <a:ext cx="22835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无极分子</a:t>
            </a:r>
          </a:p>
        </p:txBody>
      </p:sp>
      <p:sp>
        <p:nvSpPr>
          <p:cNvPr id="421901" name="Text Box 13">
            <a:extLst>
              <a:ext uri="{FF2B5EF4-FFF2-40B4-BE49-F238E27FC236}">
                <a16:creationId xmlns:a16="http://schemas.microsoft.com/office/drawing/2014/main" id="{483A9D59-A707-4A31-A90B-A89AC0343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817" y="3129644"/>
            <a:ext cx="21174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有极分子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B5DCD32-37AA-4A09-A6FC-B14316672769}"/>
              </a:ext>
            </a:extLst>
          </p:cNvPr>
          <p:cNvSpPr/>
          <p:nvPr/>
        </p:nvSpPr>
        <p:spPr>
          <a:xfrm>
            <a:off x="764239" y="87128"/>
            <a:ext cx="33265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电介质的极化 </a:t>
            </a:r>
            <a:endParaRPr lang="en-US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6" descr="FG25_21">
            <a:extLst>
              <a:ext uri="{FF2B5EF4-FFF2-40B4-BE49-F238E27FC236}">
                <a16:creationId xmlns:a16="http://schemas.microsoft.com/office/drawing/2014/main" id="{26A9148C-9952-4508-9A01-9054497161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25" b="8968"/>
          <a:stretch/>
        </p:blipFill>
        <p:spPr bwMode="auto">
          <a:xfrm>
            <a:off x="5888472" y="853787"/>
            <a:ext cx="4276339" cy="2118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D4FDB30-9798-489D-ADA0-CB7E856192F0}"/>
              </a:ext>
            </a:extLst>
          </p:cNvPr>
          <p:cNvSpPr/>
          <p:nvPr/>
        </p:nvSpPr>
        <p:spPr>
          <a:xfrm>
            <a:off x="1852695" y="5141762"/>
            <a:ext cx="219002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电极化强度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4A545CD9-F2E8-4DC9-A343-544F542581BC}"/>
              </a:ext>
            </a:extLst>
          </p:cNvPr>
          <p:cNvSpPr txBox="1">
            <a:spLocks/>
          </p:cNvSpPr>
          <p:nvPr/>
        </p:nvSpPr>
        <p:spPr>
          <a:xfrm>
            <a:off x="4477586" y="4711291"/>
            <a:ext cx="5997450" cy="6920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电介质中，单位体积内分子电矩的矢量和，量度电介质的极化程度</a:t>
            </a:r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850687E3-A140-4560-A6B0-97C03DA65B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162390"/>
              </p:ext>
            </p:extLst>
          </p:nvPr>
        </p:nvGraphicFramePr>
        <p:xfrm>
          <a:off x="5092412" y="5648786"/>
          <a:ext cx="2060467" cy="920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公式" r:id="rId5" imgW="1333500" imgH="571500" progId="Equation.3">
                  <p:embed/>
                </p:oleObj>
              </mc:Choice>
              <mc:Fallback>
                <p:oleObj name="公式" r:id="rId5" imgW="1333500" imgH="571500" progId="Equation.3">
                  <p:embed/>
                  <p:pic>
                    <p:nvPicPr>
                      <p:cNvPr id="107" name="Object 6">
                        <a:extLst>
                          <a:ext uri="{FF2B5EF4-FFF2-40B4-BE49-F238E27FC236}">
                            <a16:creationId xmlns:a16="http://schemas.microsoft.com/office/drawing/2014/main" id="{48F2D03B-9895-4A3C-BB3D-13E25D7E8E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412" y="5648786"/>
                        <a:ext cx="2060467" cy="920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3">
                <a:extLst>
                  <a:ext uri="{FF2B5EF4-FFF2-40B4-BE49-F238E27FC236}">
                    <a16:creationId xmlns:a16="http://schemas.microsoft.com/office/drawing/2014/main" id="{8F3638B8-544D-4C05-911D-BE724E702187}"/>
                  </a:ext>
                </a:extLst>
              </p:cNvPr>
              <p:cNvSpPr txBox="1"/>
              <p:nvPr/>
            </p:nvSpPr>
            <p:spPr bwMode="auto">
              <a:xfrm>
                <a:off x="7073932" y="5825797"/>
                <a:ext cx="1216025" cy="6937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Object 33">
                <a:extLst>
                  <a:ext uri="{FF2B5EF4-FFF2-40B4-BE49-F238E27FC236}">
                    <a16:creationId xmlns:a16="http://schemas.microsoft.com/office/drawing/2014/main" id="{8F3638B8-544D-4C05-911D-BE724E702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73932" y="5825797"/>
                <a:ext cx="1216025" cy="6937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9">
            <a:extLst>
              <a:ext uri="{FF2B5EF4-FFF2-40B4-BE49-F238E27FC236}">
                <a16:creationId xmlns:a16="http://schemas.microsoft.com/office/drawing/2014/main" id="{735AA686-D7CA-4864-83BC-1B4B744AA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5194" y="5853299"/>
            <a:ext cx="20570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b="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均匀极化</a:t>
            </a:r>
            <a:endParaRPr lang="zh-CN" altLang="en-US" sz="2800" b="0" dirty="0">
              <a:solidFill>
                <a:srgbClr val="FF0000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192858" y="1280301"/>
                <a:ext cx="5786245" cy="2883974"/>
              </a:xfrm>
            </p:spPr>
            <p:txBody>
              <a:bodyPr>
                <a:noAutofit/>
              </a:bodyPr>
              <a:lstStyle/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  <a:defRPr/>
                </a:pPr>
                <a:r>
                  <a:rPr lang="zh-CN" altLang="en-US" dirty="0"/>
                  <a:t>极化电荷面密度</a:t>
                </a:r>
                <a:endParaRPr lang="en-US" altLang="zh-CN" dirty="0"/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𝑺</m:t>
                          </m:r>
                        </m:e>
                      </m:acc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192858" y="1280301"/>
                <a:ext cx="5786245" cy="2883974"/>
              </a:xfrm>
              <a:blipFill>
                <a:blip r:embed="rId3"/>
                <a:stretch>
                  <a:fillRect l="-2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72" y="532257"/>
            <a:ext cx="2725362" cy="3534712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CFA67A9-4845-40A1-B066-858A9190EF97}"/>
                  </a:ext>
                </a:extLst>
              </p:cNvPr>
              <p:cNvSpPr/>
              <p:nvPr/>
            </p:nvSpPr>
            <p:spPr>
              <a:xfrm>
                <a:off x="2429909" y="2627807"/>
                <a:ext cx="2652906" cy="7157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dirty="0">
                    <a:solidFill>
                      <a:srgbClr val="0066FF"/>
                    </a:solidFill>
                  </a:rPr>
                  <a:t>q'</a:t>
                </a:r>
                <a:r>
                  <a:rPr kumimoji="1" lang="en-US" altLang="zh-CN" sz="2800" baseline="-25000" dirty="0" err="1">
                    <a:solidFill>
                      <a:srgbClr val="0066FF"/>
                    </a:solidFill>
                  </a:rPr>
                  <a:t>out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∯"/>
                        <m:ctrlPr>
                          <a:rPr kumimoji="1" lang="zh-CN" altLang="en-US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kumimoji="1" lang="en-US" altLang="zh-CN" sz="28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  <m:r>
                          <m:rPr>
                            <m:brk m:alnAt="23"/>
                          </m:rPr>
                          <a:rPr kumimoji="1" lang="zh-CN" altLang="en-US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kumimoji="1" lang="en-US" altLang="zh-CN" sz="28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nary>
                  </m:oMath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CFA67A9-4845-40A1-B066-858A9190EF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909" y="2627807"/>
                <a:ext cx="2652906" cy="715773"/>
              </a:xfrm>
              <a:prstGeom prst="rect">
                <a:avLst/>
              </a:prstGeom>
              <a:blipFill>
                <a:blip r:embed="rId5"/>
                <a:stretch>
                  <a:fillRect l="-4828" b="-14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BBC2AE2-4689-47D8-AB41-8DC70877D2A4}"/>
                  </a:ext>
                </a:extLst>
              </p:cNvPr>
              <p:cNvSpPr/>
              <p:nvPr/>
            </p:nvSpPr>
            <p:spPr>
              <a:xfrm>
                <a:off x="2429909" y="3267850"/>
                <a:ext cx="2961260" cy="7150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800" dirty="0">
                    <a:solidFill>
                      <a:srgbClr val="0066FF"/>
                    </a:solidFill>
                  </a:rPr>
                  <a:t>q'</a:t>
                </a:r>
                <a:r>
                  <a:rPr kumimoji="1" lang="en-US" altLang="zh-CN" sz="2800" baseline="-25000" dirty="0" err="1">
                    <a:solidFill>
                      <a:srgbClr val="0066FF"/>
                    </a:solidFill>
                  </a:rPr>
                  <a:t>in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∯"/>
                        <m:ctrlPr>
                          <a:rPr kumimoji="1" lang="zh-CN" altLang="en-US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kumimoji="1" lang="en-US" altLang="zh-CN" sz="28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  <m:r>
                          <m:rPr>
                            <m:brk m:alnAt="23"/>
                          </m:rPr>
                          <a:rPr kumimoji="1" lang="zh-CN" altLang="en-US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kumimoji="1"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kumimoji="1" lang="en-US" altLang="zh-CN" sz="280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nary>
                  </m:oMath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BBC2AE2-4689-47D8-AB41-8DC70877D2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909" y="3267850"/>
                <a:ext cx="2961260" cy="715004"/>
              </a:xfrm>
              <a:prstGeom prst="rect">
                <a:avLst/>
              </a:prstGeom>
              <a:blipFill>
                <a:blip r:embed="rId6"/>
                <a:stretch>
                  <a:fillRect l="-4330" b="-14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45BDEAB7-7709-177B-7811-13123F9F21FA}"/>
              </a:ext>
            </a:extLst>
          </p:cNvPr>
          <p:cNvSpPr/>
          <p:nvPr/>
        </p:nvSpPr>
        <p:spPr>
          <a:xfrm>
            <a:off x="765268" y="239870"/>
            <a:ext cx="48654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有电介质时的高斯定理</a:t>
            </a:r>
            <a:endParaRPr lang="en-US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183A3D2-1986-4D2E-EE56-143F70B3E26D}"/>
                  </a:ext>
                </a:extLst>
              </p:cNvPr>
              <p:cNvSpPr txBox="1"/>
              <p:nvPr/>
            </p:nvSpPr>
            <p:spPr>
              <a:xfrm>
                <a:off x="1293447" y="4619931"/>
                <a:ext cx="4172424" cy="10063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kumimoji="1" lang="zh-CN" alt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kumimoji="1" lang="zh-CN" altLang="en-US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kumimoji="1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nary>
                          <m:r>
                            <a:rPr kumimoji="1" lang="en-US" altLang="zh-CN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kumimoji="1" lang="en-US" altLang="zh-CN" sz="2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p>
                                  <m:r>
                                    <a:rPr kumimoji="1" lang="en-US" altLang="zh-CN" sz="2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2800" b="1" i="1" u="none" strike="noStrike" kern="1200" cap="none" spc="0" normalizeH="0" baseline="-2500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𝒊𝒏</m:t>
                              </m:r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kumimoji="1" lang="en-US" altLang="zh-CN" sz="2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183A3D2-1986-4D2E-EE56-143F70B3E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447" y="4619931"/>
                <a:ext cx="4172424" cy="10063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4F31181-7C2D-8ED6-7911-DAA61DACDD46}"/>
                  </a:ext>
                </a:extLst>
              </p:cNvPr>
              <p:cNvSpPr/>
              <p:nvPr/>
            </p:nvSpPr>
            <p:spPr>
              <a:xfrm>
                <a:off x="6821623" y="4751545"/>
                <a:ext cx="3317801" cy="19708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:endParaRPr lang="en-US" altLang="zh-CN" sz="2800" b="1" dirty="0">
                  <a:solidFill>
                    <a:schemeClr val="tx1"/>
                  </a:solidFill>
                  <a:latin typeface="华文楷体" panose="02010600040101010101" pitchFamily="2" charset="-122"/>
                </a:endParaRPr>
              </a:p>
              <a:p>
                <a:pPr lvl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nary>
                        <m:naryPr>
                          <m:chr m:val="∯"/>
                          <m:ctrlP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lang="en-US" altLang="zh-CN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4F31181-7C2D-8ED6-7911-DAA61DACDD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623" y="4751545"/>
                <a:ext cx="3317801" cy="19708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7E4BAD2-998C-728B-0DB0-314BF17DA6CB}"/>
                  </a:ext>
                </a:extLst>
              </p:cNvPr>
              <p:cNvSpPr/>
              <p:nvPr/>
            </p:nvSpPr>
            <p:spPr>
              <a:xfrm>
                <a:off x="6345331" y="4405889"/>
                <a:ext cx="4062009" cy="10986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acc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brk m:alnAt="23"/>
                            </m:r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7E4BAD2-998C-728B-0DB0-314BF17DA6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331" y="4405889"/>
                <a:ext cx="4062009" cy="109863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6A11DBA-5B54-B966-44C0-7A1BF4309266}"/>
                  </a:ext>
                </a:extLst>
              </p:cNvPr>
              <p:cNvSpPr/>
              <p:nvPr/>
            </p:nvSpPr>
            <p:spPr>
              <a:xfrm>
                <a:off x="1495363" y="5903433"/>
                <a:ext cx="4097707" cy="6231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电位移：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acc>
                      <m:accPr>
                        <m:chr m:val="⃗"/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  <m:r>
                      <a:rPr kumimoji="1"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acc>
                  </m:oMath>
                </a14:m>
                <a:endParaRPr kumimoji="1"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6A11DBA-5B54-B966-44C0-7A1BF43092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363" y="5903433"/>
                <a:ext cx="4097707" cy="623184"/>
              </a:xfrm>
              <a:prstGeom prst="rect">
                <a:avLst/>
              </a:prstGeom>
              <a:blipFill>
                <a:blip r:embed="rId11"/>
                <a:stretch>
                  <a:fillRect b="-26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16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4" grpId="0"/>
      <p:bldP spid="1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30865" y="989313"/>
            <a:ext cx="10515600" cy="1325563"/>
          </a:xfrm>
        </p:spPr>
        <p:txBody>
          <a:bodyPr>
            <a:normAutofit/>
          </a:bodyPr>
          <a:lstStyle/>
          <a:p>
            <a:r>
              <a:rPr kumimoji="1"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</a:rPr>
              <a:t>各向同性电介质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>
              <a:xfrm>
                <a:off x="2731829" y="1722016"/>
                <a:ext cx="5473700" cy="1006475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zh-CN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kumimoji="1"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1" lang="en-US" altLang="zh-CN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 </m:t>
                      </m:r>
                      <m:acc>
                        <m:accPr>
                          <m:chr m:val="⃗"/>
                          <m:ctrlPr>
                            <a:rPr kumimoji="1"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内容占位符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31829" y="1722016"/>
                <a:ext cx="5473700" cy="10064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F4A0330-FA81-40E6-85FA-18879961D626}"/>
                  </a:ext>
                </a:extLst>
              </p:cNvPr>
              <p:cNvSpPr/>
              <p:nvPr/>
            </p:nvSpPr>
            <p:spPr>
              <a:xfrm>
                <a:off x="1377950" y="2598301"/>
                <a:ext cx="3803650" cy="8170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kumimoji="1"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</m:oMath>
                  </m:oMathPara>
                </a14:m>
                <a:endParaRPr kumimoji="1" lang="en-US" altLang="zh-C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F4A0330-FA81-40E6-85FA-18879961D6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950" y="2598301"/>
                <a:ext cx="3803650" cy="8170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20DD093-7921-427C-B612-5678F046ECB7}"/>
                  </a:ext>
                </a:extLst>
              </p:cNvPr>
              <p:cNvSpPr/>
              <p:nvPr/>
            </p:nvSpPr>
            <p:spPr>
              <a:xfrm>
                <a:off x="4191158" y="2733797"/>
                <a:ext cx="3612079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 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20DD093-7921-427C-B612-5678F046EC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158" y="2733797"/>
                <a:ext cx="3612079" cy="5754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9930005-BC75-4F8F-BBBF-0E5160924485}"/>
                  </a:ext>
                </a:extLst>
              </p:cNvPr>
              <p:cNvSpPr/>
              <p:nvPr/>
            </p:nvSpPr>
            <p:spPr>
              <a:xfrm>
                <a:off x="7675584" y="2733797"/>
                <a:ext cx="1574149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9930005-BC75-4F8F-BBBF-0E51609244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5584" y="2733797"/>
                <a:ext cx="1574149" cy="5754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E58E05D-864B-412D-A405-E563079C348F}"/>
                  </a:ext>
                </a:extLst>
              </p:cNvPr>
              <p:cNvSpPr/>
              <p:nvPr/>
            </p:nvSpPr>
            <p:spPr>
              <a:xfrm>
                <a:off x="694322" y="3572277"/>
                <a:ext cx="6096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algn="ctr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令</m:t>
                      </m:r>
                      <m:r>
                        <a:rPr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kumimoji="1"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E58E05D-864B-412D-A405-E563079C34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22" y="3572277"/>
                <a:ext cx="6096000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77CE0CD-A787-437E-A912-9897EC22862C}"/>
                  </a:ext>
                </a:extLst>
              </p:cNvPr>
              <p:cNvSpPr/>
              <p:nvPr/>
            </p:nvSpPr>
            <p:spPr>
              <a:xfrm>
                <a:off x="6923657" y="4189820"/>
                <a:ext cx="1832104" cy="8170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⃗"/>
                          <m:ctrlPr>
                            <a:rPr kumimoji="1"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</m:oMath>
                  </m:oMathPara>
                </a14:m>
                <a:endParaRPr kumimoji="1" lang="en-US" altLang="zh-C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77CE0CD-A787-437E-A912-9897EC2286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657" y="4189820"/>
                <a:ext cx="1832104" cy="8170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094">
            <a:extLst>
              <a:ext uri="{FF2B5EF4-FFF2-40B4-BE49-F238E27FC236}">
                <a16:creationId xmlns:a16="http://schemas.microsoft.com/office/drawing/2014/main" id="{264689D9-0A44-4C1A-9EA5-CAF2E4918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38" y="4426744"/>
            <a:ext cx="4751387" cy="580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电容率（电介质的介电常量）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07731DC-2454-4C9E-AFEF-66EB43DFA043}"/>
                  </a:ext>
                </a:extLst>
              </p:cNvPr>
              <p:cNvSpPr/>
              <p:nvPr/>
            </p:nvSpPr>
            <p:spPr>
              <a:xfrm>
                <a:off x="3235977" y="4543125"/>
                <a:ext cx="5905376" cy="19708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:endParaRPr lang="en-US" altLang="zh-CN" sz="2800" b="1" dirty="0">
                  <a:solidFill>
                    <a:srgbClr val="0066FF"/>
                  </a:solidFill>
                  <a:latin typeface="华文楷体" panose="02010600040101010101" pitchFamily="2" charset="-122"/>
                </a:endParaRPr>
              </a:p>
              <a:p>
                <a:pPr lvl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  <m: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∯"/>
                          <m:ctrlP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07731DC-2454-4C9E-AFEF-66EB43DFA0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977" y="4543125"/>
                <a:ext cx="5905376" cy="19708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A1E00309-3E19-51FA-C7AA-E63669A42E28}"/>
              </a:ext>
            </a:extLst>
          </p:cNvPr>
          <p:cNvSpPr/>
          <p:nvPr/>
        </p:nvSpPr>
        <p:spPr>
          <a:xfrm>
            <a:off x="1295979" y="600210"/>
            <a:ext cx="48926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altLang="zh-CN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有电介质时的高斯定理</a:t>
            </a:r>
          </a:p>
        </p:txBody>
      </p:sp>
    </p:spTree>
    <p:extLst>
      <p:ext uri="{BB962C8B-B14F-4D97-AF65-F5344CB8AC3E}">
        <p14:creationId xmlns:p14="http://schemas.microsoft.com/office/powerpoint/2010/main" val="100446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1" grpId="0"/>
      <p:bldP spid="13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62" r="8965" b="51505"/>
          <a:stretch/>
        </p:blipFill>
        <p:spPr>
          <a:xfrm rot="16200000">
            <a:off x="1808054" y="-73065"/>
            <a:ext cx="1936860" cy="4443766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998367" y="903369"/>
                <a:ext cx="7543800" cy="22401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latin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CN" sz="2800" dirty="0">
                    <a:latin typeface="+mn-ea"/>
                    <a:cs typeface="Times New Roman" panose="02020603050405020304" pitchFamily="18" charset="0"/>
                  </a:rPr>
                  <a:t>-  </a:t>
                </a:r>
                <a:r>
                  <a:rPr lang="zh-CN" altLang="en-US" sz="2800" dirty="0">
                    <a:latin typeface="+mn-ea"/>
                    <a:cs typeface="Times New Roman" panose="02020603050405020304" pitchFamily="18" charset="0"/>
                  </a:rPr>
                  <a:t>分界面两侧的电场强度的切向分量相等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367" y="903369"/>
                <a:ext cx="7543800" cy="2240100"/>
              </a:xfrm>
              <a:prstGeom prst="rect">
                <a:avLst/>
              </a:prstGeom>
              <a:blipFill>
                <a:blip r:embed="rId3"/>
                <a:stretch>
                  <a:fillRect l="-1698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>
            <a:extLst>
              <a:ext uri="{FF2B5EF4-FFF2-40B4-BE49-F238E27FC236}">
                <a16:creationId xmlns:a16="http://schemas.microsoft.com/office/drawing/2014/main" id="{B6DD5D99-8C05-78CE-1793-3880FE909D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687" b="42237"/>
          <a:stretch/>
        </p:blipFill>
        <p:spPr>
          <a:xfrm>
            <a:off x="924947" y="3623167"/>
            <a:ext cx="3480472" cy="17110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547BB7E2-17C4-2261-A947-CD6F068EC972}"/>
                  </a:ext>
                </a:extLst>
              </p:cNvPr>
              <p:cNvSpPr/>
              <p:nvPr/>
            </p:nvSpPr>
            <p:spPr>
              <a:xfrm>
                <a:off x="4862762" y="3583731"/>
                <a:ext cx="7114676" cy="24810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latin typeface="+mn-ea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latin typeface="+mn-ea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- 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分界面两侧电位移矢量的法向分量相等</a:t>
                </a: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547BB7E2-17C4-2261-A947-CD6F068EC9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762" y="3583731"/>
                <a:ext cx="7114676" cy="2481000"/>
              </a:xfrm>
              <a:prstGeom prst="rect">
                <a:avLst/>
              </a:prstGeom>
              <a:blipFill>
                <a:blip r:embed="rId5"/>
                <a:stretch>
                  <a:fillRect l="-1799" b="-58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10">
            <a:extLst>
              <a:ext uri="{FF2B5EF4-FFF2-40B4-BE49-F238E27FC236}">
                <a16:creationId xmlns:a16="http://schemas.microsoft.com/office/drawing/2014/main" id="{333F3741-1AF9-CD93-11D7-502ED0625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099" y="5500126"/>
            <a:ext cx="306076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如果分界面上没有自由电荷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6408AC-165C-4FAE-A7B6-586A9C298274}"/>
              </a:ext>
            </a:extLst>
          </p:cNvPr>
          <p:cNvSpPr/>
          <p:nvPr/>
        </p:nvSpPr>
        <p:spPr>
          <a:xfrm>
            <a:off x="1200948" y="595613"/>
            <a:ext cx="39356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静电场的边界条件</a:t>
            </a:r>
          </a:p>
        </p:txBody>
      </p:sp>
    </p:spTree>
    <p:extLst>
      <p:ext uri="{BB962C8B-B14F-4D97-AF65-F5344CB8AC3E}">
        <p14:creationId xmlns:p14="http://schemas.microsoft.com/office/powerpoint/2010/main" val="1262484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AEB7A1BA-C814-40E0-B523-BCD7753B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6993" y="3429000"/>
            <a:ext cx="4983922" cy="1325563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solidFill>
                  <a:srgbClr val="0066FF"/>
                </a:solidFill>
              </a:rPr>
              <a:t>D</a:t>
            </a:r>
            <a:r>
              <a:rPr lang="zh-CN" altLang="en-US" sz="3200" dirty="0">
                <a:solidFill>
                  <a:srgbClr val="0066FF"/>
                </a:solidFill>
              </a:rPr>
              <a:t>线的折射定律</a:t>
            </a:r>
          </a:p>
        </p:txBody>
      </p:sp>
      <p:pic>
        <p:nvPicPr>
          <p:cNvPr id="12" name="内容占位符 3">
            <a:extLst>
              <a:ext uri="{FF2B5EF4-FFF2-40B4-BE49-F238E27FC236}">
                <a16:creationId xmlns:a16="http://schemas.microsoft.com/office/drawing/2014/main" id="{E3DAE083-846A-447E-9F02-836C4EF6A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92"/>
          <a:stretch/>
        </p:blipFill>
        <p:spPr>
          <a:xfrm rot="5400000">
            <a:off x="1630819" y="930510"/>
            <a:ext cx="2144867" cy="370302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07EE38B-822C-4D42-A260-267BCDF0D3CC}"/>
                  </a:ext>
                </a:extLst>
              </p:cNvPr>
              <p:cNvSpPr/>
              <p:nvPr/>
            </p:nvSpPr>
            <p:spPr>
              <a:xfrm>
                <a:off x="4388624" y="2277298"/>
                <a:ext cx="7543800" cy="1009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𝒕𝒂𝒏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altLang="zh-CN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en-US" altLang="zh-CN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altLang="zh-CN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07EE38B-822C-4D42-A260-267BCDF0D3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624" y="2277298"/>
                <a:ext cx="7543800" cy="1009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5755D55A-D87F-465E-A132-6CCD81E7F282}"/>
              </a:ext>
            </a:extLst>
          </p:cNvPr>
          <p:cNvSpPr/>
          <p:nvPr/>
        </p:nvSpPr>
        <p:spPr>
          <a:xfrm>
            <a:off x="1200948" y="595613"/>
            <a:ext cx="39356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静电场的边界条件</a:t>
            </a:r>
          </a:p>
        </p:txBody>
      </p:sp>
    </p:spTree>
    <p:extLst>
      <p:ext uri="{BB962C8B-B14F-4D97-AF65-F5344CB8AC3E}">
        <p14:creationId xmlns:p14="http://schemas.microsoft.com/office/powerpoint/2010/main" val="41244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96" name="Object 4">
                <a:extLst>
                  <a:ext uri="{FF2B5EF4-FFF2-40B4-BE49-F238E27FC236}">
                    <a16:creationId xmlns:a16="http://schemas.microsoft.com/office/drawing/2014/main" id="{98AC4A45-1E01-4C95-9A0B-DBC8656EB0AC}"/>
                  </a:ext>
                </a:extLst>
              </p:cNvPr>
              <p:cNvSpPr txBox="1"/>
              <p:nvPr/>
            </p:nvSpPr>
            <p:spPr bwMode="auto">
              <a:xfrm>
                <a:off x="1892996" y="2714087"/>
                <a:ext cx="1828800" cy="8001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96" name="Object 4">
                <a:extLst>
                  <a:ext uri="{FF2B5EF4-FFF2-40B4-BE49-F238E27FC236}">
                    <a16:creationId xmlns:a16="http://schemas.microsoft.com/office/drawing/2014/main" id="{98AC4A45-1E01-4C95-9A0B-DBC8656EB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2996" y="2714087"/>
                <a:ext cx="1828800" cy="800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7" name="Object 5">
                <a:extLst>
                  <a:ext uri="{FF2B5EF4-FFF2-40B4-BE49-F238E27FC236}">
                    <a16:creationId xmlns:a16="http://schemas.microsoft.com/office/drawing/2014/main" id="{A4809FA8-87B1-48B5-924F-B5AE6A7C818A}"/>
                  </a:ext>
                </a:extLst>
              </p:cNvPr>
              <p:cNvSpPr txBox="1"/>
              <p:nvPr/>
            </p:nvSpPr>
            <p:spPr bwMode="auto">
              <a:xfrm>
                <a:off x="1892996" y="3461074"/>
                <a:ext cx="3102457" cy="584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（</m:t>
                    </m:r>
                  </m:oMath>
                </a14:m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常数）</a:t>
                </a:r>
                <a:endParaRPr lang="en-US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97" name="Object 5">
                <a:extLst>
                  <a:ext uri="{FF2B5EF4-FFF2-40B4-BE49-F238E27FC236}">
                    <a16:creationId xmlns:a16="http://schemas.microsoft.com/office/drawing/2014/main" id="{A4809FA8-87B1-48B5-924F-B5AE6A7C8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2996" y="3461074"/>
                <a:ext cx="3102457" cy="584200"/>
              </a:xfrm>
              <a:prstGeom prst="rect">
                <a:avLst/>
              </a:prstGeom>
              <a:blipFill>
                <a:blip r:embed="rId3"/>
                <a:stretch>
                  <a:fillRect t="-11458" r="-1969" b="-1770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9" name="Object 7">
                <a:extLst>
                  <a:ext uri="{FF2B5EF4-FFF2-40B4-BE49-F238E27FC236}">
                    <a16:creationId xmlns:a16="http://schemas.microsoft.com/office/drawing/2014/main" id="{25471846-0C74-4D4F-9B5F-42FB86983537}"/>
                  </a:ext>
                </a:extLst>
              </p:cNvPr>
              <p:cNvSpPr txBox="1"/>
              <p:nvPr/>
            </p:nvSpPr>
            <p:spPr bwMode="auto">
              <a:xfrm>
                <a:off x="532298" y="5495285"/>
                <a:ext cx="2867025" cy="1635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limLoc m:val="undOvr"/>
                          <m:supHide m:val="on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99" name="Object 7">
                <a:extLst>
                  <a:ext uri="{FF2B5EF4-FFF2-40B4-BE49-F238E27FC236}">
                    <a16:creationId xmlns:a16="http://schemas.microsoft.com/office/drawing/2014/main" id="{25471846-0C74-4D4F-9B5F-42FB86983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2298" y="5495285"/>
                <a:ext cx="2867025" cy="16351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0" name="Object 8">
                <a:extLst>
                  <a:ext uri="{FF2B5EF4-FFF2-40B4-BE49-F238E27FC236}">
                    <a16:creationId xmlns:a16="http://schemas.microsoft.com/office/drawing/2014/main" id="{8B6914A2-5475-44E4-B119-6925358E9254}"/>
                  </a:ext>
                </a:extLst>
              </p:cNvPr>
              <p:cNvSpPr txBox="1"/>
              <p:nvPr/>
            </p:nvSpPr>
            <p:spPr bwMode="auto">
              <a:xfrm>
                <a:off x="3744503" y="5506570"/>
                <a:ext cx="2501900" cy="930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200" name="Object 8">
                <a:extLst>
                  <a:ext uri="{FF2B5EF4-FFF2-40B4-BE49-F238E27FC236}">
                    <a16:creationId xmlns:a16="http://schemas.microsoft.com/office/drawing/2014/main" id="{8B6914A2-5475-44E4-B119-6925358E9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44503" y="5506570"/>
                <a:ext cx="2501900" cy="9302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43F6160D-D437-42DE-B1F3-E814F6624033}"/>
              </a:ext>
            </a:extLst>
          </p:cNvPr>
          <p:cNvSpPr/>
          <p:nvPr/>
        </p:nvSpPr>
        <p:spPr>
          <a:xfrm>
            <a:off x="1315629" y="2879180"/>
            <a:ext cx="281517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800" b="1" dirty="0">
              <a:solidFill>
                <a:srgbClr val="000099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zh-CN" altLang="en-US" sz="2800" b="1" dirty="0">
              <a:solidFill>
                <a:srgbClr val="000099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363E02-23EE-470F-B1D3-67858E305E42}"/>
              </a:ext>
            </a:extLst>
          </p:cNvPr>
          <p:cNvSpPr/>
          <p:nvPr/>
        </p:nvSpPr>
        <p:spPr>
          <a:xfrm>
            <a:off x="1388586" y="1183527"/>
            <a:ext cx="1141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32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导体</a:t>
            </a:r>
            <a:endParaRPr lang="en-US" altLang="zh-CN" sz="3200" b="1" dirty="0">
              <a:solidFill>
                <a:srgbClr val="FF0000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4D4275-B486-4D3C-B836-56DFCCFA8A24}"/>
              </a:ext>
            </a:extLst>
          </p:cNvPr>
          <p:cNvSpPr/>
          <p:nvPr/>
        </p:nvSpPr>
        <p:spPr>
          <a:xfrm>
            <a:off x="1414617" y="2044213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ea typeface="华文楷体" panose="02010600040101010101" pitchFamily="2" charset="-122"/>
                <a:cs typeface="Times New Roman" panose="02020603050405020304" pitchFamily="18" charset="0"/>
              </a:rPr>
              <a:t>静电平衡的条件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596B0E-9CEB-4772-A149-68453A62296F}"/>
              </a:ext>
            </a:extLst>
          </p:cNvPr>
          <p:cNvSpPr/>
          <p:nvPr/>
        </p:nvSpPr>
        <p:spPr>
          <a:xfrm>
            <a:off x="6448359" y="1183527"/>
            <a:ext cx="16546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3200" b="1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电介质</a:t>
            </a:r>
            <a:endParaRPr lang="en-US" altLang="zh-CN" sz="3200" b="1" dirty="0">
              <a:solidFill>
                <a:srgbClr val="FF0000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2">
            <a:extLst>
              <a:ext uri="{FF2B5EF4-FFF2-40B4-BE49-F238E27FC236}">
                <a16:creationId xmlns:a16="http://schemas.microsoft.com/office/drawing/2014/main" id="{B832D74A-57D3-4D53-8769-82B96B2FD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16" y="245955"/>
            <a:ext cx="7848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l" eaLnBrk="1" hangingPunct="1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静电场与物质的相互作用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894F8-25C6-4B84-9E65-C7B9A37DB598}"/>
              </a:ext>
            </a:extLst>
          </p:cNvPr>
          <p:cNvSpPr txBox="1"/>
          <p:nvPr/>
        </p:nvSpPr>
        <p:spPr>
          <a:xfrm>
            <a:off x="6549959" y="2172827"/>
            <a:ext cx="42534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b="1" dirty="0"/>
              <a:t>电介质的极化 </a:t>
            </a:r>
            <a:r>
              <a:rPr lang="en-US" altLang="zh-CN" sz="2800" b="1" dirty="0"/>
              <a:t>+ </a:t>
            </a:r>
            <a:r>
              <a:rPr lang="zh-CN" altLang="en-US" sz="2800" b="1" dirty="0"/>
              <a:t>极化电荷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4">
                <a:extLst>
                  <a:ext uri="{FF2B5EF4-FFF2-40B4-BE49-F238E27FC236}">
                    <a16:creationId xmlns:a16="http://schemas.microsoft.com/office/drawing/2014/main" id="{BEF4BAE2-0BA2-4F50-BFEC-06A9E0259C95}"/>
                  </a:ext>
                </a:extLst>
              </p:cNvPr>
              <p:cNvSpPr txBox="1"/>
              <p:nvPr/>
            </p:nvSpPr>
            <p:spPr bwMode="auto">
              <a:xfrm>
                <a:off x="8035306" y="3053620"/>
                <a:ext cx="1828800" cy="8001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1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  <m:r>
                        <a:rPr lang="en-US" altLang="zh-CN" sz="2800" b="1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altLang="zh-CN" sz="2800" b="1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Object 4">
                <a:extLst>
                  <a:ext uri="{FF2B5EF4-FFF2-40B4-BE49-F238E27FC236}">
                    <a16:creationId xmlns:a16="http://schemas.microsoft.com/office/drawing/2014/main" id="{BEF4BAE2-0BA2-4F50-BFEC-06A9E0259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35306" y="3053620"/>
                <a:ext cx="1828800" cy="800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B2BC760-CA07-40BD-A3E2-2A29646D4645}"/>
                  </a:ext>
                </a:extLst>
              </p:cNvPr>
              <p:cNvSpPr/>
              <p:nvPr/>
            </p:nvSpPr>
            <p:spPr>
              <a:xfrm>
                <a:off x="6731134" y="4692199"/>
                <a:ext cx="4995451" cy="1971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:endParaRPr lang="en-US" altLang="zh-CN" sz="2800" b="1" dirty="0">
                  <a:solidFill>
                    <a:srgbClr val="0066FF"/>
                  </a:solidFill>
                  <a:latin typeface="华文楷体" panose="02010600040101010101" pitchFamily="2" charset="-122"/>
                </a:endParaRPr>
              </a:p>
              <a:p>
                <a:pPr lvl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∯"/>
                          <m:ctrlP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kumimoji="1" lang="zh-CN" alt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B2BC760-CA07-40BD-A3E2-2A29646D46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134" y="4692199"/>
                <a:ext cx="4995451" cy="19717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11891A33-71CC-6BE8-316D-60D2297C67F4}"/>
              </a:ext>
            </a:extLst>
          </p:cNvPr>
          <p:cNvSpPr txBox="1"/>
          <p:nvPr/>
        </p:nvSpPr>
        <p:spPr>
          <a:xfrm>
            <a:off x="465415" y="439963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表面电荷分布规律：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8">
                <a:extLst>
                  <a:ext uri="{FF2B5EF4-FFF2-40B4-BE49-F238E27FC236}">
                    <a16:creationId xmlns:a16="http://schemas.microsoft.com/office/drawing/2014/main" id="{0C6CA312-C48F-46DA-4C68-7266B4F90258}"/>
                  </a:ext>
                </a:extLst>
              </p:cNvPr>
              <p:cNvSpPr txBox="1"/>
              <p:nvPr/>
            </p:nvSpPr>
            <p:spPr bwMode="auto">
              <a:xfrm>
                <a:off x="4343400" y="4328735"/>
                <a:ext cx="1752600" cy="1219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Object 18">
                <a:extLst>
                  <a:ext uri="{FF2B5EF4-FFF2-40B4-BE49-F238E27FC236}">
                    <a16:creationId xmlns:a16="http://schemas.microsoft.com/office/drawing/2014/main" id="{0C6CA312-C48F-46DA-4C68-7266B4F90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3400" y="4328735"/>
                <a:ext cx="1752600" cy="1219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3">
                <a:extLst>
                  <a:ext uri="{FF2B5EF4-FFF2-40B4-BE49-F238E27FC236}">
                    <a16:creationId xmlns:a16="http://schemas.microsoft.com/office/drawing/2014/main" id="{75265FFA-5B53-BC2D-8ACC-C509A5F895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48192" y="4723158"/>
                <a:ext cx="5696668" cy="14524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/>
                </a:pPr>
                <a:r>
                  <a:rPr lang="zh-CN" altLang="en-US" dirty="0"/>
                  <a:t>极化电荷面密度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</m:t>
                    </m:r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𝑺</m:t>
                        </m:r>
                      </m:e>
                    </m:acc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内容占位符 3">
                <a:extLst>
                  <a:ext uri="{FF2B5EF4-FFF2-40B4-BE49-F238E27FC236}">
                    <a16:creationId xmlns:a16="http://schemas.microsoft.com/office/drawing/2014/main" id="{75265FFA-5B53-BC2D-8ACC-C509A5F89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192" y="4723158"/>
                <a:ext cx="5696668" cy="1452436"/>
              </a:xfrm>
              <a:prstGeom prst="rect">
                <a:avLst/>
              </a:prstGeom>
              <a:blipFill>
                <a:blip r:embed="rId9"/>
                <a:stretch>
                  <a:fillRect l="-2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5">
                <a:extLst>
                  <a:ext uri="{FF2B5EF4-FFF2-40B4-BE49-F238E27FC236}">
                    <a16:creationId xmlns:a16="http://schemas.microsoft.com/office/drawing/2014/main" id="{019822FE-01FC-8421-6A10-89735AB771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97943" y="3853720"/>
                <a:ext cx="5473700" cy="10064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zh-CN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−1) </m:t>
                      </m:r>
                      <m:acc>
                        <m:accPr>
                          <m:chr m:val="⃗"/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内容占位符 5">
                <a:extLst>
                  <a:ext uri="{FF2B5EF4-FFF2-40B4-BE49-F238E27FC236}">
                    <a16:creationId xmlns:a16="http://schemas.microsoft.com/office/drawing/2014/main" id="{019822FE-01FC-8421-6A10-89735AB77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943" y="3853720"/>
                <a:ext cx="5473700" cy="10064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272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8197" grpId="0"/>
      <p:bldP spid="8199" grpId="0"/>
      <p:bldP spid="8200" grpId="0"/>
      <p:bldP spid="7" grpId="0"/>
      <p:bldP spid="13" grpId="0"/>
      <p:bldP spid="15" grpId="0"/>
      <p:bldP spid="17" grpId="0"/>
      <p:bldP spid="2" grpId="0"/>
      <p:bldP spid="3" grpId="0"/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莱顿瓶简介">
            <a:extLst>
              <a:ext uri="{FF2B5EF4-FFF2-40B4-BE49-F238E27FC236}">
                <a16:creationId xmlns:a16="http://schemas.microsoft.com/office/drawing/2014/main" id="{44016D31-D06A-4C6B-98FA-3EBF658D39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99"/>
          <a:stretch/>
        </p:blipFill>
        <p:spPr bwMode="auto">
          <a:xfrm>
            <a:off x="6096000" y="2486993"/>
            <a:ext cx="5774271" cy="402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莱顿瓶_百度百科">
            <a:extLst>
              <a:ext uri="{FF2B5EF4-FFF2-40B4-BE49-F238E27FC236}">
                <a16:creationId xmlns:a16="http://schemas.microsoft.com/office/drawing/2014/main" id="{B7B2CB80-5053-1F8F-5314-8AA650D8E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9178" y="3753479"/>
            <a:ext cx="2886338" cy="288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FAB6667-D6F8-4BD7-8030-1642B1BF16C1}"/>
              </a:ext>
            </a:extLst>
          </p:cNvPr>
          <p:cNvSpPr/>
          <p:nvPr/>
        </p:nvSpPr>
        <p:spPr>
          <a:xfrm>
            <a:off x="1105698" y="506713"/>
            <a:ext cx="14734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电容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AB414E-BB2F-4F6D-8649-E1A5280CD882}"/>
              </a:ext>
            </a:extLst>
          </p:cNvPr>
          <p:cNvSpPr/>
          <p:nvPr/>
        </p:nvSpPr>
        <p:spPr>
          <a:xfrm>
            <a:off x="1105698" y="1333303"/>
            <a:ext cx="911633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+mj-ea"/>
              </a:rPr>
              <a:t>1746</a:t>
            </a:r>
            <a:r>
              <a:rPr lang="zh-CN" altLang="en-US" sz="2800" dirty="0">
                <a:latin typeface="+mj-ea"/>
              </a:rPr>
              <a:t>年，荷兰莱顿大学的穆森布罗克（ </a:t>
            </a:r>
            <a:r>
              <a:rPr lang="en-US" altLang="zh-CN" sz="2800" b="1" dirty="0" err="1">
                <a:latin typeface="+mj-ea"/>
              </a:rPr>
              <a:t>PieterVon</a:t>
            </a:r>
            <a:r>
              <a:rPr lang="en-US" altLang="zh-CN" sz="2800" b="1" dirty="0">
                <a:latin typeface="+mj-ea"/>
              </a:rPr>
              <a:t> </a:t>
            </a:r>
            <a:r>
              <a:rPr lang="en-US" altLang="zh-CN" sz="2800" b="1" dirty="0" err="1">
                <a:latin typeface="+mj-ea"/>
              </a:rPr>
              <a:t>Musschenbrock</a:t>
            </a:r>
            <a:r>
              <a:rPr lang="zh-CN" altLang="en-US" sz="2800" dirty="0">
                <a:latin typeface="+mj-ea"/>
              </a:rPr>
              <a:t>，</a:t>
            </a:r>
            <a:r>
              <a:rPr lang="en-US" altLang="zh-CN" sz="2800" b="1" dirty="0">
                <a:latin typeface="+mj-ea"/>
              </a:rPr>
              <a:t>1692~1761</a:t>
            </a:r>
            <a:r>
              <a:rPr lang="zh-CN" altLang="en-US" sz="2800" dirty="0">
                <a:latin typeface="+mj-ea"/>
              </a:rPr>
              <a:t>）：</a:t>
            </a:r>
            <a:endParaRPr lang="en-US" altLang="zh-CN" sz="2800" dirty="0">
              <a:latin typeface="+mj-ea"/>
            </a:endParaRPr>
          </a:p>
          <a:p>
            <a:endParaRPr lang="en-US" altLang="zh-CN" sz="2800" dirty="0">
              <a:latin typeface="+mj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86FDB8-FFE7-4514-800E-9922D334CBDE}"/>
              </a:ext>
            </a:extLst>
          </p:cNvPr>
          <p:cNvSpPr/>
          <p:nvPr/>
        </p:nvSpPr>
        <p:spPr>
          <a:xfrm>
            <a:off x="1108906" y="1937597"/>
            <a:ext cx="568672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800" dirty="0">
              <a:latin typeface="+mj-ea"/>
            </a:endParaRPr>
          </a:p>
          <a:p>
            <a:r>
              <a:rPr lang="zh-CN" altLang="en-US" sz="2800" dirty="0">
                <a:latin typeface="+mj-ea"/>
              </a:rPr>
              <a:t>把带电的物体放在玻璃瓶子里，电就不会跑掉，这样就可把电储存起来，从而发明了莱顿瓶。</a:t>
            </a:r>
          </a:p>
        </p:txBody>
      </p:sp>
    </p:spTree>
    <p:extLst>
      <p:ext uri="{BB962C8B-B14F-4D97-AF65-F5344CB8AC3E}">
        <p14:creationId xmlns:p14="http://schemas.microsoft.com/office/powerpoint/2010/main" val="376755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3">
                <a:extLst>
                  <a:ext uri="{FF2B5EF4-FFF2-40B4-BE49-F238E27FC236}">
                    <a16:creationId xmlns:a16="http://schemas.microsoft.com/office/drawing/2014/main" id="{42EEA586-EB48-2BF8-A74D-FE916B38C9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52719" y="2190803"/>
                <a:ext cx="4534126" cy="74089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电容：</m:t>
                      </m:r>
                      <m:r>
                        <a:rPr lang="en-US" altLang="zh-CN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num>
                        <m:den>
                          <m:r>
                            <a:rPr lang="en-US" altLang="zh-CN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6" name="内容占位符 3">
                <a:extLst>
                  <a:ext uri="{FF2B5EF4-FFF2-40B4-BE49-F238E27FC236}">
                    <a16:creationId xmlns:a16="http://schemas.microsoft.com/office/drawing/2014/main" id="{42EEA586-EB48-2BF8-A74D-FE916B38C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719" y="2190803"/>
                <a:ext cx="4534126" cy="740895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7CA5AD04-5997-4316-ABD8-291360E557E3}"/>
              </a:ext>
            </a:extLst>
          </p:cNvPr>
          <p:cNvSpPr/>
          <p:nvPr/>
        </p:nvSpPr>
        <p:spPr>
          <a:xfrm>
            <a:off x="1105698" y="506713"/>
            <a:ext cx="14734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电容</a:t>
            </a:r>
          </a:p>
        </p:txBody>
      </p:sp>
      <p:sp>
        <p:nvSpPr>
          <p:cNvPr id="9" name="内容占位符 7">
            <a:extLst>
              <a:ext uri="{FF2B5EF4-FFF2-40B4-BE49-F238E27FC236}">
                <a16:creationId xmlns:a16="http://schemas.microsoft.com/office/drawing/2014/main" id="{2F8EB3D6-60FF-43DC-86BF-A68224305022}"/>
              </a:ext>
            </a:extLst>
          </p:cNvPr>
          <p:cNvSpPr txBox="1">
            <a:spLocks/>
          </p:cNvSpPr>
          <p:nvPr/>
        </p:nvSpPr>
        <p:spPr>
          <a:xfrm>
            <a:off x="1012213" y="3429000"/>
            <a:ext cx="8512027" cy="13187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</a:rPr>
              <a:t>- </a:t>
            </a:r>
            <a:r>
              <a:rPr lang="zh-CN" altLang="en-US" dirty="0">
                <a:solidFill>
                  <a:srgbClr val="000000"/>
                </a:solidFill>
              </a:rPr>
              <a:t>表征导体储电能力的物理量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</a:rPr>
              <a:t>- </a:t>
            </a:r>
            <a:r>
              <a:rPr lang="zh-CN" altLang="en-US" dirty="0">
                <a:solidFill>
                  <a:srgbClr val="000000"/>
                </a:solidFill>
              </a:rPr>
              <a:t>物理意义：</a:t>
            </a:r>
            <a:r>
              <a:rPr lang="zh-CN" altLang="en-US" dirty="0">
                <a:solidFill>
                  <a:srgbClr val="0066FF"/>
                </a:solidFill>
              </a:rPr>
              <a:t>导体升高单位电势所需的电荷量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5BC8CC-2DE4-4A3A-A220-E2E9E245C42B}"/>
              </a:ext>
            </a:extLst>
          </p:cNvPr>
          <p:cNvSpPr txBox="1"/>
          <p:nvPr/>
        </p:nvSpPr>
        <p:spPr>
          <a:xfrm>
            <a:off x="1408224" y="1221930"/>
            <a:ext cx="87818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0" i="0" u="none" strike="noStrike" baseline="0" dirty="0"/>
              <a:t>- </a:t>
            </a:r>
            <a:r>
              <a:rPr lang="zh-CN" altLang="en-US" sz="2800" b="0" i="0" u="none" strike="noStrike" baseline="0" dirty="0"/>
              <a:t>一个带有电荷为</a:t>
            </a:r>
            <a:r>
              <a:rPr lang="en-US" altLang="zh-CN" sz="2800" b="0" i="1" u="none" strike="noStrike" baseline="0" dirty="0"/>
              <a:t>Q </a:t>
            </a:r>
            <a:r>
              <a:rPr lang="zh-CN" altLang="en-US" sz="2800" b="0" i="0" u="none" strike="noStrike" baseline="0" dirty="0"/>
              <a:t>的孤立导体</a:t>
            </a:r>
            <a:r>
              <a:rPr lang="en-US" altLang="zh-CN" sz="2800" b="0" i="0" u="none" strike="noStrike" baseline="0" dirty="0"/>
              <a:t>,</a:t>
            </a:r>
            <a:r>
              <a:rPr lang="zh-CN" altLang="en-US" sz="2800" b="0" i="0" u="none" strike="noStrike" baseline="0" dirty="0"/>
              <a:t>其电势为</a:t>
            </a:r>
            <a:r>
              <a:rPr lang="en-US" altLang="zh-CN" sz="2800" b="0" i="1" u="none" strike="noStrike" baseline="0" dirty="0"/>
              <a:t>U </a:t>
            </a:r>
            <a:r>
              <a:rPr lang="en-US" altLang="zh-CN" sz="2800" b="0" i="0" u="none" strike="noStrike" baseline="0" dirty="0"/>
              <a:t>(</a:t>
            </a:r>
            <a:r>
              <a:rPr lang="zh-CN" altLang="en-US" sz="2800" b="0" i="0" u="none" strike="noStrike" baseline="0" dirty="0"/>
              <a:t>无穷远</a:t>
            </a:r>
          </a:p>
          <a:p>
            <a:pPr algn="l"/>
            <a:r>
              <a:rPr lang="zh-CN" altLang="en-US" sz="2800" b="0" i="0" u="none" strike="noStrike" baseline="0" dirty="0"/>
              <a:t>处为电势零点</a:t>
            </a:r>
            <a:r>
              <a:rPr lang="en-US" altLang="zh-CN" sz="2800" b="0" i="0" u="none" strike="noStrike" baseline="0" dirty="0"/>
              <a:t>)</a:t>
            </a:r>
            <a:r>
              <a:rPr lang="zh-CN" altLang="en-US" sz="2800" b="0" i="0" u="none" strike="noStrike" baseline="0" dirty="0"/>
              <a:t>则有</a:t>
            </a:r>
            <a:r>
              <a:rPr lang="en-US" altLang="zh-CN" sz="2800" b="0" i="0" u="none" strike="noStrike" baseline="0" dirty="0"/>
              <a:t>: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3">
                <a:extLst>
                  <a:ext uri="{FF2B5EF4-FFF2-40B4-BE49-F238E27FC236}">
                    <a16:creationId xmlns:a16="http://schemas.microsoft.com/office/drawing/2014/main" id="{68F65358-710C-4B75-B08B-3A0BC59250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2213" y="4695749"/>
                <a:ext cx="7543801" cy="20955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dirty="0">
                    <a:solidFill>
                      <a:srgbClr val="000000"/>
                    </a:solidFill>
                  </a:rPr>
                  <a:t>- 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小决定导体的形状、尺寸及电介质的种类</a:t>
                </a:r>
                <a:endParaRPr lang="en-US" altLang="zh-CN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dirty="0">
                    <a:solidFill>
                      <a:srgbClr val="000000"/>
                    </a:solidFill>
                  </a:rPr>
                  <a:t>- 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单位：法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[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拉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]F</a:t>
                </a:r>
                <a:r>
                  <a:rPr lang="zh-CN" altLang="en-US" dirty="0">
                    <a:solidFill>
                      <a:srgbClr val="000000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f>
                      <m:fPr>
                        <m:type m:val="lin"/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𝐂</m:t>
                        </m:r>
                      </m:num>
                      <m:den>
                        <m:r>
                          <a:rPr lang="en-US" altLang="zh-CN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内容占位符 3">
                <a:extLst>
                  <a:ext uri="{FF2B5EF4-FFF2-40B4-BE49-F238E27FC236}">
                    <a16:creationId xmlns:a16="http://schemas.microsoft.com/office/drawing/2014/main" id="{68F65358-710C-4B75-B08B-3A0BC5925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213" y="4695749"/>
                <a:ext cx="7543801" cy="2095500"/>
              </a:xfrm>
              <a:prstGeom prst="rect">
                <a:avLst/>
              </a:prstGeom>
              <a:blipFill>
                <a:blip r:embed="rId4"/>
                <a:stretch>
                  <a:fillRect l="-1616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标题 1">
                <a:extLst>
                  <a:ext uri="{FF2B5EF4-FFF2-40B4-BE49-F238E27FC236}">
                    <a16:creationId xmlns:a16="http://schemas.microsoft.com/office/drawing/2014/main" id="{2A6AE36B-E3F1-45E3-AB08-75807D62A0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9074" y="5970430"/>
                <a:ext cx="7543800" cy="1166276"/>
              </a:xfrm>
              <a:prstGeom prst="rect">
                <a:avLst/>
              </a:prstGeom>
            </p:spPr>
            <p:txBody>
              <a:bodyPr>
                <a:normAutofit fontScale="97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m:t>1</m:t>
                      </m:r>
                      <m:r>
                        <m:rPr>
                          <m:nor/>
                        </m:rPr>
                        <a:rPr lang="zh-CN" altLang="en-US" sz="280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m:t>F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m:t>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+mn-lt"/>
                              <a:ea typeface="+mn-ea"/>
                            </a:rPr>
                            <m:t>0</m:t>
                          </m:r>
                        </m:e>
                        <m:sup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6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𝜇</m:t>
                      </m:r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F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m:t>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+mn-lt"/>
                              <a:ea typeface="+mn-ea"/>
                            </a:rPr>
                            <m:t>0</m:t>
                          </m:r>
                        </m:e>
                        <m:sup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9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m:t>nF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m:t>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+mn-lt"/>
                              <a:ea typeface="+mn-ea"/>
                            </a:rPr>
                            <m:t>0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12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+mn-lt"/>
                          <a:ea typeface="+mn-ea"/>
                        </a:rPr>
                        <m:t>pF</m:t>
                      </m:r>
                    </m:oMath>
                  </m:oMathPara>
                </a14:m>
                <a:endParaRPr lang="zh-CN" altLang="en-US" sz="2800" dirty="0"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14" name="标题 1">
                <a:extLst>
                  <a:ext uri="{FF2B5EF4-FFF2-40B4-BE49-F238E27FC236}">
                    <a16:creationId xmlns:a16="http://schemas.microsoft.com/office/drawing/2014/main" id="{2A6AE36B-E3F1-45E3-AB08-75807D62A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074" y="5970430"/>
                <a:ext cx="7543800" cy="11662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9B1FC834-95F7-4C1F-93C0-B3DD877C4F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8590" y="3125639"/>
            <a:ext cx="3779527" cy="324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3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98692" name="Object 4">
                <a:extLst>
                  <a:ext uri="{FF2B5EF4-FFF2-40B4-BE49-F238E27FC236}">
                    <a16:creationId xmlns:a16="http://schemas.microsoft.com/office/drawing/2014/main" id="{4281A8B7-F3FD-42EA-93CC-E49926F84430}"/>
                  </a:ext>
                </a:extLst>
              </p:cNvPr>
              <p:cNvSpPr txBox="1"/>
              <p:nvPr/>
            </p:nvSpPr>
            <p:spPr bwMode="auto">
              <a:xfrm>
                <a:off x="1609899" y="1550102"/>
                <a:ext cx="2240811" cy="555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&lt;&lt;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ra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8692" name="Object 4">
                <a:extLst>
                  <a:ext uri="{FF2B5EF4-FFF2-40B4-BE49-F238E27FC236}">
                    <a16:creationId xmlns:a16="http://schemas.microsoft.com/office/drawing/2014/main" id="{4281A8B7-F3FD-42EA-93CC-E49926F84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9899" y="1550102"/>
                <a:ext cx="2240811" cy="555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8693" name="Text Box 5">
            <a:extLst>
              <a:ext uri="{FF2B5EF4-FFF2-40B4-BE49-F238E27FC236}">
                <a16:creationId xmlns:a16="http://schemas.microsoft.com/office/drawing/2014/main" id="{CF1F55A3-4C4B-47F1-A191-8FB0D8CD6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8245" y="1619753"/>
            <a:ext cx="27320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</a:rPr>
              <a:t>忽略边界效应</a:t>
            </a:r>
          </a:p>
        </p:txBody>
      </p:sp>
      <p:grpSp>
        <p:nvGrpSpPr>
          <p:cNvPr id="498694" name="Group 6">
            <a:extLst>
              <a:ext uri="{FF2B5EF4-FFF2-40B4-BE49-F238E27FC236}">
                <a16:creationId xmlns:a16="http://schemas.microsoft.com/office/drawing/2014/main" id="{5A03EC76-AD61-4710-8032-40EA97C1FA64}"/>
              </a:ext>
            </a:extLst>
          </p:cNvPr>
          <p:cNvGrpSpPr>
            <a:grpSpLocks/>
          </p:cNvGrpSpPr>
          <p:nvPr/>
        </p:nvGrpSpPr>
        <p:grpSpPr bwMode="auto">
          <a:xfrm>
            <a:off x="3964217" y="2365343"/>
            <a:ext cx="1755775" cy="544512"/>
            <a:chOff x="2496" y="1861"/>
            <a:chExt cx="1106" cy="3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50" name="Object 7">
                  <a:extLst>
                    <a:ext uri="{FF2B5EF4-FFF2-40B4-BE49-F238E27FC236}">
                      <a16:creationId xmlns:a16="http://schemas.microsoft.com/office/drawing/2014/main" id="{7C04DC15-6810-4C0F-81EB-7362A8CE3F4C}"/>
                    </a:ext>
                  </a:extLst>
                </p:cNvPr>
                <p:cNvSpPr txBox="1"/>
                <p:nvPr/>
              </p:nvSpPr>
              <p:spPr bwMode="auto">
                <a:xfrm>
                  <a:off x="3218" y="1861"/>
                  <a:ext cx="384" cy="2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2250" name="Object 7">
                  <a:extLst>
                    <a:ext uri="{FF2B5EF4-FFF2-40B4-BE49-F238E27FC236}">
                      <a16:creationId xmlns:a16="http://schemas.microsoft.com/office/drawing/2014/main" id="{7C04DC15-6810-4C0F-81EB-7362A8CE3F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18" y="1861"/>
                  <a:ext cx="384" cy="272"/>
                </a:xfrm>
                <a:prstGeom prst="rect">
                  <a:avLst/>
                </a:prstGeom>
                <a:blipFill>
                  <a:blip r:embed="rId4"/>
                  <a:stretch>
                    <a:fillRect b="-704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251" name="Text Box 8">
              <a:extLst>
                <a:ext uri="{FF2B5EF4-FFF2-40B4-BE49-F238E27FC236}">
                  <a16:creationId xmlns:a16="http://schemas.microsoft.com/office/drawing/2014/main" id="{F5AFE949-8919-46A2-B948-BBA01AD6D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877"/>
              <a:ext cx="7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B </a:t>
              </a:r>
              <a:r>
                <a: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板带</a:t>
              </a:r>
            </a:p>
          </p:txBody>
        </p:sp>
      </p:grpSp>
      <p:grpSp>
        <p:nvGrpSpPr>
          <p:cNvPr id="498697" name="Group 9">
            <a:extLst>
              <a:ext uri="{FF2B5EF4-FFF2-40B4-BE49-F238E27FC236}">
                <a16:creationId xmlns:a16="http://schemas.microsoft.com/office/drawing/2014/main" id="{B4D41A27-302B-43AA-9E3F-51E376D0CA35}"/>
              </a:ext>
            </a:extLst>
          </p:cNvPr>
          <p:cNvGrpSpPr>
            <a:grpSpLocks/>
          </p:cNvGrpSpPr>
          <p:nvPr/>
        </p:nvGrpSpPr>
        <p:grpSpPr bwMode="auto">
          <a:xfrm>
            <a:off x="1373417" y="2327244"/>
            <a:ext cx="2000250" cy="571501"/>
            <a:chOff x="864" y="1874"/>
            <a:chExt cx="1260" cy="360"/>
          </a:xfrm>
        </p:grpSpPr>
        <p:sp>
          <p:nvSpPr>
            <p:cNvPr id="52248" name="Text Box 10">
              <a:extLst>
                <a:ext uri="{FF2B5EF4-FFF2-40B4-BE49-F238E27FC236}">
                  <a16:creationId xmlns:a16="http://schemas.microsoft.com/office/drawing/2014/main" id="{778E6DBB-6712-487A-BB7D-A736F161C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907"/>
              <a:ext cx="9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A </a:t>
              </a:r>
              <a:r>
                <a: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板带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49" name="Object 11">
                  <a:extLst>
                    <a:ext uri="{FF2B5EF4-FFF2-40B4-BE49-F238E27FC236}">
                      <a16:creationId xmlns:a16="http://schemas.microsoft.com/office/drawing/2014/main" id="{5C28C9C6-E5CB-42D1-8FCA-E459E71C19E8}"/>
                    </a:ext>
                  </a:extLst>
                </p:cNvPr>
                <p:cNvSpPr txBox="1"/>
                <p:nvPr/>
              </p:nvSpPr>
              <p:spPr bwMode="auto">
                <a:xfrm>
                  <a:off x="1788" y="1874"/>
                  <a:ext cx="336" cy="3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2249" name="Object 11">
                  <a:extLst>
                    <a:ext uri="{FF2B5EF4-FFF2-40B4-BE49-F238E27FC236}">
                      <a16:creationId xmlns:a16="http://schemas.microsoft.com/office/drawing/2014/main" id="{5C28C9C6-E5CB-42D1-8FCA-E459E71C19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88" y="1874"/>
                  <a:ext cx="336" cy="32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8700" name="Object 12">
                <a:extLst>
                  <a:ext uri="{FF2B5EF4-FFF2-40B4-BE49-F238E27FC236}">
                    <a16:creationId xmlns:a16="http://schemas.microsoft.com/office/drawing/2014/main" id="{8CE0D187-CFB5-40F0-B059-BFDC05F67535}"/>
                  </a:ext>
                </a:extLst>
              </p:cNvPr>
              <p:cNvSpPr txBox="1"/>
              <p:nvPr/>
            </p:nvSpPr>
            <p:spPr bwMode="auto">
              <a:xfrm>
                <a:off x="7864921" y="5606709"/>
                <a:ext cx="1231900" cy="9556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8700" name="Object 12">
                <a:extLst>
                  <a:ext uri="{FF2B5EF4-FFF2-40B4-BE49-F238E27FC236}">
                    <a16:creationId xmlns:a16="http://schemas.microsoft.com/office/drawing/2014/main" id="{8CE0D187-CFB5-40F0-B059-BFDC05F67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64921" y="5606709"/>
                <a:ext cx="1231900" cy="9556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8701" name="Object 13">
                <a:extLst>
                  <a:ext uri="{FF2B5EF4-FFF2-40B4-BE49-F238E27FC236}">
                    <a16:creationId xmlns:a16="http://schemas.microsoft.com/office/drawing/2014/main" id="{B7C8A5EB-D28B-4986-AFDB-9C119A121B1C}"/>
                  </a:ext>
                </a:extLst>
              </p:cNvPr>
              <p:cNvSpPr txBox="1"/>
              <p:nvPr/>
            </p:nvSpPr>
            <p:spPr bwMode="auto">
              <a:xfrm>
                <a:off x="9575576" y="5599609"/>
                <a:ext cx="1231900" cy="1073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8701" name="Object 13">
                <a:extLst>
                  <a:ext uri="{FF2B5EF4-FFF2-40B4-BE49-F238E27FC236}">
                    <a16:creationId xmlns:a16="http://schemas.microsoft.com/office/drawing/2014/main" id="{B7C8A5EB-D28B-4986-AFDB-9C119A121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75576" y="5599609"/>
                <a:ext cx="1231900" cy="10731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241" name="Group 21">
            <a:extLst>
              <a:ext uri="{FF2B5EF4-FFF2-40B4-BE49-F238E27FC236}">
                <a16:creationId xmlns:a16="http://schemas.microsoft.com/office/drawing/2014/main" id="{294EE790-0C55-48CD-81C2-46818F3ACE35}"/>
              </a:ext>
            </a:extLst>
          </p:cNvPr>
          <p:cNvGrpSpPr>
            <a:grpSpLocks/>
          </p:cNvGrpSpPr>
          <p:nvPr/>
        </p:nvGrpSpPr>
        <p:grpSpPr bwMode="auto">
          <a:xfrm>
            <a:off x="7871389" y="1550102"/>
            <a:ext cx="2960687" cy="3384550"/>
            <a:chOff x="3827" y="845"/>
            <a:chExt cx="1865" cy="2132"/>
          </a:xfrm>
        </p:grpSpPr>
        <p:grpSp>
          <p:nvGrpSpPr>
            <p:cNvPr id="52242" name="Group 22">
              <a:extLst>
                <a:ext uri="{FF2B5EF4-FFF2-40B4-BE49-F238E27FC236}">
                  <a16:creationId xmlns:a16="http://schemas.microsoft.com/office/drawing/2014/main" id="{1C8EE7F1-E599-4B48-B1D3-82A922427C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7" y="845"/>
              <a:ext cx="1865" cy="2112"/>
              <a:chOff x="2784" y="1616"/>
              <a:chExt cx="2046" cy="2112"/>
            </a:xfrm>
          </p:grpSpPr>
          <p:pic>
            <p:nvPicPr>
              <p:cNvPr id="52245" name="Picture 23">
                <a:extLst>
                  <a:ext uri="{FF2B5EF4-FFF2-40B4-BE49-F238E27FC236}">
                    <a16:creationId xmlns:a16="http://schemas.microsoft.com/office/drawing/2014/main" id="{54A5FB06-3F4C-4B19-A37F-1640A8D0C1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4" y="1616"/>
                <a:ext cx="2029" cy="2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2246" name="Rectangle 24">
                <a:extLst>
                  <a:ext uri="{FF2B5EF4-FFF2-40B4-BE49-F238E27FC236}">
                    <a16:creationId xmlns:a16="http://schemas.microsoft.com/office/drawing/2014/main" id="{CF3E6686-1A68-4D88-BDBE-860567A48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9" y="2235"/>
                <a:ext cx="181" cy="182"/>
              </a:xfrm>
              <a:prstGeom prst="rect">
                <a:avLst/>
              </a:prstGeom>
              <a:solidFill>
                <a:srgbClr val="FFFFE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  <a:buFontTx/>
                  <a:buNone/>
                </a:pPr>
                <a:endPara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247" name="Object 25">
                    <a:extLst>
                      <a:ext uri="{FF2B5EF4-FFF2-40B4-BE49-F238E27FC236}">
                        <a16:creationId xmlns:a16="http://schemas.microsoft.com/office/drawing/2014/main" id="{7146EA46-7FC6-40DC-A782-B20C19EAD41F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593" y="2213"/>
                    <a:ext cx="195" cy="22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55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oMath>
                      </m:oMathPara>
                    </a14:m>
                    <a:endParaRPr lang="zh-CN" altLang="en-US" sz="2800"/>
                  </a:p>
                </p:txBody>
              </p:sp>
            </mc:Choice>
            <mc:Fallback xmlns="">
              <p:sp>
                <p:nvSpPr>
                  <p:cNvPr id="52247" name="Object 25">
                    <a:extLst>
                      <a:ext uri="{FF2B5EF4-FFF2-40B4-BE49-F238E27FC236}">
                        <a16:creationId xmlns:a16="http://schemas.microsoft.com/office/drawing/2014/main" id="{7146EA46-7FC6-40DC-A782-B20C19EAD4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93" y="2213"/>
                    <a:ext cx="195" cy="22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43" name="Object 26">
                  <a:extLst>
                    <a:ext uri="{FF2B5EF4-FFF2-40B4-BE49-F238E27FC236}">
                      <a16:creationId xmlns:a16="http://schemas.microsoft.com/office/drawing/2014/main" id="{39005B13-4856-45D4-966C-99838EB9D71C}"/>
                    </a:ext>
                  </a:extLst>
                </p:cNvPr>
                <p:cNvSpPr txBox="1"/>
                <p:nvPr/>
              </p:nvSpPr>
              <p:spPr bwMode="auto">
                <a:xfrm>
                  <a:off x="4124" y="2750"/>
                  <a:ext cx="226" cy="2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55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52243" name="Object 26">
                  <a:extLst>
                    <a:ext uri="{FF2B5EF4-FFF2-40B4-BE49-F238E27FC236}">
                      <a16:creationId xmlns:a16="http://schemas.microsoft.com/office/drawing/2014/main" id="{39005B13-4856-45D4-966C-99838EB9D7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24" y="2750"/>
                  <a:ext cx="226" cy="22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44" name="Object 27">
                  <a:extLst>
                    <a:ext uri="{FF2B5EF4-FFF2-40B4-BE49-F238E27FC236}">
                      <a16:creationId xmlns:a16="http://schemas.microsoft.com/office/drawing/2014/main" id="{56780794-4E6C-41A7-947D-C29D96C73FD5}"/>
                    </a:ext>
                  </a:extLst>
                </p:cNvPr>
                <p:cNvSpPr txBox="1"/>
                <p:nvPr/>
              </p:nvSpPr>
              <p:spPr bwMode="auto">
                <a:xfrm>
                  <a:off x="4795" y="2751"/>
                  <a:ext cx="226" cy="2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55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2244" name="Object 27">
                  <a:extLst>
                    <a:ext uri="{FF2B5EF4-FFF2-40B4-BE49-F238E27FC236}">
                      <a16:creationId xmlns:a16="http://schemas.microsoft.com/office/drawing/2014/main" id="{56780794-4E6C-41A7-947D-C29D96C73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95" y="2751"/>
                  <a:ext cx="226" cy="226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7216C539-50B2-465D-8248-1D55FEB4FBE9}"/>
              </a:ext>
            </a:extLst>
          </p:cNvPr>
          <p:cNvSpPr/>
          <p:nvPr/>
        </p:nvSpPr>
        <p:spPr>
          <a:xfrm>
            <a:off x="1105698" y="506713"/>
            <a:ext cx="31149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平行板电容器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内容占位符 2">
                <a:extLst>
                  <a:ext uri="{FF2B5EF4-FFF2-40B4-BE49-F238E27FC236}">
                    <a16:creationId xmlns:a16="http://schemas.microsoft.com/office/drawing/2014/main" id="{CBD53AB7-03A8-4326-AD9A-CCD7CB2C5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66489" y="3557710"/>
                <a:ext cx="4303705" cy="26903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Aft>
                    <a:spcPts val="1200"/>
                  </a:spcAft>
                  <a:buClr>
                    <a:srgbClr val="99CB38"/>
                  </a:buClr>
                  <a:buFont typeface="Arial" panose="020B0604020202020204" pitchFamily="34" charset="0"/>
                  <a:buNone/>
                </a:pPr>
                <a:endParaRPr lang="en-US" altLang="zh-CN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1200"/>
                  </a:spcAft>
                  <a:buClr>
                    <a:srgbClr val="99CB38"/>
                  </a:buClr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1200"/>
                  </a:spcAft>
                  <a:buClr>
                    <a:srgbClr val="99CB38"/>
                  </a:buClr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solidFill>
                    <a:srgbClr val="0000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1200"/>
                  </a:spcAft>
                  <a:buClr>
                    <a:srgbClr val="99CB38"/>
                  </a:buClr>
                  <a:buFont typeface="Arial" panose="020B0604020202020204" pitchFamily="34" charset="0"/>
                  <a:buNone/>
                </a:pPr>
                <a:endParaRPr lang="en-US" altLang="zh-CN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lnSpc>
                    <a:spcPct val="10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endPara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4" name="内容占位符 2">
                <a:extLst>
                  <a:ext uri="{FF2B5EF4-FFF2-40B4-BE49-F238E27FC236}">
                    <a16:creationId xmlns:a16="http://schemas.microsoft.com/office/drawing/2014/main" id="{CBD53AB7-03A8-4326-AD9A-CCD7CB2C5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489" y="3557710"/>
                <a:ext cx="4303705" cy="269038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41">
            <a:extLst>
              <a:ext uri="{FF2B5EF4-FFF2-40B4-BE49-F238E27FC236}">
                <a16:creationId xmlns:a16="http://schemas.microsoft.com/office/drawing/2014/main" id="{7C95343F-6A81-4138-9174-8FB442ECD7C4}"/>
              </a:ext>
            </a:extLst>
          </p:cNvPr>
          <p:cNvGrpSpPr>
            <a:grpSpLocks/>
          </p:cNvGrpSpPr>
          <p:nvPr/>
        </p:nvGrpSpPr>
        <p:grpSpPr bwMode="auto">
          <a:xfrm>
            <a:off x="135171" y="3701709"/>
            <a:ext cx="2889250" cy="2459037"/>
            <a:chOff x="3510" y="1609"/>
            <a:chExt cx="1820" cy="1549"/>
          </a:xfrm>
        </p:grpSpPr>
        <p:sp>
          <p:nvSpPr>
            <p:cNvPr id="26" name="Line 42">
              <a:extLst>
                <a:ext uri="{FF2B5EF4-FFF2-40B4-BE49-F238E27FC236}">
                  <a16:creationId xmlns:a16="http://schemas.microsoft.com/office/drawing/2014/main" id="{96B37A55-EC68-487A-B05F-F65A5B57C2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5" y="1766"/>
              <a:ext cx="67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28" name="Line 43">
              <a:extLst>
                <a:ext uri="{FF2B5EF4-FFF2-40B4-BE49-F238E27FC236}">
                  <a16:creationId xmlns:a16="http://schemas.microsoft.com/office/drawing/2014/main" id="{42CFCAC1-F519-4501-9979-3D40EF4441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5" y="1766"/>
              <a:ext cx="67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29" name="Line 44">
              <a:extLst>
                <a:ext uri="{FF2B5EF4-FFF2-40B4-BE49-F238E27FC236}">
                  <a16:creationId xmlns:a16="http://schemas.microsoft.com/office/drawing/2014/main" id="{2FC34BE9-8C47-44B1-9969-905EA336D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" y="2198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30" name="Line 45">
              <a:extLst>
                <a:ext uri="{FF2B5EF4-FFF2-40B4-BE49-F238E27FC236}">
                  <a16:creationId xmlns:a16="http://schemas.microsoft.com/office/drawing/2014/main" id="{56159A15-1E53-4F67-B869-B59665D927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7" y="176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32" name="Line 46">
              <a:extLst>
                <a:ext uri="{FF2B5EF4-FFF2-40B4-BE49-F238E27FC236}">
                  <a16:creationId xmlns:a16="http://schemas.microsoft.com/office/drawing/2014/main" id="{5FED59D7-603C-4CA8-A71C-5757D0FC2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5" y="2198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33" name="Line 47">
              <a:extLst>
                <a:ext uri="{FF2B5EF4-FFF2-40B4-BE49-F238E27FC236}">
                  <a16:creationId xmlns:a16="http://schemas.microsoft.com/office/drawing/2014/main" id="{DD8F654B-2218-4E49-86C5-AEBE354808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" y="2198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34" name="Line 48">
              <a:extLst>
                <a:ext uri="{FF2B5EF4-FFF2-40B4-BE49-F238E27FC236}">
                  <a16:creationId xmlns:a16="http://schemas.microsoft.com/office/drawing/2014/main" id="{3CB8E671-3CB1-46C8-943E-2A48C4E4A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" y="315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35" name="Line 49">
              <a:extLst>
                <a:ext uri="{FF2B5EF4-FFF2-40B4-BE49-F238E27FC236}">
                  <a16:creationId xmlns:a16="http://schemas.microsoft.com/office/drawing/2014/main" id="{00D6B927-3CA8-4E64-99EC-A5D80DAA55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5" y="2870"/>
              <a:ext cx="432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36" name="Line 50">
              <a:extLst>
                <a:ext uri="{FF2B5EF4-FFF2-40B4-BE49-F238E27FC236}">
                  <a16:creationId xmlns:a16="http://schemas.microsoft.com/office/drawing/2014/main" id="{AC97CF64-6D5F-48F7-9D1F-9BD22B5DB1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7" y="1766"/>
              <a:ext cx="67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37" name="Line 51">
              <a:extLst>
                <a:ext uri="{FF2B5EF4-FFF2-40B4-BE49-F238E27FC236}">
                  <a16:creationId xmlns:a16="http://schemas.microsoft.com/office/drawing/2014/main" id="{C9591E2C-21E2-49E8-9CB1-8DD4D60C1E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7" y="1766"/>
              <a:ext cx="67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38" name="Line 52">
              <a:extLst>
                <a:ext uri="{FF2B5EF4-FFF2-40B4-BE49-F238E27FC236}">
                  <a16:creationId xmlns:a16="http://schemas.microsoft.com/office/drawing/2014/main" id="{19272744-7F9F-4014-BE12-05A49317B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7" y="2198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39" name="Line 53">
              <a:extLst>
                <a:ext uri="{FF2B5EF4-FFF2-40B4-BE49-F238E27FC236}">
                  <a16:creationId xmlns:a16="http://schemas.microsoft.com/office/drawing/2014/main" id="{56C9970C-2191-48A1-9A1D-FAECF68A9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9" y="176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0" name="Line 54">
              <a:extLst>
                <a:ext uri="{FF2B5EF4-FFF2-40B4-BE49-F238E27FC236}">
                  <a16:creationId xmlns:a16="http://schemas.microsoft.com/office/drawing/2014/main" id="{677E7D88-FA9F-481B-924F-E63FFC3BE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7" y="2198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1" name="Line 55">
              <a:extLst>
                <a:ext uri="{FF2B5EF4-FFF2-40B4-BE49-F238E27FC236}">
                  <a16:creationId xmlns:a16="http://schemas.microsoft.com/office/drawing/2014/main" id="{D892C2C2-FCAB-4BA8-8EBD-13730008F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7" y="2198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2" name="Line 56">
              <a:extLst>
                <a:ext uri="{FF2B5EF4-FFF2-40B4-BE49-F238E27FC236}">
                  <a16:creationId xmlns:a16="http://schemas.microsoft.com/office/drawing/2014/main" id="{FDCB101E-0AB7-4328-A188-28FF9328E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7" y="315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3" name="Line 57">
              <a:extLst>
                <a:ext uri="{FF2B5EF4-FFF2-40B4-BE49-F238E27FC236}">
                  <a16:creationId xmlns:a16="http://schemas.microsoft.com/office/drawing/2014/main" id="{595B1D4B-BD1F-45DB-BB04-497A0DA84F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7" y="2678"/>
              <a:ext cx="672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4" name="Freeform 58">
              <a:extLst>
                <a:ext uri="{FF2B5EF4-FFF2-40B4-BE49-F238E27FC236}">
                  <a16:creationId xmlns:a16="http://schemas.microsoft.com/office/drawing/2014/main" id="{09A372C6-A2D4-4A70-A5E1-C4030C2AE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1766"/>
              <a:ext cx="1" cy="288"/>
            </a:xfrm>
            <a:custGeom>
              <a:avLst/>
              <a:gdLst>
                <a:gd name="T0" fmla="*/ 0 w 1"/>
                <a:gd name="T1" fmla="*/ 0 h 288"/>
                <a:gd name="T2" fmla="*/ 0 w 1"/>
                <a:gd name="T3" fmla="*/ 288 h 2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88">
                  <a:moveTo>
                    <a:pt x="0" y="0"/>
                  </a:moveTo>
                  <a:cubicBezTo>
                    <a:pt x="0" y="124"/>
                    <a:pt x="0" y="248"/>
                    <a:pt x="0" y="28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5" name="Freeform 59">
              <a:extLst>
                <a:ext uri="{FF2B5EF4-FFF2-40B4-BE49-F238E27FC236}">
                  <a16:creationId xmlns:a16="http://schemas.microsoft.com/office/drawing/2014/main" id="{51EA74D2-13A4-4B27-9909-B53BD8596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9" y="1766"/>
              <a:ext cx="1" cy="912"/>
            </a:xfrm>
            <a:custGeom>
              <a:avLst/>
              <a:gdLst>
                <a:gd name="T0" fmla="*/ 0 w 1"/>
                <a:gd name="T1" fmla="*/ 0 h 912"/>
                <a:gd name="T2" fmla="*/ 0 w 1"/>
                <a:gd name="T3" fmla="*/ 912 h 9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12">
                  <a:moveTo>
                    <a:pt x="0" y="0"/>
                  </a:moveTo>
                  <a:cubicBezTo>
                    <a:pt x="0" y="380"/>
                    <a:pt x="0" y="760"/>
                    <a:pt x="0" y="91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Object 60">
                  <a:extLst>
                    <a:ext uri="{FF2B5EF4-FFF2-40B4-BE49-F238E27FC236}">
                      <a16:creationId xmlns:a16="http://schemas.microsoft.com/office/drawing/2014/main" id="{9C0D7B1F-467D-4203-89B4-D0DC8FFA6FAA}"/>
                    </a:ext>
                  </a:extLst>
                </p:cNvPr>
                <p:cNvSpPr txBox="1"/>
                <p:nvPr/>
              </p:nvSpPr>
              <p:spPr bwMode="auto">
                <a:xfrm>
                  <a:off x="4150" y="1609"/>
                  <a:ext cx="207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55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46" name="Object 60">
                  <a:extLst>
                    <a:ext uri="{FF2B5EF4-FFF2-40B4-BE49-F238E27FC236}">
                      <a16:creationId xmlns:a16="http://schemas.microsoft.com/office/drawing/2014/main" id="{9C0D7B1F-467D-4203-89B4-D0DC8FFA6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50" y="1609"/>
                  <a:ext cx="207" cy="20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Object 61">
                  <a:extLst>
                    <a:ext uri="{FF2B5EF4-FFF2-40B4-BE49-F238E27FC236}">
                      <a16:creationId xmlns:a16="http://schemas.microsoft.com/office/drawing/2014/main" id="{193EDE58-F401-4B3E-9C78-D3132823AF7A}"/>
                    </a:ext>
                  </a:extLst>
                </p:cNvPr>
                <p:cNvSpPr txBox="1"/>
                <p:nvPr/>
              </p:nvSpPr>
              <p:spPr bwMode="auto">
                <a:xfrm>
                  <a:off x="4801" y="1659"/>
                  <a:ext cx="203" cy="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55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47" name="Object 61">
                  <a:extLst>
                    <a:ext uri="{FF2B5EF4-FFF2-40B4-BE49-F238E27FC236}">
                      <a16:creationId xmlns:a16="http://schemas.microsoft.com/office/drawing/2014/main" id="{193EDE58-F401-4B3E-9C78-D3132823AF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1" y="1659"/>
                  <a:ext cx="203" cy="203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Object 62">
                  <a:extLst>
                    <a:ext uri="{FF2B5EF4-FFF2-40B4-BE49-F238E27FC236}">
                      <a16:creationId xmlns:a16="http://schemas.microsoft.com/office/drawing/2014/main" id="{4D37E642-8C5E-4190-855C-2030FB210203}"/>
                    </a:ext>
                  </a:extLst>
                </p:cNvPr>
                <p:cNvSpPr txBox="1"/>
                <p:nvPr/>
              </p:nvSpPr>
              <p:spPr bwMode="auto">
                <a:xfrm>
                  <a:off x="3510" y="2054"/>
                  <a:ext cx="248" cy="2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48" name="Object 62">
                  <a:extLst>
                    <a:ext uri="{FF2B5EF4-FFF2-40B4-BE49-F238E27FC236}">
                      <a16:creationId xmlns:a16="http://schemas.microsoft.com/office/drawing/2014/main" id="{4D37E642-8C5E-4190-855C-2030FB2102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10" y="2054"/>
                  <a:ext cx="248" cy="283"/>
                </a:xfrm>
                <a:prstGeom prst="rect">
                  <a:avLst/>
                </a:prstGeom>
                <a:blipFill>
                  <a:blip r:embed="rId17"/>
                  <a:stretch>
                    <a:fillRect r="-615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Object 63">
                  <a:extLst>
                    <a:ext uri="{FF2B5EF4-FFF2-40B4-BE49-F238E27FC236}">
                      <a16:creationId xmlns:a16="http://schemas.microsoft.com/office/drawing/2014/main" id="{13CDDB5B-2835-4340-9062-02E57C4EE83A}"/>
                    </a:ext>
                  </a:extLst>
                </p:cNvPr>
                <p:cNvSpPr txBox="1"/>
                <p:nvPr/>
              </p:nvSpPr>
              <p:spPr bwMode="auto">
                <a:xfrm>
                  <a:off x="3982" y="2086"/>
                  <a:ext cx="230" cy="3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9" name="Object 63">
                  <a:extLst>
                    <a:ext uri="{FF2B5EF4-FFF2-40B4-BE49-F238E27FC236}">
                      <a16:creationId xmlns:a16="http://schemas.microsoft.com/office/drawing/2014/main" id="{13CDDB5B-2835-4340-9062-02E57C4EE8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82" y="2086"/>
                  <a:ext cx="230" cy="301"/>
                </a:xfrm>
                <a:prstGeom prst="rect">
                  <a:avLst/>
                </a:prstGeom>
                <a:blipFill>
                  <a:blip r:embed="rId18"/>
                  <a:stretch>
                    <a:fillRect r="-18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Object 64">
                  <a:extLst>
                    <a:ext uri="{FF2B5EF4-FFF2-40B4-BE49-F238E27FC236}">
                      <a16:creationId xmlns:a16="http://schemas.microsoft.com/office/drawing/2014/main" id="{560AA744-F764-43DD-96D2-7A204FC1ECAF}"/>
                    </a:ext>
                  </a:extLst>
                </p:cNvPr>
                <p:cNvSpPr txBox="1"/>
                <p:nvPr/>
              </p:nvSpPr>
              <p:spPr bwMode="auto">
                <a:xfrm>
                  <a:off x="4252" y="2129"/>
                  <a:ext cx="280" cy="3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50" name="Object 64">
                  <a:extLst>
                    <a:ext uri="{FF2B5EF4-FFF2-40B4-BE49-F238E27FC236}">
                      <a16:creationId xmlns:a16="http://schemas.microsoft.com/office/drawing/2014/main" id="{560AA744-F764-43DD-96D2-7A204FC1E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52" y="2129"/>
                  <a:ext cx="280" cy="31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Object 65">
                  <a:extLst>
                    <a:ext uri="{FF2B5EF4-FFF2-40B4-BE49-F238E27FC236}">
                      <a16:creationId xmlns:a16="http://schemas.microsoft.com/office/drawing/2014/main" id="{09C1E618-1C78-45A2-9050-76E6DBA8581D}"/>
                    </a:ext>
                  </a:extLst>
                </p:cNvPr>
                <p:cNvSpPr txBox="1"/>
                <p:nvPr/>
              </p:nvSpPr>
              <p:spPr bwMode="auto">
                <a:xfrm>
                  <a:off x="4647" y="2113"/>
                  <a:ext cx="235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1" name="Object 65">
                  <a:extLst>
                    <a:ext uri="{FF2B5EF4-FFF2-40B4-BE49-F238E27FC236}">
                      <a16:creationId xmlns:a16="http://schemas.microsoft.com/office/drawing/2014/main" id="{09C1E618-1C78-45A2-9050-76E6DBA85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47" y="2113"/>
                  <a:ext cx="235" cy="250"/>
                </a:xfrm>
                <a:prstGeom prst="rect">
                  <a:avLst/>
                </a:prstGeom>
                <a:blipFill>
                  <a:blip r:embed="rId20"/>
                  <a:stretch>
                    <a:fillRect r="-11475" b="-1515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Object 66">
                  <a:extLst>
                    <a:ext uri="{FF2B5EF4-FFF2-40B4-BE49-F238E27FC236}">
                      <a16:creationId xmlns:a16="http://schemas.microsoft.com/office/drawing/2014/main" id="{18F4D349-FC91-4462-8629-6D119E284A9F}"/>
                    </a:ext>
                  </a:extLst>
                </p:cNvPr>
                <p:cNvSpPr txBox="1"/>
                <p:nvPr/>
              </p:nvSpPr>
              <p:spPr bwMode="auto">
                <a:xfrm>
                  <a:off x="4609" y="2531"/>
                  <a:ext cx="235" cy="2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2" name="Object 66">
                  <a:extLst>
                    <a:ext uri="{FF2B5EF4-FFF2-40B4-BE49-F238E27FC236}">
                      <a16:creationId xmlns:a16="http://schemas.microsoft.com/office/drawing/2014/main" id="{18F4D349-FC91-4462-8629-6D119E284A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9" y="2531"/>
                  <a:ext cx="235" cy="278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22BD3DE4-7735-4862-BF99-7CD13F2EFE96}"/>
                  </a:ext>
                </a:extLst>
              </p:cNvPr>
              <p:cNvSpPr/>
              <p:nvPr/>
            </p:nvSpPr>
            <p:spPr>
              <a:xfrm>
                <a:off x="1422634" y="3198233"/>
                <a:ext cx="69564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22BD3DE4-7735-4862-BF99-7CD13F2EFE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634" y="3198233"/>
                <a:ext cx="695640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ED9DB612-177F-4D77-B26C-1FBD9E2A1DAD}"/>
                  </a:ext>
                </a:extLst>
              </p:cNvPr>
              <p:cNvSpPr/>
              <p:nvPr/>
            </p:nvSpPr>
            <p:spPr>
              <a:xfrm>
                <a:off x="2594956" y="3219080"/>
                <a:ext cx="7049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𝑄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ED9DB612-177F-4D77-B26C-1FBD9E2A1D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956" y="3219080"/>
                <a:ext cx="704937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B180297B-BC9B-43EA-991A-BB520AA8AFAC}"/>
              </a:ext>
            </a:extLst>
          </p:cNvPr>
          <p:cNvSpPr/>
          <p:nvPr/>
        </p:nvSpPr>
        <p:spPr>
          <a:xfrm>
            <a:off x="245533" y="3081867"/>
            <a:ext cx="6993467" cy="3166227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2" grpId="0"/>
      <p:bldP spid="498693" grpId="0"/>
      <p:bldP spid="498700" grpId="0"/>
      <p:bldP spid="498701" grpId="0"/>
      <p:bldP spid="24" grpId="0"/>
      <p:bldP spid="53" grpId="0"/>
      <p:bldP spid="54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98692" name="Object 4">
                <a:extLst>
                  <a:ext uri="{FF2B5EF4-FFF2-40B4-BE49-F238E27FC236}">
                    <a16:creationId xmlns:a16="http://schemas.microsoft.com/office/drawing/2014/main" id="{4281A8B7-F3FD-42EA-93CC-E49926F84430}"/>
                  </a:ext>
                </a:extLst>
              </p:cNvPr>
              <p:cNvSpPr txBox="1"/>
              <p:nvPr/>
            </p:nvSpPr>
            <p:spPr bwMode="auto">
              <a:xfrm>
                <a:off x="1609899" y="1550102"/>
                <a:ext cx="2240811" cy="555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&lt;&lt;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ra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8692" name="Object 4">
                <a:extLst>
                  <a:ext uri="{FF2B5EF4-FFF2-40B4-BE49-F238E27FC236}">
                    <a16:creationId xmlns:a16="http://schemas.microsoft.com/office/drawing/2014/main" id="{4281A8B7-F3FD-42EA-93CC-E49926F84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9899" y="1550102"/>
                <a:ext cx="2240811" cy="555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8693" name="Text Box 5">
            <a:extLst>
              <a:ext uri="{FF2B5EF4-FFF2-40B4-BE49-F238E27FC236}">
                <a16:creationId xmlns:a16="http://schemas.microsoft.com/office/drawing/2014/main" id="{CF1F55A3-4C4B-47F1-A191-8FB0D8CD6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8245" y="1619753"/>
            <a:ext cx="27320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ea typeface="华文楷体" panose="02010600040101010101" pitchFamily="2" charset="-122"/>
              </a:rPr>
              <a:t>忽略边界效应</a:t>
            </a:r>
          </a:p>
        </p:txBody>
      </p:sp>
      <p:grpSp>
        <p:nvGrpSpPr>
          <p:cNvPr id="498694" name="Group 6">
            <a:extLst>
              <a:ext uri="{FF2B5EF4-FFF2-40B4-BE49-F238E27FC236}">
                <a16:creationId xmlns:a16="http://schemas.microsoft.com/office/drawing/2014/main" id="{5A03EC76-AD61-4710-8032-40EA97C1FA64}"/>
              </a:ext>
            </a:extLst>
          </p:cNvPr>
          <p:cNvGrpSpPr>
            <a:grpSpLocks/>
          </p:cNvGrpSpPr>
          <p:nvPr/>
        </p:nvGrpSpPr>
        <p:grpSpPr bwMode="auto">
          <a:xfrm>
            <a:off x="3964217" y="2365343"/>
            <a:ext cx="1755775" cy="544512"/>
            <a:chOff x="2496" y="1861"/>
            <a:chExt cx="1106" cy="3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50" name="Object 7">
                  <a:extLst>
                    <a:ext uri="{FF2B5EF4-FFF2-40B4-BE49-F238E27FC236}">
                      <a16:creationId xmlns:a16="http://schemas.microsoft.com/office/drawing/2014/main" id="{7C04DC15-6810-4C0F-81EB-7362A8CE3F4C}"/>
                    </a:ext>
                  </a:extLst>
                </p:cNvPr>
                <p:cNvSpPr txBox="1"/>
                <p:nvPr/>
              </p:nvSpPr>
              <p:spPr bwMode="auto">
                <a:xfrm>
                  <a:off x="3218" y="1861"/>
                  <a:ext cx="384" cy="2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2250" name="Object 7">
                  <a:extLst>
                    <a:ext uri="{FF2B5EF4-FFF2-40B4-BE49-F238E27FC236}">
                      <a16:creationId xmlns:a16="http://schemas.microsoft.com/office/drawing/2014/main" id="{7C04DC15-6810-4C0F-81EB-7362A8CE3F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18" y="1861"/>
                  <a:ext cx="384" cy="272"/>
                </a:xfrm>
                <a:prstGeom prst="rect">
                  <a:avLst/>
                </a:prstGeom>
                <a:blipFill>
                  <a:blip r:embed="rId4"/>
                  <a:stretch>
                    <a:fillRect b="-704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251" name="Text Box 8">
              <a:extLst>
                <a:ext uri="{FF2B5EF4-FFF2-40B4-BE49-F238E27FC236}">
                  <a16:creationId xmlns:a16="http://schemas.microsoft.com/office/drawing/2014/main" id="{F5AFE949-8919-46A2-B948-BBA01AD6D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877"/>
              <a:ext cx="7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B </a:t>
              </a:r>
              <a:r>
                <a: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板带</a:t>
              </a:r>
            </a:p>
          </p:txBody>
        </p:sp>
      </p:grpSp>
      <p:grpSp>
        <p:nvGrpSpPr>
          <p:cNvPr id="498697" name="Group 9">
            <a:extLst>
              <a:ext uri="{FF2B5EF4-FFF2-40B4-BE49-F238E27FC236}">
                <a16:creationId xmlns:a16="http://schemas.microsoft.com/office/drawing/2014/main" id="{B4D41A27-302B-43AA-9E3F-51E376D0CA35}"/>
              </a:ext>
            </a:extLst>
          </p:cNvPr>
          <p:cNvGrpSpPr>
            <a:grpSpLocks/>
          </p:cNvGrpSpPr>
          <p:nvPr/>
        </p:nvGrpSpPr>
        <p:grpSpPr bwMode="auto">
          <a:xfrm>
            <a:off x="1373417" y="2327244"/>
            <a:ext cx="2000250" cy="571501"/>
            <a:chOff x="864" y="1874"/>
            <a:chExt cx="1260" cy="360"/>
          </a:xfrm>
        </p:grpSpPr>
        <p:sp>
          <p:nvSpPr>
            <p:cNvPr id="52248" name="Text Box 10">
              <a:extLst>
                <a:ext uri="{FF2B5EF4-FFF2-40B4-BE49-F238E27FC236}">
                  <a16:creationId xmlns:a16="http://schemas.microsoft.com/office/drawing/2014/main" id="{778E6DBB-6712-487A-BB7D-A736F161C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907"/>
              <a:ext cx="9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A </a:t>
              </a:r>
              <a:r>
                <a: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板带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49" name="Object 11">
                  <a:extLst>
                    <a:ext uri="{FF2B5EF4-FFF2-40B4-BE49-F238E27FC236}">
                      <a16:creationId xmlns:a16="http://schemas.microsoft.com/office/drawing/2014/main" id="{5C28C9C6-E5CB-42D1-8FCA-E459E71C19E8}"/>
                    </a:ext>
                  </a:extLst>
                </p:cNvPr>
                <p:cNvSpPr txBox="1"/>
                <p:nvPr/>
              </p:nvSpPr>
              <p:spPr bwMode="auto">
                <a:xfrm>
                  <a:off x="1788" y="1874"/>
                  <a:ext cx="336" cy="3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2249" name="Object 11">
                  <a:extLst>
                    <a:ext uri="{FF2B5EF4-FFF2-40B4-BE49-F238E27FC236}">
                      <a16:creationId xmlns:a16="http://schemas.microsoft.com/office/drawing/2014/main" id="{5C28C9C6-E5CB-42D1-8FCA-E459E71C19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88" y="1874"/>
                  <a:ext cx="336" cy="32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8700" name="Object 12">
                <a:extLst>
                  <a:ext uri="{FF2B5EF4-FFF2-40B4-BE49-F238E27FC236}">
                    <a16:creationId xmlns:a16="http://schemas.microsoft.com/office/drawing/2014/main" id="{8CE0D187-CFB5-40F0-B059-BFDC05F67535}"/>
                  </a:ext>
                </a:extLst>
              </p:cNvPr>
              <p:cNvSpPr txBox="1"/>
              <p:nvPr/>
            </p:nvSpPr>
            <p:spPr bwMode="auto">
              <a:xfrm>
                <a:off x="1911832" y="3104110"/>
                <a:ext cx="1044575" cy="9556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8700" name="Object 12">
                <a:extLst>
                  <a:ext uri="{FF2B5EF4-FFF2-40B4-BE49-F238E27FC236}">
                    <a16:creationId xmlns:a16="http://schemas.microsoft.com/office/drawing/2014/main" id="{8CE0D187-CFB5-40F0-B059-BFDC05F67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1832" y="3104110"/>
                <a:ext cx="1044575" cy="9556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8701" name="Object 13">
                <a:extLst>
                  <a:ext uri="{FF2B5EF4-FFF2-40B4-BE49-F238E27FC236}">
                    <a16:creationId xmlns:a16="http://schemas.microsoft.com/office/drawing/2014/main" id="{B7C8A5EB-D28B-4986-AFDB-9C119A121B1C}"/>
                  </a:ext>
                </a:extLst>
              </p:cNvPr>
              <p:cNvSpPr txBox="1"/>
              <p:nvPr/>
            </p:nvSpPr>
            <p:spPr bwMode="auto">
              <a:xfrm>
                <a:off x="3884842" y="3076542"/>
                <a:ext cx="1231900" cy="1073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8701" name="Object 13">
                <a:extLst>
                  <a:ext uri="{FF2B5EF4-FFF2-40B4-BE49-F238E27FC236}">
                    <a16:creationId xmlns:a16="http://schemas.microsoft.com/office/drawing/2014/main" id="{B7C8A5EB-D28B-4986-AFDB-9C119A121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4842" y="3076542"/>
                <a:ext cx="1231900" cy="10731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8702" name="Object 14">
                <a:extLst>
                  <a:ext uri="{FF2B5EF4-FFF2-40B4-BE49-F238E27FC236}">
                    <a16:creationId xmlns:a16="http://schemas.microsoft.com/office/drawing/2014/main" id="{CF9B82FC-33C9-4D02-867A-4409868C6B83}"/>
                  </a:ext>
                </a:extLst>
              </p:cNvPr>
              <p:cNvSpPr txBox="1"/>
              <p:nvPr/>
            </p:nvSpPr>
            <p:spPr bwMode="auto">
              <a:xfrm>
                <a:off x="1188582" y="4253773"/>
                <a:ext cx="5111750" cy="1123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8702" name="Object 14">
                <a:extLst>
                  <a:ext uri="{FF2B5EF4-FFF2-40B4-BE49-F238E27FC236}">
                    <a16:creationId xmlns:a16="http://schemas.microsoft.com/office/drawing/2014/main" id="{CF9B82FC-33C9-4D02-867A-4409868C6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8582" y="4253773"/>
                <a:ext cx="5111750" cy="11239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8703" name="Object 15">
                <a:extLst>
                  <a:ext uri="{FF2B5EF4-FFF2-40B4-BE49-F238E27FC236}">
                    <a16:creationId xmlns:a16="http://schemas.microsoft.com/office/drawing/2014/main" id="{DCD07D1F-C5B7-4981-8A9A-4150B47828D2}"/>
                  </a:ext>
                </a:extLst>
              </p:cNvPr>
              <p:cNvSpPr txBox="1"/>
              <p:nvPr/>
            </p:nvSpPr>
            <p:spPr bwMode="auto">
              <a:xfrm>
                <a:off x="1170585" y="5464662"/>
                <a:ext cx="3119438" cy="107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8703" name="Object 15">
                <a:extLst>
                  <a:ext uri="{FF2B5EF4-FFF2-40B4-BE49-F238E27FC236}">
                    <a16:creationId xmlns:a16="http://schemas.microsoft.com/office/drawing/2014/main" id="{DCD07D1F-C5B7-4981-8A9A-4150B4782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0585" y="5464662"/>
                <a:ext cx="3119438" cy="10795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241" name="Group 21">
            <a:extLst>
              <a:ext uri="{FF2B5EF4-FFF2-40B4-BE49-F238E27FC236}">
                <a16:creationId xmlns:a16="http://schemas.microsoft.com/office/drawing/2014/main" id="{294EE790-0C55-48CD-81C2-46818F3ACE35}"/>
              </a:ext>
            </a:extLst>
          </p:cNvPr>
          <p:cNvGrpSpPr>
            <a:grpSpLocks/>
          </p:cNvGrpSpPr>
          <p:nvPr/>
        </p:nvGrpSpPr>
        <p:grpSpPr bwMode="auto">
          <a:xfrm>
            <a:off x="7871389" y="1550102"/>
            <a:ext cx="2960687" cy="3384550"/>
            <a:chOff x="3827" y="845"/>
            <a:chExt cx="1865" cy="2132"/>
          </a:xfrm>
        </p:grpSpPr>
        <p:grpSp>
          <p:nvGrpSpPr>
            <p:cNvPr id="52242" name="Group 22">
              <a:extLst>
                <a:ext uri="{FF2B5EF4-FFF2-40B4-BE49-F238E27FC236}">
                  <a16:creationId xmlns:a16="http://schemas.microsoft.com/office/drawing/2014/main" id="{1C8EE7F1-E599-4B48-B1D3-82A922427C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7" y="845"/>
              <a:ext cx="1865" cy="2112"/>
              <a:chOff x="2784" y="1616"/>
              <a:chExt cx="2046" cy="2112"/>
            </a:xfrm>
          </p:grpSpPr>
          <p:pic>
            <p:nvPicPr>
              <p:cNvPr id="52245" name="Picture 23">
                <a:extLst>
                  <a:ext uri="{FF2B5EF4-FFF2-40B4-BE49-F238E27FC236}">
                    <a16:creationId xmlns:a16="http://schemas.microsoft.com/office/drawing/2014/main" id="{54A5FB06-3F4C-4B19-A37F-1640A8D0C1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4" y="1616"/>
                <a:ext cx="2029" cy="2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52246" name="Rectangle 24">
                <a:extLst>
                  <a:ext uri="{FF2B5EF4-FFF2-40B4-BE49-F238E27FC236}">
                    <a16:creationId xmlns:a16="http://schemas.microsoft.com/office/drawing/2014/main" id="{CF3E6686-1A68-4D88-BDBE-860567A48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9" y="2235"/>
                <a:ext cx="181" cy="182"/>
              </a:xfrm>
              <a:prstGeom prst="rect">
                <a:avLst/>
              </a:prstGeom>
              <a:solidFill>
                <a:srgbClr val="FFFFE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  <a:buFontTx/>
                  <a:buNone/>
                </a:pPr>
                <a:endPara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247" name="Object 25">
                    <a:extLst>
                      <a:ext uri="{FF2B5EF4-FFF2-40B4-BE49-F238E27FC236}">
                        <a16:creationId xmlns:a16="http://schemas.microsoft.com/office/drawing/2014/main" id="{7146EA46-7FC6-40DC-A782-B20C19EAD41F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593" y="2213"/>
                    <a:ext cx="195" cy="22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55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oMath>
                      </m:oMathPara>
                    </a14:m>
                    <a:endParaRPr lang="zh-CN" altLang="en-US" sz="2800"/>
                  </a:p>
                </p:txBody>
              </p:sp>
            </mc:Choice>
            <mc:Fallback xmlns="">
              <p:sp>
                <p:nvSpPr>
                  <p:cNvPr id="52247" name="Object 25">
                    <a:extLst>
                      <a:ext uri="{FF2B5EF4-FFF2-40B4-BE49-F238E27FC236}">
                        <a16:creationId xmlns:a16="http://schemas.microsoft.com/office/drawing/2014/main" id="{7146EA46-7FC6-40DC-A782-B20C19EAD4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93" y="2213"/>
                    <a:ext cx="195" cy="22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43" name="Object 26">
                  <a:extLst>
                    <a:ext uri="{FF2B5EF4-FFF2-40B4-BE49-F238E27FC236}">
                      <a16:creationId xmlns:a16="http://schemas.microsoft.com/office/drawing/2014/main" id="{39005B13-4856-45D4-966C-99838EB9D71C}"/>
                    </a:ext>
                  </a:extLst>
                </p:cNvPr>
                <p:cNvSpPr txBox="1"/>
                <p:nvPr/>
              </p:nvSpPr>
              <p:spPr bwMode="auto">
                <a:xfrm>
                  <a:off x="4124" y="2750"/>
                  <a:ext cx="226" cy="2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55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52243" name="Object 26">
                  <a:extLst>
                    <a:ext uri="{FF2B5EF4-FFF2-40B4-BE49-F238E27FC236}">
                      <a16:creationId xmlns:a16="http://schemas.microsoft.com/office/drawing/2014/main" id="{39005B13-4856-45D4-966C-99838EB9D7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24" y="2750"/>
                  <a:ext cx="226" cy="22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44" name="Object 27">
                  <a:extLst>
                    <a:ext uri="{FF2B5EF4-FFF2-40B4-BE49-F238E27FC236}">
                      <a16:creationId xmlns:a16="http://schemas.microsoft.com/office/drawing/2014/main" id="{56780794-4E6C-41A7-947D-C29D96C73FD5}"/>
                    </a:ext>
                  </a:extLst>
                </p:cNvPr>
                <p:cNvSpPr txBox="1"/>
                <p:nvPr/>
              </p:nvSpPr>
              <p:spPr bwMode="auto">
                <a:xfrm>
                  <a:off x="4795" y="2751"/>
                  <a:ext cx="226" cy="2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55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2244" name="Object 27">
                  <a:extLst>
                    <a:ext uri="{FF2B5EF4-FFF2-40B4-BE49-F238E27FC236}">
                      <a16:creationId xmlns:a16="http://schemas.microsoft.com/office/drawing/2014/main" id="{56780794-4E6C-41A7-947D-C29D96C73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95" y="2751"/>
                  <a:ext cx="226" cy="226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FB4528CB-C5DD-4CA0-AD1B-479635240E67}"/>
              </a:ext>
            </a:extLst>
          </p:cNvPr>
          <p:cNvSpPr/>
          <p:nvPr/>
        </p:nvSpPr>
        <p:spPr>
          <a:xfrm>
            <a:off x="7115665" y="5508567"/>
            <a:ext cx="41953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与平行板面积成正比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与平行板间距成反比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16C539-50B2-465D-8248-1D55FEB4FBE9}"/>
              </a:ext>
            </a:extLst>
          </p:cNvPr>
          <p:cNvSpPr/>
          <p:nvPr/>
        </p:nvSpPr>
        <p:spPr>
          <a:xfrm>
            <a:off x="1105698" y="506713"/>
            <a:ext cx="31149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平行板电容器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73441B1-4634-4251-A7FA-C61BF37FAF4E}"/>
                  </a:ext>
                </a:extLst>
              </p:cNvPr>
              <p:cNvSpPr/>
              <p:nvPr/>
            </p:nvSpPr>
            <p:spPr>
              <a:xfrm>
                <a:off x="4659771" y="5464662"/>
                <a:ext cx="1527598" cy="901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800" b="1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73441B1-4634-4251-A7FA-C61BF37FAF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771" y="5464662"/>
                <a:ext cx="1527598" cy="90172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74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702" grpId="0"/>
      <p:bldP spid="498703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极板间为真空的平行板电容器，充电后与电源断开，将两极板用绝缘工具拉开一些距离，则下列说法正确的是 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电容器极板上电荷面密度增加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电容器极板间的电场强度增加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电容器的电容不变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电容器极板间的电势差增大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89751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/>
          <a:srcRect l="1951" t="11357" r="4432" b="12929"/>
          <a:stretch/>
        </p:blipFill>
        <p:spPr>
          <a:xfrm>
            <a:off x="3262146" y="1004152"/>
            <a:ext cx="4545505" cy="3001143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 bwMode="auto">
          <a:xfrm flipH="1">
            <a:off x="2294537" y="1949257"/>
            <a:ext cx="1350150" cy="495055"/>
          </a:xfrm>
          <a:prstGeom prst="line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9" name="直接连接符 18"/>
          <p:cNvCxnSpPr/>
          <p:nvPr/>
        </p:nvCxnSpPr>
        <p:spPr bwMode="auto">
          <a:xfrm flipH="1" flipV="1">
            <a:off x="2294537" y="2444312"/>
            <a:ext cx="1350150" cy="440975"/>
          </a:xfrm>
          <a:prstGeom prst="line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2" name="矩形 21"/>
          <p:cNvSpPr/>
          <p:nvPr/>
        </p:nvSpPr>
        <p:spPr>
          <a:xfrm>
            <a:off x="1304428" y="2141578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金属</a:t>
            </a:r>
            <a:endParaRPr lang="zh-CN" altLang="en-US" sz="2800" dirty="0">
              <a:solidFill>
                <a:srgbClr val="FF0000"/>
              </a:solidFill>
              <a:ea typeface="华文楷体" panose="02010600040101010101" pitchFamily="2" charset="-122"/>
            </a:endParaRPr>
          </a:p>
        </p:txBody>
      </p:sp>
      <p:cxnSp>
        <p:nvCxnSpPr>
          <p:cNvPr id="23" name="直接连接符 22"/>
          <p:cNvCxnSpPr/>
          <p:nvPr/>
        </p:nvCxnSpPr>
        <p:spPr bwMode="auto">
          <a:xfrm flipH="1">
            <a:off x="7335098" y="2403188"/>
            <a:ext cx="765085" cy="0"/>
          </a:xfrm>
          <a:prstGeom prst="line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9" name="矩形 28"/>
          <p:cNvSpPr/>
          <p:nvPr/>
        </p:nvSpPr>
        <p:spPr>
          <a:xfrm>
            <a:off x="8100183" y="2141578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电介质</a:t>
            </a:r>
            <a:endParaRPr lang="zh-CN" altLang="en-US" sz="2800" dirty="0">
              <a:solidFill>
                <a:srgbClr val="FF0000"/>
              </a:solidFill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13">
                <a:extLst>
                  <a:ext uri="{FF2B5EF4-FFF2-40B4-BE49-F238E27FC236}">
                    <a16:creationId xmlns:a16="http://schemas.microsoft.com/office/drawing/2014/main" id="{91EFC0DC-EA41-4491-9E61-220F3B12FC41}"/>
                  </a:ext>
                </a:extLst>
              </p:cNvPr>
              <p:cNvSpPr txBox="1"/>
              <p:nvPr/>
            </p:nvSpPr>
            <p:spPr bwMode="auto">
              <a:xfrm>
                <a:off x="1757436" y="4161427"/>
                <a:ext cx="1902962" cy="1073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Object 13">
                <a:extLst>
                  <a:ext uri="{FF2B5EF4-FFF2-40B4-BE49-F238E27FC236}">
                    <a16:creationId xmlns:a16="http://schemas.microsoft.com/office/drawing/2014/main" id="{91EFC0DC-EA41-4491-9E61-220F3B12F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7436" y="4161427"/>
                <a:ext cx="1902962" cy="10731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4">
                <a:extLst>
                  <a:ext uri="{FF2B5EF4-FFF2-40B4-BE49-F238E27FC236}">
                    <a16:creationId xmlns:a16="http://schemas.microsoft.com/office/drawing/2014/main" id="{39323EE1-5693-45AC-9760-47278E69A7E3}"/>
                  </a:ext>
                </a:extLst>
              </p:cNvPr>
              <p:cNvSpPr txBox="1"/>
              <p:nvPr/>
            </p:nvSpPr>
            <p:spPr bwMode="auto">
              <a:xfrm>
                <a:off x="3724622" y="4107399"/>
                <a:ext cx="3206942" cy="1123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𝐸𝑑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Object 14">
                <a:extLst>
                  <a:ext uri="{FF2B5EF4-FFF2-40B4-BE49-F238E27FC236}">
                    <a16:creationId xmlns:a16="http://schemas.microsoft.com/office/drawing/2014/main" id="{39323EE1-5693-45AC-9760-47278E69A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4622" y="4107399"/>
                <a:ext cx="3206942" cy="11239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E20D81D-C4BE-4982-BB95-A09695531513}"/>
                  </a:ext>
                </a:extLst>
              </p:cNvPr>
              <p:cNvSpPr/>
              <p:nvPr/>
            </p:nvSpPr>
            <p:spPr>
              <a:xfrm>
                <a:off x="6931564" y="4283898"/>
                <a:ext cx="4138850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电容：</m:t>
                    </m:r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=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num>
                      <m:den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E20D81D-C4BE-4982-BB95-A096955315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564" y="4283898"/>
                <a:ext cx="4138850" cy="714683"/>
              </a:xfrm>
              <a:prstGeom prst="rect">
                <a:avLst/>
              </a:prstGeom>
              <a:blipFill>
                <a:blip r:embed="rId5"/>
                <a:stretch>
                  <a:fillRect b="-9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688A3165-80E2-47DC-A21A-1C2E6F2C6814}"/>
                  </a:ext>
                </a:extLst>
              </p:cNvPr>
              <p:cNvSpPr/>
              <p:nvPr/>
            </p:nvSpPr>
            <p:spPr>
              <a:xfrm>
                <a:off x="9934767" y="4379629"/>
                <a:ext cx="138018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688A3165-80E2-47DC-A21A-1C2E6F2C6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4767" y="4379629"/>
                <a:ext cx="138018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 Box 14">
            <a:extLst>
              <a:ext uri="{FF2B5EF4-FFF2-40B4-BE49-F238E27FC236}">
                <a16:creationId xmlns:a16="http://schemas.microsoft.com/office/drawing/2014/main" id="{1DE39396-1EC8-4EC2-AA01-1E508CB36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4537" y="5501924"/>
            <a:ext cx="6763872" cy="61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重要性能指标：电容、耐压值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204A19-A0EF-44FE-BE84-DEE5573EC84A}"/>
              </a:ext>
            </a:extLst>
          </p:cNvPr>
          <p:cNvSpPr/>
          <p:nvPr/>
        </p:nvSpPr>
        <p:spPr>
          <a:xfrm>
            <a:off x="1105698" y="506713"/>
            <a:ext cx="43460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平行板电介质电容器</a:t>
            </a:r>
          </a:p>
        </p:txBody>
      </p:sp>
    </p:spTree>
    <p:extLst>
      <p:ext uri="{BB962C8B-B14F-4D97-AF65-F5344CB8AC3E}">
        <p14:creationId xmlns:p14="http://schemas.microsoft.com/office/powerpoint/2010/main" val="213548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30" grpId="0"/>
      <p:bldP spid="37" grpId="0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77"/>
          <a:stretch/>
        </p:blipFill>
        <p:spPr>
          <a:xfrm rot="10800000">
            <a:off x="1687958" y="2700982"/>
            <a:ext cx="8483438" cy="2700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2"/>
              <p:cNvSpPr txBox="1">
                <a:spLocks noChangeArrowheads="1"/>
              </p:cNvSpPr>
              <p:nvPr/>
            </p:nvSpPr>
            <p:spPr bwMode="auto">
              <a:xfrm>
                <a:off x="1305654" y="271233"/>
                <a:ext cx="9590946" cy="21313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0" fontAlgn="base" hangingPunct="0">
                  <a:lnSpc>
                    <a:spcPct val="12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800" b="0" spc="3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例：</a:t>
                </a:r>
                <a:r>
                  <a:rPr lang="zh-CN" altLang="en-US" sz="2800" b="0" spc="3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两块靠近的平行金属板间原为真空，面电荷密度大小均为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pc="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b="0" i="1" spc="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800" b="0" i="1" spc="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b="0" spc="3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，保持两板上的电量不变，将板间一半空间充以相对介电常数为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pc="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800" b="0" i="1" spc="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2800" b="0" i="1" spc="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zh-CN" altLang="en-US" sz="2800" b="0" spc="3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的电介质，求板间电容的变化？</a:t>
                </a:r>
              </a:p>
            </p:txBody>
          </p:sp>
        </mc:Choice>
        <mc:Fallback xmlns="">
          <p:sp>
            <p:nvSpPr>
              <p:cNvPr id="5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5654" y="271233"/>
                <a:ext cx="9590946" cy="2131353"/>
              </a:xfrm>
              <a:prstGeom prst="rect">
                <a:avLst/>
              </a:prstGeom>
              <a:blipFill>
                <a:blip r:embed="rId3"/>
                <a:stretch>
                  <a:fillRect l="-1271" t="-286" b="-68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629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46178" y="323230"/>
                <a:ext cx="5917183" cy="60674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静电平衡时两金属板都是等势体，故左右两边电势差相等。</a:t>
                </a:r>
                <a:endParaRPr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8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根据电荷守恒，有</a:t>
                </a:r>
                <a:endParaRPr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78" y="323230"/>
                <a:ext cx="5917183" cy="6067430"/>
              </a:xfrm>
              <a:prstGeom prst="rect">
                <a:avLst/>
              </a:prstGeom>
              <a:blipFill>
                <a:blip r:embed="rId3"/>
                <a:stretch>
                  <a:fillRect l="-2165" t="-101" r="-8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2FB2EA99-771B-43DC-91A5-4DA0891DDED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77"/>
          <a:stretch/>
        </p:blipFill>
        <p:spPr>
          <a:xfrm rot="10800000">
            <a:off x="6170122" y="835002"/>
            <a:ext cx="6021878" cy="19167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B797344-9866-446D-B73C-20A4170ED475}"/>
                  </a:ext>
                </a:extLst>
              </p:cNvPr>
              <p:cNvSpPr/>
              <p:nvPr/>
            </p:nvSpPr>
            <p:spPr>
              <a:xfrm>
                <a:off x="5115251" y="2984154"/>
                <a:ext cx="7600298" cy="23789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𝐸𝑑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B797344-9866-446D-B73C-20A4170ED4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5251" y="2984154"/>
                <a:ext cx="7600298" cy="23789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7A9C153-1C34-4111-A824-4CDC6D4D7E21}"/>
                  </a:ext>
                </a:extLst>
              </p:cNvPr>
              <p:cNvSpPr/>
              <p:nvPr/>
            </p:nvSpPr>
            <p:spPr>
              <a:xfrm>
                <a:off x="6013529" y="5273006"/>
                <a:ext cx="5689443" cy="7950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sz="3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3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</m:oMath>
                </a14:m>
                <a:r>
                  <a:rPr lang="en-US" sz="3200" dirty="0"/>
                  <a:t> =</a:t>
                </a:r>
                <a:r>
                  <a:rPr lang="en-US" altLang="zh-CN" sz="3200" dirty="0">
                    <a:solidFill>
                      <a:srgbClr val="000000"/>
                    </a:solidFill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3200" baseline="-25000" dirty="0"/>
                  <a:t>0</a:t>
                </a:r>
                <a:r>
                  <a:rPr lang="en-US" sz="3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zh-CN" altLang="en-US" sz="3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3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)/2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7A9C153-1C34-4111-A824-4CDC6D4D7E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529" y="5273006"/>
                <a:ext cx="5689443" cy="795026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5">
                <a:extLst>
                  <a:ext uri="{FF2B5EF4-FFF2-40B4-BE49-F238E27FC236}">
                    <a16:creationId xmlns:a16="http://schemas.microsoft.com/office/drawing/2014/main" id="{A6FFE128-406E-B3D0-91BC-F95CE9348E63}"/>
                  </a:ext>
                </a:extLst>
              </p:cNvPr>
              <p:cNvSpPr txBox="1"/>
              <p:nvPr/>
            </p:nvSpPr>
            <p:spPr>
              <a:xfrm>
                <a:off x="6388698" y="6239512"/>
                <a:ext cx="5314274" cy="52322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/>
                  <a:t>：真空平行板电容器电容</a:t>
                </a:r>
              </a:p>
            </p:txBody>
          </p:sp>
        </mc:Choice>
        <mc:Fallback xmlns="">
          <p:sp>
            <p:nvSpPr>
              <p:cNvPr id="2" name="Text Box 5">
                <a:extLst>
                  <a:ext uri="{FF2B5EF4-FFF2-40B4-BE49-F238E27FC236}">
                    <a16:creationId xmlns:a16="http://schemas.microsoft.com/office/drawing/2014/main" id="{A6FFE128-406E-B3D0-91BC-F95CE9348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698" y="6239512"/>
                <a:ext cx="5314274" cy="523220"/>
              </a:xfrm>
              <a:prstGeom prst="rect">
                <a:avLst/>
              </a:prstGeom>
              <a:blipFill>
                <a:blip r:embed="rId7"/>
                <a:stretch>
                  <a:fillRect t="-12941" b="-32941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48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电容器结构原理及图片_万图壁纸网">
            <a:extLst>
              <a:ext uri="{FF2B5EF4-FFF2-40B4-BE49-F238E27FC236}">
                <a16:creationId xmlns:a16="http://schemas.microsoft.com/office/drawing/2014/main" id="{0E1BECE7-124E-4093-87D7-754B0E9AA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401" y="977188"/>
            <a:ext cx="5204604" cy="542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F23CEA1-5A39-4782-A78F-D6CEC1ADB313}"/>
              </a:ext>
            </a:extLst>
          </p:cNvPr>
          <p:cNvSpPr/>
          <p:nvPr/>
        </p:nvSpPr>
        <p:spPr>
          <a:xfrm>
            <a:off x="1105698" y="506713"/>
            <a:ext cx="27045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电容传感器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B57381-A518-4FCC-9BFD-597A6B49D01E}"/>
              </a:ext>
            </a:extLst>
          </p:cNvPr>
          <p:cNvSpPr/>
          <p:nvPr/>
        </p:nvSpPr>
        <p:spPr>
          <a:xfrm>
            <a:off x="1295685" y="1873935"/>
            <a:ext cx="466061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将被测量（如尺寸、压力等）的变化转换成电容量变化的一种传感器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8582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739" name="Group 3">
            <a:extLst>
              <a:ext uri="{FF2B5EF4-FFF2-40B4-BE49-F238E27FC236}">
                <a16:creationId xmlns:a16="http://schemas.microsoft.com/office/drawing/2014/main" id="{FB186699-6D66-472D-98E6-00466B9AFD36}"/>
              </a:ext>
            </a:extLst>
          </p:cNvPr>
          <p:cNvGrpSpPr>
            <a:grpSpLocks/>
          </p:cNvGrpSpPr>
          <p:nvPr/>
        </p:nvGrpSpPr>
        <p:grpSpPr bwMode="auto">
          <a:xfrm>
            <a:off x="1710452" y="1257436"/>
            <a:ext cx="4170363" cy="538162"/>
            <a:chOff x="444" y="561"/>
            <a:chExt cx="2627" cy="339"/>
          </a:xfrm>
        </p:grpSpPr>
        <p:sp>
          <p:nvSpPr>
            <p:cNvPr id="54314" name="Text Box 4">
              <a:extLst>
                <a:ext uri="{FF2B5EF4-FFF2-40B4-BE49-F238E27FC236}">
                  <a16:creationId xmlns:a16="http://schemas.microsoft.com/office/drawing/2014/main" id="{49DED54B-7B6E-44E6-83BF-EB55A2F43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" y="561"/>
              <a:ext cx="19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两个同心导体球壳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15" name="Object 5">
                  <a:extLst>
                    <a:ext uri="{FF2B5EF4-FFF2-40B4-BE49-F238E27FC236}">
                      <a16:creationId xmlns:a16="http://schemas.microsoft.com/office/drawing/2014/main" id="{D40FA864-4E60-4085-AFCA-AC284B6C29D9}"/>
                    </a:ext>
                  </a:extLst>
                </p:cNvPr>
                <p:cNvSpPr txBox="1"/>
                <p:nvPr/>
              </p:nvSpPr>
              <p:spPr bwMode="auto">
                <a:xfrm>
                  <a:off x="2304" y="564"/>
                  <a:ext cx="239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54315" name="Object 5">
                  <a:extLst>
                    <a:ext uri="{FF2B5EF4-FFF2-40B4-BE49-F238E27FC236}">
                      <a16:creationId xmlns:a16="http://schemas.microsoft.com/office/drawing/2014/main" id="{D40FA864-4E60-4085-AFCA-AC284B6C29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04" y="564"/>
                  <a:ext cx="239" cy="240"/>
                </a:xfrm>
                <a:prstGeom prst="rect">
                  <a:avLst/>
                </a:prstGeom>
                <a:blipFill>
                  <a:blip r:embed="rId3"/>
                  <a:stretch>
                    <a:fillRect b="-158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16" name="Object 6">
                  <a:extLst>
                    <a:ext uri="{FF2B5EF4-FFF2-40B4-BE49-F238E27FC236}">
                      <a16:creationId xmlns:a16="http://schemas.microsoft.com/office/drawing/2014/main" id="{2BCBD3F6-C9CF-408F-8DEA-483F30B64643}"/>
                    </a:ext>
                  </a:extLst>
                </p:cNvPr>
                <p:cNvSpPr txBox="1"/>
                <p:nvPr/>
              </p:nvSpPr>
              <p:spPr bwMode="auto">
                <a:xfrm>
                  <a:off x="2820" y="564"/>
                  <a:ext cx="251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4316" name="Object 6">
                  <a:extLst>
                    <a:ext uri="{FF2B5EF4-FFF2-40B4-BE49-F238E27FC236}">
                      <a16:creationId xmlns:a16="http://schemas.microsoft.com/office/drawing/2014/main" id="{2BCBD3F6-C9CF-408F-8DEA-483F30B646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20" y="564"/>
                  <a:ext cx="251" cy="25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317" name="Text Box 7">
              <a:extLst>
                <a:ext uri="{FF2B5EF4-FFF2-40B4-BE49-F238E27FC236}">
                  <a16:creationId xmlns:a16="http://schemas.microsoft.com/office/drawing/2014/main" id="{7A236A22-A1E0-40C0-80CA-75DC73785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2" y="573"/>
              <a:ext cx="3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和</a:t>
              </a:r>
            </a:p>
          </p:txBody>
        </p:sp>
      </p:grpSp>
      <p:grpSp>
        <p:nvGrpSpPr>
          <p:cNvPr id="500744" name="Group 8">
            <a:extLst>
              <a:ext uri="{FF2B5EF4-FFF2-40B4-BE49-F238E27FC236}">
                <a16:creationId xmlns:a16="http://schemas.microsoft.com/office/drawing/2014/main" id="{FBA8F033-AA45-4902-9120-9906F932375C}"/>
              </a:ext>
            </a:extLst>
          </p:cNvPr>
          <p:cNvGrpSpPr>
            <a:grpSpLocks/>
          </p:cNvGrpSpPr>
          <p:nvPr/>
        </p:nvGrpSpPr>
        <p:grpSpPr bwMode="auto">
          <a:xfrm>
            <a:off x="1691402" y="1814648"/>
            <a:ext cx="3649663" cy="628650"/>
            <a:chOff x="432" y="900"/>
            <a:chExt cx="2299" cy="396"/>
          </a:xfrm>
        </p:grpSpPr>
        <p:sp>
          <p:nvSpPr>
            <p:cNvPr id="54310" name="Text Box 9">
              <a:extLst>
                <a:ext uri="{FF2B5EF4-FFF2-40B4-BE49-F238E27FC236}">
                  <a16:creationId xmlns:a16="http://schemas.microsoft.com/office/drawing/2014/main" id="{D1C2596D-8816-4E90-80EF-A43AB500E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933"/>
              <a:ext cx="3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和</a:t>
              </a:r>
            </a:p>
          </p:txBody>
        </p:sp>
        <p:sp>
          <p:nvSpPr>
            <p:cNvPr id="54311" name="Text Box 10">
              <a:extLst>
                <a:ext uri="{FF2B5EF4-FFF2-40B4-BE49-F238E27FC236}">
                  <a16:creationId xmlns:a16="http://schemas.microsoft.com/office/drawing/2014/main" id="{A51C81E5-7E3C-4265-8F5C-AB99CB8544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933"/>
              <a:ext cx="124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半径分别为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12" name="Object 11">
                  <a:extLst>
                    <a:ext uri="{FF2B5EF4-FFF2-40B4-BE49-F238E27FC236}">
                      <a16:creationId xmlns:a16="http://schemas.microsoft.com/office/drawing/2014/main" id="{359B29F2-8E10-4BA0-8CBD-605C2E6F9FC5}"/>
                    </a:ext>
                  </a:extLst>
                </p:cNvPr>
                <p:cNvSpPr txBox="1"/>
                <p:nvPr/>
              </p:nvSpPr>
              <p:spPr bwMode="auto">
                <a:xfrm>
                  <a:off x="1728" y="900"/>
                  <a:ext cx="294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4312" name="Object 11">
                  <a:extLst>
                    <a:ext uri="{FF2B5EF4-FFF2-40B4-BE49-F238E27FC236}">
                      <a16:creationId xmlns:a16="http://schemas.microsoft.com/office/drawing/2014/main" id="{359B29F2-8E10-4BA0-8CBD-605C2E6F9F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28" y="900"/>
                  <a:ext cx="294" cy="38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13" name="Object 12">
                  <a:extLst>
                    <a:ext uri="{FF2B5EF4-FFF2-40B4-BE49-F238E27FC236}">
                      <a16:creationId xmlns:a16="http://schemas.microsoft.com/office/drawing/2014/main" id="{649DD732-4BBC-49F1-A286-558D9D522983}"/>
                    </a:ext>
                  </a:extLst>
                </p:cNvPr>
                <p:cNvSpPr txBox="1"/>
                <p:nvPr/>
              </p:nvSpPr>
              <p:spPr bwMode="auto">
                <a:xfrm>
                  <a:off x="2400" y="912"/>
                  <a:ext cx="331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54313" name="Object 12">
                  <a:extLst>
                    <a:ext uri="{FF2B5EF4-FFF2-40B4-BE49-F238E27FC236}">
                      <a16:creationId xmlns:a16="http://schemas.microsoft.com/office/drawing/2014/main" id="{649DD732-4BBC-49F1-A286-558D9D5229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00" y="912"/>
                  <a:ext cx="331" cy="38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0749" name="Group 13">
            <a:extLst>
              <a:ext uri="{FF2B5EF4-FFF2-40B4-BE49-F238E27FC236}">
                <a16:creationId xmlns:a16="http://schemas.microsoft.com/office/drawing/2014/main" id="{780AC1B8-6C34-499C-A069-76097597C2E2}"/>
              </a:ext>
            </a:extLst>
          </p:cNvPr>
          <p:cNvGrpSpPr>
            <a:grpSpLocks/>
          </p:cNvGrpSpPr>
          <p:nvPr/>
        </p:nvGrpSpPr>
        <p:grpSpPr bwMode="auto">
          <a:xfrm>
            <a:off x="1735851" y="2440123"/>
            <a:ext cx="4041775" cy="571499"/>
            <a:chOff x="528" y="1356"/>
            <a:chExt cx="2546" cy="360"/>
          </a:xfrm>
        </p:grpSpPr>
        <p:sp>
          <p:nvSpPr>
            <p:cNvPr id="54306" name="Text Box 14">
              <a:extLst>
                <a:ext uri="{FF2B5EF4-FFF2-40B4-BE49-F238E27FC236}">
                  <a16:creationId xmlns:a16="http://schemas.microsoft.com/office/drawing/2014/main" id="{EAE0DD76-565A-45F1-942F-08FFCC799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377"/>
              <a:ext cx="146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带电量分别为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07" name="Object 15">
                  <a:extLst>
                    <a:ext uri="{FF2B5EF4-FFF2-40B4-BE49-F238E27FC236}">
                      <a16:creationId xmlns:a16="http://schemas.microsoft.com/office/drawing/2014/main" id="{1A18232A-B29A-4804-8D3F-E008A12921EE}"/>
                    </a:ext>
                  </a:extLst>
                </p:cNvPr>
                <p:cNvSpPr txBox="1"/>
                <p:nvPr/>
              </p:nvSpPr>
              <p:spPr bwMode="auto">
                <a:xfrm>
                  <a:off x="1926" y="1356"/>
                  <a:ext cx="428" cy="31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4307" name="Object 15">
                  <a:extLst>
                    <a:ext uri="{FF2B5EF4-FFF2-40B4-BE49-F238E27FC236}">
                      <a16:creationId xmlns:a16="http://schemas.microsoft.com/office/drawing/2014/main" id="{1A18232A-B29A-4804-8D3F-E008A12921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6" y="1356"/>
                  <a:ext cx="428" cy="31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08" name="Object 16">
                  <a:extLst>
                    <a:ext uri="{FF2B5EF4-FFF2-40B4-BE49-F238E27FC236}">
                      <a16:creationId xmlns:a16="http://schemas.microsoft.com/office/drawing/2014/main" id="{21896138-EFAD-44C9-A7EF-3318ACFC2555}"/>
                    </a:ext>
                  </a:extLst>
                </p:cNvPr>
                <p:cNvSpPr txBox="1"/>
                <p:nvPr/>
              </p:nvSpPr>
              <p:spPr bwMode="auto">
                <a:xfrm>
                  <a:off x="2646" y="1364"/>
                  <a:ext cx="428" cy="2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54308" name="Object 16">
                  <a:extLst>
                    <a:ext uri="{FF2B5EF4-FFF2-40B4-BE49-F238E27FC236}">
                      <a16:creationId xmlns:a16="http://schemas.microsoft.com/office/drawing/2014/main" id="{21896138-EFAD-44C9-A7EF-3318ACFC2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46" y="1364"/>
                  <a:ext cx="428" cy="292"/>
                </a:xfrm>
                <a:prstGeom prst="rect">
                  <a:avLst/>
                </a:prstGeom>
                <a:blipFill>
                  <a:blip r:embed="rId8"/>
                  <a:stretch>
                    <a:fillRect b="-131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309" name="Text Box 17">
              <a:extLst>
                <a:ext uri="{FF2B5EF4-FFF2-40B4-BE49-F238E27FC236}">
                  <a16:creationId xmlns:a16="http://schemas.microsoft.com/office/drawing/2014/main" id="{F35CC9DB-C8F8-4EDF-8BA2-622CC561A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1389"/>
              <a:ext cx="3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rPr>
                <a:t>和</a:t>
              </a:r>
            </a:p>
          </p:txBody>
        </p:sp>
      </p:grpSp>
      <p:sp>
        <p:nvSpPr>
          <p:cNvPr id="54278" name="Text Box 18">
            <a:extLst>
              <a:ext uri="{FF2B5EF4-FFF2-40B4-BE49-F238E27FC236}">
                <a16:creationId xmlns:a16="http://schemas.microsoft.com/office/drawing/2014/main" id="{1BE7BF1B-7426-4E31-BA7C-D229E2025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9673" y="2852078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800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0755" name="Object 19">
                <a:extLst>
                  <a:ext uri="{FF2B5EF4-FFF2-40B4-BE49-F238E27FC236}">
                    <a16:creationId xmlns:a16="http://schemas.microsoft.com/office/drawing/2014/main" id="{310BE4F3-3C57-4A24-BEFD-121FCF9303CB}"/>
                  </a:ext>
                </a:extLst>
              </p:cNvPr>
              <p:cNvSpPr txBox="1"/>
              <p:nvPr/>
            </p:nvSpPr>
            <p:spPr bwMode="auto">
              <a:xfrm>
                <a:off x="1119108" y="3014796"/>
                <a:ext cx="4213226" cy="830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0755" name="Object 19">
                <a:extLst>
                  <a:ext uri="{FF2B5EF4-FFF2-40B4-BE49-F238E27FC236}">
                    <a16:creationId xmlns:a16="http://schemas.microsoft.com/office/drawing/2014/main" id="{310BE4F3-3C57-4A24-BEFD-121FCF930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9108" y="3014796"/>
                <a:ext cx="4213226" cy="830263"/>
              </a:xfrm>
              <a:prstGeom prst="rect">
                <a:avLst/>
              </a:prstGeom>
              <a:blipFill>
                <a:blip r:embed="rId9"/>
                <a:stretch>
                  <a:fillRect b="-213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0756" name="Object 20">
                <a:extLst>
                  <a:ext uri="{FF2B5EF4-FFF2-40B4-BE49-F238E27FC236}">
                    <a16:creationId xmlns:a16="http://schemas.microsoft.com/office/drawing/2014/main" id="{064CEC5D-9975-4B31-88C1-436A857942EC}"/>
                  </a:ext>
                </a:extLst>
              </p:cNvPr>
              <p:cNvSpPr txBox="1"/>
              <p:nvPr/>
            </p:nvSpPr>
            <p:spPr bwMode="auto">
              <a:xfrm>
                <a:off x="1881901" y="5530155"/>
                <a:ext cx="6286501" cy="1106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0756" name="Object 20">
                <a:extLst>
                  <a:ext uri="{FF2B5EF4-FFF2-40B4-BE49-F238E27FC236}">
                    <a16:creationId xmlns:a16="http://schemas.microsoft.com/office/drawing/2014/main" id="{064CEC5D-9975-4B31-88C1-436A85794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1901" y="5530155"/>
                <a:ext cx="6286501" cy="11064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281" name="Text Box 21">
            <a:extLst>
              <a:ext uri="{FF2B5EF4-FFF2-40B4-BE49-F238E27FC236}">
                <a16:creationId xmlns:a16="http://schemas.microsoft.com/office/drawing/2014/main" id="{E06C536A-D91F-42E8-B5A6-D8AF85FB4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911" y="5484153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800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54282" name="Text Box 22">
            <a:extLst>
              <a:ext uri="{FF2B5EF4-FFF2-40B4-BE49-F238E27FC236}">
                <a16:creationId xmlns:a16="http://schemas.microsoft.com/office/drawing/2014/main" id="{02E78287-9F5A-41EC-858B-93FDBC2F1E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1948" y="5931827"/>
            <a:ext cx="228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zh-CN" sz="2800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0764" name="Object 28">
                <a:extLst>
                  <a:ext uri="{FF2B5EF4-FFF2-40B4-BE49-F238E27FC236}">
                    <a16:creationId xmlns:a16="http://schemas.microsoft.com/office/drawing/2014/main" id="{BBFDA8D6-E3FC-4B94-964E-98B0060C51F7}"/>
                  </a:ext>
                </a:extLst>
              </p:cNvPr>
              <p:cNvSpPr txBox="1"/>
              <p:nvPr/>
            </p:nvSpPr>
            <p:spPr bwMode="auto">
              <a:xfrm>
                <a:off x="1412747" y="4234376"/>
                <a:ext cx="6129433" cy="10842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0764" name="Object 28">
                <a:extLst>
                  <a:ext uri="{FF2B5EF4-FFF2-40B4-BE49-F238E27FC236}">
                    <a16:creationId xmlns:a16="http://schemas.microsoft.com/office/drawing/2014/main" id="{BBFDA8D6-E3FC-4B94-964E-98B0060C5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2747" y="4234376"/>
                <a:ext cx="6129433" cy="108426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0765" name="Group 29">
            <a:extLst>
              <a:ext uri="{FF2B5EF4-FFF2-40B4-BE49-F238E27FC236}">
                <a16:creationId xmlns:a16="http://schemas.microsoft.com/office/drawing/2014/main" id="{1137C4FA-371C-4A65-BBAB-A478DDE00B75}"/>
              </a:ext>
            </a:extLst>
          </p:cNvPr>
          <p:cNvGrpSpPr>
            <a:grpSpLocks/>
          </p:cNvGrpSpPr>
          <p:nvPr/>
        </p:nvGrpSpPr>
        <p:grpSpPr bwMode="auto">
          <a:xfrm>
            <a:off x="8097220" y="849584"/>
            <a:ext cx="3130039" cy="5605463"/>
            <a:chOff x="3739" y="166"/>
            <a:chExt cx="1908" cy="3531"/>
          </a:xfrm>
        </p:grpSpPr>
        <p:grpSp>
          <p:nvGrpSpPr>
            <p:cNvPr id="54291" name="Group 30">
              <a:extLst>
                <a:ext uri="{FF2B5EF4-FFF2-40B4-BE49-F238E27FC236}">
                  <a16:creationId xmlns:a16="http://schemas.microsoft.com/office/drawing/2014/main" id="{2B260D02-3CC4-4734-8549-9D1F82B1E5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9" y="166"/>
              <a:ext cx="1817" cy="1586"/>
              <a:chOff x="3648" y="120"/>
              <a:chExt cx="1944" cy="1680"/>
            </a:xfrm>
          </p:grpSpPr>
          <p:sp>
            <p:nvSpPr>
              <p:cNvPr id="54295" name="Oval 31">
                <a:extLst>
                  <a:ext uri="{FF2B5EF4-FFF2-40B4-BE49-F238E27FC236}">
                    <a16:creationId xmlns:a16="http://schemas.microsoft.com/office/drawing/2014/main" id="{339AFD3C-7576-4026-B7FF-E3E5847ED8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4" y="120"/>
                <a:ext cx="1728" cy="1680"/>
              </a:xfrm>
              <a:prstGeom prst="ellipse">
                <a:avLst/>
              </a:prstGeom>
              <a:solidFill>
                <a:srgbClr val="969696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  <a:buFontTx/>
                  <a:buNone/>
                </a:pPr>
                <a:endPara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54296" name="Oval 32">
                <a:extLst>
                  <a:ext uri="{FF2B5EF4-FFF2-40B4-BE49-F238E27FC236}">
                    <a16:creationId xmlns:a16="http://schemas.microsoft.com/office/drawing/2014/main" id="{758A05D3-D82C-4633-9FD3-5CC85CD028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8" y="204"/>
                <a:ext cx="1572" cy="1512"/>
              </a:xfrm>
              <a:prstGeom prst="ellipse">
                <a:avLst/>
              </a:prstGeom>
              <a:solidFill>
                <a:srgbClr val="FEFEF0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  <a:buFontTx/>
                  <a:buNone/>
                </a:pPr>
                <a:endPara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54297" name="Oval 33">
                <a:extLst>
                  <a:ext uri="{FF2B5EF4-FFF2-40B4-BE49-F238E27FC236}">
                    <a16:creationId xmlns:a16="http://schemas.microsoft.com/office/drawing/2014/main" id="{9CD89608-CD16-4EF0-9646-03D8F4FD92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7" y="509"/>
                <a:ext cx="916" cy="907"/>
              </a:xfrm>
              <a:prstGeom prst="ellipse">
                <a:avLst/>
              </a:prstGeom>
              <a:solidFill>
                <a:srgbClr val="969696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  <a:buFontTx/>
                  <a:buNone/>
                </a:pPr>
                <a:endPara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54298" name="Oval 34">
                <a:extLst>
                  <a:ext uri="{FF2B5EF4-FFF2-40B4-BE49-F238E27FC236}">
                    <a16:creationId xmlns:a16="http://schemas.microsoft.com/office/drawing/2014/main" id="{C0653469-828D-4D55-9A8B-5DC773D512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9" y="571"/>
                <a:ext cx="780" cy="781"/>
              </a:xfrm>
              <a:prstGeom prst="ellipse">
                <a:avLst/>
              </a:prstGeom>
              <a:solidFill>
                <a:srgbClr val="FEFEF0"/>
              </a:solidFill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  <a:buFontTx/>
                  <a:buNone/>
                </a:pPr>
                <a:endParaRPr lang="zh-CN" altLang="en-US" sz="2800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54299" name="Line 35">
                <a:extLst>
                  <a:ext uri="{FF2B5EF4-FFF2-40B4-BE49-F238E27FC236}">
                    <a16:creationId xmlns:a16="http://schemas.microsoft.com/office/drawing/2014/main" id="{24637F5B-2348-43A8-A40C-AEADFF347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3" y="663"/>
                <a:ext cx="388" cy="3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en-US"/>
              </a:p>
            </p:txBody>
          </p:sp>
          <p:sp>
            <p:nvSpPr>
              <p:cNvPr id="54300" name="Line 36">
                <a:extLst>
                  <a:ext uri="{FF2B5EF4-FFF2-40B4-BE49-F238E27FC236}">
                    <a16:creationId xmlns:a16="http://schemas.microsoft.com/office/drawing/2014/main" id="{43DB31F5-A55F-43BF-BDDB-6ABAB6A707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13" y="978"/>
                <a:ext cx="662" cy="41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301" name="Object 37">
                    <a:extLst>
                      <a:ext uri="{FF2B5EF4-FFF2-40B4-BE49-F238E27FC236}">
                        <a16:creationId xmlns:a16="http://schemas.microsoft.com/office/drawing/2014/main" id="{4683644A-664D-4AE3-8A1E-297A9389E941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540" y="966"/>
                    <a:ext cx="223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925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54301" name="Object 37">
                    <a:extLst>
                      <a:ext uri="{FF2B5EF4-FFF2-40B4-BE49-F238E27FC236}">
                        <a16:creationId xmlns:a16="http://schemas.microsoft.com/office/drawing/2014/main" id="{4683644A-664D-4AE3-8A1E-297A9389E9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540" y="966"/>
                    <a:ext cx="223" cy="24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302" name="Object 38">
                    <a:extLst>
                      <a:ext uri="{FF2B5EF4-FFF2-40B4-BE49-F238E27FC236}">
                        <a16:creationId xmlns:a16="http://schemas.microsoft.com/office/drawing/2014/main" id="{EDE8A778-6509-49B5-8598-ECB7B755F669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059" y="717"/>
                    <a:ext cx="244" cy="24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925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54302" name="Object 38">
                    <a:extLst>
                      <a:ext uri="{FF2B5EF4-FFF2-40B4-BE49-F238E27FC236}">
                        <a16:creationId xmlns:a16="http://schemas.microsoft.com/office/drawing/2014/main" id="{EDE8A778-6509-49B5-8598-ECB7B755F6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059" y="717"/>
                    <a:ext cx="244" cy="24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303" name="Object 39">
                    <a:extLst>
                      <a:ext uri="{FF2B5EF4-FFF2-40B4-BE49-F238E27FC236}">
                        <a16:creationId xmlns:a16="http://schemas.microsoft.com/office/drawing/2014/main" id="{FECC2137-204A-4EF0-A7E0-CCB4DAC9343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3648" y="960"/>
                    <a:ext cx="244" cy="24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925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54303" name="Object 39">
                    <a:extLst>
                      <a:ext uri="{FF2B5EF4-FFF2-40B4-BE49-F238E27FC236}">
                        <a16:creationId xmlns:a16="http://schemas.microsoft.com/office/drawing/2014/main" id="{FECC2137-204A-4EF0-A7E0-CCB4DAC934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648" y="960"/>
                    <a:ext cx="244" cy="24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304" name="Object 40">
                    <a:extLst>
                      <a:ext uri="{FF2B5EF4-FFF2-40B4-BE49-F238E27FC236}">
                        <a16:creationId xmlns:a16="http://schemas.microsoft.com/office/drawing/2014/main" id="{DB528AFB-6ABB-4FF4-9E63-C373AC11FE3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667" y="525"/>
                    <a:ext cx="181" cy="33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54304" name="Object 40">
                    <a:extLst>
                      <a:ext uri="{FF2B5EF4-FFF2-40B4-BE49-F238E27FC236}">
                        <a16:creationId xmlns:a16="http://schemas.microsoft.com/office/drawing/2014/main" id="{DB528AFB-6ABB-4FF4-9E63-C373AC11FE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667" y="525"/>
                    <a:ext cx="181" cy="336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27273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305" name="Object 41">
                    <a:extLst>
                      <a:ext uri="{FF2B5EF4-FFF2-40B4-BE49-F238E27FC236}">
                        <a16:creationId xmlns:a16="http://schemas.microsoft.com/office/drawing/2014/main" id="{6AA03A94-23E3-46C2-A6B4-9EC353BC1C3D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4740" y="972"/>
                    <a:ext cx="245" cy="36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54305" name="Object 41">
                    <a:extLst>
                      <a:ext uri="{FF2B5EF4-FFF2-40B4-BE49-F238E27FC236}">
                        <a16:creationId xmlns:a16="http://schemas.microsoft.com/office/drawing/2014/main" id="{6AA03A94-23E3-46C2-A6B4-9EC353BC1C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740" y="972"/>
                    <a:ext cx="245" cy="36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54292" name="Picture 42">
              <a:extLst>
                <a:ext uri="{FF2B5EF4-FFF2-40B4-BE49-F238E27FC236}">
                  <a16:creationId xmlns:a16="http://schemas.microsoft.com/office/drawing/2014/main" id="{7D7E0C0C-7C07-4729-A32D-4DAF251041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2" y="2149"/>
              <a:ext cx="1725" cy="15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93" name="Object 43">
                  <a:extLst>
                    <a:ext uri="{FF2B5EF4-FFF2-40B4-BE49-F238E27FC236}">
                      <a16:creationId xmlns:a16="http://schemas.microsoft.com/office/drawing/2014/main" id="{C6C17A02-042E-47D6-BB6B-12687F96C3F9}"/>
                    </a:ext>
                  </a:extLst>
                </p:cNvPr>
                <p:cNvSpPr txBox="1"/>
                <p:nvPr/>
              </p:nvSpPr>
              <p:spPr bwMode="auto">
                <a:xfrm>
                  <a:off x="4467" y="2577"/>
                  <a:ext cx="227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4293" name="Object 43">
                  <a:extLst>
                    <a:ext uri="{FF2B5EF4-FFF2-40B4-BE49-F238E27FC236}">
                      <a16:creationId xmlns:a16="http://schemas.microsoft.com/office/drawing/2014/main" id="{C6C17A02-042E-47D6-BB6B-12687F96C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67" y="2577"/>
                  <a:ext cx="227" cy="22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94" name="Object 44">
                  <a:extLst>
                    <a:ext uri="{FF2B5EF4-FFF2-40B4-BE49-F238E27FC236}">
                      <a16:creationId xmlns:a16="http://schemas.microsoft.com/office/drawing/2014/main" id="{6B57ADF8-5F1E-4B15-A71D-BA29C3125C1D}"/>
                    </a:ext>
                  </a:extLst>
                </p:cNvPr>
                <p:cNvSpPr txBox="1"/>
                <p:nvPr/>
              </p:nvSpPr>
              <p:spPr bwMode="auto">
                <a:xfrm>
                  <a:off x="4014" y="2296"/>
                  <a:ext cx="227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4294" name="Object 44">
                  <a:extLst>
                    <a:ext uri="{FF2B5EF4-FFF2-40B4-BE49-F238E27FC236}">
                      <a16:creationId xmlns:a16="http://schemas.microsoft.com/office/drawing/2014/main" id="{6B57ADF8-5F1E-4B15-A71D-BA29C3125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14" y="2296"/>
                  <a:ext cx="227" cy="22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0781" name="Object 45">
                <a:extLst>
                  <a:ext uri="{FF2B5EF4-FFF2-40B4-BE49-F238E27FC236}">
                    <a16:creationId xmlns:a16="http://schemas.microsoft.com/office/drawing/2014/main" id="{FD4BD5E5-C765-45CD-B236-CDC03BB5B7FD}"/>
                  </a:ext>
                </a:extLst>
              </p:cNvPr>
              <p:cNvSpPr txBox="1"/>
              <p:nvPr/>
            </p:nvSpPr>
            <p:spPr bwMode="auto">
              <a:xfrm>
                <a:off x="9101538" y="158490"/>
                <a:ext cx="1663053" cy="5413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0781" name="Object 45">
                <a:extLst>
                  <a:ext uri="{FF2B5EF4-FFF2-40B4-BE49-F238E27FC236}">
                    <a16:creationId xmlns:a16="http://schemas.microsoft.com/office/drawing/2014/main" id="{FD4BD5E5-C765-45CD-B236-CDC03BB5B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01538" y="158490"/>
                <a:ext cx="1663053" cy="54133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矩形 40">
            <a:extLst>
              <a:ext uri="{FF2B5EF4-FFF2-40B4-BE49-F238E27FC236}">
                <a16:creationId xmlns:a16="http://schemas.microsoft.com/office/drawing/2014/main" id="{B76B59D6-B1E3-4546-AF9C-BC6782FBA746}"/>
              </a:ext>
            </a:extLst>
          </p:cNvPr>
          <p:cNvSpPr/>
          <p:nvPr/>
        </p:nvSpPr>
        <p:spPr>
          <a:xfrm>
            <a:off x="1105698" y="506713"/>
            <a:ext cx="27045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球形电容器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55" grpId="0"/>
      <p:bldP spid="500756" grpId="0"/>
      <p:bldP spid="500764" grpId="0"/>
      <p:bldP spid="50078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93" name="Group 46"/>
          <p:cNvGrpSpPr>
            <a:grpSpLocks/>
          </p:cNvGrpSpPr>
          <p:nvPr/>
        </p:nvGrpSpPr>
        <p:grpSpPr bwMode="auto">
          <a:xfrm>
            <a:off x="8110939" y="506713"/>
            <a:ext cx="2219325" cy="3505200"/>
            <a:chOff x="4026" y="912"/>
            <a:chExt cx="1398" cy="2208"/>
          </a:xfrm>
        </p:grpSpPr>
        <p:sp>
          <p:nvSpPr>
            <p:cNvPr id="118789" name="AutoShape 5"/>
            <p:cNvSpPr>
              <a:spLocks noChangeArrowheads="1"/>
            </p:cNvSpPr>
            <p:nvPr/>
          </p:nvSpPr>
          <p:spPr bwMode="auto">
            <a:xfrm>
              <a:off x="4608" y="1248"/>
              <a:ext cx="672" cy="1488"/>
            </a:xfrm>
            <a:prstGeom prst="can">
              <a:avLst>
                <a:gd name="adj" fmla="val 41364"/>
              </a:avLst>
            </a:prstGeom>
            <a:gradFill rotWithShape="0">
              <a:gsLst>
                <a:gs pos="0">
                  <a:srgbClr val="0066FF"/>
                </a:gs>
                <a:gs pos="50000">
                  <a:schemeClr val="bg1"/>
                </a:gs>
                <a:gs pos="100000">
                  <a:srgbClr val="0066FF"/>
                </a:gs>
              </a:gsLst>
              <a:lin ang="0" scaled="1"/>
            </a:gradFill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latin typeface="Arial"/>
                <a:ea typeface="宋体"/>
              </a:endParaRPr>
            </a:p>
          </p:txBody>
        </p:sp>
        <p:sp>
          <p:nvSpPr>
            <p:cNvPr id="105496" name="Line 7"/>
            <p:cNvSpPr>
              <a:spLocks noChangeShapeType="1"/>
            </p:cNvSpPr>
            <p:nvPr/>
          </p:nvSpPr>
          <p:spPr bwMode="auto">
            <a:xfrm flipH="1">
              <a:off x="4944" y="912"/>
              <a:ext cx="0" cy="22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5497" name="AutoShape 6"/>
            <p:cNvSpPr>
              <a:spLocks noChangeArrowheads="1"/>
            </p:cNvSpPr>
            <p:nvPr/>
          </p:nvSpPr>
          <p:spPr bwMode="auto">
            <a:xfrm>
              <a:off x="4464" y="1152"/>
              <a:ext cx="960" cy="1680"/>
            </a:xfrm>
            <a:prstGeom prst="can">
              <a:avLst>
                <a:gd name="adj" fmla="val 50312"/>
              </a:avLst>
            </a:prstGeom>
            <a:solidFill>
              <a:srgbClr val="CCECFF">
                <a:alpha val="50195"/>
              </a:srgbClr>
            </a:solidFill>
            <a:ln w="1905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5498" name="Line 8"/>
            <p:cNvSpPr>
              <a:spLocks noChangeShapeType="1"/>
            </p:cNvSpPr>
            <p:nvPr/>
          </p:nvSpPr>
          <p:spPr bwMode="auto">
            <a:xfrm>
              <a:off x="4944" y="2064"/>
              <a:ext cx="336" cy="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499" name="Object 9"/>
                <p:cNvSpPr txBox="1"/>
                <p:nvPr/>
              </p:nvSpPr>
              <p:spPr bwMode="auto">
                <a:xfrm>
                  <a:off x="4944" y="1680"/>
                  <a:ext cx="336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zh-CN" altLang="en-US" sz="2600" dirty="0"/>
                </a:p>
              </p:txBody>
            </p:sp>
          </mc:Choice>
          <mc:Fallback xmlns="">
            <p:sp>
              <p:nvSpPr>
                <p:cNvPr id="105499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44" y="1680"/>
                  <a:ext cx="336" cy="33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500" name="Line 10"/>
            <p:cNvSpPr>
              <a:spLocks noChangeShapeType="1"/>
            </p:cNvSpPr>
            <p:nvPr/>
          </p:nvSpPr>
          <p:spPr bwMode="auto">
            <a:xfrm>
              <a:off x="4944" y="2496"/>
              <a:ext cx="480" cy="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501" name="Object 10"/>
                <p:cNvSpPr txBox="1"/>
                <p:nvPr/>
              </p:nvSpPr>
              <p:spPr bwMode="auto">
                <a:xfrm>
                  <a:off x="5040" y="2208"/>
                  <a:ext cx="28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zh-CN" altLang="en-US" sz="2600" dirty="0"/>
                </a:p>
              </p:txBody>
            </p:sp>
          </mc:Choice>
          <mc:Fallback xmlns="">
            <p:sp>
              <p:nvSpPr>
                <p:cNvPr id="105501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40" y="2208"/>
                  <a:ext cx="287" cy="288"/>
                </a:xfrm>
                <a:prstGeom prst="rect">
                  <a:avLst/>
                </a:prstGeom>
                <a:blipFill>
                  <a:blip r:embed="rId4"/>
                  <a:stretch>
                    <a:fillRect l="-4054" r="-12162" b="-2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5502" name="Group 39"/>
            <p:cNvGrpSpPr>
              <a:grpSpLocks/>
            </p:cNvGrpSpPr>
            <p:nvPr/>
          </p:nvGrpSpPr>
          <p:grpSpPr bwMode="auto">
            <a:xfrm>
              <a:off x="4026" y="1392"/>
              <a:ext cx="438" cy="1200"/>
              <a:chOff x="4026" y="1392"/>
              <a:chExt cx="438" cy="1200"/>
            </a:xfrm>
          </p:grpSpPr>
          <p:sp>
            <p:nvSpPr>
              <p:cNvPr id="105503" name="Line 12"/>
              <p:cNvSpPr>
                <a:spLocks noChangeShapeType="1"/>
              </p:cNvSpPr>
              <p:nvPr/>
            </p:nvSpPr>
            <p:spPr bwMode="auto">
              <a:xfrm>
                <a:off x="4224" y="1392"/>
                <a:ext cx="240" cy="0"/>
              </a:xfrm>
              <a:prstGeom prst="line">
                <a:avLst/>
              </a:prstGeom>
              <a:noFill/>
              <a:ln w="12700">
                <a:solidFill>
                  <a:srgbClr val="CC00CC"/>
                </a:solidFill>
                <a:round/>
                <a:headEnd type="non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5504" name="Line 13"/>
              <p:cNvSpPr>
                <a:spLocks noChangeShapeType="1"/>
              </p:cNvSpPr>
              <p:nvPr/>
            </p:nvSpPr>
            <p:spPr bwMode="auto">
              <a:xfrm>
                <a:off x="4224" y="2592"/>
                <a:ext cx="240" cy="0"/>
              </a:xfrm>
              <a:prstGeom prst="line">
                <a:avLst/>
              </a:prstGeom>
              <a:noFill/>
              <a:ln w="12700">
                <a:solidFill>
                  <a:srgbClr val="CC00CC"/>
                </a:solidFill>
                <a:round/>
                <a:headEnd type="non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505" name="Object 11"/>
                  <p:cNvSpPr txBox="1"/>
                  <p:nvPr/>
                </p:nvSpPr>
                <p:spPr bwMode="auto">
                  <a:xfrm>
                    <a:off x="4026" y="1899"/>
                    <a:ext cx="300" cy="32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105505" name="Object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026" y="1899"/>
                    <a:ext cx="300" cy="32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5506" name="Line 14"/>
              <p:cNvSpPr>
                <a:spLocks noChangeShapeType="1"/>
              </p:cNvSpPr>
              <p:nvPr/>
            </p:nvSpPr>
            <p:spPr bwMode="auto">
              <a:xfrm>
                <a:off x="4320" y="1392"/>
                <a:ext cx="0" cy="1200"/>
              </a:xfrm>
              <a:prstGeom prst="line">
                <a:avLst/>
              </a:prstGeom>
              <a:noFill/>
              <a:ln w="12700">
                <a:solidFill>
                  <a:srgbClr val="CC00CC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7" name="Group 40"/>
          <p:cNvGrpSpPr>
            <a:grpSpLocks/>
          </p:cNvGrpSpPr>
          <p:nvPr/>
        </p:nvGrpSpPr>
        <p:grpSpPr bwMode="auto">
          <a:xfrm>
            <a:off x="8473437" y="1205212"/>
            <a:ext cx="1137690" cy="2259013"/>
            <a:chOff x="4390" y="1381"/>
            <a:chExt cx="402" cy="1423"/>
          </a:xfrm>
        </p:grpSpPr>
        <p:sp>
          <p:nvSpPr>
            <p:cNvPr id="105486" name="Rectangle 16"/>
            <p:cNvSpPr>
              <a:spLocks noChangeArrowheads="1"/>
            </p:cNvSpPr>
            <p:nvPr/>
          </p:nvSpPr>
          <p:spPr bwMode="auto">
            <a:xfrm>
              <a:off x="4600" y="1505"/>
              <a:ext cx="192" cy="1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++++</a:t>
              </a:r>
            </a:p>
          </p:txBody>
        </p:sp>
        <p:sp>
          <p:nvSpPr>
            <p:cNvPr id="105487" name="Rectangle 17"/>
            <p:cNvSpPr>
              <a:spLocks noChangeArrowheads="1"/>
            </p:cNvSpPr>
            <p:nvPr/>
          </p:nvSpPr>
          <p:spPr bwMode="auto">
            <a:xfrm>
              <a:off x="4390" y="1381"/>
              <a:ext cx="192" cy="1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----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>
              <a:xfrm>
                <a:off x="5796364" y="3263994"/>
                <a:ext cx="7543800" cy="1325768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796364" y="3263994"/>
                <a:ext cx="7543800" cy="1325768"/>
              </a:xfr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96383" y="1402062"/>
                <a:ext cx="6295419" cy="402336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buNone/>
                </a:pPr>
                <a:r>
                  <a:rPr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</a:rPr>
                  <a:t>设内外两导体圆柱面单位长度上的带电量分别为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dirty="0">
                    <a:solidFill>
                      <a:srgbClr val="000000"/>
                    </a:solidFill>
                    <a:latin typeface="黑体" panose="02010609060101010101" pitchFamily="49" charset="-122"/>
                  </a:rPr>
                  <a:t>，则其间的电场强度为</a:t>
                </a:r>
                <a:endPara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</a:endParaRPr>
              </a:p>
              <a:p>
                <a:pPr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𝐸</m:t>
                          </m:r>
                        </m:e>
                      </m:acc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𝑟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solidFill>
                    <a:srgbClr val="000000"/>
                  </a:solidFill>
                  <a:latin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6383" y="1402062"/>
                <a:ext cx="6295419" cy="4023360"/>
              </a:xfrm>
              <a:blipFill>
                <a:blip r:embed="rId7"/>
                <a:stretch>
                  <a:fillRect l="-2033" t="-303" r="-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>
            <a:extLst>
              <a:ext uri="{FF2B5EF4-FFF2-40B4-BE49-F238E27FC236}">
                <a16:creationId xmlns:a16="http://schemas.microsoft.com/office/drawing/2014/main" id="{9EE11474-DF96-45BE-A4CF-75733436CBEC}"/>
              </a:ext>
            </a:extLst>
          </p:cNvPr>
          <p:cNvSpPr/>
          <p:nvPr/>
        </p:nvSpPr>
        <p:spPr>
          <a:xfrm>
            <a:off x="1105698" y="506713"/>
            <a:ext cx="31149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 圆柱形电容器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C420AB7-48C9-4FA7-96EC-2454A18B97EE}"/>
                  </a:ext>
                </a:extLst>
              </p:cNvPr>
              <p:cNvSpPr/>
              <p:nvPr/>
            </p:nvSpPr>
            <p:spPr>
              <a:xfrm>
                <a:off x="544876" y="3443694"/>
                <a:ext cx="10550741" cy="32569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" indent="-91440">
                  <a:lnSpc>
                    <a:spcPct val="12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rgbClr val="99CB38"/>
                  </a:buClr>
                  <a:buSzPct val="100000"/>
                </a:pPr>
                <a:r>
                  <a:rPr lang="zh-CN" altLang="en-US" sz="2800" dirty="0">
                    <a:solidFill>
                      <a:srgbClr val="000000"/>
                    </a:solidFill>
                    <a:ea typeface="+mj-ea"/>
                    <a:cs typeface="Times New Roman" panose="02020603050405020304" pitchFamily="18" charset="0"/>
                  </a:rPr>
                  <a:t>两圆柱面的电势差为：</a:t>
                </a:r>
                <a:endParaRPr lang="en-US" altLang="zh-CN" sz="2800" b="0" i="1" dirty="0">
                  <a:solidFill>
                    <a:srgbClr val="000000"/>
                  </a:solidFill>
                  <a:latin typeface="Cambria Math" panose="02040503050406030204" pitchFamily="18" charset="0"/>
                  <a:ea typeface="+mj-ea"/>
                </a:endParaRPr>
              </a:p>
              <a:p>
                <a:pPr marL="91440" indent="-91440">
                  <a:lnSpc>
                    <a:spcPct val="12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rgbClr val="99CB38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𝑈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𝐴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𝐵</m:t>
                              </m:r>
                            </m:sub>
                          </m:sSub>
                        </m:sup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∙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𝑟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𝐴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𝐵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Pr>
                            <m:num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𝜆</m:t>
                              </m:r>
                            </m:num>
                            <m:den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2</m:t>
                              </m:r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𝑟</m:t>
                              </m:r>
                            </m:den>
                          </m:f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𝑑𝑟</m:t>
                          </m:r>
                        </m:e>
                      </m:nary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uncPr>
                        <m:fNam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𝑙𝑛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dirty="0">
                  <a:solidFill>
                    <a:prstClr val="black">
                      <a:lumMod val="75000"/>
                      <a:lumOff val="25000"/>
                    </a:prstClr>
                  </a:solidFill>
                  <a:ea typeface="+mj-ea"/>
                  <a:cs typeface="Times New Roman" panose="02020603050405020304" pitchFamily="18" charset="0"/>
                </a:endParaRPr>
              </a:p>
              <a:p>
                <a:pPr lvl="0" eaLnBrk="1" hangingPunct="1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𝐶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𝑞</m:t>
                          </m:r>
                        </m:num>
                        <m:den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𝑈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𝜆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𝐿</m:t>
                          </m:r>
                        </m:num>
                        <m:den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Pr>
                            <m:num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𝜆</m:t>
                              </m:r>
                            </m:num>
                            <m:den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2</m:t>
                              </m:r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func>
                            <m:func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𝑙𝑛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𝐴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func>
                        </m:den>
                      </m:f>
                      <m:r>
                        <a:rPr lang="en-US" altLang="zh-CN" sz="2800" b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2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𝐿</m:t>
                          </m:r>
                        </m:num>
                        <m:den>
                          <m:func>
                            <m:func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𝑙𝑛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sz="2800" b="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+mj-ea"/>
                                        </a:rPr>
                                        <m:t>𝐴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rgbClr val="000000"/>
                  </a:solidFill>
                  <a:ea typeface="+mj-ea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9C420AB7-48C9-4FA7-96EC-2454A18B9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76" y="3443694"/>
                <a:ext cx="10550741" cy="3256917"/>
              </a:xfrm>
              <a:prstGeom prst="rect">
                <a:avLst/>
              </a:prstGeom>
              <a:blipFill>
                <a:blip r:embed="rId8"/>
                <a:stretch>
                  <a:fillRect l="-1155" t="-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18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/>
          <p:nvPr/>
        </p:nvSpPr>
        <p:spPr>
          <a:xfrm>
            <a:off x="1905000" y="4038600"/>
            <a:ext cx="8382000" cy="2286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sm" len="lg"/>
            <a:tailEnd type="none" w="sm" len="lg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5443538" y="4884738"/>
            <a:ext cx="4191000" cy="609600"/>
            <a:chOff x="2565" y="3077"/>
            <a:chExt cx="2640" cy="384"/>
          </a:xfrm>
        </p:grpSpPr>
        <p:sp>
          <p:nvSpPr>
            <p:cNvPr id="166916" name="AutoShape 4"/>
            <p:cNvSpPr>
              <a:spLocks noChangeArrowheads="1"/>
            </p:cNvSpPr>
            <p:nvPr/>
          </p:nvSpPr>
          <p:spPr bwMode="auto">
            <a:xfrm rot="16200000" flipH="1">
              <a:off x="3693" y="1949"/>
              <a:ext cx="384" cy="2640"/>
            </a:xfrm>
            <a:prstGeom prst="can">
              <a:avLst>
                <a:gd name="adj" fmla="val 44783"/>
              </a:avLst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5400000" scaled="1"/>
            </a:gradFill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800" b="1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372" name="Oval 5"/>
            <p:cNvSpPr/>
            <p:nvPr/>
          </p:nvSpPr>
          <p:spPr>
            <a:xfrm>
              <a:off x="2565" y="3077"/>
              <a:ext cx="170" cy="38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6"/>
          <p:cNvGrpSpPr/>
          <p:nvPr/>
        </p:nvGrpSpPr>
        <p:grpSpPr>
          <a:xfrm>
            <a:off x="2362200" y="4297364"/>
            <a:ext cx="1627188" cy="1493837"/>
            <a:chOff x="645" y="2749"/>
            <a:chExt cx="981" cy="880"/>
          </a:xfrm>
        </p:grpSpPr>
        <p:sp>
          <p:nvSpPr>
            <p:cNvPr id="58374" name="Oval 7"/>
            <p:cNvSpPr/>
            <p:nvPr/>
          </p:nvSpPr>
          <p:spPr>
            <a:xfrm>
              <a:off x="906" y="2909"/>
              <a:ext cx="720" cy="720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375" name="Freeform 8"/>
            <p:cNvSpPr/>
            <p:nvPr/>
          </p:nvSpPr>
          <p:spPr>
            <a:xfrm>
              <a:off x="981" y="3029"/>
              <a:ext cx="288" cy="240"/>
            </a:xfrm>
            <a:custGeom>
              <a:avLst/>
              <a:gdLst/>
              <a:ahLst/>
              <a:cxnLst>
                <a:cxn ang="0">
                  <a:pos x="290" y="282"/>
                </a:cxn>
                <a:cxn ang="0">
                  <a:pos x="0" y="0"/>
                </a:cxn>
              </a:cxnLst>
              <a:rect l="0" t="0" r="0" b="0"/>
              <a:pathLst>
                <a:path w="286" h="204">
                  <a:moveTo>
                    <a:pt x="286" y="204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376" name="Object 9"/>
                <p:cNvSpPr txBox="1"/>
                <p:nvPr/>
              </p:nvSpPr>
              <p:spPr>
                <a:xfrm>
                  <a:off x="645" y="2749"/>
                  <a:ext cx="338" cy="37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8376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" y="2749"/>
                  <a:ext cx="338" cy="37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377" name="Group 10"/>
          <p:cNvGrpSpPr/>
          <p:nvPr/>
        </p:nvGrpSpPr>
        <p:grpSpPr>
          <a:xfrm>
            <a:off x="1828800" y="677863"/>
            <a:ext cx="8610600" cy="3116263"/>
            <a:chOff x="192" y="427"/>
            <a:chExt cx="5424" cy="1963"/>
          </a:xfrm>
        </p:grpSpPr>
        <p:sp>
          <p:nvSpPr>
            <p:cNvPr id="58378" name="Text Box 11"/>
            <p:cNvSpPr txBox="1"/>
            <p:nvPr/>
          </p:nvSpPr>
          <p:spPr>
            <a:xfrm>
              <a:off x="192" y="432"/>
              <a:ext cx="5424" cy="195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/>
                <a:t>        </a:t>
              </a:r>
              <a:r>
                <a:rPr lang="zh-CN" altLang="en-US" sz="2800" dirty="0"/>
                <a:t>例</a:t>
              </a:r>
              <a:r>
                <a:rPr lang="en-US" altLang="zh-CN" sz="2800" dirty="0"/>
                <a:t>  </a:t>
              </a:r>
              <a:r>
                <a:rPr lang="zh-CN" altLang="en-US" sz="2800" dirty="0"/>
                <a:t>常用的圆柱形电容器，是由半径为      的长直圆柱导体和同轴的半径为       的薄导体圆筒组成，并在直导体与导体圆筒之间充以相对电容率为       的电介质</a:t>
              </a:r>
              <a:r>
                <a:rPr lang="en-US" altLang="zh-CN" sz="2800" dirty="0"/>
                <a:t>.</a:t>
              </a:r>
              <a:r>
                <a:rPr lang="zh-CN" altLang="en-US" sz="2800" dirty="0"/>
                <a:t>设直导体和圆筒单位长度上的电荷分别为   和          。　求（</a:t>
              </a:r>
              <a:r>
                <a:rPr lang="en-US" altLang="zh-CN" sz="2800" dirty="0"/>
                <a:t>1</a:t>
              </a:r>
              <a:r>
                <a:rPr lang="zh-CN" altLang="en-US" sz="2800" dirty="0"/>
                <a:t>）电介质中的电场强度、电位移和极化强度；（２）电介质内、外表面的极化电荷面密度；（３）此圆柱形电容器的电容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379" name="Object 12"/>
                <p:cNvSpPr txBox="1"/>
                <p:nvPr/>
              </p:nvSpPr>
              <p:spPr>
                <a:xfrm>
                  <a:off x="4769" y="1223"/>
                  <a:ext cx="464" cy="32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8379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9" y="1223"/>
                  <a:ext cx="464" cy="32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380" name="Object 13"/>
                <p:cNvSpPr txBox="1"/>
                <p:nvPr/>
              </p:nvSpPr>
              <p:spPr>
                <a:xfrm>
                  <a:off x="4436" y="427"/>
                  <a:ext cx="333" cy="40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8380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6" y="427"/>
                  <a:ext cx="333" cy="40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381" name="Object 14"/>
                <p:cNvSpPr txBox="1"/>
                <p:nvPr/>
              </p:nvSpPr>
              <p:spPr>
                <a:xfrm>
                  <a:off x="2765" y="681"/>
                  <a:ext cx="357" cy="36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8381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5" y="681"/>
                  <a:ext cx="357" cy="36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382" name="Object 15"/>
                <p:cNvSpPr txBox="1"/>
                <p:nvPr/>
              </p:nvSpPr>
              <p:spPr>
                <a:xfrm>
                  <a:off x="4555" y="940"/>
                  <a:ext cx="294" cy="41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8382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5" y="940"/>
                  <a:ext cx="294" cy="41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383" name="Object 16"/>
                <p:cNvSpPr txBox="1"/>
                <p:nvPr/>
              </p:nvSpPr>
              <p:spPr>
                <a:xfrm>
                  <a:off x="440" y="1493"/>
                  <a:ext cx="464" cy="32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58383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" y="1493"/>
                  <a:ext cx="464" cy="32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17"/>
          <p:cNvGrpSpPr/>
          <p:nvPr/>
        </p:nvGrpSpPr>
        <p:grpSpPr>
          <a:xfrm>
            <a:off x="2209800" y="4427538"/>
            <a:ext cx="2025650" cy="1524000"/>
            <a:chOff x="528" y="2789"/>
            <a:chExt cx="1276" cy="960"/>
          </a:xfrm>
        </p:grpSpPr>
        <p:sp>
          <p:nvSpPr>
            <p:cNvPr id="58385" name="AutoShape 18"/>
            <p:cNvSpPr/>
            <p:nvPr/>
          </p:nvSpPr>
          <p:spPr>
            <a:xfrm>
              <a:off x="789" y="2789"/>
              <a:ext cx="960" cy="9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2" y="1"/>
                </a:cxn>
                <a:cxn ang="0">
                  <a:pos x="2" y="0"/>
                </a:cxn>
              </a:cxnLst>
              <a:rect l="0" t="0" r="0" b="0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93" y="10800"/>
                  </a:moveTo>
                  <a:cubicBezTo>
                    <a:pt x="6593" y="13123"/>
                    <a:pt x="8477" y="15007"/>
                    <a:pt x="10800" y="15007"/>
                  </a:cubicBezTo>
                  <a:cubicBezTo>
                    <a:pt x="13123" y="15007"/>
                    <a:pt x="15007" y="13123"/>
                    <a:pt x="15007" y="10800"/>
                  </a:cubicBezTo>
                  <a:cubicBezTo>
                    <a:pt x="15007" y="8477"/>
                    <a:pt x="13123" y="6593"/>
                    <a:pt x="10800" y="6593"/>
                  </a:cubicBezTo>
                  <a:cubicBezTo>
                    <a:pt x="8477" y="6593"/>
                    <a:pt x="6593" y="8477"/>
                    <a:pt x="6593" y="1080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6" name="Line 19"/>
            <p:cNvSpPr/>
            <p:nvPr/>
          </p:nvSpPr>
          <p:spPr>
            <a:xfrm flipV="1">
              <a:off x="1269" y="3269"/>
              <a:ext cx="19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58387" name="Line 20"/>
            <p:cNvSpPr/>
            <p:nvPr/>
          </p:nvSpPr>
          <p:spPr>
            <a:xfrm flipH="1">
              <a:off x="789" y="3269"/>
              <a:ext cx="480" cy="19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388" name="Object 21"/>
                <p:cNvSpPr txBox="1"/>
                <p:nvPr/>
              </p:nvSpPr>
              <p:spPr>
                <a:xfrm>
                  <a:off x="1392" y="3004"/>
                  <a:ext cx="412" cy="50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8388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" y="3004"/>
                  <a:ext cx="412" cy="5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389" name="Object 22"/>
                <p:cNvSpPr txBox="1"/>
                <p:nvPr/>
              </p:nvSpPr>
              <p:spPr>
                <a:xfrm>
                  <a:off x="528" y="3297"/>
                  <a:ext cx="357" cy="40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8389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" y="3297"/>
                  <a:ext cx="357" cy="40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23"/>
          <p:cNvGrpSpPr/>
          <p:nvPr/>
        </p:nvGrpSpPr>
        <p:grpSpPr>
          <a:xfrm>
            <a:off x="3309938" y="4427538"/>
            <a:ext cx="2438400" cy="1524000"/>
            <a:chOff x="1221" y="2789"/>
            <a:chExt cx="1536" cy="960"/>
          </a:xfrm>
        </p:grpSpPr>
        <p:sp>
          <p:nvSpPr>
            <p:cNvPr id="58391" name="Line 24"/>
            <p:cNvSpPr/>
            <p:nvPr/>
          </p:nvSpPr>
          <p:spPr>
            <a:xfrm>
              <a:off x="1221" y="2789"/>
              <a:ext cx="148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58392" name="Line 25"/>
            <p:cNvSpPr/>
            <p:nvPr/>
          </p:nvSpPr>
          <p:spPr>
            <a:xfrm>
              <a:off x="1221" y="3749"/>
              <a:ext cx="148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58393" name="Line 26"/>
            <p:cNvSpPr/>
            <p:nvPr/>
          </p:nvSpPr>
          <p:spPr>
            <a:xfrm>
              <a:off x="1269" y="3077"/>
              <a:ext cx="148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58394" name="Line 27"/>
            <p:cNvSpPr/>
            <p:nvPr/>
          </p:nvSpPr>
          <p:spPr>
            <a:xfrm>
              <a:off x="1221" y="3461"/>
              <a:ext cx="148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</p:grpSp>
      <p:grpSp>
        <p:nvGrpSpPr>
          <p:cNvPr id="7" name="Group 28"/>
          <p:cNvGrpSpPr/>
          <p:nvPr/>
        </p:nvGrpSpPr>
        <p:grpSpPr>
          <a:xfrm>
            <a:off x="3386138" y="4579938"/>
            <a:ext cx="3352800" cy="1219200"/>
            <a:chOff x="1269" y="2885"/>
            <a:chExt cx="2112" cy="768"/>
          </a:xfrm>
        </p:grpSpPr>
        <p:sp>
          <p:nvSpPr>
            <p:cNvPr id="58396" name="Line 29"/>
            <p:cNvSpPr/>
            <p:nvPr/>
          </p:nvSpPr>
          <p:spPr>
            <a:xfrm>
              <a:off x="1317" y="2885"/>
              <a:ext cx="20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58397" name="Line 30"/>
            <p:cNvSpPr/>
            <p:nvPr/>
          </p:nvSpPr>
          <p:spPr>
            <a:xfrm>
              <a:off x="1269" y="3653"/>
              <a:ext cx="20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</p:grpSp>
      <p:grpSp>
        <p:nvGrpSpPr>
          <p:cNvPr id="8" name="Group 31"/>
          <p:cNvGrpSpPr/>
          <p:nvPr/>
        </p:nvGrpSpPr>
        <p:grpSpPr>
          <a:xfrm>
            <a:off x="5976938" y="4579938"/>
            <a:ext cx="2665412" cy="1219200"/>
            <a:chOff x="2901" y="2885"/>
            <a:chExt cx="1679" cy="768"/>
          </a:xfrm>
        </p:grpSpPr>
        <p:sp>
          <p:nvSpPr>
            <p:cNvPr id="58399" name="AutoShape 32"/>
            <p:cNvSpPr/>
            <p:nvPr/>
          </p:nvSpPr>
          <p:spPr>
            <a:xfrm rot="-5400000" flipH="1">
              <a:off x="3451" y="2524"/>
              <a:ext cx="768" cy="1487"/>
            </a:xfrm>
            <a:prstGeom prst="can">
              <a:avLst>
                <a:gd name="adj" fmla="val 31329"/>
              </a:avLst>
            </a:prstGeom>
            <a:noFill/>
            <a:ln w="28575" cap="flat" cmpd="sng">
              <a:solidFill>
                <a:srgbClr val="0000CC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6945" name="AutoShape 33"/>
            <p:cNvSpPr>
              <a:spLocks noChangeArrowheads="1"/>
            </p:cNvSpPr>
            <p:nvPr/>
          </p:nvSpPr>
          <p:spPr bwMode="auto">
            <a:xfrm rot="16200000" flipH="1">
              <a:off x="2889" y="3082"/>
              <a:ext cx="384" cy="363"/>
            </a:xfrm>
            <a:prstGeom prst="can">
              <a:avLst>
                <a:gd name="adj" fmla="val 0"/>
              </a:avLst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5400000" scaled="1"/>
            </a:gradFill>
            <a:ln w="28575">
              <a:noFill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800" b="1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6946" name="AutoShape 34"/>
          <p:cNvSpPr/>
          <p:nvPr/>
        </p:nvSpPr>
        <p:spPr>
          <a:xfrm rot="16200000" flipH="1">
            <a:off x="6743700" y="2857500"/>
            <a:ext cx="1524000" cy="4648200"/>
          </a:xfrm>
          <a:prstGeom prst="can">
            <a:avLst>
              <a:gd name="adj" fmla="val 49361"/>
            </a:avLst>
          </a:prstGeom>
          <a:solidFill>
            <a:srgbClr val="DDDDDD">
              <a:alpha val="50195"/>
            </a:srgbClr>
          </a:solidFill>
          <a:ln w="28575" cap="flat" cmpd="sng">
            <a:solidFill>
              <a:schemeClr val="tx1"/>
            </a:solidFill>
            <a:prstDash val="solid"/>
            <a:round/>
            <a:headEnd type="none" w="sm" len="lg"/>
            <a:tailEnd type="none" w="sm" len="lg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" name="Group 35"/>
          <p:cNvGrpSpPr/>
          <p:nvPr/>
        </p:nvGrpSpPr>
        <p:grpSpPr>
          <a:xfrm>
            <a:off x="8643938" y="4114801"/>
            <a:ext cx="1066800" cy="1463675"/>
            <a:chOff x="4581" y="2592"/>
            <a:chExt cx="672" cy="9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403" name="Object 36"/>
                <p:cNvSpPr txBox="1"/>
                <p:nvPr/>
              </p:nvSpPr>
              <p:spPr>
                <a:xfrm>
                  <a:off x="4629" y="3077"/>
                  <a:ext cx="624" cy="43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8403" name="Object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9" y="3077"/>
                  <a:ext cx="624" cy="4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404" name="Object 37"/>
                <p:cNvSpPr txBox="1"/>
                <p:nvPr/>
              </p:nvSpPr>
              <p:spPr>
                <a:xfrm>
                  <a:off x="4581" y="2592"/>
                  <a:ext cx="624" cy="43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8404" name="Object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1" y="2592"/>
                  <a:ext cx="624" cy="43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3332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6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4" grpId="0" animBg="1"/>
      <p:bldP spid="16694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7938" name="Object 2"/>
              <p:cNvSpPr txBox="1"/>
              <p:nvPr/>
            </p:nvSpPr>
            <p:spPr>
              <a:xfrm>
                <a:off x="4060635" y="2655541"/>
                <a:ext cx="2566987" cy="8604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93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635" y="2655541"/>
                <a:ext cx="2566987" cy="860425"/>
              </a:xfrm>
              <a:prstGeom prst="rect">
                <a:avLst/>
              </a:prstGeom>
              <a:blipFill>
                <a:blip r:embed="rId2"/>
                <a:stretch>
                  <a:fillRect b="-21277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94" name="Text Box 3"/>
          <p:cNvSpPr txBox="1"/>
          <p:nvPr/>
        </p:nvSpPr>
        <p:spPr>
          <a:xfrm>
            <a:off x="2209082" y="2916546"/>
            <a:ext cx="1752600" cy="5232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940" name="Object 4"/>
              <p:cNvSpPr txBox="1"/>
              <p:nvPr/>
            </p:nvSpPr>
            <p:spPr>
              <a:xfrm>
                <a:off x="3596321" y="3910079"/>
                <a:ext cx="2438400" cy="5715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𝑟𝑙</m:t>
                      </m:r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94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321" y="3910079"/>
                <a:ext cx="2438400" cy="571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941" name="Object 5"/>
              <p:cNvSpPr txBox="1"/>
              <p:nvPr/>
            </p:nvSpPr>
            <p:spPr>
              <a:xfrm>
                <a:off x="6742113" y="3506960"/>
                <a:ext cx="1716087" cy="110966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94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113" y="3506960"/>
                <a:ext cx="1716087" cy="1109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942" name="Object 6"/>
              <p:cNvSpPr txBox="1"/>
              <p:nvPr/>
            </p:nvSpPr>
            <p:spPr>
              <a:xfrm>
                <a:off x="3002816" y="4520717"/>
                <a:ext cx="3581400" cy="122078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94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816" y="4520717"/>
                <a:ext cx="3581400" cy="12207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943" name="Object 7"/>
              <p:cNvSpPr txBox="1"/>
              <p:nvPr/>
            </p:nvSpPr>
            <p:spPr>
              <a:xfrm>
                <a:off x="6742113" y="4822686"/>
                <a:ext cx="2209800" cy="5873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94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113" y="4822686"/>
                <a:ext cx="2209800" cy="5873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944" name="Object 8"/>
              <p:cNvSpPr txBox="1"/>
              <p:nvPr/>
            </p:nvSpPr>
            <p:spPr>
              <a:xfrm>
                <a:off x="3728282" y="5616124"/>
                <a:ext cx="4819650" cy="12811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94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282" y="5616124"/>
                <a:ext cx="4819650" cy="12811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400" name="Group 9"/>
          <p:cNvGrpSpPr/>
          <p:nvPr/>
        </p:nvGrpSpPr>
        <p:grpSpPr>
          <a:xfrm>
            <a:off x="2514600" y="685800"/>
            <a:ext cx="7239000" cy="1905000"/>
            <a:chOff x="912" y="480"/>
            <a:chExt cx="4032" cy="1104"/>
          </a:xfrm>
        </p:grpSpPr>
        <p:sp>
          <p:nvSpPr>
            <p:cNvPr id="59401" name="Rectangle 10"/>
            <p:cNvSpPr/>
            <p:nvPr/>
          </p:nvSpPr>
          <p:spPr>
            <a:xfrm>
              <a:off x="912" y="480"/>
              <a:ext cx="4032" cy="110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7947" name="AutoShape 11"/>
            <p:cNvSpPr>
              <a:spLocks noChangeArrowheads="1"/>
            </p:cNvSpPr>
            <p:nvPr/>
          </p:nvSpPr>
          <p:spPr bwMode="auto">
            <a:xfrm rot="16200000" flipH="1">
              <a:off x="3476" y="27"/>
              <a:ext cx="293" cy="2016"/>
            </a:xfrm>
            <a:prstGeom prst="can">
              <a:avLst>
                <a:gd name="adj" fmla="val 44667"/>
              </a:avLst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5400000" scaled="1"/>
            </a:gradFill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800" b="1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3" name="AutoShape 12"/>
            <p:cNvSpPr/>
            <p:nvPr/>
          </p:nvSpPr>
          <p:spPr>
            <a:xfrm rot="-5400000" flipH="1">
              <a:off x="3289" y="466"/>
              <a:ext cx="589" cy="1136"/>
            </a:xfrm>
            <a:prstGeom prst="can">
              <a:avLst>
                <a:gd name="adj" fmla="val 31213"/>
              </a:avLst>
            </a:prstGeom>
            <a:noFill/>
            <a:ln w="28575" cap="flat" cmpd="sng">
              <a:solidFill>
                <a:srgbClr val="0000CC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4" name="Oval 13"/>
            <p:cNvSpPr/>
            <p:nvPr/>
          </p:nvSpPr>
          <p:spPr>
            <a:xfrm>
              <a:off x="2614" y="889"/>
              <a:ext cx="130" cy="29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5" name="AutoShape 14"/>
            <p:cNvSpPr/>
            <p:nvPr/>
          </p:nvSpPr>
          <p:spPr>
            <a:xfrm>
              <a:off x="1258" y="668"/>
              <a:ext cx="733" cy="7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0" b="0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93" y="10800"/>
                  </a:moveTo>
                  <a:cubicBezTo>
                    <a:pt x="6593" y="13123"/>
                    <a:pt x="8477" y="15007"/>
                    <a:pt x="10800" y="15007"/>
                  </a:cubicBezTo>
                  <a:cubicBezTo>
                    <a:pt x="13123" y="15007"/>
                    <a:pt x="15007" y="13123"/>
                    <a:pt x="15007" y="10800"/>
                  </a:cubicBezTo>
                  <a:cubicBezTo>
                    <a:pt x="15007" y="8477"/>
                    <a:pt x="13123" y="6593"/>
                    <a:pt x="10800" y="6593"/>
                  </a:cubicBezTo>
                  <a:cubicBezTo>
                    <a:pt x="8477" y="6593"/>
                    <a:pt x="6593" y="8477"/>
                    <a:pt x="6593" y="1080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6" name="Oval 15"/>
            <p:cNvSpPr/>
            <p:nvPr/>
          </p:nvSpPr>
          <p:spPr>
            <a:xfrm>
              <a:off x="1347" y="760"/>
              <a:ext cx="550" cy="552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07" name="Line 16"/>
            <p:cNvSpPr/>
            <p:nvPr/>
          </p:nvSpPr>
          <p:spPr>
            <a:xfrm flipV="1">
              <a:off x="1624" y="1036"/>
              <a:ext cx="147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59408" name="Line 17"/>
            <p:cNvSpPr/>
            <p:nvPr/>
          </p:nvSpPr>
          <p:spPr>
            <a:xfrm flipH="1">
              <a:off x="1258" y="1036"/>
              <a:ext cx="366" cy="14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59409" name="Freeform 18"/>
            <p:cNvSpPr/>
            <p:nvPr/>
          </p:nvSpPr>
          <p:spPr>
            <a:xfrm>
              <a:off x="1405" y="852"/>
              <a:ext cx="219" cy="184"/>
            </a:xfrm>
            <a:custGeom>
              <a:avLst/>
              <a:gdLst/>
              <a:ahLst/>
              <a:cxnLst>
                <a:cxn ang="0">
                  <a:pos x="168" y="166"/>
                </a:cxn>
                <a:cxn ang="0">
                  <a:pos x="0" y="0"/>
                </a:cxn>
              </a:cxnLst>
              <a:rect l="0" t="0" r="0" b="0"/>
              <a:pathLst>
                <a:path w="286" h="204">
                  <a:moveTo>
                    <a:pt x="286" y="204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410" name="Object 19"/>
                <p:cNvSpPr txBox="1"/>
                <p:nvPr/>
              </p:nvSpPr>
              <p:spPr>
                <a:xfrm>
                  <a:off x="1718" y="811"/>
                  <a:ext cx="315" cy="38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9410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8" y="811"/>
                  <a:ext cx="315" cy="38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411" name="Object 20"/>
                <p:cNvSpPr txBox="1"/>
                <p:nvPr/>
              </p:nvSpPr>
              <p:spPr>
                <a:xfrm>
                  <a:off x="1059" y="1057"/>
                  <a:ext cx="272" cy="31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9411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9" y="1057"/>
                  <a:ext cx="272" cy="3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412" name="Object 21"/>
                <p:cNvSpPr txBox="1"/>
                <p:nvPr/>
              </p:nvSpPr>
              <p:spPr>
                <a:xfrm>
                  <a:off x="1148" y="637"/>
                  <a:ext cx="258" cy="28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9412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" y="637"/>
                  <a:ext cx="258" cy="28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413" name="Line 22"/>
            <p:cNvSpPr/>
            <p:nvPr/>
          </p:nvSpPr>
          <p:spPr>
            <a:xfrm>
              <a:off x="1588" y="668"/>
              <a:ext cx="1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59414" name="Line 23"/>
            <p:cNvSpPr/>
            <p:nvPr/>
          </p:nvSpPr>
          <p:spPr>
            <a:xfrm>
              <a:off x="1588" y="1404"/>
              <a:ext cx="1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59415" name="Line 24"/>
            <p:cNvSpPr/>
            <p:nvPr/>
          </p:nvSpPr>
          <p:spPr>
            <a:xfrm>
              <a:off x="1624" y="889"/>
              <a:ext cx="113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59416" name="Line 25"/>
            <p:cNvSpPr/>
            <p:nvPr/>
          </p:nvSpPr>
          <p:spPr>
            <a:xfrm>
              <a:off x="1588" y="1183"/>
              <a:ext cx="1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59417" name="Line 26"/>
            <p:cNvSpPr/>
            <p:nvPr/>
          </p:nvSpPr>
          <p:spPr>
            <a:xfrm>
              <a:off x="1661" y="741"/>
              <a:ext cx="157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59418" name="Line 27"/>
            <p:cNvSpPr/>
            <p:nvPr/>
          </p:nvSpPr>
          <p:spPr>
            <a:xfrm>
              <a:off x="1624" y="1330"/>
              <a:ext cx="157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167964" name="AutoShape 28"/>
            <p:cNvSpPr>
              <a:spLocks noChangeArrowheads="1"/>
            </p:cNvSpPr>
            <p:nvPr/>
          </p:nvSpPr>
          <p:spPr bwMode="auto">
            <a:xfrm rot="16200000" flipH="1">
              <a:off x="2862" y="895"/>
              <a:ext cx="294" cy="277"/>
            </a:xfrm>
            <a:prstGeom prst="can">
              <a:avLst>
                <a:gd name="adj" fmla="val 0"/>
              </a:avLst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5400000" scaled="1"/>
            </a:gradFill>
            <a:ln w="28575">
              <a:noFill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800" b="1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0" name="AutoShape 29"/>
            <p:cNvSpPr/>
            <p:nvPr/>
          </p:nvSpPr>
          <p:spPr>
            <a:xfrm rot="-5400000" flipH="1">
              <a:off x="3238" y="-86"/>
              <a:ext cx="736" cy="2236"/>
            </a:xfrm>
            <a:prstGeom prst="can">
              <a:avLst>
                <a:gd name="adj" fmla="val 49171"/>
              </a:avLst>
            </a:prstGeom>
            <a:solidFill>
              <a:srgbClr val="DDDDDD">
                <a:alpha val="50195"/>
              </a:srgbClr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421" name="Object 30"/>
                <p:cNvSpPr txBox="1"/>
                <p:nvPr/>
              </p:nvSpPr>
              <p:spPr>
                <a:xfrm>
                  <a:off x="4190" y="889"/>
                  <a:ext cx="477" cy="33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9421" name="Object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0" y="889"/>
                  <a:ext cx="477" cy="33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422" name="Object 31"/>
                <p:cNvSpPr txBox="1"/>
                <p:nvPr/>
              </p:nvSpPr>
              <p:spPr>
                <a:xfrm>
                  <a:off x="4154" y="517"/>
                  <a:ext cx="476" cy="33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9422" name="Object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4" y="517"/>
                  <a:ext cx="476" cy="33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472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8" grpId="0"/>
      <p:bldP spid="167940" grpId="0"/>
      <p:bldP spid="167941" grpId="0"/>
      <p:bldP spid="167942" grpId="0"/>
      <p:bldP spid="167943" grpId="0"/>
      <p:bldP spid="16794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Text Box 2"/>
          <p:cNvSpPr txBox="1"/>
          <p:nvPr/>
        </p:nvSpPr>
        <p:spPr>
          <a:xfrm>
            <a:off x="1981200" y="2667000"/>
            <a:ext cx="3657600" cy="5232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（２）由上题可知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963" name="Object 3"/>
              <p:cNvSpPr txBox="1"/>
              <p:nvPr/>
            </p:nvSpPr>
            <p:spPr>
              <a:xfrm>
                <a:off x="2800350" y="4492626"/>
                <a:ext cx="6440488" cy="12223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896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350" y="4492626"/>
                <a:ext cx="6440488" cy="12223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964" name="Object 4"/>
              <p:cNvSpPr txBox="1"/>
              <p:nvPr/>
            </p:nvSpPr>
            <p:spPr>
              <a:xfrm>
                <a:off x="2800351" y="5486400"/>
                <a:ext cx="6372225" cy="11953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′=(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896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351" y="5486400"/>
                <a:ext cx="6372225" cy="11953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5"/>
          <p:cNvGrpSpPr/>
          <p:nvPr/>
        </p:nvGrpSpPr>
        <p:grpSpPr>
          <a:xfrm>
            <a:off x="5638800" y="2514601"/>
            <a:ext cx="4495800" cy="2128838"/>
            <a:chOff x="2688" y="1536"/>
            <a:chExt cx="2832" cy="13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21" name="Object 6"/>
                <p:cNvSpPr txBox="1"/>
                <p:nvPr/>
              </p:nvSpPr>
              <p:spPr>
                <a:xfrm>
                  <a:off x="2976" y="1536"/>
                  <a:ext cx="1572" cy="71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421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6" y="1536"/>
                  <a:ext cx="1572" cy="7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22" name="Object 7"/>
                <p:cNvSpPr txBox="1"/>
                <p:nvPr/>
              </p:nvSpPr>
              <p:spPr>
                <a:xfrm>
                  <a:off x="4608" y="1697"/>
                  <a:ext cx="864" cy="36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422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8" y="1697"/>
                  <a:ext cx="864" cy="367"/>
                </a:xfrm>
                <a:prstGeom prst="rect">
                  <a:avLst/>
                </a:prstGeom>
                <a:blipFill>
                  <a:blip r:embed="rId5"/>
                  <a:stretch>
                    <a:fillRect l="-3556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23" name="Object 8"/>
                <p:cNvSpPr txBox="1"/>
                <p:nvPr/>
              </p:nvSpPr>
              <p:spPr>
                <a:xfrm>
                  <a:off x="2976" y="2196"/>
                  <a:ext cx="1536" cy="68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0423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6" y="2196"/>
                  <a:ext cx="1536" cy="68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24" name="Object 9"/>
                <p:cNvSpPr txBox="1"/>
                <p:nvPr/>
              </p:nvSpPr>
              <p:spPr>
                <a:xfrm>
                  <a:off x="4656" y="2290"/>
                  <a:ext cx="864" cy="35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60424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6" y="2290"/>
                  <a:ext cx="864" cy="350"/>
                </a:xfrm>
                <a:prstGeom prst="rect">
                  <a:avLst/>
                </a:prstGeom>
                <a:blipFill>
                  <a:blip r:embed="rId7"/>
                  <a:stretch>
                    <a:fillRect l="-4000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425" name="AutoShape 10"/>
            <p:cNvSpPr/>
            <p:nvPr/>
          </p:nvSpPr>
          <p:spPr>
            <a:xfrm>
              <a:off x="2688" y="1824"/>
              <a:ext cx="144" cy="624"/>
            </a:xfrm>
            <a:prstGeom prst="leftBrace">
              <a:avLst>
                <a:gd name="adj1" fmla="val 36091"/>
                <a:gd name="adj2" fmla="val 50000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sz="28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8972" name="Object 12"/>
              <p:cNvSpPr txBox="1"/>
              <p:nvPr/>
            </p:nvSpPr>
            <p:spPr>
              <a:xfrm>
                <a:off x="2065149" y="3352801"/>
                <a:ext cx="3581400" cy="122078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897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149" y="3352801"/>
                <a:ext cx="3581400" cy="12207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428" name="Group 13"/>
          <p:cNvGrpSpPr/>
          <p:nvPr/>
        </p:nvGrpSpPr>
        <p:grpSpPr>
          <a:xfrm>
            <a:off x="2590800" y="609600"/>
            <a:ext cx="7239000" cy="1905000"/>
            <a:chOff x="912" y="480"/>
            <a:chExt cx="4032" cy="1104"/>
          </a:xfrm>
        </p:grpSpPr>
        <p:sp>
          <p:nvSpPr>
            <p:cNvPr id="60429" name="Rectangle 14"/>
            <p:cNvSpPr/>
            <p:nvPr/>
          </p:nvSpPr>
          <p:spPr>
            <a:xfrm>
              <a:off x="912" y="480"/>
              <a:ext cx="4032" cy="110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8975" name="AutoShape 15"/>
            <p:cNvSpPr>
              <a:spLocks noChangeArrowheads="1"/>
            </p:cNvSpPr>
            <p:nvPr/>
          </p:nvSpPr>
          <p:spPr bwMode="auto">
            <a:xfrm rot="16200000" flipH="1">
              <a:off x="3476" y="27"/>
              <a:ext cx="293" cy="2016"/>
            </a:xfrm>
            <a:prstGeom prst="can">
              <a:avLst>
                <a:gd name="adj" fmla="val 44667"/>
              </a:avLst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5400000" scaled="1"/>
            </a:gradFill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800" b="1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31" name="AutoShape 16"/>
            <p:cNvSpPr/>
            <p:nvPr/>
          </p:nvSpPr>
          <p:spPr>
            <a:xfrm rot="-5400000" flipH="1">
              <a:off x="3289" y="466"/>
              <a:ext cx="589" cy="1136"/>
            </a:xfrm>
            <a:prstGeom prst="can">
              <a:avLst>
                <a:gd name="adj" fmla="val 31213"/>
              </a:avLst>
            </a:prstGeom>
            <a:noFill/>
            <a:ln w="28575" cap="flat" cmpd="sng">
              <a:solidFill>
                <a:srgbClr val="0000CC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32" name="Oval 17"/>
            <p:cNvSpPr/>
            <p:nvPr/>
          </p:nvSpPr>
          <p:spPr>
            <a:xfrm>
              <a:off x="2614" y="889"/>
              <a:ext cx="130" cy="29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33" name="AutoShape 18"/>
            <p:cNvSpPr/>
            <p:nvPr/>
          </p:nvSpPr>
          <p:spPr>
            <a:xfrm>
              <a:off x="1258" y="668"/>
              <a:ext cx="733" cy="7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0" b="0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93" y="10800"/>
                  </a:moveTo>
                  <a:cubicBezTo>
                    <a:pt x="6593" y="13123"/>
                    <a:pt x="8477" y="15007"/>
                    <a:pt x="10800" y="15007"/>
                  </a:cubicBezTo>
                  <a:cubicBezTo>
                    <a:pt x="13123" y="15007"/>
                    <a:pt x="15007" y="13123"/>
                    <a:pt x="15007" y="10800"/>
                  </a:cubicBezTo>
                  <a:cubicBezTo>
                    <a:pt x="15007" y="8477"/>
                    <a:pt x="13123" y="6593"/>
                    <a:pt x="10800" y="6593"/>
                  </a:cubicBezTo>
                  <a:cubicBezTo>
                    <a:pt x="8477" y="6593"/>
                    <a:pt x="6593" y="8477"/>
                    <a:pt x="6593" y="1080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4" name="Oval 19"/>
            <p:cNvSpPr/>
            <p:nvPr/>
          </p:nvSpPr>
          <p:spPr>
            <a:xfrm>
              <a:off x="1347" y="760"/>
              <a:ext cx="550" cy="552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35" name="Line 20"/>
            <p:cNvSpPr/>
            <p:nvPr/>
          </p:nvSpPr>
          <p:spPr>
            <a:xfrm flipV="1">
              <a:off x="1624" y="1036"/>
              <a:ext cx="147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60436" name="Line 21"/>
            <p:cNvSpPr/>
            <p:nvPr/>
          </p:nvSpPr>
          <p:spPr>
            <a:xfrm flipH="1">
              <a:off x="1258" y="1036"/>
              <a:ext cx="366" cy="14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60437" name="Freeform 22"/>
            <p:cNvSpPr/>
            <p:nvPr/>
          </p:nvSpPr>
          <p:spPr>
            <a:xfrm>
              <a:off x="1405" y="852"/>
              <a:ext cx="219" cy="184"/>
            </a:xfrm>
            <a:custGeom>
              <a:avLst/>
              <a:gdLst/>
              <a:ahLst/>
              <a:cxnLst>
                <a:cxn ang="0">
                  <a:pos x="168" y="166"/>
                </a:cxn>
                <a:cxn ang="0">
                  <a:pos x="0" y="0"/>
                </a:cxn>
              </a:cxnLst>
              <a:rect l="0" t="0" r="0" b="0"/>
              <a:pathLst>
                <a:path w="286" h="204">
                  <a:moveTo>
                    <a:pt x="286" y="204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38" name="Object 23"/>
                <p:cNvSpPr txBox="1"/>
                <p:nvPr/>
              </p:nvSpPr>
              <p:spPr>
                <a:xfrm>
                  <a:off x="1718" y="811"/>
                  <a:ext cx="315" cy="38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0438" name="Object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8" y="811"/>
                  <a:ext cx="315" cy="38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39" name="Object 24"/>
                <p:cNvSpPr txBox="1"/>
                <p:nvPr/>
              </p:nvSpPr>
              <p:spPr>
                <a:xfrm>
                  <a:off x="1059" y="1057"/>
                  <a:ext cx="272" cy="31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0439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9" y="1057"/>
                  <a:ext cx="272" cy="3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40" name="Object 25"/>
                <p:cNvSpPr txBox="1"/>
                <p:nvPr/>
              </p:nvSpPr>
              <p:spPr>
                <a:xfrm>
                  <a:off x="1148" y="637"/>
                  <a:ext cx="258" cy="28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0440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" y="637"/>
                  <a:ext cx="258" cy="28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441" name="Line 26"/>
            <p:cNvSpPr/>
            <p:nvPr/>
          </p:nvSpPr>
          <p:spPr>
            <a:xfrm>
              <a:off x="1588" y="668"/>
              <a:ext cx="1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60442" name="Line 27"/>
            <p:cNvSpPr/>
            <p:nvPr/>
          </p:nvSpPr>
          <p:spPr>
            <a:xfrm>
              <a:off x="1588" y="1404"/>
              <a:ext cx="1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60443" name="Line 28"/>
            <p:cNvSpPr/>
            <p:nvPr/>
          </p:nvSpPr>
          <p:spPr>
            <a:xfrm>
              <a:off x="1624" y="889"/>
              <a:ext cx="113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60444" name="Line 29"/>
            <p:cNvSpPr/>
            <p:nvPr/>
          </p:nvSpPr>
          <p:spPr>
            <a:xfrm>
              <a:off x="1588" y="1183"/>
              <a:ext cx="1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60445" name="Line 30"/>
            <p:cNvSpPr/>
            <p:nvPr/>
          </p:nvSpPr>
          <p:spPr>
            <a:xfrm>
              <a:off x="1661" y="741"/>
              <a:ext cx="157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60446" name="Line 31"/>
            <p:cNvSpPr/>
            <p:nvPr/>
          </p:nvSpPr>
          <p:spPr>
            <a:xfrm>
              <a:off x="1624" y="1330"/>
              <a:ext cx="157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168992" name="AutoShape 32"/>
            <p:cNvSpPr>
              <a:spLocks noChangeArrowheads="1"/>
            </p:cNvSpPr>
            <p:nvPr/>
          </p:nvSpPr>
          <p:spPr bwMode="auto">
            <a:xfrm rot="16200000" flipH="1">
              <a:off x="2862" y="895"/>
              <a:ext cx="294" cy="277"/>
            </a:xfrm>
            <a:prstGeom prst="can">
              <a:avLst>
                <a:gd name="adj" fmla="val 0"/>
              </a:avLst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5400000" scaled="1"/>
            </a:gradFill>
            <a:ln w="28575">
              <a:noFill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800" b="1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48" name="AutoShape 33"/>
            <p:cNvSpPr/>
            <p:nvPr/>
          </p:nvSpPr>
          <p:spPr>
            <a:xfrm rot="-5400000" flipH="1">
              <a:off x="3238" y="-86"/>
              <a:ext cx="736" cy="2236"/>
            </a:xfrm>
            <a:prstGeom prst="can">
              <a:avLst>
                <a:gd name="adj" fmla="val 49171"/>
              </a:avLst>
            </a:prstGeom>
            <a:solidFill>
              <a:srgbClr val="DDDDDD">
                <a:alpha val="50195"/>
              </a:srgbClr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49" name="Object 34"/>
                <p:cNvSpPr txBox="1"/>
                <p:nvPr/>
              </p:nvSpPr>
              <p:spPr>
                <a:xfrm>
                  <a:off x="4190" y="889"/>
                  <a:ext cx="477" cy="33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0449" name="Object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0" y="889"/>
                  <a:ext cx="477" cy="33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450" name="Object 35"/>
                <p:cNvSpPr txBox="1"/>
                <p:nvPr/>
              </p:nvSpPr>
              <p:spPr>
                <a:xfrm>
                  <a:off x="4154" y="517"/>
                  <a:ext cx="476" cy="33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0450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4" y="517"/>
                  <a:ext cx="476" cy="33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97138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/>
      <p:bldP spid="16896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44" name="Text Box 5"/>
              <p:cNvSpPr txBox="1"/>
              <p:nvPr/>
            </p:nvSpPr>
            <p:spPr>
              <a:xfrm>
                <a:off x="7766648" y="4816457"/>
                <a:ext cx="2786063" cy="9541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dirty="0"/>
                  <a:t>：真空圆柱形电容器电容</a:t>
                </a:r>
              </a:p>
            </p:txBody>
          </p:sp>
        </mc:Choice>
        <mc:Fallback xmlns="">
          <p:sp>
            <p:nvSpPr>
              <p:cNvPr id="6144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6648" y="4816457"/>
                <a:ext cx="2786063" cy="954107"/>
              </a:xfrm>
              <a:prstGeom prst="rect">
                <a:avLst/>
              </a:prstGeom>
              <a:blipFill>
                <a:blip r:embed="rId2"/>
                <a:stretch>
                  <a:fillRect l="-4376" t="-6369" r="-219" b="-16561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990" name="Text Box 6"/>
          <p:cNvSpPr txBox="1"/>
          <p:nvPr/>
        </p:nvSpPr>
        <p:spPr>
          <a:xfrm>
            <a:off x="1676400" y="2819400"/>
            <a:ext cx="4191000" cy="5232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（３）由（１）可知</a:t>
            </a:r>
          </a:p>
        </p:txBody>
      </p:sp>
      <p:grpSp>
        <p:nvGrpSpPr>
          <p:cNvPr id="3" name="Group 7"/>
          <p:cNvGrpSpPr/>
          <p:nvPr/>
        </p:nvGrpSpPr>
        <p:grpSpPr>
          <a:xfrm>
            <a:off x="5484814" y="2552700"/>
            <a:ext cx="5031196" cy="1181100"/>
            <a:chOff x="2399" y="1512"/>
            <a:chExt cx="3336" cy="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447" name="Object 8"/>
                <p:cNvSpPr txBox="1"/>
                <p:nvPr/>
              </p:nvSpPr>
              <p:spPr>
                <a:xfrm>
                  <a:off x="2399" y="1512"/>
                  <a:ext cx="1441" cy="74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sub>
                            </m:s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447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9" y="1512"/>
                  <a:ext cx="1441" cy="74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448" name="Object 9"/>
                <p:cNvSpPr txBox="1"/>
                <p:nvPr/>
              </p:nvSpPr>
              <p:spPr>
                <a:xfrm>
                  <a:off x="3984" y="1680"/>
                  <a:ext cx="1751" cy="34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448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4" y="1680"/>
                  <a:ext cx="1751" cy="34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9994" name="Object 10"/>
              <p:cNvSpPr txBox="1"/>
              <p:nvPr/>
            </p:nvSpPr>
            <p:spPr>
              <a:xfrm>
                <a:off x="1925638" y="3505200"/>
                <a:ext cx="5008562" cy="11303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nary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999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638" y="3505200"/>
                <a:ext cx="5008562" cy="1130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995" name="Object 11"/>
              <p:cNvSpPr txBox="1"/>
              <p:nvPr/>
            </p:nvSpPr>
            <p:spPr>
              <a:xfrm>
                <a:off x="6373617" y="3556000"/>
                <a:ext cx="2786063" cy="104933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999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617" y="3556000"/>
                <a:ext cx="2786063" cy="10493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996" name="Object 12"/>
              <p:cNvSpPr txBox="1"/>
              <p:nvPr/>
            </p:nvSpPr>
            <p:spPr>
              <a:xfrm>
                <a:off x="3143856" y="4605339"/>
                <a:ext cx="2895600" cy="11652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9996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856" y="4605339"/>
                <a:ext cx="2895600" cy="11652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997" name="Object 13"/>
              <p:cNvSpPr txBox="1"/>
              <p:nvPr/>
            </p:nvSpPr>
            <p:spPr>
              <a:xfrm>
                <a:off x="2057400" y="4597400"/>
                <a:ext cx="1143000" cy="9652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999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4597400"/>
                <a:ext cx="1143000" cy="965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998" name="Object 14"/>
              <p:cNvSpPr txBox="1"/>
              <p:nvPr/>
            </p:nvSpPr>
            <p:spPr>
              <a:xfrm>
                <a:off x="5741715" y="4805363"/>
                <a:ext cx="1409700" cy="68421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lang="zh-CN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999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715" y="4805363"/>
                <a:ext cx="1409700" cy="6842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15"/>
          <p:cNvGrpSpPr/>
          <p:nvPr/>
        </p:nvGrpSpPr>
        <p:grpSpPr>
          <a:xfrm>
            <a:off x="1864972" y="5653092"/>
            <a:ext cx="5486400" cy="1139825"/>
            <a:chOff x="336" y="3410"/>
            <a:chExt cx="3456" cy="7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455" name="Object 16"/>
                <p:cNvSpPr txBox="1"/>
                <p:nvPr/>
              </p:nvSpPr>
              <p:spPr>
                <a:xfrm>
                  <a:off x="1799" y="3410"/>
                  <a:ext cx="1993" cy="71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den>
                        </m:f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lin"/>
                            <m:ctrl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sub>
                            </m:sSub>
                          </m:num>
                          <m:den>
                            <m:func>
                              <m:funcPr>
                                <m:ctrlPr>
                                  <a:rPr lang="zh-CN" alt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zh-CN" alt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zh-CN" altLang="en-US" sz="2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func>
                          </m:den>
                        </m:f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455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9" y="3410"/>
                  <a:ext cx="1993" cy="71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456" name="Text Box 17"/>
            <p:cNvSpPr txBox="1"/>
            <p:nvPr/>
          </p:nvSpPr>
          <p:spPr>
            <a:xfrm>
              <a:off x="336" y="3552"/>
              <a:ext cx="177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/>
                <a:t>单位长度电容</a:t>
              </a:r>
            </a:p>
          </p:txBody>
        </p:sp>
      </p:grpSp>
      <p:grpSp>
        <p:nvGrpSpPr>
          <p:cNvPr id="61457" name="Group 18"/>
          <p:cNvGrpSpPr/>
          <p:nvPr/>
        </p:nvGrpSpPr>
        <p:grpSpPr>
          <a:xfrm>
            <a:off x="2514600" y="685800"/>
            <a:ext cx="7239000" cy="1905000"/>
            <a:chOff x="912" y="480"/>
            <a:chExt cx="4032" cy="1104"/>
          </a:xfrm>
        </p:grpSpPr>
        <p:sp>
          <p:nvSpPr>
            <p:cNvPr id="61458" name="Rectangle 19"/>
            <p:cNvSpPr/>
            <p:nvPr/>
          </p:nvSpPr>
          <p:spPr>
            <a:xfrm>
              <a:off x="912" y="480"/>
              <a:ext cx="4032" cy="110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0004" name="AutoShape 20"/>
            <p:cNvSpPr>
              <a:spLocks noChangeArrowheads="1"/>
            </p:cNvSpPr>
            <p:nvPr/>
          </p:nvSpPr>
          <p:spPr bwMode="auto">
            <a:xfrm rot="16200000" flipH="1">
              <a:off x="3476" y="27"/>
              <a:ext cx="293" cy="2016"/>
            </a:xfrm>
            <a:prstGeom prst="can">
              <a:avLst>
                <a:gd name="adj" fmla="val 44667"/>
              </a:avLst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5400000" scaled="1"/>
            </a:gradFill>
            <a:ln w="28575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800" b="1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60" name="AutoShape 21"/>
            <p:cNvSpPr/>
            <p:nvPr/>
          </p:nvSpPr>
          <p:spPr>
            <a:xfrm rot="-5400000" flipH="1">
              <a:off x="3289" y="466"/>
              <a:ext cx="589" cy="1136"/>
            </a:xfrm>
            <a:prstGeom prst="can">
              <a:avLst>
                <a:gd name="adj" fmla="val 31213"/>
              </a:avLst>
            </a:prstGeom>
            <a:noFill/>
            <a:ln w="28575" cap="flat" cmpd="sng">
              <a:solidFill>
                <a:srgbClr val="0000CC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61" name="Oval 22"/>
            <p:cNvSpPr/>
            <p:nvPr/>
          </p:nvSpPr>
          <p:spPr>
            <a:xfrm>
              <a:off x="2614" y="889"/>
              <a:ext cx="130" cy="294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62" name="AutoShape 23"/>
            <p:cNvSpPr/>
            <p:nvPr/>
          </p:nvSpPr>
          <p:spPr>
            <a:xfrm>
              <a:off x="1258" y="668"/>
              <a:ext cx="733" cy="7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0" b="0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93" y="10800"/>
                  </a:moveTo>
                  <a:cubicBezTo>
                    <a:pt x="6593" y="13123"/>
                    <a:pt x="8477" y="15007"/>
                    <a:pt x="10800" y="15007"/>
                  </a:cubicBezTo>
                  <a:cubicBezTo>
                    <a:pt x="13123" y="15007"/>
                    <a:pt x="15007" y="13123"/>
                    <a:pt x="15007" y="10800"/>
                  </a:cubicBezTo>
                  <a:cubicBezTo>
                    <a:pt x="15007" y="8477"/>
                    <a:pt x="13123" y="6593"/>
                    <a:pt x="10800" y="6593"/>
                  </a:cubicBezTo>
                  <a:cubicBezTo>
                    <a:pt x="8477" y="6593"/>
                    <a:pt x="6593" y="8477"/>
                    <a:pt x="6593" y="1080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3" name="Oval 24"/>
            <p:cNvSpPr/>
            <p:nvPr/>
          </p:nvSpPr>
          <p:spPr>
            <a:xfrm>
              <a:off x="1347" y="760"/>
              <a:ext cx="550" cy="552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64" name="Line 25"/>
            <p:cNvSpPr/>
            <p:nvPr/>
          </p:nvSpPr>
          <p:spPr>
            <a:xfrm flipV="1">
              <a:off x="1624" y="1036"/>
              <a:ext cx="147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61465" name="Line 26"/>
            <p:cNvSpPr/>
            <p:nvPr/>
          </p:nvSpPr>
          <p:spPr>
            <a:xfrm flipH="1">
              <a:off x="1258" y="1036"/>
              <a:ext cx="366" cy="14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61466" name="Freeform 27"/>
            <p:cNvSpPr/>
            <p:nvPr/>
          </p:nvSpPr>
          <p:spPr>
            <a:xfrm>
              <a:off x="1405" y="852"/>
              <a:ext cx="219" cy="184"/>
            </a:xfrm>
            <a:custGeom>
              <a:avLst/>
              <a:gdLst/>
              <a:ahLst/>
              <a:cxnLst>
                <a:cxn ang="0">
                  <a:pos x="168" y="166"/>
                </a:cxn>
                <a:cxn ang="0">
                  <a:pos x="0" y="0"/>
                </a:cxn>
              </a:cxnLst>
              <a:rect l="0" t="0" r="0" b="0"/>
              <a:pathLst>
                <a:path w="286" h="204">
                  <a:moveTo>
                    <a:pt x="286" y="204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467" name="Object 28"/>
                <p:cNvSpPr txBox="1"/>
                <p:nvPr/>
              </p:nvSpPr>
              <p:spPr>
                <a:xfrm>
                  <a:off x="1718" y="811"/>
                  <a:ext cx="315" cy="38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1467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8" y="811"/>
                  <a:ext cx="315" cy="38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468" name="Object 29"/>
                <p:cNvSpPr txBox="1"/>
                <p:nvPr/>
              </p:nvSpPr>
              <p:spPr>
                <a:xfrm>
                  <a:off x="1059" y="1057"/>
                  <a:ext cx="272" cy="31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1468" name="Object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9" y="1057"/>
                  <a:ext cx="272" cy="3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469" name="Object 30"/>
                <p:cNvSpPr txBox="1"/>
                <p:nvPr/>
              </p:nvSpPr>
              <p:spPr>
                <a:xfrm>
                  <a:off x="1148" y="637"/>
                  <a:ext cx="258" cy="28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1469" name="Object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8" y="637"/>
                  <a:ext cx="258" cy="28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470" name="Line 31"/>
            <p:cNvSpPr/>
            <p:nvPr/>
          </p:nvSpPr>
          <p:spPr>
            <a:xfrm>
              <a:off x="1588" y="668"/>
              <a:ext cx="1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61471" name="Line 32"/>
            <p:cNvSpPr/>
            <p:nvPr/>
          </p:nvSpPr>
          <p:spPr>
            <a:xfrm>
              <a:off x="1588" y="1404"/>
              <a:ext cx="1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61472" name="Line 33"/>
            <p:cNvSpPr/>
            <p:nvPr/>
          </p:nvSpPr>
          <p:spPr>
            <a:xfrm>
              <a:off x="1624" y="889"/>
              <a:ext cx="113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61473" name="Line 34"/>
            <p:cNvSpPr/>
            <p:nvPr/>
          </p:nvSpPr>
          <p:spPr>
            <a:xfrm>
              <a:off x="1588" y="1183"/>
              <a:ext cx="11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61474" name="Line 35"/>
            <p:cNvSpPr/>
            <p:nvPr/>
          </p:nvSpPr>
          <p:spPr>
            <a:xfrm>
              <a:off x="1661" y="741"/>
              <a:ext cx="157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61475" name="Line 36"/>
            <p:cNvSpPr/>
            <p:nvPr/>
          </p:nvSpPr>
          <p:spPr>
            <a:xfrm>
              <a:off x="1624" y="1330"/>
              <a:ext cx="157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sp>
          <p:nvSpPr>
            <p:cNvPr id="170021" name="AutoShape 37"/>
            <p:cNvSpPr>
              <a:spLocks noChangeArrowheads="1"/>
            </p:cNvSpPr>
            <p:nvPr/>
          </p:nvSpPr>
          <p:spPr bwMode="auto">
            <a:xfrm rot="16200000" flipH="1">
              <a:off x="2862" y="895"/>
              <a:ext cx="294" cy="277"/>
            </a:xfrm>
            <a:prstGeom prst="can">
              <a:avLst>
                <a:gd name="adj" fmla="val 0"/>
              </a:avLst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5000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5400000" scaled="1"/>
            </a:gradFill>
            <a:ln w="28575">
              <a:noFill/>
              <a:round/>
              <a:headEnd type="none" w="sm" len="lg"/>
              <a:tailEnd type="none" w="sm" len="lg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800" b="1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77" name="AutoShape 38"/>
            <p:cNvSpPr/>
            <p:nvPr/>
          </p:nvSpPr>
          <p:spPr>
            <a:xfrm rot="-5400000" flipH="1">
              <a:off x="3238" y="-86"/>
              <a:ext cx="736" cy="2236"/>
            </a:xfrm>
            <a:prstGeom prst="can">
              <a:avLst>
                <a:gd name="adj" fmla="val 49171"/>
              </a:avLst>
            </a:prstGeom>
            <a:solidFill>
              <a:srgbClr val="DDDDDD">
                <a:alpha val="50195"/>
              </a:srgbClr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478" name="Object 39"/>
                <p:cNvSpPr txBox="1"/>
                <p:nvPr/>
              </p:nvSpPr>
              <p:spPr>
                <a:xfrm>
                  <a:off x="4190" y="889"/>
                  <a:ext cx="477" cy="33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1478" name="Object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0" y="889"/>
                  <a:ext cx="477" cy="33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479" name="Object 40"/>
                <p:cNvSpPr txBox="1"/>
                <p:nvPr/>
              </p:nvSpPr>
              <p:spPr>
                <a:xfrm>
                  <a:off x="4154" y="517"/>
                  <a:ext cx="476" cy="33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1479" name="Object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4" y="517"/>
                  <a:ext cx="476" cy="335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7280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4" grpId="0"/>
      <p:bldP spid="169994" grpId="0"/>
      <p:bldP spid="169995" grpId="0"/>
      <p:bldP spid="169996" grpId="0"/>
      <p:bldP spid="169997" grpId="0"/>
      <p:bldP spid="16999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5449444" y="1911963"/>
            <a:ext cx="6626130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华文楷体" panose="02010600040101010101" pitchFamily="2" charset="-122"/>
              </a:rPr>
              <a:t>- </a:t>
            </a: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</a:rPr>
              <a:t>存在于导线与导线、元件与元件、元件与金属外壳等之间的电容。</a:t>
            </a:r>
            <a:br>
              <a:rPr lang="en-US" altLang="zh-CN" dirty="0">
                <a:solidFill>
                  <a:srgbClr val="000000"/>
                </a:solidFill>
                <a:latin typeface="华文楷体" panose="02010600040101010101" pitchFamily="2" charset="-122"/>
              </a:rPr>
            </a:br>
            <a:endParaRPr lang="zh-CN" altLang="en-US" dirty="0">
              <a:latin typeface="华文楷体" panose="02010600040101010101" pitchFamily="2" charset="-122"/>
            </a:endParaRPr>
          </a:p>
        </p:txBody>
      </p:sp>
      <p:pic>
        <p:nvPicPr>
          <p:cNvPr id="6146" name="Picture 2" descr="d147ccb3052beabf69f0018feb8cf42a.png">
            <a:extLst>
              <a:ext uri="{FF2B5EF4-FFF2-40B4-BE49-F238E27FC236}">
                <a16:creationId xmlns:a16="http://schemas.microsoft.com/office/drawing/2014/main" id="{36D55C01-4717-44FD-A65B-68D000700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20" y="1766152"/>
            <a:ext cx="4553166" cy="342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5A76E44-F360-453A-90FC-9461BE13F128}"/>
              </a:ext>
            </a:extLst>
          </p:cNvPr>
          <p:cNvSpPr/>
          <p:nvPr/>
        </p:nvSpPr>
        <p:spPr>
          <a:xfrm>
            <a:off x="5468546" y="3348318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分布电容较小，只在高频电路中产生明显作用。</a:t>
            </a:r>
            <a:endParaRPr 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05A6D26-B734-FF6B-FF64-982A3BC8AA99}"/>
              </a:ext>
            </a:extLst>
          </p:cNvPr>
          <p:cNvSpPr txBox="1">
            <a:spLocks/>
          </p:cNvSpPr>
          <p:nvPr/>
        </p:nvSpPr>
        <p:spPr>
          <a:xfrm>
            <a:off x="-251171" y="576361"/>
            <a:ext cx="4571869" cy="686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杂散电容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0017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96200" y="1447800"/>
            <a:ext cx="2819400" cy="4953000"/>
            <a:chOff x="3888" y="912"/>
            <a:chExt cx="1776" cy="3120"/>
          </a:xfrm>
        </p:grpSpPr>
        <p:sp>
          <p:nvSpPr>
            <p:cNvPr id="39938" name="Rectangle 3"/>
            <p:cNvSpPr/>
            <p:nvPr/>
          </p:nvSpPr>
          <p:spPr>
            <a:xfrm>
              <a:off x="3888" y="912"/>
              <a:ext cx="1776" cy="3120"/>
            </a:xfrm>
            <a:prstGeom prst="rect">
              <a:avLst/>
            </a:prstGeom>
            <a:solidFill>
              <a:schemeClr val="bg1"/>
            </a:solidFill>
            <a:ln w="952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sz="2800" dirty="0"/>
            </a:p>
          </p:txBody>
        </p:sp>
        <p:grpSp>
          <p:nvGrpSpPr>
            <p:cNvPr id="39939" name="Group 4"/>
            <p:cNvGrpSpPr/>
            <p:nvPr/>
          </p:nvGrpSpPr>
          <p:grpSpPr>
            <a:xfrm>
              <a:off x="3936" y="1056"/>
              <a:ext cx="1296" cy="2847"/>
              <a:chOff x="3936" y="1056"/>
              <a:chExt cx="1296" cy="2847"/>
            </a:xfrm>
          </p:grpSpPr>
          <p:sp>
            <p:nvSpPr>
              <p:cNvPr id="149509" name="AutoShape 5"/>
              <p:cNvSpPr>
                <a:spLocks noChangeArrowheads="1"/>
              </p:cNvSpPr>
              <p:nvPr/>
            </p:nvSpPr>
            <p:spPr bwMode="auto">
              <a:xfrm>
                <a:off x="4320" y="1152"/>
                <a:ext cx="144" cy="2721"/>
              </a:xfrm>
              <a:prstGeom prst="can">
                <a:avLst>
                  <a:gd name="adj" fmla="val 66398"/>
                </a:avLst>
              </a:prstGeom>
              <a:gradFill rotWithShape="0">
                <a:gsLst>
                  <a:gs pos="0">
                    <a:schemeClr val="bg1">
                      <a:gamma/>
                      <a:shade val="45882"/>
                      <a:invGamma/>
                    </a:schemeClr>
                  </a:gs>
                  <a:gs pos="50000">
                    <a:schemeClr val="bg1"/>
                  </a:gs>
                  <a:gs pos="100000">
                    <a:schemeClr val="bg1">
                      <a:gamma/>
                      <a:shade val="45882"/>
                      <a:invGamma/>
                    </a:schemeClr>
                  </a:gs>
                </a:gsLst>
                <a:lin ang="0" scaled="1"/>
              </a:gra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800" b="1">
                  <a:solidFill>
                    <a:srgbClr val="1C1C1C"/>
                  </a:solidFill>
                </a:endParaRPr>
              </a:p>
            </p:txBody>
          </p:sp>
          <p:sp>
            <p:nvSpPr>
              <p:cNvPr id="149510" name="AutoShape 6"/>
              <p:cNvSpPr>
                <a:spLocks noChangeArrowheads="1"/>
              </p:cNvSpPr>
              <p:nvPr/>
            </p:nvSpPr>
            <p:spPr bwMode="auto">
              <a:xfrm>
                <a:off x="5088" y="1152"/>
                <a:ext cx="144" cy="2721"/>
              </a:xfrm>
              <a:prstGeom prst="can">
                <a:avLst>
                  <a:gd name="adj" fmla="val 66398"/>
                </a:avLst>
              </a:prstGeom>
              <a:gradFill rotWithShape="0">
                <a:gsLst>
                  <a:gs pos="0">
                    <a:schemeClr val="bg1">
                      <a:gamma/>
                      <a:shade val="45882"/>
                      <a:invGamma/>
                    </a:schemeClr>
                  </a:gs>
                  <a:gs pos="50000">
                    <a:schemeClr val="bg1"/>
                  </a:gs>
                  <a:gs pos="100000">
                    <a:schemeClr val="bg1">
                      <a:gamma/>
                      <a:shade val="45882"/>
                      <a:invGamma/>
                    </a:schemeClr>
                  </a:gs>
                </a:gsLst>
                <a:lin ang="0" scaled="1"/>
              </a:gradFill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800" b="1">
                  <a:solidFill>
                    <a:srgbClr val="1C1C1C"/>
                  </a:solidFill>
                </a:endParaRPr>
              </a:p>
            </p:txBody>
          </p:sp>
          <p:grpSp>
            <p:nvGrpSpPr>
              <p:cNvPr id="39942" name="Group 7"/>
              <p:cNvGrpSpPr/>
              <p:nvPr/>
            </p:nvGrpSpPr>
            <p:grpSpPr>
              <a:xfrm>
                <a:off x="3936" y="1056"/>
                <a:ext cx="816" cy="304"/>
                <a:chOff x="3936" y="1152"/>
                <a:chExt cx="816" cy="304"/>
              </a:xfrm>
            </p:grpSpPr>
            <p:sp>
              <p:nvSpPr>
                <p:cNvPr id="39943" name="Line 8"/>
                <p:cNvSpPr/>
                <p:nvPr/>
              </p:nvSpPr>
              <p:spPr>
                <a:xfrm>
                  <a:off x="3984" y="1456"/>
                  <a:ext cx="336" cy="0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sm" len="lg"/>
                  <a:tailEnd type="triangle" w="sm" len="lg"/>
                </a:ln>
              </p:spPr>
            </p:sp>
            <p:sp>
              <p:nvSpPr>
                <p:cNvPr id="39944" name="Line 9"/>
                <p:cNvSpPr/>
                <p:nvPr/>
              </p:nvSpPr>
              <p:spPr>
                <a:xfrm flipH="1">
                  <a:off x="4464" y="1456"/>
                  <a:ext cx="288" cy="0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none" w="sm" len="lg"/>
                  <a:tailEnd type="triangle" w="sm" len="lg"/>
                </a:ln>
              </p:spPr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945" name="Object 10"/>
                    <p:cNvSpPr txBox="1"/>
                    <p:nvPr/>
                  </p:nvSpPr>
                  <p:spPr>
                    <a:xfrm>
                      <a:off x="3936" y="1152"/>
                      <a:ext cx="384" cy="256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rmAutofit fontScale="70000" lnSpcReduction="20000"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oMath>
                        </m:oMathPara>
                      </a14:m>
                      <a:endParaRPr lang="zh-CN" altLang="en-US" sz="2800"/>
                    </a:p>
                  </p:txBody>
                </p:sp>
              </mc:Choice>
              <mc:Fallback xmlns="">
                <p:sp>
                  <p:nvSpPr>
                    <p:cNvPr id="39945" name="Object 1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36" y="1152"/>
                      <a:ext cx="384" cy="256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9946" name="Group 11"/>
              <p:cNvGrpSpPr/>
              <p:nvPr/>
            </p:nvGrpSpPr>
            <p:grpSpPr>
              <a:xfrm>
                <a:off x="4393" y="3600"/>
                <a:ext cx="791" cy="303"/>
                <a:chOff x="4393" y="3600"/>
                <a:chExt cx="791" cy="303"/>
              </a:xfrm>
            </p:grpSpPr>
            <p:sp>
              <p:nvSpPr>
                <p:cNvPr id="39947" name="Line 12"/>
                <p:cNvSpPr/>
                <p:nvPr/>
              </p:nvSpPr>
              <p:spPr>
                <a:xfrm>
                  <a:off x="4393" y="3600"/>
                  <a:ext cx="791" cy="0"/>
                </a:xfrm>
                <a:prstGeom prst="line">
                  <a:avLst/>
                </a:prstGeom>
                <a:ln w="19050" cap="flat" cmpd="sng">
                  <a:solidFill>
                    <a:srgbClr val="009900"/>
                  </a:solidFill>
                  <a:prstDash val="solid"/>
                  <a:round/>
                  <a:headEnd type="triangle" w="sm" len="lg"/>
                  <a:tailEnd type="triangle" w="sm" len="lg"/>
                </a:ln>
              </p:spPr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948" name="Object 13"/>
                    <p:cNvSpPr txBox="1"/>
                    <p:nvPr/>
                  </p:nvSpPr>
                  <p:spPr>
                    <a:xfrm>
                      <a:off x="4680" y="3615"/>
                      <a:ext cx="216" cy="288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rmAutofit fontScale="85000" lnSpcReduction="10000"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oMath>
                        </m:oMathPara>
                      </a14:m>
                      <a:endParaRPr lang="zh-CN" altLang="en-US" sz="2800"/>
                    </a:p>
                  </p:txBody>
                </p:sp>
              </mc:Choice>
              <mc:Fallback xmlns="">
                <p:sp>
                  <p:nvSpPr>
                    <p:cNvPr id="39948" name="Object 1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80" y="3615"/>
                      <a:ext cx="216" cy="288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5357" r="-10714"/>
                      </a:stretch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6" name="Group 14"/>
          <p:cNvGrpSpPr/>
          <p:nvPr/>
        </p:nvGrpSpPr>
        <p:grpSpPr>
          <a:xfrm>
            <a:off x="7696200" y="2209801"/>
            <a:ext cx="2794000" cy="842963"/>
            <a:chOff x="3888" y="1680"/>
            <a:chExt cx="1760" cy="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50" name="Object 15"/>
                <p:cNvSpPr txBox="1"/>
                <p:nvPr/>
              </p:nvSpPr>
              <p:spPr>
                <a:xfrm>
                  <a:off x="3888" y="1920"/>
                  <a:ext cx="416" cy="29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9950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8" y="1920"/>
                  <a:ext cx="416" cy="291"/>
                </a:xfrm>
                <a:prstGeom prst="rect">
                  <a:avLst/>
                </a:prstGeom>
                <a:blipFill>
                  <a:blip r:embed="rId4"/>
                  <a:stretch>
                    <a:fillRect l="-926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51" name="Object 16"/>
                <p:cNvSpPr txBox="1"/>
                <p:nvPr/>
              </p:nvSpPr>
              <p:spPr>
                <a:xfrm>
                  <a:off x="5232" y="1920"/>
                  <a:ext cx="416" cy="29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9951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2" y="1920"/>
                  <a:ext cx="416" cy="29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952" name="Line 17"/>
            <p:cNvSpPr/>
            <p:nvPr/>
          </p:nvSpPr>
          <p:spPr>
            <a:xfrm>
              <a:off x="4464" y="2064"/>
              <a:ext cx="624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53" name="Object 18"/>
                <p:cNvSpPr txBox="1"/>
                <p:nvPr/>
              </p:nvSpPr>
              <p:spPr>
                <a:xfrm>
                  <a:off x="4656" y="1680"/>
                  <a:ext cx="314" cy="39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9953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6" y="1680"/>
                  <a:ext cx="314" cy="39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523" name="Object 19"/>
              <p:cNvSpPr txBox="1"/>
              <p:nvPr/>
            </p:nvSpPr>
            <p:spPr>
              <a:xfrm>
                <a:off x="1506536" y="2067060"/>
                <a:ext cx="6019800" cy="116363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9523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536" y="2067060"/>
                <a:ext cx="6019800" cy="11636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524" name="Object 20"/>
              <p:cNvSpPr txBox="1"/>
              <p:nvPr/>
            </p:nvSpPr>
            <p:spPr>
              <a:xfrm>
                <a:off x="1676400" y="3124201"/>
                <a:ext cx="5943600" cy="124936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nary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49524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124201"/>
                <a:ext cx="5943600" cy="1249363"/>
              </a:xfrm>
              <a:prstGeom prst="rect">
                <a:avLst/>
              </a:prstGeom>
              <a:blipFill>
                <a:blip r:embed="rId8"/>
                <a:stretch>
                  <a:fillRect b="-490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525" name="Object 21"/>
              <p:cNvSpPr txBox="1"/>
              <p:nvPr/>
            </p:nvSpPr>
            <p:spPr>
              <a:xfrm>
                <a:off x="2416176" y="4425950"/>
                <a:ext cx="4670425" cy="11366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9525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176" y="4425950"/>
                <a:ext cx="4670425" cy="11366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22"/>
          <p:cNvGrpSpPr/>
          <p:nvPr/>
        </p:nvGrpSpPr>
        <p:grpSpPr>
          <a:xfrm>
            <a:off x="1752600" y="5486400"/>
            <a:ext cx="5638800" cy="1049338"/>
            <a:chOff x="48" y="3456"/>
            <a:chExt cx="3552" cy="661"/>
          </a:xfrm>
        </p:grpSpPr>
        <p:sp>
          <p:nvSpPr>
            <p:cNvPr id="39958" name="Rectangle 23"/>
            <p:cNvSpPr/>
            <p:nvPr/>
          </p:nvSpPr>
          <p:spPr>
            <a:xfrm>
              <a:off x="48" y="3600"/>
              <a:ext cx="1920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800" dirty="0"/>
                <a:t>单位长度的</a:t>
              </a:r>
              <a:r>
                <a:rPr lang="zh-CN" altLang="zh-CN" sz="2800" dirty="0">
                  <a:solidFill>
                    <a:srgbClr val="CC0000"/>
                  </a:solidFill>
                </a:rPr>
                <a:t>电容</a:t>
              </a:r>
              <a:endParaRPr lang="zh-CN" altLang="en-US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59" name="Object 24"/>
                <p:cNvSpPr txBox="1"/>
                <p:nvPr/>
              </p:nvSpPr>
              <p:spPr>
                <a:xfrm>
                  <a:off x="1776" y="3456"/>
                  <a:ext cx="1824" cy="66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den>
                        </m:f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lin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func>
                              <m:func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den>
                                </m:f>
                              </m:e>
                            </m:func>
                          </m:den>
                        </m:f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959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6" y="3456"/>
                  <a:ext cx="1824" cy="66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25"/>
          <p:cNvGrpSpPr/>
          <p:nvPr/>
        </p:nvGrpSpPr>
        <p:grpSpPr>
          <a:xfrm>
            <a:off x="1277938" y="1552595"/>
            <a:ext cx="5705475" cy="1169988"/>
            <a:chOff x="240" y="1008"/>
            <a:chExt cx="3594" cy="7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61" name="Text Box 26"/>
                <p:cNvSpPr txBox="1"/>
                <p:nvPr/>
              </p:nvSpPr>
              <p:spPr>
                <a:xfrm>
                  <a:off x="240" y="1008"/>
                  <a:ext cx="3498" cy="7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anchor="t" anchorCtr="0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 dirty="0"/>
                    <a:t>设两金属线的电荷线密度为</a:t>
                  </a:r>
                  <a14:m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a14:m>
                  <a:endParaRPr lang="zh-CN" altLang="en-US" sz="2800" dirty="0"/>
                </a:p>
                <a:p>
                  <a:pPr>
                    <a:spcBef>
                      <a:spcPct val="50000"/>
                    </a:spcBef>
                  </a:pPr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9961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" y="1008"/>
                  <a:ext cx="3498" cy="737"/>
                </a:xfrm>
                <a:prstGeom prst="rect">
                  <a:avLst/>
                </a:prstGeom>
                <a:blipFill>
                  <a:blip r:embed="rId11"/>
                  <a:stretch>
                    <a:fillRect l="-2305" t="-5729"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962" name="Object 27"/>
            <p:cNvSpPr txBox="1"/>
            <p:nvPr/>
          </p:nvSpPr>
          <p:spPr>
            <a:xfrm>
              <a:off x="3354" y="1041"/>
              <a:ext cx="480" cy="303"/>
            </a:xfrm>
            <a:prstGeom prst="rect">
              <a:avLst/>
            </a:prstGeom>
            <a:noFill/>
            <a:ln w="38100">
              <a:noFill/>
              <a:miter/>
            </a:ln>
          </p:spPr>
          <p:txBody>
            <a:bodyPr>
              <a:normAutofit fontScale="92500" lnSpcReduction="10000"/>
            </a:bodyPr>
            <a:lstStyle/>
            <a:p>
              <a:endParaRPr lang="zh-CN" altLang="en-US" sz="2800" dirty="0"/>
            </a:p>
          </p:txBody>
        </p:sp>
      </p:grpSp>
      <p:grpSp>
        <p:nvGrpSpPr>
          <p:cNvPr id="9" name="Group 28"/>
          <p:cNvGrpSpPr/>
          <p:nvPr/>
        </p:nvGrpSpPr>
        <p:grpSpPr>
          <a:xfrm>
            <a:off x="8720138" y="4546600"/>
            <a:ext cx="881062" cy="939800"/>
            <a:chOff x="4533" y="2976"/>
            <a:chExt cx="555" cy="592"/>
          </a:xfrm>
        </p:grpSpPr>
        <p:sp>
          <p:nvSpPr>
            <p:cNvPr id="39964" name="Line 29"/>
            <p:cNvSpPr/>
            <p:nvPr/>
          </p:nvSpPr>
          <p:spPr>
            <a:xfrm>
              <a:off x="4533" y="3360"/>
              <a:ext cx="28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39965" name="Line 30"/>
            <p:cNvSpPr/>
            <p:nvPr/>
          </p:nvSpPr>
          <p:spPr>
            <a:xfrm>
              <a:off x="4533" y="3168"/>
              <a:ext cx="28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66" name="Object 31"/>
                <p:cNvSpPr txBox="1"/>
                <p:nvPr/>
              </p:nvSpPr>
              <p:spPr>
                <a:xfrm>
                  <a:off x="4821" y="2976"/>
                  <a:ext cx="267" cy="30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9966" name="Object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" y="2976"/>
                  <a:ext cx="267" cy="30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67" name="Object 32"/>
                <p:cNvSpPr txBox="1"/>
                <p:nvPr/>
              </p:nvSpPr>
              <p:spPr>
                <a:xfrm>
                  <a:off x="4821" y="3264"/>
                  <a:ext cx="257" cy="30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9967" name="Object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1" y="3264"/>
                  <a:ext cx="257" cy="30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968" name="Object 35"/>
          <p:cNvSpPr txBox="1"/>
          <p:nvPr/>
        </p:nvSpPr>
        <p:spPr>
          <a:xfrm>
            <a:off x="5017294" y="-790415"/>
            <a:ext cx="430212" cy="457200"/>
          </a:xfrm>
          <a:prstGeom prst="rect">
            <a:avLst/>
          </a:prstGeom>
          <a:noFill/>
          <a:ln w="38100">
            <a:noFill/>
            <a:miter/>
          </a:ln>
        </p:spPr>
        <p:txBody>
          <a:bodyPr>
            <a:normAutofit fontScale="92500" lnSpcReduction="10000"/>
          </a:bodyPr>
          <a:lstStyle/>
          <a:p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69" name="Text Box 34"/>
              <p:cNvSpPr txBox="1"/>
              <p:nvPr/>
            </p:nvSpPr>
            <p:spPr>
              <a:xfrm>
                <a:off x="6983413" y="480067"/>
                <a:ext cx="4706936" cy="9541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/>
                  <a:t>两半径为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800" dirty="0"/>
                  <a:t>的平行长直导线中心间距为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2800" dirty="0"/>
                  <a:t>，且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&gt;&gt;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9969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413" y="480067"/>
                <a:ext cx="4706936" cy="954107"/>
              </a:xfrm>
              <a:prstGeom prst="rect">
                <a:avLst/>
              </a:prstGeom>
              <a:blipFill>
                <a:blip r:embed="rId14"/>
                <a:stretch>
                  <a:fillRect l="-2720" t="-7051" r="-1684" b="-17308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70" name="Object 36"/>
          <p:cNvSpPr txBox="1"/>
          <p:nvPr/>
        </p:nvSpPr>
        <p:spPr>
          <a:xfrm>
            <a:off x="6559552" y="1122382"/>
            <a:ext cx="400050" cy="533400"/>
          </a:xfrm>
          <a:prstGeom prst="rect">
            <a:avLst/>
          </a:prstGeom>
          <a:noFill/>
          <a:ln w="38100">
            <a:noFill/>
            <a:miter/>
          </a:ln>
        </p:spPr>
        <p:txBody>
          <a:bodyPr>
            <a:normAutofit/>
          </a:bodyPr>
          <a:lstStyle/>
          <a:p>
            <a:endParaRPr lang="zh-CN" altLang="en-US" sz="2800" dirty="0"/>
          </a:p>
        </p:txBody>
      </p:sp>
      <p:sp>
        <p:nvSpPr>
          <p:cNvPr id="39971" name="Object 37"/>
          <p:cNvSpPr txBox="1"/>
          <p:nvPr/>
        </p:nvSpPr>
        <p:spPr>
          <a:xfrm>
            <a:off x="3862388" y="1052513"/>
            <a:ext cx="1370012" cy="457200"/>
          </a:xfrm>
          <a:prstGeom prst="rect">
            <a:avLst/>
          </a:prstGeom>
          <a:noFill/>
          <a:ln w="38100">
            <a:noFill/>
            <a:miter/>
          </a:ln>
        </p:spPr>
        <p:txBody>
          <a:bodyPr>
            <a:normAutofit fontScale="92500" lnSpcReduction="10000"/>
          </a:bodyPr>
          <a:lstStyle/>
          <a:p>
            <a:endParaRPr lang="zh-CN" altLang="en-US" sz="2800" dirty="0"/>
          </a:p>
        </p:txBody>
      </p:sp>
      <p:grpSp>
        <p:nvGrpSpPr>
          <p:cNvPr id="10" name="Group 38"/>
          <p:cNvGrpSpPr/>
          <p:nvPr/>
        </p:nvGrpSpPr>
        <p:grpSpPr>
          <a:xfrm>
            <a:off x="7878764" y="3124200"/>
            <a:ext cx="2560637" cy="1073150"/>
            <a:chOff x="4032" y="2064"/>
            <a:chExt cx="1613" cy="676"/>
          </a:xfrm>
        </p:grpSpPr>
        <p:sp>
          <p:nvSpPr>
            <p:cNvPr id="39973" name="Line 39"/>
            <p:cNvSpPr/>
            <p:nvPr/>
          </p:nvSpPr>
          <p:spPr>
            <a:xfrm>
              <a:off x="4416" y="2404"/>
              <a:ext cx="1200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74" name="Object 40"/>
                <p:cNvSpPr txBox="1"/>
                <p:nvPr/>
              </p:nvSpPr>
              <p:spPr>
                <a:xfrm>
                  <a:off x="4032" y="2260"/>
                  <a:ext cx="292" cy="33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9974" name="Object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2" y="2260"/>
                  <a:ext cx="292" cy="336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75" name="Object 41"/>
                <p:cNvSpPr txBox="1"/>
                <p:nvPr/>
              </p:nvSpPr>
              <p:spPr>
                <a:xfrm>
                  <a:off x="5376" y="2452"/>
                  <a:ext cx="269" cy="28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9975" name="Object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6" y="2452"/>
                  <a:ext cx="269" cy="28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76" name="Object 42"/>
                <p:cNvSpPr txBox="1"/>
                <p:nvPr/>
              </p:nvSpPr>
              <p:spPr>
                <a:xfrm>
                  <a:off x="4582" y="2064"/>
                  <a:ext cx="314" cy="34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9976" name="Object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2" y="2064"/>
                  <a:ext cx="314" cy="34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977" name="Oval 43"/>
            <p:cNvSpPr/>
            <p:nvPr/>
          </p:nvSpPr>
          <p:spPr>
            <a:xfrm>
              <a:off x="4656" y="2356"/>
              <a:ext cx="73" cy="73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sz="2800" dirty="0"/>
            </a:p>
          </p:txBody>
        </p:sp>
      </p:grpSp>
      <p:grpSp>
        <p:nvGrpSpPr>
          <p:cNvPr id="11" name="Group 44"/>
          <p:cNvGrpSpPr/>
          <p:nvPr/>
        </p:nvGrpSpPr>
        <p:grpSpPr>
          <a:xfrm>
            <a:off x="8494714" y="3657600"/>
            <a:ext cx="1373187" cy="762000"/>
            <a:chOff x="4415" y="2400"/>
            <a:chExt cx="817" cy="480"/>
          </a:xfrm>
        </p:grpSpPr>
        <p:sp>
          <p:nvSpPr>
            <p:cNvPr id="39979" name="AutoShape 45"/>
            <p:cNvSpPr/>
            <p:nvPr/>
          </p:nvSpPr>
          <p:spPr>
            <a:xfrm rot="5553077">
              <a:off x="4825" y="2281"/>
              <a:ext cx="188" cy="432"/>
            </a:xfrm>
            <a:prstGeom prst="rightBrace">
              <a:avLst>
                <a:gd name="adj1" fmla="val 19138"/>
                <a:gd name="adj2" fmla="val 48356"/>
              </a:avLst>
            </a:prstGeom>
            <a:noFill/>
            <a:ln w="28575" cap="flat" cmpd="sng">
              <a:solidFill>
                <a:srgbClr val="CC00CC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sz="2800" dirty="0"/>
            </a:p>
          </p:txBody>
        </p:sp>
        <p:sp>
          <p:nvSpPr>
            <p:cNvPr id="39980" name="AutoShape 46"/>
            <p:cNvSpPr/>
            <p:nvPr/>
          </p:nvSpPr>
          <p:spPr>
            <a:xfrm rot="-5463981">
              <a:off x="4462" y="2354"/>
              <a:ext cx="194" cy="288"/>
            </a:xfrm>
            <a:prstGeom prst="leftBrace">
              <a:avLst>
                <a:gd name="adj1" fmla="val 12364"/>
                <a:gd name="adj2" fmla="val 47282"/>
              </a:avLst>
            </a:pr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81" name="Object 47"/>
                <p:cNvSpPr txBox="1"/>
                <p:nvPr/>
              </p:nvSpPr>
              <p:spPr>
                <a:xfrm>
                  <a:off x="4454" y="2640"/>
                  <a:ext cx="202" cy="21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9981" name="Object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4" y="2640"/>
                  <a:ext cx="202" cy="216"/>
                </a:xfrm>
                <a:prstGeom prst="rect">
                  <a:avLst/>
                </a:prstGeom>
                <a:blipFill>
                  <a:blip r:embed="rId20"/>
                  <a:stretch>
                    <a:fillRect b="-1786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82" name="Object 48"/>
                <p:cNvSpPr txBox="1"/>
                <p:nvPr/>
              </p:nvSpPr>
              <p:spPr>
                <a:xfrm>
                  <a:off x="4704" y="2582"/>
                  <a:ext cx="528" cy="29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9982" name="Object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4" y="2582"/>
                  <a:ext cx="528" cy="298"/>
                </a:xfrm>
                <a:prstGeom prst="rect">
                  <a:avLst/>
                </a:prstGeom>
                <a:blipFill>
                  <a:blip r:embed="rId21"/>
                  <a:stretch>
                    <a:fillRect b="-71795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983" name="Line 49"/>
            <p:cNvSpPr/>
            <p:nvPr/>
          </p:nvSpPr>
          <p:spPr>
            <a:xfrm>
              <a:off x="4416" y="2400"/>
              <a:ext cx="240" cy="0"/>
            </a:xfrm>
            <a:prstGeom prst="line">
              <a:avLst/>
            </a:prstGeom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84" name="Line 50"/>
            <p:cNvSpPr/>
            <p:nvPr/>
          </p:nvSpPr>
          <p:spPr>
            <a:xfrm>
              <a:off x="4704" y="2400"/>
              <a:ext cx="432" cy="0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23B61861-11B0-3474-39EE-10A74AFF020C}"/>
              </a:ext>
            </a:extLst>
          </p:cNvPr>
          <p:cNvSpPr txBox="1">
            <a:spLocks/>
          </p:cNvSpPr>
          <p:nvPr/>
        </p:nvSpPr>
        <p:spPr>
          <a:xfrm>
            <a:off x="-251171" y="576361"/>
            <a:ext cx="4571869" cy="686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杂散电容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23" grpId="0"/>
      <p:bldP spid="149524" grpId="0"/>
      <p:bldP spid="1495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5779" y="423961"/>
            <a:ext cx="4571869" cy="686790"/>
          </a:xfrm>
        </p:spPr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电容器的串联和并联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313934" y="2948400"/>
                <a:ext cx="4156695" cy="123501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den>
                      </m:f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3934" y="2948400"/>
                <a:ext cx="4156695" cy="1235018"/>
              </a:xfrm>
              <a:blipFill>
                <a:blip r:embed="rId3"/>
                <a:stretch>
                  <a:fillRect b="-22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852" y="1193164"/>
            <a:ext cx="4354462" cy="197775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166037" y="1314799"/>
            <a:ext cx="15561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1440" indent="-91440">
              <a:spcBef>
                <a:spcPts val="1200"/>
              </a:spcBef>
              <a:spcAft>
                <a:spcPts val="200"/>
              </a:spcAft>
              <a:buClr>
                <a:srgbClr val="99CB38"/>
              </a:buClr>
              <a:buSzPct val="100000"/>
              <a:buFont typeface="Calibri" panose="020F0502020204030204" pitchFamily="34" charset="0"/>
              <a:buChar char=" "/>
            </a:pPr>
            <a:r>
              <a:rPr lang="en-US" altLang="zh-CN" sz="28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串联：</a:t>
            </a:r>
            <a:endParaRPr lang="en-US" altLang="zh-CN" sz="28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91A24D5-F026-46E7-9002-EAC18DB63A82}"/>
                  </a:ext>
                </a:extLst>
              </p:cNvPr>
              <p:cNvSpPr/>
              <p:nvPr/>
            </p:nvSpPr>
            <p:spPr>
              <a:xfrm>
                <a:off x="3376763" y="3170922"/>
                <a:ext cx="70769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91A24D5-F026-46E7-9002-EAC18DB63A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763" y="3170922"/>
                <a:ext cx="70769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BB7E395-E598-49F4-9040-892D7074788B}"/>
                  </a:ext>
                </a:extLst>
              </p:cNvPr>
              <p:cNvSpPr/>
              <p:nvPr/>
            </p:nvSpPr>
            <p:spPr>
              <a:xfrm>
                <a:off x="4278735" y="3170922"/>
                <a:ext cx="70769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BB7E395-E598-49F4-9040-892D707478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735" y="3170922"/>
                <a:ext cx="70769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4919AB8-B547-413B-A33C-0958AD3446BF}"/>
                  </a:ext>
                </a:extLst>
              </p:cNvPr>
              <p:cNvSpPr/>
              <p:nvPr/>
            </p:nvSpPr>
            <p:spPr>
              <a:xfrm>
                <a:off x="6189295" y="3170921"/>
                <a:ext cx="74937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4919AB8-B547-413B-A33C-0958AD3446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295" y="3170921"/>
                <a:ext cx="74937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3C377F9-474D-4E9E-8CB4-5DF53445AEBE}"/>
                  </a:ext>
                </a:extLst>
              </p:cNvPr>
              <p:cNvSpPr/>
              <p:nvPr/>
            </p:nvSpPr>
            <p:spPr>
              <a:xfrm>
                <a:off x="7863428" y="1127694"/>
                <a:ext cx="3569271" cy="7199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lang="zh-CN" alt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800" dirty="0"/>
                  <a:t>=</a:t>
                </a:r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f>
                          <m:fPr>
                            <m:ctrlPr>
                              <a:rPr lang="zh-CN" alt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𝒒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altLang="zh-CN" sz="28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3C377F9-474D-4E9E-8CB4-5DF53445AE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428" y="1127694"/>
                <a:ext cx="3569271" cy="719941"/>
              </a:xfrm>
              <a:prstGeom prst="rect">
                <a:avLst/>
              </a:prstGeom>
              <a:blipFill>
                <a:blip r:embed="rId8"/>
                <a:stretch>
                  <a:fillRect t="-2542" b="-25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F852069-90E4-40F6-890F-969072C7D18F}"/>
                  </a:ext>
                </a:extLst>
              </p:cNvPr>
              <p:cNvSpPr/>
              <p:nvPr/>
            </p:nvSpPr>
            <p:spPr>
              <a:xfrm>
                <a:off x="7874241" y="2182043"/>
                <a:ext cx="3780301" cy="9626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zh-CN" altLang="en-US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num>
                      <m:den>
                        <m:r>
                          <a:rPr lang="zh-CN" altLang="en-US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den>
                    </m:f>
                    <m:r>
                      <a:rPr lang="zh-CN" altLang="en-US" sz="2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zh-CN" alt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zh-CN" altLang="en-US" sz="2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den>
                    </m:f>
                  </m:oMath>
                </a14:m>
                <a:r>
                  <a:rPr lang="en-US" sz="2800" dirty="0"/>
                  <a:t>=</a:t>
                </a:r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zh-CN" alt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zh-CN" altLang="en-US" sz="2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F852069-90E4-40F6-890F-969072C7D1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241" y="2182043"/>
                <a:ext cx="3780301" cy="9626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2">
                <a:extLst>
                  <a:ext uri="{FF2B5EF4-FFF2-40B4-BE49-F238E27FC236}">
                    <a16:creationId xmlns:a16="http://schemas.microsoft.com/office/drawing/2014/main" id="{9B1E1445-9260-4981-99C8-7C39146140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95314" y="4681405"/>
                <a:ext cx="4058084" cy="135978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zh-CN" altLang="en-US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num>
                        <m:den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den>
                      </m:f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zh-CN" alt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den>
                      </m:f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zh-CN" alt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num>
                        <m:den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1" name="内容占位符 2">
                <a:extLst>
                  <a:ext uri="{FF2B5EF4-FFF2-40B4-BE49-F238E27FC236}">
                    <a16:creationId xmlns:a16="http://schemas.microsoft.com/office/drawing/2014/main" id="{9B1E1445-9260-4981-99C8-7C3914614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5314" y="4681405"/>
                <a:ext cx="4058084" cy="1359782"/>
              </a:xfrm>
              <a:prstGeom prst="rect">
                <a:avLst/>
              </a:prstGeom>
              <a:blipFill>
                <a:blip r:embed="rId10"/>
                <a:stretch>
                  <a:fillRect b="-35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B69D3F1E-4A43-4183-B4E1-2DC7295108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949" y="4183418"/>
            <a:ext cx="4475401" cy="135978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AFD382F-CCE1-4AF3-8C9D-B018F9430795}"/>
              </a:ext>
            </a:extLst>
          </p:cNvPr>
          <p:cNvSpPr/>
          <p:nvPr/>
        </p:nvSpPr>
        <p:spPr>
          <a:xfrm>
            <a:off x="1187282" y="3781368"/>
            <a:ext cx="15561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1440" indent="-91440">
              <a:spcBef>
                <a:spcPts val="1200"/>
              </a:spcBef>
              <a:spcAft>
                <a:spcPts val="200"/>
              </a:spcAft>
              <a:buClr>
                <a:srgbClr val="99CB38"/>
              </a:buClr>
              <a:buSzPct val="100000"/>
              <a:buFont typeface="Calibri" panose="020F0502020204030204" pitchFamily="34" charset="0"/>
              <a:buChar char=" "/>
            </a:pPr>
            <a:r>
              <a:rPr lang="en-US" altLang="zh-CN" sz="28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并联：</a:t>
            </a:r>
            <a:endParaRPr lang="en-US" altLang="zh-CN" sz="28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8616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8" grpId="0"/>
      <p:bldP spid="9" grpId="0"/>
      <p:bldP spid="5" grpId="0"/>
      <p:bldP spid="10" grpId="0"/>
      <p:bldP spid="11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0CE2492-15BE-53F0-9FD1-8081AA6AB0C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77"/>
          <a:stretch/>
        </p:blipFill>
        <p:spPr>
          <a:xfrm rot="10800000">
            <a:off x="474172" y="2149452"/>
            <a:ext cx="6021878" cy="19167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B636D5F-D8F7-27FE-5471-C1B45322C5AF}"/>
                  </a:ext>
                </a:extLst>
              </p:cNvPr>
              <p:cNvSpPr/>
              <p:nvPr/>
            </p:nvSpPr>
            <p:spPr>
              <a:xfrm>
                <a:off x="743029" y="4296719"/>
                <a:ext cx="5689443" cy="7950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sz="3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3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32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</m:oMath>
                </a14:m>
                <a:r>
                  <a:rPr lang="en-US" sz="3200" dirty="0"/>
                  <a:t> =</a:t>
                </a:r>
                <a:r>
                  <a:rPr lang="en-US" altLang="zh-CN" sz="3200" dirty="0">
                    <a:solidFill>
                      <a:srgbClr val="000000"/>
                    </a:solidFill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3200" baseline="-25000" dirty="0"/>
                  <a:t>0</a:t>
                </a:r>
                <a:r>
                  <a:rPr lang="en-US" sz="3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zh-CN" altLang="en-US" sz="3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3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)/2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B636D5F-D8F7-27FE-5471-C1B45322C5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29" y="4296719"/>
                <a:ext cx="5689443" cy="795026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AE2FBDF0-F5D4-557D-1437-31DCDE9763A5}"/>
              </a:ext>
            </a:extLst>
          </p:cNvPr>
          <p:cNvSpPr/>
          <p:nvPr/>
        </p:nvSpPr>
        <p:spPr>
          <a:xfrm>
            <a:off x="1269832" y="1510989"/>
            <a:ext cx="15561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1440" indent="-91440">
              <a:spcBef>
                <a:spcPts val="1200"/>
              </a:spcBef>
              <a:spcAft>
                <a:spcPts val="200"/>
              </a:spcAft>
              <a:buClr>
                <a:srgbClr val="99CB38"/>
              </a:buClr>
              <a:buSzPct val="100000"/>
              <a:buFont typeface="Calibri" panose="020F0502020204030204" pitchFamily="34" charset="0"/>
              <a:buChar char=" "/>
            </a:pP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并联：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9EE6377-5FDB-AE40-F3F8-C356214457DB}"/>
              </a:ext>
            </a:extLst>
          </p:cNvPr>
          <p:cNvSpPr txBox="1">
            <a:spLocks/>
          </p:cNvSpPr>
          <p:nvPr/>
        </p:nvSpPr>
        <p:spPr>
          <a:xfrm>
            <a:off x="745779" y="423961"/>
            <a:ext cx="4571869" cy="6867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zh-CN" altLang="en-US" sz="3200" b="1">
                <a:solidFill>
                  <a:srgbClr val="0066FF"/>
                </a:solidFill>
                <a:latin typeface="华文楷体" panose="02010600040101010101" pitchFamily="2" charset="-122"/>
              </a:rPr>
              <a:t>电容器的串联和并联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p:sp>
        <p:nvSpPr>
          <p:cNvPr id="56342" name="Object 24"/>
          <p:cNvSpPr txBox="1"/>
          <p:nvPr/>
        </p:nvSpPr>
        <p:spPr>
          <a:xfrm>
            <a:off x="8548688" y="854075"/>
            <a:ext cx="747712" cy="793750"/>
          </a:xfrm>
          <a:prstGeom prst="rect">
            <a:avLst/>
          </a:prstGeom>
          <a:noFill/>
          <a:ln w="38100">
            <a:noFill/>
            <a:miter/>
          </a:ln>
        </p:spPr>
        <p:txBody>
          <a:bodyPr>
            <a:normAutofit/>
          </a:bodyPr>
          <a:lstStyle/>
          <a:p>
            <a:endParaRPr lang="zh-CN" altLang="en-US" sz="2400" dirty="0"/>
          </a:p>
        </p:txBody>
      </p:sp>
      <p:sp>
        <p:nvSpPr>
          <p:cNvPr id="56343" name="Object 25"/>
          <p:cNvSpPr txBox="1"/>
          <p:nvPr/>
        </p:nvSpPr>
        <p:spPr>
          <a:xfrm>
            <a:off x="2863850" y="1450975"/>
            <a:ext cx="488950" cy="622300"/>
          </a:xfrm>
          <a:prstGeom prst="rect">
            <a:avLst/>
          </a:prstGeom>
          <a:noFill/>
          <a:ln w="38100">
            <a:noFill/>
            <a:miter/>
          </a:ln>
        </p:spPr>
        <p:txBody>
          <a:bodyPr>
            <a:normAutofit/>
          </a:bodyPr>
          <a:lstStyle/>
          <a:p>
            <a:endParaRPr lang="zh-CN" altLang="en-US" sz="2400" dirty="0"/>
          </a:p>
        </p:txBody>
      </p:sp>
      <p:grpSp>
        <p:nvGrpSpPr>
          <p:cNvPr id="56321" name="Group 2"/>
          <p:cNvGrpSpPr/>
          <p:nvPr/>
        </p:nvGrpSpPr>
        <p:grpSpPr>
          <a:xfrm>
            <a:off x="7239000" y="2149452"/>
            <a:ext cx="4724400" cy="3810000"/>
            <a:chOff x="2688" y="1632"/>
            <a:chExt cx="2976" cy="2400"/>
          </a:xfrm>
        </p:grpSpPr>
        <p:sp>
          <p:nvSpPr>
            <p:cNvPr id="56322" name="Rectangle 3"/>
            <p:cNvSpPr/>
            <p:nvPr/>
          </p:nvSpPr>
          <p:spPr>
            <a:xfrm>
              <a:off x="2688" y="1632"/>
              <a:ext cx="2976" cy="2400"/>
            </a:xfrm>
            <a:prstGeom prst="rect">
              <a:avLst/>
            </a:prstGeom>
            <a:solidFill>
              <a:schemeClr val="bg1"/>
            </a:solidFill>
            <a:ln w="9525" cap="flat" cmpd="sng">
              <a:noFill/>
              <a:prstDash val="solid"/>
              <a:miter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6323" name="Rectangle 4" descr="20%"/>
            <p:cNvSpPr/>
            <p:nvPr/>
          </p:nvSpPr>
          <p:spPr>
            <a:xfrm>
              <a:off x="3159" y="2160"/>
              <a:ext cx="1852" cy="720"/>
            </a:xfrm>
            <a:prstGeom prst="rect">
              <a:avLst/>
            </a:prstGeom>
            <a:pattFill prst="pct20">
              <a:fgClr>
                <a:srgbClr val="0033CC"/>
              </a:fgClr>
              <a:bgClr>
                <a:srgbClr val="EBEBFF"/>
              </a:bgClr>
            </a:pattFill>
            <a:ln w="19050" cap="flat" cmpd="sng">
              <a:solidFill>
                <a:srgbClr val="CDCD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6324" name="Rectangle 5" descr="20%"/>
            <p:cNvSpPr/>
            <p:nvPr/>
          </p:nvSpPr>
          <p:spPr>
            <a:xfrm>
              <a:off x="3159" y="2880"/>
              <a:ext cx="1852" cy="672"/>
            </a:xfrm>
            <a:prstGeom prst="rect">
              <a:avLst/>
            </a:prstGeom>
            <a:pattFill prst="pct20">
              <a:fgClr>
                <a:srgbClr val="996633"/>
              </a:fgClr>
              <a:bgClr>
                <a:srgbClr val="FFFFE1"/>
              </a:bgClr>
            </a:pattFill>
            <a:ln w="19050" cap="flat" cmpd="sng">
              <a:solidFill>
                <a:srgbClr val="E2C5A8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64870" name="Rectangle 6"/>
            <p:cNvSpPr>
              <a:spLocks noChangeArrowheads="1"/>
            </p:cNvSpPr>
            <p:nvPr/>
          </p:nvSpPr>
          <p:spPr bwMode="auto">
            <a:xfrm>
              <a:off x="3159" y="1728"/>
              <a:ext cx="1852" cy="432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6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srgbClr val="1C1C1C"/>
                </a:solidFill>
              </a:endParaRPr>
            </a:p>
          </p:txBody>
        </p:sp>
        <p:sp>
          <p:nvSpPr>
            <p:cNvPr id="164871" name="Rectangle 7"/>
            <p:cNvSpPr>
              <a:spLocks noChangeArrowheads="1"/>
            </p:cNvSpPr>
            <p:nvPr/>
          </p:nvSpPr>
          <p:spPr bwMode="auto">
            <a:xfrm>
              <a:off x="3159" y="3543"/>
              <a:ext cx="1852" cy="4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275"/>
                    <a:invGamma/>
                  </a:schemeClr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srgbClr val="1C1C1C"/>
                </a:solidFill>
              </a:endParaRPr>
            </a:p>
          </p:txBody>
        </p:sp>
        <p:sp>
          <p:nvSpPr>
            <p:cNvPr id="56327" name="Rectangle 8"/>
            <p:cNvSpPr/>
            <p:nvPr/>
          </p:nvSpPr>
          <p:spPr>
            <a:xfrm>
              <a:off x="3168" y="1968"/>
              <a:ext cx="196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CC0000"/>
                  </a:solidFill>
                </a:rPr>
                <a:t>+ + + + + + + + + + +</a:t>
              </a:r>
            </a:p>
          </p:txBody>
        </p:sp>
        <p:sp>
          <p:nvSpPr>
            <p:cNvPr id="56328" name="Rectangle 9"/>
            <p:cNvSpPr/>
            <p:nvPr/>
          </p:nvSpPr>
          <p:spPr>
            <a:xfrm>
              <a:off x="3139" y="3351"/>
              <a:ext cx="1312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</a:rPr>
                <a:t>- - - - - - - - - - -</a:t>
              </a:r>
            </a:p>
          </p:txBody>
        </p:sp>
        <p:sp>
          <p:nvSpPr>
            <p:cNvPr id="56329" name="Line 10"/>
            <p:cNvSpPr/>
            <p:nvPr/>
          </p:nvSpPr>
          <p:spPr>
            <a:xfrm>
              <a:off x="2784" y="2160"/>
              <a:ext cx="35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30" name="Line 11"/>
            <p:cNvSpPr/>
            <p:nvPr/>
          </p:nvSpPr>
          <p:spPr>
            <a:xfrm>
              <a:off x="2784" y="2880"/>
              <a:ext cx="40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31" name="Line 12"/>
            <p:cNvSpPr/>
            <p:nvPr/>
          </p:nvSpPr>
          <p:spPr>
            <a:xfrm>
              <a:off x="2784" y="3552"/>
              <a:ext cx="35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332" name="Line 13"/>
            <p:cNvSpPr/>
            <p:nvPr/>
          </p:nvSpPr>
          <p:spPr>
            <a:xfrm>
              <a:off x="3072" y="2160"/>
              <a:ext cx="0" cy="72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p:sp>
          <p:nvSpPr>
            <p:cNvPr id="56333" name="Line 14"/>
            <p:cNvSpPr/>
            <p:nvPr/>
          </p:nvSpPr>
          <p:spPr>
            <a:xfrm>
              <a:off x="3072" y="2880"/>
              <a:ext cx="0" cy="67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34" name="Object 15"/>
                <p:cNvSpPr txBox="1"/>
                <p:nvPr/>
              </p:nvSpPr>
              <p:spPr>
                <a:xfrm>
                  <a:off x="2742" y="2208"/>
                  <a:ext cx="330" cy="43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56334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2" y="2208"/>
                  <a:ext cx="330" cy="432"/>
                </a:xfrm>
                <a:prstGeom prst="rect">
                  <a:avLst/>
                </a:prstGeom>
                <a:blipFill>
                  <a:blip r:embed="rId4"/>
                  <a:stretch>
                    <a:fillRect l="-3488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35" name="Object 16"/>
                <p:cNvSpPr txBox="1"/>
                <p:nvPr/>
              </p:nvSpPr>
              <p:spPr>
                <a:xfrm>
                  <a:off x="2717" y="2832"/>
                  <a:ext cx="355" cy="43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56335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7" y="2832"/>
                  <a:ext cx="355" cy="432"/>
                </a:xfrm>
                <a:prstGeom prst="rect">
                  <a:avLst/>
                </a:prstGeom>
                <a:blipFill>
                  <a:blip r:embed="rId5"/>
                  <a:stretch>
                    <a:fillRect l="-3226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36" name="Object 17"/>
                <p:cNvSpPr txBox="1"/>
                <p:nvPr/>
              </p:nvSpPr>
              <p:spPr>
                <a:xfrm>
                  <a:off x="4339" y="1680"/>
                  <a:ext cx="640" cy="48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56336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9" y="1680"/>
                  <a:ext cx="640" cy="480"/>
                </a:xfrm>
                <a:prstGeom prst="rect">
                  <a:avLst/>
                </a:prstGeom>
                <a:blipFill>
                  <a:blip r:embed="rId6"/>
                  <a:stretch>
                    <a:fillRect l="-599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37" name="Object 18"/>
                <p:cNvSpPr txBox="1"/>
                <p:nvPr/>
              </p:nvSpPr>
              <p:spPr>
                <a:xfrm>
                  <a:off x="4371" y="3543"/>
                  <a:ext cx="640" cy="48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56337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1" y="3543"/>
                  <a:ext cx="640" cy="48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27"/>
          <p:cNvGrpSpPr/>
          <p:nvPr/>
        </p:nvGrpSpPr>
        <p:grpSpPr>
          <a:xfrm>
            <a:off x="8031164" y="2759052"/>
            <a:ext cx="3932237" cy="1390650"/>
            <a:chOff x="3187" y="2016"/>
            <a:chExt cx="2477" cy="876"/>
          </a:xfrm>
        </p:grpSpPr>
        <p:sp>
          <p:nvSpPr>
            <p:cNvPr id="56346" name="Rectangle 28"/>
            <p:cNvSpPr/>
            <p:nvPr/>
          </p:nvSpPr>
          <p:spPr>
            <a:xfrm>
              <a:off x="3207" y="2016"/>
              <a:ext cx="2195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</a:rPr>
                <a:t>-   -   -   -  -  -        </a:t>
              </a:r>
            </a:p>
          </p:txBody>
        </p:sp>
        <p:sp>
          <p:nvSpPr>
            <p:cNvPr id="56347" name="Text Box 29"/>
            <p:cNvSpPr txBox="1"/>
            <p:nvPr/>
          </p:nvSpPr>
          <p:spPr>
            <a:xfrm>
              <a:off x="3187" y="2601"/>
              <a:ext cx="216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CC0000"/>
                  </a:solidFill>
                </a:rPr>
                <a:t>+    +    +    +   +   +  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48" name="Object 30"/>
                <p:cNvSpPr txBox="1"/>
                <p:nvPr/>
              </p:nvSpPr>
              <p:spPr>
                <a:xfrm>
                  <a:off x="4968" y="2028"/>
                  <a:ext cx="693" cy="45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56348" name="Object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" y="2028"/>
                  <a:ext cx="693" cy="4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49" name="Object 31"/>
                <p:cNvSpPr txBox="1"/>
                <p:nvPr/>
              </p:nvSpPr>
              <p:spPr>
                <a:xfrm>
                  <a:off x="4971" y="2426"/>
                  <a:ext cx="693" cy="45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56349" name="Object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" y="2426"/>
                  <a:ext cx="693" cy="454"/>
                </a:xfrm>
                <a:prstGeom prst="rect">
                  <a:avLst/>
                </a:prstGeom>
                <a:blipFill>
                  <a:blip r:embed="rId9"/>
                  <a:stretch>
                    <a:fillRect l="-552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32"/>
          <p:cNvGrpSpPr/>
          <p:nvPr/>
        </p:nvGrpSpPr>
        <p:grpSpPr>
          <a:xfrm>
            <a:off x="8001000" y="3825853"/>
            <a:ext cx="4014788" cy="1579563"/>
            <a:chOff x="3168" y="2688"/>
            <a:chExt cx="2529" cy="995"/>
          </a:xfrm>
        </p:grpSpPr>
        <p:sp>
          <p:nvSpPr>
            <p:cNvPr id="56351" name="Text Box 33"/>
            <p:cNvSpPr txBox="1"/>
            <p:nvPr/>
          </p:nvSpPr>
          <p:spPr>
            <a:xfrm>
              <a:off x="3168" y="3264"/>
              <a:ext cx="216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CC0000"/>
                  </a:solidFill>
                </a:rPr>
                <a:t>+    +    +    +   +   +     </a:t>
              </a:r>
            </a:p>
          </p:txBody>
        </p:sp>
        <p:sp>
          <p:nvSpPr>
            <p:cNvPr id="56352" name="Rectangle 34"/>
            <p:cNvSpPr/>
            <p:nvPr/>
          </p:nvSpPr>
          <p:spPr>
            <a:xfrm>
              <a:off x="3196" y="2688"/>
              <a:ext cx="182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</a:rPr>
                <a:t>-   -   -   -  -  -     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53" name="Object 35"/>
                <p:cNvSpPr txBox="1"/>
                <p:nvPr/>
              </p:nvSpPr>
              <p:spPr>
                <a:xfrm>
                  <a:off x="4978" y="3228"/>
                  <a:ext cx="719" cy="45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56353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8" y="3228"/>
                  <a:ext cx="719" cy="455"/>
                </a:xfrm>
                <a:prstGeom prst="rect">
                  <a:avLst/>
                </a:prstGeom>
                <a:blipFill>
                  <a:blip r:embed="rId10"/>
                  <a:stretch>
                    <a:fillRect l="-535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54" name="Object 36"/>
                <p:cNvSpPr txBox="1"/>
                <p:nvPr/>
              </p:nvSpPr>
              <p:spPr>
                <a:xfrm>
                  <a:off x="4978" y="2810"/>
                  <a:ext cx="719" cy="45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56354" name="Object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8" y="2810"/>
                  <a:ext cx="719" cy="4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42"/>
          <p:cNvGrpSpPr/>
          <p:nvPr/>
        </p:nvGrpSpPr>
        <p:grpSpPr>
          <a:xfrm>
            <a:off x="9753601" y="3140052"/>
            <a:ext cx="682625" cy="838200"/>
            <a:chOff x="4272" y="2256"/>
            <a:chExt cx="430" cy="528"/>
          </a:xfrm>
        </p:grpSpPr>
        <p:sp>
          <p:nvSpPr>
            <p:cNvPr id="56361" name="Line 43"/>
            <p:cNvSpPr/>
            <p:nvPr/>
          </p:nvSpPr>
          <p:spPr>
            <a:xfrm>
              <a:off x="4272" y="2256"/>
              <a:ext cx="0" cy="528"/>
            </a:xfrm>
            <a:prstGeom prst="line">
              <a:avLst/>
            </a:prstGeom>
            <a:ln w="76200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62" name="Object 44"/>
                <p:cNvSpPr txBox="1"/>
                <p:nvPr/>
              </p:nvSpPr>
              <p:spPr>
                <a:xfrm>
                  <a:off x="4330" y="2304"/>
                  <a:ext cx="372" cy="48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56362" name="Object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0" y="2304"/>
                  <a:ext cx="372" cy="48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45"/>
          <p:cNvGrpSpPr/>
          <p:nvPr/>
        </p:nvGrpSpPr>
        <p:grpSpPr>
          <a:xfrm>
            <a:off x="9753600" y="4206852"/>
            <a:ext cx="687388" cy="838200"/>
            <a:chOff x="4272" y="2928"/>
            <a:chExt cx="433" cy="528"/>
          </a:xfrm>
        </p:grpSpPr>
        <p:sp>
          <p:nvSpPr>
            <p:cNvPr id="56364" name="Line 46"/>
            <p:cNvSpPr/>
            <p:nvPr/>
          </p:nvSpPr>
          <p:spPr>
            <a:xfrm>
              <a:off x="4272" y="2976"/>
              <a:ext cx="0" cy="480"/>
            </a:xfrm>
            <a:prstGeom prst="line">
              <a:avLst/>
            </a:prstGeom>
            <a:ln w="76200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65" name="Object 47"/>
                <p:cNvSpPr txBox="1"/>
                <p:nvPr/>
              </p:nvSpPr>
              <p:spPr>
                <a:xfrm>
                  <a:off x="4307" y="2928"/>
                  <a:ext cx="398" cy="48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56365" name="Object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7" y="2928"/>
                  <a:ext cx="398" cy="48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8CFF71FF-8E13-5762-BA38-4601EED5A9C5}"/>
              </a:ext>
            </a:extLst>
          </p:cNvPr>
          <p:cNvSpPr/>
          <p:nvPr/>
        </p:nvSpPr>
        <p:spPr>
          <a:xfrm>
            <a:off x="8574365" y="1503224"/>
            <a:ext cx="15561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1440" indent="-91440">
              <a:spcBef>
                <a:spcPts val="1200"/>
              </a:spcBef>
              <a:spcAft>
                <a:spcPts val="200"/>
              </a:spcAft>
              <a:buClr>
                <a:srgbClr val="99CB38"/>
              </a:buClr>
              <a:buSzPct val="100000"/>
              <a:buFont typeface="Calibri" panose="020F0502020204030204" pitchFamily="34" charset="0"/>
              <a:buChar char=" "/>
            </a:pP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串联：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79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39" name="Object 21"/>
          <p:cNvSpPr txBox="1"/>
          <p:nvPr/>
        </p:nvSpPr>
        <p:spPr>
          <a:xfrm>
            <a:off x="9001126" y="549275"/>
            <a:ext cx="523875" cy="685800"/>
          </a:xfrm>
          <a:prstGeom prst="rect">
            <a:avLst/>
          </a:prstGeom>
          <a:noFill/>
          <a:ln w="38100">
            <a:noFill/>
            <a:miter/>
          </a:ln>
        </p:spPr>
        <p:txBody>
          <a:bodyPr>
            <a:normAutofit/>
          </a:bodyPr>
          <a:lstStyle/>
          <a:p>
            <a:endParaRPr lang="zh-CN" altLang="en-US" sz="2400" dirty="0"/>
          </a:p>
        </p:txBody>
      </p:sp>
      <p:sp>
        <p:nvSpPr>
          <p:cNvPr id="56340" name="Object 22"/>
          <p:cNvSpPr txBox="1"/>
          <p:nvPr/>
        </p:nvSpPr>
        <p:spPr>
          <a:xfrm>
            <a:off x="9875838" y="549275"/>
            <a:ext cx="563562" cy="685800"/>
          </a:xfrm>
          <a:prstGeom prst="rect">
            <a:avLst/>
          </a:prstGeom>
          <a:noFill/>
          <a:ln w="38100">
            <a:noFill/>
            <a:miter/>
          </a:ln>
        </p:spPr>
        <p:txBody>
          <a:bodyPr>
            <a:normAutofit/>
          </a:bodyPr>
          <a:lstStyle/>
          <a:p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904" name="Object 40"/>
              <p:cNvSpPr txBox="1"/>
              <p:nvPr/>
            </p:nvSpPr>
            <p:spPr>
              <a:xfrm>
                <a:off x="1285081" y="971550"/>
                <a:ext cx="2981325" cy="8604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⃑"/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⃑"/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64904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081" y="971550"/>
                <a:ext cx="2981325" cy="8604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905" name="Object 41"/>
              <p:cNvSpPr txBox="1"/>
              <p:nvPr/>
            </p:nvSpPr>
            <p:spPr>
              <a:xfrm>
                <a:off x="2009774" y="1870077"/>
                <a:ext cx="1531937" cy="6731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64905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774" y="1870077"/>
                <a:ext cx="1531937" cy="673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912" name="Object 48"/>
              <p:cNvSpPr txBox="1"/>
              <p:nvPr/>
            </p:nvSpPr>
            <p:spPr>
              <a:xfrm>
                <a:off x="913606" y="2524127"/>
                <a:ext cx="3352800" cy="12985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64912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06" y="2524127"/>
                <a:ext cx="3352800" cy="12985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913" name="Object 49"/>
              <p:cNvSpPr txBox="1"/>
              <p:nvPr/>
            </p:nvSpPr>
            <p:spPr>
              <a:xfrm>
                <a:off x="3863976" y="2584450"/>
                <a:ext cx="3395662" cy="12890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64913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976" y="2584450"/>
                <a:ext cx="3395662" cy="12890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2">
            <a:extLst>
              <a:ext uri="{FF2B5EF4-FFF2-40B4-BE49-F238E27FC236}">
                <a16:creationId xmlns:a16="http://schemas.microsoft.com/office/drawing/2014/main" id="{B3ECDBE8-2737-2FB2-E6E2-7EDCFADFAD7C}"/>
              </a:ext>
            </a:extLst>
          </p:cNvPr>
          <p:cNvGrpSpPr/>
          <p:nvPr/>
        </p:nvGrpSpPr>
        <p:grpSpPr>
          <a:xfrm>
            <a:off x="7366000" y="2432050"/>
            <a:ext cx="4724400" cy="3810000"/>
            <a:chOff x="2688" y="1632"/>
            <a:chExt cx="2976" cy="2400"/>
          </a:xfrm>
        </p:grpSpPr>
        <p:sp>
          <p:nvSpPr>
            <p:cNvPr id="50" name="Rectangle 3">
              <a:extLst>
                <a:ext uri="{FF2B5EF4-FFF2-40B4-BE49-F238E27FC236}">
                  <a16:creationId xmlns:a16="http://schemas.microsoft.com/office/drawing/2014/main" id="{3712435F-F05E-6D84-7757-9D0C127CAC89}"/>
                </a:ext>
              </a:extLst>
            </p:cNvPr>
            <p:cNvSpPr/>
            <p:nvPr/>
          </p:nvSpPr>
          <p:spPr>
            <a:xfrm>
              <a:off x="2688" y="1632"/>
              <a:ext cx="2976" cy="2400"/>
            </a:xfrm>
            <a:prstGeom prst="rect">
              <a:avLst/>
            </a:prstGeom>
            <a:solidFill>
              <a:schemeClr val="bg1"/>
            </a:solidFill>
            <a:ln w="9525" cap="flat" cmpd="sng">
              <a:noFill/>
              <a:prstDash val="solid"/>
              <a:miter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1" name="Rectangle 4" descr="20%">
              <a:extLst>
                <a:ext uri="{FF2B5EF4-FFF2-40B4-BE49-F238E27FC236}">
                  <a16:creationId xmlns:a16="http://schemas.microsoft.com/office/drawing/2014/main" id="{02761358-6CCF-6D70-17C9-C1CC6A98932C}"/>
                </a:ext>
              </a:extLst>
            </p:cNvPr>
            <p:cNvSpPr/>
            <p:nvPr/>
          </p:nvSpPr>
          <p:spPr>
            <a:xfrm>
              <a:off x="3159" y="2160"/>
              <a:ext cx="1852" cy="720"/>
            </a:xfrm>
            <a:prstGeom prst="rect">
              <a:avLst/>
            </a:prstGeom>
            <a:pattFill prst="pct20">
              <a:fgClr>
                <a:srgbClr val="0033CC"/>
              </a:fgClr>
              <a:bgClr>
                <a:srgbClr val="EBEBFF"/>
              </a:bgClr>
            </a:pattFill>
            <a:ln w="19050" cap="flat" cmpd="sng">
              <a:solidFill>
                <a:srgbClr val="CDCD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2" name="Rectangle 5" descr="20%">
              <a:extLst>
                <a:ext uri="{FF2B5EF4-FFF2-40B4-BE49-F238E27FC236}">
                  <a16:creationId xmlns:a16="http://schemas.microsoft.com/office/drawing/2014/main" id="{2A1D5F39-6B5B-1F17-4D05-1E583BEE7BC5}"/>
                </a:ext>
              </a:extLst>
            </p:cNvPr>
            <p:cNvSpPr/>
            <p:nvPr/>
          </p:nvSpPr>
          <p:spPr>
            <a:xfrm>
              <a:off x="3159" y="2880"/>
              <a:ext cx="1852" cy="672"/>
            </a:xfrm>
            <a:prstGeom prst="rect">
              <a:avLst/>
            </a:prstGeom>
            <a:pattFill prst="pct20">
              <a:fgClr>
                <a:srgbClr val="996633"/>
              </a:fgClr>
              <a:bgClr>
                <a:srgbClr val="FFFFE1"/>
              </a:bgClr>
            </a:pattFill>
            <a:ln w="19050" cap="flat" cmpd="sng">
              <a:solidFill>
                <a:srgbClr val="E2C5A8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3" name="Rectangle 6">
              <a:extLst>
                <a:ext uri="{FF2B5EF4-FFF2-40B4-BE49-F238E27FC236}">
                  <a16:creationId xmlns:a16="http://schemas.microsoft.com/office/drawing/2014/main" id="{59087EA2-7AC8-3B64-6B05-C5437DEBE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1728"/>
              <a:ext cx="1852" cy="432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6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srgbClr val="1C1C1C"/>
                </a:solidFill>
              </a:endParaRPr>
            </a:p>
          </p:txBody>
        </p:sp>
        <p:sp>
          <p:nvSpPr>
            <p:cNvPr id="54" name="Rectangle 7">
              <a:extLst>
                <a:ext uri="{FF2B5EF4-FFF2-40B4-BE49-F238E27FC236}">
                  <a16:creationId xmlns:a16="http://schemas.microsoft.com/office/drawing/2014/main" id="{0F7C3D7E-A97C-2151-1DA0-9C378D453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3543"/>
              <a:ext cx="1852" cy="4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275"/>
                    <a:invGamma/>
                  </a:schemeClr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srgbClr val="1C1C1C"/>
                </a:solidFill>
              </a:endParaRPr>
            </a:p>
          </p:txBody>
        </p:sp>
        <p:sp>
          <p:nvSpPr>
            <p:cNvPr id="55" name="Rectangle 8">
              <a:extLst>
                <a:ext uri="{FF2B5EF4-FFF2-40B4-BE49-F238E27FC236}">
                  <a16:creationId xmlns:a16="http://schemas.microsoft.com/office/drawing/2014/main" id="{B75EA4CB-19F3-346C-B45E-2184CD7F20CA}"/>
                </a:ext>
              </a:extLst>
            </p:cNvPr>
            <p:cNvSpPr/>
            <p:nvPr/>
          </p:nvSpPr>
          <p:spPr>
            <a:xfrm>
              <a:off x="3168" y="1968"/>
              <a:ext cx="196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CC0000"/>
                  </a:solidFill>
                </a:rPr>
                <a:t>+ + + + + + + + + + +</a:t>
              </a:r>
            </a:p>
          </p:txBody>
        </p:sp>
        <p:sp>
          <p:nvSpPr>
            <p:cNvPr id="56" name="Rectangle 9">
              <a:extLst>
                <a:ext uri="{FF2B5EF4-FFF2-40B4-BE49-F238E27FC236}">
                  <a16:creationId xmlns:a16="http://schemas.microsoft.com/office/drawing/2014/main" id="{8DB7BE19-2A99-6DD2-0BEB-E45ADD794681}"/>
                </a:ext>
              </a:extLst>
            </p:cNvPr>
            <p:cNvSpPr/>
            <p:nvPr/>
          </p:nvSpPr>
          <p:spPr>
            <a:xfrm>
              <a:off x="3139" y="3351"/>
              <a:ext cx="1312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</a:rPr>
                <a:t>- - - - - - - - - - -</a:t>
              </a:r>
            </a:p>
          </p:txBody>
        </p:sp>
        <p:sp>
          <p:nvSpPr>
            <p:cNvPr id="57" name="Line 10">
              <a:extLst>
                <a:ext uri="{FF2B5EF4-FFF2-40B4-BE49-F238E27FC236}">
                  <a16:creationId xmlns:a16="http://schemas.microsoft.com/office/drawing/2014/main" id="{8D93A689-14AC-038F-8598-EC4C27E99411}"/>
                </a:ext>
              </a:extLst>
            </p:cNvPr>
            <p:cNvSpPr/>
            <p:nvPr/>
          </p:nvSpPr>
          <p:spPr>
            <a:xfrm>
              <a:off x="2784" y="2160"/>
              <a:ext cx="35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" name="Line 11">
              <a:extLst>
                <a:ext uri="{FF2B5EF4-FFF2-40B4-BE49-F238E27FC236}">
                  <a16:creationId xmlns:a16="http://schemas.microsoft.com/office/drawing/2014/main" id="{A7DB2487-A151-357C-2D66-E683124BD6A5}"/>
                </a:ext>
              </a:extLst>
            </p:cNvPr>
            <p:cNvSpPr/>
            <p:nvPr/>
          </p:nvSpPr>
          <p:spPr>
            <a:xfrm>
              <a:off x="2784" y="2880"/>
              <a:ext cx="40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" name="Line 12">
              <a:extLst>
                <a:ext uri="{FF2B5EF4-FFF2-40B4-BE49-F238E27FC236}">
                  <a16:creationId xmlns:a16="http://schemas.microsoft.com/office/drawing/2014/main" id="{81CE888D-3097-DF7F-E40D-6D11DFB8251C}"/>
                </a:ext>
              </a:extLst>
            </p:cNvPr>
            <p:cNvSpPr/>
            <p:nvPr/>
          </p:nvSpPr>
          <p:spPr>
            <a:xfrm>
              <a:off x="2784" y="3552"/>
              <a:ext cx="35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" name="Line 13">
              <a:extLst>
                <a:ext uri="{FF2B5EF4-FFF2-40B4-BE49-F238E27FC236}">
                  <a16:creationId xmlns:a16="http://schemas.microsoft.com/office/drawing/2014/main" id="{D9414A96-9C15-7E83-FAAE-F5B21EE2ADA7}"/>
                </a:ext>
              </a:extLst>
            </p:cNvPr>
            <p:cNvSpPr/>
            <p:nvPr/>
          </p:nvSpPr>
          <p:spPr>
            <a:xfrm>
              <a:off x="3072" y="2160"/>
              <a:ext cx="0" cy="72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p:sp>
          <p:nvSpPr>
            <p:cNvPr id="61" name="Line 14">
              <a:extLst>
                <a:ext uri="{FF2B5EF4-FFF2-40B4-BE49-F238E27FC236}">
                  <a16:creationId xmlns:a16="http://schemas.microsoft.com/office/drawing/2014/main" id="{AF0508A9-C900-09F4-7B9B-97A9B014B4D1}"/>
                </a:ext>
              </a:extLst>
            </p:cNvPr>
            <p:cNvSpPr/>
            <p:nvPr/>
          </p:nvSpPr>
          <p:spPr>
            <a:xfrm>
              <a:off x="3072" y="2880"/>
              <a:ext cx="0" cy="67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Object 15">
                  <a:extLst>
                    <a:ext uri="{FF2B5EF4-FFF2-40B4-BE49-F238E27FC236}">
                      <a16:creationId xmlns:a16="http://schemas.microsoft.com/office/drawing/2014/main" id="{5CF3EEB3-DDD9-DAAE-01AE-4D07D7C225B0}"/>
                    </a:ext>
                  </a:extLst>
                </p:cNvPr>
                <p:cNvSpPr txBox="1"/>
                <p:nvPr/>
              </p:nvSpPr>
              <p:spPr>
                <a:xfrm>
                  <a:off x="2742" y="2208"/>
                  <a:ext cx="330" cy="43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62" name="Object 15">
                  <a:extLst>
                    <a:ext uri="{FF2B5EF4-FFF2-40B4-BE49-F238E27FC236}">
                      <a16:creationId xmlns:a16="http://schemas.microsoft.com/office/drawing/2014/main" id="{5CF3EEB3-DDD9-DAAE-01AE-4D07D7C225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2" y="2208"/>
                  <a:ext cx="330" cy="432"/>
                </a:xfrm>
                <a:prstGeom prst="rect">
                  <a:avLst/>
                </a:prstGeom>
                <a:blipFill>
                  <a:blip r:embed="rId6"/>
                  <a:stretch>
                    <a:fillRect l="-3488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Object 16">
                  <a:extLst>
                    <a:ext uri="{FF2B5EF4-FFF2-40B4-BE49-F238E27FC236}">
                      <a16:creationId xmlns:a16="http://schemas.microsoft.com/office/drawing/2014/main" id="{736D0B00-5B1D-A708-FE0E-4F222297267D}"/>
                    </a:ext>
                  </a:extLst>
                </p:cNvPr>
                <p:cNvSpPr txBox="1"/>
                <p:nvPr/>
              </p:nvSpPr>
              <p:spPr>
                <a:xfrm>
                  <a:off x="2717" y="2832"/>
                  <a:ext cx="355" cy="43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63" name="Object 16">
                  <a:extLst>
                    <a:ext uri="{FF2B5EF4-FFF2-40B4-BE49-F238E27FC236}">
                      <a16:creationId xmlns:a16="http://schemas.microsoft.com/office/drawing/2014/main" id="{736D0B00-5B1D-A708-FE0E-4F22229726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7" y="2832"/>
                  <a:ext cx="355" cy="432"/>
                </a:xfrm>
                <a:prstGeom prst="rect">
                  <a:avLst/>
                </a:prstGeom>
                <a:blipFill>
                  <a:blip r:embed="rId7"/>
                  <a:stretch>
                    <a:fillRect l="-3261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64" name="Object 17">
                  <a:extLst>
                    <a:ext uri="{FF2B5EF4-FFF2-40B4-BE49-F238E27FC236}">
                      <a16:creationId xmlns:a16="http://schemas.microsoft.com/office/drawing/2014/main" id="{A1FF444D-7B6E-7449-5EBF-06A76E08DBA4}"/>
                    </a:ext>
                  </a:extLst>
                </p:cNvPr>
                <p:cNvSpPr txBox="1"/>
                <p:nvPr/>
              </p:nvSpPr>
              <p:spPr>
                <a:xfrm>
                  <a:off x="4339" y="1680"/>
                  <a:ext cx="640" cy="48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64" name="Object 17">
                  <a:extLst>
                    <a:ext uri="{FF2B5EF4-FFF2-40B4-BE49-F238E27FC236}">
                      <a16:creationId xmlns:a16="http://schemas.microsoft.com/office/drawing/2014/main" id="{A1FF444D-7B6E-7449-5EBF-06A76E08DB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9" y="1680"/>
                  <a:ext cx="640" cy="480"/>
                </a:xfrm>
                <a:prstGeom prst="rect">
                  <a:avLst/>
                </a:prstGeom>
                <a:blipFill>
                  <a:blip r:embed="rId8"/>
                  <a:stretch>
                    <a:fillRect l="-599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65" name="Object 18">
                  <a:extLst>
                    <a:ext uri="{FF2B5EF4-FFF2-40B4-BE49-F238E27FC236}">
                      <a16:creationId xmlns:a16="http://schemas.microsoft.com/office/drawing/2014/main" id="{BF3FA351-9858-2496-BEBB-22E37EE70B28}"/>
                    </a:ext>
                  </a:extLst>
                </p:cNvPr>
                <p:cNvSpPr txBox="1"/>
                <p:nvPr/>
              </p:nvSpPr>
              <p:spPr>
                <a:xfrm>
                  <a:off x="4371" y="3543"/>
                  <a:ext cx="640" cy="48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65" name="Object 18">
                  <a:extLst>
                    <a:ext uri="{FF2B5EF4-FFF2-40B4-BE49-F238E27FC236}">
                      <a16:creationId xmlns:a16="http://schemas.microsoft.com/office/drawing/2014/main" id="{BF3FA351-9858-2496-BEBB-22E37EE70B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1" y="3543"/>
                  <a:ext cx="640" cy="48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866" name="Group 27">
            <a:extLst>
              <a:ext uri="{FF2B5EF4-FFF2-40B4-BE49-F238E27FC236}">
                <a16:creationId xmlns:a16="http://schemas.microsoft.com/office/drawing/2014/main" id="{5367C784-F794-27C6-A6E3-F0ABEE1A2F55}"/>
              </a:ext>
            </a:extLst>
          </p:cNvPr>
          <p:cNvGrpSpPr/>
          <p:nvPr/>
        </p:nvGrpSpPr>
        <p:grpSpPr>
          <a:xfrm>
            <a:off x="8158164" y="3041650"/>
            <a:ext cx="3932237" cy="1390650"/>
            <a:chOff x="3187" y="2016"/>
            <a:chExt cx="2477" cy="876"/>
          </a:xfrm>
        </p:grpSpPr>
        <p:sp>
          <p:nvSpPr>
            <p:cNvPr id="164867" name="Rectangle 28">
              <a:extLst>
                <a:ext uri="{FF2B5EF4-FFF2-40B4-BE49-F238E27FC236}">
                  <a16:creationId xmlns:a16="http://schemas.microsoft.com/office/drawing/2014/main" id="{4BE03F24-11FD-06A8-23DC-083D94BA5232}"/>
                </a:ext>
              </a:extLst>
            </p:cNvPr>
            <p:cNvSpPr/>
            <p:nvPr/>
          </p:nvSpPr>
          <p:spPr>
            <a:xfrm>
              <a:off x="3207" y="2016"/>
              <a:ext cx="182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</a:rPr>
                <a:t>-   -   -   -  -  -        </a:t>
              </a:r>
            </a:p>
          </p:txBody>
        </p:sp>
        <p:sp>
          <p:nvSpPr>
            <p:cNvPr id="164868" name="Text Box 29">
              <a:extLst>
                <a:ext uri="{FF2B5EF4-FFF2-40B4-BE49-F238E27FC236}">
                  <a16:creationId xmlns:a16="http://schemas.microsoft.com/office/drawing/2014/main" id="{9D8C9CB9-5F49-DD3F-621C-6E995EABA1E7}"/>
                </a:ext>
              </a:extLst>
            </p:cNvPr>
            <p:cNvSpPr txBox="1"/>
            <p:nvPr/>
          </p:nvSpPr>
          <p:spPr>
            <a:xfrm>
              <a:off x="3187" y="2601"/>
              <a:ext cx="216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CC0000"/>
                  </a:solidFill>
                </a:rPr>
                <a:t>+    +    +    +   +   +  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69" name="Object 30">
                  <a:extLst>
                    <a:ext uri="{FF2B5EF4-FFF2-40B4-BE49-F238E27FC236}">
                      <a16:creationId xmlns:a16="http://schemas.microsoft.com/office/drawing/2014/main" id="{25BF2FBA-9144-B6E4-6AB5-F2538270AD6B}"/>
                    </a:ext>
                  </a:extLst>
                </p:cNvPr>
                <p:cNvSpPr txBox="1"/>
                <p:nvPr/>
              </p:nvSpPr>
              <p:spPr>
                <a:xfrm>
                  <a:off x="4968" y="2028"/>
                  <a:ext cx="693" cy="45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69" name="Object 30">
                  <a:extLst>
                    <a:ext uri="{FF2B5EF4-FFF2-40B4-BE49-F238E27FC236}">
                      <a16:creationId xmlns:a16="http://schemas.microsoft.com/office/drawing/2014/main" id="{25BF2FBA-9144-B6E4-6AB5-F2538270AD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" y="2028"/>
                  <a:ext cx="693" cy="4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72" name="Object 31">
                  <a:extLst>
                    <a:ext uri="{FF2B5EF4-FFF2-40B4-BE49-F238E27FC236}">
                      <a16:creationId xmlns:a16="http://schemas.microsoft.com/office/drawing/2014/main" id="{76F31390-9931-A25D-0999-0CCF49597DEC}"/>
                    </a:ext>
                  </a:extLst>
                </p:cNvPr>
                <p:cNvSpPr txBox="1"/>
                <p:nvPr/>
              </p:nvSpPr>
              <p:spPr>
                <a:xfrm>
                  <a:off x="4971" y="2426"/>
                  <a:ext cx="693" cy="45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72" name="Object 31">
                  <a:extLst>
                    <a:ext uri="{FF2B5EF4-FFF2-40B4-BE49-F238E27FC236}">
                      <a16:creationId xmlns:a16="http://schemas.microsoft.com/office/drawing/2014/main" id="{76F31390-9931-A25D-0999-0CCF49597D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" y="2426"/>
                  <a:ext cx="693" cy="454"/>
                </a:xfrm>
                <a:prstGeom prst="rect">
                  <a:avLst/>
                </a:prstGeom>
                <a:blipFill>
                  <a:blip r:embed="rId11"/>
                  <a:stretch>
                    <a:fillRect l="-556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873" name="Group 32">
            <a:extLst>
              <a:ext uri="{FF2B5EF4-FFF2-40B4-BE49-F238E27FC236}">
                <a16:creationId xmlns:a16="http://schemas.microsoft.com/office/drawing/2014/main" id="{E91AE2E6-E883-5808-7C08-D469361AD4FD}"/>
              </a:ext>
            </a:extLst>
          </p:cNvPr>
          <p:cNvGrpSpPr/>
          <p:nvPr/>
        </p:nvGrpSpPr>
        <p:grpSpPr>
          <a:xfrm>
            <a:off x="8128000" y="4108451"/>
            <a:ext cx="4014788" cy="1579563"/>
            <a:chOff x="3168" y="2688"/>
            <a:chExt cx="2529" cy="995"/>
          </a:xfrm>
        </p:grpSpPr>
        <p:sp>
          <p:nvSpPr>
            <p:cNvPr id="164874" name="Text Box 33">
              <a:extLst>
                <a:ext uri="{FF2B5EF4-FFF2-40B4-BE49-F238E27FC236}">
                  <a16:creationId xmlns:a16="http://schemas.microsoft.com/office/drawing/2014/main" id="{36D94EE3-5252-9DEE-0878-E24751516D48}"/>
                </a:ext>
              </a:extLst>
            </p:cNvPr>
            <p:cNvSpPr txBox="1"/>
            <p:nvPr/>
          </p:nvSpPr>
          <p:spPr>
            <a:xfrm>
              <a:off x="3168" y="3264"/>
              <a:ext cx="216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CC0000"/>
                  </a:solidFill>
                </a:rPr>
                <a:t>+    +    +    +   +   +     </a:t>
              </a:r>
            </a:p>
          </p:txBody>
        </p:sp>
        <p:sp>
          <p:nvSpPr>
            <p:cNvPr id="164875" name="Rectangle 34">
              <a:extLst>
                <a:ext uri="{FF2B5EF4-FFF2-40B4-BE49-F238E27FC236}">
                  <a16:creationId xmlns:a16="http://schemas.microsoft.com/office/drawing/2014/main" id="{C0CB841D-5EBB-7426-2483-6BD46BA308DF}"/>
                </a:ext>
              </a:extLst>
            </p:cNvPr>
            <p:cNvSpPr/>
            <p:nvPr/>
          </p:nvSpPr>
          <p:spPr>
            <a:xfrm>
              <a:off x="3196" y="2688"/>
              <a:ext cx="182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</a:rPr>
                <a:t>-   -   -   -  -  -     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76" name="Object 35">
                  <a:extLst>
                    <a:ext uri="{FF2B5EF4-FFF2-40B4-BE49-F238E27FC236}">
                      <a16:creationId xmlns:a16="http://schemas.microsoft.com/office/drawing/2014/main" id="{181D82B1-9D91-131D-9FBA-4B4BC3C059B2}"/>
                    </a:ext>
                  </a:extLst>
                </p:cNvPr>
                <p:cNvSpPr txBox="1"/>
                <p:nvPr/>
              </p:nvSpPr>
              <p:spPr>
                <a:xfrm>
                  <a:off x="4978" y="3228"/>
                  <a:ext cx="719" cy="45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76" name="Object 35">
                  <a:extLst>
                    <a:ext uri="{FF2B5EF4-FFF2-40B4-BE49-F238E27FC236}">
                      <a16:creationId xmlns:a16="http://schemas.microsoft.com/office/drawing/2014/main" id="{181D82B1-9D91-131D-9FBA-4B4BC3C05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8" y="3228"/>
                  <a:ext cx="719" cy="455"/>
                </a:xfrm>
                <a:prstGeom prst="rect">
                  <a:avLst/>
                </a:prstGeom>
                <a:blipFill>
                  <a:blip r:embed="rId12"/>
                  <a:stretch>
                    <a:fillRect l="-535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77" name="Object 36">
                  <a:extLst>
                    <a:ext uri="{FF2B5EF4-FFF2-40B4-BE49-F238E27FC236}">
                      <a16:creationId xmlns:a16="http://schemas.microsoft.com/office/drawing/2014/main" id="{B788DF45-7F7F-06D3-EFFB-062EB59810A8}"/>
                    </a:ext>
                  </a:extLst>
                </p:cNvPr>
                <p:cNvSpPr txBox="1"/>
                <p:nvPr/>
              </p:nvSpPr>
              <p:spPr>
                <a:xfrm>
                  <a:off x="4978" y="2810"/>
                  <a:ext cx="719" cy="45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77" name="Object 36">
                  <a:extLst>
                    <a:ext uri="{FF2B5EF4-FFF2-40B4-BE49-F238E27FC236}">
                      <a16:creationId xmlns:a16="http://schemas.microsoft.com/office/drawing/2014/main" id="{B788DF45-7F7F-06D3-EFFB-062EB59810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8" y="2810"/>
                  <a:ext cx="719" cy="4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878" name="Group 37">
            <a:extLst>
              <a:ext uri="{FF2B5EF4-FFF2-40B4-BE49-F238E27FC236}">
                <a16:creationId xmlns:a16="http://schemas.microsoft.com/office/drawing/2014/main" id="{A5CED036-4FDE-3A79-36F7-C0B4612EDC6E}"/>
              </a:ext>
            </a:extLst>
          </p:cNvPr>
          <p:cNvGrpSpPr/>
          <p:nvPr/>
        </p:nvGrpSpPr>
        <p:grpSpPr>
          <a:xfrm>
            <a:off x="8509000" y="2889250"/>
            <a:ext cx="1066800" cy="762000"/>
            <a:chOff x="3408" y="1920"/>
            <a:chExt cx="672" cy="480"/>
          </a:xfrm>
        </p:grpSpPr>
        <p:sp>
          <p:nvSpPr>
            <p:cNvPr id="164879" name="AutoShape 38">
              <a:extLst>
                <a:ext uri="{FF2B5EF4-FFF2-40B4-BE49-F238E27FC236}">
                  <a16:creationId xmlns:a16="http://schemas.microsoft.com/office/drawing/2014/main" id="{42368B09-3D71-9199-1CD3-6134C71B2B7B}"/>
                </a:ext>
              </a:extLst>
            </p:cNvPr>
            <p:cNvSpPr/>
            <p:nvPr/>
          </p:nvSpPr>
          <p:spPr>
            <a:xfrm>
              <a:off x="3408" y="1920"/>
              <a:ext cx="672" cy="480"/>
            </a:xfrm>
            <a:prstGeom prst="can">
              <a:avLst>
                <a:gd name="adj" fmla="val 25000"/>
              </a:avLst>
            </a:prstGeom>
            <a:solidFill>
              <a:srgbClr val="CCFF99">
                <a:alpha val="50195"/>
              </a:srgbClr>
            </a:solidFill>
            <a:ln w="28575" cap="flat" cmpd="sng">
              <a:solidFill>
                <a:srgbClr val="009900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80" name="Object 39">
                  <a:extLst>
                    <a:ext uri="{FF2B5EF4-FFF2-40B4-BE49-F238E27FC236}">
                      <a16:creationId xmlns:a16="http://schemas.microsoft.com/office/drawing/2014/main" id="{F1881266-6F12-DC19-B743-65A3024CC049}"/>
                    </a:ext>
                  </a:extLst>
                </p:cNvPr>
                <p:cNvSpPr txBox="1"/>
                <p:nvPr/>
              </p:nvSpPr>
              <p:spPr>
                <a:xfrm>
                  <a:off x="3558" y="1968"/>
                  <a:ext cx="330" cy="43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80" name="Object 39">
                  <a:extLst>
                    <a:ext uri="{FF2B5EF4-FFF2-40B4-BE49-F238E27FC236}">
                      <a16:creationId xmlns:a16="http://schemas.microsoft.com/office/drawing/2014/main" id="{F1881266-6F12-DC19-B743-65A3024CC0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8" y="1968"/>
                  <a:ext cx="330" cy="432"/>
                </a:xfrm>
                <a:prstGeom prst="rect">
                  <a:avLst/>
                </a:prstGeom>
                <a:blipFill>
                  <a:blip r:embed="rId14"/>
                  <a:stretch>
                    <a:fillRect l="-3488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881" name="Group 42">
            <a:extLst>
              <a:ext uri="{FF2B5EF4-FFF2-40B4-BE49-F238E27FC236}">
                <a16:creationId xmlns:a16="http://schemas.microsoft.com/office/drawing/2014/main" id="{74920DF4-EE5C-D4AF-750E-0FCCEDD4DD54}"/>
              </a:ext>
            </a:extLst>
          </p:cNvPr>
          <p:cNvGrpSpPr/>
          <p:nvPr/>
        </p:nvGrpSpPr>
        <p:grpSpPr>
          <a:xfrm>
            <a:off x="9880601" y="3422650"/>
            <a:ext cx="682625" cy="838200"/>
            <a:chOff x="4272" y="2256"/>
            <a:chExt cx="430" cy="528"/>
          </a:xfrm>
        </p:grpSpPr>
        <p:sp>
          <p:nvSpPr>
            <p:cNvPr id="164882" name="Line 43">
              <a:extLst>
                <a:ext uri="{FF2B5EF4-FFF2-40B4-BE49-F238E27FC236}">
                  <a16:creationId xmlns:a16="http://schemas.microsoft.com/office/drawing/2014/main" id="{3A99B20C-3BBA-FE55-C030-6D9B387B0322}"/>
                </a:ext>
              </a:extLst>
            </p:cNvPr>
            <p:cNvSpPr/>
            <p:nvPr/>
          </p:nvSpPr>
          <p:spPr>
            <a:xfrm>
              <a:off x="4272" y="2256"/>
              <a:ext cx="0" cy="528"/>
            </a:xfrm>
            <a:prstGeom prst="line">
              <a:avLst/>
            </a:prstGeom>
            <a:ln w="76200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83" name="Object 44">
                  <a:extLst>
                    <a:ext uri="{FF2B5EF4-FFF2-40B4-BE49-F238E27FC236}">
                      <a16:creationId xmlns:a16="http://schemas.microsoft.com/office/drawing/2014/main" id="{2DD2DA26-4D5A-89E8-1B9D-8CCE3BB22185}"/>
                    </a:ext>
                  </a:extLst>
                </p:cNvPr>
                <p:cNvSpPr txBox="1"/>
                <p:nvPr/>
              </p:nvSpPr>
              <p:spPr>
                <a:xfrm>
                  <a:off x="4330" y="2304"/>
                  <a:ext cx="372" cy="48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83" name="Object 44">
                  <a:extLst>
                    <a:ext uri="{FF2B5EF4-FFF2-40B4-BE49-F238E27FC236}">
                      <a16:creationId xmlns:a16="http://schemas.microsoft.com/office/drawing/2014/main" id="{2DD2DA26-4D5A-89E8-1B9D-8CCE3BB221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0" y="2304"/>
                  <a:ext cx="372" cy="48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884" name="Group 45">
            <a:extLst>
              <a:ext uri="{FF2B5EF4-FFF2-40B4-BE49-F238E27FC236}">
                <a16:creationId xmlns:a16="http://schemas.microsoft.com/office/drawing/2014/main" id="{80BA2DB3-CF45-937D-0273-9DA1E3898505}"/>
              </a:ext>
            </a:extLst>
          </p:cNvPr>
          <p:cNvGrpSpPr/>
          <p:nvPr/>
        </p:nvGrpSpPr>
        <p:grpSpPr>
          <a:xfrm>
            <a:off x="9880600" y="4489450"/>
            <a:ext cx="687388" cy="838200"/>
            <a:chOff x="4272" y="2928"/>
            <a:chExt cx="433" cy="528"/>
          </a:xfrm>
        </p:grpSpPr>
        <p:sp>
          <p:nvSpPr>
            <p:cNvPr id="164885" name="Line 46">
              <a:extLst>
                <a:ext uri="{FF2B5EF4-FFF2-40B4-BE49-F238E27FC236}">
                  <a16:creationId xmlns:a16="http://schemas.microsoft.com/office/drawing/2014/main" id="{97EDC7AC-BEB2-C705-1F42-7496A6717B50}"/>
                </a:ext>
              </a:extLst>
            </p:cNvPr>
            <p:cNvSpPr/>
            <p:nvPr/>
          </p:nvSpPr>
          <p:spPr>
            <a:xfrm>
              <a:off x="4272" y="2976"/>
              <a:ext cx="0" cy="480"/>
            </a:xfrm>
            <a:prstGeom prst="line">
              <a:avLst/>
            </a:prstGeom>
            <a:ln w="76200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86" name="Object 47">
                  <a:extLst>
                    <a:ext uri="{FF2B5EF4-FFF2-40B4-BE49-F238E27FC236}">
                      <a16:creationId xmlns:a16="http://schemas.microsoft.com/office/drawing/2014/main" id="{7F7BD4F8-ACE8-B1BA-9894-93EA7E56584F}"/>
                    </a:ext>
                  </a:extLst>
                </p:cNvPr>
                <p:cNvSpPr txBox="1"/>
                <p:nvPr/>
              </p:nvSpPr>
              <p:spPr>
                <a:xfrm>
                  <a:off x="4307" y="2928"/>
                  <a:ext cx="398" cy="48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86" name="Object 47">
                  <a:extLst>
                    <a:ext uri="{FF2B5EF4-FFF2-40B4-BE49-F238E27FC236}">
                      <a16:creationId xmlns:a16="http://schemas.microsoft.com/office/drawing/2014/main" id="{7F7BD4F8-ACE8-B1BA-9894-93EA7E5658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7" y="2928"/>
                  <a:ext cx="398" cy="48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4887" name="Text Box 20">
                <a:extLst>
                  <a:ext uri="{FF2B5EF4-FFF2-40B4-BE49-F238E27FC236}">
                    <a16:creationId xmlns:a16="http://schemas.microsoft.com/office/drawing/2014/main" id="{2491D069-F827-8451-C9A9-F3AEB69AF333}"/>
                  </a:ext>
                </a:extLst>
              </p:cNvPr>
              <p:cNvSpPr txBox="1"/>
              <p:nvPr/>
            </p:nvSpPr>
            <p:spPr>
              <a:xfrm>
                <a:off x="5953125" y="712079"/>
                <a:ext cx="6189663" cy="13292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600" dirty="0"/>
                  <a:t>一平行平板电容器充满两层厚度各为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600" i="0">
                            <a:solidFill>
                              <a:srgbClr val="00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zh-CN" altLang="en-US" sz="2600" i="0">
                            <a:solidFill>
                              <a:srgbClr val="000000"/>
                            </a:solidFill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6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600">
                            <a:solidFill>
                              <a:srgbClr val="00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zh-CN" altLang="en-US" sz="2600">
                            <a:solidFill>
                              <a:srgbClr val="000000"/>
                            </a:solidFill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600" dirty="0"/>
                  <a:t> 的电介质，它们的相对电容率分别为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600" dirty="0"/>
                  <a:t> 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600" dirty="0"/>
                  <a:t> </a:t>
                </a:r>
                <a:r>
                  <a:rPr lang="en-US" altLang="zh-CN" sz="2600" dirty="0"/>
                  <a:t>,  </a:t>
                </a:r>
                <a:r>
                  <a:rPr lang="zh-CN" altLang="en-US" sz="2600" dirty="0"/>
                  <a:t>极板面积为</a:t>
                </a: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zh-CN" alt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600" dirty="0"/>
                  <a:t>电荷密度为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64887" name="Text Box 20">
                <a:extLst>
                  <a:ext uri="{FF2B5EF4-FFF2-40B4-BE49-F238E27FC236}">
                    <a16:creationId xmlns:a16="http://schemas.microsoft.com/office/drawing/2014/main" id="{2491D069-F827-8451-C9A9-F3AEB69AF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25" y="712079"/>
                <a:ext cx="6189663" cy="1329210"/>
              </a:xfrm>
              <a:prstGeom prst="rect">
                <a:avLst/>
              </a:prstGeom>
              <a:blipFill>
                <a:blip r:embed="rId17"/>
                <a:stretch>
                  <a:fillRect l="-1773" t="-3670" b="-10550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890" name="Object 2"/>
              <p:cNvSpPr txBox="1"/>
              <p:nvPr/>
            </p:nvSpPr>
            <p:spPr>
              <a:xfrm>
                <a:off x="1235870" y="3763963"/>
                <a:ext cx="4419600" cy="8620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acc>
                            <m:accPr>
                              <m:chr m:val="⃑"/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zh-CN" altLang="en-US" sz="2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⃑"/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6589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870" y="3763963"/>
                <a:ext cx="4419600" cy="86201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891" name="Object 3"/>
              <p:cNvSpPr txBox="1"/>
              <p:nvPr/>
            </p:nvSpPr>
            <p:spPr>
              <a:xfrm>
                <a:off x="2240757" y="4704557"/>
                <a:ext cx="2820193" cy="12446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6589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757" y="4704557"/>
                <a:ext cx="2820193" cy="12446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892" name="Object 4"/>
              <p:cNvSpPr txBox="1"/>
              <p:nvPr/>
            </p:nvSpPr>
            <p:spPr>
              <a:xfrm>
                <a:off x="1464470" y="5845176"/>
                <a:ext cx="3886200" cy="12287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6589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470" y="5845176"/>
                <a:ext cx="3886200" cy="122872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6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904" grpId="0"/>
      <p:bldP spid="164905" grpId="0"/>
      <p:bldP spid="164912" grpId="0"/>
      <p:bldP spid="164913" grpId="0"/>
      <p:bldP spid="165890" grpId="0"/>
      <p:bldP spid="165891" grpId="0"/>
      <p:bldP spid="16589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39" name="Object 21"/>
          <p:cNvSpPr txBox="1"/>
          <p:nvPr/>
        </p:nvSpPr>
        <p:spPr>
          <a:xfrm>
            <a:off x="9001126" y="549275"/>
            <a:ext cx="523875" cy="685800"/>
          </a:xfrm>
          <a:prstGeom prst="rect">
            <a:avLst/>
          </a:prstGeom>
          <a:noFill/>
          <a:ln w="38100">
            <a:noFill/>
            <a:miter/>
          </a:ln>
        </p:spPr>
        <p:txBody>
          <a:bodyPr>
            <a:normAutofit/>
          </a:bodyPr>
          <a:lstStyle/>
          <a:p>
            <a:endParaRPr lang="zh-CN" altLang="en-US" sz="2400" dirty="0"/>
          </a:p>
        </p:txBody>
      </p:sp>
      <p:sp>
        <p:nvSpPr>
          <p:cNvPr id="56340" name="Object 22"/>
          <p:cNvSpPr txBox="1"/>
          <p:nvPr/>
        </p:nvSpPr>
        <p:spPr>
          <a:xfrm>
            <a:off x="9875838" y="549275"/>
            <a:ext cx="563562" cy="685800"/>
          </a:xfrm>
          <a:prstGeom prst="rect">
            <a:avLst/>
          </a:prstGeom>
          <a:noFill/>
          <a:ln w="38100">
            <a:noFill/>
            <a:miter/>
          </a:ln>
        </p:spPr>
        <p:txBody>
          <a:bodyPr>
            <a:normAutofit/>
          </a:bodyPr>
          <a:lstStyle/>
          <a:p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912" name="Object 48"/>
              <p:cNvSpPr txBox="1"/>
              <p:nvPr/>
            </p:nvSpPr>
            <p:spPr>
              <a:xfrm>
                <a:off x="799703" y="2247268"/>
                <a:ext cx="3352800" cy="12985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64912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03" y="2247268"/>
                <a:ext cx="3352800" cy="12985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913" name="Object 49"/>
              <p:cNvSpPr txBox="1"/>
              <p:nvPr/>
            </p:nvSpPr>
            <p:spPr>
              <a:xfrm>
                <a:off x="3750073" y="2307591"/>
                <a:ext cx="3395662" cy="12890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64913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073" y="2307591"/>
                <a:ext cx="3395662" cy="1289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2">
            <a:extLst>
              <a:ext uri="{FF2B5EF4-FFF2-40B4-BE49-F238E27FC236}">
                <a16:creationId xmlns:a16="http://schemas.microsoft.com/office/drawing/2014/main" id="{B3ECDBE8-2737-2FB2-E6E2-7EDCFADFAD7C}"/>
              </a:ext>
            </a:extLst>
          </p:cNvPr>
          <p:cNvGrpSpPr/>
          <p:nvPr/>
        </p:nvGrpSpPr>
        <p:grpSpPr>
          <a:xfrm>
            <a:off x="7366000" y="2432050"/>
            <a:ext cx="4724400" cy="3810000"/>
            <a:chOff x="2688" y="1632"/>
            <a:chExt cx="2976" cy="2400"/>
          </a:xfrm>
        </p:grpSpPr>
        <p:sp>
          <p:nvSpPr>
            <p:cNvPr id="50" name="Rectangle 3">
              <a:extLst>
                <a:ext uri="{FF2B5EF4-FFF2-40B4-BE49-F238E27FC236}">
                  <a16:creationId xmlns:a16="http://schemas.microsoft.com/office/drawing/2014/main" id="{3712435F-F05E-6D84-7757-9D0C127CAC89}"/>
                </a:ext>
              </a:extLst>
            </p:cNvPr>
            <p:cNvSpPr/>
            <p:nvPr/>
          </p:nvSpPr>
          <p:spPr>
            <a:xfrm>
              <a:off x="2688" y="1632"/>
              <a:ext cx="2976" cy="2400"/>
            </a:xfrm>
            <a:prstGeom prst="rect">
              <a:avLst/>
            </a:prstGeom>
            <a:solidFill>
              <a:schemeClr val="bg1"/>
            </a:solidFill>
            <a:ln w="9525" cap="flat" cmpd="sng">
              <a:noFill/>
              <a:prstDash val="solid"/>
              <a:miter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1" name="Rectangle 4" descr="20%">
              <a:extLst>
                <a:ext uri="{FF2B5EF4-FFF2-40B4-BE49-F238E27FC236}">
                  <a16:creationId xmlns:a16="http://schemas.microsoft.com/office/drawing/2014/main" id="{02761358-6CCF-6D70-17C9-C1CC6A98932C}"/>
                </a:ext>
              </a:extLst>
            </p:cNvPr>
            <p:cNvSpPr/>
            <p:nvPr/>
          </p:nvSpPr>
          <p:spPr>
            <a:xfrm>
              <a:off x="3159" y="2160"/>
              <a:ext cx="1852" cy="720"/>
            </a:xfrm>
            <a:prstGeom prst="rect">
              <a:avLst/>
            </a:prstGeom>
            <a:pattFill prst="pct20">
              <a:fgClr>
                <a:srgbClr val="0033CC"/>
              </a:fgClr>
              <a:bgClr>
                <a:srgbClr val="EBEBFF"/>
              </a:bgClr>
            </a:pattFill>
            <a:ln w="19050" cap="flat" cmpd="sng">
              <a:solidFill>
                <a:srgbClr val="CDCD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2" name="Rectangle 5" descr="20%">
              <a:extLst>
                <a:ext uri="{FF2B5EF4-FFF2-40B4-BE49-F238E27FC236}">
                  <a16:creationId xmlns:a16="http://schemas.microsoft.com/office/drawing/2014/main" id="{2A1D5F39-6B5B-1F17-4D05-1E583BEE7BC5}"/>
                </a:ext>
              </a:extLst>
            </p:cNvPr>
            <p:cNvSpPr/>
            <p:nvPr/>
          </p:nvSpPr>
          <p:spPr>
            <a:xfrm>
              <a:off x="3159" y="2880"/>
              <a:ext cx="1852" cy="672"/>
            </a:xfrm>
            <a:prstGeom prst="rect">
              <a:avLst/>
            </a:prstGeom>
            <a:pattFill prst="pct20">
              <a:fgClr>
                <a:srgbClr val="996633"/>
              </a:fgClr>
              <a:bgClr>
                <a:srgbClr val="FFFFE1"/>
              </a:bgClr>
            </a:pattFill>
            <a:ln w="19050" cap="flat" cmpd="sng">
              <a:solidFill>
                <a:srgbClr val="E2C5A8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3" name="Rectangle 6">
              <a:extLst>
                <a:ext uri="{FF2B5EF4-FFF2-40B4-BE49-F238E27FC236}">
                  <a16:creationId xmlns:a16="http://schemas.microsoft.com/office/drawing/2014/main" id="{59087EA2-7AC8-3B64-6B05-C5437DEBE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1728"/>
              <a:ext cx="1852" cy="432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6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srgbClr val="1C1C1C"/>
                </a:solidFill>
              </a:endParaRPr>
            </a:p>
          </p:txBody>
        </p:sp>
        <p:sp>
          <p:nvSpPr>
            <p:cNvPr id="54" name="Rectangle 7">
              <a:extLst>
                <a:ext uri="{FF2B5EF4-FFF2-40B4-BE49-F238E27FC236}">
                  <a16:creationId xmlns:a16="http://schemas.microsoft.com/office/drawing/2014/main" id="{0F7C3D7E-A97C-2151-1DA0-9C378D453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3543"/>
              <a:ext cx="1852" cy="4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66275"/>
                    <a:invGamma/>
                  </a:schemeClr>
                </a:gs>
              </a:gsLst>
              <a:lin ang="5400000" scaled="1"/>
            </a:gradFill>
            <a:ln w="1905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b="1">
                <a:solidFill>
                  <a:srgbClr val="1C1C1C"/>
                </a:solidFill>
              </a:endParaRPr>
            </a:p>
          </p:txBody>
        </p:sp>
        <p:sp>
          <p:nvSpPr>
            <p:cNvPr id="55" name="Rectangle 8">
              <a:extLst>
                <a:ext uri="{FF2B5EF4-FFF2-40B4-BE49-F238E27FC236}">
                  <a16:creationId xmlns:a16="http://schemas.microsoft.com/office/drawing/2014/main" id="{B75EA4CB-19F3-346C-B45E-2184CD7F20CA}"/>
                </a:ext>
              </a:extLst>
            </p:cNvPr>
            <p:cNvSpPr/>
            <p:nvPr/>
          </p:nvSpPr>
          <p:spPr>
            <a:xfrm>
              <a:off x="3168" y="1968"/>
              <a:ext cx="196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CC0000"/>
                  </a:solidFill>
                </a:rPr>
                <a:t>+ + + + + + + + + + +</a:t>
              </a:r>
            </a:p>
          </p:txBody>
        </p:sp>
        <p:sp>
          <p:nvSpPr>
            <p:cNvPr id="56" name="Rectangle 9">
              <a:extLst>
                <a:ext uri="{FF2B5EF4-FFF2-40B4-BE49-F238E27FC236}">
                  <a16:creationId xmlns:a16="http://schemas.microsoft.com/office/drawing/2014/main" id="{8DB7BE19-2A99-6DD2-0BEB-E45ADD794681}"/>
                </a:ext>
              </a:extLst>
            </p:cNvPr>
            <p:cNvSpPr/>
            <p:nvPr/>
          </p:nvSpPr>
          <p:spPr>
            <a:xfrm>
              <a:off x="3139" y="3351"/>
              <a:ext cx="1312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</a:rPr>
                <a:t>- - - - - - - - - - -</a:t>
              </a:r>
            </a:p>
          </p:txBody>
        </p:sp>
        <p:sp>
          <p:nvSpPr>
            <p:cNvPr id="57" name="Line 10">
              <a:extLst>
                <a:ext uri="{FF2B5EF4-FFF2-40B4-BE49-F238E27FC236}">
                  <a16:creationId xmlns:a16="http://schemas.microsoft.com/office/drawing/2014/main" id="{8D93A689-14AC-038F-8598-EC4C27E99411}"/>
                </a:ext>
              </a:extLst>
            </p:cNvPr>
            <p:cNvSpPr/>
            <p:nvPr/>
          </p:nvSpPr>
          <p:spPr>
            <a:xfrm>
              <a:off x="2784" y="2160"/>
              <a:ext cx="35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8" name="Line 11">
              <a:extLst>
                <a:ext uri="{FF2B5EF4-FFF2-40B4-BE49-F238E27FC236}">
                  <a16:creationId xmlns:a16="http://schemas.microsoft.com/office/drawing/2014/main" id="{A7DB2487-A151-357C-2D66-E683124BD6A5}"/>
                </a:ext>
              </a:extLst>
            </p:cNvPr>
            <p:cNvSpPr/>
            <p:nvPr/>
          </p:nvSpPr>
          <p:spPr>
            <a:xfrm>
              <a:off x="2784" y="2880"/>
              <a:ext cx="40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9" name="Line 12">
              <a:extLst>
                <a:ext uri="{FF2B5EF4-FFF2-40B4-BE49-F238E27FC236}">
                  <a16:creationId xmlns:a16="http://schemas.microsoft.com/office/drawing/2014/main" id="{81CE888D-3097-DF7F-E40D-6D11DFB8251C}"/>
                </a:ext>
              </a:extLst>
            </p:cNvPr>
            <p:cNvSpPr/>
            <p:nvPr/>
          </p:nvSpPr>
          <p:spPr>
            <a:xfrm>
              <a:off x="2784" y="3552"/>
              <a:ext cx="35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0" name="Line 13">
              <a:extLst>
                <a:ext uri="{FF2B5EF4-FFF2-40B4-BE49-F238E27FC236}">
                  <a16:creationId xmlns:a16="http://schemas.microsoft.com/office/drawing/2014/main" id="{D9414A96-9C15-7E83-FAAE-F5B21EE2ADA7}"/>
                </a:ext>
              </a:extLst>
            </p:cNvPr>
            <p:cNvSpPr/>
            <p:nvPr/>
          </p:nvSpPr>
          <p:spPr>
            <a:xfrm>
              <a:off x="3072" y="2160"/>
              <a:ext cx="0" cy="72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p:sp>
          <p:nvSpPr>
            <p:cNvPr id="61" name="Line 14">
              <a:extLst>
                <a:ext uri="{FF2B5EF4-FFF2-40B4-BE49-F238E27FC236}">
                  <a16:creationId xmlns:a16="http://schemas.microsoft.com/office/drawing/2014/main" id="{AF0508A9-C900-09F4-7B9B-97A9B014B4D1}"/>
                </a:ext>
              </a:extLst>
            </p:cNvPr>
            <p:cNvSpPr/>
            <p:nvPr/>
          </p:nvSpPr>
          <p:spPr>
            <a:xfrm>
              <a:off x="3072" y="2880"/>
              <a:ext cx="0" cy="67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Object 15">
                  <a:extLst>
                    <a:ext uri="{FF2B5EF4-FFF2-40B4-BE49-F238E27FC236}">
                      <a16:creationId xmlns:a16="http://schemas.microsoft.com/office/drawing/2014/main" id="{5CF3EEB3-DDD9-DAAE-01AE-4D07D7C225B0}"/>
                    </a:ext>
                  </a:extLst>
                </p:cNvPr>
                <p:cNvSpPr txBox="1"/>
                <p:nvPr/>
              </p:nvSpPr>
              <p:spPr>
                <a:xfrm>
                  <a:off x="2742" y="2208"/>
                  <a:ext cx="330" cy="43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62" name="Object 15">
                  <a:extLst>
                    <a:ext uri="{FF2B5EF4-FFF2-40B4-BE49-F238E27FC236}">
                      <a16:creationId xmlns:a16="http://schemas.microsoft.com/office/drawing/2014/main" id="{5CF3EEB3-DDD9-DAAE-01AE-4D07D7C225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2" y="2208"/>
                  <a:ext cx="330" cy="432"/>
                </a:xfrm>
                <a:prstGeom prst="rect">
                  <a:avLst/>
                </a:prstGeom>
                <a:blipFill>
                  <a:blip r:embed="rId4"/>
                  <a:stretch>
                    <a:fillRect l="-3488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Object 16">
                  <a:extLst>
                    <a:ext uri="{FF2B5EF4-FFF2-40B4-BE49-F238E27FC236}">
                      <a16:creationId xmlns:a16="http://schemas.microsoft.com/office/drawing/2014/main" id="{736D0B00-5B1D-A708-FE0E-4F222297267D}"/>
                    </a:ext>
                  </a:extLst>
                </p:cNvPr>
                <p:cNvSpPr txBox="1"/>
                <p:nvPr/>
              </p:nvSpPr>
              <p:spPr>
                <a:xfrm>
                  <a:off x="2717" y="2832"/>
                  <a:ext cx="355" cy="43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63" name="Object 16">
                  <a:extLst>
                    <a:ext uri="{FF2B5EF4-FFF2-40B4-BE49-F238E27FC236}">
                      <a16:creationId xmlns:a16="http://schemas.microsoft.com/office/drawing/2014/main" id="{736D0B00-5B1D-A708-FE0E-4F22229726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7" y="2832"/>
                  <a:ext cx="355" cy="432"/>
                </a:xfrm>
                <a:prstGeom prst="rect">
                  <a:avLst/>
                </a:prstGeom>
                <a:blipFill>
                  <a:blip r:embed="rId5"/>
                  <a:stretch>
                    <a:fillRect l="-3261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64" name="Object 17">
                  <a:extLst>
                    <a:ext uri="{FF2B5EF4-FFF2-40B4-BE49-F238E27FC236}">
                      <a16:creationId xmlns:a16="http://schemas.microsoft.com/office/drawing/2014/main" id="{A1FF444D-7B6E-7449-5EBF-06A76E08DBA4}"/>
                    </a:ext>
                  </a:extLst>
                </p:cNvPr>
                <p:cNvSpPr txBox="1"/>
                <p:nvPr/>
              </p:nvSpPr>
              <p:spPr>
                <a:xfrm>
                  <a:off x="4339" y="1680"/>
                  <a:ext cx="640" cy="48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64" name="Object 17">
                  <a:extLst>
                    <a:ext uri="{FF2B5EF4-FFF2-40B4-BE49-F238E27FC236}">
                      <a16:creationId xmlns:a16="http://schemas.microsoft.com/office/drawing/2014/main" id="{A1FF444D-7B6E-7449-5EBF-06A76E08DB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9" y="1680"/>
                  <a:ext cx="640" cy="480"/>
                </a:xfrm>
                <a:prstGeom prst="rect">
                  <a:avLst/>
                </a:prstGeom>
                <a:blipFill>
                  <a:blip r:embed="rId6"/>
                  <a:stretch>
                    <a:fillRect l="-599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65" name="Object 18">
                  <a:extLst>
                    <a:ext uri="{FF2B5EF4-FFF2-40B4-BE49-F238E27FC236}">
                      <a16:creationId xmlns:a16="http://schemas.microsoft.com/office/drawing/2014/main" id="{BF3FA351-9858-2496-BEBB-22E37EE70B28}"/>
                    </a:ext>
                  </a:extLst>
                </p:cNvPr>
                <p:cNvSpPr txBox="1"/>
                <p:nvPr/>
              </p:nvSpPr>
              <p:spPr>
                <a:xfrm>
                  <a:off x="4371" y="3543"/>
                  <a:ext cx="640" cy="48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65" name="Object 18">
                  <a:extLst>
                    <a:ext uri="{FF2B5EF4-FFF2-40B4-BE49-F238E27FC236}">
                      <a16:creationId xmlns:a16="http://schemas.microsoft.com/office/drawing/2014/main" id="{BF3FA351-9858-2496-BEBB-22E37EE70B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1" y="3543"/>
                  <a:ext cx="640" cy="48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866" name="Group 27">
            <a:extLst>
              <a:ext uri="{FF2B5EF4-FFF2-40B4-BE49-F238E27FC236}">
                <a16:creationId xmlns:a16="http://schemas.microsoft.com/office/drawing/2014/main" id="{5367C784-F794-27C6-A6E3-F0ABEE1A2F55}"/>
              </a:ext>
            </a:extLst>
          </p:cNvPr>
          <p:cNvGrpSpPr/>
          <p:nvPr/>
        </p:nvGrpSpPr>
        <p:grpSpPr>
          <a:xfrm>
            <a:off x="8158164" y="3041650"/>
            <a:ext cx="3932237" cy="1390650"/>
            <a:chOff x="3187" y="2016"/>
            <a:chExt cx="2477" cy="876"/>
          </a:xfrm>
        </p:grpSpPr>
        <p:sp>
          <p:nvSpPr>
            <p:cNvPr id="164867" name="Rectangle 28">
              <a:extLst>
                <a:ext uri="{FF2B5EF4-FFF2-40B4-BE49-F238E27FC236}">
                  <a16:creationId xmlns:a16="http://schemas.microsoft.com/office/drawing/2014/main" id="{4BE03F24-11FD-06A8-23DC-083D94BA5232}"/>
                </a:ext>
              </a:extLst>
            </p:cNvPr>
            <p:cNvSpPr/>
            <p:nvPr/>
          </p:nvSpPr>
          <p:spPr>
            <a:xfrm>
              <a:off x="3207" y="2016"/>
              <a:ext cx="182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</a:rPr>
                <a:t>-   -   -   -  -  -        </a:t>
              </a:r>
            </a:p>
          </p:txBody>
        </p:sp>
        <p:sp>
          <p:nvSpPr>
            <p:cNvPr id="164868" name="Text Box 29">
              <a:extLst>
                <a:ext uri="{FF2B5EF4-FFF2-40B4-BE49-F238E27FC236}">
                  <a16:creationId xmlns:a16="http://schemas.microsoft.com/office/drawing/2014/main" id="{9D8C9CB9-5F49-DD3F-621C-6E995EABA1E7}"/>
                </a:ext>
              </a:extLst>
            </p:cNvPr>
            <p:cNvSpPr txBox="1"/>
            <p:nvPr/>
          </p:nvSpPr>
          <p:spPr>
            <a:xfrm>
              <a:off x="3187" y="2601"/>
              <a:ext cx="216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CC0000"/>
                  </a:solidFill>
                </a:rPr>
                <a:t>+    +    +    +   +   +  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69" name="Object 30">
                  <a:extLst>
                    <a:ext uri="{FF2B5EF4-FFF2-40B4-BE49-F238E27FC236}">
                      <a16:creationId xmlns:a16="http://schemas.microsoft.com/office/drawing/2014/main" id="{25BF2FBA-9144-B6E4-6AB5-F2538270AD6B}"/>
                    </a:ext>
                  </a:extLst>
                </p:cNvPr>
                <p:cNvSpPr txBox="1"/>
                <p:nvPr/>
              </p:nvSpPr>
              <p:spPr>
                <a:xfrm>
                  <a:off x="4968" y="2028"/>
                  <a:ext cx="693" cy="45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69" name="Object 30">
                  <a:extLst>
                    <a:ext uri="{FF2B5EF4-FFF2-40B4-BE49-F238E27FC236}">
                      <a16:creationId xmlns:a16="http://schemas.microsoft.com/office/drawing/2014/main" id="{25BF2FBA-9144-B6E4-6AB5-F2538270AD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" y="2028"/>
                  <a:ext cx="693" cy="4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72" name="Object 31">
                  <a:extLst>
                    <a:ext uri="{FF2B5EF4-FFF2-40B4-BE49-F238E27FC236}">
                      <a16:creationId xmlns:a16="http://schemas.microsoft.com/office/drawing/2014/main" id="{76F31390-9931-A25D-0999-0CCF49597DEC}"/>
                    </a:ext>
                  </a:extLst>
                </p:cNvPr>
                <p:cNvSpPr txBox="1"/>
                <p:nvPr/>
              </p:nvSpPr>
              <p:spPr>
                <a:xfrm>
                  <a:off x="4971" y="2426"/>
                  <a:ext cx="693" cy="45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72" name="Object 31">
                  <a:extLst>
                    <a:ext uri="{FF2B5EF4-FFF2-40B4-BE49-F238E27FC236}">
                      <a16:creationId xmlns:a16="http://schemas.microsoft.com/office/drawing/2014/main" id="{76F31390-9931-A25D-0999-0CCF49597D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" y="2426"/>
                  <a:ext cx="693" cy="454"/>
                </a:xfrm>
                <a:prstGeom prst="rect">
                  <a:avLst/>
                </a:prstGeom>
                <a:blipFill>
                  <a:blip r:embed="rId9"/>
                  <a:stretch>
                    <a:fillRect l="-556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873" name="Group 32">
            <a:extLst>
              <a:ext uri="{FF2B5EF4-FFF2-40B4-BE49-F238E27FC236}">
                <a16:creationId xmlns:a16="http://schemas.microsoft.com/office/drawing/2014/main" id="{E91AE2E6-E883-5808-7C08-D469361AD4FD}"/>
              </a:ext>
            </a:extLst>
          </p:cNvPr>
          <p:cNvGrpSpPr/>
          <p:nvPr/>
        </p:nvGrpSpPr>
        <p:grpSpPr>
          <a:xfrm>
            <a:off x="8128000" y="4108451"/>
            <a:ext cx="4014788" cy="1579563"/>
            <a:chOff x="3168" y="2688"/>
            <a:chExt cx="2529" cy="995"/>
          </a:xfrm>
        </p:grpSpPr>
        <p:sp>
          <p:nvSpPr>
            <p:cNvPr id="164874" name="Text Box 33">
              <a:extLst>
                <a:ext uri="{FF2B5EF4-FFF2-40B4-BE49-F238E27FC236}">
                  <a16:creationId xmlns:a16="http://schemas.microsoft.com/office/drawing/2014/main" id="{36D94EE3-5252-9DEE-0878-E24751516D48}"/>
                </a:ext>
              </a:extLst>
            </p:cNvPr>
            <p:cNvSpPr txBox="1"/>
            <p:nvPr/>
          </p:nvSpPr>
          <p:spPr>
            <a:xfrm>
              <a:off x="3168" y="3264"/>
              <a:ext cx="216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CC0000"/>
                  </a:solidFill>
                </a:rPr>
                <a:t>+    +    +    +   +   +     </a:t>
              </a:r>
            </a:p>
          </p:txBody>
        </p:sp>
        <p:sp>
          <p:nvSpPr>
            <p:cNvPr id="164875" name="Rectangle 34">
              <a:extLst>
                <a:ext uri="{FF2B5EF4-FFF2-40B4-BE49-F238E27FC236}">
                  <a16:creationId xmlns:a16="http://schemas.microsoft.com/office/drawing/2014/main" id="{C0CB841D-5EBB-7426-2483-6BD46BA308DF}"/>
                </a:ext>
              </a:extLst>
            </p:cNvPr>
            <p:cNvSpPr/>
            <p:nvPr/>
          </p:nvSpPr>
          <p:spPr>
            <a:xfrm>
              <a:off x="3196" y="2688"/>
              <a:ext cx="182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</a:rPr>
                <a:t>-   -   -   -  -  -     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76" name="Object 35">
                  <a:extLst>
                    <a:ext uri="{FF2B5EF4-FFF2-40B4-BE49-F238E27FC236}">
                      <a16:creationId xmlns:a16="http://schemas.microsoft.com/office/drawing/2014/main" id="{181D82B1-9D91-131D-9FBA-4B4BC3C059B2}"/>
                    </a:ext>
                  </a:extLst>
                </p:cNvPr>
                <p:cNvSpPr txBox="1"/>
                <p:nvPr/>
              </p:nvSpPr>
              <p:spPr>
                <a:xfrm>
                  <a:off x="4978" y="3228"/>
                  <a:ext cx="719" cy="45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76" name="Object 35">
                  <a:extLst>
                    <a:ext uri="{FF2B5EF4-FFF2-40B4-BE49-F238E27FC236}">
                      <a16:creationId xmlns:a16="http://schemas.microsoft.com/office/drawing/2014/main" id="{181D82B1-9D91-131D-9FBA-4B4BC3C05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8" y="3228"/>
                  <a:ext cx="719" cy="455"/>
                </a:xfrm>
                <a:prstGeom prst="rect">
                  <a:avLst/>
                </a:prstGeom>
                <a:blipFill>
                  <a:blip r:embed="rId10"/>
                  <a:stretch>
                    <a:fillRect l="-535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77" name="Object 36">
                  <a:extLst>
                    <a:ext uri="{FF2B5EF4-FFF2-40B4-BE49-F238E27FC236}">
                      <a16:creationId xmlns:a16="http://schemas.microsoft.com/office/drawing/2014/main" id="{B788DF45-7F7F-06D3-EFFB-062EB59810A8}"/>
                    </a:ext>
                  </a:extLst>
                </p:cNvPr>
                <p:cNvSpPr txBox="1"/>
                <p:nvPr/>
              </p:nvSpPr>
              <p:spPr>
                <a:xfrm>
                  <a:off x="4978" y="2810"/>
                  <a:ext cx="719" cy="45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77" name="Object 36">
                  <a:extLst>
                    <a:ext uri="{FF2B5EF4-FFF2-40B4-BE49-F238E27FC236}">
                      <a16:creationId xmlns:a16="http://schemas.microsoft.com/office/drawing/2014/main" id="{B788DF45-7F7F-06D3-EFFB-062EB59810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8" y="2810"/>
                  <a:ext cx="719" cy="4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878" name="Group 37">
            <a:extLst>
              <a:ext uri="{FF2B5EF4-FFF2-40B4-BE49-F238E27FC236}">
                <a16:creationId xmlns:a16="http://schemas.microsoft.com/office/drawing/2014/main" id="{A5CED036-4FDE-3A79-36F7-C0B4612EDC6E}"/>
              </a:ext>
            </a:extLst>
          </p:cNvPr>
          <p:cNvGrpSpPr/>
          <p:nvPr/>
        </p:nvGrpSpPr>
        <p:grpSpPr>
          <a:xfrm>
            <a:off x="8509000" y="2889250"/>
            <a:ext cx="1066800" cy="762000"/>
            <a:chOff x="3408" y="1920"/>
            <a:chExt cx="672" cy="480"/>
          </a:xfrm>
        </p:grpSpPr>
        <p:sp>
          <p:nvSpPr>
            <p:cNvPr id="164879" name="AutoShape 38">
              <a:extLst>
                <a:ext uri="{FF2B5EF4-FFF2-40B4-BE49-F238E27FC236}">
                  <a16:creationId xmlns:a16="http://schemas.microsoft.com/office/drawing/2014/main" id="{42368B09-3D71-9199-1CD3-6134C71B2B7B}"/>
                </a:ext>
              </a:extLst>
            </p:cNvPr>
            <p:cNvSpPr/>
            <p:nvPr/>
          </p:nvSpPr>
          <p:spPr>
            <a:xfrm>
              <a:off x="3408" y="1920"/>
              <a:ext cx="672" cy="480"/>
            </a:xfrm>
            <a:prstGeom prst="can">
              <a:avLst>
                <a:gd name="adj" fmla="val 25000"/>
              </a:avLst>
            </a:prstGeom>
            <a:solidFill>
              <a:srgbClr val="CCFF99">
                <a:alpha val="50195"/>
              </a:srgbClr>
            </a:solidFill>
            <a:ln w="28575" cap="flat" cmpd="sng">
              <a:solidFill>
                <a:srgbClr val="009900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80" name="Object 39">
                  <a:extLst>
                    <a:ext uri="{FF2B5EF4-FFF2-40B4-BE49-F238E27FC236}">
                      <a16:creationId xmlns:a16="http://schemas.microsoft.com/office/drawing/2014/main" id="{F1881266-6F12-DC19-B743-65A3024CC049}"/>
                    </a:ext>
                  </a:extLst>
                </p:cNvPr>
                <p:cNvSpPr txBox="1"/>
                <p:nvPr/>
              </p:nvSpPr>
              <p:spPr>
                <a:xfrm>
                  <a:off x="3558" y="1968"/>
                  <a:ext cx="330" cy="43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80" name="Object 39">
                  <a:extLst>
                    <a:ext uri="{FF2B5EF4-FFF2-40B4-BE49-F238E27FC236}">
                      <a16:creationId xmlns:a16="http://schemas.microsoft.com/office/drawing/2014/main" id="{F1881266-6F12-DC19-B743-65A3024CC0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8" y="1968"/>
                  <a:ext cx="330" cy="432"/>
                </a:xfrm>
                <a:prstGeom prst="rect">
                  <a:avLst/>
                </a:prstGeom>
                <a:blipFill>
                  <a:blip r:embed="rId12"/>
                  <a:stretch>
                    <a:fillRect l="-3488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881" name="Group 42">
            <a:extLst>
              <a:ext uri="{FF2B5EF4-FFF2-40B4-BE49-F238E27FC236}">
                <a16:creationId xmlns:a16="http://schemas.microsoft.com/office/drawing/2014/main" id="{74920DF4-EE5C-D4AF-750E-0FCCEDD4DD54}"/>
              </a:ext>
            </a:extLst>
          </p:cNvPr>
          <p:cNvGrpSpPr/>
          <p:nvPr/>
        </p:nvGrpSpPr>
        <p:grpSpPr>
          <a:xfrm>
            <a:off x="9880601" y="3422650"/>
            <a:ext cx="682625" cy="838200"/>
            <a:chOff x="4272" y="2256"/>
            <a:chExt cx="430" cy="528"/>
          </a:xfrm>
        </p:grpSpPr>
        <p:sp>
          <p:nvSpPr>
            <p:cNvPr id="164882" name="Line 43">
              <a:extLst>
                <a:ext uri="{FF2B5EF4-FFF2-40B4-BE49-F238E27FC236}">
                  <a16:creationId xmlns:a16="http://schemas.microsoft.com/office/drawing/2014/main" id="{3A99B20C-3BBA-FE55-C030-6D9B387B0322}"/>
                </a:ext>
              </a:extLst>
            </p:cNvPr>
            <p:cNvSpPr/>
            <p:nvPr/>
          </p:nvSpPr>
          <p:spPr>
            <a:xfrm>
              <a:off x="4272" y="2256"/>
              <a:ext cx="0" cy="528"/>
            </a:xfrm>
            <a:prstGeom prst="line">
              <a:avLst/>
            </a:prstGeom>
            <a:ln w="76200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83" name="Object 44">
                  <a:extLst>
                    <a:ext uri="{FF2B5EF4-FFF2-40B4-BE49-F238E27FC236}">
                      <a16:creationId xmlns:a16="http://schemas.microsoft.com/office/drawing/2014/main" id="{2DD2DA26-4D5A-89E8-1B9D-8CCE3BB22185}"/>
                    </a:ext>
                  </a:extLst>
                </p:cNvPr>
                <p:cNvSpPr txBox="1"/>
                <p:nvPr/>
              </p:nvSpPr>
              <p:spPr>
                <a:xfrm>
                  <a:off x="4330" y="2304"/>
                  <a:ext cx="372" cy="48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83" name="Object 44">
                  <a:extLst>
                    <a:ext uri="{FF2B5EF4-FFF2-40B4-BE49-F238E27FC236}">
                      <a16:creationId xmlns:a16="http://schemas.microsoft.com/office/drawing/2014/main" id="{2DD2DA26-4D5A-89E8-1B9D-8CCE3BB221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0" y="2304"/>
                  <a:ext cx="372" cy="48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884" name="Group 45">
            <a:extLst>
              <a:ext uri="{FF2B5EF4-FFF2-40B4-BE49-F238E27FC236}">
                <a16:creationId xmlns:a16="http://schemas.microsoft.com/office/drawing/2014/main" id="{80BA2DB3-CF45-937D-0273-9DA1E3898505}"/>
              </a:ext>
            </a:extLst>
          </p:cNvPr>
          <p:cNvGrpSpPr/>
          <p:nvPr/>
        </p:nvGrpSpPr>
        <p:grpSpPr>
          <a:xfrm>
            <a:off x="9880600" y="4489450"/>
            <a:ext cx="687388" cy="838200"/>
            <a:chOff x="4272" y="2928"/>
            <a:chExt cx="433" cy="528"/>
          </a:xfrm>
        </p:grpSpPr>
        <p:sp>
          <p:nvSpPr>
            <p:cNvPr id="164885" name="Line 46">
              <a:extLst>
                <a:ext uri="{FF2B5EF4-FFF2-40B4-BE49-F238E27FC236}">
                  <a16:creationId xmlns:a16="http://schemas.microsoft.com/office/drawing/2014/main" id="{97EDC7AC-BEB2-C705-1F42-7496A6717B50}"/>
                </a:ext>
              </a:extLst>
            </p:cNvPr>
            <p:cNvSpPr/>
            <p:nvPr/>
          </p:nvSpPr>
          <p:spPr>
            <a:xfrm>
              <a:off x="4272" y="2976"/>
              <a:ext cx="0" cy="480"/>
            </a:xfrm>
            <a:prstGeom prst="line">
              <a:avLst/>
            </a:prstGeom>
            <a:ln w="76200" cap="flat" cmpd="sng">
              <a:solidFill>
                <a:srgbClr val="FF0000"/>
              </a:solidFill>
              <a:prstDash val="solid"/>
              <a:round/>
              <a:headEnd type="non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886" name="Object 47">
                  <a:extLst>
                    <a:ext uri="{FF2B5EF4-FFF2-40B4-BE49-F238E27FC236}">
                      <a16:creationId xmlns:a16="http://schemas.microsoft.com/office/drawing/2014/main" id="{7F7BD4F8-ACE8-B1BA-9894-93EA7E56584F}"/>
                    </a:ext>
                  </a:extLst>
                </p:cNvPr>
                <p:cNvSpPr txBox="1"/>
                <p:nvPr/>
              </p:nvSpPr>
              <p:spPr>
                <a:xfrm>
                  <a:off x="4307" y="2928"/>
                  <a:ext cx="398" cy="48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64886" name="Object 47">
                  <a:extLst>
                    <a:ext uri="{FF2B5EF4-FFF2-40B4-BE49-F238E27FC236}">
                      <a16:creationId xmlns:a16="http://schemas.microsoft.com/office/drawing/2014/main" id="{7F7BD4F8-ACE8-B1BA-9894-93EA7E5658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7" y="2928"/>
                  <a:ext cx="398" cy="48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4887" name="Text Box 20">
                <a:extLst>
                  <a:ext uri="{FF2B5EF4-FFF2-40B4-BE49-F238E27FC236}">
                    <a16:creationId xmlns:a16="http://schemas.microsoft.com/office/drawing/2014/main" id="{2491D069-F827-8451-C9A9-F3AEB69AF333}"/>
                  </a:ext>
                </a:extLst>
              </p:cNvPr>
              <p:cNvSpPr txBox="1"/>
              <p:nvPr/>
            </p:nvSpPr>
            <p:spPr>
              <a:xfrm>
                <a:off x="5953125" y="712079"/>
                <a:ext cx="6189663" cy="13292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600" dirty="0"/>
                  <a:t>一平行平板电容器充满两层厚度各为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600" i="0">
                            <a:solidFill>
                              <a:srgbClr val="00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zh-CN" altLang="en-US" sz="2600" i="0">
                            <a:solidFill>
                              <a:srgbClr val="000000"/>
                            </a:solidFill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6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600">
                            <a:solidFill>
                              <a:srgbClr val="00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zh-CN" altLang="en-US" sz="2600">
                            <a:solidFill>
                              <a:srgbClr val="000000"/>
                            </a:solidFill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600" dirty="0"/>
                  <a:t> 的电介质，它们的相对电容率分别为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600" dirty="0"/>
                  <a:t> 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600" dirty="0"/>
                  <a:t> </a:t>
                </a:r>
                <a:r>
                  <a:rPr lang="en-US" altLang="zh-CN" sz="2600" dirty="0"/>
                  <a:t>,  </a:t>
                </a:r>
                <a:r>
                  <a:rPr lang="zh-CN" altLang="en-US" sz="2600" dirty="0"/>
                  <a:t>极板面积为</a:t>
                </a:r>
                <a14:m>
                  <m:oMath xmlns:m="http://schemas.openxmlformats.org/officeDocument/2006/math">
                    <m:r>
                      <a:rPr lang="zh-CN" altLang="en-US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zh-CN" alt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600" dirty="0"/>
                  <a:t>电荷密度为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64887" name="Text Box 20">
                <a:extLst>
                  <a:ext uri="{FF2B5EF4-FFF2-40B4-BE49-F238E27FC236}">
                    <a16:creationId xmlns:a16="http://schemas.microsoft.com/office/drawing/2014/main" id="{2491D069-F827-8451-C9A9-F3AEB69AF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25" y="712079"/>
                <a:ext cx="6189663" cy="1329210"/>
              </a:xfrm>
              <a:prstGeom prst="rect">
                <a:avLst/>
              </a:prstGeom>
              <a:blipFill>
                <a:blip r:embed="rId15"/>
                <a:stretch>
                  <a:fillRect l="-1773" t="-3670" b="-10550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890" name="Object 2"/>
              <p:cNvSpPr txBox="1"/>
              <p:nvPr/>
            </p:nvSpPr>
            <p:spPr>
              <a:xfrm>
                <a:off x="1218011" y="3398838"/>
                <a:ext cx="4419600" cy="8620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6589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011" y="3398838"/>
                <a:ext cx="4419600" cy="862012"/>
              </a:xfrm>
              <a:prstGeom prst="rect">
                <a:avLst/>
              </a:prstGeom>
              <a:blipFill>
                <a:blip r:embed="rId16"/>
                <a:stretch>
                  <a:fillRect b="-709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891" name="Object 3"/>
          <p:cNvSpPr txBox="1"/>
          <p:nvPr/>
        </p:nvSpPr>
        <p:spPr>
          <a:xfrm>
            <a:off x="2240757" y="4704557"/>
            <a:ext cx="2820193" cy="1244600"/>
          </a:xfrm>
          <a:prstGeom prst="rect">
            <a:avLst/>
          </a:prstGeom>
          <a:noFill/>
          <a:ln w="38100">
            <a:noFill/>
            <a:miter/>
          </a:ln>
        </p:spPr>
        <p:txBody>
          <a:bodyPr>
            <a:noAutofit/>
          </a:bodyPr>
          <a:lstStyle/>
          <a:p>
            <a:endParaRPr lang="zh-CN" altLang="en-US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892" name="Object 4"/>
              <p:cNvSpPr txBox="1"/>
              <p:nvPr/>
            </p:nvSpPr>
            <p:spPr>
              <a:xfrm>
                <a:off x="799703" y="762163"/>
                <a:ext cx="3886200" cy="12287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6589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703" y="762163"/>
                <a:ext cx="3886200" cy="122872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FEF9CC4D-2F50-1125-62B2-48387981A301}"/>
                  </a:ext>
                </a:extLst>
              </p:cNvPr>
              <p:cNvSpPr txBox="1"/>
              <p:nvPr/>
            </p:nvSpPr>
            <p:spPr>
              <a:xfrm>
                <a:off x="1170782" y="4343400"/>
                <a:ext cx="4419600" cy="8620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n-US" altLang="zh-CN" sz="2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FEF9CC4D-2F50-1125-62B2-48387981A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782" y="4343400"/>
                <a:ext cx="4419600" cy="862012"/>
              </a:xfrm>
              <a:prstGeom prst="rect">
                <a:avLst/>
              </a:prstGeom>
              <a:blipFill>
                <a:blip r:embed="rId18"/>
                <a:stretch>
                  <a:fillRect b="-709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7A399406-E54D-9507-8C4E-832CED444611}"/>
                  </a:ext>
                </a:extLst>
              </p:cNvPr>
              <p:cNvSpPr txBox="1"/>
              <p:nvPr/>
            </p:nvSpPr>
            <p:spPr>
              <a:xfrm>
                <a:off x="627857" y="5501086"/>
                <a:ext cx="3886200" cy="12287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7A399406-E54D-9507-8C4E-832CED444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57" y="5501086"/>
                <a:ext cx="3886200" cy="122872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2E4D1414-E62D-640C-B1D1-6C88FFC697B8}"/>
                  </a:ext>
                </a:extLst>
              </p:cNvPr>
              <p:cNvSpPr txBox="1"/>
              <p:nvPr/>
            </p:nvSpPr>
            <p:spPr>
              <a:xfrm>
                <a:off x="3399633" y="5551487"/>
                <a:ext cx="3886200" cy="12287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6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n-US" altLang="zh-CN" sz="2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2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2E4D1414-E62D-640C-B1D1-6C88FFC69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633" y="5551487"/>
                <a:ext cx="3886200" cy="122872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E7E6995-99C8-94A4-9335-EE9712A884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11566" y="5969001"/>
                <a:ext cx="4156695" cy="123501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3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3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zh-CN" altLang="en-US" sz="3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den>
                    </m:f>
                    <m:r>
                      <a:rPr lang="zh-CN" altLang="en-US" sz="32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32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3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zh-CN" altLang="en-US" sz="32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32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32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3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zh-CN" altLang="en-US" sz="32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32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zh-CN" sz="32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E7E6995-99C8-94A4-9335-EE9712A88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566" y="5969001"/>
                <a:ext cx="4156695" cy="123501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07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/>
      <p:bldP spid="2" grpId="0"/>
      <p:bldP spid="3" grpId="0"/>
      <p:bldP spid="4" grpId="0"/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大学物理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CA343C45D49B2744AE1406E56A2ED666" ma:contentTypeVersion="1" ma:contentTypeDescription="新建文档。" ma:contentTypeScope="" ma:versionID="6b0f810430c447e99b80ecacf0b04663">
  <xsd:schema xmlns:xsd="http://www.w3.org/2001/XMLSchema" xmlns:xs="http://www.w3.org/2001/XMLSchema" xmlns:p="http://schemas.microsoft.com/office/2006/metadata/properties" xmlns:ns3="25ea6e4d-8952-4839-be57-11fda0df19d2" targetNamespace="http://schemas.microsoft.com/office/2006/metadata/properties" ma:root="true" ma:fieldsID="eb43a71fd68e81875b93fced2c01a36c" ns3:_="">
    <xsd:import namespace="25ea6e4d-8952-4839-be57-11fda0df19d2"/>
    <xsd:element name="properties">
      <xsd:complexType>
        <xsd:sequence>
          <xsd:element name="documentManagement">
            <xsd:complexType>
              <xsd:all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ea6e4d-8952-4839-be57-11fda0df19d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5ea6e4d-8952-4839-be57-11fda0df19d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0120BB-0242-44D2-A7C4-92F3A0AE11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ea6e4d-8952-4839-be57-11fda0df19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680EDA7-8B72-4DCC-8942-51E1EC2DBC5E}">
  <ds:schemaRefs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25ea6e4d-8952-4839-be57-11fda0df19d2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0BC6AA1-A723-4C18-A512-D9ED6B3D7C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14930</TotalTime>
  <Words>1902</Words>
  <Application>Microsoft Office PowerPoint</Application>
  <PresentationFormat>宽屏</PresentationFormat>
  <Paragraphs>361</Paragraphs>
  <Slides>28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等线 Light</vt:lpstr>
      <vt:lpstr>黑体</vt:lpstr>
      <vt:lpstr>华文楷体</vt:lpstr>
      <vt:lpstr>Microsoft Yahei</vt:lpstr>
      <vt:lpstr>Arial</vt:lpstr>
      <vt:lpstr>Calibri</vt:lpstr>
      <vt:lpstr>Cambria Math</vt:lpstr>
      <vt:lpstr>Times New Roman</vt:lpstr>
      <vt:lpstr>Wingdings</vt:lpstr>
      <vt:lpstr>Office 主题​​</vt:lpstr>
      <vt:lpstr>公式</vt:lpstr>
      <vt:lpstr>PowerPoint 演示文稿</vt:lpstr>
      <vt:lpstr>PowerPoint 演示文稿</vt:lpstr>
      <vt:lpstr>PowerPoint 演示文稿</vt:lpstr>
      <vt:lpstr>各向同性电介质</vt:lpstr>
      <vt:lpstr>PowerPoint 演示文稿</vt:lpstr>
      <vt:lpstr>D线的折射定律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L≫R_B-R_A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电容器的串联和并联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Jingcheng  Li</dc:creator>
  <cp:lastModifiedBy>竟成</cp:lastModifiedBy>
  <cp:revision>277</cp:revision>
  <dcterms:created xsi:type="dcterms:W3CDTF">2023-02-17T03:39:54Z</dcterms:created>
  <dcterms:modified xsi:type="dcterms:W3CDTF">2024-04-09T04:20:42Z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0x010100CA343C45D49B2744AE1406E56A2ED666</vt:lpwstr>
  </property>
</Properties>
</file>