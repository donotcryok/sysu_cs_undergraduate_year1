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540.xml" ContentType="application/vnd.openxmlformats-officedocument.presentationml.tags+xml"/>
  <Override PartName="/ppt/tags/tag550.xml" ContentType="application/vnd.openxmlformats-officedocument.presentationml.tags+xml"/>
  <Override PartName="/ppt/tags/tag560.xml" ContentType="application/vnd.openxmlformats-officedocument.presentationml.tags+xml"/>
  <Override PartName="/ppt/tags/tag57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1199" r:id="rId5"/>
    <p:sldId id="1226" r:id="rId6"/>
    <p:sldId id="1203" r:id="rId7"/>
    <p:sldId id="908" r:id="rId8"/>
    <p:sldId id="1245" r:id="rId9"/>
    <p:sldId id="1208" r:id="rId10"/>
    <p:sldId id="1241" r:id="rId11"/>
    <p:sldId id="1204" r:id="rId12"/>
    <p:sldId id="1205" r:id="rId13"/>
    <p:sldId id="1143" r:id="rId14"/>
    <p:sldId id="1221" r:id="rId15"/>
    <p:sldId id="1242" r:id="rId16"/>
    <p:sldId id="478" r:id="rId17"/>
    <p:sldId id="708" r:id="rId18"/>
    <p:sldId id="1153" r:id="rId19"/>
    <p:sldId id="1243" r:id="rId20"/>
    <p:sldId id="1164" r:id="rId21"/>
    <p:sldId id="1222" r:id="rId22"/>
    <p:sldId id="802" r:id="rId23"/>
    <p:sldId id="261" r:id="rId24"/>
    <p:sldId id="1250" r:id="rId25"/>
    <p:sldId id="480" r:id="rId26"/>
    <p:sldId id="841" r:id="rId27"/>
    <p:sldId id="906" r:id="rId28"/>
    <p:sldId id="1246" r:id="rId29"/>
    <p:sldId id="1247" r:id="rId30"/>
    <p:sldId id="1248" r:id="rId31"/>
    <p:sldId id="124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38" autoAdjust="0"/>
    <p:restoredTop sz="94662" autoAdjust="0"/>
  </p:normalViewPr>
  <p:slideViewPr>
    <p:cSldViewPr snapToGrid="0">
      <p:cViewPr varScale="1">
        <p:scale>
          <a:sx n="158" d="100"/>
          <a:sy n="158" d="100"/>
        </p:scale>
        <p:origin x="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733EA-8E6D-4666-B9D4-9ACE27AD59EA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E689-547E-4EC7-A7DE-41A4901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8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DA3FC552-3999-421B-924B-43D8DAB4C7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21BDEB-DCE8-4193-879D-E7B53D60AE74}" type="slidenum">
              <a:rPr lang="en-US" altLang="zh-CN" b="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15</a:t>
            </a:fld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97C913E5-AF7D-4EF0-AE44-8F53F7DA2E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solidFill>
            <a:srgbClr val="FFFFFF"/>
          </a:solidFill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0C4283A7-BA3A-4C49-84F6-7A44E00D8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48964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70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70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1080336-09C4-46B6-BBE4-0CDED8EE3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025F0B-D201-4C2C-BAC0-40A365022723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22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9A145D5-5AE8-4101-AB83-673B750E0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9A4E28B-EB43-49C9-B447-3193F4161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6148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103D3-6AD7-49DD-951F-9630ECC8A06A}" type="slidenum">
              <a:rPr lang="zh-CN" altLang="en-US" smtClean="0">
                <a:ea typeface="华文楷体" panose="02010600040101010101" pitchFamily="2" charset="-122"/>
              </a:rPr>
              <a:t>23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0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075D9-9C0A-4907-9E0A-2E1C5E38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3CDB30-CF70-4C98-8777-71D0DE60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55DCF-EA4C-4853-BD99-7C8B1152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7D055-1BEA-4835-BCF3-DA518BC7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24949-9B6D-4ABE-81D0-3E801610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8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ECBA-8D3D-44FD-8451-1C68376A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2FE7C-6E4F-4D24-8713-B2191E020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F968E-F782-49B7-8CFB-D5AD5205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33CAE-7B6D-4B2F-A356-51AA8A9B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C30F0-28D6-4C9B-AEE5-03D12DB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E53B1-9079-49D9-9131-26E0E03C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01D29-1A52-4551-9AAD-87EDF9D7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2B19E-2D1A-4065-8E51-732596D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0643E-4976-4353-A93C-9454738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8924-C3CD-4AD0-8D20-BDBCD27D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BD28B-F5E7-4DEF-A7ED-85E67C8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5A803-634D-4E5A-8215-1F45D12CC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5702B-45D0-4EB5-AAA5-C47494C7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13FAE-28EA-4DD1-B781-345A797E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B78BAD-ABD9-461C-A7F6-83BEE5EA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FC4C7-93A9-4642-A356-4D4E2BD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F436-0EA1-486E-BFA5-AEFC10B5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E3DD6-1221-4B2B-A081-C438B4EA1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A0C97E-5BD2-4E0E-B6D8-06BA9CC0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A250BC-6CDA-4F55-9122-E95732154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9A7F6C-B16D-4596-8C2E-4B3AAA59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CDA96-F74A-4624-A701-06BB40E8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82C964-0DCE-4251-A2D2-8B40BD44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F80643-74A0-4D0A-B3AE-FDFCC003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1D687-2952-433A-A486-099C48C4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4DCF08-EA4B-4E0C-B9DA-AF780B8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F4D79-43A3-4D15-AADB-49E2A00C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F9052-09FA-4D04-AB45-329EED24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6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E4DD36-7F96-444A-A9B7-5FBBE9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8F5D18-B09A-4096-AFDA-96A804D6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0151-1B68-4B32-AB2F-4A65BE2A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BC3E4-C582-4A91-A7AE-1D796218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2F964-0EB5-4901-BC24-85E33543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385E8-484A-4DCD-B049-3172288A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69B17-EB32-4F6A-9B7C-5B597E7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C8B3B-8E4D-4EBB-8A2B-D5C7322C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62D6F-D0D3-4812-B6E8-731E7AFB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EBE16-E626-4C00-8722-0F82B3A3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C2DE1-D969-4D9C-B72F-3E40B9672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0D0D84-9E46-41CD-A472-B1029A0FC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C908C6-21BD-4D14-B9E5-67673794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37D1E-BE48-42AB-BF84-696F9BA0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CDD9A-D6DD-4908-A730-2867C019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8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F7F10-CD63-4FB1-A171-A7DAAE88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AB79-8425-466E-A8A5-DADBC36F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E2F66-1492-47A7-BCD3-BF219BAE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2A3AF-5C92-49DE-B7CE-F57501C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16F9F-8375-4DF1-A57B-BDA6BF3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0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CEAE66-692B-4D65-A7C3-1680609F0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18DC3-D68F-47FD-9934-DB88063C3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97317-A46D-420C-A392-2D9B93AC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454CD-23C0-496D-BC54-03322B1D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7EF11-F507-4D48-9B8C-E8680A05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8EF7D3-5A27-4B57-8A33-E7C0DD1B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378D8-CAD9-4EDA-B737-D08910374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1C7E5-DED7-4901-BEA1-361A2901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CA12B-ADFA-4389-8BED-E30DC2D60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DB51E-6AD4-4AAC-BD8A-505C38223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0.png"/><Relationship Id="rId2" Type="http://schemas.openxmlformats.org/officeDocument/2006/relationships/image" Target="../media/image2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21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050.png"/><Relationship Id="rId3" Type="http://schemas.openxmlformats.org/officeDocument/2006/relationships/tags" Target="../tags/tag20.xml"/><Relationship Id="rId21" Type="http://schemas.openxmlformats.org/officeDocument/2006/relationships/tags" Target="../tags/tag55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570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1020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image" Target="../media/image1040.png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560.xml"/><Relationship Id="rId10" Type="http://schemas.openxmlformats.org/officeDocument/2006/relationships/tags" Target="../tags/tag27.xml"/><Relationship Id="rId19" Type="http://schemas.openxmlformats.org/officeDocument/2006/relationships/tags" Target="../tags/tag540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image" Target="../media/image1030.png"/><Relationship Id="rId27" Type="http://schemas.openxmlformats.org/officeDocument/2006/relationships/image" Target="../media/image12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9.png"/><Relationship Id="rId7" Type="http://schemas.openxmlformats.org/officeDocument/2006/relationships/image" Target="../media/image17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6" Type="http://schemas.openxmlformats.org/officeDocument/2006/relationships/image" Target="../media/image160.png"/><Relationship Id="rId5" Type="http://schemas.openxmlformats.org/officeDocument/2006/relationships/image" Target="../media/image155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11.pn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27.wmf"/><Relationship Id="rId18" Type="http://schemas.openxmlformats.org/officeDocument/2006/relationships/image" Target="../media/image32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0.png"/><Relationship Id="rId12" Type="http://schemas.openxmlformats.org/officeDocument/2006/relationships/oleObject" Target="../embeddings/oleObject1.bin"/><Relationship Id="rId17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vmlDrawing" Target="../drawings/vmlDrawing1.vml"/><Relationship Id="rId11" Type="http://schemas.openxmlformats.org/officeDocument/2006/relationships/image" Target="../media/image61.png"/><Relationship Id="rId5" Type="http://schemas.openxmlformats.org/officeDocument/2006/relationships/image" Target="../media/image60.png"/><Relationship Id="rId15" Type="http://schemas.openxmlformats.org/officeDocument/2006/relationships/image" Target="../media/image29.png"/><Relationship Id="rId10" Type="http://schemas.openxmlformats.org/officeDocument/2006/relationships/image" Target="../media/image350.png"/><Relationship Id="rId19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40.png"/><Relationship Id="rId1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60.png"/><Relationship Id="rId3" Type="http://schemas.openxmlformats.org/officeDocument/2006/relationships/image" Target="../media/image281.png"/><Relationship Id="rId7" Type="http://schemas.openxmlformats.org/officeDocument/2006/relationships/image" Target="../media/image41.png"/><Relationship Id="rId12" Type="http://schemas.openxmlformats.org/officeDocument/2006/relationships/image" Target="../media/image3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26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1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5.png"/><Relationship Id="rId11" Type="http://schemas.openxmlformats.org/officeDocument/2006/relationships/image" Target="../media/image62.png"/><Relationship Id="rId5" Type="http://schemas.openxmlformats.org/officeDocument/2006/relationships/image" Target="../media/image29.wmf"/><Relationship Id="rId10" Type="http://schemas.openxmlformats.org/officeDocument/2006/relationships/image" Target="../media/image59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4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13" Type="http://schemas.openxmlformats.org/officeDocument/2006/relationships/image" Target="../media/image400.png"/><Relationship Id="rId18" Type="http://schemas.openxmlformats.org/officeDocument/2006/relationships/image" Target="../media/image430.png"/><Relationship Id="rId3" Type="http://schemas.openxmlformats.org/officeDocument/2006/relationships/image" Target="../media/image1210.png"/><Relationship Id="rId7" Type="http://schemas.openxmlformats.org/officeDocument/2006/relationships/image" Target="../media/image321.png"/><Relationship Id="rId12" Type="http://schemas.openxmlformats.org/officeDocument/2006/relationships/image" Target="../media/image390.png"/><Relationship Id="rId17" Type="http://schemas.openxmlformats.org/officeDocument/2006/relationships/image" Target="../media/image420.png"/><Relationship Id="rId2" Type="http://schemas.openxmlformats.org/officeDocument/2006/relationships/image" Target="../media/image310.png"/><Relationship Id="rId16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1.png"/><Relationship Id="rId11" Type="http://schemas.openxmlformats.org/officeDocument/2006/relationships/image" Target="../media/image380.png"/><Relationship Id="rId5" Type="http://schemas.openxmlformats.org/officeDocument/2006/relationships/image" Target="../media/image313.png"/><Relationship Id="rId10" Type="http://schemas.openxmlformats.org/officeDocument/2006/relationships/image" Target="../media/image370.png"/><Relationship Id="rId19" Type="http://schemas.openxmlformats.org/officeDocument/2006/relationships/image" Target="../media/image440.png"/><Relationship Id="rId4" Type="http://schemas.openxmlformats.org/officeDocument/2006/relationships/image" Target="../media/image331.png"/><Relationship Id="rId9" Type="http://schemas.openxmlformats.org/officeDocument/2006/relationships/image" Target="../media/image360.png"/><Relationship Id="rId14" Type="http://schemas.openxmlformats.org/officeDocument/2006/relationships/image" Target="../media/image4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5" y="263316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静电场中的电介质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0" y="1697521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电介质对电场的影响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240" y="2992921"/>
            <a:ext cx="65270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15.3   </a:t>
            </a:r>
            <a:r>
              <a:rPr lang="en-US" altLang="zh-CN" sz="3200" b="1" dirty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Arial" panose="020B0604020202020204" pitchFamily="34" charset="0"/>
              </a:rPr>
              <a:t>D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的高斯定律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717" y="3642207"/>
            <a:ext cx="4491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15.4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电容器和它的电容</a:t>
            </a:r>
          </a:p>
        </p:txBody>
      </p:sp>
      <p:sp>
        <p:nvSpPr>
          <p:cNvPr id="4116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63FEB06-B244-41DC-9745-09D2B510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0" y="4351546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15.5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电容器的能量</a:t>
            </a: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2" y="2345221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电介质的极化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1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42EEA586-EB48-2BF8-A74D-FE916B38C9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536" y="1277134"/>
                <a:ext cx="4534126" cy="74089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电容：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42EEA586-EB48-2BF8-A74D-FE916B38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36" y="1277134"/>
                <a:ext cx="4534126" cy="740895"/>
              </a:xfrm>
              <a:prstGeom prst="rect">
                <a:avLst/>
              </a:prstGeom>
              <a:blipFill>
                <a:blip r:embed="rId3"/>
                <a:stretch>
                  <a:fillRect b="-14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7CA5AD04-5997-4316-ABD8-291360E557E3}"/>
              </a:ext>
            </a:extLst>
          </p:cNvPr>
          <p:cNvSpPr/>
          <p:nvPr/>
        </p:nvSpPr>
        <p:spPr>
          <a:xfrm>
            <a:off x="1105698" y="506713"/>
            <a:ext cx="1473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电容</a:t>
            </a:r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2F8EB3D6-60FF-43DC-86BF-A68224305022}"/>
              </a:ext>
            </a:extLst>
          </p:cNvPr>
          <p:cNvSpPr txBox="1">
            <a:spLocks/>
          </p:cNvSpPr>
          <p:nvPr/>
        </p:nvSpPr>
        <p:spPr>
          <a:xfrm>
            <a:off x="513536" y="2316854"/>
            <a:ext cx="4745881" cy="5431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表征导体储电能力的物理量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3014CB0-29ED-4B2F-9499-8F0E32C6D66F}"/>
                  </a:ext>
                </a:extLst>
              </p:cNvPr>
              <p:cNvSpPr/>
              <p:nvPr/>
            </p:nvSpPr>
            <p:spPr>
              <a:xfrm>
                <a:off x="1096518" y="3123030"/>
                <a:ext cx="361227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tx1"/>
                    </a:solidFill>
                  </a:rPr>
                  <a:t>平行板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电容器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den>
                    </m:f>
                  </m:oMath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3014CB0-29ED-4B2F-9499-8F0E32C6D6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518" y="3123030"/>
                <a:ext cx="3612271" cy="714683"/>
              </a:xfrm>
              <a:prstGeom prst="rect">
                <a:avLst/>
              </a:prstGeom>
              <a:blipFill>
                <a:blip r:embed="rId4"/>
                <a:stretch>
                  <a:fillRect l="-3547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3DAD0B0-A5D6-46DF-AF6F-2972FA3D2B42}"/>
                  </a:ext>
                </a:extLst>
              </p:cNvPr>
              <p:cNvSpPr/>
              <p:nvPr/>
            </p:nvSpPr>
            <p:spPr>
              <a:xfrm>
                <a:off x="513536" y="3913665"/>
                <a:ext cx="4138850" cy="9017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有介质：</m:t>
                      </m:r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3DAD0B0-A5D6-46DF-AF6F-2972FA3D2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36" y="3913665"/>
                <a:ext cx="4138850" cy="901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CAE9E3D-05ED-4D27-AB0C-33E62C3B03FC}"/>
                  </a:ext>
                </a:extLst>
              </p:cNvPr>
              <p:cNvSpPr/>
              <p:nvPr/>
            </p:nvSpPr>
            <p:spPr>
              <a:xfrm>
                <a:off x="4018696" y="4146556"/>
                <a:ext cx="13801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CAE9E3D-05ED-4D27-AB0C-33E62C3B0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696" y="4146556"/>
                <a:ext cx="13801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0">
                <a:extLst>
                  <a:ext uri="{FF2B5EF4-FFF2-40B4-BE49-F238E27FC236}">
                    <a16:creationId xmlns:a16="http://schemas.microsoft.com/office/drawing/2014/main" id="{304E5848-505D-4345-9D2F-629D25564A55}"/>
                  </a:ext>
                </a:extLst>
              </p:cNvPr>
              <p:cNvSpPr txBox="1"/>
              <p:nvPr/>
            </p:nvSpPr>
            <p:spPr bwMode="auto">
              <a:xfrm>
                <a:off x="658784" y="4954532"/>
                <a:ext cx="6286501" cy="1106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球形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bject 20">
                <a:extLst>
                  <a:ext uri="{FF2B5EF4-FFF2-40B4-BE49-F238E27FC236}">
                    <a16:creationId xmlns:a16="http://schemas.microsoft.com/office/drawing/2014/main" id="{304E5848-505D-4345-9D2F-629D25564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784" y="4954532"/>
                <a:ext cx="6286501" cy="11064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F171B65-39CC-4D75-8246-C6F510D601A8}"/>
                  </a:ext>
                </a:extLst>
              </p:cNvPr>
              <p:cNvSpPr/>
              <p:nvPr/>
            </p:nvSpPr>
            <p:spPr>
              <a:xfrm>
                <a:off x="731964" y="5812714"/>
                <a:ext cx="3070071" cy="10452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</a:rPr>
                  <a:t>圆柱形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𝑙𝑛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den>
                    </m:f>
                  </m:oMath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F171B65-39CC-4D75-8246-C6F510D601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64" y="5812714"/>
                <a:ext cx="3070071" cy="1045286"/>
              </a:xfrm>
              <a:prstGeom prst="rect">
                <a:avLst/>
              </a:prstGeom>
              <a:blipFill>
                <a:blip r:embed="rId8"/>
                <a:stretch>
                  <a:fillRect l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内容占位符 2">
                <a:extLst>
                  <a:ext uri="{FF2B5EF4-FFF2-40B4-BE49-F238E27FC236}">
                    <a16:creationId xmlns:a16="http://schemas.microsoft.com/office/drawing/2014/main" id="{5629FA8C-067F-445B-9DD0-6F43E58096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1308" y="1875183"/>
                <a:ext cx="4156695" cy="123501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r>
                        <a:rPr lang="zh-CN" alt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内容占位符 2">
                <a:extLst>
                  <a:ext uri="{FF2B5EF4-FFF2-40B4-BE49-F238E27FC236}">
                    <a16:creationId xmlns:a16="http://schemas.microsoft.com/office/drawing/2014/main" id="{5629FA8C-067F-445B-9DD0-6F43E5809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308" y="1875183"/>
                <a:ext cx="4156695" cy="1235018"/>
              </a:xfrm>
              <a:prstGeom prst="rect">
                <a:avLst/>
              </a:prstGeom>
              <a:blipFill>
                <a:blip r:embed="rId9"/>
                <a:stretch>
                  <a:fillRect b="-22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C5471E40-0E56-49F9-997D-4D060E08AF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33" y="2353583"/>
            <a:ext cx="3331721" cy="151323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725EADB-9410-4584-A4DE-36BC1465EE12}"/>
              </a:ext>
            </a:extLst>
          </p:cNvPr>
          <p:cNvSpPr/>
          <p:nvPr/>
        </p:nvSpPr>
        <p:spPr>
          <a:xfrm>
            <a:off x="6306085" y="1830363"/>
            <a:ext cx="1556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串联：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FD957089-FDFF-4C72-AE32-700393BF53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8829" y="4452932"/>
                <a:ext cx="4058084" cy="13597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FD957089-FDFF-4C72-AE32-700393BF5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829" y="4452932"/>
                <a:ext cx="4058084" cy="1359782"/>
              </a:xfrm>
              <a:prstGeom prst="rect">
                <a:avLst/>
              </a:prstGeom>
              <a:blipFill>
                <a:blip r:embed="rId11"/>
                <a:stretch>
                  <a:fillRect b="-17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9415D32A-D5D3-486F-A372-02DD12DA90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21" y="4865332"/>
            <a:ext cx="3713624" cy="1128329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EEE7BA6-FFC7-45E2-B2CF-5FD8198D04F8}"/>
              </a:ext>
            </a:extLst>
          </p:cNvPr>
          <p:cNvSpPr/>
          <p:nvPr/>
        </p:nvSpPr>
        <p:spPr>
          <a:xfrm>
            <a:off x="6327330" y="4296932"/>
            <a:ext cx="1556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并联：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7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3" grpId="0"/>
      <p:bldP spid="5" grpId="0"/>
      <p:bldP spid="15" grpId="0"/>
      <p:bldP spid="17" grpId="0"/>
      <p:bldP spid="18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12197" y="451432"/>
            <a:ext cx="3892938" cy="95281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kumimoji="1" lang="zh-CN" altLang="en-US" sz="3200" b="1" kern="0" dirty="0">
                <a:solidFill>
                  <a:srgbClr val="0066FF"/>
                </a:solidFill>
                <a:latin typeface="华文楷体" panose="02010600040101010101" pitchFamily="2" charset="-122"/>
                <a:cs typeface="+mn-cs"/>
              </a:rPr>
              <a:t>电容器的能量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9BF4A13-96C6-4FFB-B339-C15973698589}"/>
                  </a:ext>
                </a:extLst>
              </p:cNvPr>
              <p:cNvSpPr/>
              <p:nvPr/>
            </p:nvSpPr>
            <p:spPr>
              <a:xfrm>
                <a:off x="1111490" y="5045536"/>
                <a:ext cx="4686060" cy="15022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放电过程中电场力的元功：</a:t>
                </a: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𝑑𝐴</m:t>
                      </m:r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𝑈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e>
                      </m:d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𝑑𝑞</m:t>
                      </m:r>
                    </m:oMath>
                  </m:oMathPara>
                </a14:m>
                <a:endParaRPr kumimoji="1" lang="en-US" altLang="zh-CN" sz="2800" dirty="0">
                  <a:latin typeface="华文楷体" panose="020106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9BF4A13-96C6-4FFB-B339-C15973698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490" y="5045536"/>
                <a:ext cx="4686060" cy="1502271"/>
              </a:xfrm>
              <a:prstGeom prst="rect">
                <a:avLst/>
              </a:prstGeom>
              <a:blipFill>
                <a:blip r:embed="rId2"/>
                <a:stretch>
                  <a:fillRect l="-2601" t="-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9ED9B2B2-AB4F-48B9-8346-0E1055E08D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3588" y="1740640"/>
                <a:ext cx="5536180" cy="18407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R="0" lvl="0" indent="0" defTabSz="9144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1" sz="28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</a:lstStyle>
              <a:p>
                <a:r>
                  <a:rPr lang="zh-CN" altLang="en-US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电场力做的总功：</a:t>
                </a:r>
                <a:endParaRPr lang="en-US" altLang="zh-CN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𝑑𝑞</m:t>
                          </m:r>
                        </m:e>
                      </m:nary>
                      <m:r>
                        <a:rPr lang="en-US" altLang="zh-CN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altLang="zh-CN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9ED9B2B2-AB4F-48B9-8346-0E1055E08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3588" y="1740640"/>
                <a:ext cx="5536180" cy="1840760"/>
              </a:xfrm>
              <a:prstGeom prst="rect">
                <a:avLst/>
              </a:prstGeom>
              <a:blipFill>
                <a:blip r:embed="rId3"/>
                <a:stretch>
                  <a:fillRect l="-2313" t="-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C4AFBB30-0626-4988-B035-18ADEA307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3588" y="4084399"/>
                <a:ext cx="5536180" cy="20521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800" b="0" dirty="0"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此功等于电容器的静电能</a:t>
                </a:r>
                <a:r>
                  <a:rPr kumimoji="0" lang="en-US" altLang="zh-CN" sz="2800" b="0" dirty="0"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𝑄𝑈</m:t>
                      </m:r>
                    </m:oMath>
                  </m:oMathPara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C4AFBB30-0626-4988-B035-18ADEA307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3588" y="4084399"/>
                <a:ext cx="5536180" cy="2052100"/>
              </a:xfrm>
              <a:prstGeom prst="rect">
                <a:avLst/>
              </a:prstGeom>
              <a:blipFill>
                <a:blip r:embed="rId4"/>
                <a:stretch>
                  <a:fillRect l="-23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4" descr="An Intro to Capacitors">
            <a:extLst>
              <a:ext uri="{FF2B5EF4-FFF2-40B4-BE49-F238E27FC236}">
                <a16:creationId xmlns:a16="http://schemas.microsoft.com/office/drawing/2014/main" id="{D83E2A5E-A8EB-471F-87CB-A3A2CA1C7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pic>
        <p:nvPicPr>
          <p:cNvPr id="12296" name="Picture 8" descr="An Intro to Capacitors">
            <a:extLst>
              <a:ext uri="{FF2B5EF4-FFF2-40B4-BE49-F238E27FC236}">
                <a16:creationId xmlns:a16="http://schemas.microsoft.com/office/drawing/2014/main" id="{A088224D-498F-4C7E-BEB3-A88CC4B78D0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046" y="1357957"/>
            <a:ext cx="3763433" cy="339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56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96925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两电容器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的电容之比为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，一是把他们串联起来接电源充电，二是把他们并联起来接电源充电，求以上两种条件下两电容器的电场能量之比各为多少？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457200">
              <a:defRPr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457200">
              <a:defRPr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457200">
              <a:defRPr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457200">
              <a:defRPr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defTabSz="457200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defTabSz="457200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defTabSz="457200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defTabSz="457200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defTabSz="457200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457200">
                <a:defRPr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457200">
                <a:defRPr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881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52A0ECD-26EB-4227-98F7-5DE216B8B452}"/>
              </a:ext>
            </a:extLst>
          </p:cNvPr>
          <p:cNvSpPr/>
          <p:nvPr/>
        </p:nvSpPr>
        <p:spPr>
          <a:xfrm>
            <a:off x="558334" y="195307"/>
            <a:ext cx="1079555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/>
              <a:t>平行板电容器极板面积为</a:t>
            </a:r>
            <a:r>
              <a:rPr lang="en-US" altLang="zh-CN" sz="2600" dirty="0"/>
              <a:t>200cm</a:t>
            </a:r>
            <a:r>
              <a:rPr lang="en-US" altLang="zh-CN" sz="2600" baseline="30000" dirty="0"/>
              <a:t>2</a:t>
            </a:r>
            <a:r>
              <a:rPr lang="zh-CN" altLang="en-US" sz="2600" dirty="0"/>
              <a:t>，板间距离为</a:t>
            </a:r>
            <a:r>
              <a:rPr lang="en-US" altLang="zh-CN" sz="2600" dirty="0"/>
              <a:t>1.0mm</a:t>
            </a:r>
            <a:r>
              <a:rPr lang="zh-CN" altLang="en-US" sz="2600" dirty="0"/>
              <a:t>，电容器内有一块</a:t>
            </a:r>
            <a:r>
              <a:rPr lang="en-US" altLang="zh-CN" sz="2600" dirty="0"/>
              <a:t>1.0mm </a:t>
            </a:r>
            <a:r>
              <a:rPr lang="zh-CN" altLang="en-US" sz="2600" dirty="0"/>
              <a:t>厚的玻璃板</a:t>
            </a:r>
            <a:r>
              <a:rPr lang="en-US" altLang="zh-CN" sz="2600" dirty="0"/>
              <a:t>(</a:t>
            </a:r>
            <a:r>
              <a:rPr lang="en-US" altLang="zh-CN" sz="2600" dirty="0" err="1"/>
              <a:t>ε</a:t>
            </a:r>
            <a:r>
              <a:rPr lang="en-US" altLang="zh-CN" sz="2600" baseline="-25000" dirty="0" err="1"/>
              <a:t>r</a:t>
            </a:r>
            <a:r>
              <a:rPr lang="en-US" altLang="zh-CN" sz="2600" dirty="0"/>
              <a:t>= 5)</a:t>
            </a:r>
            <a:r>
              <a:rPr lang="zh-CN" altLang="en-US" sz="2600" dirty="0"/>
              <a:t>，将电容器与</a:t>
            </a:r>
            <a:r>
              <a:rPr lang="en-US" altLang="zh-CN" sz="2600" dirty="0"/>
              <a:t>300V </a:t>
            </a:r>
            <a:r>
              <a:rPr lang="zh-CN" altLang="en-US" sz="2600" dirty="0"/>
              <a:t>的电源相连。求：</a:t>
            </a:r>
          </a:p>
          <a:p>
            <a:r>
              <a:rPr lang="zh-CN" altLang="en-US" sz="2600" dirty="0"/>
              <a:t>（</a:t>
            </a:r>
            <a:r>
              <a:rPr lang="en-US" altLang="zh-CN" sz="2600" dirty="0"/>
              <a:t>1</a:t>
            </a:r>
            <a:r>
              <a:rPr lang="zh-CN" altLang="en-US" sz="2600" dirty="0"/>
              <a:t>）维持两极板电压不变抽出玻璃板，电容器的能量变化为多少？</a:t>
            </a:r>
          </a:p>
          <a:p>
            <a:r>
              <a:rPr lang="zh-CN" altLang="en-US" sz="2600" dirty="0"/>
              <a:t>（</a:t>
            </a:r>
            <a:r>
              <a:rPr lang="en-US" altLang="zh-CN" sz="2600" dirty="0"/>
              <a:t>2</a:t>
            </a:r>
            <a:r>
              <a:rPr lang="zh-CN" altLang="en-US" sz="2600" dirty="0"/>
              <a:t>）断开电源维持板上电量不变，抽出玻璃板，电容器能量变化为多少？</a:t>
            </a:r>
            <a:endParaRPr lang="en-US" sz="2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08B7B9-72F4-4C06-B71E-72A85F47D60D}"/>
              </a:ext>
            </a:extLst>
          </p:cNvPr>
          <p:cNvSpPr/>
          <p:nvPr/>
        </p:nvSpPr>
        <p:spPr>
          <a:xfrm>
            <a:off x="558334" y="2116440"/>
            <a:ext cx="35189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平行板电容器的电容为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EBDB50-CF63-4350-BB99-0B2AA94B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520" y="2180295"/>
            <a:ext cx="1607518" cy="36473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215FACD-EC00-4ACF-91FB-520A0F775731}"/>
              </a:ext>
            </a:extLst>
          </p:cNvPr>
          <p:cNvSpPr/>
          <p:nvPr/>
        </p:nvSpPr>
        <p:spPr>
          <a:xfrm>
            <a:off x="5906191" y="2116440"/>
            <a:ext cx="151836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静电能为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C1B2D8-11FF-48E1-BBD2-991CA953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555" y="2093554"/>
            <a:ext cx="1738647" cy="44156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12E2396-3CE8-4D6A-96A0-60380F19CE66}"/>
              </a:ext>
            </a:extLst>
          </p:cNvPr>
          <p:cNvSpPr/>
          <p:nvPr/>
        </p:nvSpPr>
        <p:spPr>
          <a:xfrm>
            <a:off x="558334" y="2754776"/>
            <a:ext cx="385233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玻璃板抽出之后的电容为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8FDB18-0B0B-4CEB-B245-5B27FE4AB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671" y="2787950"/>
            <a:ext cx="1345828" cy="39998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D993B96-08E2-44F4-A999-36F82DE3D7B3}"/>
              </a:ext>
            </a:extLst>
          </p:cNvPr>
          <p:cNvSpPr/>
          <p:nvPr/>
        </p:nvSpPr>
        <p:spPr>
          <a:xfrm>
            <a:off x="188000" y="3437138"/>
            <a:ext cx="634340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（</a:t>
            </a:r>
            <a:r>
              <a:rPr lang="en-US" altLang="zh-CN" sz="2600" dirty="0">
                <a:latin typeface="+mj-ea"/>
                <a:ea typeface="+mj-ea"/>
              </a:rPr>
              <a:t>1</a:t>
            </a:r>
            <a:r>
              <a:rPr lang="zh-CN" altLang="en-US" sz="2600" dirty="0">
                <a:latin typeface="+mj-ea"/>
                <a:ea typeface="+mj-ea"/>
              </a:rPr>
              <a:t>）保持电压不变抽出玻璃板，静电能为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83347A-CB07-4AEA-8519-6A73A73F4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725" y="3433308"/>
            <a:ext cx="1494459" cy="3937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70D4E76-C763-4BE1-B829-31BCFFB10BE5}"/>
              </a:ext>
            </a:extLst>
          </p:cNvPr>
          <p:cNvSpPr/>
          <p:nvPr/>
        </p:nvSpPr>
        <p:spPr>
          <a:xfrm>
            <a:off x="618983" y="4065951"/>
            <a:ext cx="285206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电能器能量变化为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B65C1C3-92DE-4109-B8BC-33A66467B9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046" y="4097604"/>
            <a:ext cx="8227875" cy="388971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465CE53-F0F9-4E81-A215-EE50B33A951F}"/>
              </a:ext>
            </a:extLst>
          </p:cNvPr>
          <p:cNvSpPr/>
          <p:nvPr/>
        </p:nvSpPr>
        <p:spPr>
          <a:xfrm>
            <a:off x="361213" y="4661315"/>
            <a:ext cx="367600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（</a:t>
            </a:r>
            <a:r>
              <a:rPr lang="en-US" altLang="zh-CN" sz="2600" dirty="0">
                <a:latin typeface="+mj-ea"/>
                <a:ea typeface="+mj-ea"/>
              </a:rPr>
              <a:t>2</a:t>
            </a:r>
            <a:r>
              <a:rPr lang="zh-CN" altLang="en-US" sz="2600" dirty="0">
                <a:latin typeface="+mj-ea"/>
                <a:ea typeface="+mj-ea"/>
              </a:rPr>
              <a:t>）充电后所带电量为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055F919-C468-420F-B467-66E1B6AB56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2520" y="4721545"/>
            <a:ext cx="1352602" cy="39331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563BE85-3AC2-4CC5-9A00-7B4EA6227D2D}"/>
              </a:ext>
            </a:extLst>
          </p:cNvPr>
          <p:cNvSpPr/>
          <p:nvPr/>
        </p:nvSpPr>
        <p:spPr>
          <a:xfrm>
            <a:off x="759655" y="5202725"/>
            <a:ext cx="551946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+mj-ea"/>
                <a:ea typeface="+mj-ea"/>
              </a:rPr>
              <a:t>保持电量不变抽出玻璃板，静电能为</a:t>
            </a:r>
            <a:endParaRPr lang="en-US" sz="2600" dirty="0">
              <a:latin typeface="+mj-ea"/>
              <a:ea typeface="+mj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EAA263D-8E41-4B27-A85B-A1C58A61B7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9115" y="5202725"/>
            <a:ext cx="1403968" cy="42494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4D974C0-5C92-41A3-8CE8-2B266CAE1B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2353" y="5831005"/>
            <a:ext cx="7665653" cy="76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8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24772" y="635000"/>
            <a:ext cx="8214578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一个充电至电量为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q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，面积为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S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，板间距离为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d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的空气平行板电容器，用力将两极板慢慢拉开，使极板间距增至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2d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，则外力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F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在拉开平板的过程中做的功为：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352801" y="2786063"/>
                <a:ext cx="2182761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f>
                        <m:fPr>
                          <m:type m:val="lin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3352801" y="2786063"/>
                <a:ext cx="2182761" cy="6429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352801" y="3643313"/>
                <a:ext cx="2084439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352801" y="3643313"/>
                <a:ext cx="2084439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52801" y="4500563"/>
                <a:ext cx="2182761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f>
                        <m:fPr>
                          <m:type m:val="lin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352801" y="4500563"/>
                <a:ext cx="2182761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52801" y="5357813"/>
                <a:ext cx="2320413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352801" y="5357813"/>
                <a:ext cx="2320413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37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01CEF0-B4B5-38C6-D0FF-AEFBFBD30F8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7527" y="91689"/>
            <a:ext cx="1098139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一个充电至电量为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q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，面积为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S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，板间距离为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d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的空气平行板电容器，用力将两极板慢慢拉开，使极板间距增至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2d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，则外力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F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icrosoft Yahei" panose="020B0503020204020204" pitchFamily="34" charset="-122"/>
              </a:rPr>
              <a:t>在拉开平板的过程中做的功为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B21170-6C21-575F-12F4-5FB35212142C}"/>
              </a:ext>
            </a:extLst>
          </p:cNvPr>
          <p:cNvSpPr txBox="1"/>
          <p:nvPr/>
        </p:nvSpPr>
        <p:spPr>
          <a:xfrm>
            <a:off x="1133915" y="22355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拉开前：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CA99A8A-BA2D-B186-49E5-9242B5575A9B}"/>
                  </a:ext>
                </a:extLst>
              </p:cNvPr>
              <p:cNvSpPr txBox="1"/>
              <p:nvPr/>
            </p:nvSpPr>
            <p:spPr>
              <a:xfrm>
                <a:off x="2282540" y="1997487"/>
                <a:ext cx="2555422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CA99A8A-BA2D-B186-49E5-9242B5575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540" y="1997487"/>
                <a:ext cx="2555422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A9AEF8B7-E936-FBD8-5009-6206BD4E4549}"/>
              </a:ext>
            </a:extLst>
          </p:cNvPr>
          <p:cNvSpPr txBox="1"/>
          <p:nvPr/>
        </p:nvSpPr>
        <p:spPr>
          <a:xfrm>
            <a:off x="1201782" y="337172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拉开后：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C97EB3E-8842-CDA3-0ADD-AE82054C296A}"/>
                  </a:ext>
                </a:extLst>
              </p:cNvPr>
              <p:cNvSpPr txBox="1"/>
              <p:nvPr/>
            </p:nvSpPr>
            <p:spPr>
              <a:xfrm>
                <a:off x="2282540" y="3157895"/>
                <a:ext cx="2555422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C97EB3E-8842-CDA3-0ADD-AE82054C2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540" y="3157895"/>
                <a:ext cx="2555422" cy="9017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A02EC977-BACD-32AD-0788-FA9C1D3F3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0636" y="1810449"/>
                <a:ext cx="5536180" cy="1109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2800" b="0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r>
                      <a:rPr kumimoji="0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kumimoji="0" lang="en-US" altLang="zh-CN" sz="28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A02EC977-BACD-32AD-0788-FA9C1D3F3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0636" y="1810449"/>
                <a:ext cx="5536180" cy="11094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D49D6103-BD3E-DA1E-462B-8F16527FC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7962" y="2934082"/>
                <a:ext cx="5536180" cy="1109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28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r>
                      <a:rPr kumimoji="0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kumimoji="0" lang="en-US" altLang="zh-CN" sz="28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D49D6103-BD3E-DA1E-462B-8F16527FC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7962" y="2934082"/>
                <a:ext cx="5536180" cy="11094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8">
                <a:extLst>
                  <a:ext uri="{FF2B5EF4-FFF2-40B4-BE49-F238E27FC236}">
                    <a16:creationId xmlns:a16="http://schemas.microsoft.com/office/drawing/2014/main" id="{6309B7D7-7107-4794-5BAE-FACEE837C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3218" y="2110717"/>
                <a:ext cx="4282021" cy="1514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l-GR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 Box 18">
                <a:extLst>
                  <a:ext uri="{FF2B5EF4-FFF2-40B4-BE49-F238E27FC236}">
                    <a16:creationId xmlns:a16="http://schemas.microsoft.com/office/drawing/2014/main" id="{6309B7D7-7107-4794-5BAE-FACEE837C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3218" y="2110717"/>
                <a:ext cx="4282021" cy="15145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5BC0C49-DA46-B639-3F3B-B23878055BBA}"/>
                  </a:ext>
                </a:extLst>
              </p:cNvPr>
              <p:cNvSpPr txBox="1"/>
              <p:nvPr/>
            </p:nvSpPr>
            <p:spPr>
              <a:xfrm>
                <a:off x="1004829" y="4672568"/>
                <a:ext cx="2555422" cy="908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5BC0C49-DA46-B639-3F3B-B23878055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29" y="4672568"/>
                <a:ext cx="2555422" cy="9089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A3A18D31-B896-3D1A-AF79-EE70E89709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2739" y="4672568"/>
                <a:ext cx="3190284" cy="7386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l-GR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𝑆𝑑</m:t>
                      </m:r>
                    </m:oMath>
                  </m:oMathPara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A3A18D31-B896-3D1A-AF79-EE70E8970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2739" y="4672568"/>
                <a:ext cx="3190284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F343756F-048F-DA64-AFFB-9709F45468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9645" y="4181592"/>
                <a:ext cx="5738949" cy="1514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l-GR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𝑊</m:t>
                      </m:r>
                      <m:r>
                        <m:rPr>
                          <m:nor/>
                        </m:rPr>
                        <a:rPr lang="en-US" altLang="zh-CN" sz="2800" b="0" dirty="0"/>
                        <m:t>=</m:t>
                      </m:r>
                      <m:f>
                        <m:fPr>
                          <m:ctrlPr>
                            <a:rPr lang="en-US" altLang="zh-CN" sz="2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F343756F-048F-DA64-AFFB-9709F4546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9645" y="4181592"/>
                <a:ext cx="5738949" cy="15145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71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2135293" y="2901951"/>
                <a:ext cx="7751657" cy="455004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ct val="5000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𝐶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𝑆</m:t>
                        </m:r>
                      </m:num>
                      <m:den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𝑑</m:t>
                        </m:r>
                      </m:den>
                    </m:f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ea typeface="+mj-ea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𝑈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𝐸𝑑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ea typeface="+mj-ea"/>
                  </a:rPr>
                  <a:t>，则</a:t>
                </a:r>
                <a:endParaRPr kumimoji="1" lang="en-US" altLang="zh-CN" dirty="0">
                  <a:solidFill>
                    <a:srgbClr val="000000"/>
                  </a:solidFill>
                  <a:ea typeface="+mj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ct val="50000"/>
                  </a:spcBef>
                  <a:buNone/>
                  <a:defRPr/>
                </a:pPr>
                <a:endParaRPr kumimoji="1" lang="en-US" altLang="zh-CN" dirty="0">
                  <a:solidFill>
                    <a:srgbClr val="000000"/>
                  </a:solidFill>
                  <a:ea typeface="+mj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𝑊</m:t>
                      </m:r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den>
                      </m:f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𝐶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𝑈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𝑟</m:t>
                              </m:r>
                            </m:sub>
                          </m:sSub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𝑆</m:t>
                          </m:r>
                        </m:num>
                        <m:den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𝑑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(</m:t>
                          </m:r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𝐸𝑑</m:t>
                          </m:r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𝜀</m:t>
                          </m:r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𝑆𝑑</m:t>
                      </m:r>
                    </m:oMath>
                  </m:oMathPara>
                </a14:m>
                <a:endParaRPr kumimoji="1" lang="en-US" altLang="zh-CN" i="1" dirty="0">
                  <a:solidFill>
                    <a:schemeClr val="tx1"/>
                  </a:solidFill>
                  <a:ea typeface="+mj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𝜀</m:t>
                          </m:r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𝑉</m:t>
                      </m:r>
                    </m:oMath>
                  </m:oMathPara>
                </a14:m>
                <a:endParaRPr kumimoji="1" lang="en-US" altLang="zh-CN" dirty="0">
                  <a:solidFill>
                    <a:schemeClr val="tx1"/>
                  </a:solidFill>
                  <a:ea typeface="+mj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ct val="50000"/>
                  </a:spcBef>
                  <a:buNone/>
                  <a:defRPr/>
                </a:pPr>
                <a:r>
                  <a:rPr lang="zh-CN" altLang="en-US" dirty="0">
                    <a:solidFill>
                      <a:srgbClr val="FF0000"/>
                    </a:solidFill>
                    <a:ea typeface="+mj-ea"/>
                  </a:rPr>
                  <a:t>能量是储存在整个电场中的，即电场具有能量，或者说，电场是能量的携带者。</a:t>
                </a: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5293" y="2901951"/>
                <a:ext cx="7751657" cy="4550047"/>
              </a:xfrm>
              <a:blipFill>
                <a:blip r:embed="rId2"/>
                <a:stretch>
                  <a:fillRect l="-1572" t="-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2">
            <a:extLst>
              <a:ext uri="{FF2B5EF4-FFF2-40B4-BE49-F238E27FC236}">
                <a16:creationId xmlns:a16="http://schemas.microsoft.com/office/drawing/2014/main" id="{7EBD108D-EDA7-A131-0905-59C21E4401DF}"/>
              </a:ext>
            </a:extLst>
          </p:cNvPr>
          <p:cNvSpPr txBox="1">
            <a:spLocks/>
          </p:cNvSpPr>
          <p:nvPr/>
        </p:nvSpPr>
        <p:spPr>
          <a:xfrm>
            <a:off x="412197" y="451432"/>
            <a:ext cx="3892938" cy="952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kumimoji="1" lang="zh-CN" altLang="en-US" sz="3200" b="1" kern="0" dirty="0">
                <a:solidFill>
                  <a:srgbClr val="0066FF"/>
                </a:solidFill>
                <a:latin typeface="华文楷体" panose="02010600040101010101" pitchFamily="2" charset="-122"/>
                <a:cs typeface="+mn-cs"/>
              </a:rPr>
              <a:t>电容器的能量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8">
                <a:extLst>
                  <a:ext uri="{FF2B5EF4-FFF2-40B4-BE49-F238E27FC236}">
                    <a16:creationId xmlns:a16="http://schemas.microsoft.com/office/drawing/2014/main" id="{A53C7DFF-DF1E-0B27-9AA0-2DF9FE5B3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000" y="1189849"/>
                <a:ext cx="5536180" cy="16032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800" b="0" dirty="0"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电容器的静电能</a:t>
                </a:r>
                <a:r>
                  <a:rPr kumimoji="0" lang="en-US" altLang="zh-CN" sz="2800" b="0" dirty="0"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𝑄𝑈</m:t>
                      </m:r>
                    </m:oMath>
                  </m:oMathPara>
                </a14:m>
                <a:endParaRPr kumimoji="0" lang="zh-CN" altLang="en-US" sz="2800" b="0" dirty="0"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 Box 18">
                <a:extLst>
                  <a:ext uri="{FF2B5EF4-FFF2-40B4-BE49-F238E27FC236}">
                    <a16:creationId xmlns:a16="http://schemas.microsoft.com/office/drawing/2014/main" id="{A53C7DFF-DF1E-0B27-9AA0-2DF9FE5B3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0" y="1189849"/>
                <a:ext cx="5536180" cy="1603259"/>
              </a:xfrm>
              <a:prstGeom prst="rect">
                <a:avLst/>
              </a:prstGeom>
              <a:blipFill>
                <a:blip r:embed="rId3"/>
                <a:stretch>
                  <a:fillRect l="-23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946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634212" y="1592151"/>
                <a:ext cx="8004942" cy="3673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𝓌</m:t>
                      </m:r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den>
                      </m:f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p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acc>
                      <m:r>
                        <a:rPr kumimoji="1"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rgbClr val="C00000"/>
                  </a:solidFill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则电场能量为：</a:t>
                </a:r>
                <a:endParaRPr kumimoji="1" lang="en-US" altLang="zh-CN" sz="2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𝓌</m:t>
                          </m:r>
                        </m:e>
                      </m:nary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𝑑𝑉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kumimoji="1"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212" y="1592151"/>
                <a:ext cx="8004942" cy="3673698"/>
              </a:xfrm>
              <a:prstGeom prst="rect">
                <a:avLst/>
              </a:prstGeom>
              <a:blipFill>
                <a:blip r:embed="rId2"/>
                <a:stretch>
                  <a:fillRect l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2">
            <a:extLst>
              <a:ext uri="{FF2B5EF4-FFF2-40B4-BE49-F238E27FC236}">
                <a16:creationId xmlns:a16="http://schemas.microsoft.com/office/drawing/2014/main" id="{5E2FDD5C-5471-829D-4896-D683BDC72C64}"/>
              </a:ext>
            </a:extLst>
          </p:cNvPr>
          <p:cNvSpPr txBox="1">
            <a:spLocks/>
          </p:cNvSpPr>
          <p:nvPr/>
        </p:nvSpPr>
        <p:spPr>
          <a:xfrm>
            <a:off x="418546" y="579731"/>
            <a:ext cx="4794803" cy="952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kumimoji="1" lang="zh-CN" altLang="en-US" sz="3200" b="1" kern="0" dirty="0">
                <a:solidFill>
                  <a:srgbClr val="0066FF"/>
                </a:solidFill>
                <a:latin typeface="华文楷体" panose="02010600040101010101" pitchFamily="2" charset="-122"/>
                <a:cs typeface="+mn-cs"/>
              </a:rPr>
              <a:t>静电场的能量密度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261151-AB91-8897-6C91-2199091DAD04}"/>
              </a:ext>
            </a:extLst>
          </p:cNvPr>
          <p:cNvSpPr txBox="1"/>
          <p:nvPr/>
        </p:nvSpPr>
        <p:spPr>
          <a:xfrm>
            <a:off x="4526935" y="5403850"/>
            <a:ext cx="2495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普适公式</a:t>
            </a:r>
          </a:p>
        </p:txBody>
      </p:sp>
    </p:spTree>
    <p:extLst>
      <p:ext uri="{BB962C8B-B14F-4D97-AF65-F5344CB8AC3E}">
        <p14:creationId xmlns:p14="http://schemas.microsoft.com/office/powerpoint/2010/main" val="253706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EE6B56-DBAD-4460-85C8-B9D868FF6142}"/>
              </a:ext>
            </a:extLst>
          </p:cNvPr>
          <p:cNvSpPr/>
          <p:nvPr/>
        </p:nvSpPr>
        <p:spPr>
          <a:xfrm>
            <a:off x="2391265" y="2363801"/>
            <a:ext cx="76738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作业 ：课后习题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15.6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15.8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15.16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15.23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FC185-3475-403F-A50E-0427321BF6DE}"/>
              </a:ext>
            </a:extLst>
          </p:cNvPr>
          <p:cNvSpPr/>
          <p:nvPr/>
        </p:nvSpPr>
        <p:spPr>
          <a:xfrm>
            <a:off x="2348143" y="3617037"/>
            <a:ext cx="5827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截止时间： 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4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月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16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日早上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：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58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944" y="201116"/>
            <a:ext cx="206805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静电场</a:t>
            </a: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4" y="1733807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12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静电场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4" y="3342655"/>
            <a:ext cx="65270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14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静电场中的导体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41" y="4157463"/>
            <a:ext cx="49712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静电场中的电介质</a:t>
            </a: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4" y="2527205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13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52FD07A4-538A-7EAE-01A2-B545C2A6E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914" y="1230567"/>
            <a:ext cx="71410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Char char="-"/>
            </a:pPr>
            <a:r>
              <a:rPr lang="zh-CN" altLang="en-US" sz="2800" b="1" dirty="0">
                <a:latin typeface="+mn-ea"/>
              </a:rPr>
              <a:t>电场</a:t>
            </a:r>
            <a:r>
              <a:rPr lang="zh-CN" altLang="zh-CN" sz="2800" b="1" dirty="0">
                <a:latin typeface="+mn-ea"/>
              </a:rPr>
              <a:t>、</a:t>
            </a:r>
            <a:r>
              <a:rPr lang="zh-CN" altLang="en-US" sz="2800" b="1" dirty="0">
                <a:latin typeface="+mn-ea"/>
              </a:rPr>
              <a:t>电通量、电势、电势梯度、</a:t>
            </a:r>
            <a:br>
              <a:rPr lang="en-US" altLang="zh-CN" sz="2800" b="1" dirty="0">
                <a:latin typeface="+mn-ea"/>
              </a:rPr>
            </a:br>
            <a:r>
              <a:rPr lang="zh-CN" altLang="en-US" sz="2800" b="1" dirty="0">
                <a:latin typeface="+mn-ea"/>
              </a:rPr>
              <a:t>电势能（能量密度）、电极化强度、电位移矢量</a:t>
            </a:r>
            <a:r>
              <a:rPr lang="zh-CN" altLang="zh-CN" sz="2800" b="1" dirty="0">
                <a:latin typeface="+mn-ea"/>
              </a:rPr>
              <a:t>等</a:t>
            </a:r>
            <a:r>
              <a:rPr lang="zh-CN" altLang="en-US" sz="2800" b="1" dirty="0">
                <a:latin typeface="+mn-ea"/>
              </a:rPr>
              <a:t>物理量</a:t>
            </a:r>
            <a:endParaRPr lang="zh-CN" altLang="zh-CN" sz="2800" b="1" dirty="0">
              <a:latin typeface="+mn-ea"/>
            </a:endParaRP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BEA8E5F5-65C7-2C10-32E5-998CB7B21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914" y="4526399"/>
            <a:ext cx="714103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Char char="-"/>
            </a:pPr>
            <a:r>
              <a:rPr lang="zh-CN" altLang="en-US" sz="2800" b="1" dirty="0">
                <a:latin typeface="+mn-ea"/>
              </a:rPr>
              <a:t>静电场性质：有源场（高斯定律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库仑定律），保守力场（安培环路定理）</a:t>
            </a:r>
            <a:endParaRPr lang="zh-CN" altLang="zh-CN" sz="2800" b="1" dirty="0">
              <a:latin typeface="+mn-ea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20720373-4159-97F5-AE7D-884766E41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914" y="3481559"/>
            <a:ext cx="714103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Char char="-"/>
            </a:pPr>
            <a:r>
              <a:rPr lang="zh-CN" altLang="en-US" sz="2800" b="1" dirty="0">
                <a:latin typeface="+mn-ea"/>
              </a:rPr>
              <a:t>叠加原理： 电场矢量叠加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                     </a:t>
            </a:r>
            <a:r>
              <a:rPr lang="zh-CN" altLang="en-US" sz="2800" b="1" dirty="0">
                <a:latin typeface="+mn-ea"/>
              </a:rPr>
              <a:t>电势标量叠加</a:t>
            </a:r>
            <a:endParaRPr lang="zh-CN" altLang="zh-CN" sz="2800" b="1" dirty="0">
              <a:latin typeface="+mn-ea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750E2CE-36AC-EA24-C9C3-418EE9719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914" y="2704419"/>
            <a:ext cx="7141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Char char="-"/>
            </a:pPr>
            <a:r>
              <a:rPr lang="zh-CN" altLang="en-US" sz="2800" b="1" dirty="0">
                <a:latin typeface="+mn-ea"/>
              </a:rPr>
              <a:t>孤立体系电荷守恒</a:t>
            </a:r>
            <a:endParaRPr lang="zh-CN" altLang="zh-CN" sz="2800" b="1" dirty="0">
              <a:latin typeface="+mn-ea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048FFFA3-98D2-74BC-FFF6-85B941867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1972" y="5703134"/>
            <a:ext cx="714103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Char char="-"/>
            </a:pPr>
            <a:r>
              <a:rPr lang="zh-CN" altLang="en-US" sz="2800" b="1" dirty="0">
                <a:latin typeface="+mn-ea"/>
              </a:rPr>
              <a:t>静电场与物质相互作用：静电平衡条件，电介质极化，</a:t>
            </a:r>
            <a:r>
              <a:rPr lang="en-US" altLang="zh-CN" sz="2800" b="1" dirty="0">
                <a:latin typeface="+mn-ea"/>
              </a:rPr>
              <a:t>D</a:t>
            </a:r>
            <a:r>
              <a:rPr lang="zh-CN" altLang="en-US" sz="2800" b="1" dirty="0">
                <a:latin typeface="+mn-ea"/>
              </a:rPr>
              <a:t>的高斯定律</a:t>
            </a:r>
            <a:endParaRPr lang="zh-CN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56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" grpId="1"/>
      <p:bldP spid="3" grpId="0" autoUpdateAnimBg="0"/>
      <p:bldP spid="3" grpId="1"/>
      <p:bldP spid="4" grpId="0" autoUpdateAnimBg="0"/>
      <p:bldP spid="4" grpId="1"/>
      <p:bldP spid="5" grpId="0" autoUpdateAnimBg="0"/>
      <p:bldP spid="5" grpId="1"/>
      <p:bldP spid="6" grpId="0" autoUpdateAnimBg="0"/>
      <p:bldP spid="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E996EC9-625A-4C31-94D0-9694821ED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36" y="531993"/>
            <a:ext cx="411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2">
                <a:extLst>
                  <a:ext uri="{FF2B5EF4-FFF2-40B4-BE49-F238E27FC236}">
                    <a16:creationId xmlns:a16="http://schemas.microsoft.com/office/drawing/2014/main" id="{38D5F081-5876-420E-A6EF-CE90C44A98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2445" y="3429000"/>
                <a:ext cx="4347489" cy="12249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800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sz="32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zh-CN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</m:acc>
                        </m:num>
                        <m:den>
                          <m:r>
                            <a:rPr lang="en-US" altLang="zh-CN" sz="32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altLang="zh-CN" sz="3200" b="0" i="1" baseline="-25000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altLang="zh-CN" sz="32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Text Box 32">
                <a:extLst>
                  <a:ext uri="{FF2B5EF4-FFF2-40B4-BE49-F238E27FC236}">
                    <a16:creationId xmlns:a16="http://schemas.microsoft.com/office/drawing/2014/main" id="{38D5F081-5876-420E-A6EF-CE90C44A9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2445" y="3429000"/>
                <a:ext cx="4347489" cy="1224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800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0">
            <a:extLst>
              <a:ext uri="{FF2B5EF4-FFF2-40B4-BE49-F238E27FC236}">
                <a16:creationId xmlns:a16="http://schemas.microsoft.com/office/drawing/2014/main" id="{62FA6D99-3658-4B83-A16C-5235A8E9D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079" y="1372144"/>
            <a:ext cx="4439331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电荷在其周围产生电场。</a:t>
            </a:r>
            <a:endParaRPr lang="zh-CN" altLang="en-US" sz="2800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电荷在电场中受力</a:t>
            </a:r>
            <a:endParaRPr lang="en-US" altLang="zh-CN" sz="2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onotype Sorts" pitchFamily="2" charset="2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客观存在，有质量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能量</a:t>
            </a:r>
          </a:p>
        </p:txBody>
      </p:sp>
      <p:sp>
        <p:nvSpPr>
          <p:cNvPr id="9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21886CCC-5EF0-4A13-A484-34A23DCA3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86" y="3380256"/>
            <a:ext cx="411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电场强度</a:t>
            </a:r>
          </a:p>
        </p:txBody>
      </p:sp>
      <p:sp>
        <p:nvSpPr>
          <p:cNvPr id="10" name="内容占位符 4">
            <a:extLst>
              <a:ext uri="{FF2B5EF4-FFF2-40B4-BE49-F238E27FC236}">
                <a16:creationId xmlns:a16="http://schemas.microsoft.com/office/drawing/2014/main" id="{A6ADFD0E-B691-3649-FACD-3AB9BD543752}"/>
              </a:ext>
            </a:extLst>
          </p:cNvPr>
          <p:cNvSpPr txBox="1">
            <a:spLocks/>
          </p:cNvSpPr>
          <p:nvPr/>
        </p:nvSpPr>
        <p:spPr>
          <a:xfrm>
            <a:off x="5471135" y="1421734"/>
            <a:ext cx="6071145" cy="46526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Char char="-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电场线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上任一点的切线方向代表该点的场强方向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通过垂直场强方向的单位面积的电场线的条数等于该点处场的大小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起于正电荷（或无限远处），终于负电荷（或无限远处），无电荷处不中断 </a:t>
            </a:r>
            <a:r>
              <a:rPr lang="en-US" altLang="zh-CN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静电场是有源场</a:t>
            </a:r>
            <a:r>
              <a:rPr lang="en-US" altLang="zh-CN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任何两条电场线不会相交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静电场的电力线不会形成闭合曲线</a:t>
            </a:r>
            <a:r>
              <a:rPr lang="en-US" altLang="zh-CN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静电场是保守力场</a:t>
            </a:r>
            <a:r>
              <a:rPr lang="en-US" altLang="zh-CN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>
              <a:lnSpc>
                <a:spcPct val="100000"/>
              </a:lnSpc>
              <a:buFontTx/>
              <a:buChar char="-"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8051968F-EC56-CF8F-F357-01594D9B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023" y="581583"/>
            <a:ext cx="411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电场线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7717C28-3535-DAD0-0F62-12905296E5C9}"/>
                  </a:ext>
                </a:extLst>
              </p:cNvPr>
              <p:cNvSpPr/>
              <p:nvPr/>
            </p:nvSpPr>
            <p:spPr>
              <a:xfrm>
                <a:off x="1626041" y="5686911"/>
                <a:ext cx="2986395" cy="9743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sz="2800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7717C28-3535-DAD0-0F62-12905296E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041" y="5686911"/>
                <a:ext cx="2986395" cy="9743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13E46E4A-6329-0805-A7B3-6C31CAAAC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433" y="4872077"/>
            <a:ext cx="22878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库仑定律</a:t>
            </a:r>
          </a:p>
        </p:txBody>
      </p:sp>
    </p:spTree>
    <p:extLst>
      <p:ext uri="{BB962C8B-B14F-4D97-AF65-F5344CB8AC3E}">
        <p14:creationId xmlns:p14="http://schemas.microsoft.com/office/powerpoint/2010/main" val="53411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7" grpId="0"/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-812074" y="4691835"/>
                <a:ext cx="7543801" cy="1673276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812074" y="4691835"/>
                <a:ext cx="7543801" cy="16732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69" y="1421052"/>
            <a:ext cx="4365114" cy="2554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61F83BA0-5CDC-4D3C-94DE-FAF0D415533D}"/>
              </a:ext>
            </a:extLst>
          </p:cNvPr>
          <p:cNvSpPr txBox="1">
            <a:spLocks/>
          </p:cNvSpPr>
          <p:nvPr/>
        </p:nvSpPr>
        <p:spPr>
          <a:xfrm>
            <a:off x="638899" y="260616"/>
            <a:ext cx="7543800" cy="1117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电通量：</a:t>
            </a:r>
            <a:endParaRPr lang="zh-CN" altLang="en-US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301A239-7571-A505-2B5A-37BA5D0B917F}"/>
              </a:ext>
            </a:extLst>
          </p:cNvPr>
          <p:cNvSpPr/>
          <p:nvPr/>
        </p:nvSpPr>
        <p:spPr>
          <a:xfrm>
            <a:off x="6226863" y="3059330"/>
            <a:ext cx="4379528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宋体" panose="02010600030101010101" pitchFamily="2" charset="-122"/>
              </a:rPr>
              <a:t>- </a:t>
            </a:r>
            <a:r>
              <a:rPr lang="zh-CN" altLang="en-US" sz="2800" dirty="0">
                <a:latin typeface="宋体" panose="02010600030101010101" pitchFamily="2" charset="-122"/>
              </a:rPr>
              <a:t>高斯面：闭合曲面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92895922-5EF7-B7A6-0E7C-2C4C14C62809}"/>
              </a:ext>
            </a:extLst>
          </p:cNvPr>
          <p:cNvSpPr txBox="1"/>
          <p:nvPr/>
        </p:nvSpPr>
        <p:spPr>
          <a:xfrm>
            <a:off x="6174277" y="4063679"/>
            <a:ext cx="5622676" cy="10888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- </a:t>
            </a:r>
            <a:r>
              <a:rPr lang="zh-CN" altLang="en-US" sz="2800" dirty="0">
                <a:latin typeface="宋体" panose="02010600030101010101" pitchFamily="2" charset="-122"/>
              </a:rPr>
              <a:t>电场强度为</a:t>
            </a:r>
            <a:r>
              <a:rPr lang="zh-CN" altLang="en-US" sz="2800" dirty="0">
                <a:solidFill>
                  <a:srgbClr val="CC0000"/>
                </a:solidFill>
                <a:latin typeface="宋体" panose="02010600030101010101" pitchFamily="2" charset="-122"/>
              </a:rPr>
              <a:t>所有</a:t>
            </a:r>
            <a:r>
              <a:rPr lang="zh-CN" altLang="en-US" sz="2800" dirty="0">
                <a:latin typeface="宋体" panose="02010600030101010101" pitchFamily="2" charset="-122"/>
              </a:rPr>
              <a:t>电荷在高斯面上的总电场强度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D6F23D8-B1D6-1F35-EA4F-4B1294CE0A62}"/>
              </a:ext>
            </a:extLst>
          </p:cNvPr>
          <p:cNvSpPr/>
          <p:nvPr/>
        </p:nvSpPr>
        <p:spPr>
          <a:xfrm>
            <a:off x="6226863" y="5338944"/>
            <a:ext cx="4835729" cy="10888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- </a:t>
            </a:r>
            <a:r>
              <a:rPr lang="zh-CN" altLang="en-US" sz="2800" dirty="0">
                <a:latin typeface="宋体" panose="02010600030101010101" pitchFamily="2" charset="-122"/>
              </a:rPr>
              <a:t>仅高斯面</a:t>
            </a:r>
            <a:r>
              <a:rPr lang="zh-CN" altLang="en-US" sz="2800" dirty="0">
                <a:solidFill>
                  <a:srgbClr val="CC0000"/>
                </a:solidFill>
                <a:latin typeface="宋体" panose="02010600030101010101" pitchFamily="2" charset="-122"/>
              </a:rPr>
              <a:t>内</a:t>
            </a:r>
            <a:r>
              <a:rPr lang="zh-CN" altLang="en-US" sz="2800" dirty="0">
                <a:latin typeface="宋体" panose="02010600030101010101" pitchFamily="2" charset="-122"/>
              </a:rPr>
              <a:t>电荷对电场强度</a:t>
            </a:r>
            <a:r>
              <a:rPr lang="zh-CN" altLang="en-US" sz="2800" dirty="0">
                <a:solidFill>
                  <a:srgbClr val="CC0000"/>
                </a:solidFill>
                <a:latin typeface="宋体" panose="02010600030101010101" pitchFamily="2" charset="-122"/>
              </a:rPr>
              <a:t>通量</a:t>
            </a:r>
            <a:r>
              <a:rPr lang="zh-CN" altLang="en-US" sz="2800" dirty="0">
                <a:latin typeface="宋体" panose="02010600030101010101" pitchFamily="2" charset="-122"/>
              </a:rPr>
              <a:t>有贡献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标题 1">
                <a:extLst>
                  <a:ext uri="{FF2B5EF4-FFF2-40B4-BE49-F238E27FC236}">
                    <a16:creationId xmlns:a16="http://schemas.microsoft.com/office/drawing/2014/main" id="{BA1C7965-1E58-9FC7-4D11-B7BBDEBB4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4810" y="1614316"/>
                <a:ext cx="5301753" cy="13255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∯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内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5" name="标题 1">
                <a:extLst>
                  <a:ext uri="{FF2B5EF4-FFF2-40B4-BE49-F238E27FC236}">
                    <a16:creationId xmlns:a16="http://schemas.microsoft.com/office/drawing/2014/main" id="{BA1C7965-1E58-9FC7-4D11-B7BBDEBB4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810" y="1614316"/>
                <a:ext cx="5301753" cy="1325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4">
            <a:extLst>
              <a:ext uri="{FF2B5EF4-FFF2-40B4-BE49-F238E27FC236}">
                <a16:creationId xmlns:a16="http://schemas.microsoft.com/office/drawing/2014/main" id="{AABDC171-8990-E0DD-B0C6-8AD744452E0A}"/>
              </a:ext>
            </a:extLst>
          </p:cNvPr>
          <p:cNvSpPr txBox="1">
            <a:spLocks/>
          </p:cNvSpPr>
          <p:nvPr/>
        </p:nvSpPr>
        <p:spPr>
          <a:xfrm>
            <a:off x="6970585" y="260616"/>
            <a:ext cx="5045544" cy="97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高斯定律：</a:t>
            </a:r>
            <a:endParaRPr lang="zh-CN" altLang="en-US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70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1DA2F2B-A8C3-4296-A996-81A63ED3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384" y="134018"/>
            <a:ext cx="9339370" cy="145226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6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利用高斯定律求静电场的分布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28602"/>
              </p:ext>
            </p:extLst>
          </p:nvPr>
        </p:nvGraphicFramePr>
        <p:xfrm>
          <a:off x="1579871" y="1402784"/>
          <a:ext cx="8592830" cy="2646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782">
                  <a:extLst>
                    <a:ext uri="{9D8B030D-6E8A-4147-A177-3AD203B41FA5}">
                      <a16:colId xmlns:a16="http://schemas.microsoft.com/office/drawing/2014/main" val="508996438"/>
                    </a:ext>
                  </a:extLst>
                </a:gridCol>
                <a:gridCol w="2885782">
                  <a:extLst>
                    <a:ext uri="{9D8B030D-6E8A-4147-A177-3AD203B41FA5}">
                      <a16:colId xmlns:a16="http://schemas.microsoft.com/office/drawing/2014/main" val="1439510101"/>
                    </a:ext>
                  </a:extLst>
                </a:gridCol>
                <a:gridCol w="2821266">
                  <a:extLst>
                    <a:ext uri="{9D8B030D-6E8A-4147-A177-3AD203B41FA5}">
                      <a16:colId xmlns:a16="http://schemas.microsoft.com/office/drawing/2014/main" val="3575640936"/>
                    </a:ext>
                  </a:extLst>
                </a:gridCol>
              </a:tblGrid>
              <a:tr h="419164">
                <a:tc gridSpan="3">
                  <a:txBody>
                    <a:bodyPr/>
                    <a:lstStyle/>
                    <a:p>
                      <a:pPr algn="ctr"/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电荷的对称分布</a:t>
                      </a:r>
                      <a:endParaRPr lang="zh-CN" altLang="en-US" sz="2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03345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球对称 </a:t>
                      </a:r>
                      <a:endParaRPr lang="zh-CN" altLang="en-US" sz="2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柱对称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面对称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44672"/>
                  </a:ext>
                </a:extLst>
              </a:tr>
              <a:tr h="1731879">
                <a:tc>
                  <a:txBody>
                    <a:bodyPr/>
                    <a:lstStyle/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点电荷</a:t>
                      </a:r>
                      <a:endParaRPr lang="en-US" altLang="zh-CN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球体</a:t>
                      </a:r>
                    </a:p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球面</a:t>
                      </a:r>
                      <a:endParaRPr lang="zh-CN" altLang="en-US" sz="2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无限长：</a:t>
                      </a:r>
                    </a:p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C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柱体</a:t>
                      </a:r>
                    </a:p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C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柱面</a:t>
                      </a:r>
                      <a:endParaRPr lang="zh-CN" altLang="en-US" sz="2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无限大：</a:t>
                      </a:r>
                    </a:p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平板</a:t>
                      </a:r>
                    </a:p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7228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5BBCB7C-AFBE-4237-9B2C-47DA0B62D1EA}"/>
                  </a:ext>
                </a:extLst>
              </p:cNvPr>
              <p:cNvSpPr/>
              <p:nvPr/>
            </p:nvSpPr>
            <p:spPr>
              <a:xfrm>
                <a:off x="2113989" y="6069770"/>
                <a:ext cx="3137013" cy="719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面外）</a:t>
                </a:r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5BBCB7C-AFBE-4237-9B2C-47DA0B62D1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989" y="6069770"/>
                <a:ext cx="3137013" cy="719556"/>
              </a:xfrm>
              <a:prstGeom prst="rect">
                <a:avLst/>
              </a:prstGeom>
              <a:blipFill>
                <a:blip r:embed="rId2"/>
                <a:stretch>
                  <a:fillRect r="-2724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8">
                <a:extLst>
                  <a:ext uri="{FF2B5EF4-FFF2-40B4-BE49-F238E27FC236}">
                    <a16:creationId xmlns:a16="http://schemas.microsoft.com/office/drawing/2014/main" id="{7448F777-0DC8-4B2F-A76B-EC24B051A739}"/>
                  </a:ext>
                </a:extLst>
              </p:cNvPr>
              <p:cNvSpPr txBox="1"/>
              <p:nvPr/>
            </p:nvSpPr>
            <p:spPr bwMode="auto">
              <a:xfrm>
                <a:off x="5535225" y="4779105"/>
                <a:ext cx="2065337" cy="1219200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bject 48">
                <a:extLst>
                  <a:ext uri="{FF2B5EF4-FFF2-40B4-BE49-F238E27FC236}">
                    <a16:creationId xmlns:a16="http://schemas.microsoft.com/office/drawing/2014/main" id="{7448F777-0DC8-4B2F-A76B-EC24B051A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5225" y="4779105"/>
                <a:ext cx="2065337" cy="1219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6">
                <a:extLst>
                  <a:ext uri="{FF2B5EF4-FFF2-40B4-BE49-F238E27FC236}">
                    <a16:creationId xmlns:a16="http://schemas.microsoft.com/office/drawing/2014/main" id="{9014278C-72E7-4BB5-9F46-9265B9E5772B}"/>
                  </a:ext>
                </a:extLst>
              </p:cNvPr>
              <p:cNvSpPr txBox="1"/>
              <p:nvPr/>
            </p:nvSpPr>
            <p:spPr bwMode="auto">
              <a:xfrm>
                <a:off x="8303272" y="4832630"/>
                <a:ext cx="1573213" cy="1241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zh-CN" alt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bject 36">
                <a:extLst>
                  <a:ext uri="{FF2B5EF4-FFF2-40B4-BE49-F238E27FC236}">
                    <a16:creationId xmlns:a16="http://schemas.microsoft.com/office/drawing/2014/main" id="{9014278C-72E7-4BB5-9F46-9265B9E57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3272" y="4832630"/>
                <a:ext cx="1573213" cy="1241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F0B6B5DB-6EE0-4D87-ADE6-064D6464E2A9}"/>
              </a:ext>
            </a:extLst>
          </p:cNvPr>
          <p:cNvSpPr/>
          <p:nvPr/>
        </p:nvSpPr>
        <p:spPr>
          <a:xfrm>
            <a:off x="221892" y="5677529"/>
            <a:ext cx="181862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均匀带电球面</a:t>
            </a:r>
            <a:endParaRPr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0B86A7-461E-4BE4-ADDA-242CFA43D5DA}"/>
              </a:ext>
            </a:extLst>
          </p:cNvPr>
          <p:cNvSpPr txBox="1"/>
          <p:nvPr/>
        </p:nvSpPr>
        <p:spPr>
          <a:xfrm>
            <a:off x="5397531" y="4296917"/>
            <a:ext cx="1851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无限长直线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927E7D-E778-40BB-BB6E-06FE5C5C36DA}"/>
              </a:ext>
            </a:extLst>
          </p:cNvPr>
          <p:cNvSpPr txBox="1"/>
          <p:nvPr/>
        </p:nvSpPr>
        <p:spPr>
          <a:xfrm>
            <a:off x="8065142" y="4307172"/>
            <a:ext cx="1851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无限大平面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C0CC03-DD1D-41F5-A181-07C527EEDCBC}"/>
              </a:ext>
            </a:extLst>
          </p:cNvPr>
          <p:cNvSpPr txBox="1"/>
          <p:nvPr/>
        </p:nvSpPr>
        <p:spPr>
          <a:xfrm>
            <a:off x="5446403" y="5831430"/>
            <a:ext cx="21881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电场方向垂直于直线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41A897-37D1-4608-B64D-51CD9A5837E5}"/>
              </a:ext>
            </a:extLst>
          </p:cNvPr>
          <p:cNvSpPr txBox="1"/>
          <p:nvPr/>
        </p:nvSpPr>
        <p:spPr>
          <a:xfrm>
            <a:off x="7993982" y="5846852"/>
            <a:ext cx="203156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电场方向垂直于平面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81FB5E-43EA-43C7-AEA5-9F9E3BE94C47}"/>
              </a:ext>
            </a:extLst>
          </p:cNvPr>
          <p:cNvSpPr/>
          <p:nvPr/>
        </p:nvSpPr>
        <p:spPr>
          <a:xfrm>
            <a:off x="371089" y="4568256"/>
            <a:ext cx="156591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均匀带电球体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A96BB5B-11A2-49D8-B601-DF141404CA64}"/>
                  </a:ext>
                </a:extLst>
              </p:cNvPr>
              <p:cNvSpPr/>
              <p:nvPr/>
            </p:nvSpPr>
            <p:spPr>
              <a:xfrm>
                <a:off x="2127726" y="5632047"/>
                <a:ext cx="2428101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a:rPr lang="zh-CN" altLang="en-US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面内）</a:t>
                </a:r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A96BB5B-11A2-49D8-B601-DF141404C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726" y="5632047"/>
                <a:ext cx="2428101" cy="492443"/>
              </a:xfrm>
              <a:prstGeom prst="rect">
                <a:avLst/>
              </a:prstGeom>
              <a:blipFill>
                <a:blip r:embed="rId5"/>
                <a:stretch>
                  <a:fillRect t="-11111" r="-3769" b="-2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1DE16AC-B988-4B32-B479-B95D07A4A893}"/>
                  </a:ext>
                </a:extLst>
              </p:cNvPr>
              <p:cNvSpPr/>
              <p:nvPr/>
            </p:nvSpPr>
            <p:spPr>
              <a:xfrm>
                <a:off x="2038826" y="4819730"/>
                <a:ext cx="3137013" cy="719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zh-CN" alt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体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外）</a:t>
                </a:r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1DE16AC-B988-4B32-B479-B95D07A4A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826" y="4819730"/>
                <a:ext cx="3137013" cy="719556"/>
              </a:xfrm>
              <a:prstGeom prst="rect">
                <a:avLst/>
              </a:prstGeom>
              <a:blipFill>
                <a:blip r:embed="rId6"/>
                <a:stretch>
                  <a:fillRect r="-2524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D521AFB-FF70-4D31-839A-D94EFA4BA226}"/>
                  </a:ext>
                </a:extLst>
              </p:cNvPr>
              <p:cNvSpPr/>
              <p:nvPr/>
            </p:nvSpPr>
            <p:spPr>
              <a:xfrm>
                <a:off x="2046158" y="4231020"/>
                <a:ext cx="2759858" cy="719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CN" sz="2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zh-CN" alt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体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内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D521AFB-FF70-4D31-839A-D94EFA4BA2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158" y="4231020"/>
                <a:ext cx="2759858" cy="719556"/>
              </a:xfrm>
              <a:prstGeom prst="rect">
                <a:avLst/>
              </a:prstGeom>
              <a:blipFill>
                <a:blip r:embed="rId7"/>
                <a:stretch>
                  <a:fillRect r="-3761" b="-2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Text Box 27">
            <a:extLst>
              <a:ext uri="{FF2B5EF4-FFF2-40B4-BE49-F238E27FC236}">
                <a16:creationId xmlns:a16="http://schemas.microsoft.com/office/drawing/2014/main" id="{C5D5699B-ADDE-4CD0-A564-9686ED98F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425" y="4827284"/>
            <a:ext cx="8424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在静电场中，电场强度沿任意闭合路径的环流为零。</a:t>
            </a:r>
          </a:p>
        </p:txBody>
      </p:sp>
      <p:sp>
        <p:nvSpPr>
          <p:cNvPr id="157704" name="Rectangle 35">
            <a:extLst>
              <a:ext uri="{FF2B5EF4-FFF2-40B4-BE49-F238E27FC236}">
                <a16:creationId xmlns:a16="http://schemas.microsoft.com/office/drawing/2014/main" id="{CD545F7C-0EED-4B7E-886E-44F9347AB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9" y="425450"/>
            <a:ext cx="39608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静电场的环路定理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6">
                <a:extLst>
                  <a:ext uri="{FF2B5EF4-FFF2-40B4-BE49-F238E27FC236}">
                    <a16:creationId xmlns:a16="http://schemas.microsoft.com/office/drawing/2014/main" id="{50E34220-033F-441D-8467-90AD109378D9}"/>
                  </a:ext>
                </a:extLst>
              </p:cNvPr>
              <p:cNvSpPr txBox="1"/>
              <p:nvPr/>
            </p:nvSpPr>
            <p:spPr bwMode="auto">
              <a:xfrm>
                <a:off x="3412332" y="5510212"/>
                <a:ext cx="2057400" cy="922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zh-CN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  <m:r>
                            <a:rPr lang="zh-CN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nary>
                    </m:oMath>
                  </m:oMathPara>
                </a14:m>
                <a:endParaRPr lang="zh-CN" alt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Object 36">
                <a:extLst>
                  <a:ext uri="{FF2B5EF4-FFF2-40B4-BE49-F238E27FC236}">
                    <a16:creationId xmlns:a16="http://schemas.microsoft.com/office/drawing/2014/main" id="{50E34220-033F-441D-8467-90AD10937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2332" y="5510212"/>
                <a:ext cx="2057400" cy="922338"/>
              </a:xfrm>
              <a:prstGeom prst="rect">
                <a:avLst/>
              </a:prstGeom>
              <a:blipFill>
                <a:blip r:embed="rId3"/>
                <a:stretch>
                  <a:fillRect r="-29080" b="-450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37">
            <a:extLst>
              <a:ext uri="{FF2B5EF4-FFF2-40B4-BE49-F238E27FC236}">
                <a16:creationId xmlns:a16="http://schemas.microsoft.com/office/drawing/2014/main" id="{1CD70A2F-1FA3-4640-9DE8-38C55B579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95" y="1382667"/>
            <a:ext cx="778631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33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试验电荷在静电场中移动时，电场力所作的功只与试验电荷的起点和终点的位置有关，与路径无关。</a:t>
            </a:r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0BB364F1-2521-4F57-8F15-54F59BC87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18" y="3914985"/>
            <a:ext cx="3240088" cy="58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静电场力是保守力</a:t>
            </a:r>
          </a:p>
        </p:txBody>
      </p:sp>
      <p:pic>
        <p:nvPicPr>
          <p:cNvPr id="2" name="图片 2">
            <a:extLst>
              <a:ext uri="{FF2B5EF4-FFF2-40B4-BE49-F238E27FC236}">
                <a16:creationId xmlns:a16="http://schemas.microsoft.com/office/drawing/2014/main" id="{2531E518-EB5A-A0C4-CA4F-EA7A10228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488" y="537436"/>
            <a:ext cx="2992437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8">
                <a:extLst>
                  <a:ext uri="{FF2B5EF4-FFF2-40B4-BE49-F238E27FC236}">
                    <a16:creationId xmlns:a16="http://schemas.microsoft.com/office/drawing/2014/main" id="{1A640835-F0AD-A521-5A5F-B927581592DC}"/>
                  </a:ext>
                </a:extLst>
              </p:cNvPr>
              <p:cNvSpPr txBox="1"/>
              <p:nvPr/>
            </p:nvSpPr>
            <p:spPr bwMode="auto">
              <a:xfrm>
                <a:off x="2047345" y="2290606"/>
                <a:ext cx="2992437" cy="1122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48">
                <a:extLst>
                  <a:ext uri="{FF2B5EF4-FFF2-40B4-BE49-F238E27FC236}">
                    <a16:creationId xmlns:a16="http://schemas.microsoft.com/office/drawing/2014/main" id="{1A640835-F0AD-A521-5A5F-B92758159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7345" y="2290606"/>
                <a:ext cx="2992437" cy="1122363"/>
              </a:xfrm>
              <a:prstGeom prst="rect">
                <a:avLst/>
              </a:prstGeom>
              <a:blipFill>
                <a:blip r:embed="rId5"/>
                <a:stretch>
                  <a:fillRect b="-195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3">
                <a:extLst>
                  <a:ext uri="{FF2B5EF4-FFF2-40B4-BE49-F238E27FC236}">
                    <a16:creationId xmlns:a16="http://schemas.microsoft.com/office/drawing/2014/main" id="{BA2B6446-8954-26C6-5539-824B745DCA32}"/>
                  </a:ext>
                </a:extLst>
              </p:cNvPr>
              <p:cNvSpPr txBox="1"/>
              <p:nvPr/>
            </p:nvSpPr>
            <p:spPr bwMode="auto">
              <a:xfrm>
                <a:off x="3750451" y="2519220"/>
                <a:ext cx="3438562" cy="1063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83">
                <a:extLst>
                  <a:ext uri="{FF2B5EF4-FFF2-40B4-BE49-F238E27FC236}">
                    <a16:creationId xmlns:a16="http://schemas.microsoft.com/office/drawing/2014/main" id="{BA2B6446-8954-26C6-5539-824B745DC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0451" y="2519220"/>
                <a:ext cx="3438562" cy="10636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87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/>
      <p:bldP spid="10" grpId="0"/>
      <p:bldP spid="7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C57E912-49AF-4C1D-9CC8-3F2CAA34873D}"/>
                  </a:ext>
                </a:extLst>
              </p:cNvPr>
              <p:cNvSpPr/>
              <p:nvPr/>
            </p:nvSpPr>
            <p:spPr>
              <a:xfrm>
                <a:off x="1053579" y="940171"/>
                <a:ext cx="10128771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zh-CN" altLang="en-US" sz="3200" b="1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电势： </a:t>
                </a:r>
                <a:endParaRPr lang="en-US" altLang="zh-CN" sz="3200" b="1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静电场中只与位置有关的标量函数（势函数</a:t>
                </a:r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  <a:endParaRPr 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C57E912-49AF-4C1D-9CC8-3F2CAA348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79" y="940171"/>
                <a:ext cx="10128771" cy="1292662"/>
              </a:xfrm>
              <a:prstGeom prst="rect">
                <a:avLst/>
              </a:prstGeom>
              <a:blipFill>
                <a:blip r:embed="rId3"/>
                <a:stretch>
                  <a:fillRect l="-1385" t="-6604" b="-1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5">
                <a:extLst>
                  <a:ext uri="{FF2B5EF4-FFF2-40B4-BE49-F238E27FC236}">
                    <a16:creationId xmlns:a16="http://schemas.microsoft.com/office/drawing/2014/main" id="{BDA2ED45-34A6-BC17-D1D1-EB6363E13C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2634" y="2613488"/>
                <a:ext cx="8398971" cy="402336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规定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为势能零点，则任一点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𝑝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的电势为</a:t>
                </a:r>
                <a:endParaRPr lang="en-US" altLang="zh-CN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altLang="zh-CN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𝒑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"</m:t>
                          </m:r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"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altLang="zh-CN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𝒍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5">
                <a:extLst>
                  <a:ext uri="{FF2B5EF4-FFF2-40B4-BE49-F238E27FC236}">
                    <a16:creationId xmlns:a16="http://schemas.microsoft.com/office/drawing/2014/main" id="{BDA2ED45-34A6-BC17-D1D1-EB6363E13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634" y="2613488"/>
                <a:ext cx="8398971" cy="4023360"/>
              </a:xfrm>
              <a:prstGeom prst="rect">
                <a:avLst/>
              </a:prstGeom>
              <a:blipFill>
                <a:blip r:embed="rId4"/>
                <a:stretch>
                  <a:fillRect l="-1451" t="-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23">
            <a:extLst>
              <a:ext uri="{FF2B5EF4-FFF2-40B4-BE49-F238E27FC236}">
                <a16:creationId xmlns:a16="http://schemas.microsoft.com/office/drawing/2014/main" id="{BA52DF05-B8A6-7F14-FA3F-412DFCC39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029" y="4386156"/>
            <a:ext cx="8570912" cy="634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6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通常规定</a:t>
            </a:r>
            <a:r>
              <a:rPr lang="zh-CN" altLang="en-US" sz="2800" dirty="0">
                <a:solidFill>
                  <a:srgbClr val="CC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无穷远点（大地）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为电势零点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C969C4F-6C64-B69C-E9D9-728BFAF111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3514" y="5016238"/>
                <a:ext cx="7857676" cy="12566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电势差（电压）：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altLang="zh-CN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2</m:t>
                            </m:r>
                          </m:sub>
                        </m:sSub>
                      </m:sup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𝐸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𝑙</m:t>
                            </m:r>
                          </m:e>
                        </m:acc>
                      </m:e>
                    </m:nary>
                  </m:oMath>
                </a14:m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C969C4F-6C64-B69C-E9D9-728BFAF11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14" y="5016238"/>
                <a:ext cx="7857676" cy="12566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内容占位符 4">
            <a:extLst>
              <a:ext uri="{FF2B5EF4-FFF2-40B4-BE49-F238E27FC236}">
                <a16:creationId xmlns:a16="http://schemas.microsoft.com/office/drawing/2014/main" id="{3942E2E2-8866-A8B5-A606-7F970A1322B3}"/>
              </a:ext>
            </a:extLst>
          </p:cNvPr>
          <p:cNvSpPr txBox="1">
            <a:spLocks/>
          </p:cNvSpPr>
          <p:nvPr/>
        </p:nvSpPr>
        <p:spPr>
          <a:xfrm flipH="1">
            <a:off x="971029" y="5927725"/>
            <a:ext cx="11886012" cy="15801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等势面：电势相等的点所组成的曲面，相邻等势面的电势差相等</a:t>
            </a:r>
            <a:endParaRPr lang="en-US" altLang="zh-CN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517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97BDDEF-947E-4C1A-9434-2F68160749E9}"/>
              </a:ext>
            </a:extLst>
          </p:cNvPr>
          <p:cNvSpPr/>
          <p:nvPr/>
        </p:nvSpPr>
        <p:spPr>
          <a:xfrm>
            <a:off x="3802891" y="958707"/>
            <a:ext cx="70968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数学上，若某一标量函数对某一方向有最大变化率，则定义此方向上的导数为该标量函数的</a:t>
            </a:r>
            <a:r>
              <a:rPr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梯度</a:t>
            </a:r>
            <a:endParaRPr lang="en-US" sz="28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标题 27">
            <a:extLst>
              <a:ext uri="{FF2B5EF4-FFF2-40B4-BE49-F238E27FC236}">
                <a16:creationId xmlns:a16="http://schemas.microsoft.com/office/drawing/2014/main" id="{089AD43F-D6C9-4785-9C45-4AB20D17EE60}"/>
              </a:ext>
            </a:extLst>
          </p:cNvPr>
          <p:cNvSpPr txBox="1">
            <a:spLocks/>
          </p:cNvSpPr>
          <p:nvPr/>
        </p:nvSpPr>
        <p:spPr>
          <a:xfrm>
            <a:off x="841764" y="953650"/>
            <a:ext cx="75438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电势梯度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内容占位符 28">
                <a:extLst>
                  <a:ext uri="{FF2B5EF4-FFF2-40B4-BE49-F238E27FC236}">
                    <a16:creationId xmlns:a16="http://schemas.microsoft.com/office/drawing/2014/main" id="{5D25C992-5A90-4C12-A650-D8AFEF9F2E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28474" y="2074110"/>
                <a:ext cx="4342191" cy="131358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内容占位符 28">
                <a:extLst>
                  <a:ext uri="{FF2B5EF4-FFF2-40B4-BE49-F238E27FC236}">
                    <a16:creationId xmlns:a16="http://schemas.microsoft.com/office/drawing/2014/main" id="{5D25C992-5A90-4C12-A650-D8AFEF9F2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474" y="2074110"/>
                <a:ext cx="4342191" cy="1313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标题 2">
                <a:extLst>
                  <a:ext uri="{FF2B5EF4-FFF2-40B4-BE49-F238E27FC236}">
                    <a16:creationId xmlns:a16="http://schemas.microsoft.com/office/drawing/2014/main" id="{C48A0B2B-BD9D-3479-23D8-66D8AED8F3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0435" y="4159602"/>
                <a:ext cx="5500384" cy="8147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 b="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  <m:r>
                        <a:rPr lang="en-US" altLang="zh-CN" sz="2800" b="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</a:rPr>
                        <m:t>gradφ</m:t>
                      </m:r>
                      <m:r>
                        <a:rPr lang="en-US" altLang="zh-CN" sz="2800" b="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zh-CN" altLang="en-US" sz="2800" b="0" i="0">
                          <a:latin typeface="Cambria Math" panose="02040503050406030204" pitchFamily="18" charset="0"/>
                        </a:rPr>
                        <m:t>∇φ</m:t>
                      </m:r>
                    </m:oMath>
                  </m:oMathPara>
                </a14:m>
                <a:br>
                  <a:rPr lang="en-US" altLang="zh-CN" sz="2800" dirty="0">
                    <a:latin typeface="黑体" panose="02010609060101010101" pitchFamily="49" charset="-122"/>
                  </a:rPr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29" name="标题 2">
                <a:extLst>
                  <a:ext uri="{FF2B5EF4-FFF2-40B4-BE49-F238E27FC236}">
                    <a16:creationId xmlns:a16="http://schemas.microsoft.com/office/drawing/2014/main" id="{C48A0B2B-BD9D-3479-23D8-66D8AED8F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435" y="4159602"/>
                <a:ext cx="5500384" cy="814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内容占位符 3">
                <a:extLst>
                  <a:ext uri="{FF2B5EF4-FFF2-40B4-BE49-F238E27FC236}">
                    <a16:creationId xmlns:a16="http://schemas.microsoft.com/office/drawing/2014/main" id="{4D6B7E95-250D-C3F3-1530-64D391A223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2655" y="5177696"/>
                <a:ext cx="6942018" cy="119443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电场强度等于该点电势梯度的负值</a:t>
                </a:r>
                <a:b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</a:b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 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单位：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CN" altLang="en-US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，亦是场强的单位</a:t>
                </a:r>
                <a:endPara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内容占位符 3">
                <a:extLst>
                  <a:ext uri="{FF2B5EF4-FFF2-40B4-BE49-F238E27FC236}">
                    <a16:creationId xmlns:a16="http://schemas.microsoft.com/office/drawing/2014/main" id="{4D6B7E95-250D-C3F3-1530-64D391A22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655" y="5177696"/>
                <a:ext cx="6942018" cy="1194430"/>
              </a:xfrm>
              <a:prstGeom prst="rect">
                <a:avLst/>
              </a:prstGeom>
              <a:blipFill>
                <a:blip r:embed="rId4"/>
                <a:stretch>
                  <a:fillRect l="-1756" b="-23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816F3CB-A8E3-3F7D-FC79-3E96A095E307}"/>
                  </a:ext>
                </a:extLst>
              </p:cNvPr>
              <p:cNvSpPr/>
              <p:nvPr/>
            </p:nvSpPr>
            <p:spPr>
              <a:xfrm>
                <a:off x="1142655" y="3318934"/>
                <a:ext cx="5468164" cy="7756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直角坐标系中：</a:t>
                </a:r>
                <a:r>
                  <a:rPr lang="en-US" altLang="zh-CN" sz="2800" dirty="0">
                    <a:solidFill>
                      <a:prstClr val="black"/>
                    </a:solidFill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𝜕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x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</m:e>
                    </m:acc>
                    <m:r>
                      <a:rPr lang="en-US" altLang="zh-CN" sz="2800" b="0" i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𝜕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y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j</m:t>
                        </m:r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</m:e>
                    </m:acc>
                    <m:r>
                      <a:rPr lang="en-US" altLang="zh-CN" sz="2800" b="0" i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𝜕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z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k</m:t>
                        </m:r>
                        <m:r>
                          <a:rPr lang="en-US" altLang="zh-CN" sz="2800" b="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</m:e>
                    </m:ac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816F3CB-A8E3-3F7D-FC79-3E96A095E3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655" y="3318934"/>
                <a:ext cx="5468164" cy="775662"/>
              </a:xfrm>
              <a:prstGeom prst="rect">
                <a:avLst/>
              </a:prstGeom>
              <a:blipFill>
                <a:blip r:embed="rId5"/>
                <a:stretch>
                  <a:fillRect l="-2230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9965EB5-3984-BF16-85DF-FFBFF0077C6E}"/>
                  </a:ext>
                </a:extLst>
              </p:cNvPr>
              <p:cNvSpPr/>
              <p:nvPr/>
            </p:nvSpPr>
            <p:spPr>
              <a:xfrm>
                <a:off x="6231477" y="4127099"/>
                <a:ext cx="4780026" cy="985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∇</m:t>
                      </m:r>
                      <m:r>
                        <a:rPr lang="en-US" altLang="zh-CN" sz="2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grad</m:t>
                      </m:r>
                      <m:r>
                        <a:rPr lang="en-US" altLang="zh-CN" sz="2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x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i</m:t>
                          </m:r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2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y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j</m:t>
                          </m:r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2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z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k</m:t>
                          </m:r>
                          <m:r>
                            <a:rPr lang="en-US" altLang="zh-CN" sz="2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9965EB5-3984-BF16-85DF-FFBFF0077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477" y="4127099"/>
                <a:ext cx="4780026" cy="9855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10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42E4C3-C943-A6AD-D590-51245FFAC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14" y="597146"/>
            <a:ext cx="22878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叠加原理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4DE6247-368F-7C54-3B3D-E2002BA9E67B}"/>
                  </a:ext>
                </a:extLst>
              </p:cNvPr>
              <p:cNvSpPr/>
              <p:nvPr/>
            </p:nvSpPr>
            <p:spPr>
              <a:xfrm>
                <a:off x="702345" y="1498248"/>
                <a:ext cx="1848648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𝐹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4DE6247-368F-7C54-3B3D-E2002BA9E6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45" y="1498248"/>
                <a:ext cx="1848648" cy="11356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BF15EF4B-AF5D-8DA7-BDE0-C13D8E28EDEF}"/>
              </a:ext>
            </a:extLst>
          </p:cNvPr>
          <p:cNvGrpSpPr/>
          <p:nvPr/>
        </p:nvGrpSpPr>
        <p:grpSpPr>
          <a:xfrm>
            <a:off x="3411252" y="1111850"/>
            <a:ext cx="3242989" cy="2918490"/>
            <a:chOff x="4887035" y="2519519"/>
            <a:chExt cx="3419475" cy="3024192"/>
          </a:xfrm>
        </p:grpSpPr>
        <p:grpSp>
          <p:nvGrpSpPr>
            <p:cNvPr id="5" name="Group 85">
              <a:extLst>
                <a:ext uri="{FF2B5EF4-FFF2-40B4-BE49-F238E27FC236}">
                  <a16:creationId xmlns:a16="http://schemas.microsoft.com/office/drawing/2014/main" id="{4AE1E032-655A-CC36-77FC-41BF06C02D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74599" y="3816507"/>
              <a:ext cx="865187" cy="1277938"/>
              <a:chOff x="4467" y="2705"/>
              <a:chExt cx="545" cy="805"/>
            </a:xfrm>
          </p:grpSpPr>
          <p:sp>
            <p:nvSpPr>
              <p:cNvPr id="30" name="Line 54">
                <a:extLst>
                  <a:ext uri="{FF2B5EF4-FFF2-40B4-BE49-F238E27FC236}">
                    <a16:creationId xmlns:a16="http://schemas.microsoft.com/office/drawing/2014/main" id="{BEC4788B-3D39-84C8-2217-25A2FECEF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7" y="2705"/>
                <a:ext cx="545" cy="544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31" name="Line 55">
                <a:extLst>
                  <a:ext uri="{FF2B5EF4-FFF2-40B4-BE49-F238E27FC236}">
                    <a16:creationId xmlns:a16="http://schemas.microsoft.com/office/drawing/2014/main" id="{04274C40-635D-069A-59EA-13FDDBBA0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40" y="3236"/>
                <a:ext cx="260" cy="274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36">
                  <a:extLst>
                    <a:ext uri="{FF2B5EF4-FFF2-40B4-BE49-F238E27FC236}">
                      <a16:creationId xmlns:a16="http://schemas.microsoft.com/office/drawing/2014/main" id="{016FACD3-FC82-B13C-F62C-9A11677CBE21}"/>
                    </a:ext>
                  </a:extLst>
                </p:cNvPr>
                <p:cNvSpPr txBox="1"/>
                <p:nvPr/>
              </p:nvSpPr>
              <p:spPr bwMode="auto">
                <a:xfrm>
                  <a:off x="7863814" y="4427963"/>
                  <a:ext cx="379967" cy="4678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oMath>
                    </m:oMathPara>
                  </a14:m>
                  <a:endParaRPr lang="zh-CN" altLang="en-US" sz="2800" b="1">
                    <a:latin typeface="华文楷体" panose="02010600040101010101" pitchFamily="2" charset="-122"/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" name="Object 36">
                  <a:extLst>
                    <a:ext uri="{FF2B5EF4-FFF2-40B4-BE49-F238E27FC236}">
                      <a16:creationId xmlns:a16="http://schemas.microsoft.com/office/drawing/2014/main" id="{016FACD3-FC82-B13C-F62C-9A11677CB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63814" y="4427963"/>
                  <a:ext cx="379967" cy="4678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84">
              <a:extLst>
                <a:ext uri="{FF2B5EF4-FFF2-40B4-BE49-F238E27FC236}">
                  <a16:creationId xmlns:a16="http://schemas.microsoft.com/office/drawing/2014/main" id="{B7E02185-7EAE-9EF4-03AE-E7D61BFD2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7035" y="2519519"/>
              <a:ext cx="3419475" cy="2198689"/>
              <a:chOff x="3152" y="1888"/>
              <a:chExt cx="2154" cy="1385"/>
            </a:xfrm>
          </p:grpSpPr>
          <p:grpSp>
            <p:nvGrpSpPr>
              <p:cNvPr id="17" name="Group 59">
                <a:extLst>
                  <a:ext uri="{FF2B5EF4-FFF2-40B4-BE49-F238E27FC236}">
                    <a16:creationId xmlns:a16="http://schemas.microsoft.com/office/drawing/2014/main" id="{7DCD328A-A495-FD0E-1BAB-67B9BBF84A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2" y="1888"/>
                <a:ext cx="1919" cy="1246"/>
                <a:chOff x="3198" y="1842"/>
                <a:chExt cx="1919" cy="1246"/>
              </a:xfrm>
            </p:grpSpPr>
            <p:grpSp>
              <p:nvGrpSpPr>
                <p:cNvPr id="21" name="Group 60">
                  <a:extLst>
                    <a:ext uri="{FF2B5EF4-FFF2-40B4-BE49-F238E27FC236}">
                      <a16:creationId xmlns:a16="http://schemas.microsoft.com/office/drawing/2014/main" id="{174D9702-00E5-C770-E926-E25CB6BC5C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70" y="1998"/>
                  <a:ext cx="1647" cy="1001"/>
                  <a:chOff x="3470" y="1998"/>
                  <a:chExt cx="1647" cy="1001"/>
                </a:xfrm>
              </p:grpSpPr>
              <p:sp>
                <p:nvSpPr>
                  <p:cNvPr id="25" name="Oval 62">
                    <a:extLst>
                      <a:ext uri="{FF2B5EF4-FFF2-40B4-BE49-F238E27FC236}">
                        <a16:creationId xmlns:a16="http://schemas.microsoft.com/office/drawing/2014/main" id="{C024177A-FBBA-DA76-609F-53A68A6C7C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7" y="2773"/>
                    <a:ext cx="226" cy="2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6600"/>
                      </a:gs>
                      <a:gs pos="100000">
                        <a:srgbClr val="762F00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5400">
                        <a:solidFill>
                          <a:srgbClr val="800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 sz="280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6" name="Oval 61">
                    <a:extLst>
                      <a:ext uri="{FF2B5EF4-FFF2-40B4-BE49-F238E27FC236}">
                        <a16:creationId xmlns:a16="http://schemas.microsoft.com/office/drawing/2014/main" id="{1E033715-E31C-BD84-8FCD-A3312CA5A2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90" y="1998"/>
                    <a:ext cx="227" cy="22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008080"/>
                      </a:gs>
                      <a:gs pos="100000">
                        <a:srgbClr val="003B3B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5400">
                        <a:solidFill>
                          <a:srgbClr val="800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 sz="280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7" name="Oval 63">
                    <a:extLst>
                      <a:ext uri="{FF2B5EF4-FFF2-40B4-BE49-F238E27FC236}">
                        <a16:creationId xmlns:a16="http://schemas.microsoft.com/office/drawing/2014/main" id="{9CCBFB2D-F580-EEA5-93DD-2887334842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70" y="2160"/>
                    <a:ext cx="227" cy="22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6600"/>
                      </a:gs>
                      <a:gs pos="100000">
                        <a:srgbClr val="762F00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5400">
                        <a:solidFill>
                          <a:srgbClr val="800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 sz="280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8" name="Line 64">
                    <a:extLst>
                      <a:ext uri="{FF2B5EF4-FFF2-40B4-BE49-F238E27FC236}">
                        <a16:creationId xmlns:a16="http://schemas.microsoft.com/office/drawing/2014/main" id="{D56FBB86-9F0D-2CC5-FE85-63C0E268B9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696" y="2341"/>
                    <a:ext cx="454" cy="454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800" b="1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9" name="Line 65">
                    <a:extLst>
                      <a:ext uri="{FF2B5EF4-FFF2-40B4-BE49-F238E27FC236}">
                        <a16:creationId xmlns:a16="http://schemas.microsoft.com/office/drawing/2014/main" id="{32B8F1EB-73EC-9AAE-FA4F-768D75AE6F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62" y="2147"/>
                    <a:ext cx="594" cy="635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800" b="1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22" name="Group 66">
                  <a:extLst>
                    <a:ext uri="{FF2B5EF4-FFF2-40B4-BE49-F238E27FC236}">
                      <a16:creationId xmlns:a16="http://schemas.microsoft.com/office/drawing/2014/main" id="{8C8908FE-6166-6721-729B-79CC0A5E15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98" y="1842"/>
                  <a:ext cx="861" cy="1246"/>
                  <a:chOff x="3198" y="1842"/>
                  <a:chExt cx="861" cy="1246"/>
                </a:xfrm>
              </p:grpSpPr>
              <p:sp>
                <p:nvSpPr>
                  <p:cNvPr id="23" name="Text Box 67">
                    <a:extLst>
                      <a:ext uri="{FF2B5EF4-FFF2-40B4-BE49-F238E27FC236}">
                        <a16:creationId xmlns:a16="http://schemas.microsoft.com/office/drawing/2014/main" id="{4DCDCD73-170E-E2B4-B532-3473B3F38B3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98" y="1842"/>
                    <a:ext cx="318" cy="24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80008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zh-CN" altLang="zh-CN" sz="2800" baseline="-2500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4" name="Text Box 68">
                    <a:extLst>
                      <a:ext uri="{FF2B5EF4-FFF2-40B4-BE49-F238E27FC236}">
                        <a16:creationId xmlns:a16="http://schemas.microsoft.com/office/drawing/2014/main" id="{7D16F246-4C8D-FFEB-22E0-3EC6CA01C4E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96" y="2840"/>
                    <a:ext cx="363" cy="24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80008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zh-CN" altLang="zh-CN" sz="2800" baseline="-2500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Object 72">
                    <a:extLst>
                      <a:ext uri="{FF2B5EF4-FFF2-40B4-BE49-F238E27FC236}">
                        <a16:creationId xmlns:a16="http://schemas.microsoft.com/office/drawing/2014/main" id="{1711FAC3-FDBD-497B-A17E-B239D6DDACC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075" y="1896"/>
                    <a:ext cx="231" cy="32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b="1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497" name="Object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075" y="1896"/>
                    <a:ext cx="231" cy="3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8033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bject 73">
                    <a:extLst>
                      <a:ext uri="{FF2B5EF4-FFF2-40B4-BE49-F238E27FC236}">
                        <a16:creationId xmlns:a16="http://schemas.microsoft.com/office/drawing/2014/main" id="{2284D87F-C656-B869-2FB1-49CAB361035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185" y="1931"/>
                    <a:ext cx="239" cy="3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b="1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498" name="Object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85" y="1931"/>
                    <a:ext cx="239" cy="36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774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bject 74">
                    <a:extLst>
                      <a:ext uri="{FF2B5EF4-FFF2-40B4-BE49-F238E27FC236}">
                        <a16:creationId xmlns:a16="http://schemas.microsoft.com/office/drawing/2014/main" id="{26736201-42BC-F471-71D9-A77E08F142B0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820" y="2857"/>
                    <a:ext cx="283" cy="41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b="1" dirty="0">
                      <a:solidFill>
                        <a:srgbClr val="FF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499" name="Object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820" y="2857"/>
                    <a:ext cx="283" cy="41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6">
              <a:extLst>
                <a:ext uri="{FF2B5EF4-FFF2-40B4-BE49-F238E27FC236}">
                  <a16:creationId xmlns:a16="http://schemas.microsoft.com/office/drawing/2014/main" id="{30F244B7-6944-47E2-1BFC-FE56045EC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1775" y="3266735"/>
              <a:ext cx="531541" cy="908543"/>
              <a:chOff x="4177" y="2431"/>
              <a:chExt cx="264" cy="4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Object 35">
                    <a:extLst>
                      <a:ext uri="{FF2B5EF4-FFF2-40B4-BE49-F238E27FC236}">
                        <a16:creationId xmlns:a16="http://schemas.microsoft.com/office/drawing/2014/main" id="{50823345-4368-382A-8F4B-0BD9F721526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77" y="2431"/>
                    <a:ext cx="185" cy="24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b="1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494" name="Object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77" y="2431"/>
                    <a:ext cx="185" cy="24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1311" b="-370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Line 75">
                <a:extLst>
                  <a:ext uri="{FF2B5EF4-FFF2-40B4-BE49-F238E27FC236}">
                    <a16:creationId xmlns:a16="http://schemas.microsoft.com/office/drawing/2014/main" id="{5B355BE0-9535-8A7E-9234-5C37A2E9E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9" y="2696"/>
                <a:ext cx="182" cy="181"/>
              </a:xfrm>
              <a:prstGeom prst="line">
                <a:avLst/>
              </a:prstGeom>
              <a:noFill/>
              <a:ln w="38100">
                <a:solidFill>
                  <a:srgbClr val="339966"/>
                </a:solidFill>
                <a:round/>
                <a:headEnd type="oval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A49B5C53-1F69-F8AA-B6E1-4CD34B711B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6615" y="4170522"/>
              <a:ext cx="993775" cy="1373189"/>
              <a:chOff x="4210" y="2929"/>
              <a:chExt cx="626" cy="865"/>
            </a:xfrm>
          </p:grpSpPr>
          <p:sp>
            <p:nvSpPr>
              <p:cNvPr id="11" name="Line 58">
                <a:extLst>
                  <a:ext uri="{FF2B5EF4-FFF2-40B4-BE49-F238E27FC236}">
                    <a16:creationId xmlns:a16="http://schemas.microsoft.com/office/drawing/2014/main" id="{2A9A9C4F-34BD-4EA3-1573-ADFBCEE57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0" y="2929"/>
                <a:ext cx="544" cy="567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2" name="Group 79">
                <a:extLst>
                  <a:ext uri="{FF2B5EF4-FFF2-40B4-BE49-F238E27FC236}">
                    <a16:creationId xmlns:a16="http://schemas.microsoft.com/office/drawing/2014/main" id="{339A1780-B55B-7307-1CCA-CE64D3874FA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472" y="3479"/>
                <a:ext cx="364" cy="315"/>
                <a:chOff x="4472" y="3479"/>
                <a:chExt cx="364" cy="315"/>
              </a:xfrm>
            </p:grpSpPr>
            <p:sp>
              <p:nvSpPr>
                <p:cNvPr id="13" name="AutoShape 78">
                  <a:extLst>
                    <a:ext uri="{FF2B5EF4-FFF2-40B4-BE49-F238E27FC236}">
                      <a16:creationId xmlns:a16="http://schemas.microsoft.com/office/drawing/2014/main" id="{88DCB9CB-FFA6-36D8-E856-A678001BD25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649" y="3521"/>
                  <a:ext cx="187" cy="2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 b="1">
                    <a:latin typeface="华文楷体" panose="02010600040101010101" pitchFamily="2" charset="-122"/>
                    <a:ea typeface="华文楷体" panose="0201060004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Rectangle 81">
                      <a:extLst>
                        <a:ext uri="{FF2B5EF4-FFF2-40B4-BE49-F238E27FC236}">
                          <a16:creationId xmlns:a16="http://schemas.microsoft.com/office/drawing/2014/main" id="{59FAFDB1-B1DF-ECEA-CF78-D84AFA64A6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72" y="3479"/>
                      <a:ext cx="326" cy="31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8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Rectangle 81">
                      <a:extLst>
                        <a:ext uri="{FF2B5EF4-FFF2-40B4-BE49-F238E27FC236}">
                          <a16:creationId xmlns:a16="http://schemas.microsoft.com/office/drawing/2014/main" id="{59FAFDB1-B1DF-ECEA-CF78-D84AFA64A64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472" y="3479"/>
                      <a:ext cx="326" cy="315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919D6C08-8622-CA15-4D3F-5194530E95C7}"/>
                </a:ext>
              </a:extLst>
            </p:cNvPr>
            <p:cNvCxnSpPr/>
            <p:nvPr/>
          </p:nvCxnSpPr>
          <p:spPr bwMode="auto">
            <a:xfrm>
              <a:off x="6588040" y="4175732"/>
              <a:ext cx="1200146" cy="479420"/>
            </a:xfrm>
            <a:prstGeom prst="straightConnector1">
              <a:avLst/>
            </a:prstGeom>
            <a:solidFill>
              <a:srgbClr val="FFFFFF"/>
            </a:solidFill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2" name="Object 5">
            <a:extLst>
              <a:ext uri="{FF2B5EF4-FFF2-40B4-BE49-F238E27FC236}">
                <a16:creationId xmlns:a16="http://schemas.microsoft.com/office/drawing/2014/main" id="{9D73E668-65FB-4E29-F277-C917C96AE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7661886"/>
              </p:ext>
            </p:extLst>
          </p:nvPr>
        </p:nvGraphicFramePr>
        <p:xfrm>
          <a:off x="562359" y="3428890"/>
          <a:ext cx="2120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公式" r:id="rId12" imgW="672808" imgH="342751" progId="Equation.3">
                  <p:embed/>
                </p:oleObj>
              </mc:Choice>
              <mc:Fallback>
                <p:oleObj name="公式" r:id="rId12" imgW="672808" imgH="342751" progId="Equation.3">
                  <p:embed/>
                  <p:pic>
                    <p:nvPicPr>
                      <p:cNvPr id="32" name="Object 5">
                        <a:extLst>
                          <a:ext uri="{FF2B5EF4-FFF2-40B4-BE49-F238E27FC236}">
                            <a16:creationId xmlns:a16="http://schemas.microsoft.com/office/drawing/2014/main" id="{9D73E668-65FB-4E29-F277-C917C96AE1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359" y="3428890"/>
                        <a:ext cx="2120900" cy="1066800"/>
                      </a:xfrm>
                      <a:prstGeom prst="rect">
                        <a:avLst/>
                      </a:prstGeom>
                      <a:noFill/>
                      <a:ln w="12699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42">
                <a:extLst>
                  <a:ext uri="{FF2B5EF4-FFF2-40B4-BE49-F238E27FC236}">
                    <a16:creationId xmlns:a16="http://schemas.microsoft.com/office/drawing/2014/main" id="{C6C9DAB8-AB03-C720-6727-DF374E619F53}"/>
                  </a:ext>
                </a:extLst>
              </p:cNvPr>
              <p:cNvSpPr txBox="1"/>
              <p:nvPr/>
            </p:nvSpPr>
            <p:spPr bwMode="auto">
              <a:xfrm>
                <a:off x="2016199" y="3345513"/>
                <a:ext cx="3351034" cy="16965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bject 42">
                <a:extLst>
                  <a:ext uri="{FF2B5EF4-FFF2-40B4-BE49-F238E27FC236}">
                    <a16:creationId xmlns:a16="http://schemas.microsoft.com/office/drawing/2014/main" id="{C6C9DAB8-AB03-C720-6727-DF374E619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6199" y="3345513"/>
                <a:ext cx="3351034" cy="169655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6579C829-8DD9-3FA3-957C-5A7AC2319BBE}"/>
                  </a:ext>
                </a:extLst>
              </p:cNvPr>
              <p:cNvSpPr txBox="1"/>
              <p:nvPr/>
            </p:nvSpPr>
            <p:spPr bwMode="auto">
              <a:xfrm>
                <a:off x="566219" y="4950568"/>
                <a:ext cx="2590800" cy="1192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6579C829-8DD9-3FA3-957C-5A7AC2319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219" y="4950568"/>
                <a:ext cx="2590800" cy="1192213"/>
              </a:xfrm>
              <a:prstGeom prst="rect">
                <a:avLst/>
              </a:prstGeom>
              <a:blipFill>
                <a:blip r:embed="rId15"/>
                <a:stretch>
                  <a:fillRect b="-10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9C5C229-D7D4-9C0F-3842-615ABC0D6916}"/>
                  </a:ext>
                </a:extLst>
              </p:cNvPr>
              <p:cNvSpPr/>
              <p:nvPr/>
            </p:nvSpPr>
            <p:spPr>
              <a:xfrm>
                <a:off x="7232632" y="1315641"/>
                <a:ext cx="4959368" cy="12225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𝑑𝑞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9C5C229-D7D4-9C0F-3842-615ABC0D6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632" y="1315641"/>
                <a:ext cx="4959368" cy="122251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2AC713D-9F19-B489-0D99-5FD09F6FCAE9}"/>
                  </a:ext>
                </a:extLst>
              </p:cNvPr>
              <p:cNvSpPr/>
              <p:nvPr/>
            </p:nvSpPr>
            <p:spPr>
              <a:xfrm>
                <a:off x="7830991" y="2503304"/>
                <a:ext cx="3157776" cy="14485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𝑑𝑞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2AC713D-9F19-B489-0D99-5FD09F6FC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991" y="2503304"/>
                <a:ext cx="3157776" cy="144853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Box 36">
            <a:extLst>
              <a:ext uri="{FF2B5EF4-FFF2-40B4-BE49-F238E27FC236}">
                <a16:creationId xmlns:a16="http://schemas.microsoft.com/office/drawing/2014/main" id="{9CBF9AC1-53C9-66B8-CDAD-0970DA44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32" y="5938662"/>
            <a:ext cx="23828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线电荷密度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0848E87F-2119-152E-A355-6DB8A3A49320}"/>
                  </a:ext>
                </a:extLst>
              </p:cNvPr>
              <p:cNvSpPr txBox="1"/>
              <p:nvPr/>
            </p:nvSpPr>
            <p:spPr bwMode="auto">
              <a:xfrm>
                <a:off x="9658887" y="4756485"/>
                <a:ext cx="1570038" cy="106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𝑑𝑆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0848E87F-2119-152E-A355-6DB8A3A49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58887" y="4756485"/>
                <a:ext cx="1570038" cy="10668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BFAEABA2-3FA9-6656-37EA-F2B0653D3AE6}"/>
                  </a:ext>
                </a:extLst>
              </p:cNvPr>
              <p:cNvSpPr txBox="1"/>
              <p:nvPr/>
            </p:nvSpPr>
            <p:spPr bwMode="auto">
              <a:xfrm>
                <a:off x="9731295" y="5651790"/>
                <a:ext cx="1754188" cy="1096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BFAEABA2-3FA9-6656-37EA-F2B0653D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31295" y="5651790"/>
                <a:ext cx="1754188" cy="109696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60">
            <a:extLst>
              <a:ext uri="{FF2B5EF4-FFF2-40B4-BE49-F238E27FC236}">
                <a16:creationId xmlns:a16="http://schemas.microsoft.com/office/drawing/2014/main" id="{34DDDECB-E69F-C297-18E0-A95FAA009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049" y="4208168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体电荷密度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61">
                <a:extLst>
                  <a:ext uri="{FF2B5EF4-FFF2-40B4-BE49-F238E27FC236}">
                    <a16:creationId xmlns:a16="http://schemas.microsoft.com/office/drawing/2014/main" id="{F30A8020-932D-4787-09D4-0401BAE24B3C}"/>
                  </a:ext>
                </a:extLst>
              </p:cNvPr>
              <p:cNvSpPr txBox="1"/>
              <p:nvPr/>
            </p:nvSpPr>
            <p:spPr bwMode="auto">
              <a:xfrm>
                <a:off x="9658887" y="3897484"/>
                <a:ext cx="1516062" cy="1144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Object 61">
                <a:extLst>
                  <a:ext uri="{FF2B5EF4-FFF2-40B4-BE49-F238E27FC236}">
                    <a16:creationId xmlns:a16="http://schemas.microsoft.com/office/drawing/2014/main" id="{F30A8020-932D-4787-09D4-0401BAE24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58887" y="3897484"/>
                <a:ext cx="1516062" cy="11445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62">
            <a:extLst>
              <a:ext uri="{FF2B5EF4-FFF2-40B4-BE49-F238E27FC236}">
                <a16:creationId xmlns:a16="http://schemas.microsoft.com/office/drawing/2014/main" id="{6AEA30CC-B9CF-A998-44E2-971B5F4D4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32" y="5028275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面电荷密度</a:t>
            </a:r>
          </a:p>
        </p:txBody>
      </p:sp>
    </p:spTree>
    <p:extLst>
      <p:ext uri="{BB962C8B-B14F-4D97-AF65-F5344CB8AC3E}">
        <p14:creationId xmlns:p14="http://schemas.microsoft.com/office/powerpoint/2010/main" val="71926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  <p:bldP spid="48" grpId="0"/>
      <p:bldP spid="40" grpId="0"/>
      <p:bldP spid="41" grpId="0"/>
      <p:bldP spid="37" grpId="0"/>
      <p:bldP spid="38" grpId="0"/>
      <p:bldP spid="39" grpId="0"/>
      <p:bldP spid="42" grpId="0"/>
      <p:bldP spid="43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8B9299F-1B67-4F9A-84C3-2DC5029E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28" y="364432"/>
            <a:ext cx="3928533" cy="1205442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kumimoji="1"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静电势能</a:t>
            </a:r>
            <a:endParaRPr lang="zh-CN" altLang="en-US" sz="32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C348AED-2662-462F-AAA4-561EDDC393F4}"/>
                  </a:ext>
                </a:extLst>
              </p:cNvPr>
              <p:cNvSpPr/>
              <p:nvPr/>
            </p:nvSpPr>
            <p:spPr>
              <a:xfrm>
                <a:off x="2506066" y="1761669"/>
                <a:ext cx="3971728" cy="729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𝑾</m:t>
                      </m:r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𝒒</m:t>
                      </m:r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𝝋</m:t>
                      </m:r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   </m:t>
                      </m:r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电荷的电势能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C348AED-2662-462F-AAA4-561EDDC393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066" y="1761669"/>
                <a:ext cx="3971728" cy="7294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A3B85B27-C0D9-4060-A2DF-0F51AB78A505}"/>
              </a:ext>
            </a:extLst>
          </p:cNvPr>
          <p:cNvSpPr txBox="1"/>
          <p:nvPr/>
        </p:nvSpPr>
        <p:spPr>
          <a:xfrm>
            <a:off x="1894500" y="2831027"/>
            <a:ext cx="5744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电势零点处，电荷的电势能为零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标题 4">
            <a:extLst>
              <a:ext uri="{FF2B5EF4-FFF2-40B4-BE49-F238E27FC236}">
                <a16:creationId xmlns:a16="http://schemas.microsoft.com/office/drawing/2014/main" id="{D1A46877-DEA3-42C6-85FC-F1E95B60DAAB}"/>
              </a:ext>
            </a:extLst>
          </p:cNvPr>
          <p:cNvSpPr txBox="1">
            <a:spLocks/>
          </p:cNvSpPr>
          <p:nvPr/>
        </p:nvSpPr>
        <p:spPr>
          <a:xfrm>
            <a:off x="404028" y="4099269"/>
            <a:ext cx="5061373" cy="7463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静电场的能量</a:t>
            </a:r>
            <a:br>
              <a:rPr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3200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D2A005-BF72-427E-8AC6-DDB444EA865B}"/>
              </a:ext>
            </a:extLst>
          </p:cNvPr>
          <p:cNvSpPr/>
          <p:nvPr/>
        </p:nvSpPr>
        <p:spPr>
          <a:xfrm>
            <a:off x="2455501" y="4850860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静电能储存在电场中</a:t>
            </a:r>
            <a:endParaRPr lang="en-US" sz="2800" dirty="0"/>
          </a:p>
        </p:txBody>
      </p:sp>
      <p:sp>
        <p:nvSpPr>
          <p:cNvPr id="39" name="标题 4">
            <a:extLst>
              <a:ext uri="{FF2B5EF4-FFF2-40B4-BE49-F238E27FC236}">
                <a16:creationId xmlns:a16="http://schemas.microsoft.com/office/drawing/2014/main" id="{A701EB04-DE03-4B9C-AB3E-8F06D44D28C3}"/>
              </a:ext>
            </a:extLst>
          </p:cNvPr>
          <p:cNvSpPr txBox="1">
            <a:spLocks/>
          </p:cNvSpPr>
          <p:nvPr/>
        </p:nvSpPr>
        <p:spPr>
          <a:xfrm>
            <a:off x="5743632" y="3868378"/>
            <a:ext cx="5061373" cy="7463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静电场的能量密度</a:t>
            </a:r>
            <a:b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A632B5F7-469D-42C0-AC48-386144226F82}"/>
                  </a:ext>
                </a:extLst>
              </p:cNvPr>
              <p:cNvSpPr/>
              <p:nvPr/>
            </p:nvSpPr>
            <p:spPr>
              <a:xfrm>
                <a:off x="6726601" y="4099269"/>
                <a:ext cx="3363613" cy="13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𝔀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𝒅𝑾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𝒅𝑽</m:t>
                          </m:r>
                        </m:den>
                      </m:f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A632B5F7-469D-42C0-AC48-386144226F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601" y="4099269"/>
                <a:ext cx="3363613" cy="1319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AAB1ACE-204B-EA8C-1BAF-52C53A5C4B4B}"/>
                  </a:ext>
                </a:extLst>
              </p:cNvPr>
              <p:cNvSpPr/>
              <p:nvPr/>
            </p:nvSpPr>
            <p:spPr>
              <a:xfrm>
                <a:off x="3726147" y="5802773"/>
                <a:ext cx="6448368" cy="7456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总能量</a:t>
                </a:r>
                <a14:m>
                  <m:oMath xmlns:m="http://schemas.openxmlformats.org/officeDocument/2006/math"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𝓌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𝑑𝑉</m:t>
                        </m:r>
                      </m:e>
                    </m:nary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𝑑𝑉</m:t>
                        </m:r>
                      </m:e>
                    </m:nary>
                  </m:oMath>
                </a14:m>
                <a:endParaRPr 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AAB1ACE-204B-EA8C-1BAF-52C53A5C4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147" y="5802773"/>
                <a:ext cx="6448368" cy="745653"/>
              </a:xfrm>
              <a:prstGeom prst="rect">
                <a:avLst/>
              </a:prstGeom>
              <a:blipFill>
                <a:blip r:embed="rId4"/>
                <a:stretch>
                  <a:fillRect l="-1890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91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8" grpId="0"/>
      <p:bldP spid="30" grpId="0"/>
      <p:bldP spid="39" grpId="0"/>
      <p:bldP spid="40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7">
            <a:extLst>
              <a:ext uri="{FF2B5EF4-FFF2-40B4-BE49-F238E27FC236}">
                <a16:creationId xmlns:a16="http://schemas.microsoft.com/office/drawing/2014/main" id="{BD77F89D-D855-4D90-93BB-4D8FB0C50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49" y="1210220"/>
            <a:ext cx="917420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导体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内部和表面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无自由电荷的定向移动的状态，称为导体处于静电平衡状态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28CA95-6B9C-4F3D-A64B-CD2A7F115446}"/>
              </a:ext>
            </a:extLst>
          </p:cNvPr>
          <p:cNvSpPr/>
          <p:nvPr/>
        </p:nvSpPr>
        <p:spPr>
          <a:xfrm>
            <a:off x="822960" y="432021"/>
            <a:ext cx="3094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zh-CN" altLang="en-US" sz="3200" b="1" i="0" u="none" strike="noStrike" kern="0" cap="none" spc="-5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导体静电平衡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5D5E7858-FE30-43DB-AC2B-8ED2D8F419BE}"/>
                  </a:ext>
                </a:extLst>
              </p:cNvPr>
              <p:cNvSpPr/>
              <p:nvPr/>
            </p:nvSpPr>
            <p:spPr>
              <a:xfrm>
                <a:off x="1461453" y="2553552"/>
                <a:ext cx="6096000" cy="15654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99CB38"/>
                  </a:buClr>
                  <a:buSzPct val="100000"/>
                </a:pP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导体内部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zh-CN" altLang="en-US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</m:t>
                    </m:r>
                    <m:r>
                      <a:rPr lang="zh-CN" altLang="en-US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表面</m:t>
                    </m:r>
                  </m:oMath>
                </a14:m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99CB38"/>
                  </a:buClr>
                  <a:buSzPct val="100000"/>
                </a:pPr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5D5E7858-FE30-43DB-AC2B-8ED2D8F41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453" y="2553552"/>
                <a:ext cx="6096000" cy="1565493"/>
              </a:xfrm>
              <a:prstGeom prst="rect">
                <a:avLst/>
              </a:prstGeom>
              <a:blipFill>
                <a:blip r:embed="rId2"/>
                <a:stretch>
                  <a:fillRect l="-2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 75">
            <a:extLst>
              <a:ext uri="{FF2B5EF4-FFF2-40B4-BE49-F238E27FC236}">
                <a16:creationId xmlns:a16="http://schemas.microsoft.com/office/drawing/2014/main" id="{2A7E9D74-3E68-408D-A601-7B1EFD89A100}"/>
              </a:ext>
            </a:extLst>
          </p:cNvPr>
          <p:cNvSpPr/>
          <p:nvPr/>
        </p:nvSpPr>
        <p:spPr>
          <a:xfrm>
            <a:off x="1461453" y="3435877"/>
            <a:ext cx="6096000" cy="6735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</a:pP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导体是等势体，表面是等势面</a:t>
            </a:r>
          </a:p>
        </p:txBody>
      </p:sp>
      <p:sp>
        <p:nvSpPr>
          <p:cNvPr id="4" name="Text Box 40">
            <a:extLst>
              <a:ext uri="{FF2B5EF4-FFF2-40B4-BE49-F238E27FC236}">
                <a16:creationId xmlns:a16="http://schemas.microsoft.com/office/drawing/2014/main" id="{4341CF99-5348-1F94-379E-95A5B6819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368" y="4449289"/>
            <a:ext cx="4535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电荷分布在表面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91A33-71CC-6BE8-316D-60D2297C67F4}"/>
              </a:ext>
            </a:extLst>
          </p:cNvPr>
          <p:cNvSpPr txBox="1"/>
          <p:nvPr/>
        </p:nvSpPr>
        <p:spPr>
          <a:xfrm>
            <a:off x="1374368" y="5200527"/>
            <a:ext cx="3626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表面电荷分布规律：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8">
                <a:extLst>
                  <a:ext uri="{FF2B5EF4-FFF2-40B4-BE49-F238E27FC236}">
                    <a16:creationId xmlns:a16="http://schemas.microsoft.com/office/drawing/2014/main" id="{0C6CA312-C48F-46DA-4C68-7266B4F90258}"/>
                  </a:ext>
                </a:extLst>
              </p:cNvPr>
              <p:cNvSpPr txBox="1"/>
              <p:nvPr/>
            </p:nvSpPr>
            <p:spPr bwMode="auto">
              <a:xfrm>
                <a:off x="5125626" y="5074819"/>
                <a:ext cx="1752600" cy="121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18">
                <a:extLst>
                  <a:ext uri="{FF2B5EF4-FFF2-40B4-BE49-F238E27FC236}">
                    <a16:creationId xmlns:a16="http://schemas.microsoft.com/office/drawing/2014/main" id="{0C6CA312-C48F-46DA-4C68-7266B4F90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5626" y="5074819"/>
                <a:ext cx="1752600" cy="1219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6">
                <a:extLst>
                  <a:ext uri="{FF2B5EF4-FFF2-40B4-BE49-F238E27FC236}">
                    <a16:creationId xmlns:a16="http://schemas.microsoft.com/office/drawing/2014/main" id="{3FF3C76A-C4CB-E39C-B404-05DF4467BECB}"/>
                  </a:ext>
                </a:extLst>
              </p:cNvPr>
              <p:cNvSpPr txBox="1"/>
              <p:nvPr/>
            </p:nvSpPr>
            <p:spPr bwMode="auto">
              <a:xfrm>
                <a:off x="8479217" y="4946199"/>
                <a:ext cx="1927525" cy="1031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Object 16">
                <a:extLst>
                  <a:ext uri="{FF2B5EF4-FFF2-40B4-BE49-F238E27FC236}">
                    <a16:creationId xmlns:a16="http://schemas.microsoft.com/office/drawing/2014/main" id="{3FF3C76A-C4CB-E39C-B404-05DF4467B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9217" y="4946199"/>
                <a:ext cx="1927525" cy="1031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">
            <a:extLst>
              <a:ext uri="{FF2B5EF4-FFF2-40B4-BE49-F238E27FC236}">
                <a16:creationId xmlns:a16="http://schemas.microsoft.com/office/drawing/2014/main" id="{66904F3E-39FA-0F93-ADB2-84E16E9F4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058" y="5951956"/>
            <a:ext cx="109963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在表面凸出的尖锐部分</a:t>
            </a:r>
            <a:r>
              <a:rPr lang="en-US" altLang="zh-CN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曲率是正值且较大</a:t>
            </a:r>
            <a:r>
              <a:rPr lang="en-US" altLang="zh-CN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电荷面密度较大</a:t>
            </a:r>
          </a:p>
        </p:txBody>
      </p:sp>
    </p:spTree>
    <p:extLst>
      <p:ext uri="{BB962C8B-B14F-4D97-AF65-F5344CB8AC3E}">
        <p14:creationId xmlns:p14="http://schemas.microsoft.com/office/powerpoint/2010/main" val="134319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6" grpId="0"/>
      <p:bldP spid="4" grpId="0"/>
      <p:bldP spid="7" grpId="0"/>
      <p:bldP spid="8" grpId="0"/>
      <p:bldP spid="35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椭圆 53">
            <a:extLst>
              <a:ext uri="{FF2B5EF4-FFF2-40B4-BE49-F238E27FC236}">
                <a16:creationId xmlns:a16="http://schemas.microsoft.com/office/drawing/2014/main" id="{3BF5F6CD-144E-8BBD-30D6-83947AF94571}"/>
              </a:ext>
            </a:extLst>
          </p:cNvPr>
          <p:cNvSpPr/>
          <p:nvPr/>
        </p:nvSpPr>
        <p:spPr>
          <a:xfrm>
            <a:off x="6676309" y="5481603"/>
            <a:ext cx="399142" cy="3991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9B40ACA5-7D1D-318E-8FDA-AAAED00FC791}"/>
              </a:ext>
            </a:extLst>
          </p:cNvPr>
          <p:cNvSpPr txBox="1"/>
          <p:nvPr/>
        </p:nvSpPr>
        <p:spPr>
          <a:xfrm>
            <a:off x="458909" y="3363879"/>
            <a:ext cx="3505200" cy="52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有空腔导体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87E5B9E-8618-5066-A855-000306CCFCA5}"/>
              </a:ext>
            </a:extLst>
          </p:cNvPr>
          <p:cNvSpPr/>
          <p:nvPr/>
        </p:nvSpPr>
        <p:spPr>
          <a:xfrm>
            <a:off x="2564308" y="3351029"/>
            <a:ext cx="393255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内表面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</a:t>
            </a: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带电</a:t>
            </a:r>
          </a:p>
        </p:txBody>
      </p:sp>
      <p:grpSp>
        <p:nvGrpSpPr>
          <p:cNvPr id="11" name="Group 90">
            <a:extLst>
              <a:ext uri="{FF2B5EF4-FFF2-40B4-BE49-F238E27FC236}">
                <a16:creationId xmlns:a16="http://schemas.microsoft.com/office/drawing/2014/main" id="{CBF15FAA-2CC7-0AF9-3F8C-C201866CD9F7}"/>
              </a:ext>
            </a:extLst>
          </p:cNvPr>
          <p:cNvGrpSpPr>
            <a:grpSpLocks/>
          </p:cNvGrpSpPr>
          <p:nvPr/>
        </p:nvGrpSpPr>
        <p:grpSpPr bwMode="auto">
          <a:xfrm>
            <a:off x="6659050" y="1054316"/>
            <a:ext cx="3564870" cy="2040856"/>
            <a:chOff x="623" y="714"/>
            <a:chExt cx="1859" cy="1017"/>
          </a:xfrm>
        </p:grpSpPr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76F313DF-43B1-6BFC-1A77-58570DA89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714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5F2513FA-6A71-B910-C084-724105415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859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0C6AC399-7090-AA8B-AFA6-78A7F990E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005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96FDC514-90F2-A5FA-148E-E30A45DE1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295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F8FA889C-DB2F-9FA9-5583-69F19A3E3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150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A1F70F75-1045-8A47-3733-21D7FB937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440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7B349D06-A8EB-B8E3-A7F4-6E5C5E7A1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586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8C792979-D6AF-C0D5-AD16-CA09BA385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731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D84F3B7-F0BF-1616-1930-A5D3BC63C7E3}"/>
              </a:ext>
            </a:extLst>
          </p:cNvPr>
          <p:cNvGrpSpPr/>
          <p:nvPr/>
        </p:nvGrpSpPr>
        <p:grpSpPr>
          <a:xfrm>
            <a:off x="6973132" y="1220053"/>
            <a:ext cx="2675599" cy="1526619"/>
            <a:chOff x="7249451" y="5802948"/>
            <a:chExt cx="2675599" cy="1526619"/>
          </a:xfrm>
        </p:grpSpPr>
        <p:sp>
          <p:nvSpPr>
            <p:cNvPr id="21" name="AutoShape 61">
              <a:extLst>
                <a:ext uri="{FF2B5EF4-FFF2-40B4-BE49-F238E27FC236}">
                  <a16:creationId xmlns:a16="http://schemas.microsoft.com/office/drawing/2014/main" id="{947B4FFE-2003-4723-4DF8-5889E1FA8631}"/>
                </a:ext>
              </a:extLst>
            </p:cNvPr>
            <p:cNvSpPr/>
            <p:nvPr/>
          </p:nvSpPr>
          <p:spPr>
            <a:xfrm>
              <a:off x="7249451" y="5802948"/>
              <a:ext cx="2675599" cy="152661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4"/>
                </a:cxn>
                <a:cxn ang="0">
                  <a:pos x="14" y="3"/>
                </a:cxn>
                <a:cxn ang="0">
                  <a:pos x="16" y="2"/>
                </a:cxn>
                <a:cxn ang="0">
                  <a:pos x="14" y="1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816" y="10800"/>
                  </a:moveTo>
                  <a:cubicBezTo>
                    <a:pt x="6816" y="13000"/>
                    <a:pt x="8600" y="14784"/>
                    <a:pt x="10800" y="14784"/>
                  </a:cubicBezTo>
                  <a:cubicBezTo>
                    <a:pt x="13000" y="14784"/>
                    <a:pt x="14784" y="13000"/>
                    <a:pt x="14784" y="10800"/>
                  </a:cubicBezTo>
                  <a:cubicBezTo>
                    <a:pt x="14784" y="8600"/>
                    <a:pt x="13000" y="6816"/>
                    <a:pt x="10800" y="6816"/>
                  </a:cubicBezTo>
                  <a:cubicBezTo>
                    <a:pt x="8600" y="6816"/>
                    <a:pt x="6816" y="8600"/>
                    <a:pt x="6816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2C2C2"/>
                </a:gs>
              </a:gsLst>
              <a:lin ang="2700000" scaled="1"/>
              <a:tileRect/>
            </a:gra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22" name="Group 65">
              <a:extLst>
                <a:ext uri="{FF2B5EF4-FFF2-40B4-BE49-F238E27FC236}">
                  <a16:creationId xmlns:a16="http://schemas.microsoft.com/office/drawing/2014/main" id="{903707D3-6B27-3D97-A6EC-18D38064DE6F}"/>
                </a:ext>
              </a:extLst>
            </p:cNvPr>
            <p:cNvGrpSpPr/>
            <p:nvPr/>
          </p:nvGrpSpPr>
          <p:grpSpPr>
            <a:xfrm>
              <a:off x="9021103" y="6218752"/>
              <a:ext cx="764068" cy="926149"/>
              <a:chOff x="4800" y="2880"/>
              <a:chExt cx="562" cy="7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bject 63">
                    <a:extLst>
                      <a:ext uri="{FF2B5EF4-FFF2-40B4-BE49-F238E27FC236}">
                        <a16:creationId xmlns:a16="http://schemas.microsoft.com/office/drawing/2014/main" id="{74251815-3EF5-CB48-D947-E30E697DA42C}"/>
                      </a:ext>
                    </a:extLst>
                  </p:cNvPr>
                  <p:cNvSpPr txBox="1"/>
                  <p:nvPr/>
                </p:nvSpPr>
                <p:spPr>
                  <a:xfrm>
                    <a:off x="4848" y="3264"/>
                    <a:ext cx="495" cy="34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lnSpcReduction="10000"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a14:m>
                    <a:r>
                      <a:rPr lang="en-US" sz="2400" baseline="-25000" dirty="0"/>
                      <a:t>1</a:t>
                    </a:r>
                  </a:p>
                </p:txBody>
              </p:sp>
            </mc:Choice>
            <mc:Fallback xmlns="">
              <p:sp>
                <p:nvSpPr>
                  <p:cNvPr id="155" name="Object 63">
                    <a:extLst>
                      <a:ext uri="{FF2B5EF4-FFF2-40B4-BE49-F238E27FC236}">
                        <a16:creationId xmlns:a16="http://schemas.microsoft.com/office/drawing/2014/main" id="{41EC6A0D-6B59-4A65-AE06-C1EDD20538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8" y="3264"/>
                    <a:ext cx="495" cy="34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02" b="-26761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Freeform 64" descr="宽下对角线">
                <a:extLst>
                  <a:ext uri="{FF2B5EF4-FFF2-40B4-BE49-F238E27FC236}">
                    <a16:creationId xmlns:a16="http://schemas.microsoft.com/office/drawing/2014/main" id="{7395EE86-DC62-A2F5-59A8-F9FC12B24D56}"/>
                  </a:ext>
                </a:extLst>
              </p:cNvPr>
              <p:cNvSpPr/>
              <p:nvPr/>
            </p:nvSpPr>
            <p:spPr>
              <a:xfrm rot="2655082">
                <a:off x="4800" y="2880"/>
                <a:ext cx="562" cy="307"/>
              </a:xfrm>
              <a:custGeom>
                <a:avLst/>
                <a:gdLst/>
                <a:ahLst/>
                <a:cxnLst>
                  <a:cxn ang="0">
                    <a:pos x="89" y="56"/>
                  </a:cxn>
                  <a:cxn ang="0">
                    <a:pos x="294" y="9"/>
                  </a:cxn>
                  <a:cxn ang="0">
                    <a:pos x="531" y="111"/>
                  </a:cxn>
                  <a:cxn ang="0">
                    <a:pos x="479" y="286"/>
                  </a:cxn>
                  <a:cxn ang="0">
                    <a:pos x="65" y="237"/>
                  </a:cxn>
                  <a:cxn ang="0">
                    <a:pos x="89" y="56"/>
                  </a:cxn>
                </a:cxnLst>
                <a:rect l="0" t="0" r="0" b="0"/>
                <a:pathLst>
                  <a:path w="562" h="307">
                    <a:moveTo>
                      <a:pt x="89" y="56"/>
                    </a:moveTo>
                    <a:cubicBezTo>
                      <a:pt x="127" y="18"/>
                      <a:pt x="220" y="0"/>
                      <a:pt x="294" y="9"/>
                    </a:cubicBezTo>
                    <a:cubicBezTo>
                      <a:pt x="368" y="18"/>
                      <a:pt x="500" y="65"/>
                      <a:pt x="531" y="111"/>
                    </a:cubicBezTo>
                    <a:cubicBezTo>
                      <a:pt x="562" y="157"/>
                      <a:pt x="557" y="265"/>
                      <a:pt x="479" y="286"/>
                    </a:cubicBezTo>
                    <a:cubicBezTo>
                      <a:pt x="401" y="307"/>
                      <a:pt x="130" y="275"/>
                      <a:pt x="65" y="237"/>
                    </a:cubicBezTo>
                    <a:cubicBezTo>
                      <a:pt x="0" y="199"/>
                      <a:pt x="44" y="96"/>
                      <a:pt x="89" y="56"/>
                    </a:cubicBezTo>
                    <a:close/>
                  </a:path>
                </a:pathLst>
              </a:custGeom>
              <a:pattFill prst="wdDnDiag">
                <a:fgClr>
                  <a:srgbClr val="0000FF"/>
                </a:fgClr>
                <a:bgClr>
                  <a:srgbClr val="EAEAEA"/>
                </a:bgClr>
              </a:pattFill>
              <a:ln w="19050" cap="flat" cmpd="sng">
                <a:solidFill>
                  <a:srgbClr val="0000FF"/>
                </a:solidFill>
                <a:prstDash val="dash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1414A47C-E1E2-480D-2BA9-CD9F8146004F}"/>
              </a:ext>
            </a:extLst>
          </p:cNvPr>
          <p:cNvSpPr/>
          <p:nvPr/>
        </p:nvSpPr>
        <p:spPr>
          <a:xfrm>
            <a:off x="7825239" y="1717857"/>
            <a:ext cx="971384" cy="5310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3D7E8487-548A-6DA9-F452-338B5A6E96C7}"/>
                  </a:ext>
                </a:extLst>
              </p:cNvPr>
              <p:cNvSpPr txBox="1"/>
              <p:nvPr/>
            </p:nvSpPr>
            <p:spPr>
              <a:xfrm>
                <a:off x="8031014" y="1747181"/>
                <a:ext cx="838200" cy="6175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3D7E8487-548A-6DA9-F452-338B5A6E9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014" y="1747181"/>
                <a:ext cx="838200" cy="617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8">
            <a:extLst>
              <a:ext uri="{FF2B5EF4-FFF2-40B4-BE49-F238E27FC236}">
                <a16:creationId xmlns:a16="http://schemas.microsoft.com/office/drawing/2014/main" id="{18CEBE4B-1B93-476F-A51B-CFE426794597}"/>
              </a:ext>
            </a:extLst>
          </p:cNvPr>
          <p:cNvSpPr/>
          <p:nvPr/>
        </p:nvSpPr>
        <p:spPr>
          <a:xfrm>
            <a:off x="8095552" y="1911889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12700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</p:spPr>
        <p:txBody>
          <a:bodyPr wrap="none" anchor="ctr" anchorCtr="0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AD5D7AC8-0216-75D1-5E65-8BB43933C7F5}"/>
                  </a:ext>
                </a:extLst>
              </p:cNvPr>
              <p:cNvSpPr txBox="1"/>
              <p:nvPr/>
            </p:nvSpPr>
            <p:spPr>
              <a:xfrm>
                <a:off x="7304007" y="1973705"/>
                <a:ext cx="838200" cy="5730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AD5D7AC8-0216-75D1-5E65-8BB43933C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007" y="1973705"/>
                <a:ext cx="838200" cy="573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AFD64C5A-E8DD-0E37-C898-2E595E2A9710}"/>
                  </a:ext>
                </a:extLst>
              </p:cNvPr>
              <p:cNvSpPr/>
              <p:nvPr/>
            </p:nvSpPr>
            <p:spPr>
              <a:xfrm>
                <a:off x="5325854" y="3334128"/>
                <a:ext cx="6454078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latin typeface="+mn-ea"/>
                  </a:rPr>
                  <a:t>-</a:t>
                </a:r>
                <a:r>
                  <a:rPr lang="zh-CN" altLang="en-US" sz="2800" dirty="0">
                    <a:latin typeface="+mn-ea"/>
                  </a:rPr>
                  <a:t>当空腔内有电荷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时</a:t>
                </a:r>
                <a:r>
                  <a:rPr lang="en-US" altLang="zh-CN" sz="2800" dirty="0">
                    <a:latin typeface="+mn-ea"/>
                  </a:rPr>
                  <a:t>,</a:t>
                </a:r>
                <a:r>
                  <a:rPr lang="zh-CN" altLang="en-US" sz="2800" dirty="0">
                    <a:latin typeface="+mn-ea"/>
                  </a:rPr>
                  <a:t>内表面因静电感应出现等值异号的电荷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      </a:t>
                </a:r>
              </a:p>
              <a:p>
                <a:r>
                  <a:rPr lang="en-US" altLang="zh-CN" sz="2800" i="1" dirty="0">
                    <a:latin typeface="+mn-ea"/>
                  </a:rPr>
                  <a:t>- </a:t>
                </a:r>
                <a:r>
                  <a:rPr lang="zh-CN" altLang="en-US" sz="2800" dirty="0">
                    <a:latin typeface="+mn-ea"/>
                  </a:rPr>
                  <a:t>外表面有感应电荷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      （电荷守恒）</a:t>
                </a:r>
                <a:endParaRPr 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AFD64C5A-E8DD-0E37-C898-2E595E2A9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854" y="3334128"/>
                <a:ext cx="6454078" cy="1384995"/>
              </a:xfrm>
              <a:prstGeom prst="rect">
                <a:avLst/>
              </a:prstGeom>
              <a:blipFill>
                <a:blip r:embed="rId6"/>
                <a:stretch>
                  <a:fillRect l="-1985" t="-4846" r="-1796" b="-1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9">
                <a:extLst>
                  <a:ext uri="{FF2B5EF4-FFF2-40B4-BE49-F238E27FC236}">
                    <a16:creationId xmlns:a16="http://schemas.microsoft.com/office/drawing/2014/main" id="{80A92762-76CA-42CB-C62D-3E813D959F7B}"/>
                  </a:ext>
                </a:extLst>
              </p:cNvPr>
              <p:cNvSpPr txBox="1"/>
              <p:nvPr/>
            </p:nvSpPr>
            <p:spPr>
              <a:xfrm>
                <a:off x="7120033" y="929076"/>
                <a:ext cx="1245671" cy="6175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Object 9">
                <a:extLst>
                  <a:ext uri="{FF2B5EF4-FFF2-40B4-BE49-F238E27FC236}">
                    <a16:creationId xmlns:a16="http://schemas.microsoft.com/office/drawing/2014/main" id="{80A92762-76CA-42CB-C62D-3E813D959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033" y="929076"/>
                <a:ext cx="1245671" cy="617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9">
                <a:extLst>
                  <a:ext uri="{FF2B5EF4-FFF2-40B4-BE49-F238E27FC236}">
                    <a16:creationId xmlns:a16="http://schemas.microsoft.com/office/drawing/2014/main" id="{755D4EA0-5BF9-CEEF-1BBD-B17B30E4F3A3}"/>
                  </a:ext>
                </a:extLst>
              </p:cNvPr>
              <p:cNvSpPr txBox="1"/>
              <p:nvPr/>
            </p:nvSpPr>
            <p:spPr>
              <a:xfrm>
                <a:off x="8269295" y="883935"/>
                <a:ext cx="1245671" cy="6175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Object 9">
                <a:extLst>
                  <a:ext uri="{FF2B5EF4-FFF2-40B4-BE49-F238E27FC236}">
                    <a16:creationId xmlns:a16="http://schemas.microsoft.com/office/drawing/2014/main" id="{755D4EA0-5BF9-CEEF-1BBD-B17B30E4F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295" y="883935"/>
                <a:ext cx="1245671" cy="6175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25">
            <a:extLst>
              <a:ext uri="{FF2B5EF4-FFF2-40B4-BE49-F238E27FC236}">
                <a16:creationId xmlns:a16="http://schemas.microsoft.com/office/drawing/2014/main" id="{EA66A27A-141F-990E-CA21-192008452891}"/>
              </a:ext>
            </a:extLst>
          </p:cNvPr>
          <p:cNvGrpSpPr/>
          <p:nvPr/>
        </p:nvGrpSpPr>
        <p:grpSpPr>
          <a:xfrm>
            <a:off x="6985055" y="1470536"/>
            <a:ext cx="1995846" cy="1110399"/>
            <a:chOff x="3216" y="1392"/>
            <a:chExt cx="1824" cy="1200"/>
          </a:xfrm>
        </p:grpSpPr>
        <p:sp>
          <p:nvSpPr>
            <p:cNvPr id="33" name="Oval 10">
              <a:extLst>
                <a:ext uri="{FF2B5EF4-FFF2-40B4-BE49-F238E27FC236}">
                  <a16:creationId xmlns:a16="http://schemas.microsoft.com/office/drawing/2014/main" id="{A277036D-68B7-2883-C64E-904BAAD75D28}"/>
                </a:ext>
              </a:extLst>
            </p:cNvPr>
            <p:cNvSpPr/>
            <p:nvPr/>
          </p:nvSpPr>
          <p:spPr>
            <a:xfrm>
              <a:off x="3648" y="1392"/>
              <a:ext cx="1392" cy="1200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12">
                  <a:extLst>
                    <a:ext uri="{FF2B5EF4-FFF2-40B4-BE49-F238E27FC236}">
                      <a16:creationId xmlns:a16="http://schemas.microsoft.com/office/drawing/2014/main" id="{D638AFAD-4A48-5B9F-0BEE-111F2E02A313}"/>
                    </a:ext>
                  </a:extLst>
                </p:cNvPr>
                <p:cNvSpPr txBox="1"/>
                <p:nvPr/>
              </p:nvSpPr>
              <p:spPr>
                <a:xfrm>
                  <a:off x="3216" y="1585"/>
                  <a:ext cx="441" cy="5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Object 12">
                  <a:extLst>
                    <a:ext uri="{FF2B5EF4-FFF2-40B4-BE49-F238E27FC236}">
                      <a16:creationId xmlns:a16="http://schemas.microsoft.com/office/drawing/2014/main" id="{C4804E2B-6D7B-405B-BCF6-E71D4F0C8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6" y="1585"/>
                  <a:ext cx="441" cy="53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7B3EAB4-D1CA-4ADF-8394-0C1336A361BF}"/>
              </a:ext>
            </a:extLst>
          </p:cNvPr>
          <p:cNvSpPr/>
          <p:nvPr/>
        </p:nvSpPr>
        <p:spPr>
          <a:xfrm>
            <a:off x="822960" y="432021"/>
            <a:ext cx="3094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zh-CN" altLang="en-US" sz="3200" b="1" i="0" u="none" strike="noStrike" kern="0" cap="none" spc="-5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导体静电平衡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3" name="Group 90">
            <a:extLst>
              <a:ext uri="{FF2B5EF4-FFF2-40B4-BE49-F238E27FC236}">
                <a16:creationId xmlns:a16="http://schemas.microsoft.com/office/drawing/2014/main" id="{BAA1904B-5D0E-3007-797A-AF70F5B34352}"/>
              </a:ext>
            </a:extLst>
          </p:cNvPr>
          <p:cNvGrpSpPr>
            <a:grpSpLocks/>
          </p:cNvGrpSpPr>
          <p:nvPr/>
        </p:nvGrpSpPr>
        <p:grpSpPr bwMode="auto">
          <a:xfrm>
            <a:off x="1219225" y="1125597"/>
            <a:ext cx="3564870" cy="2040856"/>
            <a:chOff x="623" y="714"/>
            <a:chExt cx="1859" cy="1017"/>
          </a:xfrm>
        </p:grpSpPr>
        <p:sp>
          <p:nvSpPr>
            <p:cNvPr id="4" name="Line 5">
              <a:extLst>
                <a:ext uri="{FF2B5EF4-FFF2-40B4-BE49-F238E27FC236}">
                  <a16:creationId xmlns:a16="http://schemas.microsoft.com/office/drawing/2014/main" id="{1E2BFA3C-5ECC-0B58-45FD-F319E5931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714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67E92139-4AE0-5BB3-D5D0-92C92D68D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859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722B5EBA-043C-B419-D1CF-A7F7D1B38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005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0A24E5B7-488F-5761-E8F2-AD344AF81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295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932F5C0B-2656-480D-67EA-285163C56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150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33AF3650-C571-EFAC-ED75-77CFC8F81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440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A7596E0A-8579-A015-D7D7-A9C4272E3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586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5FB279DE-8763-7AFC-9823-13D4833C8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1731"/>
              <a:ext cx="1850" cy="0"/>
            </a:xfrm>
            <a:prstGeom prst="line">
              <a:avLst/>
            </a:prstGeom>
            <a:noFill/>
            <a:ln w="38100">
              <a:solidFill>
                <a:srgbClr val="63A537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345CF05-33EA-B4A9-02CA-71D5875D7252}"/>
              </a:ext>
            </a:extLst>
          </p:cNvPr>
          <p:cNvGrpSpPr/>
          <p:nvPr/>
        </p:nvGrpSpPr>
        <p:grpSpPr>
          <a:xfrm>
            <a:off x="1533307" y="1291334"/>
            <a:ext cx="2675599" cy="1526619"/>
            <a:chOff x="7249451" y="5802948"/>
            <a:chExt cx="2675599" cy="1526619"/>
          </a:xfrm>
        </p:grpSpPr>
        <p:sp>
          <p:nvSpPr>
            <p:cNvPr id="39" name="AutoShape 61">
              <a:extLst>
                <a:ext uri="{FF2B5EF4-FFF2-40B4-BE49-F238E27FC236}">
                  <a16:creationId xmlns:a16="http://schemas.microsoft.com/office/drawing/2014/main" id="{E5AEE656-DB2D-BE82-0A82-A930515E1130}"/>
                </a:ext>
              </a:extLst>
            </p:cNvPr>
            <p:cNvSpPr/>
            <p:nvPr/>
          </p:nvSpPr>
          <p:spPr>
            <a:xfrm>
              <a:off x="7249451" y="5802948"/>
              <a:ext cx="2675599" cy="152661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4"/>
                </a:cxn>
                <a:cxn ang="0">
                  <a:pos x="14" y="3"/>
                </a:cxn>
                <a:cxn ang="0">
                  <a:pos x="16" y="2"/>
                </a:cxn>
                <a:cxn ang="0">
                  <a:pos x="14" y="1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816" y="10800"/>
                  </a:moveTo>
                  <a:cubicBezTo>
                    <a:pt x="6816" y="13000"/>
                    <a:pt x="8600" y="14784"/>
                    <a:pt x="10800" y="14784"/>
                  </a:cubicBezTo>
                  <a:cubicBezTo>
                    <a:pt x="13000" y="14784"/>
                    <a:pt x="14784" y="13000"/>
                    <a:pt x="14784" y="10800"/>
                  </a:cubicBezTo>
                  <a:cubicBezTo>
                    <a:pt x="14784" y="8600"/>
                    <a:pt x="13000" y="6816"/>
                    <a:pt x="10800" y="6816"/>
                  </a:cubicBezTo>
                  <a:cubicBezTo>
                    <a:pt x="8600" y="6816"/>
                    <a:pt x="6816" y="8600"/>
                    <a:pt x="6816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2C2C2"/>
                </a:gs>
              </a:gsLst>
              <a:lin ang="2700000" scaled="1"/>
              <a:tileRect/>
            </a:gra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63">
                  <a:extLst>
                    <a:ext uri="{FF2B5EF4-FFF2-40B4-BE49-F238E27FC236}">
                      <a16:creationId xmlns:a16="http://schemas.microsoft.com/office/drawing/2014/main" id="{E7633903-6FE9-3A34-3FD6-9B37ED45FE01}"/>
                    </a:ext>
                  </a:extLst>
                </p:cNvPr>
                <p:cNvSpPr txBox="1"/>
                <p:nvPr/>
              </p:nvSpPr>
              <p:spPr>
                <a:xfrm>
                  <a:off x="9086361" y="6707271"/>
                  <a:ext cx="367079" cy="43763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5" name="Object 63">
                  <a:extLst>
                    <a:ext uri="{FF2B5EF4-FFF2-40B4-BE49-F238E27FC236}">
                      <a16:creationId xmlns:a16="http://schemas.microsoft.com/office/drawing/2014/main" id="{41EC6A0D-6B59-4A65-AE06-C1EDD2053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6361" y="6707271"/>
                  <a:ext cx="367079" cy="4376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Freeform 64" descr="宽下对角线">
            <a:extLst>
              <a:ext uri="{FF2B5EF4-FFF2-40B4-BE49-F238E27FC236}">
                <a16:creationId xmlns:a16="http://schemas.microsoft.com/office/drawing/2014/main" id="{73109646-6ABD-730E-A924-173385D715A3}"/>
              </a:ext>
            </a:extLst>
          </p:cNvPr>
          <p:cNvSpPr/>
          <p:nvPr/>
        </p:nvSpPr>
        <p:spPr>
          <a:xfrm rot="2655082">
            <a:off x="3304959" y="1707138"/>
            <a:ext cx="764068" cy="390560"/>
          </a:xfrm>
          <a:custGeom>
            <a:avLst/>
            <a:gdLst/>
            <a:ahLst/>
            <a:cxnLst>
              <a:cxn ang="0">
                <a:pos x="89" y="56"/>
              </a:cxn>
              <a:cxn ang="0">
                <a:pos x="294" y="9"/>
              </a:cxn>
              <a:cxn ang="0">
                <a:pos x="531" y="111"/>
              </a:cxn>
              <a:cxn ang="0">
                <a:pos x="479" y="286"/>
              </a:cxn>
              <a:cxn ang="0">
                <a:pos x="65" y="237"/>
              </a:cxn>
              <a:cxn ang="0">
                <a:pos x="89" y="56"/>
              </a:cxn>
            </a:cxnLst>
            <a:rect l="0" t="0" r="0" b="0"/>
            <a:pathLst>
              <a:path w="562" h="307">
                <a:moveTo>
                  <a:pt x="89" y="56"/>
                </a:moveTo>
                <a:cubicBezTo>
                  <a:pt x="127" y="18"/>
                  <a:pt x="220" y="0"/>
                  <a:pt x="294" y="9"/>
                </a:cubicBezTo>
                <a:cubicBezTo>
                  <a:pt x="368" y="18"/>
                  <a:pt x="500" y="65"/>
                  <a:pt x="531" y="111"/>
                </a:cubicBezTo>
                <a:cubicBezTo>
                  <a:pt x="562" y="157"/>
                  <a:pt x="557" y="265"/>
                  <a:pt x="479" y="286"/>
                </a:cubicBezTo>
                <a:cubicBezTo>
                  <a:pt x="401" y="307"/>
                  <a:pt x="130" y="275"/>
                  <a:pt x="65" y="237"/>
                </a:cubicBezTo>
                <a:cubicBezTo>
                  <a:pt x="0" y="199"/>
                  <a:pt x="44" y="96"/>
                  <a:pt x="89" y="56"/>
                </a:cubicBezTo>
                <a:close/>
              </a:path>
            </a:pathLst>
          </a:custGeom>
          <a:pattFill prst="wdDnDiag">
            <a:fgClr>
              <a:srgbClr val="0000FF"/>
            </a:fgClr>
            <a:bgClr>
              <a:srgbClr val="EAEAEA"/>
            </a:bgClr>
          </a:pattFill>
          <a:ln w="19050" cap="flat" cmpd="sng">
            <a:solidFill>
              <a:srgbClr val="0000FF"/>
            </a:solidFill>
            <a:prstDash val="dash"/>
            <a:round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25">
            <a:extLst>
              <a:ext uri="{FF2B5EF4-FFF2-40B4-BE49-F238E27FC236}">
                <a16:creationId xmlns:a16="http://schemas.microsoft.com/office/drawing/2014/main" id="{40AFDA1F-070C-2070-D820-8241DDABF890}"/>
              </a:ext>
            </a:extLst>
          </p:cNvPr>
          <p:cNvGrpSpPr/>
          <p:nvPr/>
        </p:nvGrpSpPr>
        <p:grpSpPr>
          <a:xfrm>
            <a:off x="1545230" y="1541817"/>
            <a:ext cx="1995846" cy="1110399"/>
            <a:chOff x="3216" y="1392"/>
            <a:chExt cx="1824" cy="1200"/>
          </a:xfrm>
        </p:grpSpPr>
        <p:sp>
          <p:nvSpPr>
            <p:cNvPr id="43" name="Oval 10">
              <a:extLst>
                <a:ext uri="{FF2B5EF4-FFF2-40B4-BE49-F238E27FC236}">
                  <a16:creationId xmlns:a16="http://schemas.microsoft.com/office/drawing/2014/main" id="{80CB6761-DD03-9E65-FA58-621992813C98}"/>
                </a:ext>
              </a:extLst>
            </p:cNvPr>
            <p:cNvSpPr/>
            <p:nvPr/>
          </p:nvSpPr>
          <p:spPr>
            <a:xfrm>
              <a:off x="3648" y="1392"/>
              <a:ext cx="1392" cy="1200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12">
                  <a:extLst>
                    <a:ext uri="{FF2B5EF4-FFF2-40B4-BE49-F238E27FC236}">
                      <a16:creationId xmlns:a16="http://schemas.microsoft.com/office/drawing/2014/main" id="{595FC7A1-2BA2-D07F-0C0D-842D03E576E9}"/>
                    </a:ext>
                  </a:extLst>
                </p:cNvPr>
                <p:cNvSpPr txBox="1"/>
                <p:nvPr/>
              </p:nvSpPr>
              <p:spPr>
                <a:xfrm>
                  <a:off x="3216" y="1585"/>
                  <a:ext cx="441" cy="5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2" name="Object 12">
                  <a:extLst>
                    <a:ext uri="{FF2B5EF4-FFF2-40B4-BE49-F238E27FC236}">
                      <a16:creationId xmlns:a16="http://schemas.microsoft.com/office/drawing/2014/main" id="{C4804E2B-6D7B-405B-BCF6-E71D4F0C8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6" y="1585"/>
                  <a:ext cx="441" cy="53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椭圆 44">
            <a:extLst>
              <a:ext uri="{FF2B5EF4-FFF2-40B4-BE49-F238E27FC236}">
                <a16:creationId xmlns:a16="http://schemas.microsoft.com/office/drawing/2014/main" id="{DE143F32-43C6-4DB0-F656-0EAF2B75F00E}"/>
              </a:ext>
            </a:extLst>
          </p:cNvPr>
          <p:cNvSpPr/>
          <p:nvPr/>
        </p:nvSpPr>
        <p:spPr>
          <a:xfrm>
            <a:off x="2385414" y="1789138"/>
            <a:ext cx="971384" cy="5310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76">
            <a:extLst>
              <a:ext uri="{FF2B5EF4-FFF2-40B4-BE49-F238E27FC236}">
                <a16:creationId xmlns:a16="http://schemas.microsoft.com/office/drawing/2014/main" id="{D465E6BF-7C01-607D-E0C7-2A121CAB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631" y="1830750"/>
            <a:ext cx="416878" cy="586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7" name="Rectangle 76">
            <a:extLst>
              <a:ext uri="{FF2B5EF4-FFF2-40B4-BE49-F238E27FC236}">
                <a16:creationId xmlns:a16="http://schemas.microsoft.com/office/drawing/2014/main" id="{E983831C-BCE4-2CA2-3591-D0F1E5511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509" y="1724509"/>
            <a:ext cx="322204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1F066805-4B4C-F2A0-DA75-02F28C81024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27" t="19734" b="13804"/>
          <a:stretch/>
        </p:blipFill>
        <p:spPr bwMode="auto">
          <a:xfrm>
            <a:off x="3172304" y="4667229"/>
            <a:ext cx="1849206" cy="2027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 Box 30">
            <a:extLst>
              <a:ext uri="{FF2B5EF4-FFF2-40B4-BE49-F238E27FC236}">
                <a16:creationId xmlns:a16="http://schemas.microsoft.com/office/drawing/2014/main" id="{1FD6D68F-6674-FBC4-8407-916119A76B6F}"/>
              </a:ext>
            </a:extLst>
          </p:cNvPr>
          <p:cNvSpPr txBox="1"/>
          <p:nvPr/>
        </p:nvSpPr>
        <p:spPr>
          <a:xfrm>
            <a:off x="703706" y="4697853"/>
            <a:ext cx="3505200" cy="52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接地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A658E10-37FB-557F-99CB-2E42AA10DF29}"/>
              </a:ext>
            </a:extLst>
          </p:cNvPr>
          <p:cNvSpPr/>
          <p:nvPr/>
        </p:nvSpPr>
        <p:spPr>
          <a:xfrm>
            <a:off x="1088958" y="6189751"/>
            <a:ext cx="393255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外表面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</a:t>
            </a: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带电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79FBFA72-C4D5-A6CB-3B38-93A34A08BCE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27" t="19734" b="13804"/>
          <a:stretch/>
        </p:blipFill>
        <p:spPr bwMode="auto">
          <a:xfrm>
            <a:off x="7170492" y="4810371"/>
            <a:ext cx="1849206" cy="2027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椭圆 52">
            <a:extLst>
              <a:ext uri="{FF2B5EF4-FFF2-40B4-BE49-F238E27FC236}">
                <a16:creationId xmlns:a16="http://schemas.microsoft.com/office/drawing/2014/main" id="{4300D16F-8E28-0C55-2E50-14DB39D47C52}"/>
              </a:ext>
            </a:extLst>
          </p:cNvPr>
          <p:cNvSpPr/>
          <p:nvPr/>
        </p:nvSpPr>
        <p:spPr>
          <a:xfrm>
            <a:off x="7573276" y="5126649"/>
            <a:ext cx="1016087" cy="1308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EE57F024-632B-6AC7-2B0F-F8744BB4C35E}"/>
              </a:ext>
            </a:extLst>
          </p:cNvPr>
          <p:cNvSpPr/>
          <p:nvPr/>
        </p:nvSpPr>
        <p:spPr>
          <a:xfrm>
            <a:off x="9267758" y="6037351"/>
            <a:ext cx="393255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外表面带电</a:t>
            </a:r>
          </a:p>
        </p:txBody>
      </p:sp>
    </p:spTree>
    <p:extLst>
      <p:ext uri="{BB962C8B-B14F-4D97-AF65-F5344CB8AC3E}">
        <p14:creationId xmlns:p14="http://schemas.microsoft.com/office/powerpoint/2010/main" val="2249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9" grpId="0"/>
      <p:bldP spid="10" grpId="0"/>
      <p:bldP spid="25" grpId="0" animBg="1"/>
      <p:bldP spid="26" grpId="0"/>
      <p:bldP spid="27" grpId="0" animBg="1"/>
      <p:bldP spid="28" grpId="0"/>
      <p:bldP spid="30" grpId="0"/>
      <p:bldP spid="31" grpId="0"/>
      <p:bldP spid="41" grpId="0" animBg="1"/>
      <p:bldP spid="45" grpId="0" animBg="1"/>
      <p:bldP spid="46" grpId="0"/>
      <p:bldP spid="47" grpId="0"/>
      <p:bldP spid="49" grpId="0"/>
      <p:bldP spid="50" grpId="0"/>
      <p:bldP spid="53" grpId="0" animBg="1"/>
      <p:bldP spid="5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B5DCD32-37AA-4A09-A6FC-B14316672769}"/>
              </a:ext>
            </a:extLst>
          </p:cNvPr>
          <p:cNvSpPr/>
          <p:nvPr/>
        </p:nvSpPr>
        <p:spPr>
          <a:xfrm>
            <a:off x="754758" y="298984"/>
            <a:ext cx="3326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电介质的极化 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4FDB30-9798-489D-ADA0-CB7E856192F0}"/>
              </a:ext>
            </a:extLst>
          </p:cNvPr>
          <p:cNvSpPr/>
          <p:nvPr/>
        </p:nvSpPr>
        <p:spPr>
          <a:xfrm>
            <a:off x="1395158" y="1167150"/>
            <a:ext cx="204575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电极化强度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4A545CD9-F2E8-4DC9-A343-544F542581BC}"/>
              </a:ext>
            </a:extLst>
          </p:cNvPr>
          <p:cNvSpPr txBox="1">
            <a:spLocks/>
          </p:cNvSpPr>
          <p:nvPr/>
        </p:nvSpPr>
        <p:spPr>
          <a:xfrm>
            <a:off x="3853472" y="1082720"/>
            <a:ext cx="5997450" cy="692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电介质中，单位体积内分子电矩的矢量和，量度电介质的极化程度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850687E3-A140-4560-A6B0-97C03DA65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530615"/>
              </p:ext>
            </p:extLst>
          </p:nvPr>
        </p:nvGraphicFramePr>
        <p:xfrm>
          <a:off x="4468298" y="2020215"/>
          <a:ext cx="2060467" cy="920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公式" r:id="rId4" imgW="1333500" imgH="571500" progId="Equation.3">
                  <p:embed/>
                </p:oleObj>
              </mc:Choice>
              <mc:Fallback>
                <p:oleObj name="公式" r:id="rId4" imgW="1333500" imgH="571500" progId="Equation.3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850687E3-A140-4560-A6B0-97C03DA65B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298" y="2020215"/>
                        <a:ext cx="2060467" cy="920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3">
                <a:extLst>
                  <a:ext uri="{FF2B5EF4-FFF2-40B4-BE49-F238E27FC236}">
                    <a16:creationId xmlns:a16="http://schemas.microsoft.com/office/drawing/2014/main" id="{8F3638B8-544D-4C05-911D-BE724E702187}"/>
                  </a:ext>
                </a:extLst>
              </p:cNvPr>
              <p:cNvSpPr txBox="1"/>
              <p:nvPr/>
            </p:nvSpPr>
            <p:spPr bwMode="auto">
              <a:xfrm>
                <a:off x="6449818" y="2197226"/>
                <a:ext cx="1216025" cy="693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acc>
                        <m:accPr>
                          <m:chr m:val="⃗"/>
                          <m:ctrlP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Object 33">
                <a:extLst>
                  <a:ext uri="{FF2B5EF4-FFF2-40B4-BE49-F238E27FC236}">
                    <a16:creationId xmlns:a16="http://schemas.microsoft.com/office/drawing/2014/main" id="{8F3638B8-544D-4C05-911D-BE724E702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9818" y="2197226"/>
                <a:ext cx="1216025" cy="693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9">
            <a:extLst>
              <a:ext uri="{FF2B5EF4-FFF2-40B4-BE49-F238E27FC236}">
                <a16:creationId xmlns:a16="http://schemas.microsoft.com/office/drawing/2014/main" id="{735AA686-D7CA-4864-83BC-1B4B744AA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080" y="2224728"/>
            <a:ext cx="205707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600" b="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均匀极化</a:t>
            </a:r>
            <a:endParaRPr lang="zh-CN" altLang="en-US" sz="2600" b="0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 txBox="1">
            <a:spLocks/>
          </p:cNvSpPr>
          <p:nvPr/>
        </p:nvSpPr>
        <p:spPr>
          <a:xfrm>
            <a:off x="1395158" y="2890963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</a:rPr>
              <a:t>各向同性电介质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 txBox="1">
                <a:spLocks/>
              </p:cNvSpPr>
              <p:nvPr/>
            </p:nvSpPr>
            <p:spPr>
              <a:xfrm>
                <a:off x="2927608" y="3307934"/>
                <a:ext cx="5473700" cy="100647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kumimoji="1" lang="en-US" altLang="zh-CN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600" i="1"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" name="内容占位符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608" y="3307934"/>
                <a:ext cx="5473700" cy="10064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0C9E1C-D387-6D70-8986-453BDADDF23B}"/>
                  </a:ext>
                </a:extLst>
              </p:cNvPr>
              <p:cNvSpPr txBox="1"/>
              <p:nvPr/>
            </p:nvSpPr>
            <p:spPr>
              <a:xfrm>
                <a:off x="1420298" y="4216526"/>
                <a:ext cx="6096000" cy="1199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:r>
                  <a:rPr lang="zh-CN" altLang="en-US" sz="2600" dirty="0"/>
                  <a:t>极化电荷面密度</a:t>
                </a:r>
                <a:endParaRPr lang="en-US" altLang="zh-CN" sz="2600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sz="2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sz="26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0C9E1C-D387-6D70-8986-453BDADDF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298" y="4216526"/>
                <a:ext cx="6096000" cy="1199111"/>
              </a:xfrm>
              <a:prstGeom prst="rect">
                <a:avLst/>
              </a:prstGeom>
              <a:blipFill>
                <a:blip r:embed="rId8"/>
                <a:stretch>
                  <a:fillRect l="-1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39713E0-0A16-497E-1359-88299A38982B}"/>
                  </a:ext>
                </a:extLst>
              </p:cNvPr>
              <p:cNvSpPr/>
              <p:nvPr/>
            </p:nvSpPr>
            <p:spPr>
              <a:xfrm>
                <a:off x="2927608" y="5693642"/>
                <a:ext cx="3803650" cy="817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39713E0-0A16-497E-1359-88299A389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608" y="5693642"/>
                <a:ext cx="3803650" cy="8170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1091B22-1A01-AE2D-5B5E-F14027581D0F}"/>
                  </a:ext>
                </a:extLst>
              </p:cNvPr>
              <p:cNvSpPr/>
              <p:nvPr/>
            </p:nvSpPr>
            <p:spPr>
              <a:xfrm>
                <a:off x="5740816" y="5829138"/>
                <a:ext cx="3612079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1091B22-1A01-AE2D-5B5E-F14027581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816" y="5829138"/>
                <a:ext cx="3612079" cy="5754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6C680BF-FDE2-C329-A06D-DF260AE9239E}"/>
                  </a:ext>
                </a:extLst>
              </p:cNvPr>
              <p:cNvSpPr/>
              <p:nvPr/>
            </p:nvSpPr>
            <p:spPr>
              <a:xfrm>
                <a:off x="9225242" y="5829138"/>
                <a:ext cx="1574149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6C680BF-FDE2-C329-A06D-DF260AE923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242" y="5829138"/>
                <a:ext cx="1574149" cy="5754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DF7EA7FE-985F-63ED-8450-A8F34BE7A429}"/>
              </a:ext>
            </a:extLst>
          </p:cNvPr>
          <p:cNvSpPr txBox="1"/>
          <p:nvPr/>
        </p:nvSpPr>
        <p:spPr>
          <a:xfrm>
            <a:off x="1970119" y="590698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</a:rPr>
              <a:t>电位移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3" grpId="0"/>
      <p:bldP spid="6" grpId="0"/>
      <p:bldP spid="4" grpId="0"/>
      <p:bldP spid="5" grpId="0"/>
      <p:bldP spid="7" grpId="0"/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5BDEAB7-7709-177B-7811-13123F9F21FA}"/>
              </a:ext>
            </a:extLst>
          </p:cNvPr>
          <p:cNvSpPr/>
          <p:nvPr/>
        </p:nvSpPr>
        <p:spPr>
          <a:xfrm>
            <a:off x="727636" y="418325"/>
            <a:ext cx="48654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有电介质时的高斯定理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07731DC-2454-4C9E-AFEF-66EB43DFA043}"/>
                  </a:ext>
                </a:extLst>
              </p:cNvPr>
              <p:cNvSpPr/>
              <p:nvPr/>
            </p:nvSpPr>
            <p:spPr>
              <a:xfrm>
                <a:off x="2798680" y="334036"/>
                <a:ext cx="5905376" cy="1970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endParaRPr lang="en-US" altLang="zh-CN" sz="2800" b="1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07731DC-2454-4C9E-AFEF-66EB43DFA0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680" y="334036"/>
                <a:ext cx="5905376" cy="1970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3C2B4FC-03F9-B394-CAAF-740A4B847970}"/>
                  </a:ext>
                </a:extLst>
              </p:cNvPr>
              <p:cNvSpPr/>
              <p:nvPr/>
            </p:nvSpPr>
            <p:spPr>
              <a:xfrm>
                <a:off x="1183176" y="2587230"/>
                <a:ext cx="9840424" cy="623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-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电位移：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kumimoji="1"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kumimoji="1" lang="zh-CN" altLang="en-US" sz="2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kumimoji="1"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源于自由电荷和极化电荷的共同贡献</a:t>
                </a:r>
                <a:endParaRPr kumimoji="1"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3C2B4FC-03F9-B394-CAAF-740A4B847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176" y="2587230"/>
                <a:ext cx="9840424" cy="623184"/>
              </a:xfrm>
              <a:prstGeom prst="rect">
                <a:avLst/>
              </a:prstGeom>
              <a:blipFill>
                <a:blip r:embed="rId4"/>
                <a:stretch>
                  <a:fillRect l="-1053" r="-1115" b="-26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68C6166-0E74-3508-B850-01BBD2A8902E}"/>
                  </a:ext>
                </a:extLst>
              </p:cNvPr>
              <p:cNvSpPr txBox="1"/>
              <p:nvPr/>
            </p:nvSpPr>
            <p:spPr>
              <a:xfrm>
                <a:off x="1257437" y="3429000"/>
                <a:ext cx="88029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dirty="0"/>
                  <a:t>：只考虑高斯面内的自由电荷，无需考虑极化电荷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68C6166-0E74-3508-B850-01BBD2A8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437" y="3429000"/>
                <a:ext cx="8802914" cy="523220"/>
              </a:xfrm>
              <a:prstGeom prst="rect">
                <a:avLst/>
              </a:prstGeom>
              <a:blipFill>
                <a:blip r:embed="rId5"/>
                <a:stretch>
                  <a:fillRect l="-1385" t="-15294" b="-3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4AC9290D-E4A6-75F8-7AB8-01A5842E35F5}"/>
              </a:ext>
            </a:extLst>
          </p:cNvPr>
          <p:cNvSpPr/>
          <p:nvPr/>
        </p:nvSpPr>
        <p:spPr>
          <a:xfrm>
            <a:off x="830834" y="4209769"/>
            <a:ext cx="3935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静电场的边界条件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29F6B69-1191-3D36-5859-97DCBAB029AE}"/>
                  </a:ext>
                </a:extLst>
              </p:cNvPr>
              <p:cNvSpPr txBox="1"/>
              <p:nvPr/>
            </p:nvSpPr>
            <p:spPr>
              <a:xfrm>
                <a:off x="353278" y="5071890"/>
                <a:ext cx="90220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  -  </a:t>
                </a:r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分界面两侧的电场强度的切向分量相等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29F6B69-1191-3D36-5859-97DCBAB02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78" y="5071890"/>
                <a:ext cx="9022044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2B59BEA-F8C3-51FF-DCDA-9A880FE9F38C}"/>
                  </a:ext>
                </a:extLst>
              </p:cNvPr>
              <p:cNvSpPr txBox="1"/>
              <p:nvPr/>
            </p:nvSpPr>
            <p:spPr>
              <a:xfrm>
                <a:off x="353278" y="5767939"/>
                <a:ext cx="9022044" cy="61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+mn-ea"/>
                  </a:rPr>
                  <a:t> 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-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分界面两侧电位移矢量的法向分量相等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2B59BEA-F8C3-51FF-DCDA-9A880FE9F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78" y="5767939"/>
                <a:ext cx="9022044" cy="610103"/>
              </a:xfrm>
              <a:prstGeom prst="rect">
                <a:avLst/>
              </a:prstGeom>
              <a:blipFill>
                <a:blip r:embed="rId7"/>
                <a:stretch>
                  <a:fillRect b="-27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内容占位符 3">
            <a:extLst>
              <a:ext uri="{FF2B5EF4-FFF2-40B4-BE49-F238E27FC236}">
                <a16:creationId xmlns:a16="http://schemas.microsoft.com/office/drawing/2014/main" id="{8C8BFC8C-83A0-1FD8-E26C-C98C8AE84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92"/>
          <a:stretch/>
        </p:blipFill>
        <p:spPr>
          <a:xfrm rot="5400000">
            <a:off x="9673379" y="3365112"/>
            <a:ext cx="1808588" cy="312244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DB320C1-82C9-AA69-E9C5-7317AF9F1E61}"/>
                  </a:ext>
                </a:extLst>
              </p:cNvPr>
              <p:cNvSpPr/>
              <p:nvPr/>
            </p:nvSpPr>
            <p:spPr>
              <a:xfrm>
                <a:off x="6805773" y="5835104"/>
                <a:ext cx="7543800" cy="1009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DB320C1-82C9-AA69-E9C5-7317AF9F1E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773" y="5835104"/>
                <a:ext cx="7543800" cy="1009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16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19" grpId="0"/>
      <p:bldP spid="21" grpId="0"/>
      <p:bldP spid="23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箭头: 上下 42">
            <a:extLst>
              <a:ext uri="{FF2B5EF4-FFF2-40B4-BE49-F238E27FC236}">
                <a16:creationId xmlns:a16="http://schemas.microsoft.com/office/drawing/2014/main" id="{53EF4829-1847-4CED-90D2-BFD412552BA3}"/>
              </a:ext>
            </a:extLst>
          </p:cNvPr>
          <p:cNvSpPr/>
          <p:nvPr/>
        </p:nvSpPr>
        <p:spPr>
          <a:xfrm>
            <a:off x="8753824" y="2121336"/>
            <a:ext cx="274712" cy="2213125"/>
          </a:xfrm>
          <a:prstGeom prst="up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B1CAC1E-46CE-4B97-9AA7-90B17442F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161" y="3053973"/>
            <a:ext cx="1402202" cy="523875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975C710-4707-4EEC-AC97-E12F8DC3BE2A}"/>
                  </a:ext>
                </a:extLst>
              </p:cNvPr>
              <p:cNvSpPr/>
              <p:nvPr/>
            </p:nvSpPr>
            <p:spPr>
              <a:xfrm rot="18828456">
                <a:off x="7111201" y="2646371"/>
                <a:ext cx="1757982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r>
                        <a:rPr lang="en-US" altLang="zh-CN" sz="28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8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zh-CN" altLang="en-US" sz="28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sz="2800" b="1" dirty="0">
                  <a:solidFill>
                    <a:srgbClr val="009999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975C710-4707-4EEC-AC97-E12F8DC3B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8456">
                <a:off x="7111201" y="2646371"/>
                <a:ext cx="1757982" cy="5754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C8F297A-0047-41A7-83DD-A277EDD2667D}"/>
                  </a:ext>
                </a:extLst>
              </p:cNvPr>
              <p:cNvSpPr/>
              <p:nvPr/>
            </p:nvSpPr>
            <p:spPr>
              <a:xfrm>
                <a:off x="2943486" y="3246026"/>
                <a:ext cx="3850199" cy="1529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800" b="1" kern="0" dirty="0">
                  <a:solidFill>
                    <a:srgbClr val="009999"/>
                  </a:solidFill>
                </a:endParaRPr>
              </a:p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b="1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999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999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00999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009999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C8F297A-0047-41A7-83DD-A277EDD26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486" y="3246026"/>
                <a:ext cx="3850199" cy="1529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2642CE69-FE7A-46E0-BB36-6AFB7FAA4F60}"/>
              </a:ext>
            </a:extLst>
          </p:cNvPr>
          <p:cNvSpPr/>
          <p:nvPr/>
        </p:nvSpPr>
        <p:spPr>
          <a:xfrm>
            <a:off x="1364850" y="226403"/>
            <a:ext cx="14157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真空中</a:t>
            </a: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592D71AD-306C-47A0-B9AF-3E2702200D9A}"/>
              </a:ext>
            </a:extLst>
          </p:cNvPr>
          <p:cNvSpPr>
            <a:spLocks noChangeArrowheads="1"/>
          </p:cNvSpPr>
          <p:nvPr/>
        </p:nvSpPr>
        <p:spPr bwMode="auto">
          <a:xfrm rot="18878244">
            <a:off x="6750121" y="2236683"/>
            <a:ext cx="1230934" cy="304800"/>
          </a:xfrm>
          <a:prstGeom prst="rightArrow">
            <a:avLst>
              <a:gd name="adj1" fmla="val 50000"/>
              <a:gd name="adj2" fmla="val 75000"/>
            </a:avLst>
          </a:prstGeom>
          <a:gradFill rotWithShape="0">
            <a:gsLst>
              <a:gs pos="0">
                <a:srgbClr val="A4D6DA"/>
              </a:gs>
              <a:gs pos="50000">
                <a:srgbClr val="FFFFFF"/>
              </a:gs>
              <a:gs pos="100000">
                <a:srgbClr val="A4D6DA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 b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1565EA43-177C-4770-BF27-AB015B3F0128}"/>
              </a:ext>
            </a:extLst>
          </p:cNvPr>
          <p:cNvSpPr>
            <a:spLocks noChangeArrowheads="1"/>
          </p:cNvSpPr>
          <p:nvPr/>
        </p:nvSpPr>
        <p:spPr bwMode="auto">
          <a:xfrm rot="18870674">
            <a:off x="6978263" y="2531281"/>
            <a:ext cx="1277511" cy="304800"/>
          </a:xfrm>
          <a:prstGeom prst="leftArrow">
            <a:avLst>
              <a:gd name="adj1" fmla="val 50000"/>
              <a:gd name="adj2" fmla="val 75000"/>
            </a:avLst>
          </a:prstGeom>
          <a:gradFill rotWithShape="0">
            <a:gsLst>
              <a:gs pos="0">
                <a:srgbClr val="6464CC"/>
              </a:gs>
              <a:gs pos="50000">
                <a:srgbClr val="FFFFFF"/>
              </a:gs>
              <a:gs pos="100000">
                <a:srgbClr val="6464C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694D08CD-5968-44CC-AE42-E888B8BD6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3848" y="1486356"/>
            <a:ext cx="1402203" cy="523875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势</a:t>
            </a:r>
          </a:p>
        </p:txBody>
      </p:sp>
      <p:sp>
        <p:nvSpPr>
          <p:cNvPr id="36" name="AutoShape 7">
            <a:extLst>
              <a:ext uri="{FF2B5EF4-FFF2-40B4-BE49-F238E27FC236}">
                <a16:creationId xmlns:a16="http://schemas.microsoft.com/office/drawing/2014/main" id="{FDED2844-283C-4FA6-AF9A-C90A8FDE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63" y="3344815"/>
            <a:ext cx="1051652" cy="304800"/>
          </a:xfrm>
          <a:prstGeom prst="leftArrow">
            <a:avLst>
              <a:gd name="adj1" fmla="val 50000"/>
              <a:gd name="adj2" fmla="val 75000"/>
            </a:avLst>
          </a:prstGeom>
          <a:gradFill rotWithShape="0">
            <a:gsLst>
              <a:gs pos="0">
                <a:srgbClr val="6464CC"/>
              </a:gs>
              <a:gs pos="50000">
                <a:srgbClr val="FFFFFF"/>
              </a:gs>
              <a:gs pos="100000">
                <a:srgbClr val="6464C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 b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val 10">
            <a:extLst>
              <a:ext uri="{FF2B5EF4-FFF2-40B4-BE49-F238E27FC236}">
                <a16:creationId xmlns:a16="http://schemas.microsoft.com/office/drawing/2014/main" id="{F25A6383-A873-4EEB-ACFF-61B2EDC19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204" y="2901573"/>
            <a:ext cx="1489840" cy="9144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chemeClr val="bg1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场</a:t>
            </a:r>
          </a:p>
        </p:txBody>
      </p:sp>
      <p:sp>
        <p:nvSpPr>
          <p:cNvPr id="38" name="AutoShape 6">
            <a:extLst>
              <a:ext uri="{FF2B5EF4-FFF2-40B4-BE49-F238E27FC236}">
                <a16:creationId xmlns:a16="http://schemas.microsoft.com/office/drawing/2014/main" id="{FFB446AA-8583-40BC-B966-F40F91583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276" y="3053973"/>
            <a:ext cx="1051652" cy="304800"/>
          </a:xfrm>
          <a:prstGeom prst="rightArrow">
            <a:avLst>
              <a:gd name="adj1" fmla="val 50000"/>
              <a:gd name="adj2" fmla="val 75000"/>
            </a:avLst>
          </a:prstGeom>
          <a:gradFill rotWithShape="0">
            <a:gsLst>
              <a:gs pos="0">
                <a:srgbClr val="A4D6DA"/>
              </a:gs>
              <a:gs pos="50000">
                <a:srgbClr val="FFFFFF"/>
              </a:gs>
              <a:gs pos="100000">
                <a:srgbClr val="A4D6DA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 b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4261C21-BC75-4128-98AC-C937F5F57548}"/>
                  </a:ext>
                </a:extLst>
              </p:cNvPr>
              <p:cNvSpPr/>
              <p:nvPr/>
            </p:nvSpPr>
            <p:spPr>
              <a:xfrm>
                <a:off x="3509469" y="1870142"/>
                <a:ext cx="2928559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𝑑𝑞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4261C21-BC75-4128-98AC-C937F5F57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469" y="1870142"/>
                <a:ext cx="2928559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CA67583-D186-4871-9565-292B0B4871A3}"/>
                  </a:ext>
                </a:extLst>
              </p:cNvPr>
              <p:cNvSpPr/>
              <p:nvPr/>
            </p:nvSpPr>
            <p:spPr>
              <a:xfrm>
                <a:off x="5858384" y="916798"/>
                <a:ext cx="2404313" cy="1076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altLang="zh-CN" sz="2800" b="1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b="1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𝒑</m:t>
                          </m:r>
                        </m:sub>
                        <m:sup>
                          <m: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𝒍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9999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CA67583-D186-4871-9565-292B0B487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384" y="916798"/>
                <a:ext cx="2404313" cy="1076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Box 11">
            <a:extLst>
              <a:ext uri="{FF2B5EF4-FFF2-40B4-BE49-F238E27FC236}">
                <a16:creationId xmlns:a16="http://schemas.microsoft.com/office/drawing/2014/main" id="{4D757B22-94AC-4B6E-97EB-9CFFCCCC3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5161" y="4405736"/>
            <a:ext cx="1734623" cy="52322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势 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14B32053-C88D-48B7-BBE6-2AF10FBFFEFA}"/>
                  </a:ext>
                </a:extLst>
              </p:cNvPr>
              <p:cNvSpPr/>
              <p:nvPr/>
            </p:nvSpPr>
            <p:spPr>
              <a:xfrm>
                <a:off x="9090172" y="3053973"/>
                <a:ext cx="2617191" cy="1151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r>
                            <a:rPr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14B32053-C88D-48B7-BBE6-2AF10FBFF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172" y="3053973"/>
                <a:ext cx="2617191" cy="11517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ACC243B-469A-4B2B-AF40-924A4E080717}"/>
                  </a:ext>
                </a:extLst>
              </p:cNvPr>
              <p:cNvSpPr/>
              <p:nvPr/>
            </p:nvSpPr>
            <p:spPr>
              <a:xfrm>
                <a:off x="6495899" y="4738760"/>
                <a:ext cx="3363613" cy="13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𝓌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𝑑𝑊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ACC243B-469A-4B2B-AF40-924A4E080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899" y="4738760"/>
                <a:ext cx="3363613" cy="1319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箭头: 上下 45">
            <a:extLst>
              <a:ext uri="{FF2B5EF4-FFF2-40B4-BE49-F238E27FC236}">
                <a16:creationId xmlns:a16="http://schemas.microsoft.com/office/drawing/2014/main" id="{6305D18A-AED2-442F-B768-9C5C2D11CE27}"/>
              </a:ext>
            </a:extLst>
          </p:cNvPr>
          <p:cNvSpPr/>
          <p:nvPr/>
        </p:nvSpPr>
        <p:spPr>
          <a:xfrm rot="18219601">
            <a:off x="7195820" y="3290142"/>
            <a:ext cx="274712" cy="1716942"/>
          </a:xfrm>
          <a:prstGeom prst="up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23">
                <a:extLst>
                  <a:ext uri="{FF2B5EF4-FFF2-40B4-BE49-F238E27FC236}">
                    <a16:creationId xmlns:a16="http://schemas.microsoft.com/office/drawing/2014/main" id="{0F61F156-29B3-4C5E-A8A5-65E2C0961FE6}"/>
                  </a:ext>
                </a:extLst>
              </p:cNvPr>
              <p:cNvSpPr txBox="1"/>
              <p:nvPr/>
            </p:nvSpPr>
            <p:spPr bwMode="auto">
              <a:xfrm>
                <a:off x="8715465" y="158572"/>
                <a:ext cx="1979613" cy="1042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en-US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en-US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sz="2800" b="1" i="1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  <m:r>
                            <a:rPr lang="en-US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9999"/>
                  </a:solidFill>
                </a:endParaRPr>
              </a:p>
            </p:txBody>
          </p:sp>
        </mc:Choice>
        <mc:Fallback xmlns="">
          <p:sp>
            <p:nvSpPr>
              <p:cNvPr id="42" name="Object 23">
                <a:extLst>
                  <a:ext uri="{FF2B5EF4-FFF2-40B4-BE49-F238E27FC236}">
                    <a16:creationId xmlns:a16="http://schemas.microsoft.com/office/drawing/2014/main" id="{0F61F156-29B3-4C5E-A8A5-65E2C0961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15465" y="158572"/>
                <a:ext cx="1979613" cy="1042988"/>
              </a:xfrm>
              <a:prstGeom prst="rect">
                <a:avLst/>
              </a:prstGeom>
              <a:blipFill>
                <a:blip r:embed="rId8"/>
                <a:stretch>
                  <a:fillRect b="-116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69506285-0F56-ADFD-7D80-8A2F30B7AAE8}"/>
              </a:ext>
            </a:extLst>
          </p:cNvPr>
          <p:cNvSpPr/>
          <p:nvPr/>
        </p:nvSpPr>
        <p:spPr>
          <a:xfrm>
            <a:off x="1315156" y="1003772"/>
            <a:ext cx="14654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有导体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721FB4-A6A1-7395-BF09-1D39C233043C}"/>
              </a:ext>
            </a:extLst>
          </p:cNvPr>
          <p:cNvSpPr/>
          <p:nvPr/>
        </p:nvSpPr>
        <p:spPr>
          <a:xfrm>
            <a:off x="1291893" y="171786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有电介质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2FCD1D5-A3F0-BD38-3807-2D1158C4CA6C}"/>
                  </a:ext>
                </a:extLst>
              </p:cNvPr>
              <p:cNvSpPr/>
              <p:nvPr/>
            </p:nvSpPr>
            <p:spPr>
              <a:xfrm>
                <a:off x="3166255" y="4259215"/>
                <a:ext cx="3071543" cy="1529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800" i="1" kern="0" dirty="0">
                  <a:solidFill>
                    <a:srgbClr val="0066FF"/>
                  </a:solidFill>
                </a:endParaRPr>
              </a:p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en-US" altLang="zh-C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i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2FCD1D5-A3F0-BD38-3807-2D1158C4C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55" y="4259215"/>
                <a:ext cx="3071543" cy="15295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972793-92E5-9EF6-BF19-6EFD12CDE0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9796" y="5614655"/>
                <a:ext cx="5473700" cy="1006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⃗"/>
                        <m:ctrlP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kumimoji="1" lang="en-US" altLang="zh-CN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kumimoji="1" lang="zh-CN" altLang="en-US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kumimoji="1" lang="en-US" altLang="zh-CN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en-US" altLang="zh-CN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altLang="zh-CN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acc>
                      <m:accPr>
                        <m:chr m:val="⃗"/>
                        <m:ctrlP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endParaRPr lang="zh-CN" altLang="en-US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972793-92E5-9EF6-BF19-6EFD12CDE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6" y="5614655"/>
                <a:ext cx="5473700" cy="10064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FEBC5F4-C720-C4B3-CE89-A13E44ACC1E6}"/>
                  </a:ext>
                </a:extLst>
              </p:cNvPr>
              <p:cNvSpPr/>
              <p:nvPr/>
            </p:nvSpPr>
            <p:spPr>
              <a:xfrm>
                <a:off x="8468914" y="5607016"/>
                <a:ext cx="2306401" cy="13022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𝓌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acc>
                      <m:r>
                        <a:rPr kumimoji="1" lang="zh-CN" altLang="en-US" sz="2800" b="0" i="1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rgbClr val="009999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FEBC5F4-C720-C4B3-CE89-A13E44ACC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914" y="5607016"/>
                <a:ext cx="2306401" cy="13022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8819F07B-58E5-6FDB-9855-B087F6E31AFA}"/>
                  </a:ext>
                </a:extLst>
              </p:cNvPr>
              <p:cNvSpPr txBox="1"/>
              <p:nvPr/>
            </p:nvSpPr>
            <p:spPr bwMode="auto">
              <a:xfrm>
                <a:off x="276749" y="4182968"/>
                <a:ext cx="1828800" cy="800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8819F07B-58E5-6FDB-9855-B087F6E31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749" y="4182968"/>
                <a:ext cx="1828800" cy="800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2EE0A9AD-880F-A0E7-83D1-C9FC3C63F009}"/>
                  </a:ext>
                </a:extLst>
              </p:cNvPr>
              <p:cNvSpPr txBox="1"/>
              <p:nvPr/>
            </p:nvSpPr>
            <p:spPr bwMode="auto">
              <a:xfrm>
                <a:off x="218239" y="3621499"/>
                <a:ext cx="1762495" cy="58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静电平衡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2EE0A9AD-880F-A0E7-83D1-C9FC3C63F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239" y="3621499"/>
                <a:ext cx="1762495" cy="584200"/>
              </a:xfrm>
              <a:prstGeom prst="rect">
                <a:avLst/>
              </a:prstGeom>
              <a:blipFill>
                <a:blip r:embed="rId13"/>
                <a:stretch>
                  <a:fillRect t="-10417" r="-26990" b="-1770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C18F1A85-82FB-33CB-E485-53071BC0635E}"/>
              </a:ext>
            </a:extLst>
          </p:cNvPr>
          <p:cNvSpPr txBox="1"/>
          <p:nvPr/>
        </p:nvSpPr>
        <p:spPr>
          <a:xfrm>
            <a:off x="3296367" y="212144"/>
            <a:ext cx="1913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9999"/>
                </a:solidFill>
              </a:rPr>
              <a:t>电荷守恒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F383147-97D4-4D25-B057-D06E4340F881}"/>
                  </a:ext>
                </a:extLst>
              </p:cNvPr>
              <p:cNvSpPr/>
              <p:nvPr/>
            </p:nvSpPr>
            <p:spPr>
              <a:xfrm>
                <a:off x="10009341" y="4247952"/>
                <a:ext cx="1646540" cy="10168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009999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>
                    <a:solidFill>
                      <a:srgbClr val="009999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999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009999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9999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en-US" altLang="zh-CN" sz="2800" dirty="0">
                  <a:solidFill>
                    <a:srgbClr val="009999"/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F383147-97D4-4D25-B057-D06E4340F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341" y="4247952"/>
                <a:ext cx="1646540" cy="1016881"/>
              </a:xfrm>
              <a:prstGeom prst="rect">
                <a:avLst/>
              </a:prstGeom>
              <a:blipFill>
                <a:blip r:embed="rId14"/>
                <a:stretch>
                  <a:fillRect b="-5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3B4EFB0-BAC0-4954-B353-E286EE4EBB50}"/>
                  </a:ext>
                </a:extLst>
              </p:cNvPr>
              <p:cNvSpPr/>
              <p:nvPr/>
            </p:nvSpPr>
            <p:spPr>
              <a:xfrm>
                <a:off x="5595179" y="-267413"/>
                <a:ext cx="3157776" cy="14485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𝑑𝑞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3B4EFB0-BAC0-4954-B353-E286EE4EBB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179" y="-267413"/>
                <a:ext cx="3157776" cy="14485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5AF2F52-AFC4-4DEE-8D0E-9EA7B89227FC}"/>
                  </a:ext>
                </a:extLst>
              </p:cNvPr>
              <p:cNvSpPr/>
              <p:nvPr/>
            </p:nvSpPr>
            <p:spPr>
              <a:xfrm>
                <a:off x="9090172" y="2495585"/>
                <a:ext cx="1804468" cy="729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𝑊</m:t>
                      </m:r>
                      <m:r>
                        <a:rPr lang="en-US" altLang="zh-CN" sz="2800" b="0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𝑞</m:t>
                      </m:r>
                      <m:r>
                        <a:rPr lang="zh-CN" altLang="en-US" sz="2800" b="0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𝜑</m:t>
                      </m:r>
                      <m:r>
                        <a:rPr lang="en-US" altLang="zh-CN" sz="2800" b="0" i="1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   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9999"/>
                  </a:solidFill>
                  <a:latin typeface="Cambria Math" panose="02040503050406030204" pitchFamily="18" charset="0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5AF2F52-AFC4-4DEE-8D0E-9EA7B89227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172" y="2495585"/>
                <a:ext cx="1804468" cy="729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8">
                <a:extLst>
                  <a:ext uri="{FF2B5EF4-FFF2-40B4-BE49-F238E27FC236}">
                    <a16:creationId xmlns:a16="http://schemas.microsoft.com/office/drawing/2014/main" id="{AE548860-73AF-3E1C-FD97-56EAF88AC003}"/>
                  </a:ext>
                </a:extLst>
              </p:cNvPr>
              <p:cNvSpPr txBox="1"/>
              <p:nvPr/>
            </p:nvSpPr>
            <p:spPr bwMode="auto">
              <a:xfrm>
                <a:off x="308655" y="4874336"/>
                <a:ext cx="1752600" cy="121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Object 18">
                <a:extLst>
                  <a:ext uri="{FF2B5EF4-FFF2-40B4-BE49-F238E27FC236}">
                    <a16:creationId xmlns:a16="http://schemas.microsoft.com/office/drawing/2014/main" id="{AE548860-73AF-3E1C-FD97-56EAF88AC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655" y="4874336"/>
                <a:ext cx="1752600" cy="12192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内容占位符 3">
                <a:extLst>
                  <a:ext uri="{FF2B5EF4-FFF2-40B4-BE49-F238E27FC236}">
                    <a16:creationId xmlns:a16="http://schemas.microsoft.com/office/drawing/2014/main" id="{42AA7E64-4E11-39EE-AB1A-D53A89ED6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688" y="6231978"/>
                <a:ext cx="5696668" cy="14524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内容占位符 3">
                <a:extLst>
                  <a:ext uri="{FF2B5EF4-FFF2-40B4-BE49-F238E27FC236}">
                    <a16:creationId xmlns:a16="http://schemas.microsoft.com/office/drawing/2014/main" id="{42AA7E64-4E11-39EE-AB1A-D53A89ED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688" y="6231978"/>
                <a:ext cx="5696668" cy="145243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左大括号 19">
            <a:extLst>
              <a:ext uri="{FF2B5EF4-FFF2-40B4-BE49-F238E27FC236}">
                <a16:creationId xmlns:a16="http://schemas.microsoft.com/office/drawing/2014/main" id="{0AE505C2-759E-72C9-A66E-0725B86A01E0}"/>
              </a:ext>
            </a:extLst>
          </p:cNvPr>
          <p:cNvSpPr/>
          <p:nvPr/>
        </p:nvSpPr>
        <p:spPr>
          <a:xfrm>
            <a:off x="1030677" y="584200"/>
            <a:ext cx="253647" cy="1361440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5355B9-8917-A76A-0C37-C294A921ADB0}"/>
              </a:ext>
            </a:extLst>
          </p:cNvPr>
          <p:cNvSpPr/>
          <p:nvPr/>
        </p:nvSpPr>
        <p:spPr>
          <a:xfrm>
            <a:off x="449545" y="480090"/>
            <a:ext cx="4495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静电场</a:t>
            </a:r>
          </a:p>
        </p:txBody>
      </p:sp>
    </p:spTree>
    <p:extLst>
      <p:ext uri="{BB962C8B-B14F-4D97-AF65-F5344CB8AC3E}">
        <p14:creationId xmlns:p14="http://schemas.microsoft.com/office/powerpoint/2010/main" val="378573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" grpId="0" animBg="1"/>
      <p:bldP spid="11" grpId="0"/>
      <p:bldP spid="12" grpId="0"/>
      <p:bldP spid="14" grpId="0" animBg="1"/>
      <p:bldP spid="15" grpId="0" animBg="1"/>
      <p:bldP spid="17" grpId="0" animBg="1"/>
      <p:bldP spid="36" grpId="0" animBg="1"/>
      <p:bldP spid="37" grpId="0" animBg="1"/>
      <p:bldP spid="38" grpId="0" animBg="1"/>
      <p:bldP spid="39" grpId="0"/>
      <p:bldP spid="40" grpId="0"/>
      <p:bldP spid="41" grpId="0" animBg="1"/>
      <p:bldP spid="44" grpId="0"/>
      <p:bldP spid="45" grpId="0"/>
      <p:bldP spid="46" grpId="0" animBg="1"/>
      <p:bldP spid="42" grpId="0"/>
      <p:bldP spid="5" grpId="0"/>
      <p:bldP spid="7" grpId="0"/>
      <p:bldP spid="8" grpId="0"/>
      <p:bldP spid="10" grpId="0"/>
      <p:bldP spid="18" grpId="0"/>
      <p:bldP spid="29" grpId="0"/>
      <p:bldP spid="31" grpId="0"/>
      <p:bldP spid="3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3059EDB-36B2-78F9-F4D0-5EF126E17686}"/>
              </a:ext>
            </a:extLst>
          </p:cNvPr>
          <p:cNvSpPr txBox="1"/>
          <p:nvPr/>
        </p:nvSpPr>
        <p:spPr>
          <a:xfrm>
            <a:off x="396241" y="277564"/>
            <a:ext cx="85195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latin typeface="+mj-lt"/>
                <a:ea typeface="+mj-ea"/>
              </a:rPr>
              <a:t>一厚度为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d 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的均匀带电无限大平板，电荷体密度为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ρ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，求板内外各点的场强</a:t>
            </a:r>
            <a:r>
              <a:rPr lang="zh-CN" altLang="en-US" sz="2600" dirty="0">
                <a:latin typeface="+mj-lt"/>
                <a:ea typeface="+mj-ea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538B74-5598-49CA-E52B-F6CE339C220F}"/>
              </a:ext>
            </a:extLst>
          </p:cNvPr>
          <p:cNvSpPr/>
          <p:nvPr/>
        </p:nvSpPr>
        <p:spPr>
          <a:xfrm>
            <a:off x="9180367" y="312698"/>
            <a:ext cx="2033501" cy="755283"/>
          </a:xfrm>
          <a:prstGeom prst="rect">
            <a:avLst/>
          </a:prstGeom>
          <a:pattFill prst="pct70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00">
              <a:latin typeface="+mj-lt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052958-5B53-0BDB-D1A8-ACDC881AA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651" y="1681555"/>
            <a:ext cx="2624143" cy="19522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C4BC00B-2FF3-60FF-C5FE-5F4E8C2D0198}"/>
              </a:ext>
            </a:extLst>
          </p:cNvPr>
          <p:cNvSpPr txBox="1"/>
          <p:nvPr/>
        </p:nvSpPr>
        <p:spPr>
          <a:xfrm>
            <a:off x="620207" y="1334246"/>
            <a:ext cx="747236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latin typeface="+mj-lt"/>
                <a:ea typeface="+mj-ea"/>
              </a:rPr>
              <a:t>由于平板具有面对称性，因此产生的场强的方向与平板垂直且对称于中心面</a:t>
            </a:r>
            <a:r>
              <a:rPr lang="zh-CN" altLang="en-US" sz="2600" dirty="0">
                <a:latin typeface="+mj-lt"/>
                <a:ea typeface="+mj-ea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2E774B-0345-3607-5944-1A6209A302D7}"/>
              </a:ext>
            </a:extLst>
          </p:cNvPr>
          <p:cNvSpPr txBox="1"/>
          <p:nvPr/>
        </p:nvSpPr>
        <p:spPr>
          <a:xfrm>
            <a:off x="684501" y="2234457"/>
            <a:ext cx="76645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latin typeface="+mj-lt"/>
                <a:ea typeface="+mj-ea"/>
              </a:rPr>
              <a:t>（</a:t>
            </a:r>
            <a:r>
              <a:rPr lang="en-US" altLang="zh-CN" sz="2600" b="0" i="0" u="none" strike="noStrike" baseline="0" dirty="0">
                <a:latin typeface="+mj-lt"/>
                <a:ea typeface="+mj-ea"/>
              </a:rPr>
              <a:t>1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）在板内取</a:t>
            </a:r>
            <a:r>
              <a:rPr lang="zh-CN" altLang="en-US" sz="2600" dirty="0">
                <a:latin typeface="+mj-lt"/>
                <a:ea typeface="+mj-ea"/>
              </a:rPr>
              <a:t>如图所示高斯面， 则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电通量为</a:t>
            </a:r>
            <a:endParaRPr lang="zh-CN" altLang="en-US" sz="2600" dirty="0">
              <a:latin typeface="+mj-lt"/>
              <a:ea typeface="+mj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B398CC6-DC8A-049A-C667-D2BBE3FDF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06" y="2829152"/>
            <a:ext cx="6223389" cy="72085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1D1C7CA-E22C-020A-9E6D-E9546E448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95" y="2869711"/>
            <a:ext cx="865027" cy="45654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A4B4D52-69FC-1371-AC85-785EB4EC54A2}"/>
              </a:ext>
            </a:extLst>
          </p:cNvPr>
          <p:cNvSpPr txBox="1"/>
          <p:nvPr/>
        </p:nvSpPr>
        <p:spPr>
          <a:xfrm>
            <a:off x="553213" y="4533381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latin typeface="+mj-lt"/>
                <a:ea typeface="+mj-ea"/>
              </a:rPr>
              <a:t>根据高斯</a:t>
            </a:r>
            <a:r>
              <a:rPr lang="zh-CN" altLang="en-US" sz="2600" dirty="0">
                <a:latin typeface="+mj-lt"/>
                <a:ea typeface="+mj-ea"/>
              </a:rPr>
              <a:t>定律：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 </a:t>
            </a:r>
            <a:r>
              <a:rPr lang="el-GR" altLang="zh-CN" sz="2600" b="0" i="1" u="none" strike="noStrike" baseline="0" dirty="0">
                <a:latin typeface="+mj-lt"/>
                <a:ea typeface="+mj-ea"/>
              </a:rPr>
              <a:t>Φ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e = q/</a:t>
            </a:r>
            <a:r>
              <a:rPr lang="el-GR" altLang="zh-CN" sz="2600" b="0" i="1" u="none" strike="noStrike" baseline="0" dirty="0">
                <a:latin typeface="+mj-lt"/>
                <a:ea typeface="+mj-ea"/>
              </a:rPr>
              <a:t>ε</a:t>
            </a:r>
            <a:endParaRPr lang="zh-CN" altLang="en-US" sz="2600" dirty="0">
              <a:latin typeface="+mj-lt"/>
              <a:ea typeface="+mj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6F3D31-2011-1074-BC69-017D2C2D21BA}"/>
              </a:ext>
            </a:extLst>
          </p:cNvPr>
          <p:cNvSpPr txBox="1"/>
          <p:nvPr/>
        </p:nvSpPr>
        <p:spPr>
          <a:xfrm>
            <a:off x="4655995" y="4574350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latin typeface="+mj-lt"/>
                <a:ea typeface="+mj-ea"/>
              </a:rPr>
              <a:t>可得场强： 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E = </a:t>
            </a:r>
            <a:r>
              <a:rPr lang="el-GR" altLang="zh-CN" sz="2600" b="0" i="1" u="none" strike="noStrike" baseline="0" dirty="0">
                <a:latin typeface="+mj-lt"/>
                <a:ea typeface="+mj-ea"/>
              </a:rPr>
              <a:t>ρ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r/</a:t>
            </a:r>
            <a:r>
              <a:rPr lang="el-GR" altLang="zh-CN" sz="2600" i="1" dirty="0"/>
              <a:t> ε</a:t>
            </a:r>
            <a:r>
              <a:rPr lang="el-GR" altLang="zh-CN" sz="2600" baseline="-25000" dirty="0"/>
              <a:t>0 </a:t>
            </a:r>
            <a:r>
              <a:rPr lang="zh-CN" altLang="el-GR" sz="2600" b="0" i="0" u="none" strike="noStrike" baseline="0" dirty="0">
                <a:latin typeface="+mj-lt"/>
                <a:ea typeface="+mj-ea"/>
              </a:rPr>
              <a:t>，</a:t>
            </a:r>
            <a:r>
              <a:rPr lang="el-GR" altLang="zh-CN" sz="2600" b="0" i="0" u="none" strike="noStrike" baseline="0" dirty="0">
                <a:latin typeface="+mj-lt"/>
                <a:ea typeface="+mj-ea"/>
              </a:rPr>
              <a:t>(0≦</a:t>
            </a:r>
            <a:r>
              <a:rPr lang="en-US" altLang="zh-CN" sz="2600" b="0" i="1" u="none" strike="noStrike" baseline="0" dirty="0" err="1">
                <a:latin typeface="+mj-lt"/>
                <a:ea typeface="+mj-ea"/>
              </a:rPr>
              <a:t>r</a:t>
            </a:r>
            <a:r>
              <a:rPr lang="en-US" altLang="zh-CN" sz="2600" b="0" i="0" u="none" strike="noStrike" baseline="0" dirty="0" err="1">
                <a:latin typeface="+mj-lt"/>
                <a:ea typeface="+mj-ea"/>
              </a:rPr>
              <a:t>≦</a:t>
            </a:r>
            <a:r>
              <a:rPr lang="en-US" altLang="zh-CN" sz="2600" b="0" i="1" u="none" strike="noStrike" baseline="0" dirty="0" err="1">
                <a:latin typeface="+mj-lt"/>
                <a:ea typeface="+mj-ea"/>
              </a:rPr>
              <a:t>d</a:t>
            </a:r>
            <a:r>
              <a:rPr lang="en-US" altLang="zh-CN" sz="2600" b="0" i="0" u="none" strike="noStrike" baseline="0" dirty="0">
                <a:latin typeface="+mj-lt"/>
                <a:ea typeface="+mj-ea"/>
              </a:rPr>
              <a:t>/2)</a:t>
            </a:r>
            <a:endParaRPr lang="zh-CN" altLang="en-US" sz="2600" dirty="0">
              <a:latin typeface="+mj-lt"/>
              <a:ea typeface="+mj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BF34EB-AA5D-9170-BE58-82FA005DFFC9}"/>
              </a:ext>
            </a:extLst>
          </p:cNvPr>
          <p:cNvSpPr txBox="1"/>
          <p:nvPr/>
        </p:nvSpPr>
        <p:spPr>
          <a:xfrm>
            <a:off x="876928" y="5203771"/>
            <a:ext cx="1098968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latin typeface="+mj-lt"/>
                <a:ea typeface="+mj-ea"/>
              </a:rPr>
              <a:t>（</a:t>
            </a:r>
            <a:r>
              <a:rPr lang="en-US" altLang="zh-CN" sz="2600" b="0" i="0" u="none" strike="noStrike" baseline="0" dirty="0">
                <a:latin typeface="+mj-lt"/>
                <a:ea typeface="+mj-ea"/>
              </a:rPr>
              <a:t>2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）穿过平板作如图所示高斯面， 通过高斯面的电通量仍为  </a:t>
            </a:r>
            <a:r>
              <a:rPr lang="el-GR" altLang="zh-CN" sz="2600" b="0" i="1" u="none" strike="noStrike" baseline="0" dirty="0">
                <a:latin typeface="+mj-lt"/>
                <a:ea typeface="+mj-ea"/>
              </a:rPr>
              <a:t>Φ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e </a:t>
            </a:r>
            <a:r>
              <a:rPr lang="en-US" altLang="zh-CN" sz="2600" b="0" i="0" u="none" strike="noStrike" baseline="0" dirty="0">
                <a:latin typeface="+mj-lt"/>
                <a:ea typeface="+mj-ea"/>
              </a:rPr>
              <a:t>= 2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ES</a:t>
            </a:r>
            <a:endParaRPr lang="zh-CN" altLang="en-US" sz="2600" dirty="0">
              <a:latin typeface="+mj-lt"/>
              <a:ea typeface="+mj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373C81-77EF-34D5-6328-53C21FBF4163}"/>
              </a:ext>
            </a:extLst>
          </p:cNvPr>
          <p:cNvSpPr txBox="1"/>
          <p:nvPr/>
        </p:nvSpPr>
        <p:spPr>
          <a:xfrm>
            <a:off x="1058356" y="5930204"/>
            <a:ext cx="609686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latin typeface="+mj-lt"/>
                <a:ea typeface="+mj-ea"/>
              </a:rPr>
              <a:t>高斯面在板内的体积：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V = Sd</a:t>
            </a:r>
          </a:p>
          <a:p>
            <a:r>
              <a:rPr lang="zh-CN" altLang="en-US" sz="2600" b="0" i="0" u="none" strike="noStrike" baseline="0" dirty="0">
                <a:latin typeface="+mj-lt"/>
                <a:ea typeface="+mj-ea"/>
              </a:rPr>
              <a:t>包含的</a:t>
            </a:r>
            <a:r>
              <a:rPr lang="zh-CN" altLang="en-US" sz="2600" dirty="0">
                <a:latin typeface="+mj-lt"/>
                <a:ea typeface="+mj-ea"/>
              </a:rPr>
              <a:t>电荷数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： 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q =</a:t>
            </a:r>
            <a:r>
              <a:rPr lang="en-US" altLang="zh-CN" sz="2600" b="0" i="1" u="none" strike="noStrike" baseline="0" dirty="0" err="1">
                <a:latin typeface="+mj-lt"/>
                <a:ea typeface="+mj-ea"/>
              </a:rPr>
              <a:t>ρV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 = </a:t>
            </a:r>
            <a:r>
              <a:rPr lang="en-US" altLang="zh-CN" sz="2600" b="0" i="1" u="none" strike="noStrike" baseline="0" dirty="0" err="1">
                <a:latin typeface="+mj-lt"/>
                <a:ea typeface="+mj-ea"/>
              </a:rPr>
              <a:t>ρSd</a:t>
            </a:r>
            <a:endParaRPr lang="zh-CN" altLang="en-US" sz="2600" dirty="0">
              <a:latin typeface="+mj-lt"/>
              <a:ea typeface="+mj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CD91AF-CC6F-DF44-C607-742CC0C1CBE4}"/>
              </a:ext>
            </a:extLst>
          </p:cNvPr>
          <p:cNvSpPr txBox="1"/>
          <p:nvPr/>
        </p:nvSpPr>
        <p:spPr>
          <a:xfrm>
            <a:off x="6594793" y="6150920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latin typeface="+mj-lt"/>
                <a:ea typeface="+mj-ea"/>
              </a:rPr>
              <a:t>可得场强： 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E = </a:t>
            </a:r>
            <a:r>
              <a:rPr lang="el-GR" altLang="zh-CN" sz="2600" b="0" i="1" u="none" strike="noStrike" baseline="0" dirty="0">
                <a:latin typeface="+mj-lt"/>
                <a:ea typeface="+mj-ea"/>
              </a:rPr>
              <a:t>ρ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d</a:t>
            </a:r>
            <a:r>
              <a:rPr lang="en-US" altLang="zh-CN" sz="2600" b="0" i="0" u="none" strike="noStrike" baseline="0" dirty="0">
                <a:latin typeface="+mj-lt"/>
                <a:ea typeface="+mj-ea"/>
              </a:rPr>
              <a:t>/2</a:t>
            </a:r>
            <a:r>
              <a:rPr lang="el-GR" altLang="zh-CN" sz="2600" b="0" i="1" u="none" strike="noStrike" baseline="0" dirty="0">
                <a:latin typeface="+mj-lt"/>
                <a:ea typeface="+mj-ea"/>
              </a:rPr>
              <a:t>ε</a:t>
            </a:r>
            <a:r>
              <a:rPr lang="el-GR" altLang="zh-CN" sz="2600" b="0" i="0" u="none" strike="noStrike" baseline="-25000" dirty="0">
                <a:latin typeface="+mj-lt"/>
                <a:ea typeface="+mj-ea"/>
              </a:rPr>
              <a:t>0</a:t>
            </a:r>
            <a:r>
              <a:rPr lang="zh-CN" altLang="el-GR" sz="2600" b="0" i="0" u="none" strike="noStrike" baseline="0" dirty="0">
                <a:latin typeface="+mj-lt"/>
                <a:ea typeface="+mj-ea"/>
              </a:rPr>
              <a:t>，</a:t>
            </a:r>
            <a:r>
              <a:rPr lang="el-GR" altLang="zh-CN" sz="2600" b="0" i="0" u="none" strike="noStrike" baseline="0" dirty="0">
                <a:latin typeface="+mj-lt"/>
                <a:ea typeface="+mj-ea"/>
              </a:rPr>
              <a:t>(</a:t>
            </a:r>
            <a:r>
              <a:rPr lang="en-US" altLang="zh-CN" sz="2600" b="0" i="1" u="none" strike="noStrike" baseline="0" dirty="0" err="1">
                <a:latin typeface="+mj-lt"/>
                <a:ea typeface="+mj-ea"/>
              </a:rPr>
              <a:t>r</a:t>
            </a:r>
            <a:r>
              <a:rPr lang="en-US" altLang="zh-CN" sz="2600" b="0" i="0" u="none" strike="noStrike" baseline="0" dirty="0" err="1">
                <a:latin typeface="+mj-lt"/>
                <a:ea typeface="+mj-ea"/>
              </a:rPr>
              <a:t>≧</a:t>
            </a:r>
            <a:r>
              <a:rPr lang="en-US" altLang="zh-CN" sz="2600" b="0" i="1" u="none" strike="noStrike" baseline="0" dirty="0" err="1">
                <a:latin typeface="+mj-lt"/>
                <a:ea typeface="+mj-ea"/>
              </a:rPr>
              <a:t>d</a:t>
            </a:r>
            <a:r>
              <a:rPr lang="en-US" altLang="zh-CN" sz="2600" b="0" i="0" u="none" strike="noStrike" baseline="0" dirty="0">
                <a:latin typeface="+mj-lt"/>
                <a:ea typeface="+mj-ea"/>
              </a:rPr>
              <a:t>/2)</a:t>
            </a:r>
            <a:endParaRPr lang="zh-CN" altLang="en-US" sz="2600" dirty="0">
              <a:latin typeface="+mj-lt"/>
              <a:ea typeface="+mj-ea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1AEF6C3-7259-8918-4B0D-8FA790CE81B2}"/>
              </a:ext>
            </a:extLst>
          </p:cNvPr>
          <p:cNvCxnSpPr>
            <a:stCxn id="3" idx="3"/>
          </p:cNvCxnSpPr>
          <p:nvPr/>
        </p:nvCxnSpPr>
        <p:spPr>
          <a:xfrm flipV="1">
            <a:off x="8915749" y="690339"/>
            <a:ext cx="2696092" cy="335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1F2C909-00E5-7CA3-847F-742FE555A502}"/>
              </a:ext>
            </a:extLst>
          </p:cNvPr>
          <p:cNvSpPr txBox="1"/>
          <p:nvPr/>
        </p:nvSpPr>
        <p:spPr>
          <a:xfrm>
            <a:off x="9196603" y="3465212"/>
            <a:ext cx="19002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>
                <a:latin typeface="+mj-lt"/>
                <a:ea typeface="+mj-ea"/>
              </a:rPr>
              <a:t>E = E'</a:t>
            </a:r>
            <a:endParaRPr lang="zh-CN" altLang="en-US" sz="2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B755FFA-BEB9-C6BC-D364-B89B4B79E310}"/>
              </a:ext>
            </a:extLst>
          </p:cNvPr>
          <p:cNvSpPr txBox="1"/>
          <p:nvPr/>
        </p:nvSpPr>
        <p:spPr>
          <a:xfrm>
            <a:off x="1013427" y="3820940"/>
            <a:ext cx="44542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i="0" u="none" strike="noStrike" baseline="0" dirty="0">
                <a:latin typeface="+mj-lt"/>
                <a:ea typeface="+mj-ea"/>
              </a:rPr>
              <a:t>高斯面内的体积</a:t>
            </a:r>
            <a:r>
              <a:rPr lang="en-US" altLang="zh-CN" sz="2600" i="0" u="none" strike="noStrike" baseline="0" dirty="0">
                <a:latin typeface="+mj-lt"/>
                <a:ea typeface="+mj-ea"/>
              </a:rPr>
              <a:t>:</a:t>
            </a:r>
            <a:r>
              <a:rPr lang="zh-CN" altLang="en-US" sz="2600" i="0" u="none" strike="noStrike" baseline="0" dirty="0">
                <a:latin typeface="+mj-lt"/>
                <a:ea typeface="+mj-ea"/>
              </a:rPr>
              <a:t> </a:t>
            </a:r>
            <a:r>
              <a:rPr lang="en-US" altLang="zh-CN" sz="2600" i="1" u="none" strike="noStrike" baseline="0" dirty="0">
                <a:latin typeface="+mj-lt"/>
                <a:ea typeface="+mj-ea"/>
              </a:rPr>
              <a:t>V </a:t>
            </a:r>
            <a:r>
              <a:rPr lang="en-US" altLang="zh-CN" sz="2600" i="0" u="none" strike="noStrike" baseline="0" dirty="0">
                <a:latin typeface="+mj-lt"/>
                <a:ea typeface="+mj-ea"/>
              </a:rPr>
              <a:t>= 2</a:t>
            </a:r>
            <a:r>
              <a:rPr lang="en-US" altLang="zh-CN" sz="2600" i="1" u="none" strike="noStrike" baseline="0" dirty="0">
                <a:latin typeface="+mj-lt"/>
                <a:ea typeface="+mj-ea"/>
              </a:rPr>
              <a:t>rS</a:t>
            </a:r>
            <a:endParaRPr lang="zh-CN" altLang="en-US" sz="2600" dirty="0">
              <a:latin typeface="+mj-lt"/>
              <a:ea typeface="+mj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A59B8F-6273-B47F-CAF4-D9918D58BECA}"/>
              </a:ext>
            </a:extLst>
          </p:cNvPr>
          <p:cNvSpPr txBox="1"/>
          <p:nvPr/>
        </p:nvSpPr>
        <p:spPr>
          <a:xfrm>
            <a:off x="4953789" y="3806948"/>
            <a:ext cx="44028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i="0" u="none" strike="noStrike" baseline="0" dirty="0">
                <a:latin typeface="+mj-lt"/>
                <a:ea typeface="+mj-ea"/>
              </a:rPr>
              <a:t>包含的电荷数</a:t>
            </a:r>
            <a:r>
              <a:rPr lang="en-US" altLang="zh-CN" sz="2600" i="0" u="none" strike="noStrike" baseline="0" dirty="0">
                <a:latin typeface="+mj-lt"/>
                <a:ea typeface="+mj-ea"/>
              </a:rPr>
              <a:t>:</a:t>
            </a:r>
            <a:r>
              <a:rPr lang="zh-CN" altLang="en-US" sz="2600" i="0" u="none" strike="noStrike" baseline="0" dirty="0">
                <a:latin typeface="+mj-lt"/>
                <a:ea typeface="+mj-ea"/>
              </a:rPr>
              <a:t> </a:t>
            </a:r>
            <a:r>
              <a:rPr lang="en-US" altLang="zh-CN" sz="2600" i="1" u="none" strike="noStrike" baseline="0" dirty="0">
                <a:latin typeface="+mj-lt"/>
                <a:ea typeface="+mj-ea"/>
              </a:rPr>
              <a:t>q =</a:t>
            </a:r>
            <a:r>
              <a:rPr lang="en-US" altLang="zh-CN" sz="2600" i="1" u="none" strike="noStrike" baseline="0" dirty="0" err="1">
                <a:latin typeface="+mj-lt"/>
                <a:ea typeface="+mj-ea"/>
              </a:rPr>
              <a:t>ρV</a:t>
            </a:r>
            <a:r>
              <a:rPr lang="en-US" altLang="zh-CN" sz="2600" i="1" u="none" strike="noStrike" baseline="0" dirty="0">
                <a:latin typeface="+mj-lt"/>
                <a:ea typeface="+mj-ea"/>
              </a:rPr>
              <a:t> </a:t>
            </a:r>
            <a:r>
              <a:rPr lang="en-US" altLang="zh-CN" sz="2600" i="0" u="none" strike="noStrike" baseline="0" dirty="0">
                <a:latin typeface="+mj-lt"/>
                <a:ea typeface="+mj-ea"/>
              </a:rPr>
              <a:t>= 2</a:t>
            </a:r>
            <a:r>
              <a:rPr lang="en-US" altLang="zh-CN" sz="2600" i="1" u="none" strike="noStrike" baseline="0" dirty="0">
                <a:latin typeface="+mj-lt"/>
                <a:ea typeface="+mj-ea"/>
              </a:rPr>
              <a:t>ρrS</a:t>
            </a:r>
            <a:endParaRPr lang="zh-CN" altLang="en-US" sz="26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90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8" grpId="0"/>
      <p:bldP spid="20" grpId="0"/>
      <p:bldP spid="22" grpId="0"/>
      <p:bldP spid="24" grpId="0"/>
      <p:bldP spid="26" grpId="0"/>
      <p:bldP spid="30" grpId="0"/>
      <p:bldP spid="31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3059EDB-36B2-78F9-F4D0-5EF126E17686}"/>
              </a:ext>
            </a:extLst>
          </p:cNvPr>
          <p:cNvSpPr txBox="1"/>
          <p:nvPr/>
        </p:nvSpPr>
        <p:spPr>
          <a:xfrm>
            <a:off x="396241" y="277564"/>
            <a:ext cx="85195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latin typeface="+mj-lt"/>
                <a:ea typeface="+mj-ea"/>
              </a:rPr>
              <a:t>一厚度为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d 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的均匀带电无限大平板，电荷体密度为</a:t>
            </a:r>
            <a:r>
              <a:rPr lang="en-US" altLang="zh-CN" sz="2600" b="0" i="1" u="none" strike="noStrike" baseline="0" dirty="0">
                <a:latin typeface="+mj-lt"/>
                <a:ea typeface="+mj-ea"/>
              </a:rPr>
              <a:t>ρ</a:t>
            </a:r>
            <a:r>
              <a:rPr lang="zh-CN" altLang="en-US" sz="2600" b="0" i="0" u="none" strike="noStrike" baseline="0" dirty="0">
                <a:latin typeface="+mj-lt"/>
                <a:ea typeface="+mj-ea"/>
              </a:rPr>
              <a:t>，求板内外各点的场强</a:t>
            </a:r>
            <a:r>
              <a:rPr lang="zh-CN" altLang="en-US" sz="2600" dirty="0">
                <a:latin typeface="+mj-lt"/>
                <a:ea typeface="+mj-ea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538B74-5598-49CA-E52B-F6CE339C220F}"/>
              </a:ext>
            </a:extLst>
          </p:cNvPr>
          <p:cNvSpPr/>
          <p:nvPr/>
        </p:nvSpPr>
        <p:spPr>
          <a:xfrm>
            <a:off x="9180367" y="312698"/>
            <a:ext cx="2033501" cy="755283"/>
          </a:xfrm>
          <a:prstGeom prst="rect">
            <a:avLst/>
          </a:prstGeom>
          <a:pattFill prst="pct70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00">
              <a:latin typeface="+mj-lt"/>
              <a:ea typeface="+mj-ea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1AEF6C3-7259-8918-4B0D-8FA790CE81B2}"/>
              </a:ext>
            </a:extLst>
          </p:cNvPr>
          <p:cNvCxnSpPr>
            <a:stCxn id="3" idx="3"/>
          </p:cNvCxnSpPr>
          <p:nvPr/>
        </p:nvCxnSpPr>
        <p:spPr>
          <a:xfrm flipV="1">
            <a:off x="8915749" y="690339"/>
            <a:ext cx="2696092" cy="335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01EC70AF-0054-DA18-193F-B4A6A1EFE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229" y="1468237"/>
            <a:ext cx="3515114" cy="21969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76CD631-CA31-58DD-3F90-FAB5AC6CB759}"/>
              </a:ext>
            </a:extLst>
          </p:cNvPr>
          <p:cNvSpPr txBox="1"/>
          <p:nvPr/>
        </p:nvSpPr>
        <p:spPr>
          <a:xfrm>
            <a:off x="565438" y="1375969"/>
            <a:ext cx="80446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/>
              <a:t>在下面板中取一薄层</a:t>
            </a:r>
            <a:r>
              <a:rPr lang="en-US" altLang="zh-CN" sz="2600" b="0" i="0" u="none" strike="noStrike" baseline="0" dirty="0" err="1"/>
              <a:t>d</a:t>
            </a:r>
            <a:r>
              <a:rPr lang="en-US" altLang="zh-CN" sz="2600" b="0" i="1" u="none" strike="noStrike" baseline="0" dirty="0" err="1"/>
              <a:t>y</a:t>
            </a:r>
            <a:r>
              <a:rPr lang="zh-CN" altLang="en-US" sz="2600" b="0" i="0" u="none" strike="noStrike" baseline="0" dirty="0"/>
              <a:t>，面电荷密度为</a:t>
            </a:r>
            <a:r>
              <a:rPr lang="en-US" altLang="zh-CN" sz="2600" b="0" i="0" u="none" strike="noStrike" baseline="0" dirty="0"/>
              <a:t>d</a:t>
            </a:r>
            <a:r>
              <a:rPr lang="el-GR" altLang="zh-CN" sz="2600" b="0" i="1" u="none" strike="noStrike" baseline="0" dirty="0"/>
              <a:t>σ </a:t>
            </a:r>
            <a:r>
              <a:rPr lang="el-GR" altLang="zh-CN" sz="2600" b="0" i="0" u="none" strike="noStrike" baseline="0" dirty="0"/>
              <a:t>= </a:t>
            </a:r>
            <a:r>
              <a:rPr lang="el-GR" altLang="zh-CN" sz="2600" b="0" i="1" u="none" strike="noStrike" baseline="0" dirty="0"/>
              <a:t>ρ</a:t>
            </a:r>
            <a:r>
              <a:rPr lang="en-US" altLang="zh-CN" sz="2600" b="0" i="0" u="none" strike="noStrike" baseline="0" dirty="0" err="1"/>
              <a:t>d</a:t>
            </a:r>
            <a:r>
              <a:rPr lang="en-US" altLang="zh-CN" sz="2600" b="0" i="1" u="none" strike="noStrike" baseline="0" dirty="0" err="1"/>
              <a:t>y</a:t>
            </a:r>
            <a:endParaRPr lang="zh-CN" altLang="en-US" sz="2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EF0C57-6DEA-B33A-EBA7-90BD863BBE05}"/>
              </a:ext>
            </a:extLst>
          </p:cNvPr>
          <p:cNvSpPr txBox="1"/>
          <p:nvPr/>
        </p:nvSpPr>
        <p:spPr>
          <a:xfrm>
            <a:off x="922986" y="202259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产生的场强为 </a:t>
            </a:r>
            <a:r>
              <a:rPr lang="en-US" altLang="zh-CN" sz="2600" b="0" i="0" u="none" strike="noStrike" baseline="0" dirty="0"/>
              <a:t>d</a:t>
            </a:r>
            <a:r>
              <a:rPr lang="en-US" altLang="zh-CN" sz="2600" b="0" i="1" u="none" strike="noStrike" baseline="0" dirty="0"/>
              <a:t>E</a:t>
            </a:r>
            <a:r>
              <a:rPr lang="en-US" altLang="zh-CN" sz="2600" b="0" i="0" u="none" strike="noStrike" baseline="-25000" dirty="0"/>
              <a:t>1</a:t>
            </a:r>
            <a:r>
              <a:rPr lang="en-US" altLang="zh-CN" sz="2600" b="0" i="0" u="none" strike="noStrike" baseline="0" dirty="0"/>
              <a:t> = </a:t>
            </a:r>
            <a:r>
              <a:rPr lang="en-US" altLang="zh-CN" sz="2600" b="0" i="0" u="none" strike="noStrike" baseline="0" dirty="0" err="1"/>
              <a:t>d</a:t>
            </a:r>
            <a:r>
              <a:rPr lang="en-US" altLang="zh-CN" sz="2600" b="0" i="1" u="none" strike="noStrike" baseline="0" dirty="0" err="1"/>
              <a:t>σ</a:t>
            </a:r>
            <a:r>
              <a:rPr lang="en-US" altLang="zh-CN" sz="2600" b="0" i="0" u="none" strike="noStrike" baseline="0" dirty="0"/>
              <a:t>/2</a:t>
            </a:r>
            <a:r>
              <a:rPr lang="el-GR" altLang="zh-CN" sz="2600" i="1" dirty="0"/>
              <a:t> ε</a:t>
            </a:r>
            <a:r>
              <a:rPr lang="el-GR" altLang="zh-CN" sz="2600" baseline="-25000" dirty="0"/>
              <a:t>0</a:t>
            </a:r>
            <a:endParaRPr lang="zh-CN" altLang="en-US" sz="2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DA457E-9D6B-77A1-E54D-70BF9741BCCB}"/>
              </a:ext>
            </a:extLst>
          </p:cNvPr>
          <p:cNvSpPr txBox="1"/>
          <p:nvPr/>
        </p:nvSpPr>
        <p:spPr>
          <a:xfrm>
            <a:off x="783772" y="324733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薄层下面电荷产生电场</a:t>
            </a:r>
            <a:r>
              <a:rPr lang="zh-CN" altLang="en-US" sz="2600" dirty="0"/>
              <a:t>：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AFF9911-A20F-C7DB-5645-F09947439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2927519"/>
            <a:ext cx="3665797" cy="100296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6DB9C40-73CE-DE0C-A15D-AE6259E3F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696" y="4039054"/>
            <a:ext cx="3739204" cy="100597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B2378A47-C2CA-7DD0-2581-28AA9D14FDA9}"/>
              </a:ext>
            </a:extLst>
          </p:cNvPr>
          <p:cNvSpPr txBox="1"/>
          <p:nvPr/>
        </p:nvSpPr>
        <p:spPr>
          <a:xfrm>
            <a:off x="1475426" y="5154076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/>
              <a:t>r </a:t>
            </a:r>
            <a:r>
              <a:rPr lang="zh-CN" altLang="en-US" sz="2600" b="0" i="0" u="none" strike="noStrike" baseline="0" dirty="0"/>
              <a:t>处的总场强为</a:t>
            </a:r>
            <a:r>
              <a:rPr lang="en-US" altLang="zh-CN" sz="2600" b="0" i="1" u="none" strike="noStrike" baseline="0" dirty="0"/>
              <a:t>E = </a:t>
            </a:r>
            <a:r>
              <a:rPr lang="en-US" altLang="zh-CN" sz="2600" i="1" dirty="0"/>
              <a:t>E</a:t>
            </a:r>
            <a:r>
              <a:rPr lang="en-US" altLang="zh-CN" sz="2600" baseline="-25000" dirty="0"/>
              <a:t>1</a:t>
            </a:r>
            <a:r>
              <a:rPr lang="en-US" altLang="zh-CN" sz="2600" b="0" i="0" u="none" strike="noStrike" baseline="0" dirty="0"/>
              <a:t>-</a:t>
            </a:r>
            <a:r>
              <a:rPr lang="en-US" altLang="zh-CN" sz="2600" i="1" dirty="0"/>
              <a:t>E</a:t>
            </a:r>
            <a:r>
              <a:rPr lang="en-US" altLang="zh-CN" sz="2600" baseline="-25000" dirty="0"/>
              <a:t>2</a:t>
            </a:r>
            <a:r>
              <a:rPr lang="en-US" altLang="zh-CN" sz="2600" b="0" i="0" u="none" strike="noStrike" baseline="0" dirty="0"/>
              <a:t> = </a:t>
            </a:r>
            <a:r>
              <a:rPr lang="el-GR" altLang="zh-CN" sz="2600" b="0" i="1" u="none" strike="noStrike" baseline="0" dirty="0"/>
              <a:t>ρ</a:t>
            </a:r>
            <a:r>
              <a:rPr lang="en-US" altLang="zh-CN" sz="2600" b="0" i="1" u="none" strike="noStrike" baseline="0" dirty="0"/>
              <a:t>r/</a:t>
            </a:r>
            <a:r>
              <a:rPr lang="el-GR" altLang="zh-CN" sz="2600" i="1" dirty="0"/>
              <a:t> ε</a:t>
            </a:r>
            <a:r>
              <a:rPr lang="el-GR" altLang="zh-CN" sz="2600" baseline="-25000" dirty="0"/>
              <a:t>0</a:t>
            </a:r>
            <a:endParaRPr lang="zh-CN" altLang="en-US" sz="2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4C085D5-5460-9622-C8A1-ABF320F322DC}"/>
              </a:ext>
            </a:extLst>
          </p:cNvPr>
          <p:cNvSpPr txBox="1"/>
          <p:nvPr/>
        </p:nvSpPr>
        <p:spPr>
          <a:xfrm>
            <a:off x="734084" y="265001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2600" b="0" i="0" u="none" strike="noStrike" baseline="0" dirty="0"/>
              <a:t>0≦</a:t>
            </a:r>
            <a:r>
              <a:rPr lang="en-US" altLang="zh-CN" sz="2600" b="0" i="1" u="none" strike="noStrike" baseline="0" dirty="0" err="1"/>
              <a:t>r</a:t>
            </a:r>
            <a:r>
              <a:rPr lang="en-US" altLang="zh-CN" sz="2600" b="0" i="0" u="none" strike="noStrike" baseline="0" dirty="0" err="1"/>
              <a:t>≦</a:t>
            </a:r>
            <a:r>
              <a:rPr lang="en-US" altLang="zh-CN" sz="2600" b="0" i="1" u="none" strike="noStrike" baseline="0" dirty="0" err="1"/>
              <a:t>d</a:t>
            </a:r>
            <a:r>
              <a:rPr lang="en-US" altLang="zh-CN" sz="2600" b="0" i="0" u="none" strike="noStrike" baseline="0" dirty="0"/>
              <a:t>/2</a:t>
            </a:r>
            <a:r>
              <a:rPr lang="zh-CN" altLang="en-US" sz="2600" dirty="0"/>
              <a:t>时：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56AA70D-0E50-4AFA-A1FB-3E681154A07B}"/>
              </a:ext>
            </a:extLst>
          </p:cNvPr>
          <p:cNvSpPr txBox="1"/>
          <p:nvPr/>
        </p:nvSpPr>
        <p:spPr>
          <a:xfrm>
            <a:off x="1043132" y="5926417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 err="1"/>
              <a:t>r</a:t>
            </a:r>
            <a:r>
              <a:rPr lang="en-US" altLang="zh-CN" sz="2600" b="0" i="0" u="none" strike="noStrike" baseline="0" dirty="0" err="1"/>
              <a:t>≧</a:t>
            </a:r>
            <a:r>
              <a:rPr lang="en-US" altLang="zh-CN" sz="2600" b="0" i="1" u="none" strike="noStrike" baseline="0" dirty="0" err="1"/>
              <a:t>d</a:t>
            </a:r>
            <a:r>
              <a:rPr lang="en-US" altLang="zh-CN" sz="2600" b="0" i="0" u="none" strike="noStrike" baseline="0" dirty="0"/>
              <a:t>/2</a:t>
            </a:r>
            <a:r>
              <a:rPr lang="zh-CN" altLang="en-US" sz="2600" b="0" i="0" u="none" strike="noStrike" baseline="0" dirty="0"/>
              <a:t>时：</a:t>
            </a:r>
            <a:endParaRPr lang="zh-CN" altLang="en-US" sz="26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5865A4B-CD59-2EB5-9D22-29610F72519B}"/>
              </a:ext>
            </a:extLst>
          </p:cNvPr>
          <p:cNvSpPr txBox="1"/>
          <p:nvPr/>
        </p:nvSpPr>
        <p:spPr>
          <a:xfrm>
            <a:off x="5052869" y="6002316"/>
            <a:ext cx="15602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0" u="none" strike="noStrike" baseline="0" dirty="0"/>
              <a:t>= </a:t>
            </a:r>
            <a:r>
              <a:rPr lang="el-GR" altLang="zh-CN" sz="2600" b="0" i="1" u="none" strike="noStrike" baseline="0" dirty="0"/>
              <a:t>ρ</a:t>
            </a:r>
            <a:r>
              <a:rPr lang="en-US" altLang="zh-CN" sz="2600" b="0" i="1" u="none" strike="noStrike" baseline="0" dirty="0"/>
              <a:t>d</a:t>
            </a:r>
            <a:r>
              <a:rPr lang="en-US" altLang="zh-CN" sz="2600" b="0" i="0" u="none" strike="noStrike" baseline="0" dirty="0"/>
              <a:t>/2</a:t>
            </a:r>
            <a:r>
              <a:rPr lang="el-GR" altLang="zh-CN" sz="2600" i="1" dirty="0"/>
              <a:t> ε</a:t>
            </a:r>
            <a:r>
              <a:rPr lang="el-GR" altLang="zh-CN" sz="2600" baseline="-25000" dirty="0"/>
              <a:t>0</a:t>
            </a:r>
            <a:endParaRPr lang="zh-CN" altLang="en-US" sz="2600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3A0BC4E-C768-8C9E-2B34-754FAB0E3C96}"/>
              </a:ext>
            </a:extLst>
          </p:cNvPr>
          <p:cNvGrpSpPr/>
          <p:nvPr/>
        </p:nvGrpSpPr>
        <p:grpSpPr>
          <a:xfrm>
            <a:off x="2984269" y="5722418"/>
            <a:ext cx="2068600" cy="1095247"/>
            <a:chOff x="3462397" y="5786812"/>
            <a:chExt cx="2068600" cy="1095247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0F9AD3F7-1509-8761-B064-AF1AAB21D9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9187"/>
            <a:stretch/>
          </p:blipFill>
          <p:spPr>
            <a:xfrm>
              <a:off x="3462397" y="5786812"/>
              <a:ext cx="2068600" cy="1095247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53C0339E-8DB6-95ED-7CA8-DF765FACC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35373" y="6627557"/>
              <a:ext cx="576106" cy="230443"/>
            </a:xfrm>
            <a:prstGeom prst="rect">
              <a:avLst/>
            </a:prstGeom>
          </p:spPr>
        </p:pic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8B214F0D-1063-6DF8-C9FF-8723B224CF00}"/>
              </a:ext>
            </a:extLst>
          </p:cNvPr>
          <p:cNvSpPr txBox="1"/>
          <p:nvPr/>
        </p:nvSpPr>
        <p:spPr>
          <a:xfrm>
            <a:off x="783772" y="4049601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薄层上面电荷产生电场</a:t>
            </a:r>
            <a:r>
              <a:rPr lang="zh-CN" altLang="en-US" sz="2600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05979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29" grpId="0"/>
      <p:bldP spid="36" grpId="0"/>
      <p:bldP spid="38" grpId="0"/>
      <p:bldP spid="41" grpId="0"/>
      <p:bldP spid="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1E1359-64D7-2701-9AC1-7EA0E340BD5C}"/>
              </a:ext>
            </a:extLst>
          </p:cNvPr>
          <p:cNvSpPr txBox="1"/>
          <p:nvPr/>
        </p:nvSpPr>
        <p:spPr>
          <a:xfrm>
            <a:off x="395288" y="332478"/>
            <a:ext cx="103090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三块平行金属板</a:t>
            </a:r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和</a:t>
            </a:r>
            <a:r>
              <a:rPr lang="en-US" altLang="zh-CN" sz="2600" b="0" i="1" u="none" strike="noStrike" baseline="0" dirty="0">
                <a:ea typeface="+mj-ea"/>
              </a:rPr>
              <a:t>C</a:t>
            </a:r>
            <a:r>
              <a:rPr lang="zh-CN" altLang="en-US" sz="2600" b="0" i="0" u="none" strike="noStrike" baseline="0" dirty="0">
                <a:ea typeface="+mj-ea"/>
              </a:rPr>
              <a:t>，面积都是</a:t>
            </a:r>
            <a:r>
              <a:rPr lang="en-US" altLang="zh-CN" sz="2600" b="0" i="1" u="none" strike="noStrike" baseline="0" dirty="0">
                <a:ea typeface="+mj-ea"/>
              </a:rPr>
              <a:t>S </a:t>
            </a:r>
            <a:r>
              <a:rPr lang="en-US" altLang="zh-CN" sz="2600" b="0" i="0" u="none" strike="noStrike" baseline="0" dirty="0">
                <a:ea typeface="+mj-ea"/>
              </a:rPr>
              <a:t>= 100 cm</a:t>
            </a:r>
            <a:r>
              <a:rPr lang="en-US" altLang="zh-CN" sz="2600" b="0" i="0" u="none" strike="noStrike" baseline="30000" dirty="0">
                <a:ea typeface="+mj-ea"/>
              </a:rPr>
              <a:t>2</a:t>
            </a:r>
            <a:r>
              <a:rPr lang="zh-CN" altLang="en-US" sz="2600" b="0" i="0" u="none" strike="noStrike" baseline="0" dirty="0">
                <a:ea typeface="+mj-ea"/>
              </a:rPr>
              <a:t>，</a:t>
            </a:r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相距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aseline="-25000" dirty="0"/>
              <a:t> 1</a:t>
            </a:r>
            <a:r>
              <a:rPr lang="en-US" altLang="zh-CN" sz="2600" b="0" i="0" u="none" strike="noStrike" baseline="0" dirty="0">
                <a:ea typeface="+mj-ea"/>
              </a:rPr>
              <a:t> = 2mm</a:t>
            </a:r>
            <a:r>
              <a:rPr lang="zh-CN" altLang="en-US" sz="2600" b="0" i="0" u="none" strike="noStrike" baseline="0" dirty="0">
                <a:ea typeface="+mj-ea"/>
              </a:rPr>
              <a:t>，</a:t>
            </a:r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相距</a:t>
            </a:r>
            <a:r>
              <a:rPr lang="en-US" altLang="zh-CN" sz="2600" b="0" i="0" u="none" strike="noStrike" baseline="0" dirty="0">
                <a:ea typeface="+mj-ea"/>
              </a:rPr>
              <a:t>d</a:t>
            </a:r>
            <a:r>
              <a:rPr lang="en-US" altLang="zh-CN" sz="2600" baseline="-25000" dirty="0"/>
              <a:t> 2</a:t>
            </a:r>
            <a:r>
              <a:rPr lang="en-US" altLang="zh-CN" sz="2600" b="0" i="0" u="none" strike="noStrike" baseline="0" dirty="0">
                <a:ea typeface="+mj-ea"/>
              </a:rPr>
              <a:t> = 4mm</a:t>
            </a:r>
            <a:r>
              <a:rPr lang="zh-CN" altLang="en-US" sz="2600" b="0" i="0" u="none" strike="noStrike" baseline="0" dirty="0">
                <a:ea typeface="+mj-ea"/>
              </a:rPr>
              <a:t>，</a:t>
            </a:r>
          </a:p>
          <a:p>
            <a:pPr algn="l"/>
            <a:r>
              <a:rPr lang="en-US" altLang="zh-CN" sz="2600" b="0" i="1" u="none" strike="noStrike" baseline="0" dirty="0">
                <a:ea typeface="+mj-ea"/>
              </a:rPr>
              <a:t>B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接地，</a:t>
            </a:r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板带有正电荷</a:t>
            </a:r>
            <a:r>
              <a:rPr lang="en-US" altLang="zh-CN" sz="2600" b="0" i="1" u="none" strike="noStrike" baseline="0" dirty="0">
                <a:ea typeface="+mj-ea"/>
              </a:rPr>
              <a:t>q </a:t>
            </a:r>
            <a:r>
              <a:rPr lang="en-US" altLang="zh-CN" sz="2600" b="0" i="0" u="none" strike="noStrike" baseline="0" dirty="0">
                <a:ea typeface="+mj-ea"/>
              </a:rPr>
              <a:t>= 3×10</a:t>
            </a:r>
            <a:r>
              <a:rPr lang="en-US" altLang="zh-CN" sz="2600" b="0" i="0" u="none" strike="noStrike" baseline="30000" dirty="0">
                <a:ea typeface="+mj-ea"/>
              </a:rPr>
              <a:t>-8</a:t>
            </a:r>
            <a:r>
              <a:rPr lang="en-US" altLang="zh-CN" sz="2600" b="0" i="0" u="none" strike="noStrike" baseline="0" dirty="0">
                <a:ea typeface="+mj-ea"/>
              </a:rPr>
              <a:t>C</a:t>
            </a:r>
            <a:r>
              <a:rPr lang="zh-CN" altLang="en-US" sz="2600" b="0" i="0" u="none" strike="noStrike" baseline="0" dirty="0">
                <a:ea typeface="+mj-ea"/>
              </a:rPr>
              <a:t>，忽略边缘效应。求</a:t>
            </a:r>
          </a:p>
          <a:p>
            <a:pPr algn="l"/>
            <a:r>
              <a:rPr lang="zh-CN" altLang="en-US" sz="2600" b="0" i="0" u="none" strike="noStrike" baseline="0" dirty="0">
                <a:ea typeface="+mj-ea"/>
              </a:rPr>
              <a:t>（</a:t>
            </a:r>
            <a:r>
              <a:rPr lang="en-US" altLang="zh-CN" sz="2600" b="0" i="0" u="none" strike="noStrike" baseline="0" dirty="0">
                <a:ea typeface="+mj-ea"/>
              </a:rPr>
              <a:t>1</a:t>
            </a:r>
            <a:r>
              <a:rPr lang="zh-CN" altLang="en-US" sz="2600" b="0" i="0" u="none" strike="noStrike" baseline="0" dirty="0">
                <a:ea typeface="+mj-ea"/>
              </a:rPr>
              <a:t>）</a:t>
            </a:r>
            <a:r>
              <a:rPr lang="en-US" altLang="zh-CN" sz="2600" b="0" i="1" u="none" strike="noStrike" baseline="0" dirty="0">
                <a:ea typeface="+mj-ea"/>
              </a:rPr>
              <a:t>B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板上的电荷为多少？</a:t>
            </a:r>
          </a:p>
          <a:p>
            <a:pPr algn="l"/>
            <a:r>
              <a:rPr lang="zh-CN" altLang="en-US" sz="2600" b="0" i="0" u="none" strike="noStrike" baseline="0" dirty="0">
                <a:ea typeface="+mj-ea"/>
              </a:rPr>
              <a:t>（</a:t>
            </a:r>
            <a:r>
              <a:rPr lang="en-US" altLang="zh-CN" sz="2600" b="0" i="0" u="none" strike="noStrike" baseline="0" dirty="0">
                <a:ea typeface="+mj-ea"/>
              </a:rPr>
              <a:t>2</a:t>
            </a:r>
            <a:r>
              <a:rPr lang="zh-CN" altLang="en-US" sz="2600" b="0" i="0" u="none" strike="noStrike" baseline="0" dirty="0">
                <a:ea typeface="+mj-ea"/>
              </a:rPr>
              <a:t>）</a:t>
            </a:r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板电势为多少？</a:t>
            </a:r>
            <a:endParaRPr lang="zh-CN" altLang="en-US" sz="2600" dirty="0"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57FBA-9A64-CC5B-01F7-46029479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293" y="767479"/>
            <a:ext cx="2355013" cy="199029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C896AF-C810-CE59-B18F-30841B019EF0}"/>
              </a:ext>
            </a:extLst>
          </p:cNvPr>
          <p:cNvSpPr txBox="1"/>
          <p:nvPr/>
        </p:nvSpPr>
        <p:spPr>
          <a:xfrm>
            <a:off x="581994" y="2448292"/>
            <a:ext cx="9440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设</a:t>
            </a:r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的左右两面的电荷面密度分别为</a:t>
            </a:r>
            <a:r>
              <a:rPr lang="en-US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zh-CN" altLang="en-US" sz="2600" b="0" i="0" u="none" strike="noStrike" baseline="0" dirty="0">
                <a:ea typeface="+mj-ea"/>
              </a:rPr>
              <a:t>和</a:t>
            </a:r>
            <a:r>
              <a:rPr lang="en-US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aseline="-25000" dirty="0">
                <a:ea typeface="+mj-ea"/>
              </a:rPr>
              <a:t>2</a:t>
            </a:r>
            <a:endParaRPr lang="zh-CN" altLang="en-US" sz="2600" dirty="0"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11F332-E260-36D5-B72D-592FD390FED3}"/>
              </a:ext>
            </a:extLst>
          </p:cNvPr>
          <p:cNvSpPr txBox="1"/>
          <p:nvPr/>
        </p:nvSpPr>
        <p:spPr>
          <a:xfrm>
            <a:off x="1036926" y="3086406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ea typeface="+mj-ea"/>
              </a:rPr>
              <a:t>所带电量分别为  </a:t>
            </a:r>
            <a:r>
              <a:rPr lang="el-GR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el-GR" altLang="zh-CN" sz="2600" b="0" i="0" u="none" strike="noStrike" baseline="0" dirty="0">
                <a:ea typeface="+mj-ea"/>
              </a:rPr>
              <a:t>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el-GR" altLang="zh-CN" sz="2600" b="0" i="1" u="none" strike="noStrike" baseline="0" dirty="0">
                <a:ea typeface="+mj-ea"/>
              </a:rPr>
              <a:t>S </a:t>
            </a:r>
            <a:r>
              <a:rPr lang="zh-CN" altLang="el-GR" sz="2600" b="0" i="0" u="none" strike="noStrike" baseline="0" dirty="0">
                <a:ea typeface="+mj-ea"/>
              </a:rPr>
              <a:t>和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el-GR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aseline="-25000" dirty="0">
                <a:ea typeface="+mj-ea"/>
              </a:rPr>
              <a:t>2</a:t>
            </a:r>
            <a:r>
              <a:rPr lang="el-GR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aseline="-25000" dirty="0">
                <a:ea typeface="+mj-ea"/>
              </a:rPr>
              <a:t>2</a:t>
            </a:r>
            <a:r>
              <a:rPr lang="el-GR" altLang="zh-CN" sz="2600" b="0" i="1" u="none" strike="noStrike" baseline="0" dirty="0">
                <a:ea typeface="+mj-ea"/>
              </a:rPr>
              <a:t>S</a:t>
            </a:r>
            <a:endParaRPr lang="zh-CN" altLang="en-US" sz="2600" dirty="0"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5C72AF-DB14-C75D-D0AE-5A75346CD730}"/>
              </a:ext>
            </a:extLst>
          </p:cNvPr>
          <p:cNvSpPr txBox="1"/>
          <p:nvPr/>
        </p:nvSpPr>
        <p:spPr>
          <a:xfrm>
            <a:off x="887619" y="3826489"/>
            <a:ext cx="90030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ea typeface="+mj-ea"/>
              </a:rPr>
              <a:t>则</a:t>
            </a:r>
            <a:r>
              <a:rPr lang="zh-CN" altLang="en-US" sz="2600" b="0" i="0" u="none" strike="noStrike" baseline="0" dirty="0">
                <a:ea typeface="+mj-ea"/>
              </a:rPr>
              <a:t>在</a:t>
            </a:r>
            <a:r>
              <a:rPr lang="en-US" altLang="zh-CN" sz="2600" b="0" i="1" u="none" strike="noStrike" baseline="0" dirty="0">
                <a:ea typeface="+mj-ea"/>
              </a:rPr>
              <a:t>B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板上分别感应异号电荷</a:t>
            </a:r>
            <a:r>
              <a:rPr lang="en-US" altLang="zh-CN" sz="2600" b="0" i="0" u="none" strike="noStrike" baseline="0" dirty="0">
                <a:ea typeface="+mj-ea"/>
              </a:rPr>
              <a:t>-</a:t>
            </a:r>
            <a:r>
              <a:rPr lang="en-US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zh-CN" altLang="en-US" sz="2600" b="0" i="0" u="none" strike="noStrike" baseline="0" dirty="0">
                <a:ea typeface="+mj-ea"/>
              </a:rPr>
              <a:t>和</a:t>
            </a:r>
            <a:r>
              <a:rPr lang="en-US" altLang="zh-CN" sz="2600" b="0" i="0" u="none" strike="noStrike" baseline="0" dirty="0">
                <a:ea typeface="+mj-ea"/>
              </a:rPr>
              <a:t>-</a:t>
            </a:r>
            <a:r>
              <a:rPr lang="en-US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aseline="-25000" dirty="0">
                <a:ea typeface="+mj-ea"/>
              </a:rPr>
              <a:t> 2</a:t>
            </a:r>
            <a:endParaRPr lang="zh-CN" altLang="en-US" sz="2600" dirty="0"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282E06-0A8C-538B-67B8-BEFB075D65B4}"/>
              </a:ext>
            </a:extLst>
          </p:cNvPr>
          <p:cNvSpPr txBox="1"/>
          <p:nvPr/>
        </p:nvSpPr>
        <p:spPr>
          <a:xfrm>
            <a:off x="7929130" y="3180159"/>
            <a:ext cx="499751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0" i="0" u="none" strike="noStrike" baseline="0" dirty="0">
                <a:ea typeface="+mj-ea"/>
              </a:rPr>
              <a:t>由电荷守恒得方程</a:t>
            </a:r>
          </a:p>
          <a:p>
            <a:pPr algn="l"/>
            <a:r>
              <a:rPr lang="el-GR" altLang="zh-CN" sz="2600" b="0" i="1" u="none" strike="noStrike" baseline="0" dirty="0">
                <a:ea typeface="+mj-ea"/>
              </a:rPr>
              <a:t>q = q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l-GR" altLang="zh-CN" sz="2600" b="0" i="0" u="none" strike="noStrike" baseline="0" dirty="0">
                <a:ea typeface="+mj-ea"/>
              </a:rPr>
              <a:t> + </a:t>
            </a:r>
            <a:r>
              <a:rPr lang="el-GR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aseline="-25000" dirty="0">
                <a:ea typeface="+mj-ea"/>
              </a:rPr>
              <a:t>2</a:t>
            </a:r>
            <a:r>
              <a:rPr lang="el-GR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el-GR" altLang="zh-CN" sz="2600" b="0" i="1" u="none" strike="noStrike" baseline="0" dirty="0">
                <a:ea typeface="+mj-ea"/>
              </a:rPr>
              <a:t>S </a:t>
            </a:r>
            <a:r>
              <a:rPr lang="el-GR" altLang="zh-CN" sz="2600" b="0" i="0" u="none" strike="noStrike" baseline="0" dirty="0">
                <a:ea typeface="+mj-ea"/>
              </a:rPr>
              <a:t>+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aseline="-25000" dirty="0">
                <a:ea typeface="+mj-ea"/>
              </a:rPr>
              <a:t>2 </a:t>
            </a:r>
            <a:r>
              <a:rPr lang="el-GR" altLang="zh-CN" sz="2600" b="0" i="1" u="none" strike="noStrike" baseline="0" dirty="0">
                <a:ea typeface="+mj-ea"/>
              </a:rPr>
              <a:t>S</a:t>
            </a:r>
            <a:endParaRPr lang="zh-CN" altLang="en-US" sz="2600" dirty="0"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A3DCB8-A39A-3292-666D-73FA9AF1FBF7}"/>
              </a:ext>
            </a:extLst>
          </p:cNvPr>
          <p:cNvSpPr txBox="1"/>
          <p:nvPr/>
        </p:nvSpPr>
        <p:spPr>
          <a:xfrm>
            <a:off x="1366837" y="4525725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间的场强为 </a:t>
            </a:r>
            <a:r>
              <a:rPr lang="en-US" altLang="zh-CN" sz="2600" b="0" i="1" u="none" strike="noStrike" baseline="0" dirty="0">
                <a:ea typeface="+mj-ea"/>
              </a:rPr>
              <a:t>E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1 </a:t>
            </a:r>
            <a:r>
              <a:rPr lang="el-GR" altLang="zh-CN" sz="2600" b="0" i="0" u="none" strike="noStrike" baseline="0" dirty="0">
                <a:ea typeface="+mj-ea"/>
              </a:rPr>
              <a:t>/</a:t>
            </a:r>
            <a:r>
              <a:rPr lang="el-GR" altLang="zh-CN" sz="2600" b="0" i="1" u="none" strike="noStrike" baseline="0" dirty="0">
                <a:ea typeface="+mj-ea"/>
              </a:rPr>
              <a:t>ε</a:t>
            </a:r>
            <a:r>
              <a:rPr lang="en-US" altLang="zh-CN" sz="2600" b="0" i="0" u="none" strike="noStrike" baseline="-25000" dirty="0">
                <a:ea typeface="+mj-ea"/>
              </a:rPr>
              <a:t> 0</a:t>
            </a:r>
            <a:endParaRPr lang="zh-CN" altLang="en-US" sz="2600" dirty="0"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17FCE1-E3F0-80AA-8459-EC6B2B0DC961}"/>
              </a:ext>
            </a:extLst>
          </p:cNvPr>
          <p:cNvSpPr txBox="1"/>
          <p:nvPr/>
        </p:nvSpPr>
        <p:spPr>
          <a:xfrm>
            <a:off x="5900861" y="4557546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间的场强为 </a:t>
            </a:r>
            <a:r>
              <a:rPr lang="en-US" altLang="zh-CN" sz="2600" b="0" i="1" u="none" strike="noStrike" baseline="0" dirty="0">
                <a:ea typeface="+mj-ea"/>
              </a:rPr>
              <a:t>E</a:t>
            </a:r>
            <a:r>
              <a:rPr lang="en-US" altLang="zh-CN" sz="2600" b="0" i="0" u="none" strike="noStrike" baseline="-25000" dirty="0">
                <a:ea typeface="+mj-ea"/>
              </a:rPr>
              <a:t> 2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aseline="-25000" dirty="0">
                <a:ea typeface="+mj-ea"/>
              </a:rPr>
              <a:t>2</a:t>
            </a:r>
            <a:r>
              <a:rPr lang="en-US" altLang="zh-CN" sz="2600" b="0" i="0" u="none" strike="noStrike" baseline="-25000" dirty="0">
                <a:ea typeface="+mj-ea"/>
              </a:rPr>
              <a:t> </a:t>
            </a:r>
            <a:r>
              <a:rPr lang="el-GR" altLang="zh-CN" sz="2600" b="0" i="0" u="none" strike="noStrike" baseline="0" dirty="0">
                <a:ea typeface="+mj-ea"/>
              </a:rPr>
              <a:t>/</a:t>
            </a:r>
            <a:r>
              <a:rPr lang="el-GR" altLang="zh-CN" sz="2600" b="0" i="1" u="none" strike="noStrike" baseline="0" dirty="0">
                <a:ea typeface="+mj-ea"/>
              </a:rPr>
              <a:t>ε</a:t>
            </a:r>
            <a:r>
              <a:rPr lang="en-US" altLang="zh-CN" sz="2600" b="0" i="0" u="none" strike="noStrike" baseline="-25000" dirty="0">
                <a:ea typeface="+mj-ea"/>
              </a:rPr>
              <a:t> 0</a:t>
            </a:r>
            <a:endParaRPr lang="zh-CN" altLang="en-US" sz="2600" dirty="0">
              <a:ea typeface="+mj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2A314C-67F0-CDCC-EA20-45CCEE322191}"/>
              </a:ext>
            </a:extLst>
          </p:cNvPr>
          <p:cNvSpPr txBox="1"/>
          <p:nvPr/>
        </p:nvSpPr>
        <p:spPr>
          <a:xfrm>
            <a:off x="1243022" y="5288602"/>
            <a:ext cx="93156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板与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板的电势差和</a:t>
            </a:r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板与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板的的电势差相等</a:t>
            </a:r>
            <a:endParaRPr lang="zh-CN" altLang="en-US" sz="2600" dirty="0">
              <a:ea typeface="+mj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6653E7-2122-2C53-99CE-D62416C96652}"/>
              </a:ext>
            </a:extLst>
          </p:cNvPr>
          <p:cNvSpPr txBox="1"/>
          <p:nvPr/>
        </p:nvSpPr>
        <p:spPr>
          <a:xfrm>
            <a:off x="2615754" y="5962227"/>
            <a:ext cx="6096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2600" b="0" i="0" u="none" strike="noStrike" baseline="0" dirty="0">
                <a:ea typeface="+mj-ea"/>
              </a:rPr>
              <a:t>Δ</a:t>
            </a:r>
            <a:r>
              <a:rPr lang="en-US" altLang="zh-CN" sz="2600" b="0" i="1" u="none" strike="noStrike" baseline="0" dirty="0">
                <a:ea typeface="+mj-ea"/>
              </a:rPr>
              <a:t>U </a:t>
            </a:r>
            <a:r>
              <a:rPr lang="en-US" altLang="zh-CN" sz="2600" b="0" i="0" u="none" strike="noStrike" baseline="0" dirty="0">
                <a:ea typeface="+mj-ea"/>
              </a:rPr>
              <a:t>= </a:t>
            </a:r>
            <a:r>
              <a:rPr lang="en-US" altLang="zh-CN" sz="2600" b="0" i="1" u="none" strike="noStrike" baseline="0" dirty="0">
                <a:ea typeface="+mj-ea"/>
              </a:rPr>
              <a:t>E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n-US" altLang="zh-CN" sz="2600" b="0" i="1" u="none" strike="noStrike" baseline="0" dirty="0">
                <a:ea typeface="+mj-ea"/>
              </a:rPr>
              <a:t>E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endParaRPr lang="zh-CN" altLang="en-US" sz="2600" dirty="0">
              <a:ea typeface="+mj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FBCF38-2169-F5AF-E43E-567F22C5845C}"/>
              </a:ext>
            </a:extLst>
          </p:cNvPr>
          <p:cNvSpPr txBox="1"/>
          <p:nvPr/>
        </p:nvSpPr>
        <p:spPr>
          <a:xfrm>
            <a:off x="6096000" y="5968226"/>
            <a:ext cx="63072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即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endParaRPr lang="zh-CN" altLang="en-US" sz="260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380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1E1359-64D7-2701-9AC1-7EA0E340BD5C}"/>
              </a:ext>
            </a:extLst>
          </p:cNvPr>
          <p:cNvSpPr txBox="1"/>
          <p:nvPr/>
        </p:nvSpPr>
        <p:spPr>
          <a:xfrm>
            <a:off x="395288" y="332478"/>
            <a:ext cx="103090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三块平行金属板</a:t>
            </a:r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和</a:t>
            </a:r>
            <a:r>
              <a:rPr lang="en-US" altLang="zh-CN" sz="2600" b="0" i="1" u="none" strike="noStrike" baseline="0" dirty="0">
                <a:ea typeface="+mj-ea"/>
              </a:rPr>
              <a:t>C</a:t>
            </a:r>
            <a:r>
              <a:rPr lang="zh-CN" altLang="en-US" sz="2600" b="0" i="0" u="none" strike="noStrike" baseline="0" dirty="0">
                <a:ea typeface="+mj-ea"/>
              </a:rPr>
              <a:t>，面积都是</a:t>
            </a:r>
            <a:r>
              <a:rPr lang="en-US" altLang="zh-CN" sz="2600" b="0" i="1" u="none" strike="noStrike" baseline="0" dirty="0">
                <a:ea typeface="+mj-ea"/>
              </a:rPr>
              <a:t>S </a:t>
            </a:r>
            <a:r>
              <a:rPr lang="en-US" altLang="zh-CN" sz="2600" b="0" i="0" u="none" strike="noStrike" baseline="0" dirty="0">
                <a:ea typeface="+mj-ea"/>
              </a:rPr>
              <a:t>= 100 cm</a:t>
            </a:r>
            <a:r>
              <a:rPr lang="en-US" altLang="zh-CN" sz="2600" b="0" i="0" u="none" strike="noStrike" baseline="30000" dirty="0">
                <a:ea typeface="+mj-ea"/>
              </a:rPr>
              <a:t>2</a:t>
            </a:r>
            <a:r>
              <a:rPr lang="zh-CN" altLang="en-US" sz="2600" b="0" i="0" u="none" strike="noStrike" baseline="0" dirty="0">
                <a:ea typeface="+mj-ea"/>
              </a:rPr>
              <a:t>，</a:t>
            </a:r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相距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aseline="-25000" dirty="0"/>
              <a:t> 1</a:t>
            </a:r>
            <a:r>
              <a:rPr lang="en-US" altLang="zh-CN" sz="2600" b="0" i="0" u="none" strike="noStrike" baseline="0" dirty="0">
                <a:ea typeface="+mj-ea"/>
              </a:rPr>
              <a:t> = 2mm</a:t>
            </a:r>
            <a:r>
              <a:rPr lang="zh-CN" altLang="en-US" sz="2600" b="0" i="0" u="none" strike="noStrike" baseline="0" dirty="0">
                <a:ea typeface="+mj-ea"/>
              </a:rPr>
              <a:t>，</a:t>
            </a:r>
            <a:r>
              <a:rPr lang="en-US" altLang="zh-CN" sz="2600" b="0" i="1" u="none" strike="noStrike" baseline="0" dirty="0">
                <a:ea typeface="+mj-ea"/>
              </a:rPr>
              <a:t>A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相距</a:t>
            </a:r>
            <a:r>
              <a:rPr lang="en-US" altLang="zh-CN" sz="2600" b="0" i="0" u="none" strike="noStrike" baseline="0" dirty="0">
                <a:ea typeface="+mj-ea"/>
              </a:rPr>
              <a:t>d</a:t>
            </a:r>
            <a:r>
              <a:rPr lang="en-US" altLang="zh-CN" sz="2600" baseline="-25000" dirty="0"/>
              <a:t> 2</a:t>
            </a:r>
            <a:r>
              <a:rPr lang="en-US" altLang="zh-CN" sz="2600" b="0" i="0" u="none" strike="noStrike" baseline="0" dirty="0">
                <a:ea typeface="+mj-ea"/>
              </a:rPr>
              <a:t> = 4mm</a:t>
            </a:r>
            <a:r>
              <a:rPr lang="zh-CN" altLang="en-US" sz="2600" b="0" i="0" u="none" strike="noStrike" baseline="0" dirty="0">
                <a:ea typeface="+mj-ea"/>
              </a:rPr>
              <a:t>，</a:t>
            </a:r>
          </a:p>
          <a:p>
            <a:pPr algn="l"/>
            <a:r>
              <a:rPr lang="en-US" altLang="zh-CN" sz="2600" b="0" i="1" u="none" strike="noStrike" baseline="0" dirty="0">
                <a:ea typeface="+mj-ea"/>
              </a:rPr>
              <a:t>B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接地，</a:t>
            </a:r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板带有正电荷</a:t>
            </a:r>
            <a:r>
              <a:rPr lang="en-US" altLang="zh-CN" sz="2600" b="0" i="1" u="none" strike="noStrike" baseline="0" dirty="0">
                <a:ea typeface="+mj-ea"/>
              </a:rPr>
              <a:t>q </a:t>
            </a:r>
            <a:r>
              <a:rPr lang="en-US" altLang="zh-CN" sz="2600" b="0" i="0" u="none" strike="noStrike" baseline="0" dirty="0">
                <a:ea typeface="+mj-ea"/>
              </a:rPr>
              <a:t>= 3×10</a:t>
            </a:r>
            <a:r>
              <a:rPr lang="en-US" altLang="zh-CN" sz="2600" b="0" i="0" u="none" strike="noStrike" baseline="30000" dirty="0">
                <a:ea typeface="+mj-ea"/>
              </a:rPr>
              <a:t>-8</a:t>
            </a:r>
            <a:r>
              <a:rPr lang="en-US" altLang="zh-CN" sz="2600" b="0" i="0" u="none" strike="noStrike" baseline="0" dirty="0">
                <a:ea typeface="+mj-ea"/>
              </a:rPr>
              <a:t>C</a:t>
            </a:r>
            <a:r>
              <a:rPr lang="zh-CN" altLang="en-US" sz="2600" b="0" i="0" u="none" strike="noStrike" baseline="0" dirty="0">
                <a:ea typeface="+mj-ea"/>
              </a:rPr>
              <a:t>，忽略边缘效应。求</a:t>
            </a:r>
          </a:p>
          <a:p>
            <a:pPr algn="l"/>
            <a:r>
              <a:rPr lang="zh-CN" altLang="en-US" sz="2600" b="0" i="0" u="none" strike="noStrike" baseline="0" dirty="0">
                <a:ea typeface="+mj-ea"/>
              </a:rPr>
              <a:t>（</a:t>
            </a:r>
            <a:r>
              <a:rPr lang="en-US" altLang="zh-CN" sz="2600" b="0" i="0" u="none" strike="noStrike" baseline="0" dirty="0">
                <a:ea typeface="+mj-ea"/>
              </a:rPr>
              <a:t>1</a:t>
            </a:r>
            <a:r>
              <a:rPr lang="zh-CN" altLang="en-US" sz="2600" b="0" i="0" u="none" strike="noStrike" baseline="0" dirty="0">
                <a:ea typeface="+mj-ea"/>
              </a:rPr>
              <a:t>）</a:t>
            </a:r>
            <a:r>
              <a:rPr lang="en-US" altLang="zh-CN" sz="2600" b="0" i="1" u="none" strike="noStrike" baseline="0" dirty="0">
                <a:ea typeface="+mj-ea"/>
              </a:rPr>
              <a:t>B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板上的电荷为多少？</a:t>
            </a:r>
          </a:p>
          <a:p>
            <a:pPr algn="l"/>
            <a:r>
              <a:rPr lang="zh-CN" altLang="en-US" sz="2600" b="0" i="0" u="none" strike="noStrike" baseline="0" dirty="0">
                <a:ea typeface="+mj-ea"/>
              </a:rPr>
              <a:t>（</a:t>
            </a:r>
            <a:r>
              <a:rPr lang="en-US" altLang="zh-CN" sz="2600" b="0" i="0" u="none" strike="noStrike" baseline="0" dirty="0">
                <a:ea typeface="+mj-ea"/>
              </a:rPr>
              <a:t>2</a:t>
            </a:r>
            <a:r>
              <a:rPr lang="zh-CN" altLang="en-US" sz="2600" b="0" i="0" u="none" strike="noStrike" baseline="0" dirty="0">
                <a:ea typeface="+mj-ea"/>
              </a:rPr>
              <a:t>）</a:t>
            </a:r>
            <a:r>
              <a:rPr lang="en-US" altLang="zh-CN" sz="2600" b="0" i="1" u="none" strike="noStrike" baseline="0" dirty="0">
                <a:ea typeface="+mj-ea"/>
              </a:rPr>
              <a:t>A </a:t>
            </a:r>
            <a:r>
              <a:rPr lang="zh-CN" altLang="en-US" sz="2600" b="0" i="0" u="none" strike="noStrike" baseline="0" dirty="0">
                <a:ea typeface="+mj-ea"/>
              </a:rPr>
              <a:t>板电势为多少？</a:t>
            </a:r>
            <a:endParaRPr lang="zh-CN" altLang="en-US" sz="2600" dirty="0"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57FBA-9A64-CC5B-01F7-46029479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293" y="767479"/>
            <a:ext cx="2355013" cy="199029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B9726738-7BE0-1CFD-3B57-896F74FE2EAA}"/>
              </a:ext>
            </a:extLst>
          </p:cNvPr>
          <p:cNvSpPr txBox="1"/>
          <p:nvPr/>
        </p:nvSpPr>
        <p:spPr>
          <a:xfrm>
            <a:off x="976410" y="3409256"/>
            <a:ext cx="63072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l-GR" sz="2600" b="0" i="0" u="none" strike="noStrike" baseline="0" dirty="0">
                <a:ea typeface="+mj-ea"/>
              </a:rPr>
              <a:t>得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l-GR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qd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l-GR" altLang="zh-CN" sz="2600" b="0" i="0" u="none" strike="noStrike" baseline="0" dirty="0">
                <a:ea typeface="+mj-ea"/>
              </a:rPr>
              <a:t>/</a:t>
            </a:r>
            <a:r>
              <a:rPr lang="el-GR" altLang="zh-CN" sz="2600" b="0" i="1" u="none" strike="noStrike" baseline="0" dirty="0">
                <a:ea typeface="+mj-ea"/>
              </a:rPr>
              <a:t>S</a:t>
            </a:r>
            <a:r>
              <a:rPr lang="el-GR" altLang="zh-CN" sz="2600" b="0" i="0" u="none" strike="noStrike" baseline="0" dirty="0">
                <a:ea typeface="+mj-ea"/>
              </a:rPr>
              <a:t>(</a:t>
            </a:r>
            <a:r>
              <a:rPr lang="el-GR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l-GR" altLang="zh-CN" sz="2600" b="0" i="0" u="none" strike="noStrike" baseline="0" dirty="0">
                <a:ea typeface="+mj-ea"/>
              </a:rPr>
              <a:t> + </a:t>
            </a:r>
            <a:r>
              <a:rPr lang="el-GR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l-GR" altLang="zh-CN" sz="2600" b="0" i="0" u="none" strike="noStrike" baseline="0" dirty="0">
                <a:ea typeface="+mj-ea"/>
              </a:rPr>
              <a:t>)</a:t>
            </a:r>
            <a:endParaRPr lang="zh-CN" altLang="en-US" sz="2600" dirty="0">
              <a:ea typeface="+mj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B9321A-1986-F831-F3F6-612243ED596F}"/>
              </a:ext>
            </a:extLst>
          </p:cNvPr>
          <p:cNvSpPr txBox="1"/>
          <p:nvPr/>
        </p:nvSpPr>
        <p:spPr>
          <a:xfrm>
            <a:off x="896581" y="4134873"/>
            <a:ext cx="1027314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所以 </a:t>
            </a:r>
            <a:r>
              <a:rPr lang="en-US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1" u="none" strike="noStrike" baseline="0" dirty="0">
                <a:ea typeface="+mj-ea"/>
              </a:rPr>
              <a:t>S </a:t>
            </a:r>
            <a:r>
              <a:rPr lang="en-US" altLang="zh-CN" sz="2600" b="0" i="0" u="none" strike="noStrike" baseline="0" dirty="0">
                <a:ea typeface="+mj-ea"/>
              </a:rPr>
              <a:t>= </a:t>
            </a:r>
            <a:r>
              <a:rPr lang="el-GR" altLang="zh-CN" sz="2600" b="0" i="1" u="none" strike="noStrike" baseline="0" dirty="0">
                <a:ea typeface="+mj-ea"/>
              </a:rPr>
              <a:t>qd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l-GR" altLang="zh-CN" sz="2600" b="0" i="0" u="none" strike="noStrike" baseline="0" dirty="0">
                <a:ea typeface="+mj-ea"/>
              </a:rPr>
              <a:t>/(</a:t>
            </a:r>
            <a:r>
              <a:rPr lang="el-GR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l-GR" altLang="zh-CN" sz="2600" b="0" i="0" u="none" strike="noStrike" baseline="0" dirty="0">
                <a:ea typeface="+mj-ea"/>
              </a:rPr>
              <a:t> + </a:t>
            </a:r>
            <a:r>
              <a:rPr lang="el-GR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l-GR" altLang="zh-CN" sz="2600" b="0" i="0" u="none" strike="noStrike" baseline="0" dirty="0">
                <a:ea typeface="+mj-ea"/>
              </a:rPr>
              <a:t>) </a:t>
            </a:r>
            <a:r>
              <a:rPr lang="en-US" altLang="zh-CN" sz="2600" b="0" i="0" u="none" strike="noStrike" baseline="0" dirty="0">
                <a:ea typeface="+mj-ea"/>
              </a:rPr>
              <a:t>= 2×10</a:t>
            </a:r>
            <a:r>
              <a:rPr lang="en-US" altLang="zh-CN" sz="2600" b="0" i="0" u="none" strike="noStrike" baseline="30000" dirty="0">
                <a:ea typeface="+mj-ea"/>
              </a:rPr>
              <a:t>-8</a:t>
            </a:r>
            <a:r>
              <a:rPr lang="en-US" altLang="zh-CN" sz="2600" b="0" i="0" u="none" strike="noStrike" baseline="0" dirty="0">
                <a:ea typeface="+mj-ea"/>
              </a:rPr>
              <a:t>(C)</a:t>
            </a:r>
            <a:endParaRPr lang="zh-CN" altLang="en-US" sz="2600" dirty="0">
              <a:ea typeface="+mj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EC6F5D9-6248-4DEC-549F-BE99118BFFB7}"/>
              </a:ext>
            </a:extLst>
          </p:cNvPr>
          <p:cNvSpPr txBox="1"/>
          <p:nvPr/>
        </p:nvSpPr>
        <p:spPr>
          <a:xfrm>
            <a:off x="586255" y="4753321"/>
            <a:ext cx="112936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>
                <a:ea typeface="+mj-ea"/>
              </a:rPr>
              <a:t>B</a:t>
            </a:r>
            <a:r>
              <a:rPr lang="zh-CN" altLang="en-US" sz="2600" b="0" i="0" u="none" strike="noStrike" baseline="0" dirty="0">
                <a:ea typeface="+mj-ea"/>
              </a:rPr>
              <a:t>、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板上的电荷分别为 </a:t>
            </a:r>
            <a:r>
              <a:rPr lang="en-US" altLang="zh-CN" sz="2600" b="0" i="1" u="none" strike="noStrike" baseline="0" dirty="0" err="1">
                <a:ea typeface="+mj-ea"/>
              </a:rPr>
              <a:t>q</a:t>
            </a:r>
            <a:r>
              <a:rPr lang="en-US" altLang="zh-CN" sz="2600" baseline="-25000" dirty="0" err="1">
                <a:ea typeface="+mj-ea"/>
              </a:rPr>
              <a:t>B</a:t>
            </a:r>
            <a:r>
              <a:rPr lang="en-US" altLang="zh-CN" sz="2600" b="0" i="1" u="none" strike="noStrike" baseline="0" dirty="0">
                <a:ea typeface="+mj-ea"/>
              </a:rPr>
              <a:t> = -q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-2×10</a:t>
            </a:r>
            <a:r>
              <a:rPr lang="en-US" altLang="zh-CN" sz="2600" b="0" i="0" u="none" strike="noStrike" baseline="30000" dirty="0">
                <a:ea typeface="+mj-ea"/>
              </a:rPr>
              <a:t>-8 </a:t>
            </a:r>
            <a:r>
              <a:rPr lang="en-US" altLang="zh-CN" sz="2600" b="0" i="0" u="none" strike="noStrike" baseline="0" dirty="0">
                <a:ea typeface="+mj-ea"/>
              </a:rPr>
              <a:t>(C)</a:t>
            </a:r>
            <a:r>
              <a:rPr lang="zh-CN" altLang="en-US" sz="2600" b="0" i="0" u="none" strike="noStrike" baseline="0" dirty="0">
                <a:ea typeface="+mj-ea"/>
              </a:rPr>
              <a:t>； </a:t>
            </a:r>
            <a:r>
              <a:rPr lang="en-US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="0" i="0" u="none" strike="noStrike" baseline="-25000" dirty="0">
                <a:ea typeface="+mj-ea"/>
              </a:rPr>
              <a:t> C</a:t>
            </a:r>
            <a:r>
              <a:rPr lang="en-US" altLang="zh-CN" sz="2600" b="0" i="1" u="none" strike="noStrike" baseline="0" dirty="0">
                <a:ea typeface="+mj-ea"/>
              </a:rPr>
              <a:t> = -q</a:t>
            </a:r>
            <a:r>
              <a:rPr lang="en-US" altLang="zh-CN" sz="2600" b="0" i="0" u="none" strike="noStrike" baseline="-25000" dirty="0">
                <a:ea typeface="+mj-ea"/>
              </a:rPr>
              <a:t> 2</a:t>
            </a:r>
            <a:r>
              <a:rPr lang="en-US" altLang="zh-CN" sz="2600" b="0" i="0" u="none" strike="noStrike" baseline="0" dirty="0">
                <a:ea typeface="+mj-ea"/>
              </a:rPr>
              <a:t> = -1×10</a:t>
            </a:r>
            <a:r>
              <a:rPr lang="en-US" altLang="zh-CN" sz="2600" b="0" i="0" u="none" strike="noStrike" baseline="30000" dirty="0">
                <a:ea typeface="+mj-ea"/>
              </a:rPr>
              <a:t>-8 </a:t>
            </a:r>
            <a:r>
              <a:rPr lang="en-US" altLang="zh-CN" sz="2600" b="0" i="0" u="none" strike="noStrike" baseline="0" dirty="0">
                <a:ea typeface="+mj-ea"/>
              </a:rPr>
              <a:t>(C)</a:t>
            </a:r>
            <a:endParaRPr lang="zh-CN" altLang="en-US" sz="2600" dirty="0">
              <a:ea typeface="+mj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C512918-F395-42AE-E13D-1555F99F5391}"/>
              </a:ext>
            </a:extLst>
          </p:cNvPr>
          <p:cNvSpPr txBox="1"/>
          <p:nvPr/>
        </p:nvSpPr>
        <p:spPr>
          <a:xfrm>
            <a:off x="721244" y="5478938"/>
            <a:ext cx="10138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两板电势差为 </a:t>
            </a:r>
            <a:r>
              <a:rPr lang="el-GR" altLang="zh-CN" sz="2600" b="0" i="0" u="none" strike="noStrike" baseline="0" dirty="0">
                <a:ea typeface="+mj-ea"/>
              </a:rPr>
              <a:t>Δ</a:t>
            </a:r>
            <a:r>
              <a:rPr lang="en-US" altLang="zh-CN" sz="2600" b="0" i="1" u="none" strike="noStrike" baseline="0" dirty="0">
                <a:ea typeface="+mj-ea"/>
              </a:rPr>
              <a:t>U = E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0" u="none" strike="noStrike" baseline="0" dirty="0">
                <a:ea typeface="+mj-ea"/>
              </a:rPr>
              <a:t>/</a:t>
            </a:r>
            <a:r>
              <a:rPr lang="el-GR" altLang="zh-CN" sz="2600" b="0" i="1" u="none" strike="noStrike" baseline="0" dirty="0">
                <a:ea typeface="+mj-ea"/>
              </a:rPr>
              <a:t>ε</a:t>
            </a:r>
            <a:r>
              <a:rPr lang="en-US" altLang="zh-CN" sz="2600" b="0" i="0" u="none" strike="noStrike" baseline="-25000" dirty="0">
                <a:ea typeface="+mj-ea"/>
              </a:rPr>
              <a:t> 0</a:t>
            </a:r>
            <a:r>
              <a:rPr lang="el-GR" altLang="zh-CN" sz="2600" b="0" i="0" u="none" strike="noStrike" baseline="0" dirty="0">
                <a:ea typeface="+mj-ea"/>
              </a:rPr>
              <a:t> = </a:t>
            </a:r>
            <a:r>
              <a:rPr lang="en-US" altLang="zh-CN" sz="2600" b="0" i="0" u="none" strike="noStrike" baseline="0" dirty="0">
                <a:ea typeface="+mj-ea"/>
              </a:rPr>
              <a:t>452.4(V)</a:t>
            </a:r>
            <a:endParaRPr lang="zh-CN" altLang="en-US" sz="2600" dirty="0">
              <a:ea typeface="+mj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309307E-11FC-701A-D52C-AA21A58BA306}"/>
              </a:ext>
            </a:extLst>
          </p:cNvPr>
          <p:cNvSpPr txBox="1"/>
          <p:nvPr/>
        </p:nvSpPr>
        <p:spPr>
          <a:xfrm>
            <a:off x="644452" y="6128111"/>
            <a:ext cx="102920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>
                <a:ea typeface="+mj-ea"/>
              </a:rPr>
              <a:t>由于</a:t>
            </a:r>
            <a:r>
              <a:rPr lang="en-US" altLang="zh-CN" sz="2600" b="0" i="1" u="none" strike="noStrike" baseline="0" dirty="0">
                <a:ea typeface="+mj-ea"/>
              </a:rPr>
              <a:t>B </a:t>
            </a:r>
            <a:r>
              <a:rPr lang="zh-CN" altLang="en-US" sz="2600" b="0" i="0" u="none" strike="noStrike" baseline="0" dirty="0">
                <a:ea typeface="+mj-ea"/>
              </a:rPr>
              <a:t>板和</a:t>
            </a:r>
            <a:r>
              <a:rPr lang="en-US" altLang="zh-CN" sz="2600" b="0" i="1" u="none" strike="noStrike" baseline="0" dirty="0">
                <a:ea typeface="+mj-ea"/>
              </a:rPr>
              <a:t>C </a:t>
            </a:r>
            <a:r>
              <a:rPr lang="zh-CN" altLang="en-US" sz="2600" b="0" i="0" u="none" strike="noStrike" baseline="0" dirty="0">
                <a:ea typeface="+mj-ea"/>
              </a:rPr>
              <a:t>板的电势为零，所以 </a:t>
            </a:r>
            <a:r>
              <a:rPr lang="en-US" altLang="zh-CN" sz="2600" b="0" i="1" u="none" strike="noStrike" baseline="0" dirty="0">
                <a:ea typeface="+mj-ea"/>
              </a:rPr>
              <a:t>UA </a:t>
            </a:r>
            <a:r>
              <a:rPr lang="en-US" altLang="zh-CN" sz="2600" b="0" i="0" u="none" strike="noStrike" baseline="0" dirty="0">
                <a:ea typeface="+mj-ea"/>
              </a:rPr>
              <a:t>= Δ</a:t>
            </a:r>
            <a:r>
              <a:rPr lang="en-US" altLang="zh-CN" sz="2600" b="0" i="1" u="none" strike="noStrike" baseline="0" dirty="0">
                <a:ea typeface="+mj-ea"/>
              </a:rPr>
              <a:t>U </a:t>
            </a:r>
            <a:r>
              <a:rPr lang="en-US" altLang="zh-CN" sz="2600" b="0" i="0" u="none" strike="noStrike" baseline="0" dirty="0">
                <a:ea typeface="+mj-ea"/>
              </a:rPr>
              <a:t>= 452.4(V)</a:t>
            </a:r>
            <a:endParaRPr lang="zh-CN" altLang="en-US" sz="2600" dirty="0">
              <a:ea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9014C4-029E-95DB-1702-1C436DFA85B6}"/>
              </a:ext>
            </a:extLst>
          </p:cNvPr>
          <p:cNvSpPr txBox="1"/>
          <p:nvPr/>
        </p:nvSpPr>
        <p:spPr>
          <a:xfrm>
            <a:off x="853415" y="2572072"/>
            <a:ext cx="49975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altLang="zh-CN" sz="2600" b="0" i="1" u="none" strike="noStrike" baseline="0" dirty="0">
                <a:ea typeface="+mj-ea"/>
              </a:rPr>
              <a:t>q = q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l-GR" altLang="zh-CN" sz="2600" b="0" i="0" u="none" strike="noStrike" baseline="0" dirty="0">
                <a:ea typeface="+mj-ea"/>
              </a:rPr>
              <a:t> + </a:t>
            </a:r>
            <a:r>
              <a:rPr lang="el-GR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aseline="-25000" dirty="0">
                <a:ea typeface="+mj-ea"/>
              </a:rPr>
              <a:t>2</a:t>
            </a:r>
            <a:r>
              <a:rPr lang="el-GR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1</a:t>
            </a:r>
            <a:r>
              <a:rPr lang="en-US" altLang="zh-CN" sz="2600" b="0" i="0" u="none" strike="noStrike" baseline="0" dirty="0">
                <a:ea typeface="+mj-ea"/>
              </a:rPr>
              <a:t> </a:t>
            </a:r>
            <a:r>
              <a:rPr lang="el-GR" altLang="zh-CN" sz="2600" b="0" i="1" u="none" strike="noStrike" baseline="0" dirty="0">
                <a:ea typeface="+mj-ea"/>
              </a:rPr>
              <a:t>S </a:t>
            </a:r>
            <a:r>
              <a:rPr lang="el-GR" altLang="zh-CN" sz="2600" b="0" i="0" u="none" strike="noStrike" baseline="0" dirty="0">
                <a:ea typeface="+mj-ea"/>
              </a:rPr>
              <a:t>+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aseline="-25000" dirty="0">
                <a:ea typeface="+mj-ea"/>
              </a:rPr>
              <a:t>2 </a:t>
            </a:r>
            <a:r>
              <a:rPr lang="el-GR" altLang="zh-CN" sz="2600" b="0" i="1" u="none" strike="noStrike" baseline="0" dirty="0">
                <a:ea typeface="+mj-ea"/>
              </a:rPr>
              <a:t>S</a:t>
            </a:r>
            <a:endParaRPr lang="zh-CN" altLang="en-US" sz="2600" dirty="0"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A97C9C-BB80-4F04-63ED-6DC2CF21B7AA}"/>
              </a:ext>
            </a:extLst>
          </p:cNvPr>
          <p:cNvSpPr txBox="1"/>
          <p:nvPr/>
        </p:nvSpPr>
        <p:spPr>
          <a:xfrm>
            <a:off x="5326366" y="2587982"/>
            <a:ext cx="63072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1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l-GR" altLang="zh-CN" sz="2600" b="0" i="1" u="none" strike="noStrike" baseline="0" dirty="0">
                <a:ea typeface="+mj-ea"/>
              </a:rPr>
              <a:t>σ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r>
              <a:rPr lang="en-US" altLang="zh-CN" sz="2600" b="0" i="1" u="none" strike="noStrike" baseline="0" dirty="0">
                <a:ea typeface="+mj-ea"/>
              </a:rPr>
              <a:t>d</a:t>
            </a:r>
            <a:r>
              <a:rPr lang="en-US" altLang="zh-CN" sz="2600" b="0" i="0" u="none" strike="noStrike" baseline="-25000" dirty="0">
                <a:ea typeface="+mj-ea"/>
              </a:rPr>
              <a:t> 2 </a:t>
            </a:r>
            <a:endParaRPr lang="zh-CN" altLang="en-US" sz="2600" dirty="0"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21CE13-88ED-B5BA-E5A7-3FE74E28BC64}"/>
              </a:ext>
            </a:extLst>
          </p:cNvPr>
          <p:cNvSpPr txBox="1"/>
          <p:nvPr/>
        </p:nvSpPr>
        <p:spPr>
          <a:xfrm>
            <a:off x="7677074" y="4134873"/>
            <a:ext cx="1027314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 i="1" u="none" strike="noStrike" baseline="0" dirty="0">
                <a:ea typeface="+mj-ea"/>
              </a:rPr>
              <a:t>q</a:t>
            </a:r>
            <a:r>
              <a:rPr lang="en-US" altLang="zh-CN" sz="2600" b="0" i="0" u="none" strike="noStrike" baseline="-25000" dirty="0">
                <a:ea typeface="+mj-ea"/>
              </a:rPr>
              <a:t> 2</a:t>
            </a:r>
            <a:r>
              <a:rPr lang="en-US" altLang="zh-CN" sz="2600" b="0" i="0" u="none" strike="noStrike" baseline="0" dirty="0">
                <a:ea typeface="+mj-ea"/>
              </a:rPr>
              <a:t> = </a:t>
            </a:r>
            <a:r>
              <a:rPr lang="en-US" altLang="zh-CN" sz="2600" b="0" i="1" u="none" strike="noStrike" baseline="0" dirty="0">
                <a:ea typeface="+mj-ea"/>
              </a:rPr>
              <a:t>q - q</a:t>
            </a:r>
            <a:r>
              <a:rPr lang="en-US" altLang="zh-CN" sz="2600" b="0" i="0" u="none" strike="noStrike" baseline="-25000" dirty="0">
                <a:ea typeface="+mj-ea"/>
              </a:rPr>
              <a:t> 1</a:t>
            </a:r>
            <a:r>
              <a:rPr lang="en-US" altLang="zh-CN" sz="2600" b="0" i="0" u="none" strike="noStrike" baseline="0" dirty="0">
                <a:ea typeface="+mj-ea"/>
              </a:rPr>
              <a:t> = 1×10</a:t>
            </a:r>
            <a:r>
              <a:rPr lang="en-US" altLang="zh-CN" sz="2600" b="0" i="0" u="none" strike="noStrike" baseline="30000" dirty="0">
                <a:ea typeface="+mj-ea"/>
              </a:rPr>
              <a:t>-8 </a:t>
            </a:r>
            <a:r>
              <a:rPr lang="en-US" altLang="zh-CN" sz="2600" b="0" i="0" u="none" strike="noStrike" baseline="0" dirty="0">
                <a:ea typeface="+mj-ea"/>
              </a:rPr>
              <a:t>(C)</a:t>
            </a:r>
            <a:endParaRPr lang="zh-CN" altLang="en-US" sz="260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24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1" grpId="0"/>
      <p:bldP spid="33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ea6e4d-8952-4839-be57-11fda0df19d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A343C45D49B2744AE1406E56A2ED666" ma:contentTypeVersion="1" ma:contentTypeDescription="新建文档。" ma:contentTypeScope="" ma:versionID="6b0f810430c447e99b80ecacf0b04663">
  <xsd:schema xmlns:xsd="http://www.w3.org/2001/XMLSchema" xmlns:xs="http://www.w3.org/2001/XMLSchema" xmlns:p="http://schemas.microsoft.com/office/2006/metadata/properties" xmlns:ns3="25ea6e4d-8952-4839-be57-11fda0df19d2" targetNamespace="http://schemas.microsoft.com/office/2006/metadata/properties" ma:root="true" ma:fieldsID="eb43a71fd68e81875b93fced2c01a36c" ns3:_="">
    <xsd:import namespace="25ea6e4d-8952-4839-be57-11fda0df19d2"/>
    <xsd:element name="properties">
      <xsd:complexType>
        <xsd:sequence>
          <xsd:element name="documentManagement">
            <xsd:complexType>
              <xsd:all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a6e4d-8952-4839-be57-11fda0df19d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80EDA7-8B72-4DCC-8942-51E1EC2DBC5E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25ea6e4d-8952-4839-be57-11fda0df19d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B0120BB-0242-44D2-A7C4-92F3A0AE11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ea6e4d-8952-4839-be57-11fda0df1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BC6AA1-A723-4C18-A512-D9ED6B3D7C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16808</TotalTime>
  <Words>2363</Words>
  <Application>Microsoft Office PowerPoint</Application>
  <PresentationFormat>宽屏</PresentationFormat>
  <Paragraphs>324</Paragraphs>
  <Slides>28</Slides>
  <Notes>6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黑体</vt:lpstr>
      <vt:lpstr>华文楷体</vt:lpstr>
      <vt:lpstr>宋体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电容器的能量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利用高斯定律求静电场的分布</vt:lpstr>
      <vt:lpstr>PowerPoint 演示文稿</vt:lpstr>
      <vt:lpstr>PowerPoint 演示文稿</vt:lpstr>
      <vt:lpstr>PowerPoint 演示文稿</vt:lpstr>
      <vt:lpstr>PowerPoint 演示文稿</vt:lpstr>
      <vt:lpstr>静电势能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竟成</cp:lastModifiedBy>
  <cp:revision>298</cp:revision>
  <dcterms:created xsi:type="dcterms:W3CDTF">2023-02-17T03:39:54Z</dcterms:created>
  <dcterms:modified xsi:type="dcterms:W3CDTF">2024-04-09T04:20:11Z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0x010100CA343C45D49B2744AE1406E56A2ED666</vt:lpwstr>
  </property>
</Properties>
</file>