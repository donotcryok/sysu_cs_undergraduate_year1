
<file path=[Content_Types].xml><?xml version="1.0" encoding="utf-8"?>
<Types xmlns="http://schemas.openxmlformats.org/package/2006/content-types">
  <Default Extension="bin" ContentType="application/vnd.openxmlformats-officedocument.oleObject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6"/>
  </p:notesMasterIdLst>
  <p:sldIdLst>
    <p:sldId id="841" r:id="rId5"/>
    <p:sldId id="1246" r:id="rId6"/>
    <p:sldId id="1243" r:id="rId7"/>
    <p:sldId id="821" r:id="rId8"/>
    <p:sldId id="822" r:id="rId9"/>
    <p:sldId id="262" r:id="rId10"/>
    <p:sldId id="898" r:id="rId11"/>
    <p:sldId id="1245" r:id="rId12"/>
    <p:sldId id="861" r:id="rId13"/>
    <p:sldId id="894" r:id="rId14"/>
    <p:sldId id="1228" r:id="rId15"/>
    <p:sldId id="865" r:id="rId16"/>
    <p:sldId id="1231" r:id="rId17"/>
    <p:sldId id="867" r:id="rId18"/>
    <p:sldId id="1232" r:id="rId19"/>
    <p:sldId id="1233" r:id="rId20"/>
    <p:sldId id="1235" r:id="rId21"/>
    <p:sldId id="1236" r:id="rId22"/>
    <p:sldId id="269" r:id="rId23"/>
    <p:sldId id="270" r:id="rId24"/>
    <p:sldId id="1237" r:id="rId25"/>
    <p:sldId id="271" r:id="rId26"/>
    <p:sldId id="871" r:id="rId27"/>
    <p:sldId id="1240" r:id="rId28"/>
    <p:sldId id="1238" r:id="rId29"/>
    <p:sldId id="874" r:id="rId30"/>
    <p:sldId id="259" r:id="rId31"/>
    <p:sldId id="897" r:id="rId32"/>
    <p:sldId id="895" r:id="rId33"/>
    <p:sldId id="882" r:id="rId34"/>
    <p:sldId id="124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38" autoAdjust="0"/>
    <p:restoredTop sz="94662" autoAdjust="0"/>
  </p:normalViewPr>
  <p:slideViewPr>
    <p:cSldViewPr snapToGrid="0">
      <p:cViewPr varScale="1">
        <p:scale>
          <a:sx n="158" d="100"/>
          <a:sy n="158" d="100"/>
        </p:scale>
        <p:origin x="9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heme" Target="theme/theme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733EA-8E6D-4666-B9D4-9ACE27AD59EA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FE689-547E-4EC7-A7DE-41A4901E6B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326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C103D3-6AD7-49DD-951F-9630ECC8A06A}" type="slidenum">
              <a:rPr lang="zh-CN" altLang="en-US" smtClean="0">
                <a:ea typeface="华文楷体" panose="02010600040101010101" pitchFamily="2" charset="-122"/>
              </a:rPr>
              <a:t>1</a:t>
            </a:fld>
            <a:endParaRPr lang="zh-CN" altLang="en-US" dirty="0"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209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F075D9-9C0A-4907-9E0A-2E1C5E387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63CDB30-CF70-4C98-8777-71D0DE6017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455DCF-EA4C-4853-BD99-7C8B11522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057D055-1BEA-4835-BCF3-DA518BC71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424949-9B6D-4ABE-81D0-3E8016102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6834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ECBA-8D3D-44FD-8451-1C68376A64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32FE7C-6E4F-4D24-8713-B2191E020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24F968E-F782-49B7-8CFB-D5AD52058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733CAE-7B6D-4B2F-A356-51AA8A9B7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BC30F0-28D6-4C9B-AEE5-03D12DB8B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73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9E53B1-9079-49D9-9131-26E0E03C6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F01D29-1A52-4551-9AAD-87EDF9D76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D2B19E-2D1A-4065-8E51-732596D1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70643E-4976-4353-A93C-94547389C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3E8924-C3CD-4AD0-8D20-BDBCD27DF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88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4BD28B-F5E7-4DEF-A7ED-85E67C83F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B5A803-634D-4E5A-8215-1F45D12CCD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245702B-45D0-4EB5-AAA5-C47494C798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2713FAE-28EA-4DD1-B781-345A797EE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B78BAD-ABD9-461C-A7F6-83BEE5EA7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DAFC4C7-93A9-4642-A356-4D4E2BD38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157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74F436-0EA1-486E-BFA5-AEFC10B54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CE3DD6-1221-4B2B-A081-C438B4EA13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7A0C97E-5BD2-4E0E-B6D8-06BA9CC07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0A250BC-6CDA-4F55-9122-E95732154C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49A7F6C-B16D-4596-8C2E-4B3AAA59920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86CDA96-F74A-4624-A701-06BB40E85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C82C964-0DCE-4251-A2D2-8B40BD442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CF80643-74A0-4D0A-B3AE-FDFCC003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436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21D687-2952-433A-A486-099C48C4B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84DCF08-EA4B-4E0C-B9DA-AF780B8676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4DF4D79-43A3-4D15-AADB-49E2A00CD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97F9052-09FA-4D04-AB45-329EED249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064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CE4DD36-7F96-444A-A9B7-5FBBE9CE7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C8F5D18-B09A-4096-AFDA-96A804D6D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ACC0151-1B68-4B32-AB2F-4A65BE2AD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267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FBC3E4-C582-4A91-A7AE-1D7962189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42F964-0EB5-4901-BC24-85E335433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66385E8-484A-4DCD-B049-3172288A76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0569B17-EB32-4F6A-9B7C-5B597E7CC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4C8B3B-8E4D-4EBB-8A2B-D5C7322C2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3762D6F-D0D3-4812-B6E8-731E7AFBF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66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4EBE16-E626-4C00-8722-0F82B3A32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C5C2DE1-D969-4D9C-B72F-3E40B96720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0D0D84-9E46-41CD-A472-B1029A0FCE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7C908C6-21BD-4D14-B9E5-67673794C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237D1E-BE48-42AB-BF84-696F9BA0C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25CDD9A-D6DD-4908-A730-2867C0197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0832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CF7F10-CD63-4FB1-A171-A7DAAE88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FF1AB79-8425-466E-A8A5-DADBC36F29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9E2F66-1492-47A7-BCD3-BF219BAE6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142A3AF-5C92-49DE-B7CE-F57501C22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FE16F9F-8375-4DF1-A57B-BDA6BF36C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09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9CEAE66-692B-4D65-A7C3-1680609F00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F818DC3-D68F-47FD-9934-DB88063C3F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E197317-A46D-420C-A392-2D9B93AC4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6B454CD-23C0-496D-BC54-03322B1D90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57EF11-F507-4D48-9B8C-E8680A05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8283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48EF7D3-5A27-4B57-8A33-E7C0DD1B0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CE378D8-CAD9-4EDA-B737-D089103748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1C7E5-DED7-4901-BEA1-361A290133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9C8CB-8203-4113-BC19-5C96839CBD45}" type="datetimeFigureOut">
              <a:rPr lang="en-US" smtClean="0"/>
              <a:t>4/16/2024</a:t>
            </a:fld>
            <a:endParaRPr 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DBCA12B-ADFA-4389-8BED-E30DC2D606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7DB51E-6AD4-4AAC-BD8A-505C38223C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6C4D0-362D-4F07-9D17-9A93F97D08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4382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0.png"/><Relationship Id="rId3" Type="http://schemas.openxmlformats.org/officeDocument/2006/relationships/image" Target="../media/image550.png"/><Relationship Id="rId7" Type="http://schemas.openxmlformats.org/officeDocument/2006/relationships/image" Target="../media/image610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0.png"/><Relationship Id="rId5" Type="http://schemas.openxmlformats.org/officeDocument/2006/relationships/image" Target="../media/image16.png"/><Relationship Id="rId4" Type="http://schemas.openxmlformats.org/officeDocument/2006/relationships/image" Target="../media/image14.jpeg"/><Relationship Id="rId9" Type="http://schemas.openxmlformats.org/officeDocument/2006/relationships/image" Target="../media/image6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image" Target="../media/image17.png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8.png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e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0.png"/><Relationship Id="rId7" Type="http://schemas.openxmlformats.org/officeDocument/2006/relationships/image" Target="../media/image770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750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7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0.png"/><Relationship Id="rId7" Type="http://schemas.openxmlformats.org/officeDocument/2006/relationships/image" Target="../media/image3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jpeg"/><Relationship Id="rId5" Type="http://schemas.openxmlformats.org/officeDocument/2006/relationships/image" Target="../media/image840.png"/><Relationship Id="rId4" Type="http://schemas.openxmlformats.org/officeDocument/2006/relationships/image" Target="../media/image8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88.png"/><Relationship Id="rId7" Type="http://schemas.openxmlformats.org/officeDocument/2006/relationships/image" Target="../media/image92.png"/><Relationship Id="rId2" Type="http://schemas.openxmlformats.org/officeDocument/2006/relationships/image" Target="../media/image8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90.png"/><Relationship Id="rId10" Type="http://schemas.openxmlformats.org/officeDocument/2006/relationships/image" Target="../media/image33.png"/><Relationship Id="rId4" Type="http://schemas.openxmlformats.org/officeDocument/2006/relationships/image" Target="../media/image89.png"/><Relationship Id="rId9" Type="http://schemas.openxmlformats.org/officeDocument/2006/relationships/image" Target="../media/image2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6.png"/><Relationship Id="rId7" Type="http://schemas.openxmlformats.org/officeDocument/2006/relationships/image" Target="../media/image990.png"/><Relationship Id="rId2" Type="http://schemas.openxmlformats.org/officeDocument/2006/relationships/image" Target="../media/image9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8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28.jpg"/><Relationship Id="rId7" Type="http://schemas.openxmlformats.org/officeDocument/2006/relationships/image" Target="../media/image11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1.png"/><Relationship Id="rId5" Type="http://schemas.openxmlformats.org/officeDocument/2006/relationships/image" Target="../media/image110.png"/><Relationship Id="rId4" Type="http://schemas.openxmlformats.org/officeDocument/2006/relationships/image" Target="../media/image44.png"/><Relationship Id="rId9" Type="http://schemas.openxmlformats.org/officeDocument/2006/relationships/image" Target="../media/image114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6.png"/><Relationship Id="rId3" Type="http://schemas.openxmlformats.org/officeDocument/2006/relationships/image" Target="../media/image116.png"/><Relationship Id="rId7" Type="http://schemas.openxmlformats.org/officeDocument/2006/relationships/image" Target="../media/image120.png"/><Relationship Id="rId12" Type="http://schemas.openxmlformats.org/officeDocument/2006/relationships/image" Target="../media/image125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9.png"/><Relationship Id="rId11" Type="http://schemas.openxmlformats.org/officeDocument/2006/relationships/image" Target="../media/image124.png"/><Relationship Id="rId5" Type="http://schemas.openxmlformats.org/officeDocument/2006/relationships/image" Target="../media/image118.png"/><Relationship Id="rId10" Type="http://schemas.openxmlformats.org/officeDocument/2006/relationships/image" Target="../media/image123.png"/><Relationship Id="rId4" Type="http://schemas.openxmlformats.org/officeDocument/2006/relationships/image" Target="../media/image117.png"/><Relationship Id="rId9" Type="http://schemas.openxmlformats.org/officeDocument/2006/relationships/image" Target="../media/image122.png"/><Relationship Id="rId14" Type="http://schemas.openxmlformats.org/officeDocument/2006/relationships/image" Target="../media/image127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png"/><Relationship Id="rId3" Type="http://schemas.openxmlformats.org/officeDocument/2006/relationships/image" Target="../media/image129.png"/><Relationship Id="rId7" Type="http://schemas.openxmlformats.org/officeDocument/2006/relationships/image" Target="../media/image133.png"/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2.png"/><Relationship Id="rId11" Type="http://schemas.openxmlformats.org/officeDocument/2006/relationships/image" Target="../media/image137.png"/><Relationship Id="rId5" Type="http://schemas.openxmlformats.org/officeDocument/2006/relationships/image" Target="../media/image131.png"/><Relationship Id="rId10" Type="http://schemas.openxmlformats.org/officeDocument/2006/relationships/image" Target="../media/image136.png"/><Relationship Id="rId4" Type="http://schemas.openxmlformats.org/officeDocument/2006/relationships/image" Target="../media/image130.png"/><Relationship Id="rId9" Type="http://schemas.openxmlformats.org/officeDocument/2006/relationships/image" Target="../media/image13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43.png"/><Relationship Id="rId3" Type="http://schemas.openxmlformats.org/officeDocument/2006/relationships/tags" Target="../tags/tag3.xml"/><Relationship Id="rId21" Type="http://schemas.openxmlformats.org/officeDocument/2006/relationships/image" Target="../media/image146.png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image" Target="../media/image145.png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44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image" Target="../media/image29.tmp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Relationship Id="rId9" Type="http://schemas.openxmlformats.org/officeDocument/2006/relationships/image" Target="../media/image14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jpeg"/><Relationship Id="rId5" Type="http://schemas.openxmlformats.org/officeDocument/2006/relationships/image" Target="../media/image42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gi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jpg"/><Relationship Id="rId2" Type="http://schemas.openxmlformats.org/officeDocument/2006/relationships/image" Target="../media/image4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0.jpg"/><Relationship Id="rId5" Type="http://schemas.openxmlformats.org/officeDocument/2006/relationships/image" Target="../media/image49.jpg"/><Relationship Id="rId4" Type="http://schemas.openxmlformats.org/officeDocument/2006/relationships/image" Target="../media/image4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6.png"/><Relationship Id="rId13" Type="http://schemas.openxmlformats.org/officeDocument/2006/relationships/image" Target="../media/image171.png"/><Relationship Id="rId3" Type="http://schemas.openxmlformats.org/officeDocument/2006/relationships/image" Target="../media/image161.png"/><Relationship Id="rId7" Type="http://schemas.openxmlformats.org/officeDocument/2006/relationships/image" Target="../media/image165.png"/><Relationship Id="rId12" Type="http://schemas.openxmlformats.org/officeDocument/2006/relationships/image" Target="../media/image170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4.png"/><Relationship Id="rId11" Type="http://schemas.openxmlformats.org/officeDocument/2006/relationships/image" Target="../media/image53.png"/><Relationship Id="rId5" Type="http://schemas.openxmlformats.org/officeDocument/2006/relationships/image" Target="../media/image163.png"/><Relationship Id="rId10" Type="http://schemas.openxmlformats.org/officeDocument/2006/relationships/image" Target="../media/image168.png"/><Relationship Id="rId4" Type="http://schemas.openxmlformats.org/officeDocument/2006/relationships/image" Target="../media/image162.png"/><Relationship Id="rId9" Type="http://schemas.openxmlformats.org/officeDocument/2006/relationships/image" Target="../media/image167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6.png"/><Relationship Id="rId7" Type="http://schemas.openxmlformats.org/officeDocument/2006/relationships/image" Target="../media/image1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55.png"/><Relationship Id="rId5" Type="http://schemas.openxmlformats.org/officeDocument/2006/relationships/image" Target="../media/image10.png"/><Relationship Id="rId10" Type="http://schemas.openxmlformats.org/officeDocument/2006/relationships/image" Target="../media/image540.png"/><Relationship Id="rId4" Type="http://schemas.openxmlformats.org/officeDocument/2006/relationships/image" Target="../media/image9.png"/><Relationship Id="rId9" Type="http://schemas.openxmlformats.org/officeDocument/2006/relationships/image" Target="../media/image530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13" Type="http://schemas.openxmlformats.org/officeDocument/2006/relationships/image" Target="../media/image12.png"/><Relationship Id="rId12" Type="http://schemas.openxmlformats.org/officeDocument/2006/relationships/image" Target="../media/image11.png"/><Relationship Id="rId2" Type="http://schemas.openxmlformats.org/officeDocument/2006/relationships/image" Target="../media/image54.jp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10.png"/><Relationship Id="rId10" Type="http://schemas.openxmlformats.org/officeDocument/2006/relationships/image" Target="../media/image9.png"/><Relationship Id="rId9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3" Type="http://schemas.openxmlformats.org/officeDocument/2006/relationships/image" Target="../media/image17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70.png"/><Relationship Id="rId5" Type="http://schemas.openxmlformats.org/officeDocument/2006/relationships/image" Target="../media/image330.png"/><Relationship Id="rId4" Type="http://schemas.openxmlformats.org/officeDocument/2006/relationships/image" Target="../media/image5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sz="half" idx="1"/>
              </p:nvPr>
            </p:nvSpPr>
            <p:spPr>
              <a:xfrm>
                <a:off x="1510133" y="2593171"/>
                <a:ext cx="5964864" cy="4023360"/>
              </a:xfrm>
            </p:spPr>
            <p:txBody>
              <a:bodyPr>
                <a:noAutofit/>
              </a:bodyPr>
              <a:lstStyle/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:r>
                  <a:rPr lang="zh-CN" altLang="en-US" dirty="0"/>
                  <a:t>表面 </a:t>
                </a:r>
                <a:r>
                  <a:rPr lang="en-US" altLang="zh-CN" dirty="0" err="1"/>
                  <a:t>d</a:t>
                </a:r>
                <a:r>
                  <a:rPr lang="en-US" altLang="zh-CN" i="1" dirty="0" err="1"/>
                  <a:t>S</a:t>
                </a:r>
                <a:r>
                  <a:rPr lang="en-US" altLang="zh-CN" i="1" dirty="0"/>
                  <a:t> </a:t>
                </a:r>
                <a:r>
                  <a:rPr lang="zh-CN" altLang="en-US" dirty="0"/>
                  <a:t>附近出现的束缚电荷：</a:t>
                </a:r>
                <a:endParaRPr lang="en-US" altLang="zh-CN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𝑑</m:t>
                      </m:r>
                      <m:sSup>
                        <m:sSup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𝑛𝑞𝑑</m:t>
                      </m:r>
                      <m:r>
                        <m:rPr>
                          <m:sty m:val="p"/>
                        </m:rPr>
                        <a:rPr lang="en-US" altLang="zh-CN" i="1">
                          <a:latin typeface="Cambria Math" panose="02040503050406030204" pitchFamily="18" charset="0"/>
                        </a:rPr>
                        <m:t>V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𝑛𝑞</m:t>
                      </m:r>
                      <m:d>
                        <m:d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  <m:r>
                            <a:rPr lang="en-US" altLang="zh-CN" b="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𝒅</m:t>
                          </m:r>
                          <m:acc>
                            <m:accPr>
                              <m:chr m:val="⃗"/>
                              <m:ctrlPr>
                                <a:rPr lang="en-US" altLang="zh-CN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i="1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𝑺</m:t>
                              </m:r>
                            </m:e>
                          </m:acc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𝑛𝑞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</m:acc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acc>
                    </m:oMath>
                  </m:oMathPara>
                </a14:m>
                <a:endParaRPr lang="en-US" altLang="zh-CN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altLang="zh-CN" b="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acc>
                    </m:oMath>
                  </m:oMathPara>
                </a14:m>
                <a:endParaRPr lang="en-US" altLang="zh-CN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:r>
                  <a:rPr lang="zh-CN" altLang="en-US" dirty="0"/>
                  <a:t>极化电荷面密度</a:t>
                </a:r>
                <a:endParaRPr lang="en-US" altLang="zh-CN" dirty="0"/>
              </a:p>
              <a:p>
                <a:pPr marL="0" indent="0" eaLnBrk="0" fontAlgn="base" hangingPunct="0">
                  <a:lnSpc>
                    <a:spcPct val="130000"/>
                  </a:lnSpc>
                  <a:spcBef>
                    <a:spcPts val="600"/>
                  </a:spcBef>
                  <a:spcAft>
                    <a:spcPct val="0"/>
                  </a:spcAft>
                  <a:buNone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latin typeface="Cambria Math" panose="02040503050406030204" pitchFamily="18" charset="0"/>
                        </a:rPr>
                        <m:t>→</m:t>
                      </m:r>
                      <m:sSup>
                        <m:sSupPr>
                          <m:ctrlPr>
                            <a:rPr lang="en-US" altLang="zh-CN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</m:t>
                          </m:r>
                          <m:sSup>
                            <m:sSupPr>
                              <m:ctrlP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𝑸</m:t>
                              </m:r>
                            </m:e>
                            <m:sup>
                              <m:r>
                                <a:rPr lang="en-US" altLang="zh-CN" b="1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𝒅𝑺</m:t>
                          </m:r>
                        </m:den>
                      </m:f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</m:acc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acc>
                        <m:accPr>
                          <m:chr m:val="⃗"/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𝒆</m:t>
                          </m:r>
                          <m:r>
                            <a:rPr lang="en-US" altLang="zh-CN" b="1" i="1" baseline="-2500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𝒏</m:t>
                          </m:r>
                        </m:e>
                      </m:acc>
                      <m:r>
                        <a:rPr lang="en-US" altLang="zh-CN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𝑷</m:t>
                          </m:r>
                        </m:e>
                        <m:sub>
                          <m:r>
                            <a:rPr lang="en-US" altLang="zh-CN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510133" y="2593171"/>
                <a:ext cx="5964864" cy="4023360"/>
              </a:xfrm>
              <a:blipFill>
                <a:blip r:embed="rId3"/>
                <a:stretch>
                  <a:fillRect l="-21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内容占位符 5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1481" y="1839056"/>
            <a:ext cx="2725362" cy="3534712"/>
          </a:xfr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45BDEAB7-7709-177B-7811-13123F9F21FA}"/>
              </a:ext>
            </a:extLst>
          </p:cNvPr>
          <p:cNvSpPr/>
          <p:nvPr/>
        </p:nvSpPr>
        <p:spPr>
          <a:xfrm>
            <a:off x="752205" y="1898135"/>
            <a:ext cx="527580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571500" indent="-5715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束缚电荷与极化强度关系</a:t>
            </a:r>
            <a:endParaRPr lang="en-US" sz="3200" b="1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5E4E73E-FA99-1B28-3215-EE43530C8D29}"/>
                  </a:ext>
                </a:extLst>
              </p:cNvPr>
              <p:cNvSpPr txBox="1"/>
              <p:nvPr/>
            </p:nvSpPr>
            <p:spPr>
              <a:xfrm flipH="1">
                <a:off x="10355284" y="2505800"/>
                <a:ext cx="393459" cy="492443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altLang="zh-CN" sz="2600" i="1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m:rPr>
                              <m:sty m:val="p"/>
                            </m:rPr>
                            <a:rPr lang="en-US" altLang="zh-CN" sz="2600" i="1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e</m:t>
                          </m:r>
                          <m:r>
                            <a:rPr lang="en-US" altLang="zh-CN" sz="2600" b="0" i="1" baseline="-25000" smtClean="0"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𝑛</m:t>
                          </m:r>
                        </m:e>
                      </m:acc>
                    </m:oMath>
                  </m:oMathPara>
                </a14:m>
                <a:endParaRPr lang="zh-CN" altLang="en-US" sz="26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B5E4E73E-FA99-1B28-3215-EE43530C8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10355284" y="2505800"/>
                <a:ext cx="393459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9ED855B-EC1D-7889-17C5-59B9D49D1EE9}"/>
                  </a:ext>
                </a:extLst>
              </p:cNvPr>
              <p:cNvSpPr txBox="1"/>
              <p:nvPr/>
            </p:nvSpPr>
            <p:spPr>
              <a:xfrm>
                <a:off x="3740875" y="990989"/>
                <a:ext cx="3352256" cy="6478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32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3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𝝈</m:t>
                          </m:r>
                        </m:e>
                        <m:sup>
                          <m:r>
                            <a:rPr lang="en-US" altLang="zh-CN" sz="3200" b="1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altLang="zh-CN" sz="32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acc>
                        <m:accPr>
                          <m:chr m:val="⃗"/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acc>
                      <m:r>
                        <a:rPr lang="en-US" altLang="zh-CN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altLang="zh-CN" sz="32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𝒅</m:t>
                      </m:r>
                      <m:acc>
                        <m:accPr>
                          <m:chr m:val="⃗"/>
                          <m:ctrlP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</m:ctrlPr>
                        </m:accPr>
                        <m:e>
                          <m:r>
                            <a:rPr lang="en-US" altLang="zh-CN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</a:rPr>
                            <m:t>𝑺</m:t>
                          </m:r>
                        </m:e>
                      </m:acc>
                    </m:oMath>
                  </m:oMathPara>
                </a14:m>
                <a:endParaRPr lang="zh-CN" altLang="en-US" sz="32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9ED855B-EC1D-7889-17C5-59B9D49D1E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875" y="990989"/>
                <a:ext cx="3352256" cy="6478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文本框 12">
            <a:extLst>
              <a:ext uri="{FF2B5EF4-FFF2-40B4-BE49-F238E27FC236}">
                <a16:creationId xmlns:a16="http://schemas.microsoft.com/office/drawing/2014/main" id="{D3554FA9-DECA-1E93-9DAA-24A706DEB6B3}"/>
              </a:ext>
            </a:extLst>
          </p:cNvPr>
          <p:cNvSpPr txBox="1"/>
          <p:nvPr/>
        </p:nvSpPr>
        <p:spPr>
          <a:xfrm>
            <a:off x="2842247" y="102253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/>
              <a:t>更正：</a:t>
            </a:r>
          </a:p>
        </p:txBody>
      </p:sp>
    </p:spTree>
    <p:extLst>
      <p:ext uri="{BB962C8B-B14F-4D97-AF65-F5344CB8AC3E}">
        <p14:creationId xmlns:p14="http://schemas.microsoft.com/office/powerpoint/2010/main" val="3528161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582E958-EDA0-2BC6-AC77-6B1DFC678B79}"/>
              </a:ext>
            </a:extLst>
          </p:cNvPr>
          <p:cNvSpPr txBox="1"/>
          <p:nvPr/>
        </p:nvSpPr>
        <p:spPr>
          <a:xfrm>
            <a:off x="1890023" y="797510"/>
            <a:ext cx="854891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dirty="0"/>
              <a:t>                         第1次课堂小测</a:t>
            </a:r>
            <a:endParaRPr lang="en-US" altLang="zh-CN" sz="3200" dirty="0"/>
          </a:p>
          <a:p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zh-CN" altLang="en-US" sz="3200" dirty="0"/>
              <a:t>题型：选择题（共10题），15分钟完成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zh-CN" altLang="en-US" sz="3200" dirty="0"/>
              <a:t>时间：第9周周2第3节前15分钟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zh-CN" altLang="en-US" sz="3200" dirty="0"/>
              <a:t>考试内容：第</a:t>
            </a:r>
            <a:r>
              <a:rPr lang="en-US" altLang="zh-CN" sz="3200" dirty="0"/>
              <a:t>10-15</a:t>
            </a:r>
            <a:r>
              <a:rPr lang="zh-CN" altLang="en-US" sz="3200" dirty="0"/>
              <a:t>章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zh-CN" altLang="en-US" sz="3200" dirty="0"/>
              <a:t>考试方式：雨课堂</a:t>
            </a:r>
            <a:endParaRPr lang="en-US" altLang="zh-CN" sz="3200" dirty="0"/>
          </a:p>
          <a:p>
            <a:pPr>
              <a:lnSpc>
                <a:spcPct val="150000"/>
              </a:lnSpc>
            </a:pPr>
            <a:r>
              <a:rPr lang="zh-CN" altLang="en-US" sz="3200" dirty="0"/>
              <a:t>本次小测采用开卷形式</a:t>
            </a:r>
            <a:endParaRPr lang="en-US" altLang="zh-CN" sz="3200" dirty="0"/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9494992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13">
            <a:extLst>
              <a:ext uri="{FF2B5EF4-FFF2-40B4-BE49-F238E27FC236}">
                <a16:creationId xmlns:a16="http://schemas.microsoft.com/office/drawing/2014/main" id="{B1D77FAA-C6EC-4AC5-A3F5-4CC64C9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371" y="261453"/>
            <a:ext cx="70971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16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恒定电流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DB04A1-0ED6-47DB-AB21-B6B2EFE1D30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" name="Picture 2" descr="Circuits – Dominion Energy">
            <a:extLst>
              <a:ext uri="{FF2B5EF4-FFF2-40B4-BE49-F238E27FC236}">
                <a16:creationId xmlns:a16="http://schemas.microsoft.com/office/drawing/2014/main" id="{1B268123-9569-4C7A-A1D8-0D49C2056C9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409" y="1570297"/>
            <a:ext cx="5303259" cy="397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ACDCED0-58F8-48ED-8989-3164A85AEB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8499" y="1649496"/>
            <a:ext cx="3035505" cy="3559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38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6" name="Text Box 13">
            <a:extLst>
              <a:ext uri="{FF2B5EF4-FFF2-40B4-BE49-F238E27FC236}">
                <a16:creationId xmlns:a16="http://schemas.microsoft.com/office/drawing/2014/main" id="{B1D77FAA-C6EC-4AC5-A3F5-4CC64C94B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76371" y="261453"/>
            <a:ext cx="709712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第</a:t>
            </a:r>
            <a:r>
              <a:rPr lang="en-US" altLang="zh-CN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16</a:t>
            </a:r>
            <a:r>
              <a:rPr lang="zh-CN" altLang="en-US" sz="36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章     恒定电流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4112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E4498F14-2B16-44E2-8121-1F90B8015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486" y="1550588"/>
            <a:ext cx="5231995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1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电流和电流密度</a:t>
            </a:r>
          </a:p>
        </p:txBody>
      </p:sp>
      <p:sp>
        <p:nvSpPr>
          <p:cNvPr id="4114" name="Text Box 18">
            <a:hlinkClick r:id="" action="ppaction://noaction"/>
            <a:extLst>
              <a:ext uri="{FF2B5EF4-FFF2-40B4-BE49-F238E27FC236}">
                <a16:creationId xmlns:a16="http://schemas.microsoft.com/office/drawing/2014/main" id="{6FD6935D-21DB-4E0A-A113-0012E404D3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1487" y="2845988"/>
            <a:ext cx="553883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3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欧姆定律和电阻</a:t>
            </a:r>
          </a:p>
        </p:txBody>
      </p:sp>
      <p:sp>
        <p:nvSpPr>
          <p:cNvPr id="4115" name="Text Box 19">
            <a:hlinkClick r:id="" action="ppaction://noaction"/>
            <a:extLst>
              <a:ext uri="{FF2B5EF4-FFF2-40B4-BE49-F238E27FC236}">
                <a16:creationId xmlns:a16="http://schemas.microsoft.com/office/drawing/2014/main" id="{2E74E40B-D4E9-420C-843A-63B8B00C8F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10486" y="3489520"/>
            <a:ext cx="187102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4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  电动势</a:t>
            </a:r>
          </a:p>
        </p:txBody>
      </p:sp>
      <p:sp>
        <p:nvSpPr>
          <p:cNvPr id="4116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163FEB06-B244-41DC-9745-09D2B510C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486" y="4853899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6 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电容器的充电和放电</a:t>
            </a: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*</a:t>
            </a:r>
            <a:endParaRPr lang="zh-CN" altLang="en-US" sz="3200" b="1" dirty="0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sp>
        <p:nvSpPr>
          <p:cNvPr id="9" name="Rectangle 16">
            <a:hlinkClick r:id="" action="ppaction://noaction"/>
            <a:extLst>
              <a:ext uri="{FF2B5EF4-FFF2-40B4-BE49-F238E27FC236}">
                <a16:creationId xmlns:a16="http://schemas.microsoft.com/office/drawing/2014/main" id="{33F5298E-54F0-4E10-A769-B55A508ED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1488" y="2198288"/>
            <a:ext cx="6154243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2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恒定电流和恒定电场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BBDB04A1-0ED6-47DB-AB21-B6B2EFE1D30C}"/>
              </a:ext>
            </a:extLst>
          </p:cNvPr>
          <p:cNvSpPr/>
          <p:nvPr/>
        </p:nvSpPr>
        <p:spPr>
          <a:xfrm>
            <a:off x="58049" y="974966"/>
            <a:ext cx="12075902" cy="6044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0">
                <a:srgbClr val="98D109"/>
              </a:gs>
              <a:gs pos="52000">
                <a:srgbClr val="498D3B"/>
              </a:gs>
              <a:gs pos="97000">
                <a:srgbClr val="005825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189">
              <a:defRPr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华文楷体" panose="02010600040101010101" pitchFamily="2" charset="-122"/>
              <a:cs typeface="Arial" panose="020B0604020202020204" pitchFamily="34" charset="0"/>
            </a:endParaRPr>
          </a:p>
        </p:txBody>
      </p:sp>
      <p:pic>
        <p:nvPicPr>
          <p:cNvPr id="2" name="Picture 2" descr="Circuits – Dominion Energy">
            <a:extLst>
              <a:ext uri="{FF2B5EF4-FFF2-40B4-BE49-F238E27FC236}">
                <a16:creationId xmlns:a16="http://schemas.microsoft.com/office/drawing/2014/main" id="{1B268123-9569-4C7A-A1D8-0D49C2056C9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223" y="1694959"/>
            <a:ext cx="5303259" cy="3977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00652B4C-7B69-4F63-BD2E-34326BFB5A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486" y="5472811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7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电流的微观图像</a:t>
            </a:r>
          </a:p>
        </p:txBody>
      </p:sp>
      <p:sp>
        <p:nvSpPr>
          <p:cNvPr id="3" name="Rectangle 20">
            <a:hlinkClick r:id="" action="ppaction://noaction"/>
            <a:extLst>
              <a:ext uri="{FF2B5EF4-FFF2-40B4-BE49-F238E27FC236}">
                <a16:creationId xmlns:a16="http://schemas.microsoft.com/office/drawing/2014/main" id="{58772E6F-4249-DAC3-4C17-81716BD36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0486" y="4159078"/>
            <a:ext cx="4679950" cy="5854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rgbClr val="FF3300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5   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20204" pitchFamily="34" charset="0"/>
                <a:ea typeface="华文楷体" panose="02010600040101010101" pitchFamily="2" charset="-122"/>
                <a:cs typeface="Arial" panose="020B0604020202020204" pitchFamily="34" charset="0"/>
              </a:rPr>
              <a:t>有电动势的电路</a:t>
            </a:r>
          </a:p>
        </p:txBody>
      </p:sp>
    </p:spTree>
    <p:extLst>
      <p:ext uri="{BB962C8B-B14F-4D97-AF65-F5344CB8AC3E}">
        <p14:creationId xmlns:p14="http://schemas.microsoft.com/office/powerpoint/2010/main" val="77909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1F48CD-0C78-4CCF-B069-79382E6F4A9C}"/>
              </a:ext>
            </a:extLst>
          </p:cNvPr>
          <p:cNvSpPr/>
          <p:nvPr/>
        </p:nvSpPr>
        <p:spPr>
          <a:xfrm>
            <a:off x="980019" y="1406351"/>
            <a:ext cx="745236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载流子</a:t>
            </a:r>
            <a:r>
              <a:rPr lang="en-US" altLang="zh-CN" sz="28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prstClr val="blac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可以自由移动的带电物质微粒</a:t>
            </a:r>
            <a:endParaRPr lang="en-US" sz="28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9311ACE-3313-4DE1-A413-DC61D5136663}"/>
              </a:ext>
            </a:extLst>
          </p:cNvPr>
          <p:cNvSpPr/>
          <p:nvPr/>
        </p:nvSpPr>
        <p:spPr>
          <a:xfrm>
            <a:off x="2794000" y="2162631"/>
            <a:ext cx="419894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Clr>
                <a:srgbClr val="99CB38"/>
              </a:buClr>
              <a:buSzPct val="100000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金属导体 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-- 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自由电子</a:t>
            </a:r>
            <a:endParaRPr lang="en-US" altLang="zh-CN" sz="28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>
              <a:buClr>
                <a:srgbClr val="99CB38"/>
              </a:buClr>
              <a:buSzPct val="100000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半导体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-- 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电子和空穴 </a:t>
            </a:r>
            <a:endParaRPr lang="en-US" altLang="zh-CN" sz="28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lvl="0">
              <a:buClr>
                <a:srgbClr val="99CB38"/>
              </a:buClr>
              <a:buSzPct val="100000"/>
            </a:pP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电解液</a:t>
            </a:r>
            <a:r>
              <a:rPr lang="en-US" altLang="zh-CN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-- </a:t>
            </a:r>
            <a:r>
              <a:rPr lang="zh-CN" altLang="en-US" sz="280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正负离子</a:t>
            </a:r>
            <a:endParaRPr lang="en-US" altLang="zh-CN" sz="280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721606D-C2CB-4A35-B4C4-536404ED6F81}"/>
                  </a:ext>
                </a:extLst>
              </p:cNvPr>
              <p:cNvSpPr/>
              <p:nvPr/>
            </p:nvSpPr>
            <p:spPr>
              <a:xfrm>
                <a:off x="837142" y="3664738"/>
                <a:ext cx="7343351" cy="196617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:r>
                  <a:rPr lang="zh-CN" altLang="en-US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电流：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单位时间内通过导体横截面的电量：</a:t>
                </a:r>
                <a:endParaRPr lang="en-US" altLang="zh-CN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𝐼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𝑑𝑞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altLang="zh-CN" sz="28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𝑑𝑡</m:t>
                      </m:r>
                    </m:oMath>
                  </m:oMathPara>
                </a14:m>
                <a:endParaRPr lang="en-US" altLang="zh-CN" sz="2800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- </a:t>
                </a:r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方向：规定为正电荷运动的方向</a:t>
                </a:r>
                <a:endParaRPr lang="en-US" altLang="zh-CN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0721606D-C2CB-4A35-B4C4-536404ED6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42" y="3664738"/>
                <a:ext cx="7343351" cy="1966179"/>
              </a:xfrm>
              <a:prstGeom prst="rect">
                <a:avLst/>
              </a:prstGeom>
              <a:blipFill>
                <a:blip r:embed="rId2"/>
                <a:stretch>
                  <a:fillRect b="-77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E969968-6CF1-4F17-A37F-D31BB14D6BC0}"/>
                  </a:ext>
                </a:extLst>
              </p:cNvPr>
              <p:cNvSpPr/>
              <p:nvPr/>
            </p:nvSpPr>
            <p:spPr>
              <a:xfrm>
                <a:off x="1645920" y="5914210"/>
                <a:ext cx="556831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- 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单位：</a:t>
                </a:r>
                <a:r>
                  <a:rPr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[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安培</a:t>
                </a:r>
                <a:r>
                  <a:rPr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sz="28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），</a:t>
                </a:r>
                <a14:m>
                  <m:oMath xmlns:m="http://schemas.openxmlformats.org/officeDocument/2006/math">
                    <m:r>
                      <a:rPr lang="en-US" altLang="zh-CN" sz="28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A</m:t>
                    </m:r>
                    <m:r>
                      <a:rPr lang="en-US" altLang="zh-CN" sz="28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C</m:t>
                    </m:r>
                    <m: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/</m:t>
                    </m:r>
                    <m:r>
                      <m:rPr>
                        <m:sty m:val="p"/>
                      </m:rPr>
                      <a:rPr lang="en-US" altLang="zh-CN" sz="280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新魏" panose="02010800040101010101" pitchFamily="2" charset="-122"/>
                        <a:cs typeface="Times New Roman" panose="02020603050405020304" pitchFamily="18" charset="0"/>
                      </a:rPr>
                      <m:t>s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9E969968-6CF1-4F17-A37F-D31BB14D6B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5920" y="5914210"/>
                <a:ext cx="5568319" cy="523220"/>
              </a:xfrm>
              <a:prstGeom prst="rect">
                <a:avLst/>
              </a:prstGeom>
              <a:blipFill>
                <a:blip r:embed="rId3"/>
                <a:stretch>
                  <a:fillRect t="-13953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57998AB2-0F22-6075-2914-E38E2766D749}"/>
              </a:ext>
            </a:extLst>
          </p:cNvPr>
          <p:cNvSpPr/>
          <p:nvPr/>
        </p:nvSpPr>
        <p:spPr>
          <a:xfrm>
            <a:off x="467893" y="366441"/>
            <a:ext cx="2696947" cy="756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</a:t>
            </a:r>
            <a:endParaRPr lang="en-US" altLang="zh-CN" sz="32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396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FEDB5E12-C30A-4449-82FA-1967BAEBA0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165" y="4709224"/>
            <a:ext cx="976367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buSzTx/>
              <a:buFontTx/>
              <a:buNone/>
            </a:pPr>
            <a:r>
              <a:rPr lang="en-US" altLang="zh-CN" sz="2800" i="1" dirty="0">
                <a:solidFill>
                  <a:srgbClr val="000000"/>
                </a:solidFill>
                <a:latin typeface="+mn-ea"/>
                <a:ea typeface="+mn-ea"/>
              </a:rPr>
              <a:t>I </a:t>
            </a:r>
            <a:r>
              <a:rPr lang="zh-CN" altLang="en-US" sz="2800" dirty="0">
                <a:solidFill>
                  <a:srgbClr val="000000"/>
                </a:solidFill>
                <a:latin typeface="+mn-ea"/>
                <a:ea typeface="+mn-ea"/>
              </a:rPr>
              <a:t>不能反映不同截面处及同一截面不同位置处电流流动的情况</a:t>
            </a:r>
            <a:endParaRPr lang="en-US" altLang="zh-CN" sz="2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9219" name="Text Box 7">
            <a:extLst>
              <a:ext uri="{FF2B5EF4-FFF2-40B4-BE49-F238E27FC236}">
                <a16:creationId xmlns:a16="http://schemas.microsoft.com/office/drawing/2014/main" id="{711E0296-267C-4CF7-8257-EEB528E49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0434" y="4682795"/>
            <a:ext cx="2438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endParaRPr lang="en-US" altLang="en-US" sz="2800">
              <a:solidFill>
                <a:srgbClr val="160EB8"/>
              </a:solidFill>
              <a:latin typeface="Times New Roman" panose="02020603050405020304" pitchFamily="18" charset="0"/>
              <a:ea typeface="隶书" panose="02010509060101010101" pitchFamily="49" charset="-122"/>
            </a:endParaRPr>
          </a:p>
        </p:txBody>
      </p:sp>
      <p:sp>
        <p:nvSpPr>
          <p:cNvPr id="9220" name="Text Box 8">
            <a:extLst>
              <a:ext uri="{FF2B5EF4-FFF2-40B4-BE49-F238E27FC236}">
                <a16:creationId xmlns:a16="http://schemas.microsoft.com/office/drawing/2014/main" id="{4F06874D-4551-4B88-9671-D6852F0B08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53574" y="3610503"/>
            <a:ext cx="2362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半球形接地电极附近的电流分布</a:t>
            </a:r>
          </a:p>
        </p:txBody>
      </p:sp>
      <p:sp>
        <p:nvSpPr>
          <p:cNvPr id="9221" name="Text Box 9">
            <a:extLst>
              <a:ext uri="{FF2B5EF4-FFF2-40B4-BE49-F238E27FC236}">
                <a16:creationId xmlns:a16="http://schemas.microsoft.com/office/drawing/2014/main" id="{BB2AA51C-C538-4FF3-BD9E-FB323A8F30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80224" y="3501935"/>
            <a:ext cx="22098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400" dirty="0">
                <a:latin typeface="+mn-ea"/>
                <a:ea typeface="+mn-ea"/>
              </a:rPr>
              <a:t>电疗时电流通过下肢的情况</a:t>
            </a:r>
          </a:p>
        </p:txBody>
      </p:sp>
      <p:sp>
        <p:nvSpPr>
          <p:cNvPr id="9222" name="Text Box 10">
            <a:extLst>
              <a:ext uri="{FF2B5EF4-FFF2-40B4-BE49-F238E27FC236}">
                <a16:creationId xmlns:a16="http://schemas.microsoft.com/office/drawing/2014/main" id="{A7EE9E53-B1DF-411F-A523-04AF96CB64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8124" y="3501935"/>
            <a:ext cx="26670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SzPct val="90000"/>
              <a:buBlip>
                <a:blip r:embed="rId2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3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4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5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6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SzTx/>
              <a:buFontTx/>
              <a:buNone/>
            </a:pPr>
            <a:r>
              <a:rPr lang="zh-CN" altLang="en-US" sz="2400">
                <a:latin typeface="+mn-ea"/>
                <a:ea typeface="+mn-ea"/>
              </a:rPr>
              <a:t>电解质内两个点电极之间的电流分布</a:t>
            </a:r>
          </a:p>
        </p:txBody>
      </p:sp>
      <p:grpSp>
        <p:nvGrpSpPr>
          <p:cNvPr id="9224" name="Group 81">
            <a:extLst>
              <a:ext uri="{FF2B5EF4-FFF2-40B4-BE49-F238E27FC236}">
                <a16:creationId xmlns:a16="http://schemas.microsoft.com/office/drawing/2014/main" id="{CED4478F-E1DC-4FD7-B559-4D5B3E848BEE}"/>
              </a:ext>
            </a:extLst>
          </p:cNvPr>
          <p:cNvGrpSpPr>
            <a:grpSpLocks/>
          </p:cNvGrpSpPr>
          <p:nvPr/>
        </p:nvGrpSpPr>
        <p:grpSpPr bwMode="auto">
          <a:xfrm>
            <a:off x="1722724" y="1444535"/>
            <a:ext cx="2357438" cy="2030413"/>
            <a:chOff x="384" y="1392"/>
            <a:chExt cx="1485" cy="1279"/>
          </a:xfrm>
        </p:grpSpPr>
        <p:sp>
          <p:nvSpPr>
            <p:cNvPr id="9274" name="Line 14">
              <a:extLst>
                <a:ext uri="{FF2B5EF4-FFF2-40B4-BE49-F238E27FC236}">
                  <a16:creationId xmlns:a16="http://schemas.microsoft.com/office/drawing/2014/main" id="{E1DD6296-FF2D-42FC-9BC9-63E423CB12B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4" y="2123"/>
              <a:ext cx="148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275" name="Group 15">
              <a:extLst>
                <a:ext uri="{FF2B5EF4-FFF2-40B4-BE49-F238E27FC236}">
                  <a16:creationId xmlns:a16="http://schemas.microsoft.com/office/drawing/2014/main" id="{1167D2FD-AE60-4C93-9C4A-C86748C55D1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58" y="2041"/>
              <a:ext cx="1107" cy="630"/>
              <a:chOff x="933" y="2725"/>
              <a:chExt cx="1456" cy="828"/>
            </a:xfrm>
          </p:grpSpPr>
          <p:sp>
            <p:nvSpPr>
              <p:cNvPr id="9280" name="Line 16">
                <a:extLst>
                  <a:ext uri="{FF2B5EF4-FFF2-40B4-BE49-F238E27FC236}">
                    <a16:creationId xmlns:a16="http://schemas.microsoft.com/office/drawing/2014/main" id="{49CDBA84-BB10-4ADF-8547-4C1A6EF94CD4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658" y="2832"/>
                <a:ext cx="0" cy="72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1" name="Line 17">
                <a:extLst>
                  <a:ext uri="{FF2B5EF4-FFF2-40B4-BE49-F238E27FC236}">
                    <a16:creationId xmlns:a16="http://schemas.microsoft.com/office/drawing/2014/main" id="{05BCDD87-3E41-414A-BCA3-E270385A7CEA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-830576">
                <a:off x="1755" y="2816"/>
                <a:ext cx="1" cy="7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2" name="Line 18">
                <a:extLst>
                  <a:ext uri="{FF2B5EF4-FFF2-40B4-BE49-F238E27FC236}">
                    <a16:creationId xmlns:a16="http://schemas.microsoft.com/office/drawing/2014/main" id="{150393CA-B9A9-4BD2-B13A-CECA665B7E3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830576" flipH="1">
                <a:off x="1574" y="2817"/>
                <a:ext cx="1" cy="7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3" name="Line 19">
                <a:extLst>
                  <a:ext uri="{FF2B5EF4-FFF2-40B4-BE49-F238E27FC236}">
                    <a16:creationId xmlns:a16="http://schemas.microsoft.com/office/drawing/2014/main" id="{22A49BF0-ADE0-48E9-8C0D-EC839744F7F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-1808782">
                <a:off x="1846" y="2795"/>
                <a:ext cx="1" cy="7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4" name="Line 20">
                <a:extLst>
                  <a:ext uri="{FF2B5EF4-FFF2-40B4-BE49-F238E27FC236}">
                    <a16:creationId xmlns:a16="http://schemas.microsoft.com/office/drawing/2014/main" id="{AD044A80-4871-4C2B-85C2-3F08BA726477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1808782" flipH="1">
                <a:off x="1488" y="2784"/>
                <a:ext cx="1" cy="7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5" name="Line 21">
                <a:extLst>
                  <a:ext uri="{FF2B5EF4-FFF2-40B4-BE49-F238E27FC236}">
                    <a16:creationId xmlns:a16="http://schemas.microsoft.com/office/drawing/2014/main" id="{66A34578-5147-4BEC-AAF0-B0DE7A7C97F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2698337" flipH="1">
                <a:off x="1414" y="2725"/>
                <a:ext cx="1" cy="7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6" name="Line 22">
                <a:extLst>
                  <a:ext uri="{FF2B5EF4-FFF2-40B4-BE49-F238E27FC236}">
                    <a16:creationId xmlns:a16="http://schemas.microsoft.com/office/drawing/2014/main" id="{FAADC46C-4FD6-4BC7-A66E-BCF0DE01A78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-2698337">
                <a:off x="1919" y="2736"/>
                <a:ext cx="1" cy="7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7" name="Line 23">
                <a:extLst>
                  <a:ext uri="{FF2B5EF4-FFF2-40B4-BE49-F238E27FC236}">
                    <a16:creationId xmlns:a16="http://schemas.microsoft.com/office/drawing/2014/main" id="{F94C9BA4-5952-4D4E-B8B5-DB57F541A09E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-3801478">
                <a:off x="1994" y="2634"/>
                <a:ext cx="1" cy="7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8" name="Line 24">
                <a:extLst>
                  <a:ext uri="{FF2B5EF4-FFF2-40B4-BE49-F238E27FC236}">
                    <a16:creationId xmlns:a16="http://schemas.microsoft.com/office/drawing/2014/main" id="{692F679A-8B13-4D27-B5CB-C28A22D695AC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3801478" flipH="1">
                <a:off x="1338" y="2631"/>
                <a:ext cx="1" cy="7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89" name="Line 25">
                <a:extLst>
                  <a:ext uri="{FF2B5EF4-FFF2-40B4-BE49-F238E27FC236}">
                    <a16:creationId xmlns:a16="http://schemas.microsoft.com/office/drawing/2014/main" id="{33728577-E642-4EB0-BC0B-B7E77F2E2FD8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4824473" flipH="1">
                <a:off x="1300" y="2535"/>
                <a:ext cx="1" cy="7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90" name="Line 26">
                <a:extLst>
                  <a:ext uri="{FF2B5EF4-FFF2-40B4-BE49-F238E27FC236}">
                    <a16:creationId xmlns:a16="http://schemas.microsoft.com/office/drawing/2014/main" id="{D6D65EE2-E96C-446B-A41D-D09F9D88EBBD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 rot="-4824473">
                <a:off x="2020" y="2546"/>
                <a:ext cx="1" cy="736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round/>
                <a:headE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76" name="Oval 27">
              <a:extLst>
                <a:ext uri="{FF2B5EF4-FFF2-40B4-BE49-F238E27FC236}">
                  <a16:creationId xmlns:a16="http://schemas.microsoft.com/office/drawing/2014/main" id="{C7D53536-61E0-4DD6-A299-A94CCA2EDCF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944" y="1959"/>
              <a:ext cx="329" cy="330"/>
            </a:xfrm>
            <a:prstGeom prst="ellipse">
              <a:avLst/>
            </a:prstGeom>
            <a:solidFill>
              <a:srgbClr val="33CCCC"/>
            </a:solidFill>
            <a:ln w="9525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77" name="Rectangle 28">
              <a:extLst>
                <a:ext uri="{FF2B5EF4-FFF2-40B4-BE49-F238E27FC236}">
                  <a16:creationId xmlns:a16="http://schemas.microsoft.com/office/drawing/2014/main" id="{F7B5BA0A-7B9B-4745-8155-46FCA423C67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017" y="1392"/>
              <a:ext cx="183" cy="621"/>
            </a:xfrm>
            <a:prstGeom prst="rect">
              <a:avLst/>
            </a:prstGeom>
            <a:solidFill>
              <a:srgbClr val="33CCCC"/>
            </a:solidFill>
            <a:ln w="9525">
              <a:solidFill>
                <a:srgbClr val="33CCCC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78" name="Text Box 29">
              <a:extLst>
                <a:ext uri="{FF2B5EF4-FFF2-40B4-BE49-F238E27FC236}">
                  <a16:creationId xmlns:a16="http://schemas.microsoft.com/office/drawing/2014/main" id="{4FE8BFB2-2A3D-4488-A4EA-1D707002A40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34" y="1482"/>
              <a:ext cx="19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>
                  <a:solidFill>
                    <a:srgbClr val="FF0000"/>
                  </a:solidFill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9279" name="Line 30">
              <a:extLst>
                <a:ext uri="{FF2B5EF4-FFF2-40B4-BE49-F238E27FC236}">
                  <a16:creationId xmlns:a16="http://schemas.microsoft.com/office/drawing/2014/main" id="{16EBC867-4B0B-4D70-AE76-127CA28407E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107" y="1792"/>
              <a:ext cx="0" cy="219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5" name="Group 31">
            <a:extLst>
              <a:ext uri="{FF2B5EF4-FFF2-40B4-BE49-F238E27FC236}">
                <a16:creationId xmlns:a16="http://schemas.microsoft.com/office/drawing/2014/main" id="{E31901DE-0054-4269-8FD8-1541CB5383AD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770724" y="1368335"/>
            <a:ext cx="1181100" cy="1903413"/>
            <a:chOff x="864" y="1536"/>
            <a:chExt cx="1008" cy="1680"/>
          </a:xfrm>
        </p:grpSpPr>
        <p:grpSp>
          <p:nvGrpSpPr>
            <p:cNvPr id="9251" name="Group 32">
              <a:extLst>
                <a:ext uri="{FF2B5EF4-FFF2-40B4-BE49-F238E27FC236}">
                  <a16:creationId xmlns:a16="http://schemas.microsoft.com/office/drawing/2014/main" id="{6AF74790-6F31-4A49-AA72-7B4FB8040C3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64" y="1536"/>
              <a:ext cx="816" cy="1680"/>
              <a:chOff x="864" y="1536"/>
              <a:chExt cx="816" cy="1680"/>
            </a:xfrm>
          </p:grpSpPr>
          <p:sp>
            <p:nvSpPr>
              <p:cNvPr id="9268" name="Freeform 33">
                <a:extLst>
                  <a:ext uri="{FF2B5EF4-FFF2-40B4-BE49-F238E27FC236}">
                    <a16:creationId xmlns:a16="http://schemas.microsoft.com/office/drawing/2014/main" id="{D3035B6E-AF96-4307-94EC-C550BDD5C0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rot="-2174844">
                <a:off x="864" y="1936"/>
                <a:ext cx="196" cy="399"/>
              </a:xfrm>
              <a:custGeom>
                <a:avLst/>
                <a:gdLst>
                  <a:gd name="T0" fmla="*/ 0 w 192"/>
                  <a:gd name="T1" fmla="*/ 0 h 576"/>
                  <a:gd name="T2" fmla="*/ 50 w 192"/>
                  <a:gd name="T3" fmla="*/ 161 h 576"/>
                  <a:gd name="T4" fmla="*/ 200 w 192"/>
                  <a:gd name="T5" fmla="*/ 276 h 57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576">
                    <a:moveTo>
                      <a:pt x="0" y="0"/>
                    </a:moveTo>
                    <a:cubicBezTo>
                      <a:pt x="8" y="120"/>
                      <a:pt x="16" y="240"/>
                      <a:pt x="48" y="336"/>
                    </a:cubicBezTo>
                    <a:cubicBezTo>
                      <a:pt x="80" y="432"/>
                      <a:pt x="168" y="536"/>
                      <a:pt x="192" y="576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69" name="Freeform 34">
                <a:extLst>
                  <a:ext uri="{FF2B5EF4-FFF2-40B4-BE49-F238E27FC236}">
                    <a16:creationId xmlns:a16="http://schemas.microsoft.com/office/drawing/2014/main" id="{BFF50EB4-6C93-4315-AF30-E62681FDD8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152" y="1536"/>
                <a:ext cx="336" cy="432"/>
              </a:xfrm>
              <a:custGeom>
                <a:avLst/>
                <a:gdLst>
                  <a:gd name="T0" fmla="*/ 0 w 528"/>
                  <a:gd name="T1" fmla="*/ 0 h 624"/>
                  <a:gd name="T2" fmla="*/ 116 w 528"/>
                  <a:gd name="T3" fmla="*/ 115 h 624"/>
                  <a:gd name="T4" fmla="*/ 214 w 528"/>
                  <a:gd name="T5" fmla="*/ 299 h 6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28" h="624">
                    <a:moveTo>
                      <a:pt x="0" y="0"/>
                    </a:moveTo>
                    <a:cubicBezTo>
                      <a:pt x="100" y="68"/>
                      <a:pt x="200" y="136"/>
                      <a:pt x="288" y="240"/>
                    </a:cubicBezTo>
                    <a:cubicBezTo>
                      <a:pt x="376" y="344"/>
                      <a:pt x="488" y="560"/>
                      <a:pt x="528" y="624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0" name="Freeform 35">
                <a:extLst>
                  <a:ext uri="{FF2B5EF4-FFF2-40B4-BE49-F238E27FC236}">
                    <a16:creationId xmlns:a16="http://schemas.microsoft.com/office/drawing/2014/main" id="{540CC1C9-B54A-4766-B95F-8EFC2B0639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488" y="1968"/>
                <a:ext cx="152" cy="1200"/>
              </a:xfrm>
              <a:custGeom>
                <a:avLst/>
                <a:gdLst>
                  <a:gd name="T0" fmla="*/ 0 w 152"/>
                  <a:gd name="T1" fmla="*/ 0 h 1200"/>
                  <a:gd name="T2" fmla="*/ 96 w 152"/>
                  <a:gd name="T3" fmla="*/ 96 h 1200"/>
                  <a:gd name="T4" fmla="*/ 144 w 152"/>
                  <a:gd name="T5" fmla="*/ 336 h 1200"/>
                  <a:gd name="T6" fmla="*/ 144 w 152"/>
                  <a:gd name="T7" fmla="*/ 1200 h 120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52" h="1200">
                    <a:moveTo>
                      <a:pt x="0" y="0"/>
                    </a:moveTo>
                    <a:cubicBezTo>
                      <a:pt x="36" y="20"/>
                      <a:pt x="72" y="40"/>
                      <a:pt x="96" y="96"/>
                    </a:cubicBezTo>
                    <a:cubicBezTo>
                      <a:pt x="120" y="152"/>
                      <a:pt x="136" y="152"/>
                      <a:pt x="144" y="336"/>
                    </a:cubicBezTo>
                    <a:cubicBezTo>
                      <a:pt x="152" y="520"/>
                      <a:pt x="144" y="1056"/>
                      <a:pt x="144" y="120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1" name="Freeform 36">
                <a:extLst>
                  <a:ext uri="{FF2B5EF4-FFF2-40B4-BE49-F238E27FC236}">
                    <a16:creationId xmlns:a16="http://schemas.microsoft.com/office/drawing/2014/main" id="{026EB0C8-34BD-497E-B9DE-E25C3C3AEF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1080" y="2256"/>
                <a:ext cx="168" cy="960"/>
              </a:xfrm>
              <a:custGeom>
                <a:avLst/>
                <a:gdLst>
                  <a:gd name="T0" fmla="*/ 72 w 168"/>
                  <a:gd name="T1" fmla="*/ 0 h 960"/>
                  <a:gd name="T2" fmla="*/ 24 w 168"/>
                  <a:gd name="T3" fmla="*/ 144 h 960"/>
                  <a:gd name="T4" fmla="*/ 24 w 168"/>
                  <a:gd name="T5" fmla="*/ 528 h 960"/>
                  <a:gd name="T6" fmla="*/ 168 w 168"/>
                  <a:gd name="T7" fmla="*/ 960 h 9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8" h="960">
                    <a:moveTo>
                      <a:pt x="72" y="0"/>
                    </a:moveTo>
                    <a:cubicBezTo>
                      <a:pt x="52" y="28"/>
                      <a:pt x="32" y="56"/>
                      <a:pt x="24" y="144"/>
                    </a:cubicBezTo>
                    <a:cubicBezTo>
                      <a:pt x="16" y="232"/>
                      <a:pt x="0" y="392"/>
                      <a:pt x="24" y="528"/>
                    </a:cubicBezTo>
                    <a:cubicBezTo>
                      <a:pt x="48" y="664"/>
                      <a:pt x="108" y="812"/>
                      <a:pt x="168" y="960"/>
                    </a:cubicBezTo>
                  </a:path>
                </a:pathLst>
              </a:cu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272" name="Rectangle 37">
                <a:extLst>
                  <a:ext uri="{FF2B5EF4-FFF2-40B4-BE49-F238E27FC236}">
                    <a16:creationId xmlns:a16="http://schemas.microsoft.com/office/drawing/2014/main" id="{2A905234-83D2-4B16-8FF3-4398E7EB45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052" y="2592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273" name="Rectangle 38">
                <a:extLst>
                  <a:ext uri="{FF2B5EF4-FFF2-40B4-BE49-F238E27FC236}">
                    <a16:creationId xmlns:a16="http://schemas.microsoft.com/office/drawing/2014/main" id="{B74C0CE6-4EAC-489E-99D3-1531FDCD52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1632" y="2592"/>
                <a:ext cx="48" cy="240"/>
              </a:xfrm>
              <a:prstGeom prst="rect">
                <a:avLst/>
              </a:prstGeom>
              <a:solidFill>
                <a:schemeClr val="accent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SzPct val="90000"/>
                  <a:buBlip>
                    <a:blip r:embed="rId2"/>
                  </a:buBlip>
                  <a:defRPr kumimoji="1" sz="32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SzPct val="80000"/>
                  <a:buBlip>
                    <a:blip r:embed="rId3"/>
                  </a:buBlip>
                  <a:defRPr kumimoji="1" sz="28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SzPct val="70000"/>
                  <a:buBlip>
                    <a:blip r:embed="rId4"/>
                  </a:buBlip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SzPct val="70000"/>
                  <a:buBlip>
                    <a:blip r:embed="rId5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SzPct val="70000"/>
                  <a:buBlip>
                    <a:blip r:embed="rId6"/>
                  </a:buBlip>
                  <a:defRPr kumimoji="1" sz="20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SzTx/>
                  <a:buFontTx/>
                  <a:buNone/>
                </a:pPr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9252" name="Group 39">
              <a:extLst>
                <a:ext uri="{FF2B5EF4-FFF2-40B4-BE49-F238E27FC236}">
                  <a16:creationId xmlns:a16="http://schemas.microsoft.com/office/drawing/2014/main" id="{F3B318CF-E9FC-405E-85EC-DAE256A75B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67" y="2448"/>
              <a:ext cx="576" cy="528"/>
              <a:chOff x="1067" y="2448"/>
              <a:chExt cx="576" cy="528"/>
            </a:xfrm>
          </p:grpSpPr>
          <p:grpSp>
            <p:nvGrpSpPr>
              <p:cNvPr id="9255" name="Group 40">
                <a:extLst>
                  <a:ext uri="{FF2B5EF4-FFF2-40B4-BE49-F238E27FC236}">
                    <a16:creationId xmlns:a16="http://schemas.microsoft.com/office/drawing/2014/main" id="{B027D57F-6974-48AC-A9FD-799907F42A4A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104" y="2784"/>
                <a:ext cx="528" cy="192"/>
                <a:chOff x="576" y="3264"/>
                <a:chExt cx="480" cy="192"/>
              </a:xfrm>
            </p:grpSpPr>
            <p:sp>
              <p:nvSpPr>
                <p:cNvPr id="9266" name="Arc 41">
                  <a:extLst>
                    <a:ext uri="{FF2B5EF4-FFF2-40B4-BE49-F238E27FC236}">
                      <a16:creationId xmlns:a16="http://schemas.microsoft.com/office/drawing/2014/main" id="{DBACBEA4-3819-4B7E-8007-F7E6698E2154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576" y="3264"/>
                  <a:ext cx="240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3 w 21600"/>
                    <a:gd name="T3" fmla="*/ 2 h 21600"/>
                    <a:gd name="T4" fmla="*/ 0 w 21600"/>
                    <a:gd name="T5" fmla="*/ 2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67" name="Arc 42">
                  <a:extLst>
                    <a:ext uri="{FF2B5EF4-FFF2-40B4-BE49-F238E27FC236}">
                      <a16:creationId xmlns:a16="http://schemas.microsoft.com/office/drawing/2014/main" id="{843355C0-359D-48CC-81AC-52D8ED8D335C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V="1">
                  <a:off x="816" y="3264"/>
                  <a:ext cx="240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3 w 21600"/>
                    <a:gd name="T3" fmla="*/ 2 h 21600"/>
                    <a:gd name="T4" fmla="*/ 0 w 21600"/>
                    <a:gd name="T5" fmla="*/ 2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56" name="Group 43">
                <a:extLst>
                  <a:ext uri="{FF2B5EF4-FFF2-40B4-BE49-F238E27FC236}">
                    <a16:creationId xmlns:a16="http://schemas.microsoft.com/office/drawing/2014/main" id="{8FF61506-085C-42F7-BC0D-06F4441FBD20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flipV="1">
                <a:off x="1104" y="2448"/>
                <a:ext cx="528" cy="192"/>
                <a:chOff x="576" y="3264"/>
                <a:chExt cx="480" cy="192"/>
              </a:xfrm>
            </p:grpSpPr>
            <p:sp>
              <p:nvSpPr>
                <p:cNvPr id="9264" name="Arc 44">
                  <a:extLst>
                    <a:ext uri="{FF2B5EF4-FFF2-40B4-BE49-F238E27FC236}">
                      <a16:creationId xmlns:a16="http://schemas.microsoft.com/office/drawing/2014/main" id="{249E5145-47F0-4390-B2DA-64F4E739C498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576" y="3264"/>
                  <a:ext cx="240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3 w 21600"/>
                    <a:gd name="T3" fmla="*/ 2 h 21600"/>
                    <a:gd name="T4" fmla="*/ 0 w 21600"/>
                    <a:gd name="T5" fmla="*/ 2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65" name="Arc 45">
                  <a:extLst>
                    <a:ext uri="{FF2B5EF4-FFF2-40B4-BE49-F238E27FC236}">
                      <a16:creationId xmlns:a16="http://schemas.microsoft.com/office/drawing/2014/main" id="{E7997BF3-CBC8-4DAA-95D0-A03E6F7DC780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V="1">
                  <a:off x="816" y="3264"/>
                  <a:ext cx="240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3 w 21600"/>
                    <a:gd name="T3" fmla="*/ 2 h 21600"/>
                    <a:gd name="T4" fmla="*/ 0 w 21600"/>
                    <a:gd name="T5" fmla="*/ 2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57" name="Group 46">
                <a:extLst>
                  <a:ext uri="{FF2B5EF4-FFF2-40B4-BE49-F238E27FC236}">
                    <a16:creationId xmlns:a16="http://schemas.microsoft.com/office/drawing/2014/main" id="{3C963CD5-8D16-4546-B51D-63FAA7427408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 flipV="1">
                <a:off x="1104" y="2570"/>
                <a:ext cx="528" cy="144"/>
                <a:chOff x="576" y="3264"/>
                <a:chExt cx="480" cy="192"/>
              </a:xfrm>
            </p:grpSpPr>
            <p:sp>
              <p:nvSpPr>
                <p:cNvPr id="9262" name="Arc 47">
                  <a:extLst>
                    <a:ext uri="{FF2B5EF4-FFF2-40B4-BE49-F238E27FC236}">
                      <a16:creationId xmlns:a16="http://schemas.microsoft.com/office/drawing/2014/main" id="{06C48EF7-C40A-4899-B902-3F7AC08F58A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576" y="3264"/>
                  <a:ext cx="240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3 w 21600"/>
                    <a:gd name="T3" fmla="*/ 2 h 21600"/>
                    <a:gd name="T4" fmla="*/ 0 w 21600"/>
                    <a:gd name="T5" fmla="*/ 2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63" name="Arc 48">
                  <a:extLst>
                    <a:ext uri="{FF2B5EF4-FFF2-40B4-BE49-F238E27FC236}">
                      <a16:creationId xmlns:a16="http://schemas.microsoft.com/office/drawing/2014/main" id="{E6B127AD-80F6-48A7-988A-B38A8CE4EE9E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V="1">
                  <a:off x="816" y="3264"/>
                  <a:ext cx="240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3 w 21600"/>
                    <a:gd name="T3" fmla="*/ 2 h 21600"/>
                    <a:gd name="T4" fmla="*/ 0 w 21600"/>
                    <a:gd name="T5" fmla="*/ 2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grpSp>
            <p:nvGrpSpPr>
              <p:cNvPr id="9258" name="Group 49">
                <a:extLst>
                  <a:ext uri="{FF2B5EF4-FFF2-40B4-BE49-F238E27FC236}">
                    <a16:creationId xmlns:a16="http://schemas.microsoft.com/office/drawing/2014/main" id="{D9702953-18AE-4631-B2A2-38D760FE47B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104" y="2736"/>
                <a:ext cx="528" cy="144"/>
                <a:chOff x="576" y="3264"/>
                <a:chExt cx="480" cy="192"/>
              </a:xfrm>
            </p:grpSpPr>
            <p:sp>
              <p:nvSpPr>
                <p:cNvPr id="9260" name="Arc 50">
                  <a:extLst>
                    <a:ext uri="{FF2B5EF4-FFF2-40B4-BE49-F238E27FC236}">
                      <a16:creationId xmlns:a16="http://schemas.microsoft.com/office/drawing/2014/main" id="{011B65FC-1F13-4035-991C-4B2220406339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H="1" flipV="1">
                  <a:off x="576" y="3264"/>
                  <a:ext cx="240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3 w 21600"/>
                    <a:gd name="T3" fmla="*/ 2 h 21600"/>
                    <a:gd name="T4" fmla="*/ 0 w 21600"/>
                    <a:gd name="T5" fmla="*/ 2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9261" name="Arc 51">
                  <a:extLst>
                    <a:ext uri="{FF2B5EF4-FFF2-40B4-BE49-F238E27FC236}">
                      <a16:creationId xmlns:a16="http://schemas.microsoft.com/office/drawing/2014/main" id="{126249DC-477B-40C3-A900-2EB7A968C8D6}"/>
                    </a:ext>
                  </a:extLst>
                </p:cNvPr>
                <p:cNvSpPr>
                  <a:spLocks noChangeAspect="1"/>
                </p:cNvSpPr>
                <p:nvPr/>
              </p:nvSpPr>
              <p:spPr bwMode="auto">
                <a:xfrm flipV="1">
                  <a:off x="816" y="3264"/>
                  <a:ext cx="240" cy="192"/>
                </a:xfrm>
                <a:custGeom>
                  <a:avLst/>
                  <a:gdLst>
                    <a:gd name="T0" fmla="*/ 0 w 21600"/>
                    <a:gd name="T1" fmla="*/ 0 h 21600"/>
                    <a:gd name="T2" fmla="*/ 3 w 21600"/>
                    <a:gd name="T3" fmla="*/ 2 h 21600"/>
                    <a:gd name="T4" fmla="*/ 0 w 21600"/>
                    <a:gd name="T5" fmla="*/ 2 h 2160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1600" h="21600" fill="none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</a:path>
                    <a:path w="21600" h="21600" stroke="0" extrusionOk="0">
                      <a:moveTo>
                        <a:pt x="-1" y="0"/>
                      </a:moveTo>
                      <a:cubicBezTo>
                        <a:pt x="11929" y="0"/>
                        <a:pt x="21600" y="9670"/>
                        <a:pt x="21600" y="21600"/>
                      </a:cubicBezTo>
                      <a:lnTo>
                        <a:pt x="0" y="21600"/>
                      </a:lnTo>
                      <a:lnTo>
                        <a:pt x="-1" y="0"/>
                      </a:lnTo>
                      <a:close/>
                    </a:path>
                  </a:pathLst>
                </a:custGeom>
                <a:noFill/>
                <a:ln w="25400">
                  <a:solidFill>
                    <a:srgbClr val="FF0000"/>
                  </a:solidFill>
                  <a:prstDash val="dash"/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9259" name="Line 52">
                <a:extLst>
                  <a:ext uri="{FF2B5EF4-FFF2-40B4-BE49-F238E27FC236}">
                    <a16:creationId xmlns:a16="http://schemas.microsoft.com/office/drawing/2014/main" id="{F5F433A4-6363-4335-B0C6-D70AFBC6AF5F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1067" y="2725"/>
                <a:ext cx="576" cy="0"/>
              </a:xfrm>
              <a:prstGeom prst="line">
                <a:avLst/>
              </a:prstGeom>
              <a:noFill/>
              <a:ln w="254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253" name="Line 53">
              <a:extLst>
                <a:ext uri="{FF2B5EF4-FFF2-40B4-BE49-F238E27FC236}">
                  <a16:creationId xmlns:a16="http://schemas.microsoft.com/office/drawing/2014/main" id="{40F66D4E-A7AE-461A-95AA-47499A1EED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80" y="2725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54" name="Line 54">
              <a:extLst>
                <a:ext uri="{FF2B5EF4-FFF2-40B4-BE49-F238E27FC236}">
                  <a16:creationId xmlns:a16="http://schemas.microsoft.com/office/drawing/2014/main" id="{9D7E88E6-AFE0-49CD-A3A4-1D39008D69C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875" y="2725"/>
              <a:ext cx="19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226" name="Group 83">
            <a:extLst>
              <a:ext uri="{FF2B5EF4-FFF2-40B4-BE49-F238E27FC236}">
                <a16:creationId xmlns:a16="http://schemas.microsoft.com/office/drawing/2014/main" id="{EACC95FC-3B6D-4ED1-8ABB-E749BC21A9F5}"/>
              </a:ext>
            </a:extLst>
          </p:cNvPr>
          <p:cNvGrpSpPr>
            <a:grpSpLocks/>
          </p:cNvGrpSpPr>
          <p:nvPr/>
        </p:nvGrpSpPr>
        <p:grpSpPr bwMode="auto">
          <a:xfrm>
            <a:off x="6904324" y="1709647"/>
            <a:ext cx="2362200" cy="1458912"/>
            <a:chOff x="3648" y="1559"/>
            <a:chExt cx="1488" cy="919"/>
          </a:xfrm>
        </p:grpSpPr>
        <p:sp>
          <p:nvSpPr>
            <p:cNvPr id="9232" name="Line 56">
              <a:extLst>
                <a:ext uri="{FF2B5EF4-FFF2-40B4-BE49-F238E27FC236}">
                  <a16:creationId xmlns:a16="http://schemas.microsoft.com/office/drawing/2014/main" id="{962768C4-9EA1-4FD2-BD00-E85A7D65F8A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803" y="2019"/>
              <a:ext cx="551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33" name="Line 57">
              <a:extLst>
                <a:ext uri="{FF2B5EF4-FFF2-40B4-BE49-F238E27FC236}">
                  <a16:creationId xmlns:a16="http://schemas.microsoft.com/office/drawing/2014/main" id="{4203137D-97C9-4E7F-9C7B-A6E71A68C9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388" y="2019"/>
              <a:ext cx="55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9234" name="Group 58">
              <a:extLst>
                <a:ext uri="{FF2B5EF4-FFF2-40B4-BE49-F238E27FC236}">
                  <a16:creationId xmlns:a16="http://schemas.microsoft.com/office/drawing/2014/main" id="{1BFDBB6B-3A7E-4D40-85ED-8FC0F68E9F9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821" y="1559"/>
              <a:ext cx="1103" cy="919"/>
              <a:chOff x="2784" y="240"/>
              <a:chExt cx="1536" cy="1344"/>
            </a:xfrm>
          </p:grpSpPr>
          <p:sp>
            <p:nvSpPr>
              <p:cNvPr id="9239" name="Arc 59">
                <a:extLst>
                  <a:ext uri="{FF2B5EF4-FFF2-40B4-BE49-F238E27FC236}">
                    <a16:creationId xmlns:a16="http://schemas.microsoft.com/office/drawing/2014/main" id="{67B47A82-7D40-437A-94EC-4098487F5A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52" y="720"/>
                <a:ext cx="768" cy="193"/>
              </a:xfrm>
              <a:custGeom>
                <a:avLst/>
                <a:gdLst>
                  <a:gd name="T0" fmla="*/ 0 w 21433"/>
                  <a:gd name="T1" fmla="*/ 0 h 21600"/>
                  <a:gd name="T2" fmla="*/ 28 w 21433"/>
                  <a:gd name="T3" fmla="*/ 2 h 21600"/>
                  <a:gd name="T4" fmla="*/ 0 w 21433"/>
                  <a:gd name="T5" fmla="*/ 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433" h="21600" fill="none" extrusionOk="0">
                    <a:moveTo>
                      <a:pt x="-1" y="0"/>
                    </a:moveTo>
                    <a:cubicBezTo>
                      <a:pt x="10892" y="0"/>
                      <a:pt x="20080" y="8110"/>
                      <a:pt x="21432" y="18918"/>
                    </a:cubicBezTo>
                  </a:path>
                  <a:path w="21433" h="21600" stroke="0" extrusionOk="0">
                    <a:moveTo>
                      <a:pt x="-1" y="0"/>
                    </a:moveTo>
                    <a:cubicBezTo>
                      <a:pt x="10892" y="0"/>
                      <a:pt x="20080" y="8110"/>
                      <a:pt x="21432" y="1891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0" name="Arc 60">
                <a:extLst>
                  <a:ext uri="{FF2B5EF4-FFF2-40B4-BE49-F238E27FC236}">
                    <a16:creationId xmlns:a16="http://schemas.microsoft.com/office/drawing/2014/main" id="{789A8F89-EC6D-41D2-B61D-B69B3325E5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>
                <a:off x="2784" y="720"/>
                <a:ext cx="768" cy="193"/>
              </a:xfrm>
              <a:custGeom>
                <a:avLst/>
                <a:gdLst>
                  <a:gd name="T0" fmla="*/ 0 w 21433"/>
                  <a:gd name="T1" fmla="*/ 0 h 21600"/>
                  <a:gd name="T2" fmla="*/ 28 w 21433"/>
                  <a:gd name="T3" fmla="*/ 2 h 21600"/>
                  <a:gd name="T4" fmla="*/ 0 w 21433"/>
                  <a:gd name="T5" fmla="*/ 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433" h="21600" fill="none" extrusionOk="0">
                    <a:moveTo>
                      <a:pt x="-1" y="0"/>
                    </a:moveTo>
                    <a:cubicBezTo>
                      <a:pt x="10892" y="0"/>
                      <a:pt x="20080" y="8110"/>
                      <a:pt x="21432" y="18918"/>
                    </a:cubicBezTo>
                  </a:path>
                  <a:path w="21433" h="21600" stroke="0" extrusionOk="0">
                    <a:moveTo>
                      <a:pt x="-1" y="0"/>
                    </a:moveTo>
                    <a:cubicBezTo>
                      <a:pt x="10892" y="0"/>
                      <a:pt x="20080" y="8110"/>
                      <a:pt x="21432" y="1891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1" name="Arc 61">
                <a:extLst>
                  <a:ext uri="{FF2B5EF4-FFF2-40B4-BE49-F238E27FC236}">
                    <a16:creationId xmlns:a16="http://schemas.microsoft.com/office/drawing/2014/main" id="{B1A9CF91-B10F-4D68-81C2-A26CD98A63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V="1">
                <a:off x="3552" y="912"/>
                <a:ext cx="768" cy="193"/>
              </a:xfrm>
              <a:custGeom>
                <a:avLst/>
                <a:gdLst>
                  <a:gd name="T0" fmla="*/ 0 w 21433"/>
                  <a:gd name="T1" fmla="*/ 0 h 21600"/>
                  <a:gd name="T2" fmla="*/ 28 w 21433"/>
                  <a:gd name="T3" fmla="*/ 2 h 21600"/>
                  <a:gd name="T4" fmla="*/ 0 w 21433"/>
                  <a:gd name="T5" fmla="*/ 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433" h="21600" fill="none" extrusionOk="0">
                    <a:moveTo>
                      <a:pt x="-1" y="0"/>
                    </a:moveTo>
                    <a:cubicBezTo>
                      <a:pt x="10892" y="0"/>
                      <a:pt x="20080" y="8110"/>
                      <a:pt x="21432" y="18918"/>
                    </a:cubicBezTo>
                  </a:path>
                  <a:path w="21433" h="21600" stroke="0" extrusionOk="0">
                    <a:moveTo>
                      <a:pt x="-1" y="0"/>
                    </a:moveTo>
                    <a:cubicBezTo>
                      <a:pt x="10892" y="0"/>
                      <a:pt x="20080" y="8110"/>
                      <a:pt x="21432" y="1891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2" name="Arc 62">
                <a:extLst>
                  <a:ext uri="{FF2B5EF4-FFF2-40B4-BE49-F238E27FC236}">
                    <a16:creationId xmlns:a16="http://schemas.microsoft.com/office/drawing/2014/main" id="{BE953FA5-A15F-4614-8158-3F5B79B074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2784" y="912"/>
                <a:ext cx="768" cy="193"/>
              </a:xfrm>
              <a:custGeom>
                <a:avLst/>
                <a:gdLst>
                  <a:gd name="T0" fmla="*/ 0 w 21433"/>
                  <a:gd name="T1" fmla="*/ 0 h 21600"/>
                  <a:gd name="T2" fmla="*/ 28 w 21433"/>
                  <a:gd name="T3" fmla="*/ 2 h 21600"/>
                  <a:gd name="T4" fmla="*/ 0 w 21433"/>
                  <a:gd name="T5" fmla="*/ 2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433" h="21600" fill="none" extrusionOk="0">
                    <a:moveTo>
                      <a:pt x="-1" y="0"/>
                    </a:moveTo>
                    <a:cubicBezTo>
                      <a:pt x="10892" y="0"/>
                      <a:pt x="20080" y="8110"/>
                      <a:pt x="21432" y="18918"/>
                    </a:cubicBezTo>
                  </a:path>
                  <a:path w="21433" h="21600" stroke="0" extrusionOk="0">
                    <a:moveTo>
                      <a:pt x="-1" y="0"/>
                    </a:moveTo>
                    <a:cubicBezTo>
                      <a:pt x="10892" y="0"/>
                      <a:pt x="20080" y="8110"/>
                      <a:pt x="21432" y="18918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3" name="Arc 63">
                <a:extLst>
                  <a:ext uri="{FF2B5EF4-FFF2-40B4-BE49-F238E27FC236}">
                    <a16:creationId xmlns:a16="http://schemas.microsoft.com/office/drawing/2014/main" id="{7AFC4539-3C80-4003-9153-3454E663DF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>
                <a:off x="2784" y="480"/>
                <a:ext cx="768" cy="432"/>
              </a:xfrm>
              <a:custGeom>
                <a:avLst/>
                <a:gdLst>
                  <a:gd name="T0" fmla="*/ 0 w 21600"/>
                  <a:gd name="T1" fmla="*/ 0 h 21600"/>
                  <a:gd name="T2" fmla="*/ 27 w 21600"/>
                  <a:gd name="T3" fmla="*/ 9 h 21600"/>
                  <a:gd name="T4" fmla="*/ 0 w 21600"/>
                  <a:gd name="T5" fmla="*/ 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4" name="Arc 64">
                <a:extLst>
                  <a:ext uri="{FF2B5EF4-FFF2-40B4-BE49-F238E27FC236}">
                    <a16:creationId xmlns:a16="http://schemas.microsoft.com/office/drawing/2014/main" id="{C684773F-359E-49E1-8900-24ADFA9B1F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52" y="480"/>
                <a:ext cx="768" cy="432"/>
              </a:xfrm>
              <a:custGeom>
                <a:avLst/>
                <a:gdLst>
                  <a:gd name="T0" fmla="*/ 0 w 21600"/>
                  <a:gd name="T1" fmla="*/ 0 h 21600"/>
                  <a:gd name="T2" fmla="*/ 27 w 21600"/>
                  <a:gd name="T3" fmla="*/ 9 h 21600"/>
                  <a:gd name="T4" fmla="*/ 0 w 21600"/>
                  <a:gd name="T5" fmla="*/ 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5" name="Arc 65">
                <a:extLst>
                  <a:ext uri="{FF2B5EF4-FFF2-40B4-BE49-F238E27FC236}">
                    <a16:creationId xmlns:a16="http://schemas.microsoft.com/office/drawing/2014/main" id="{66F2BBF3-E079-476E-975E-FD1C408F0A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2784" y="960"/>
                <a:ext cx="768" cy="432"/>
              </a:xfrm>
              <a:custGeom>
                <a:avLst/>
                <a:gdLst>
                  <a:gd name="T0" fmla="*/ 0 w 21600"/>
                  <a:gd name="T1" fmla="*/ 0 h 21600"/>
                  <a:gd name="T2" fmla="*/ 27 w 21600"/>
                  <a:gd name="T3" fmla="*/ 9 h 21600"/>
                  <a:gd name="T4" fmla="*/ 0 w 21600"/>
                  <a:gd name="T5" fmla="*/ 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6" name="Arc 66">
                <a:extLst>
                  <a:ext uri="{FF2B5EF4-FFF2-40B4-BE49-F238E27FC236}">
                    <a16:creationId xmlns:a16="http://schemas.microsoft.com/office/drawing/2014/main" id="{D1E98561-EBCB-427F-8F76-6C5C9230CB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V="1">
                <a:off x="3552" y="960"/>
                <a:ext cx="768" cy="432"/>
              </a:xfrm>
              <a:custGeom>
                <a:avLst/>
                <a:gdLst>
                  <a:gd name="T0" fmla="*/ 0 w 21600"/>
                  <a:gd name="T1" fmla="*/ 0 h 21600"/>
                  <a:gd name="T2" fmla="*/ 27 w 21600"/>
                  <a:gd name="T3" fmla="*/ 9 h 21600"/>
                  <a:gd name="T4" fmla="*/ 0 w 21600"/>
                  <a:gd name="T5" fmla="*/ 9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7" name="Arc 67">
                <a:extLst>
                  <a:ext uri="{FF2B5EF4-FFF2-40B4-BE49-F238E27FC236}">
                    <a16:creationId xmlns:a16="http://schemas.microsoft.com/office/drawing/2014/main" id="{91F91EDB-2E87-43AE-9375-3AF9CF0ED9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>
                <a:off x="2784" y="240"/>
                <a:ext cx="768" cy="672"/>
              </a:xfrm>
              <a:custGeom>
                <a:avLst/>
                <a:gdLst>
                  <a:gd name="T0" fmla="*/ 0 w 21600"/>
                  <a:gd name="T1" fmla="*/ 0 h 21600"/>
                  <a:gd name="T2" fmla="*/ 27 w 21600"/>
                  <a:gd name="T3" fmla="*/ 21 h 21600"/>
                  <a:gd name="T4" fmla="*/ 0 w 21600"/>
                  <a:gd name="T5" fmla="*/ 2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8" name="Arc 68">
                <a:extLst>
                  <a:ext uri="{FF2B5EF4-FFF2-40B4-BE49-F238E27FC236}">
                    <a16:creationId xmlns:a16="http://schemas.microsoft.com/office/drawing/2014/main" id="{47671C01-3F58-4A50-A529-42584C5393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3552" y="240"/>
                <a:ext cx="768" cy="672"/>
              </a:xfrm>
              <a:custGeom>
                <a:avLst/>
                <a:gdLst>
                  <a:gd name="T0" fmla="*/ 0 w 21600"/>
                  <a:gd name="T1" fmla="*/ 0 h 21600"/>
                  <a:gd name="T2" fmla="*/ 27 w 21600"/>
                  <a:gd name="T3" fmla="*/ 21 h 21600"/>
                  <a:gd name="T4" fmla="*/ 0 w 21600"/>
                  <a:gd name="T5" fmla="*/ 2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49" name="Arc 69">
                <a:extLst>
                  <a:ext uri="{FF2B5EF4-FFF2-40B4-BE49-F238E27FC236}">
                    <a16:creationId xmlns:a16="http://schemas.microsoft.com/office/drawing/2014/main" id="{9AA9E2AD-CDE8-484A-823A-7611A27543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H="1" flipV="1">
                <a:off x="2784" y="912"/>
                <a:ext cx="768" cy="672"/>
              </a:xfrm>
              <a:custGeom>
                <a:avLst/>
                <a:gdLst>
                  <a:gd name="T0" fmla="*/ 0 w 21600"/>
                  <a:gd name="T1" fmla="*/ 0 h 21600"/>
                  <a:gd name="T2" fmla="*/ 27 w 21600"/>
                  <a:gd name="T3" fmla="*/ 21 h 21600"/>
                  <a:gd name="T4" fmla="*/ 0 w 21600"/>
                  <a:gd name="T5" fmla="*/ 2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250" name="Arc 70">
                <a:extLst>
                  <a:ext uri="{FF2B5EF4-FFF2-40B4-BE49-F238E27FC236}">
                    <a16:creationId xmlns:a16="http://schemas.microsoft.com/office/drawing/2014/main" id="{2BD2E528-FA15-4BE8-81B2-42DB33BB77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 flipV="1">
                <a:off x="3552" y="912"/>
                <a:ext cx="768" cy="672"/>
              </a:xfrm>
              <a:custGeom>
                <a:avLst/>
                <a:gdLst>
                  <a:gd name="T0" fmla="*/ 0 w 21600"/>
                  <a:gd name="T1" fmla="*/ 0 h 21600"/>
                  <a:gd name="T2" fmla="*/ 27 w 21600"/>
                  <a:gd name="T3" fmla="*/ 21 h 21600"/>
                  <a:gd name="T4" fmla="*/ 0 w 21600"/>
                  <a:gd name="T5" fmla="*/ 21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rgbClr val="FF0000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9235" name="Oval 71">
              <a:extLst>
                <a:ext uri="{FF2B5EF4-FFF2-40B4-BE49-F238E27FC236}">
                  <a16:creationId xmlns:a16="http://schemas.microsoft.com/office/drawing/2014/main" id="{5816AC4E-C48D-4AA4-B1BD-7F4B8376E96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21" y="1920"/>
              <a:ext cx="241" cy="2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36" name="Oval 72">
              <a:extLst>
                <a:ext uri="{FF2B5EF4-FFF2-40B4-BE49-F238E27FC236}">
                  <a16:creationId xmlns:a16="http://schemas.microsoft.com/office/drawing/2014/main" id="{30ECD1A5-8C06-4366-9C5C-11262B416F3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684" y="1920"/>
              <a:ext cx="241" cy="23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9237" name="Text Box 73">
              <a:extLst>
                <a:ext uri="{FF2B5EF4-FFF2-40B4-BE49-F238E27FC236}">
                  <a16:creationId xmlns:a16="http://schemas.microsoft.com/office/drawing/2014/main" id="{21553999-6E76-4D2D-8304-D9055565070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648" y="1872"/>
              <a:ext cx="241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</a:rPr>
                <a:t>＋</a:t>
              </a:r>
            </a:p>
          </p:txBody>
        </p:sp>
        <p:sp>
          <p:nvSpPr>
            <p:cNvPr id="9238" name="Text Box 74">
              <a:extLst>
                <a:ext uri="{FF2B5EF4-FFF2-40B4-BE49-F238E27FC236}">
                  <a16:creationId xmlns:a16="http://schemas.microsoft.com/office/drawing/2014/main" id="{74613B16-CE68-44FF-A635-A13CC08E45C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 flipV="1">
              <a:off x="4656" y="1929"/>
              <a:ext cx="48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FF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2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3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4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SzTx/>
                <a:buFontTx/>
                <a:buNone/>
              </a:pPr>
              <a:r>
                <a:rPr lang="zh-CN" altLang="en-US" sz="2800" b="1">
                  <a:solidFill>
                    <a:srgbClr val="FF0000"/>
                  </a:solidFill>
                  <a:latin typeface="Times New Roman" panose="02020603050405020304" pitchFamily="18" charset="0"/>
                  <a:ea typeface="隶书" panose="02010509060101010101" pitchFamily="49" charset="-122"/>
                </a:rPr>
                <a:t>－</a:t>
              </a:r>
            </a:p>
          </p:txBody>
        </p:sp>
      </p:grpSp>
      <p:sp>
        <p:nvSpPr>
          <p:cNvPr id="76" name="Text Box 18">
            <a:extLst>
              <a:ext uri="{FF2B5EF4-FFF2-40B4-BE49-F238E27FC236}">
                <a16:creationId xmlns:a16="http://schemas.microsoft.com/office/drawing/2014/main" id="{B4E49FBE-3834-4E2F-A40D-F41EA57FC0F3}"/>
              </a:ext>
            </a:extLst>
          </p:cNvPr>
          <p:cNvSpPr txBox="1"/>
          <p:nvPr/>
        </p:nvSpPr>
        <p:spPr>
          <a:xfrm>
            <a:off x="3608230" y="5481670"/>
            <a:ext cx="3506088" cy="52322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rPr>
              <a:t>空间位置的矢量函数 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DA6C8BC3-70B0-4508-966F-204A5514A395}"/>
              </a:ext>
            </a:extLst>
          </p:cNvPr>
          <p:cNvSpPr/>
          <p:nvPr/>
        </p:nvSpPr>
        <p:spPr>
          <a:xfrm>
            <a:off x="467893" y="366441"/>
            <a:ext cx="2696947" cy="7566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</a:t>
            </a:r>
            <a:endParaRPr lang="en-US" altLang="zh-CN" sz="3200" dirty="0">
              <a:solidFill>
                <a:srgbClr val="0066FF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/>
      <p:bldP spid="9220" grpId="0"/>
      <p:bldP spid="9221" grpId="0"/>
      <p:bldP spid="9222" grpId="0"/>
      <p:bldP spid="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Current density | Current Electricity - Makox.com">
            <a:extLst>
              <a:ext uri="{FF2B5EF4-FFF2-40B4-BE49-F238E27FC236}">
                <a16:creationId xmlns:a16="http://schemas.microsoft.com/office/drawing/2014/main" id="{A3E75E58-B58F-46CC-AE18-70C3D94883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3220" y="2177986"/>
            <a:ext cx="3621064" cy="1475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C013AAEA-A75B-4841-AA90-441B586D8B88}"/>
              </a:ext>
            </a:extLst>
          </p:cNvPr>
          <p:cNvSpPr/>
          <p:nvPr/>
        </p:nvSpPr>
        <p:spPr>
          <a:xfrm>
            <a:off x="1183395" y="57255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</a:rPr>
              <a:t>电流密度</a:t>
            </a:r>
            <a:r>
              <a:rPr lang="en-US" altLang="zh-CN" sz="3200" b="1" dirty="0">
                <a:solidFill>
                  <a:srgbClr val="0066FF"/>
                </a:solidFill>
                <a:ea typeface="华文楷体" panose="02010600040101010101" pitchFamily="2" charset="-122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Object 2">
                <a:extLst>
                  <a:ext uri="{FF2B5EF4-FFF2-40B4-BE49-F238E27FC236}">
                    <a16:creationId xmlns:a16="http://schemas.microsoft.com/office/drawing/2014/main" id="{58C237CE-3026-4271-A41D-4EB9CF7F53D3}"/>
                  </a:ext>
                </a:extLst>
              </p:cNvPr>
              <p:cNvSpPr txBox="1"/>
              <p:nvPr/>
            </p:nvSpPr>
            <p:spPr bwMode="auto">
              <a:xfrm>
                <a:off x="9125669" y="2798890"/>
                <a:ext cx="1454150" cy="11731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0" name="Object 2">
                <a:extLst>
                  <a:ext uri="{FF2B5EF4-FFF2-40B4-BE49-F238E27FC236}">
                    <a16:creationId xmlns:a16="http://schemas.microsoft.com/office/drawing/2014/main" id="{58C237CE-3026-4271-A41D-4EB9CF7F5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25669" y="2798890"/>
                <a:ext cx="1454150" cy="11731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32" name="Picture 8" descr="Current density | Current Electricity - Makox.com">
            <a:extLst>
              <a:ext uri="{FF2B5EF4-FFF2-40B4-BE49-F238E27FC236}">
                <a16:creationId xmlns:a16="http://schemas.microsoft.com/office/drawing/2014/main" id="{AE2ADAC0-EBA3-4267-BC8E-6CBD17089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664" y="3807250"/>
            <a:ext cx="3744675" cy="1540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矩形 40">
            <a:extLst>
              <a:ext uri="{FF2B5EF4-FFF2-40B4-BE49-F238E27FC236}">
                <a16:creationId xmlns:a16="http://schemas.microsoft.com/office/drawing/2014/main" id="{750EE1EC-E118-43A5-9ED0-1F888F9B210F}"/>
              </a:ext>
            </a:extLst>
          </p:cNvPr>
          <p:cNvSpPr/>
          <p:nvPr/>
        </p:nvSpPr>
        <p:spPr>
          <a:xfrm>
            <a:off x="4798425" y="5019002"/>
            <a:ext cx="38571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华文楷体" panose="02010600040101010101" pitchFamily="2" charset="-122"/>
              </a:rPr>
              <a:t>单位面积上的电流强度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55">
                <a:extLst>
                  <a:ext uri="{FF2B5EF4-FFF2-40B4-BE49-F238E27FC236}">
                    <a16:creationId xmlns:a16="http://schemas.microsoft.com/office/drawing/2014/main" id="{BCAAAB8B-7AF1-4FB7-AB9B-BA5CFA07C710}"/>
                  </a:ext>
                </a:extLst>
              </p:cNvPr>
              <p:cNvSpPr txBox="1"/>
              <p:nvPr/>
            </p:nvSpPr>
            <p:spPr bwMode="auto">
              <a:xfrm>
                <a:off x="9125669" y="4929631"/>
                <a:ext cx="1887245" cy="7019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𝑑𝐼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48" name="Object 55">
                <a:extLst>
                  <a:ext uri="{FF2B5EF4-FFF2-40B4-BE49-F238E27FC236}">
                    <a16:creationId xmlns:a16="http://schemas.microsoft.com/office/drawing/2014/main" id="{BCAAAB8B-7AF1-4FB7-AB9B-BA5CFA07C7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25669" y="4929631"/>
                <a:ext cx="1887245" cy="7019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7FC29D4B-01B4-4540-8E10-567436894B8F}"/>
              </a:ext>
            </a:extLst>
          </p:cNvPr>
          <p:cNvSpPr/>
          <p:nvPr/>
        </p:nvSpPr>
        <p:spPr>
          <a:xfrm>
            <a:off x="1805342" y="1390300"/>
            <a:ext cx="816568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ea typeface="华文楷体" panose="02010600040101010101" pitchFamily="2" charset="-122"/>
              </a:rPr>
              <a:t>正电荷定向移动方向垂直的单位面积上的电流强度</a:t>
            </a:r>
          </a:p>
        </p:txBody>
      </p:sp>
      <p:sp>
        <p:nvSpPr>
          <p:cNvPr id="25" name="Oval 6">
            <a:extLst>
              <a:ext uri="{FF2B5EF4-FFF2-40B4-BE49-F238E27FC236}">
                <a16:creationId xmlns:a16="http://schemas.microsoft.com/office/drawing/2014/main" id="{7C9F3ED1-F537-255D-C7A0-E99CE635B7BF}"/>
              </a:ext>
            </a:extLst>
          </p:cNvPr>
          <p:cNvSpPr/>
          <p:nvPr/>
        </p:nvSpPr>
        <p:spPr>
          <a:xfrm rot="715387">
            <a:off x="6368747" y="3247785"/>
            <a:ext cx="228600" cy="669925"/>
          </a:xfrm>
          <a:prstGeom prst="ellipse">
            <a:avLst/>
          </a:prstGeom>
          <a:solidFill>
            <a:srgbClr val="FFCCFF"/>
          </a:solidFill>
          <a:ln w="9525" cap="flat" cmpd="sng">
            <a:solidFill>
              <a:srgbClr val="CC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Oval 7">
            <a:extLst>
              <a:ext uri="{FF2B5EF4-FFF2-40B4-BE49-F238E27FC236}">
                <a16:creationId xmlns:a16="http://schemas.microsoft.com/office/drawing/2014/main" id="{95CDB022-B68A-9B7A-64D1-C515C540FC8F}"/>
              </a:ext>
            </a:extLst>
          </p:cNvPr>
          <p:cNvSpPr/>
          <p:nvPr/>
        </p:nvSpPr>
        <p:spPr>
          <a:xfrm rot="20722748">
            <a:off x="6519560" y="3233497"/>
            <a:ext cx="227012" cy="728663"/>
          </a:xfrm>
          <a:prstGeom prst="ellipse">
            <a:avLst/>
          </a:prstGeom>
          <a:solidFill>
            <a:srgbClr val="FF66FF"/>
          </a:solidFill>
          <a:ln w="9525" cap="flat" cmpd="sng">
            <a:solidFill>
              <a:srgbClr val="CC00CC"/>
            </a:solidFill>
            <a:prstDash val="solid"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endParaRPr lang="zh-CN" altLang="en-US" sz="2800" b="1" dirty="0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27" name="Group 8">
            <a:extLst>
              <a:ext uri="{FF2B5EF4-FFF2-40B4-BE49-F238E27FC236}">
                <a16:creationId xmlns:a16="http://schemas.microsoft.com/office/drawing/2014/main" id="{756E048D-CBD4-4986-A4F2-A658883D977B}"/>
              </a:ext>
            </a:extLst>
          </p:cNvPr>
          <p:cNvGrpSpPr/>
          <p:nvPr/>
        </p:nvGrpSpPr>
        <p:grpSpPr>
          <a:xfrm>
            <a:off x="6679897" y="2642947"/>
            <a:ext cx="1184275" cy="952500"/>
            <a:chOff x="4198" y="2640"/>
            <a:chExt cx="746" cy="600"/>
          </a:xfrm>
        </p:grpSpPr>
        <p:sp>
          <p:nvSpPr>
            <p:cNvPr id="28" name="Line 9">
              <a:extLst>
                <a:ext uri="{FF2B5EF4-FFF2-40B4-BE49-F238E27FC236}">
                  <a16:creationId xmlns:a16="http://schemas.microsoft.com/office/drawing/2014/main" id="{03DA5AB6-14EC-1955-732B-EB1E76ADFB73}"/>
                </a:ext>
              </a:extLst>
            </p:cNvPr>
            <p:cNvSpPr/>
            <p:nvPr/>
          </p:nvSpPr>
          <p:spPr>
            <a:xfrm flipV="1">
              <a:off x="4198" y="2856"/>
              <a:ext cx="384" cy="384"/>
            </a:xfrm>
            <a:prstGeom prst="line">
              <a:avLst/>
            </a:prstGeom>
            <a:ln w="28575" cap="flat" cmpd="sng">
              <a:solidFill>
                <a:srgbClr val="0000FF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Object 1033">
                  <a:extLst>
                    <a:ext uri="{FF2B5EF4-FFF2-40B4-BE49-F238E27FC236}">
                      <a16:creationId xmlns:a16="http://schemas.microsoft.com/office/drawing/2014/main" id="{6EB2E99A-F39D-306E-C30B-7EC99EEA15B8}"/>
                    </a:ext>
                  </a:extLst>
                </p:cNvPr>
                <p:cNvSpPr txBox="1"/>
                <p:nvPr/>
              </p:nvSpPr>
              <p:spPr>
                <a:xfrm>
                  <a:off x="4560" y="2640"/>
                  <a:ext cx="384" cy="367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zh-CN" altLang="en-US" sz="28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  <m:acc>
                          <m:accPr>
                            <m:chr m:val="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29" name="Object 1033">
                  <a:extLst>
                    <a:ext uri="{FF2B5EF4-FFF2-40B4-BE49-F238E27FC236}">
                      <a16:creationId xmlns:a16="http://schemas.microsoft.com/office/drawing/2014/main" id="{6EB2E99A-F39D-306E-C30B-7EC99EEA15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60" y="2640"/>
                  <a:ext cx="384" cy="36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0" name="Group 11">
            <a:extLst>
              <a:ext uri="{FF2B5EF4-FFF2-40B4-BE49-F238E27FC236}">
                <a16:creationId xmlns:a16="http://schemas.microsoft.com/office/drawing/2014/main" id="{34B59915-0140-E65F-D1B5-AD3DE879857A}"/>
              </a:ext>
            </a:extLst>
          </p:cNvPr>
          <p:cNvGrpSpPr/>
          <p:nvPr/>
        </p:nvGrpSpPr>
        <p:grpSpPr>
          <a:xfrm>
            <a:off x="6671960" y="3582747"/>
            <a:ext cx="1268412" cy="736600"/>
            <a:chOff x="4080" y="3264"/>
            <a:chExt cx="799" cy="528"/>
          </a:xfrm>
        </p:grpSpPr>
        <p:sp>
          <p:nvSpPr>
            <p:cNvPr id="31" name="Line 12">
              <a:extLst>
                <a:ext uri="{FF2B5EF4-FFF2-40B4-BE49-F238E27FC236}">
                  <a16:creationId xmlns:a16="http://schemas.microsoft.com/office/drawing/2014/main" id="{8F83CDC6-BFAB-9C8F-BE53-5129E9D8A1ED}"/>
                </a:ext>
              </a:extLst>
            </p:cNvPr>
            <p:cNvSpPr/>
            <p:nvPr/>
          </p:nvSpPr>
          <p:spPr>
            <a:xfrm>
              <a:off x="4080" y="3264"/>
              <a:ext cx="470" cy="144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Object 1032">
                  <a:extLst>
                    <a:ext uri="{FF2B5EF4-FFF2-40B4-BE49-F238E27FC236}">
                      <a16:creationId xmlns:a16="http://schemas.microsoft.com/office/drawing/2014/main" id="{07F6F213-DC1B-7653-1453-244F60454B93}"/>
                    </a:ext>
                  </a:extLst>
                </p:cNvPr>
                <p:cNvSpPr txBox="1"/>
                <p:nvPr/>
              </p:nvSpPr>
              <p:spPr>
                <a:xfrm>
                  <a:off x="4512" y="3312"/>
                  <a:ext cx="367" cy="48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acc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2" name="Object 1032">
                  <a:extLst>
                    <a:ext uri="{FF2B5EF4-FFF2-40B4-BE49-F238E27FC236}">
                      <a16:creationId xmlns:a16="http://schemas.microsoft.com/office/drawing/2014/main" id="{07F6F213-DC1B-7653-1453-244F60454B9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12" y="3312"/>
                  <a:ext cx="367" cy="48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Object 1027">
                <a:extLst>
                  <a:ext uri="{FF2B5EF4-FFF2-40B4-BE49-F238E27FC236}">
                    <a16:creationId xmlns:a16="http://schemas.microsoft.com/office/drawing/2014/main" id="{202817B1-86B4-FC6C-5EAB-67972A284534}"/>
                  </a:ext>
                </a:extLst>
              </p:cNvPr>
              <p:cNvSpPr txBox="1"/>
              <p:nvPr/>
            </p:nvSpPr>
            <p:spPr>
              <a:xfrm>
                <a:off x="6871516" y="3217990"/>
                <a:ext cx="273988" cy="33496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3" name="Object 1027">
                <a:extLst>
                  <a:ext uri="{FF2B5EF4-FFF2-40B4-BE49-F238E27FC236}">
                    <a16:creationId xmlns:a16="http://schemas.microsoft.com/office/drawing/2014/main" id="{202817B1-86B4-FC6C-5EAB-67972A284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1516" y="3217990"/>
                <a:ext cx="273988" cy="334962"/>
              </a:xfrm>
              <a:prstGeom prst="rect">
                <a:avLst/>
              </a:prstGeom>
              <a:blipFill>
                <a:blip r:embed="rId8"/>
                <a:stretch>
                  <a:fillRect r="-11111" b="-16364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Group 15">
            <a:extLst>
              <a:ext uri="{FF2B5EF4-FFF2-40B4-BE49-F238E27FC236}">
                <a16:creationId xmlns:a16="http://schemas.microsoft.com/office/drawing/2014/main" id="{3C81ADCE-AE47-F353-A22F-6DC5E88B22F8}"/>
              </a:ext>
            </a:extLst>
          </p:cNvPr>
          <p:cNvGrpSpPr/>
          <p:nvPr/>
        </p:nvGrpSpPr>
        <p:grpSpPr>
          <a:xfrm>
            <a:off x="5669922" y="2657234"/>
            <a:ext cx="2951163" cy="1662113"/>
            <a:chOff x="3571" y="2664"/>
            <a:chExt cx="1859" cy="1047"/>
          </a:xfrm>
        </p:grpSpPr>
        <p:sp>
          <p:nvSpPr>
            <p:cNvPr id="35" name="Oval 17">
              <a:extLst>
                <a:ext uri="{FF2B5EF4-FFF2-40B4-BE49-F238E27FC236}">
                  <a16:creationId xmlns:a16="http://schemas.microsoft.com/office/drawing/2014/main" id="{A688004E-BF33-F04D-5A10-720074EF192D}"/>
                </a:ext>
              </a:extLst>
            </p:cNvPr>
            <p:cNvSpPr/>
            <p:nvPr/>
          </p:nvSpPr>
          <p:spPr>
            <a:xfrm>
              <a:off x="3571" y="2909"/>
              <a:ext cx="174" cy="510"/>
            </a:xfrm>
            <a:prstGeom prst="ellipse">
              <a:avLst/>
            </a:prstGeom>
            <a:noFill/>
            <a:ln w="222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6" name="Oval 18">
              <a:extLst>
                <a:ext uri="{FF2B5EF4-FFF2-40B4-BE49-F238E27FC236}">
                  <a16:creationId xmlns:a16="http://schemas.microsoft.com/office/drawing/2014/main" id="{D8D08D24-6D29-6029-41FB-D3069BCDAF79}"/>
                </a:ext>
              </a:extLst>
            </p:cNvPr>
            <p:cNvSpPr/>
            <p:nvPr/>
          </p:nvSpPr>
          <p:spPr>
            <a:xfrm>
              <a:off x="4989" y="2695"/>
              <a:ext cx="259" cy="1016"/>
            </a:xfrm>
            <a:prstGeom prst="ellipse">
              <a:avLst/>
            </a:prstGeom>
            <a:noFill/>
            <a:ln w="22225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lv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94E58FD0-4B5B-7EFD-4674-F7E012A05145}"/>
                </a:ext>
              </a:extLst>
            </p:cNvPr>
            <p:cNvSpPr/>
            <p:nvPr/>
          </p:nvSpPr>
          <p:spPr>
            <a:xfrm>
              <a:off x="3657" y="2664"/>
              <a:ext cx="1460" cy="245"/>
            </a:xfrm>
            <a:custGeom>
              <a:avLst/>
              <a:gdLst>
                <a:gd name="txL" fmla="*/ 0 w 1509"/>
                <a:gd name="txT" fmla="*/ 0 h 207"/>
                <a:gd name="txR" fmla="*/ 1509 w 1509"/>
                <a:gd name="txB" fmla="*/ 207 h 207"/>
              </a:gdLst>
              <a:ahLst/>
              <a:cxnLst>
                <a:cxn ang="0">
                  <a:pos x="0" y="245"/>
                </a:cxn>
                <a:cxn ang="0">
                  <a:pos x="232" y="148"/>
                </a:cxn>
                <a:cxn ang="0">
                  <a:pos x="513" y="71"/>
                </a:cxn>
                <a:cxn ang="0">
                  <a:pos x="763" y="26"/>
                </a:cxn>
                <a:cxn ang="0">
                  <a:pos x="1121" y="1"/>
                </a:cxn>
                <a:cxn ang="0">
                  <a:pos x="1460" y="18"/>
                </a:cxn>
              </a:cxnLst>
              <a:rect l="txL" t="txT" r="txR" b="txB"/>
              <a:pathLst>
                <a:path w="1509" h="207">
                  <a:moveTo>
                    <a:pt x="0" y="207"/>
                  </a:moveTo>
                  <a:cubicBezTo>
                    <a:pt x="40" y="193"/>
                    <a:pt x="152" y="149"/>
                    <a:pt x="240" y="125"/>
                  </a:cubicBezTo>
                  <a:cubicBezTo>
                    <a:pt x="328" y="101"/>
                    <a:pt x="439" y="77"/>
                    <a:pt x="530" y="60"/>
                  </a:cubicBezTo>
                  <a:cubicBezTo>
                    <a:pt x="621" y="43"/>
                    <a:pt x="684" y="32"/>
                    <a:pt x="789" y="22"/>
                  </a:cubicBezTo>
                  <a:cubicBezTo>
                    <a:pt x="894" y="12"/>
                    <a:pt x="1039" y="2"/>
                    <a:pt x="1159" y="1"/>
                  </a:cubicBezTo>
                  <a:cubicBezTo>
                    <a:pt x="1279" y="0"/>
                    <a:pt x="1436" y="12"/>
                    <a:pt x="1509" y="15"/>
                  </a:cubicBezTo>
                </a:path>
              </a:pathLst>
            </a:custGeom>
            <a:noFill/>
            <a:ln w="2222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17A950E6-7C18-7364-39F7-CB14D0ACD7EB}"/>
                </a:ext>
              </a:extLst>
            </p:cNvPr>
            <p:cNvSpPr/>
            <p:nvPr/>
          </p:nvSpPr>
          <p:spPr>
            <a:xfrm>
              <a:off x="3650" y="3420"/>
              <a:ext cx="1461" cy="291"/>
            </a:xfrm>
            <a:custGeom>
              <a:avLst/>
              <a:gdLst>
                <a:gd name="txL" fmla="*/ 0 w 1509"/>
                <a:gd name="txT" fmla="*/ 0 h 247"/>
                <a:gd name="txR" fmla="*/ 1509 w 1509"/>
                <a:gd name="txB" fmla="*/ 247 h 247"/>
              </a:gdLst>
              <a:ahLst/>
              <a:cxnLst>
                <a:cxn ang="0">
                  <a:pos x="0" y="0"/>
                </a:cxn>
                <a:cxn ang="0">
                  <a:pos x="504" y="113"/>
                </a:cxn>
                <a:cxn ang="0">
                  <a:pos x="1461" y="291"/>
                </a:cxn>
              </a:cxnLst>
              <a:rect l="txL" t="txT" r="txR" b="txB"/>
              <a:pathLst>
                <a:path w="1509" h="247">
                  <a:moveTo>
                    <a:pt x="0" y="0"/>
                  </a:moveTo>
                  <a:cubicBezTo>
                    <a:pt x="87" y="16"/>
                    <a:pt x="270" y="55"/>
                    <a:pt x="521" y="96"/>
                  </a:cubicBezTo>
                  <a:cubicBezTo>
                    <a:pt x="772" y="137"/>
                    <a:pt x="1303" y="216"/>
                    <a:pt x="1509" y="247"/>
                  </a:cubicBezTo>
                </a:path>
              </a:pathLst>
            </a:custGeom>
            <a:noFill/>
            <a:ln w="22225" cap="flat" cmpd="sng">
              <a:solidFill>
                <a:srgbClr val="0000FF">
                  <a:alpha val="100000"/>
                </a:srgbClr>
              </a:solidFill>
              <a:prstDash val="solid"/>
              <a:round/>
              <a:headEnd type="none" w="med" len="med"/>
              <a:tailEnd type="none" w="sm" len="lg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Line 21">
              <a:extLst>
                <a:ext uri="{FF2B5EF4-FFF2-40B4-BE49-F238E27FC236}">
                  <a16:creationId xmlns:a16="http://schemas.microsoft.com/office/drawing/2014/main" id="{0A286562-3532-D9B5-4FA1-9DDF500AA78C}"/>
                </a:ext>
              </a:extLst>
            </p:cNvPr>
            <p:cNvSpPr/>
            <p:nvPr/>
          </p:nvSpPr>
          <p:spPr>
            <a:xfrm>
              <a:off x="5050" y="3210"/>
              <a:ext cx="367" cy="91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8" name="Object 1031">
                  <a:extLst>
                    <a:ext uri="{FF2B5EF4-FFF2-40B4-BE49-F238E27FC236}">
                      <a16:creationId xmlns:a16="http://schemas.microsoft.com/office/drawing/2014/main" id="{4C94AD65-20CD-73B1-EF9D-E46731EBC61C}"/>
                    </a:ext>
                  </a:extLst>
                </p:cNvPr>
                <p:cNvSpPr txBox="1"/>
                <p:nvPr/>
              </p:nvSpPr>
              <p:spPr>
                <a:xfrm>
                  <a:off x="5299" y="2992"/>
                  <a:ext cx="131" cy="24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1028" name="Object 1031">
                  <a:extLst>
                    <a:ext uri="{FF2B5EF4-FFF2-40B4-BE49-F238E27FC236}">
                      <a16:creationId xmlns:a16="http://schemas.microsoft.com/office/drawing/2014/main" id="{4C94AD65-20CD-73B1-EF9D-E46731EBC6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9" y="2992"/>
                  <a:ext cx="131" cy="241"/>
                </a:xfrm>
                <a:prstGeom prst="rect">
                  <a:avLst/>
                </a:prstGeom>
                <a:blipFill>
                  <a:blip r:embed="rId9"/>
                  <a:stretch>
                    <a:fillRect r="-5882" b="-1587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301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48" grpId="0"/>
      <p:bldP spid="5" grpId="0"/>
      <p:bldP spid="25" grpId="0" animBg="1"/>
      <p:bldP spid="26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bject 51">
                <a:extLst>
                  <a:ext uri="{FF2B5EF4-FFF2-40B4-BE49-F238E27FC236}">
                    <a16:creationId xmlns:a16="http://schemas.microsoft.com/office/drawing/2014/main" id="{08A41E9C-AECE-48EA-AAAA-3D05C30A746E}"/>
                  </a:ext>
                </a:extLst>
              </p:cNvPr>
              <p:cNvSpPr txBox="1"/>
              <p:nvPr/>
            </p:nvSpPr>
            <p:spPr bwMode="auto">
              <a:xfrm>
                <a:off x="2497727" y="2241077"/>
                <a:ext cx="2549987" cy="10541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∬"/>
                          <m:limLoc m:val="undOvr"/>
                          <m:supHide m:val="on"/>
                          <m:ctrlP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zh-CN" alt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Object 51">
                <a:extLst>
                  <a:ext uri="{FF2B5EF4-FFF2-40B4-BE49-F238E27FC236}">
                    <a16:creationId xmlns:a16="http://schemas.microsoft.com/office/drawing/2014/main" id="{08A41E9C-AECE-48EA-AAAA-3D05C30A74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97727" y="2241077"/>
                <a:ext cx="2549987" cy="1054100"/>
              </a:xfrm>
              <a:prstGeom prst="rect">
                <a:avLst/>
              </a:prstGeom>
              <a:blipFill>
                <a:blip r:embed="rId3"/>
                <a:stretch>
                  <a:fillRect b="-10405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矩形 44">
            <a:extLst>
              <a:ext uri="{FF2B5EF4-FFF2-40B4-BE49-F238E27FC236}">
                <a16:creationId xmlns:a16="http://schemas.microsoft.com/office/drawing/2014/main" id="{E1EA9261-3DC0-42C5-9327-27ACF7BAFEF3}"/>
              </a:ext>
            </a:extLst>
          </p:cNvPr>
          <p:cNvSpPr/>
          <p:nvPr/>
        </p:nvSpPr>
        <p:spPr>
          <a:xfrm>
            <a:off x="1026011" y="4440916"/>
            <a:ext cx="179376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电流线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01C1940-D707-4923-0415-1819F348FB7C}"/>
              </a:ext>
            </a:extLst>
          </p:cNvPr>
          <p:cNvSpPr/>
          <p:nvPr/>
        </p:nvSpPr>
        <p:spPr>
          <a:xfrm>
            <a:off x="1183395" y="57255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spcBef>
                <a:spcPct val="50000"/>
              </a:spcBef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</a:rPr>
              <a:t>电流密度通量</a:t>
            </a:r>
            <a:r>
              <a:rPr lang="en-US" altLang="zh-CN" sz="3200" b="1" dirty="0">
                <a:solidFill>
                  <a:srgbClr val="0066FF"/>
                </a:solidFill>
                <a:ea typeface="华文楷体" panose="02010600040101010101" pitchFamily="2" charset="-122"/>
              </a:rPr>
              <a:t>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C384F0-BB84-4120-BB21-CD3FC1F3CDBE}"/>
              </a:ext>
            </a:extLst>
          </p:cNvPr>
          <p:cNvSpPr txBox="1">
            <a:spLocks/>
          </p:cNvSpPr>
          <p:nvPr/>
        </p:nvSpPr>
        <p:spPr>
          <a:xfrm>
            <a:off x="-70643" y="3545713"/>
            <a:ext cx="9751423" cy="975778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57200">
              <a:lnSpc>
                <a:spcPct val="15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kern="0" dirty="0">
                <a:latin typeface="黑体" panose="02010609060101010101" pitchFamily="49" charset="-122"/>
              </a:rPr>
              <a:t>通过某一面积的电流等于等于该面的电流密度通量。</a:t>
            </a:r>
            <a:endParaRPr lang="en-US" altLang="zh-CN" b="1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50D59348-4F23-4D09-AC1B-F7C5A22D964A}"/>
              </a:ext>
            </a:extLst>
          </p:cNvPr>
          <p:cNvGrpSpPr/>
          <p:nvPr/>
        </p:nvGrpSpPr>
        <p:grpSpPr>
          <a:xfrm>
            <a:off x="7039100" y="990706"/>
            <a:ext cx="3289300" cy="2989263"/>
            <a:chOff x="5416550" y="3622351"/>
            <a:chExt cx="3289300" cy="2989263"/>
          </a:xfrm>
        </p:grpSpPr>
        <p:grpSp>
          <p:nvGrpSpPr>
            <p:cNvPr id="5" name="Group 23">
              <a:extLst>
                <a:ext uri="{FF2B5EF4-FFF2-40B4-BE49-F238E27FC236}">
                  <a16:creationId xmlns:a16="http://schemas.microsoft.com/office/drawing/2014/main" id="{06D4DA96-63B1-4515-89B7-722DF523B03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16550" y="3622351"/>
              <a:ext cx="3289300" cy="2989263"/>
              <a:chOff x="2632" y="885"/>
              <a:chExt cx="2072" cy="1883"/>
            </a:xfrm>
          </p:grpSpPr>
          <p:grpSp>
            <p:nvGrpSpPr>
              <p:cNvPr id="7" name="Group 22">
                <a:extLst>
                  <a:ext uri="{FF2B5EF4-FFF2-40B4-BE49-F238E27FC236}">
                    <a16:creationId xmlns:a16="http://schemas.microsoft.com/office/drawing/2014/main" id="{BBE9C065-250C-4694-8C3B-A398064723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9" y="885"/>
                <a:ext cx="432" cy="324"/>
                <a:chOff x="3723" y="831"/>
                <a:chExt cx="432" cy="324"/>
              </a:xfrm>
            </p:grpSpPr>
            <p:sp>
              <p:nvSpPr>
                <p:cNvPr id="17" name="Text Box 15">
                  <a:extLst>
                    <a:ext uri="{FF2B5EF4-FFF2-40B4-BE49-F238E27FC236}">
                      <a16:creationId xmlns:a16="http://schemas.microsoft.com/office/drawing/2014/main" id="{40A16F10-0B81-4A01-854F-927912C5042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723" y="831"/>
                  <a:ext cx="432" cy="324"/>
                </a:xfrm>
                <a:prstGeom prst="rect">
                  <a:avLst/>
                </a:pr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algn="just">
                    <a:defRPr/>
                  </a:pPr>
                  <a:r>
                    <a:rPr kumimoji="0" lang="en-US" altLang="zh-CN" sz="2800" kern="0" dirty="0">
                      <a:solidFill>
                        <a:srgbClr val="0000FF"/>
                      </a:solidFill>
                      <a:ea typeface="宋体"/>
                    </a:rPr>
                    <a:t>d</a:t>
                  </a:r>
                  <a:r>
                    <a:rPr kumimoji="0" lang="en-US" altLang="zh-CN" sz="2800" i="1" kern="0" dirty="0">
                      <a:solidFill>
                        <a:srgbClr val="0000FF"/>
                      </a:solidFill>
                      <a:ea typeface="宋体"/>
                    </a:rPr>
                    <a:t>S</a:t>
                  </a:r>
                  <a:endParaRPr kumimoji="0" lang="en-US" altLang="zh-CN" b="0" kern="0" dirty="0">
                    <a:solidFill>
                      <a:srgbClr val="0000FF"/>
                    </a:solidFill>
                    <a:ea typeface="宋体"/>
                  </a:endParaRPr>
                </a:p>
              </p:txBody>
            </p:sp>
            <p:sp>
              <p:nvSpPr>
                <p:cNvPr id="18" name="Line 16">
                  <a:extLst>
                    <a:ext uri="{FF2B5EF4-FFF2-40B4-BE49-F238E27FC236}">
                      <a16:creationId xmlns:a16="http://schemas.microsoft.com/office/drawing/2014/main" id="{DE1D6A14-8D67-4BD8-A0F0-D2C00708F51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898" y="862"/>
                  <a:ext cx="155" cy="5"/>
                </a:xfrm>
                <a:prstGeom prst="line">
                  <a:avLst/>
                </a:prstGeom>
                <a:noFill/>
                <a:ln w="19050">
                  <a:solidFill>
                    <a:srgbClr val="0000FF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>
                    <a:spcBef>
                      <a:spcPct val="50000"/>
                    </a:spcBef>
                    <a:defRPr/>
                  </a:pPr>
                  <a:endParaRPr lang="zh-CN" altLang="en-US" sz="3200" kern="0">
                    <a:solidFill>
                      <a:srgbClr val="3333CC"/>
                    </a:solidFill>
                    <a:ea typeface="黑体" panose="02010609060101010101" pitchFamily="49" charset="-122"/>
                  </a:endParaRPr>
                </a:p>
              </p:txBody>
            </p:sp>
          </p:grp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6A417691-ED7B-40E8-B447-C04B22629A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1141"/>
                <a:ext cx="1071" cy="930"/>
              </a:xfrm>
              <a:custGeom>
                <a:avLst/>
                <a:gdLst>
                  <a:gd name="T0" fmla="*/ 0 w 2280"/>
                  <a:gd name="T1" fmla="*/ 0 h 1820"/>
                  <a:gd name="T2" fmla="*/ 1440 w 2280"/>
                  <a:gd name="T3" fmla="*/ 580 h 1820"/>
                  <a:gd name="T4" fmla="*/ 2280 w 2280"/>
                  <a:gd name="T5" fmla="*/ 1820 h 1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80" h="1820">
                    <a:moveTo>
                      <a:pt x="0" y="0"/>
                    </a:moveTo>
                    <a:cubicBezTo>
                      <a:pt x="530" y="138"/>
                      <a:pt x="1060" y="277"/>
                      <a:pt x="1440" y="580"/>
                    </a:cubicBezTo>
                    <a:cubicBezTo>
                      <a:pt x="1820" y="883"/>
                      <a:pt x="2140" y="1613"/>
                      <a:pt x="2280" y="182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3200" kern="0">
                  <a:solidFill>
                    <a:srgbClr val="3333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F32F497F-6942-4B4B-9A76-F94314475046}"/>
                  </a:ext>
                </a:extLst>
              </p:cNvPr>
              <p:cNvSpPr>
                <a:spLocks/>
              </p:cNvSpPr>
              <p:nvPr/>
            </p:nvSpPr>
            <p:spPr bwMode="auto">
              <a:xfrm rot="-807351">
                <a:off x="2712" y="1963"/>
                <a:ext cx="1005" cy="805"/>
              </a:xfrm>
              <a:custGeom>
                <a:avLst/>
                <a:gdLst>
                  <a:gd name="T0" fmla="*/ 0 w 2280"/>
                  <a:gd name="T1" fmla="*/ 0 h 1820"/>
                  <a:gd name="T2" fmla="*/ 1440 w 2280"/>
                  <a:gd name="T3" fmla="*/ 580 h 1820"/>
                  <a:gd name="T4" fmla="*/ 2280 w 2280"/>
                  <a:gd name="T5" fmla="*/ 1820 h 18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80" h="1820">
                    <a:moveTo>
                      <a:pt x="0" y="0"/>
                    </a:moveTo>
                    <a:cubicBezTo>
                      <a:pt x="530" y="138"/>
                      <a:pt x="1060" y="277"/>
                      <a:pt x="1440" y="580"/>
                    </a:cubicBezTo>
                    <a:cubicBezTo>
                      <a:pt x="1820" y="883"/>
                      <a:pt x="2140" y="1613"/>
                      <a:pt x="2280" y="182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3200" kern="0">
                  <a:solidFill>
                    <a:srgbClr val="3333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90FBA98D-2CDF-4BBA-A45D-B04348769F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2" y="2070"/>
                <a:ext cx="633" cy="565"/>
              </a:xfrm>
              <a:custGeom>
                <a:avLst/>
                <a:gdLst>
                  <a:gd name="T0" fmla="*/ 0 w 1100"/>
                  <a:gd name="T1" fmla="*/ 920 h 920"/>
                  <a:gd name="T2" fmla="*/ 220 w 1100"/>
                  <a:gd name="T3" fmla="*/ 520 h 920"/>
                  <a:gd name="T4" fmla="*/ 520 w 1100"/>
                  <a:gd name="T5" fmla="*/ 140 h 920"/>
                  <a:gd name="T6" fmla="*/ 1100 w 1100"/>
                  <a:gd name="T7" fmla="*/ 0 h 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0" h="920">
                    <a:moveTo>
                      <a:pt x="0" y="920"/>
                    </a:moveTo>
                    <a:cubicBezTo>
                      <a:pt x="66" y="785"/>
                      <a:pt x="133" y="650"/>
                      <a:pt x="220" y="520"/>
                    </a:cubicBezTo>
                    <a:cubicBezTo>
                      <a:pt x="307" y="390"/>
                      <a:pt x="373" y="227"/>
                      <a:pt x="520" y="140"/>
                    </a:cubicBezTo>
                    <a:cubicBezTo>
                      <a:pt x="667" y="53"/>
                      <a:pt x="1004" y="23"/>
                      <a:pt x="1100" y="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3200" kern="0">
                  <a:solidFill>
                    <a:srgbClr val="3333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BA0F7CB7-FAEA-4BD9-ABE9-A22917B2B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2" y="1141"/>
                <a:ext cx="710" cy="947"/>
              </a:xfrm>
              <a:custGeom>
                <a:avLst/>
                <a:gdLst>
                  <a:gd name="T0" fmla="*/ 0 w 1100"/>
                  <a:gd name="T1" fmla="*/ 920 h 920"/>
                  <a:gd name="T2" fmla="*/ 220 w 1100"/>
                  <a:gd name="T3" fmla="*/ 520 h 920"/>
                  <a:gd name="T4" fmla="*/ 520 w 1100"/>
                  <a:gd name="T5" fmla="*/ 140 h 920"/>
                  <a:gd name="T6" fmla="*/ 1100 w 1100"/>
                  <a:gd name="T7" fmla="*/ 0 h 9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100" h="920">
                    <a:moveTo>
                      <a:pt x="0" y="920"/>
                    </a:moveTo>
                    <a:cubicBezTo>
                      <a:pt x="66" y="785"/>
                      <a:pt x="133" y="650"/>
                      <a:pt x="220" y="520"/>
                    </a:cubicBezTo>
                    <a:cubicBezTo>
                      <a:pt x="307" y="390"/>
                      <a:pt x="373" y="227"/>
                      <a:pt x="520" y="140"/>
                    </a:cubicBezTo>
                    <a:cubicBezTo>
                      <a:pt x="667" y="53"/>
                      <a:pt x="1004" y="23"/>
                      <a:pt x="1100" y="0"/>
                    </a:cubicBez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3200" kern="0">
                  <a:solidFill>
                    <a:srgbClr val="3333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FBE2B200-579D-44B2-ABC0-C55847501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889818">
                <a:off x="3435" y="1689"/>
                <a:ext cx="319" cy="175"/>
              </a:xfrm>
              <a:prstGeom prst="ellipse">
                <a:avLst/>
              </a:prstGeom>
              <a:solidFill>
                <a:schemeClr val="accent1">
                  <a:lumMod val="75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3200" kern="0">
                  <a:solidFill>
                    <a:srgbClr val="3333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Line 12">
                <a:extLst>
                  <a:ext uri="{FF2B5EF4-FFF2-40B4-BE49-F238E27FC236}">
                    <a16:creationId xmlns:a16="http://schemas.microsoft.com/office/drawing/2014/main" id="{096A9485-FB63-455B-BACA-5EC1025F53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20" y="1141"/>
                <a:ext cx="257" cy="635"/>
              </a:xfrm>
              <a:prstGeom prst="line">
                <a:avLst/>
              </a:prstGeom>
              <a:noFill/>
              <a:ln w="38100">
                <a:solidFill>
                  <a:srgbClr val="0000FF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3200" kern="0">
                  <a:solidFill>
                    <a:srgbClr val="3333CC"/>
                  </a:solidFill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Line 13">
                <a:extLst>
                  <a:ext uri="{FF2B5EF4-FFF2-40B4-BE49-F238E27FC236}">
                    <a16:creationId xmlns:a16="http://schemas.microsoft.com/office/drawing/2014/main" id="{B281C5A5-678D-4F79-8422-15AD4EDCB2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618" y="1341"/>
                <a:ext cx="947" cy="435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sm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ct val="50000"/>
                  </a:spcBef>
                  <a:defRPr/>
                </a:pPr>
                <a:endParaRPr lang="zh-CN" altLang="en-US" sz="3200" kern="0">
                  <a:solidFill>
                    <a:srgbClr val="3333CC"/>
                  </a:solidFill>
                  <a:ea typeface="黑体" panose="02010609060101010101" pitchFamily="49" charset="-122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 Box 18">
                    <a:extLst>
                      <a:ext uri="{FF2B5EF4-FFF2-40B4-BE49-F238E27FC236}">
                        <a16:creationId xmlns:a16="http://schemas.microsoft.com/office/drawing/2014/main" id="{A60D3F90-9337-4D4F-AE71-12E6E4867C62}"/>
                      </a:ext>
                    </a:extLst>
                  </p:cNvPr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4272" y="952"/>
                    <a:ext cx="432" cy="323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algn="just">
                      <a:defRPr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⃗"/>
                              <m:ctrlPr>
                                <a:rPr lang="en-US" altLang="zh-CN" sz="2800" b="1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1" i="1" kern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𝑱</m:t>
                              </m:r>
                            </m:e>
                          </m:acc>
                        </m:oMath>
                      </m:oMathPara>
                    </a14:m>
                    <a:endParaRPr lang="en-US" altLang="zh-CN" sz="2800" b="1" i="1" kern="0" dirty="0">
                      <a:solidFill>
                        <a:srgbClr val="FF0000"/>
                      </a:solidFill>
                      <a:ea typeface="黑体" panose="02010609060101010101" pitchFamily="49" charset="-122"/>
                    </a:endParaRPr>
                  </a:p>
                </p:txBody>
              </p:sp>
            </mc:Choice>
            <mc:Fallback xmlns="">
              <p:sp>
                <p:nvSpPr>
                  <p:cNvPr id="31" name="Text Box 1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272" y="952"/>
                    <a:ext cx="432" cy="323"/>
                  </a:xfrm>
                  <a:prstGeom prst="rect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6" name="Text Box 20">
                <a:extLst>
                  <a:ext uri="{FF2B5EF4-FFF2-40B4-BE49-F238E27FC236}">
                    <a16:creationId xmlns:a16="http://schemas.microsoft.com/office/drawing/2014/main" id="{1F45AC6A-2F46-47CF-AAD6-74EB7E12E05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11" y="1600"/>
                <a:ext cx="393" cy="321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algn="just">
                  <a:defRPr/>
                </a:pPr>
                <a:r>
                  <a:rPr kumimoji="0" lang="en-US" altLang="zh-CN" sz="2800" i="1" kern="0">
                    <a:solidFill>
                      <a:srgbClr val="000000"/>
                    </a:solidFill>
                    <a:ea typeface="宋体"/>
                  </a:rPr>
                  <a:t>S</a:t>
                </a:r>
                <a:endParaRPr kumimoji="0" lang="en-US" altLang="zh-CN" i="1" kern="0">
                  <a:solidFill>
                    <a:srgbClr val="000000"/>
                  </a:solidFill>
                  <a:ea typeface="宋体"/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>
                  <a:extLst>
                    <a:ext uri="{FF2B5EF4-FFF2-40B4-BE49-F238E27FC236}">
                      <a16:creationId xmlns:a16="http://schemas.microsoft.com/office/drawing/2014/main" id="{605DBFAC-69FB-4157-B3C9-924878B83280}"/>
                    </a:ext>
                  </a:extLst>
                </p:cNvPr>
                <p:cNvSpPr txBox="1"/>
                <p:nvPr/>
              </p:nvSpPr>
              <p:spPr>
                <a:xfrm>
                  <a:off x="7128835" y="4382627"/>
                  <a:ext cx="46198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eaLnBrk="1" fontAlgn="auto" hangingPunct="1">
                    <a:spcBef>
                      <a:spcPts val="0"/>
                    </a:spcBef>
                    <a:spcAft>
                      <a:spcPts val="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zh-CN" altLang="en-US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𝜽</m:t>
                        </m:r>
                      </m:oMath>
                    </m:oMathPara>
                  </a14:m>
                  <a:endParaRPr kumimoji="0" lang="zh-CN" altLang="en-US" sz="2400" dirty="0">
                    <a:solidFill>
                      <a:srgbClr val="000000"/>
                    </a:solidFill>
                    <a:latin typeface="Arial"/>
                    <a:ea typeface="宋体"/>
                  </a:endParaRPr>
                </a:p>
              </p:txBody>
            </p:sp>
          </mc:Choice>
          <mc:Fallback xmlns="">
            <p:sp>
              <p:nvSpPr>
                <p:cNvPr id="5" name="文本框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28835" y="4382627"/>
                  <a:ext cx="461986" cy="46166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9" name="矩形 18">
            <a:extLst>
              <a:ext uri="{FF2B5EF4-FFF2-40B4-BE49-F238E27FC236}">
                <a16:creationId xmlns:a16="http://schemas.microsoft.com/office/drawing/2014/main" id="{14AC8B6F-2A83-15D4-CFC4-4EF43E8AA889}"/>
              </a:ext>
            </a:extLst>
          </p:cNvPr>
          <p:cNvSpPr/>
          <p:nvPr/>
        </p:nvSpPr>
        <p:spPr>
          <a:xfrm>
            <a:off x="828334" y="1348222"/>
            <a:ext cx="385714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华文楷体" panose="02010600040101010101" pitchFamily="2" charset="-122"/>
              </a:rPr>
              <a:t>单位面积上的电流强度 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Object 55">
                <a:extLst>
                  <a:ext uri="{FF2B5EF4-FFF2-40B4-BE49-F238E27FC236}">
                    <a16:creationId xmlns:a16="http://schemas.microsoft.com/office/drawing/2014/main" id="{7C116BE2-4C27-16C4-76CB-B5C835F50C1D}"/>
                  </a:ext>
                </a:extLst>
              </p:cNvPr>
              <p:cNvSpPr txBox="1"/>
              <p:nvPr/>
            </p:nvSpPr>
            <p:spPr bwMode="auto">
              <a:xfrm>
                <a:off x="5047714" y="1348222"/>
                <a:ext cx="1887245" cy="70196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𝑑𝐼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acc>
                        <m:accPr>
                          <m:chr m:val="⃗"/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" name="Object 55">
                <a:extLst>
                  <a:ext uri="{FF2B5EF4-FFF2-40B4-BE49-F238E27FC236}">
                    <a16:creationId xmlns:a16="http://schemas.microsoft.com/office/drawing/2014/main" id="{7C116BE2-4C27-16C4-76CB-B5C835F50C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047714" y="1348222"/>
                <a:ext cx="1887245" cy="70196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Group 4">
            <a:extLst>
              <a:ext uri="{FF2B5EF4-FFF2-40B4-BE49-F238E27FC236}">
                <a16:creationId xmlns:a16="http://schemas.microsoft.com/office/drawing/2014/main" id="{D56EE152-3116-3A6D-9131-8011026501E7}"/>
              </a:ext>
            </a:extLst>
          </p:cNvPr>
          <p:cNvGrpSpPr>
            <a:grpSpLocks/>
          </p:cNvGrpSpPr>
          <p:nvPr/>
        </p:nvGrpSpPr>
        <p:grpSpPr bwMode="auto">
          <a:xfrm>
            <a:off x="8048811" y="4486006"/>
            <a:ext cx="3673353" cy="2108553"/>
            <a:chOff x="96" y="2304"/>
            <a:chExt cx="3024" cy="1764"/>
          </a:xfrm>
        </p:grpSpPr>
        <p:grpSp>
          <p:nvGrpSpPr>
            <p:cNvPr id="22" name="Group 5">
              <a:extLst>
                <a:ext uri="{FF2B5EF4-FFF2-40B4-BE49-F238E27FC236}">
                  <a16:creationId xmlns:a16="http://schemas.microsoft.com/office/drawing/2014/main" id="{3D0915F3-5908-2822-F1EC-CC610B8006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3168"/>
              <a:ext cx="1752" cy="900"/>
              <a:chOff x="888" y="3264"/>
              <a:chExt cx="1776" cy="912"/>
            </a:xfrm>
          </p:grpSpPr>
          <p:sp>
            <p:nvSpPr>
              <p:cNvPr id="57" name="Arc 6">
                <a:extLst>
                  <a:ext uri="{FF2B5EF4-FFF2-40B4-BE49-F238E27FC236}">
                    <a16:creationId xmlns:a16="http://schemas.microsoft.com/office/drawing/2014/main" id="{E4025C39-90BA-977F-7C2F-1B7AD6436980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1752" y="3264"/>
                <a:ext cx="912" cy="9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8" name="Arc 7">
                <a:extLst>
                  <a:ext uri="{FF2B5EF4-FFF2-40B4-BE49-F238E27FC236}">
                    <a16:creationId xmlns:a16="http://schemas.microsoft.com/office/drawing/2014/main" id="{16307B8D-A738-17EF-48A6-DD796A3CF01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 flipV="1">
                <a:off x="888" y="3264"/>
                <a:ext cx="912" cy="912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600" h="21600" fill="none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0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3" name="Line 8">
              <a:extLst>
                <a:ext uri="{FF2B5EF4-FFF2-40B4-BE49-F238E27FC236}">
                  <a16:creationId xmlns:a16="http://schemas.microsoft.com/office/drawing/2014/main" id="{28137C8F-7CAC-63D1-02F9-F2EA3F357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" y="2772"/>
              <a:ext cx="29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Rectangle 9" descr="深色上对角线">
              <a:extLst>
                <a:ext uri="{FF2B5EF4-FFF2-40B4-BE49-F238E27FC236}">
                  <a16:creationId xmlns:a16="http://schemas.microsoft.com/office/drawing/2014/main" id="{C3A7E56C-351C-1B65-01FC-1BA4444891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" y="2784"/>
              <a:ext cx="2880" cy="144"/>
            </a:xfrm>
            <a:prstGeom prst="rect">
              <a:avLst/>
            </a:prstGeom>
            <a:pattFill prst="dkUpDiag">
              <a:fgClr>
                <a:schemeClr val="tx1"/>
              </a:fgClr>
              <a:bgClr>
                <a:schemeClr val="bg1"/>
              </a:bgClr>
            </a:patt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Line 10">
              <a:extLst>
                <a:ext uri="{FF2B5EF4-FFF2-40B4-BE49-F238E27FC236}">
                  <a16:creationId xmlns:a16="http://schemas.microsoft.com/office/drawing/2014/main" id="{B26678CB-83D8-84F3-A3D1-3880BC16B2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41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6" name="Group 11">
              <a:extLst>
                <a:ext uri="{FF2B5EF4-FFF2-40B4-BE49-F238E27FC236}">
                  <a16:creationId xmlns:a16="http://schemas.microsoft.com/office/drawing/2014/main" id="{CA341F92-E829-C3E7-D565-117C3BD4006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96" y="2304"/>
              <a:ext cx="48" cy="240"/>
              <a:chOff x="1584" y="2580"/>
              <a:chExt cx="48" cy="240"/>
            </a:xfrm>
          </p:grpSpPr>
          <p:sp>
            <p:nvSpPr>
              <p:cNvPr id="55" name="Line 12">
                <a:extLst>
                  <a:ext uri="{FF2B5EF4-FFF2-40B4-BE49-F238E27FC236}">
                    <a16:creationId xmlns:a16="http://schemas.microsoft.com/office/drawing/2014/main" id="{D5AA2AFE-BD93-85B7-5C0F-B34DD95232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258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6" name="Line 13">
                <a:extLst>
                  <a:ext uri="{FF2B5EF4-FFF2-40B4-BE49-F238E27FC236}">
                    <a16:creationId xmlns:a16="http://schemas.microsoft.com/office/drawing/2014/main" id="{2C61A48A-4BDF-BC95-E45D-0FB869B8BF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40"/>
                <a:ext cx="0" cy="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27" name="Group 14">
              <a:extLst>
                <a:ext uri="{FF2B5EF4-FFF2-40B4-BE49-F238E27FC236}">
                  <a16:creationId xmlns:a16="http://schemas.microsoft.com/office/drawing/2014/main" id="{B1332598-441C-2627-E4AE-EEDA6780C0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32" y="2304"/>
              <a:ext cx="48" cy="240"/>
              <a:chOff x="1584" y="2580"/>
              <a:chExt cx="48" cy="240"/>
            </a:xfrm>
          </p:grpSpPr>
          <p:sp>
            <p:nvSpPr>
              <p:cNvPr id="53" name="Line 15">
                <a:extLst>
                  <a:ext uri="{FF2B5EF4-FFF2-40B4-BE49-F238E27FC236}">
                    <a16:creationId xmlns:a16="http://schemas.microsoft.com/office/drawing/2014/main" id="{59C1D0DA-FA78-EDB4-9103-5DF78DBCF5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84" y="2580"/>
                <a:ext cx="0" cy="24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4" name="Line 16">
                <a:extLst>
                  <a:ext uri="{FF2B5EF4-FFF2-40B4-BE49-F238E27FC236}">
                    <a16:creationId xmlns:a16="http://schemas.microsoft.com/office/drawing/2014/main" id="{F093E26B-25EF-0C43-7FD8-640FA639C0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632" y="2640"/>
                <a:ext cx="0" cy="96"/>
              </a:xfrm>
              <a:prstGeom prst="line">
                <a:avLst/>
              </a:prstGeom>
              <a:noFill/>
              <a:ln w="5715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8" name="Line 17">
              <a:extLst>
                <a:ext uri="{FF2B5EF4-FFF2-40B4-BE49-F238E27FC236}">
                  <a16:creationId xmlns:a16="http://schemas.microsoft.com/office/drawing/2014/main" id="{B92E190C-7DE7-CEBF-3FE1-10DA42437C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6" y="2412"/>
              <a:ext cx="67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18">
              <a:extLst>
                <a:ext uri="{FF2B5EF4-FFF2-40B4-BE49-F238E27FC236}">
                  <a16:creationId xmlns:a16="http://schemas.microsoft.com/office/drawing/2014/main" id="{809004FF-2832-D9B1-E6BB-4653509E2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2412"/>
              <a:ext cx="24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19">
              <a:extLst>
                <a:ext uri="{FF2B5EF4-FFF2-40B4-BE49-F238E27FC236}">
                  <a16:creationId xmlns:a16="http://schemas.microsoft.com/office/drawing/2014/main" id="{035FC776-C40C-CDFF-6327-2F84F8933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41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" name="Line 20">
              <a:extLst>
                <a:ext uri="{FF2B5EF4-FFF2-40B4-BE49-F238E27FC236}">
                  <a16:creationId xmlns:a16="http://schemas.microsoft.com/office/drawing/2014/main" id="{53ED884F-66D3-E3F1-C5CA-3F88BAC47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88" y="241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2" name="Text Box 21">
              <a:extLst>
                <a:ext uri="{FF2B5EF4-FFF2-40B4-BE49-F238E27FC236}">
                  <a16:creationId xmlns:a16="http://schemas.microsoft.com/office/drawing/2014/main" id="{A3987717-C7E8-9348-1167-9202CEB868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2704"/>
              <a:ext cx="384" cy="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6000" dirty="0">
                  <a:sym typeface="Symbol" panose="05050102010706020507" pitchFamily="18" charset="2"/>
                </a:rPr>
                <a:t></a:t>
              </a:r>
              <a:endParaRPr lang="en-US" altLang="zh-CN" sz="6000" dirty="0"/>
            </a:p>
          </p:txBody>
        </p:sp>
        <p:sp>
          <p:nvSpPr>
            <p:cNvPr id="33" name="Text Box 22">
              <a:extLst>
                <a:ext uri="{FF2B5EF4-FFF2-40B4-BE49-F238E27FC236}">
                  <a16:creationId xmlns:a16="http://schemas.microsoft.com/office/drawing/2014/main" id="{0D8DC204-7B6F-CE5E-09A0-463F2D68CD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77" y="2688"/>
              <a:ext cx="384" cy="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6000" dirty="0">
                  <a:sym typeface="Symbol" panose="05050102010706020507" pitchFamily="18" charset="2"/>
                </a:rPr>
                <a:t></a:t>
              </a:r>
              <a:endParaRPr lang="en-US" altLang="zh-CN" sz="6000" dirty="0"/>
            </a:p>
          </p:txBody>
        </p:sp>
        <p:sp>
          <p:nvSpPr>
            <p:cNvPr id="34" name="Line 23">
              <a:extLst>
                <a:ext uri="{FF2B5EF4-FFF2-40B4-BE49-F238E27FC236}">
                  <a16:creationId xmlns:a16="http://schemas.microsoft.com/office/drawing/2014/main" id="{49DE5CCC-A1A5-6E03-9F3A-D3C1C0F8CA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3132"/>
              <a:ext cx="172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5" name="Freeform 24">
              <a:extLst>
                <a:ext uri="{FF2B5EF4-FFF2-40B4-BE49-F238E27FC236}">
                  <a16:creationId xmlns:a16="http://schemas.microsoft.com/office/drawing/2014/main" id="{205ACE9E-70DA-6789-B65B-B238EF36A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" y="3144"/>
              <a:ext cx="1776" cy="228"/>
            </a:xfrm>
            <a:custGeom>
              <a:avLst/>
              <a:gdLst>
                <a:gd name="T0" fmla="*/ 0 w 1776"/>
                <a:gd name="T1" fmla="*/ 0 h 240"/>
                <a:gd name="T2" fmla="*/ 816 w 1776"/>
                <a:gd name="T3" fmla="*/ 118 h 240"/>
                <a:gd name="T4" fmla="*/ 1776 w 1776"/>
                <a:gd name="T5" fmla="*/ 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6" h="240">
                  <a:moveTo>
                    <a:pt x="0" y="0"/>
                  </a:moveTo>
                  <a:cubicBezTo>
                    <a:pt x="260" y="120"/>
                    <a:pt x="520" y="240"/>
                    <a:pt x="816" y="240"/>
                  </a:cubicBezTo>
                  <a:cubicBezTo>
                    <a:pt x="1112" y="240"/>
                    <a:pt x="1444" y="120"/>
                    <a:pt x="1776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" name="Freeform 25">
              <a:extLst>
                <a:ext uri="{FF2B5EF4-FFF2-40B4-BE49-F238E27FC236}">
                  <a16:creationId xmlns:a16="http://schemas.microsoft.com/office/drawing/2014/main" id="{5BE56243-878A-B2B0-2352-0057A82B8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" y="3180"/>
              <a:ext cx="1728" cy="480"/>
            </a:xfrm>
            <a:custGeom>
              <a:avLst/>
              <a:gdLst>
                <a:gd name="T0" fmla="*/ 0 w 1776"/>
                <a:gd name="T1" fmla="*/ 0 h 240"/>
                <a:gd name="T2" fmla="*/ 557 w 1776"/>
                <a:gd name="T3" fmla="*/ 3932160 h 240"/>
                <a:gd name="T4" fmla="*/ 1209 w 1776"/>
                <a:gd name="T5" fmla="*/ 0 h 2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76" h="240">
                  <a:moveTo>
                    <a:pt x="0" y="0"/>
                  </a:moveTo>
                  <a:cubicBezTo>
                    <a:pt x="260" y="120"/>
                    <a:pt x="520" y="240"/>
                    <a:pt x="816" y="240"/>
                  </a:cubicBezTo>
                  <a:cubicBezTo>
                    <a:pt x="1112" y="240"/>
                    <a:pt x="1444" y="120"/>
                    <a:pt x="1776" y="0"/>
                  </a:cubicBez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7" name="Group 26">
              <a:extLst>
                <a:ext uri="{FF2B5EF4-FFF2-40B4-BE49-F238E27FC236}">
                  <a16:creationId xmlns:a16="http://schemas.microsoft.com/office/drawing/2014/main" id="{21D82485-2242-EA77-0C34-BE02A520A2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6" y="3132"/>
              <a:ext cx="480" cy="672"/>
              <a:chOff x="288" y="3264"/>
              <a:chExt cx="576" cy="672"/>
            </a:xfrm>
          </p:grpSpPr>
          <p:sp>
            <p:nvSpPr>
              <p:cNvPr id="51" name="Freeform 27">
                <a:extLst>
                  <a:ext uri="{FF2B5EF4-FFF2-40B4-BE49-F238E27FC236}">
                    <a16:creationId xmlns:a16="http://schemas.microsoft.com/office/drawing/2014/main" id="{C1A8E16D-E521-F165-33C8-81544F7005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3312"/>
                <a:ext cx="192" cy="624"/>
              </a:xfrm>
              <a:custGeom>
                <a:avLst/>
                <a:gdLst>
                  <a:gd name="T0" fmla="*/ 192 w 192"/>
                  <a:gd name="T1" fmla="*/ 0 h 624"/>
                  <a:gd name="T2" fmla="*/ 48 w 192"/>
                  <a:gd name="T3" fmla="*/ 240 h 624"/>
                  <a:gd name="T4" fmla="*/ 0 w 192"/>
                  <a:gd name="T5" fmla="*/ 624 h 6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624">
                    <a:moveTo>
                      <a:pt x="192" y="0"/>
                    </a:moveTo>
                    <a:cubicBezTo>
                      <a:pt x="136" y="68"/>
                      <a:pt x="80" y="136"/>
                      <a:pt x="48" y="240"/>
                    </a:cubicBezTo>
                    <a:cubicBezTo>
                      <a:pt x="16" y="344"/>
                      <a:pt x="8" y="484"/>
                      <a:pt x="0" y="624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2" name="Freeform 28">
                <a:extLst>
                  <a:ext uri="{FF2B5EF4-FFF2-40B4-BE49-F238E27FC236}">
                    <a16:creationId xmlns:a16="http://schemas.microsoft.com/office/drawing/2014/main" id="{38897A10-BAD3-9CE2-B402-04F4128D2C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" y="3264"/>
                <a:ext cx="576" cy="480"/>
              </a:xfrm>
              <a:custGeom>
                <a:avLst/>
                <a:gdLst>
                  <a:gd name="T0" fmla="*/ 576 w 576"/>
                  <a:gd name="T1" fmla="*/ 0 h 480"/>
                  <a:gd name="T2" fmla="*/ 192 w 576"/>
                  <a:gd name="T3" fmla="*/ 192 h 480"/>
                  <a:gd name="T4" fmla="*/ 0 w 576"/>
                  <a:gd name="T5" fmla="*/ 480 h 4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480">
                    <a:moveTo>
                      <a:pt x="576" y="0"/>
                    </a:moveTo>
                    <a:cubicBezTo>
                      <a:pt x="432" y="56"/>
                      <a:pt x="288" y="112"/>
                      <a:pt x="192" y="192"/>
                    </a:cubicBezTo>
                    <a:cubicBezTo>
                      <a:pt x="96" y="272"/>
                      <a:pt x="48" y="376"/>
                      <a:pt x="0" y="48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none" w="med" len="med"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38" name="Group 29">
              <a:extLst>
                <a:ext uri="{FF2B5EF4-FFF2-40B4-BE49-F238E27FC236}">
                  <a16:creationId xmlns:a16="http://schemas.microsoft.com/office/drawing/2014/main" id="{B1F933B5-9732-B502-006D-9E729965B72E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2424" y="3156"/>
              <a:ext cx="480" cy="672"/>
              <a:chOff x="288" y="3264"/>
              <a:chExt cx="576" cy="672"/>
            </a:xfrm>
          </p:grpSpPr>
          <p:sp>
            <p:nvSpPr>
              <p:cNvPr id="49" name="Freeform 30">
                <a:extLst>
                  <a:ext uri="{FF2B5EF4-FFF2-40B4-BE49-F238E27FC236}">
                    <a16:creationId xmlns:a16="http://schemas.microsoft.com/office/drawing/2014/main" id="{1F459EDE-C3E5-8329-8F0E-92DC6125F6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2" y="3312"/>
                <a:ext cx="192" cy="624"/>
              </a:xfrm>
              <a:custGeom>
                <a:avLst/>
                <a:gdLst>
                  <a:gd name="T0" fmla="*/ 192 w 192"/>
                  <a:gd name="T1" fmla="*/ 0 h 624"/>
                  <a:gd name="T2" fmla="*/ 48 w 192"/>
                  <a:gd name="T3" fmla="*/ 240 h 624"/>
                  <a:gd name="T4" fmla="*/ 0 w 192"/>
                  <a:gd name="T5" fmla="*/ 624 h 6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2" h="624">
                    <a:moveTo>
                      <a:pt x="192" y="0"/>
                    </a:moveTo>
                    <a:cubicBezTo>
                      <a:pt x="136" y="68"/>
                      <a:pt x="80" y="136"/>
                      <a:pt x="48" y="240"/>
                    </a:cubicBezTo>
                    <a:cubicBezTo>
                      <a:pt x="16" y="344"/>
                      <a:pt x="8" y="484"/>
                      <a:pt x="0" y="624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0" name="Freeform 31">
                <a:extLst>
                  <a:ext uri="{FF2B5EF4-FFF2-40B4-BE49-F238E27FC236}">
                    <a16:creationId xmlns:a16="http://schemas.microsoft.com/office/drawing/2014/main" id="{0B43F586-7698-3CF2-4348-6AB286FDB0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8" y="3264"/>
                <a:ext cx="576" cy="480"/>
              </a:xfrm>
              <a:custGeom>
                <a:avLst/>
                <a:gdLst>
                  <a:gd name="T0" fmla="*/ 576 w 576"/>
                  <a:gd name="T1" fmla="*/ 0 h 480"/>
                  <a:gd name="T2" fmla="*/ 192 w 576"/>
                  <a:gd name="T3" fmla="*/ 192 h 480"/>
                  <a:gd name="T4" fmla="*/ 0 w 576"/>
                  <a:gd name="T5" fmla="*/ 480 h 48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76" h="480">
                    <a:moveTo>
                      <a:pt x="576" y="0"/>
                    </a:moveTo>
                    <a:cubicBezTo>
                      <a:pt x="432" y="56"/>
                      <a:pt x="288" y="112"/>
                      <a:pt x="192" y="192"/>
                    </a:cubicBezTo>
                    <a:cubicBezTo>
                      <a:pt x="96" y="272"/>
                      <a:pt x="48" y="376"/>
                      <a:pt x="0" y="480"/>
                    </a:cubicBez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round/>
                <a:headEnd type="triangle" w="sm" len="lg"/>
                <a:tailEnd type="non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40" name="Line 32">
              <a:extLst>
                <a:ext uri="{FF2B5EF4-FFF2-40B4-BE49-F238E27FC236}">
                  <a16:creationId xmlns:a16="http://schemas.microsoft.com/office/drawing/2014/main" id="{FA002721-9992-88A5-4B13-ACA64F3FE6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44" y="313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" name="Line 33">
              <a:extLst>
                <a:ext uri="{FF2B5EF4-FFF2-40B4-BE49-F238E27FC236}">
                  <a16:creationId xmlns:a16="http://schemas.microsoft.com/office/drawing/2014/main" id="{3158D414-6CC4-FF49-E02E-E32B34D867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6" y="3372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4" name="Line 34">
              <a:extLst>
                <a:ext uri="{FF2B5EF4-FFF2-40B4-BE49-F238E27FC236}">
                  <a16:creationId xmlns:a16="http://schemas.microsoft.com/office/drawing/2014/main" id="{B1A77193-31A2-BC12-2126-1BF57B00FA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56" y="3660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6" name="Line 35">
              <a:extLst>
                <a:ext uri="{FF2B5EF4-FFF2-40B4-BE49-F238E27FC236}">
                  <a16:creationId xmlns:a16="http://schemas.microsoft.com/office/drawing/2014/main" id="{388772C5-E5DE-23C4-6209-3481459866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2" y="4068"/>
              <a:ext cx="19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7" name="Line 36">
              <a:extLst>
                <a:ext uri="{FF2B5EF4-FFF2-40B4-BE49-F238E27FC236}">
                  <a16:creationId xmlns:a16="http://schemas.microsoft.com/office/drawing/2014/main" id="{42DEFA0A-3792-C69D-7171-75AFD2E3BA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2556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8" name="Line 37">
              <a:extLst>
                <a:ext uri="{FF2B5EF4-FFF2-40B4-BE49-F238E27FC236}">
                  <a16:creationId xmlns:a16="http://schemas.microsoft.com/office/drawing/2014/main" id="{D973D7E3-3849-D981-021B-6A7661C154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88" y="2508"/>
              <a:ext cx="0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59" name="Text Box 15">
            <a:extLst>
              <a:ext uri="{FF2B5EF4-FFF2-40B4-BE49-F238E27FC236}">
                <a16:creationId xmlns:a16="http://schemas.microsoft.com/office/drawing/2014/main" id="{BB3B6562-9ED7-47CF-96A9-ABCFF7806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7" y="4868863"/>
            <a:ext cx="7570351" cy="6412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en-US" altLang="zh-CN" sz="2800" dirty="0">
                <a:latin typeface="+mn-lt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latin typeface="+mn-lt"/>
                <a:ea typeface="华文楷体" panose="02010600040101010101" pitchFamily="2" charset="-122"/>
              </a:rPr>
              <a:t>电流线上某点的切向</a:t>
            </a:r>
            <a:r>
              <a:rPr lang="zh-CN" altLang="en-US" sz="2800" dirty="0">
                <a:ea typeface="华文楷体" panose="02010600040101010101" pitchFamily="2" charset="-122"/>
              </a:rPr>
              <a:t>与该点    的方向一致</a:t>
            </a:r>
            <a:endParaRPr lang="zh-CN" altLang="en-US" sz="2800" dirty="0">
              <a:latin typeface="+mn-lt"/>
              <a:ea typeface="华文楷体" panose="02010600040101010101" pitchFamily="2" charset="-122"/>
            </a:endParaRPr>
          </a:p>
        </p:txBody>
      </p:sp>
      <p:graphicFrame>
        <p:nvGraphicFramePr>
          <p:cNvPr id="62" name="Object 18">
            <a:extLst>
              <a:ext uri="{FF2B5EF4-FFF2-40B4-BE49-F238E27FC236}">
                <a16:creationId xmlns:a16="http://schemas.microsoft.com/office/drawing/2014/main" id="{2B0AD30E-814B-4F17-904E-469AEE07BD2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4027887"/>
              </p:ext>
            </p:extLst>
          </p:nvPr>
        </p:nvGraphicFramePr>
        <p:xfrm>
          <a:off x="5407033" y="4926012"/>
          <a:ext cx="376238" cy="620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Equation" r:id="rId7" imgW="139700" imgH="228600" progId="Equation.DSMT4">
                  <p:embed/>
                </p:oleObj>
              </mc:Choice>
              <mc:Fallback>
                <p:oleObj name="Equation" r:id="rId7" imgW="139700" imgH="228600" progId="Equation.DSMT4">
                  <p:embed/>
                  <p:pic>
                    <p:nvPicPr>
                      <p:cNvPr id="21" name="Object 18">
                        <a:extLst>
                          <a:ext uri="{FF2B5EF4-FFF2-40B4-BE49-F238E27FC236}">
                            <a16:creationId xmlns:a16="http://schemas.microsoft.com/office/drawing/2014/main" id="{2B0AD30E-814B-4F17-904E-469AEE07B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7033" y="4926012"/>
                        <a:ext cx="376238" cy="620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 Box 30">
            <a:extLst>
              <a:ext uri="{FF2B5EF4-FFF2-40B4-BE49-F238E27FC236}">
                <a16:creationId xmlns:a16="http://schemas.microsoft.com/office/drawing/2014/main" id="{7BEE4EEE-C838-4E37-8DF7-D79E24A636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7" y="5644442"/>
            <a:ext cx="398538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dirty="0">
                <a:latin typeface="+mn-lt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latin typeface="+mn-lt"/>
                <a:ea typeface="华文楷体" panose="02010600040101010101" pitchFamily="2" charset="-122"/>
              </a:rPr>
              <a:t>电流线密的地方电流强</a:t>
            </a:r>
          </a:p>
        </p:txBody>
      </p:sp>
    </p:spTree>
    <p:extLst>
      <p:ext uri="{BB962C8B-B14F-4D97-AF65-F5344CB8AC3E}">
        <p14:creationId xmlns:p14="http://schemas.microsoft.com/office/powerpoint/2010/main" val="2040990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  <p:bldP spid="45" grpId="0"/>
      <p:bldP spid="59" grpId="0"/>
      <p:bldP spid="6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B9651C8-5062-4CF1-B8BC-D0E8002A11F3}"/>
                  </a:ext>
                </a:extLst>
              </p:cNvPr>
              <p:cNvSpPr/>
              <p:nvPr/>
            </p:nvSpPr>
            <p:spPr>
              <a:xfrm>
                <a:off x="4826141" y="5594271"/>
                <a:ext cx="3277372" cy="109863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=−</m:t>
                      </m:r>
                      <m:f>
                        <m:fPr>
                          <m:ctrlP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5B9651C8-5062-4CF1-B8BC-D0E8002A11F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6141" y="5594271"/>
                <a:ext cx="3277372" cy="109863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>
            <a:extLst>
              <a:ext uri="{FF2B5EF4-FFF2-40B4-BE49-F238E27FC236}">
                <a16:creationId xmlns:a16="http://schemas.microsoft.com/office/drawing/2014/main" id="{3A37F976-D89A-4C71-8F2C-C9DB9033B69B}"/>
              </a:ext>
            </a:extLst>
          </p:cNvPr>
          <p:cNvSpPr/>
          <p:nvPr/>
        </p:nvSpPr>
        <p:spPr>
          <a:xfrm>
            <a:off x="1390550" y="3839173"/>
            <a:ext cx="34212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净流出封闭面的电流</a:t>
            </a:r>
            <a:endParaRPr lang="en-US" altLang="zh-CN" sz="2800" kern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FA483EC-2190-42C7-AD45-76918B1A1EF1}"/>
              </a:ext>
            </a:extLst>
          </p:cNvPr>
          <p:cNvSpPr txBox="1"/>
          <p:nvPr/>
        </p:nvSpPr>
        <p:spPr>
          <a:xfrm>
            <a:off x="5171374" y="1930081"/>
            <a:ext cx="19593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ea typeface="华文楷体" panose="02010600040101010101" pitchFamily="2" charset="-122"/>
              </a:rPr>
              <a:t>电荷守恒</a:t>
            </a: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3A4B39A1-68C9-4473-AC1B-25DC9D6FE4E0}"/>
              </a:ext>
            </a:extLst>
          </p:cNvPr>
          <p:cNvSpPr/>
          <p:nvPr/>
        </p:nvSpPr>
        <p:spPr>
          <a:xfrm>
            <a:off x="589623" y="396302"/>
            <a:ext cx="3833101" cy="68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 algn="r">
              <a:lnSpc>
                <a:spcPct val="13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zh-CN" altLang="en-US" sz="3200" b="1" kern="0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电流的连续性方程</a:t>
            </a:r>
            <a:endParaRPr lang="zh-CN" altLang="en-US" sz="3200" b="1" dirty="0">
              <a:solidFill>
                <a:srgbClr val="0066FF"/>
              </a:solidFill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CE28814-B062-44EF-8A3E-49F0DBE25A39}"/>
                  </a:ext>
                </a:extLst>
              </p:cNvPr>
              <p:cNvSpPr/>
              <p:nvPr/>
            </p:nvSpPr>
            <p:spPr>
              <a:xfrm>
                <a:off x="5035327" y="3474084"/>
                <a:ext cx="2431115" cy="10994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2CE28814-B062-44EF-8A3E-49F0DBE25A3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5327" y="3474084"/>
                <a:ext cx="2431115" cy="10994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ED61576-7F35-426C-BBC2-128291BD8E5F}"/>
                  </a:ext>
                </a:extLst>
              </p:cNvPr>
              <p:cNvSpPr/>
              <p:nvPr/>
            </p:nvSpPr>
            <p:spPr>
              <a:xfrm>
                <a:off x="8672211" y="4518576"/>
                <a:ext cx="1331775" cy="9107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b="0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−</m:t>
                      </m:r>
                      <m:f>
                        <m:fPr>
                          <m:ctrlP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3ED61576-7F35-426C-BBC2-128291BD8E5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2211" y="4518576"/>
                <a:ext cx="1331775" cy="910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>
            <a:extLst>
              <a:ext uri="{FF2B5EF4-FFF2-40B4-BE49-F238E27FC236}">
                <a16:creationId xmlns:a16="http://schemas.microsoft.com/office/drawing/2014/main" id="{F3FFFF9F-84C7-4E70-9865-DBFC5BB04778}"/>
              </a:ext>
            </a:extLst>
          </p:cNvPr>
          <p:cNvSpPr/>
          <p:nvPr/>
        </p:nvSpPr>
        <p:spPr>
          <a:xfrm>
            <a:off x="1323097" y="4822420"/>
            <a:ext cx="736611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单位时间内从封闭面内向外流出的正电荷的量</a:t>
            </a:r>
            <a:endParaRPr lang="en-US" sz="2800" dirty="0"/>
          </a:p>
        </p:txBody>
      </p:sp>
      <p:pic>
        <p:nvPicPr>
          <p:cNvPr id="8252" name="Picture 60" descr="小學數學題目巧解——水池注排水問題- 每日頭條">
            <a:extLst>
              <a:ext uri="{FF2B5EF4-FFF2-40B4-BE49-F238E27FC236}">
                <a16:creationId xmlns:a16="http://schemas.microsoft.com/office/drawing/2014/main" id="{3A21FB1C-A662-4B5E-9A9D-2693D223FFF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0"/>
          <a:stretch/>
        </p:blipFill>
        <p:spPr bwMode="auto">
          <a:xfrm>
            <a:off x="8067953" y="1044519"/>
            <a:ext cx="3498603" cy="2651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32" name="Group 112">
            <a:extLst>
              <a:ext uri="{FF2B5EF4-FFF2-40B4-BE49-F238E27FC236}">
                <a16:creationId xmlns:a16="http://schemas.microsoft.com/office/drawing/2014/main" id="{C3B68C23-2B21-48E4-8636-AA82CBE7F80E}"/>
              </a:ext>
            </a:extLst>
          </p:cNvPr>
          <p:cNvGrpSpPr>
            <a:grpSpLocks/>
          </p:cNvGrpSpPr>
          <p:nvPr/>
        </p:nvGrpSpPr>
        <p:grpSpPr bwMode="auto">
          <a:xfrm>
            <a:off x="1627494" y="1517796"/>
            <a:ext cx="2795230" cy="2069702"/>
            <a:chOff x="1538" y="1080"/>
            <a:chExt cx="2278" cy="1500"/>
          </a:xfrm>
        </p:grpSpPr>
        <p:sp>
          <p:nvSpPr>
            <p:cNvPr id="34" name="Freeform 56">
              <a:extLst>
                <a:ext uri="{FF2B5EF4-FFF2-40B4-BE49-F238E27FC236}">
                  <a16:creationId xmlns:a16="http://schemas.microsoft.com/office/drawing/2014/main" id="{1D02CAB9-6542-462E-80CD-EEA8066166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1080"/>
              <a:ext cx="2278" cy="1103"/>
            </a:xfrm>
            <a:custGeom>
              <a:avLst/>
              <a:gdLst>
                <a:gd name="T0" fmla="*/ 706 w 1942"/>
                <a:gd name="T1" fmla="*/ 336 h 1055"/>
                <a:gd name="T2" fmla="*/ 910 w 1942"/>
                <a:gd name="T3" fmla="*/ 228 h 1055"/>
                <a:gd name="T4" fmla="*/ 1006 w 1942"/>
                <a:gd name="T5" fmla="*/ 144 h 1055"/>
                <a:gd name="T6" fmla="*/ 1186 w 1942"/>
                <a:gd name="T7" fmla="*/ 24 h 1055"/>
                <a:gd name="T8" fmla="*/ 1330 w 1942"/>
                <a:gd name="T9" fmla="*/ 0 h 1055"/>
                <a:gd name="T10" fmla="*/ 1666 w 1942"/>
                <a:gd name="T11" fmla="*/ 48 h 1055"/>
                <a:gd name="T12" fmla="*/ 1786 w 1942"/>
                <a:gd name="T13" fmla="*/ 144 h 1055"/>
                <a:gd name="T14" fmla="*/ 1858 w 1942"/>
                <a:gd name="T15" fmla="*/ 300 h 1055"/>
                <a:gd name="T16" fmla="*/ 1882 w 1942"/>
                <a:gd name="T17" fmla="*/ 336 h 1055"/>
                <a:gd name="T18" fmla="*/ 1906 w 1942"/>
                <a:gd name="T19" fmla="*/ 372 h 1055"/>
                <a:gd name="T20" fmla="*/ 1942 w 1942"/>
                <a:gd name="T21" fmla="*/ 540 h 1055"/>
                <a:gd name="T22" fmla="*/ 1858 w 1942"/>
                <a:gd name="T23" fmla="*/ 672 h 1055"/>
                <a:gd name="T24" fmla="*/ 1738 w 1942"/>
                <a:gd name="T25" fmla="*/ 792 h 1055"/>
                <a:gd name="T26" fmla="*/ 1702 w 1942"/>
                <a:gd name="T27" fmla="*/ 840 h 1055"/>
                <a:gd name="T28" fmla="*/ 1486 w 1942"/>
                <a:gd name="T29" fmla="*/ 936 h 1055"/>
                <a:gd name="T30" fmla="*/ 1054 w 1942"/>
                <a:gd name="T31" fmla="*/ 996 h 1055"/>
                <a:gd name="T32" fmla="*/ 790 w 1942"/>
                <a:gd name="T33" fmla="*/ 1044 h 1055"/>
                <a:gd name="T34" fmla="*/ 106 w 1942"/>
                <a:gd name="T35" fmla="*/ 996 h 1055"/>
                <a:gd name="T36" fmla="*/ 10 w 1942"/>
                <a:gd name="T37" fmla="*/ 696 h 1055"/>
                <a:gd name="T38" fmla="*/ 34 w 1942"/>
                <a:gd name="T39" fmla="*/ 516 h 1055"/>
                <a:gd name="T40" fmla="*/ 526 w 1942"/>
                <a:gd name="T41" fmla="*/ 348 h 1055"/>
                <a:gd name="T42" fmla="*/ 706 w 1942"/>
                <a:gd name="T43" fmla="*/ 336 h 10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942" h="1055">
                  <a:moveTo>
                    <a:pt x="706" y="336"/>
                  </a:moveTo>
                  <a:cubicBezTo>
                    <a:pt x="774" y="300"/>
                    <a:pt x="845" y="269"/>
                    <a:pt x="910" y="228"/>
                  </a:cubicBezTo>
                  <a:cubicBezTo>
                    <a:pt x="949" y="204"/>
                    <a:pt x="937" y="167"/>
                    <a:pt x="1006" y="144"/>
                  </a:cubicBezTo>
                  <a:cubicBezTo>
                    <a:pt x="1043" y="107"/>
                    <a:pt x="1136" y="36"/>
                    <a:pt x="1186" y="24"/>
                  </a:cubicBezTo>
                  <a:cubicBezTo>
                    <a:pt x="1233" y="12"/>
                    <a:pt x="1283" y="12"/>
                    <a:pt x="1330" y="0"/>
                  </a:cubicBezTo>
                  <a:cubicBezTo>
                    <a:pt x="1442" y="19"/>
                    <a:pt x="1556" y="20"/>
                    <a:pt x="1666" y="48"/>
                  </a:cubicBezTo>
                  <a:cubicBezTo>
                    <a:pt x="1709" y="80"/>
                    <a:pt x="1748" y="106"/>
                    <a:pt x="1786" y="144"/>
                  </a:cubicBezTo>
                  <a:cubicBezTo>
                    <a:pt x="1818" y="256"/>
                    <a:pt x="1794" y="204"/>
                    <a:pt x="1858" y="300"/>
                  </a:cubicBezTo>
                  <a:cubicBezTo>
                    <a:pt x="1866" y="312"/>
                    <a:pt x="1874" y="324"/>
                    <a:pt x="1882" y="336"/>
                  </a:cubicBezTo>
                  <a:cubicBezTo>
                    <a:pt x="1890" y="348"/>
                    <a:pt x="1906" y="372"/>
                    <a:pt x="1906" y="372"/>
                  </a:cubicBezTo>
                  <a:cubicBezTo>
                    <a:pt x="1920" y="428"/>
                    <a:pt x="1928" y="484"/>
                    <a:pt x="1942" y="540"/>
                  </a:cubicBezTo>
                  <a:cubicBezTo>
                    <a:pt x="1926" y="604"/>
                    <a:pt x="1906" y="624"/>
                    <a:pt x="1858" y="672"/>
                  </a:cubicBezTo>
                  <a:cubicBezTo>
                    <a:pt x="1814" y="803"/>
                    <a:pt x="1868" y="697"/>
                    <a:pt x="1738" y="792"/>
                  </a:cubicBezTo>
                  <a:cubicBezTo>
                    <a:pt x="1722" y="804"/>
                    <a:pt x="1716" y="826"/>
                    <a:pt x="1702" y="840"/>
                  </a:cubicBezTo>
                  <a:cubicBezTo>
                    <a:pt x="1643" y="899"/>
                    <a:pt x="1565" y="923"/>
                    <a:pt x="1486" y="936"/>
                  </a:cubicBezTo>
                  <a:cubicBezTo>
                    <a:pt x="1361" y="1020"/>
                    <a:pt x="1197" y="991"/>
                    <a:pt x="1054" y="996"/>
                  </a:cubicBezTo>
                  <a:cubicBezTo>
                    <a:pt x="965" y="1011"/>
                    <a:pt x="879" y="1029"/>
                    <a:pt x="790" y="1044"/>
                  </a:cubicBezTo>
                  <a:cubicBezTo>
                    <a:pt x="521" y="1038"/>
                    <a:pt x="343" y="1055"/>
                    <a:pt x="106" y="996"/>
                  </a:cubicBezTo>
                  <a:cubicBezTo>
                    <a:pt x="34" y="888"/>
                    <a:pt x="30" y="818"/>
                    <a:pt x="10" y="696"/>
                  </a:cubicBezTo>
                  <a:cubicBezTo>
                    <a:pt x="15" y="636"/>
                    <a:pt x="0" y="566"/>
                    <a:pt x="34" y="516"/>
                  </a:cubicBezTo>
                  <a:cubicBezTo>
                    <a:pt x="134" y="367"/>
                    <a:pt x="375" y="363"/>
                    <a:pt x="526" y="348"/>
                  </a:cubicBezTo>
                  <a:cubicBezTo>
                    <a:pt x="673" y="333"/>
                    <a:pt x="588" y="336"/>
                    <a:pt x="706" y="336"/>
                  </a:cubicBezTo>
                  <a:close/>
                </a:path>
              </a:pathLst>
            </a:custGeom>
            <a:solidFill>
              <a:srgbClr val="66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FF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b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  <p:sp>
          <p:nvSpPr>
            <p:cNvPr id="35" name="Rectangle 60">
              <a:extLst>
                <a:ext uri="{FF2B5EF4-FFF2-40B4-BE49-F238E27FC236}">
                  <a16:creationId xmlns:a16="http://schemas.microsoft.com/office/drawing/2014/main" id="{CDD2D2F7-EDB9-4330-85C6-66E951E746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4" y="2448"/>
              <a:ext cx="120" cy="13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</a:pPr>
              <a:endParaRPr kumimoji="0" lang="zh-CN" altLang="en-US" b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endParaRPr>
            </a:p>
          </p:txBody>
        </p:sp>
      </p:grpSp>
      <p:sp>
        <p:nvSpPr>
          <p:cNvPr id="38" name="Line 88">
            <a:extLst>
              <a:ext uri="{FF2B5EF4-FFF2-40B4-BE49-F238E27FC236}">
                <a16:creationId xmlns:a16="http://schemas.microsoft.com/office/drawing/2014/main" id="{A57B5BEB-A73A-4013-A5E4-A6702C2157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31185" y="2279446"/>
            <a:ext cx="368116" cy="99346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39" name="Line 89">
            <a:extLst>
              <a:ext uri="{FF2B5EF4-FFF2-40B4-BE49-F238E27FC236}">
                <a16:creationId xmlns:a16="http://schemas.microsoft.com/office/drawing/2014/main" id="{F4CB6941-0119-48FA-BCCB-61A38359D5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87649" y="2146985"/>
            <a:ext cx="397566" cy="11590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0" name="Line 102">
            <a:extLst>
              <a:ext uri="{FF2B5EF4-FFF2-40B4-BE49-F238E27FC236}">
                <a16:creationId xmlns:a16="http://schemas.microsoft.com/office/drawing/2014/main" id="{00B24A9B-4660-4613-9302-55C31F65AC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809098" y="2602319"/>
            <a:ext cx="316580" cy="12418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1" name="Line 103">
            <a:extLst>
              <a:ext uri="{FF2B5EF4-FFF2-40B4-BE49-F238E27FC236}">
                <a16:creationId xmlns:a16="http://schemas.microsoft.com/office/drawing/2014/main" id="{177410AE-E0A5-4260-A6F2-BBF3DF16E5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58200" y="2751338"/>
            <a:ext cx="316580" cy="11590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2" name="Line 105">
            <a:extLst>
              <a:ext uri="{FF2B5EF4-FFF2-40B4-BE49-F238E27FC236}">
                <a16:creationId xmlns:a16="http://schemas.microsoft.com/office/drawing/2014/main" id="{3BDE898F-A24D-4859-AFB1-AA360792E5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1476" y="2858962"/>
            <a:ext cx="419653" cy="8279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3" name="Line 106">
            <a:extLst>
              <a:ext uri="{FF2B5EF4-FFF2-40B4-BE49-F238E27FC236}">
                <a16:creationId xmlns:a16="http://schemas.microsoft.com/office/drawing/2014/main" id="{DAB3363A-A573-423E-BA93-7FA9BDC418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98722" y="1832390"/>
            <a:ext cx="404928" cy="17385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4" name="Line 107">
            <a:extLst>
              <a:ext uri="{FF2B5EF4-FFF2-40B4-BE49-F238E27FC236}">
                <a16:creationId xmlns:a16="http://schemas.microsoft.com/office/drawing/2014/main" id="{436E54BA-C536-407D-8F54-CC33FE7199EB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9911" y="1766160"/>
            <a:ext cx="353392" cy="1655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6" name="Line 108">
            <a:extLst>
              <a:ext uri="{FF2B5EF4-FFF2-40B4-BE49-F238E27FC236}">
                <a16:creationId xmlns:a16="http://schemas.microsoft.com/office/drawing/2014/main" id="{EB8A9568-F7DF-440A-85FB-268EA1CB1C13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4288" y="1832390"/>
            <a:ext cx="294493" cy="827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7" name="Line 109">
            <a:extLst>
              <a:ext uri="{FF2B5EF4-FFF2-40B4-BE49-F238E27FC236}">
                <a16:creationId xmlns:a16="http://schemas.microsoft.com/office/drawing/2014/main" id="{23EAB8BD-77A0-4352-9EBE-34BBAF363E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37389" y="2751338"/>
            <a:ext cx="397566" cy="6623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8" name="Line 92">
            <a:extLst>
              <a:ext uri="{FF2B5EF4-FFF2-40B4-BE49-F238E27FC236}">
                <a16:creationId xmlns:a16="http://schemas.microsoft.com/office/drawing/2014/main" id="{96C4E635-B415-4AA9-BB38-CD9CAC1BF87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45909" y="2478137"/>
            <a:ext cx="427015" cy="1655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9" name="Line 93">
            <a:extLst>
              <a:ext uri="{FF2B5EF4-FFF2-40B4-BE49-F238E27FC236}">
                <a16:creationId xmlns:a16="http://schemas.microsoft.com/office/drawing/2014/main" id="{B85E7706-DAD8-4466-9142-5B5E37F880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339185" y="2428465"/>
            <a:ext cx="412290" cy="4967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0" name="Line 95">
            <a:extLst>
              <a:ext uri="{FF2B5EF4-FFF2-40B4-BE49-F238E27FC236}">
                <a16:creationId xmlns:a16="http://schemas.microsoft.com/office/drawing/2014/main" id="{A9A8E176-2325-439B-BEDE-E9EDF47B830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25098" y="2378792"/>
            <a:ext cx="412290" cy="4967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1" name="Line 96">
            <a:extLst>
              <a:ext uri="{FF2B5EF4-FFF2-40B4-BE49-F238E27FC236}">
                <a16:creationId xmlns:a16="http://schemas.microsoft.com/office/drawing/2014/main" id="{EAD2DF99-53CE-48AF-9352-A694E5C6F8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406722" y="2287725"/>
            <a:ext cx="412290" cy="4967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2" name="Line 90">
            <a:extLst>
              <a:ext uri="{FF2B5EF4-FFF2-40B4-BE49-F238E27FC236}">
                <a16:creationId xmlns:a16="http://schemas.microsoft.com/office/drawing/2014/main" id="{5847B449-999B-493A-8FDD-BA3C56DF9EA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17737" y="2080755"/>
            <a:ext cx="382841" cy="99346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5" name="Line 91">
            <a:extLst>
              <a:ext uri="{FF2B5EF4-FFF2-40B4-BE49-F238E27FC236}">
                <a16:creationId xmlns:a16="http://schemas.microsoft.com/office/drawing/2014/main" id="{B9CA5506-3E13-4A2A-81F0-2FAF9FD829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88925" y="2031082"/>
            <a:ext cx="412290" cy="1655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6" name="Line 94">
            <a:extLst>
              <a:ext uri="{FF2B5EF4-FFF2-40B4-BE49-F238E27FC236}">
                <a16:creationId xmlns:a16="http://schemas.microsoft.com/office/drawing/2014/main" id="{39F57F67-19D3-4B1D-876D-E971AD34A69A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4288" y="2097312"/>
            <a:ext cx="397566" cy="827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7" name="Line 97">
            <a:extLst>
              <a:ext uri="{FF2B5EF4-FFF2-40B4-BE49-F238E27FC236}">
                <a16:creationId xmlns:a16="http://schemas.microsoft.com/office/drawing/2014/main" id="{8237FE31-9E0E-4F21-8A33-755773D63C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19013" y="2370513"/>
            <a:ext cx="323942" cy="12418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8" name="Line 99">
            <a:extLst>
              <a:ext uri="{FF2B5EF4-FFF2-40B4-BE49-F238E27FC236}">
                <a16:creationId xmlns:a16="http://schemas.microsoft.com/office/drawing/2014/main" id="{FBE1AC5C-A336-4344-8F4F-505D487EEF0B}"/>
              </a:ext>
            </a:extLst>
          </p:cNvPr>
          <p:cNvSpPr>
            <a:spLocks noChangeShapeType="1"/>
          </p:cNvSpPr>
          <p:nvPr/>
        </p:nvSpPr>
        <p:spPr bwMode="auto">
          <a:xfrm>
            <a:off x="2331823" y="2643714"/>
            <a:ext cx="397566" cy="6623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79" name="Line 100">
            <a:extLst>
              <a:ext uri="{FF2B5EF4-FFF2-40B4-BE49-F238E27FC236}">
                <a16:creationId xmlns:a16="http://schemas.microsoft.com/office/drawing/2014/main" id="{7E0846A4-FEFD-4D9D-931E-179CF9D2C21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47186" y="2668550"/>
            <a:ext cx="412290" cy="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80" name="Line 101">
            <a:extLst>
              <a:ext uri="{FF2B5EF4-FFF2-40B4-BE49-F238E27FC236}">
                <a16:creationId xmlns:a16="http://schemas.microsoft.com/office/drawing/2014/main" id="{BD494D90-0CD0-4547-BBE4-D8A964BC30A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62549" y="2527810"/>
            <a:ext cx="368116" cy="99346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b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21DD7BD8-C42E-4ADF-AB68-51A3F4A4610F}"/>
              </a:ext>
            </a:extLst>
          </p:cNvPr>
          <p:cNvSpPr/>
          <p:nvPr/>
        </p:nvSpPr>
        <p:spPr>
          <a:xfrm>
            <a:off x="2417716" y="1895121"/>
            <a:ext cx="1100669" cy="1017014"/>
          </a:xfrm>
          <a:prstGeom prst="ellipse">
            <a:avLst/>
          </a:prstGeom>
          <a:solidFill>
            <a:schemeClr val="bg1">
              <a:lumMod val="65000"/>
              <a:alpha val="74000"/>
            </a:schemeClr>
          </a:solidFill>
          <a:ln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397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/>
      <p:bldP spid="13" grpId="0"/>
      <p:bldP spid="14" grpId="0"/>
      <p:bldP spid="15" grpId="0"/>
      <p:bldP spid="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960" y="400132"/>
            <a:ext cx="2723447" cy="724591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稳恒电流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3810D4-5889-4ABF-81DD-825847DC3A73}"/>
              </a:ext>
            </a:extLst>
          </p:cNvPr>
          <p:cNvSpPr/>
          <p:nvPr/>
        </p:nvSpPr>
        <p:spPr>
          <a:xfrm>
            <a:off x="1332414" y="1256756"/>
            <a:ext cx="92072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电流场中每一点的电流密度的大小和方向均不随时间改变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BE0F0B1-95EC-428E-B68F-B0896707BC44}"/>
                  </a:ext>
                </a:extLst>
              </p:cNvPr>
              <p:cNvSpPr/>
              <p:nvPr/>
            </p:nvSpPr>
            <p:spPr>
              <a:xfrm>
                <a:off x="6213953" y="1779976"/>
                <a:ext cx="2403671" cy="1401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=0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BE0F0B1-95EC-428E-B68F-B0896707BC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953" y="1779976"/>
                <a:ext cx="2403671" cy="1401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1051980-FAEC-4356-9FEE-D5623DEB2803}"/>
                  </a:ext>
                </a:extLst>
              </p:cNvPr>
              <p:cNvSpPr/>
              <p:nvPr/>
            </p:nvSpPr>
            <p:spPr>
              <a:xfrm>
                <a:off x="1552471" y="2034980"/>
                <a:ext cx="3219856" cy="10994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8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=−</m:t>
                      </m:r>
                      <m:f>
                        <m:fPr>
                          <m:ctrlP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800" b="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1051980-FAEC-4356-9FEE-D5623DEB2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471" y="2034980"/>
                <a:ext cx="3219856" cy="10994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箭头: 右 7">
            <a:extLst>
              <a:ext uri="{FF2B5EF4-FFF2-40B4-BE49-F238E27FC236}">
                <a16:creationId xmlns:a16="http://schemas.microsoft.com/office/drawing/2014/main" id="{866554B8-6F0E-42B3-8D80-FE91633B6070}"/>
              </a:ext>
            </a:extLst>
          </p:cNvPr>
          <p:cNvSpPr/>
          <p:nvPr/>
        </p:nvSpPr>
        <p:spPr>
          <a:xfrm>
            <a:off x="5123674" y="2569014"/>
            <a:ext cx="812364" cy="215529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F0567C0-F0F8-40B6-A368-2C7DE094F86D}"/>
              </a:ext>
            </a:extLst>
          </p:cNvPr>
          <p:cNvSpPr/>
          <p:nvPr/>
        </p:nvSpPr>
        <p:spPr>
          <a:xfrm>
            <a:off x="1089874" y="3526402"/>
            <a:ext cx="10498370" cy="28530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30000"/>
              </a:lnSpc>
              <a:buFontTx/>
              <a:buChar char="-"/>
            </a:pPr>
            <a:r>
              <a:rPr lang="zh-CN" altLang="en-US" sz="2800" kern="0" dirty="0">
                <a:solidFill>
                  <a:srgbClr val="00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任一封闭曲面内均无无电荷的堆积和减少</a:t>
            </a:r>
            <a:endParaRPr lang="en-US" altLang="zh-CN" sz="2800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buFontTx/>
              <a:buChar char="-"/>
            </a:pPr>
            <a:r>
              <a:rPr lang="zh-CN" altLang="en-US" sz="2800" dirty="0">
                <a:ea typeface="华文楷体" panose="02010600040101010101" pitchFamily="2" charset="-122"/>
              </a:rPr>
              <a:t> 稳恒电流的电路必须闭合</a:t>
            </a:r>
            <a:endParaRPr lang="en-US" altLang="zh-CN" sz="2800" dirty="0"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buFontTx/>
              <a:buChar char="-"/>
            </a:pPr>
            <a:r>
              <a:rPr lang="zh-CN" altLang="en-US" sz="2800" dirty="0">
                <a:ea typeface="华文楷体" panose="02010600040101010101" pitchFamily="2" charset="-122"/>
              </a:rPr>
              <a:t> 导体中电荷分布不随时间变化</a:t>
            </a:r>
            <a:endParaRPr lang="en-US" altLang="zh-CN" sz="2800" dirty="0">
              <a:ea typeface="华文楷体" panose="02010600040101010101" pitchFamily="2" charset="-122"/>
            </a:endParaRPr>
          </a:p>
          <a:p>
            <a:pPr>
              <a:lnSpc>
                <a:spcPct val="130000"/>
              </a:lnSpc>
              <a:buFontTx/>
              <a:buChar char="-"/>
            </a:pPr>
            <a:r>
              <a:rPr lang="en-US" altLang="zh-CN" sz="2800" dirty="0">
                <a:ea typeface="华文楷体" panose="02010600040101010101" pitchFamily="2" charset="-122"/>
              </a:rPr>
              <a:t> </a:t>
            </a:r>
            <a:r>
              <a:rPr lang="zh-CN" altLang="en-US" sz="2800" dirty="0">
                <a:ea typeface="华文楷体" panose="02010600040101010101" pitchFamily="2" charset="-122"/>
              </a:rPr>
              <a:t>有恒定电场</a:t>
            </a:r>
            <a:endParaRPr lang="en-US" altLang="zh-CN" sz="2800" dirty="0">
              <a:ea typeface="华文楷体" panose="02010600040101010101" pitchFamily="2" charset="-122"/>
            </a:endParaRPr>
          </a:p>
          <a:p>
            <a:pPr lvl="0">
              <a:lnSpc>
                <a:spcPct val="130000"/>
              </a:lnSpc>
            </a:pPr>
            <a:endParaRPr lang="en-US" altLang="zh-CN" sz="2800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95228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5960" y="400132"/>
            <a:ext cx="2723447" cy="724591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稳恒电流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3810D4-5889-4ABF-81DD-825847DC3A73}"/>
              </a:ext>
            </a:extLst>
          </p:cNvPr>
          <p:cNvSpPr/>
          <p:nvPr/>
        </p:nvSpPr>
        <p:spPr>
          <a:xfrm>
            <a:off x="1332414" y="1256756"/>
            <a:ext cx="920724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电流场中每一点的电流密度的大小和方向均不随时间改变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BE0F0B1-95EC-428E-B68F-B0896707BC44}"/>
                  </a:ext>
                </a:extLst>
              </p:cNvPr>
              <p:cNvSpPr/>
              <p:nvPr/>
            </p:nvSpPr>
            <p:spPr>
              <a:xfrm>
                <a:off x="6213953" y="1779976"/>
                <a:ext cx="2403671" cy="1401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=0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BE0F0B1-95EC-428E-B68F-B0896707BC4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3953" y="1779976"/>
                <a:ext cx="2403671" cy="1401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1051980-FAEC-4356-9FEE-D5623DEB2803}"/>
                  </a:ext>
                </a:extLst>
              </p:cNvPr>
              <p:cNvSpPr/>
              <p:nvPr/>
            </p:nvSpPr>
            <p:spPr>
              <a:xfrm>
                <a:off x="1552471" y="2034980"/>
                <a:ext cx="3219856" cy="10994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8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ker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=−</m:t>
                      </m:r>
                      <m:f>
                        <m:fPr>
                          <m:ctrlPr>
                            <a:rPr lang="en-US" altLang="zh-CN" sz="280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fPr>
                        <m:num>
                          <m:r>
                            <a:rPr lang="en-US" altLang="zh-CN" sz="28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800" b="0" i="1" ker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ker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F1051980-FAEC-4356-9FEE-D5623DEB280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471" y="2034980"/>
                <a:ext cx="3219856" cy="10994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箭头: 右 7">
            <a:extLst>
              <a:ext uri="{FF2B5EF4-FFF2-40B4-BE49-F238E27FC236}">
                <a16:creationId xmlns:a16="http://schemas.microsoft.com/office/drawing/2014/main" id="{866554B8-6F0E-42B3-8D80-FE91633B6070}"/>
              </a:ext>
            </a:extLst>
          </p:cNvPr>
          <p:cNvSpPr/>
          <p:nvPr/>
        </p:nvSpPr>
        <p:spPr>
          <a:xfrm>
            <a:off x="5123674" y="2567952"/>
            <a:ext cx="812364" cy="215529"/>
          </a:xfrm>
          <a:prstGeom prst="rightArrow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A594ECF-D9D5-4C74-BADB-4B5EAC479C32}"/>
              </a:ext>
            </a:extLst>
          </p:cNvPr>
          <p:cNvSpPr/>
          <p:nvPr/>
        </p:nvSpPr>
        <p:spPr>
          <a:xfrm>
            <a:off x="1002308" y="3552692"/>
            <a:ext cx="6654279" cy="27238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节点电流定律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(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基尔霍夫第一定律</a:t>
            </a:r>
            <a:r>
              <a:rPr lang="en-US" altLang="zh-CN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)</a:t>
            </a:r>
            <a:r>
              <a:rPr lang="zh-CN" altLang="en-US" sz="28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：</a:t>
            </a:r>
            <a:endParaRPr lang="en-US" altLang="zh-CN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Monotype Sorts" pitchFamily="2" charset="2"/>
            </a:endParaRPr>
          </a:p>
          <a:p>
            <a:pPr marL="285750" indent="-285750">
              <a:lnSpc>
                <a:spcPct val="130000"/>
              </a:lnSpc>
              <a:buFontTx/>
              <a:buChar char="-"/>
            </a:pPr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  <a:sym typeface="Monotype Sorts" pitchFamily="2" charset="2"/>
            </a:endParaRPr>
          </a:p>
          <a:p>
            <a:pPr>
              <a:lnSpc>
                <a:spcPct val="130000"/>
              </a:lnSpc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        在电路的任一节点处 流入的电流强   </a:t>
            </a:r>
            <a:b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</a:b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       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度之和等于流出节点的电流强度之和</a:t>
            </a:r>
          </a:p>
          <a:p>
            <a:pPr lvl="0">
              <a:lnSpc>
                <a:spcPct val="130000"/>
              </a:lnSpc>
            </a:pPr>
            <a:endParaRPr lang="en-US" altLang="zh-CN" sz="2800" kern="0" dirty="0">
              <a:solidFill>
                <a:srgbClr val="00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1" name="Picture 2" descr="https://upload.wikimedia.org/wikipedia/commons/thumb/4/46/KCL_-_Kirchhoff%27s_circuit_laws.svg/1920px-KCL_-_Kirchhoff%27s_circuit_laws.svg.png">
            <a:extLst>
              <a:ext uri="{FF2B5EF4-FFF2-40B4-BE49-F238E27FC236}">
                <a16:creationId xmlns:a16="http://schemas.microsoft.com/office/drawing/2014/main" id="{76932ECB-CC57-4EBE-8843-5E7B75515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3212" y="3211095"/>
            <a:ext cx="2709214" cy="2635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5763083-3789-4782-9451-9A40E89AE80A}"/>
                  </a:ext>
                </a:extLst>
              </p:cNvPr>
              <p:cNvSpPr/>
              <p:nvPr/>
            </p:nvSpPr>
            <p:spPr>
              <a:xfrm>
                <a:off x="2138551" y="5439305"/>
                <a:ext cx="1765612" cy="13443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marL="72000" lvl="1" indent="0">
                  <a:lnSpc>
                    <a:spcPct val="12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altLang="zh-CN" sz="2800" b="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i</m:t>
                              </m:r>
                            </m:sub>
                          </m:sSub>
                        </m:e>
                      </m:nary>
                      <m:r>
                        <a:rPr lang="en-US" altLang="zh-CN" sz="2800" b="0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i="1" ker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2" name="矩形 11">
                <a:extLst>
                  <a:ext uri="{FF2B5EF4-FFF2-40B4-BE49-F238E27FC236}">
                    <a16:creationId xmlns:a16="http://schemas.microsoft.com/office/drawing/2014/main" id="{D5763083-3789-4782-9451-9A40E89AE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8551" y="5439305"/>
                <a:ext cx="1765612" cy="13443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2" descr="基尔霍夫电路定律- 维基百科，自由的百科全书">
            <a:extLst>
              <a:ext uri="{FF2B5EF4-FFF2-40B4-BE49-F238E27FC236}">
                <a16:creationId xmlns:a16="http://schemas.microsoft.com/office/drawing/2014/main" id="{B67D51FA-CC9B-4E2C-B6A5-4C84624C39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599" y="4283994"/>
            <a:ext cx="1415419" cy="20004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FD61B94-9DCC-4502-9A1F-B314495F7CB7}"/>
              </a:ext>
            </a:extLst>
          </p:cNvPr>
          <p:cNvSpPr txBox="1"/>
          <p:nvPr/>
        </p:nvSpPr>
        <p:spPr>
          <a:xfrm>
            <a:off x="8085120" y="5799461"/>
            <a:ext cx="3597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ea typeface="华文楷体" panose="02010600040101010101" pitchFamily="2" charset="-122"/>
              </a:rPr>
              <a:t>流入的电流为负号，流出电流为正号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F42DF4D-FE3F-4EED-9E69-6E7C60881498}"/>
                  </a:ext>
                </a:extLst>
              </p:cNvPr>
              <p:cNvSpPr/>
              <p:nvPr/>
            </p:nvSpPr>
            <p:spPr>
              <a:xfrm>
                <a:off x="4082475" y="5924219"/>
                <a:ext cx="3673634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  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   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    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zh-CN" altLang="en-US" sz="2800" b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800" i="1">
                          <a:latin typeface="Cambria Math" panose="02040503050406030204" pitchFamily="18" charset="0"/>
                          <a:ea typeface="华文楷体" panose="02010600040101010101" pitchFamily="2" charset="-122"/>
                        </a:rPr>
                        <m:t>    </m:t>
                      </m:r>
                      <m:r>
                        <a:rPr lang="zh-CN" altLang="en-US" sz="2800" b="0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0F42DF4D-FE3F-4EED-9E69-6E7C6088149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2475" y="5924219"/>
                <a:ext cx="3673634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5630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4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53175" y="5587443"/>
            <a:ext cx="6549890" cy="1207389"/>
          </a:xfrm>
        </p:spPr>
        <p:txBody>
          <a:bodyPr>
            <a:noAutofit/>
          </a:bodyPr>
          <a:lstStyle/>
          <a:p>
            <a:pPr marL="457200" lvl="1" indent="0">
              <a:lnSpc>
                <a:spcPct val="100000"/>
              </a:lnSpc>
              <a:buNone/>
            </a:pPr>
            <a:r>
              <a:rPr lang="zh-CN" altLang="en-US" sz="2800" kern="0" dirty="0">
                <a:solidFill>
                  <a:srgbClr val="000000"/>
                </a:solidFill>
                <a:latin typeface="华文楷体" panose="02010600040101010101" pitchFamily="2" charset="-122"/>
              </a:rPr>
              <a:t>恒定电路中，沿任何闭合回路一周的电势降等于零，称为回路电压方程</a:t>
            </a:r>
            <a:endParaRPr lang="zh-CN" alt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E0BC09E-4CCB-4B37-837D-7525A00F3BE1}"/>
              </a:ext>
            </a:extLst>
          </p:cNvPr>
          <p:cNvSpPr/>
          <p:nvPr/>
        </p:nvSpPr>
        <p:spPr>
          <a:xfrm>
            <a:off x="4529893" y="1550023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导体内电荷分布不随时间改变</a:t>
            </a:r>
            <a:endParaRPr lang="en-US" sz="28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F703C8-3FB1-4CA3-A457-962DF7CC6F3A}"/>
              </a:ext>
            </a:extLst>
          </p:cNvPr>
          <p:cNvSpPr/>
          <p:nvPr/>
        </p:nvSpPr>
        <p:spPr>
          <a:xfrm>
            <a:off x="9603700" y="1555074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恒定电场</a:t>
            </a:r>
            <a:endParaRPr lang="en-US" sz="2800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B1B4FD0-2434-404B-9264-018FB7977094}"/>
              </a:ext>
            </a:extLst>
          </p:cNvPr>
          <p:cNvSpPr/>
          <p:nvPr/>
        </p:nvSpPr>
        <p:spPr>
          <a:xfrm>
            <a:off x="1448765" y="2692831"/>
            <a:ext cx="254108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-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满足高斯定律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1980A92-8CAA-45AB-96F4-186A5CDC170D}"/>
              </a:ext>
            </a:extLst>
          </p:cNvPr>
          <p:cNvSpPr/>
          <p:nvPr/>
        </p:nvSpPr>
        <p:spPr>
          <a:xfrm>
            <a:off x="1445256" y="3445571"/>
            <a:ext cx="261962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-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满足环路定理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DD526A8-5AC5-4D7B-ADE8-0540DB89D3BA}"/>
                  </a:ext>
                </a:extLst>
              </p:cNvPr>
              <p:cNvSpPr/>
              <p:nvPr/>
            </p:nvSpPr>
            <p:spPr>
              <a:xfrm>
                <a:off x="2907612" y="3901580"/>
                <a:ext cx="2314544" cy="12974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ctrlPr>
                            <a:rPr lang="en-US" altLang="zh-CN" sz="2800" i="1" ker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sty m:val="p"/>
                              <m:brk m:alnAt="23"/>
                            </m:rPr>
                            <a:rPr lang="en-US" altLang="zh-CN" sz="2800" b="0" i="0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</m:e>
                          </m:acc>
                          <m:r>
                            <m:rPr>
                              <m:brk m:alnAt="23"/>
                            </m:rPr>
                            <a:rPr lang="en-US" altLang="zh-CN" sz="2800" b="0" i="0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0" kern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m:rPr>
                                  <m:sty m:val="p"/>
                                </m:rPr>
                                <a:rPr lang="en-US" altLang="zh-CN" sz="2800" b="0" i="0" kern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l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0" kern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0DD526A8-5AC5-4D7B-ADE8-0540DB89D3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7612" y="3901580"/>
                <a:ext cx="2314544" cy="12974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标题 1">
            <a:extLst>
              <a:ext uri="{FF2B5EF4-FFF2-40B4-BE49-F238E27FC236}">
                <a16:creationId xmlns:a16="http://schemas.microsoft.com/office/drawing/2014/main" id="{36A7AB03-B55F-410D-A421-A188606AD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69" y="388360"/>
            <a:ext cx="2723447" cy="724591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稳恒电场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24A0351-9177-4482-826E-1FB4846DD61B}"/>
              </a:ext>
            </a:extLst>
          </p:cNvPr>
          <p:cNvSpPr/>
          <p:nvPr/>
        </p:nvSpPr>
        <p:spPr>
          <a:xfrm>
            <a:off x="1121138" y="5710713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kern="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基尔霍夫第二方程</a:t>
            </a:r>
            <a:endParaRPr lang="en-US" sz="2800" dirty="0">
              <a:solidFill>
                <a:srgbClr val="FF0000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7311786" y="2647049"/>
            <a:ext cx="2463429" cy="2586903"/>
            <a:chOff x="9262693" y="2530492"/>
            <a:chExt cx="2463429" cy="2586903"/>
          </a:xfrm>
        </p:grpSpPr>
        <p:pic>
          <p:nvPicPr>
            <p:cNvPr id="11274" name="Picture 10" descr="Kirchhoff&amp;#39;s Laws of Current &amp;amp; Voltage - Application, Advantage, Limitation">
              <a:extLst>
                <a:ext uri="{FF2B5EF4-FFF2-40B4-BE49-F238E27FC236}">
                  <a16:creationId xmlns:a16="http://schemas.microsoft.com/office/drawing/2014/main" id="{F1923DA5-362C-4E00-862B-FEC269FB8C9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966" b="14958"/>
            <a:stretch/>
          </p:blipFill>
          <p:spPr bwMode="auto">
            <a:xfrm>
              <a:off x="9346589" y="2638728"/>
              <a:ext cx="2379533" cy="24786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文本框 1"/>
            <p:cNvSpPr txBox="1"/>
            <p:nvPr/>
          </p:nvSpPr>
          <p:spPr>
            <a:xfrm>
              <a:off x="9262693" y="2573079"/>
              <a:ext cx="2995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2">
                      <a:lumMod val="75000"/>
                    </a:schemeClr>
                  </a:solidFill>
                </a:rPr>
                <a:t>A</a:t>
              </a: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11208452" y="2530492"/>
              <a:ext cx="29952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b="1" dirty="0">
                  <a:solidFill>
                    <a:schemeClr val="accent2">
                      <a:lumMod val="75000"/>
                    </a:schemeClr>
                  </a:solidFill>
                </a:rPr>
                <a:t>B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DF39239-508C-4303-B309-0CB83D55C866}"/>
                  </a:ext>
                </a:extLst>
              </p:cNvPr>
              <p:cNvSpPr/>
              <p:nvPr/>
            </p:nvSpPr>
            <p:spPr>
              <a:xfrm>
                <a:off x="2049504" y="927898"/>
                <a:ext cx="2403671" cy="1401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=0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DF39239-508C-4303-B309-0CB83D55C8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504" y="927898"/>
                <a:ext cx="2403671" cy="140153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4736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  <p:bldP spid="10" grpId="0"/>
      <p:bldP spid="12" grpId="0"/>
      <p:bldP spid="13" grpId="0"/>
      <p:bldP spid="14" grpId="0"/>
      <p:bldP spid="17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E0BC09E-4CCB-4B37-837D-7525A00F3BE1}"/>
              </a:ext>
            </a:extLst>
          </p:cNvPr>
          <p:cNvSpPr/>
          <p:nvPr/>
        </p:nvSpPr>
        <p:spPr>
          <a:xfrm>
            <a:off x="4529893" y="1550023"/>
            <a:ext cx="485261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导体内电荷分布不随时间改变</a:t>
            </a:r>
            <a:endParaRPr lang="en-US" sz="28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F703C8-3FB1-4CA3-A457-962DF7CC6F3A}"/>
              </a:ext>
            </a:extLst>
          </p:cNvPr>
          <p:cNvSpPr/>
          <p:nvPr/>
        </p:nvSpPr>
        <p:spPr>
          <a:xfrm>
            <a:off x="9603700" y="1555074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电场不变</a:t>
            </a:r>
            <a:endParaRPr lang="en-US" sz="2800" dirty="0"/>
          </a:p>
        </p:txBody>
      </p:sp>
      <p:sp>
        <p:nvSpPr>
          <p:cNvPr id="22" name="标题 1">
            <a:extLst>
              <a:ext uri="{FF2B5EF4-FFF2-40B4-BE49-F238E27FC236}">
                <a16:creationId xmlns:a16="http://schemas.microsoft.com/office/drawing/2014/main" id="{36A7AB03-B55F-410D-A421-A188606AD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769" y="388360"/>
            <a:ext cx="2723447" cy="724591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</a:rPr>
              <a:t>稳恒电场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DF39239-508C-4303-B309-0CB83D55C866}"/>
                  </a:ext>
                </a:extLst>
              </p:cNvPr>
              <p:cNvSpPr/>
              <p:nvPr/>
            </p:nvSpPr>
            <p:spPr>
              <a:xfrm>
                <a:off x="2049504" y="927898"/>
                <a:ext cx="2403671" cy="140153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>
                  <a:lnSpc>
                    <a:spcPct val="13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𝑗</m:t>
                              </m:r>
                            </m:e>
                          </m:acc>
                          <m: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华文新魏" panose="02010800040101010101" pitchFamily="2" charset="-122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1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华文新魏" panose="02010800040101010101" pitchFamily="2" charset="-122"/>
                        </a:rPr>
                        <m:t>=0</m:t>
                      </m:r>
                    </m:oMath>
                  </m:oMathPara>
                </a14:m>
                <a:endParaRPr lang="en-US" altLang="zh-CN" sz="2800" kern="0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DF39239-508C-4303-B309-0CB83D55C86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9504" y="927898"/>
                <a:ext cx="2403671" cy="140153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矩形 19">
            <a:extLst>
              <a:ext uri="{FF2B5EF4-FFF2-40B4-BE49-F238E27FC236}">
                <a16:creationId xmlns:a16="http://schemas.microsoft.com/office/drawing/2014/main" id="{B90076FA-9354-481D-ACAC-F513E10BDC6D}"/>
              </a:ext>
            </a:extLst>
          </p:cNvPr>
          <p:cNvSpPr/>
          <p:nvPr/>
        </p:nvSpPr>
        <p:spPr>
          <a:xfrm>
            <a:off x="1134133" y="2961640"/>
            <a:ext cx="977322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与静电场区别：导体处于非静电平衡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-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稳恒电流的电场总是伴随电荷的定向移动，导体内恒定电场不为零  </a:t>
            </a:r>
          </a:p>
          <a:p>
            <a:pPr>
              <a:spcBef>
                <a:spcPct val="50000"/>
              </a:spcBef>
            </a:pP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-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sym typeface="Monotype Sorts" pitchFamily="2" charset="2"/>
              </a:rPr>
              <a:t>稳恒电场对定向移动电荷作功，需要提供能量维持稳恒电场</a:t>
            </a:r>
          </a:p>
        </p:txBody>
      </p:sp>
    </p:spTree>
    <p:extLst>
      <p:ext uri="{BB962C8B-B14F-4D97-AF65-F5344CB8AC3E}">
        <p14:creationId xmlns:p14="http://schemas.microsoft.com/office/powerpoint/2010/main" val="380259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D67ACB0-B9B5-4192-8871-24A6D5A84695}"/>
                  </a:ext>
                </a:extLst>
              </p:cNvPr>
              <p:cNvSpPr/>
              <p:nvPr/>
            </p:nvSpPr>
            <p:spPr>
              <a:xfrm>
                <a:off x="905194" y="1218382"/>
                <a:ext cx="8441519" cy="20313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恒定电流下，一段导体两端的电势差（电压）</a:t>
                </a:r>
                <a:r>
                  <a:rPr lang="en-US" altLang="zh-CN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𝑼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与通流导体的电流</a:t>
                </a:r>
                <a14:m>
                  <m:oMath xmlns:m="http://schemas.openxmlformats.org/officeDocument/2006/math"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zh-CN" altLang="en-US" sz="2800" dirty="0">
                    <a:solidFill>
                      <a:srgbClr val="00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之间有如下关系：</a:t>
                </a:r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𝑰𝑹</m:t>
                      </m:r>
                    </m:oMath>
                  </m:oMathPara>
                </a14:m>
                <a:endParaRPr lang="en-US" altLang="zh-CN" sz="280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3D67ACB0-B9B5-4192-8871-24A6D5A8469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5194" y="1218382"/>
                <a:ext cx="8441519" cy="2031325"/>
              </a:xfrm>
              <a:prstGeom prst="rect">
                <a:avLst/>
              </a:prstGeom>
              <a:blipFill>
                <a:blip r:embed="rId2"/>
                <a:stretch>
                  <a:fillRect l="-1444" r="-3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EC3395F0-C28B-4D4B-869C-9187BD5255D8}"/>
                  </a:ext>
                </a:extLst>
              </p:cNvPr>
              <p:cNvSpPr txBox="1"/>
              <p:nvPr/>
            </p:nvSpPr>
            <p:spPr bwMode="auto">
              <a:xfrm>
                <a:off x="1627144" y="3956323"/>
                <a:ext cx="1797050" cy="11112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EC3395F0-C28B-4D4B-869C-9187BD525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27144" y="3956323"/>
                <a:ext cx="1797050" cy="11112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B4D8EC63-855E-4CFA-9AA3-1E7D6E28976F}"/>
              </a:ext>
            </a:extLst>
          </p:cNvPr>
          <p:cNvSpPr/>
          <p:nvPr/>
        </p:nvSpPr>
        <p:spPr>
          <a:xfrm>
            <a:off x="932299" y="4142616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电阻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F6D88A-B578-436E-AA1F-85A256E64A49}"/>
              </a:ext>
            </a:extLst>
          </p:cNvPr>
          <p:cNvSpPr/>
          <p:nvPr/>
        </p:nvSpPr>
        <p:spPr>
          <a:xfrm>
            <a:off x="3974480" y="4084324"/>
            <a:ext cx="767549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导体的长度</a:t>
            </a:r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l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成正比，与导体的横截面积成反比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FE9B11-0CAF-4CBF-9C05-A818E86104E5}"/>
              </a:ext>
            </a:extLst>
          </p:cNvPr>
          <p:cNvSpPr/>
          <p:nvPr/>
        </p:nvSpPr>
        <p:spPr>
          <a:xfrm>
            <a:off x="3979434" y="4922627"/>
            <a:ext cx="43444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电阻率，导体材料的性质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0451914-9A73-4A56-8C27-CB5DEB0FE6BE}"/>
                  </a:ext>
                </a:extLst>
              </p:cNvPr>
              <p:cNvSpPr/>
              <p:nvPr/>
            </p:nvSpPr>
            <p:spPr>
              <a:xfrm>
                <a:off x="1031202" y="4834440"/>
                <a:ext cx="2584362" cy="673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单位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欧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[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姆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lang="el-GR" altLang="zh-CN" sz="28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F0451914-9A73-4A56-8C27-CB5DEB0FE6B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1202" y="4834440"/>
                <a:ext cx="2584362" cy="673518"/>
              </a:xfrm>
              <a:prstGeom prst="rect">
                <a:avLst/>
              </a:prstGeom>
              <a:blipFill>
                <a:blip r:embed="rId4"/>
                <a:stretch>
                  <a:fillRect l="-3774" b="-2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BFC3C09-BED3-434B-9B01-784F69C0AB32}"/>
                  </a:ext>
                </a:extLst>
              </p:cNvPr>
              <p:cNvSpPr/>
              <p:nvPr/>
            </p:nvSpPr>
            <p:spPr>
              <a:xfrm>
                <a:off x="4746816" y="5549649"/>
                <a:ext cx="3342583" cy="6735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单位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欧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[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姆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]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米，</a:t>
                </a:r>
                <a14:m>
                  <m:oMath xmlns:m="http://schemas.openxmlformats.org/officeDocument/2006/math">
                    <m:r>
                      <a:rPr lang="zh-CN" altLang="en-US" sz="2800" b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</m:t>
                    </m:r>
                    <m:r>
                      <m:rPr>
                        <m:sty m:val="p"/>
                      </m:rPr>
                      <a:rPr lang="en-US" altLang="zh-CN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EBFC3C09-BED3-434B-9B01-784F69C0AB3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6816" y="5549649"/>
                <a:ext cx="3342583" cy="673518"/>
              </a:xfrm>
              <a:prstGeom prst="rect">
                <a:avLst/>
              </a:prstGeom>
              <a:blipFill>
                <a:blip r:embed="rId5"/>
                <a:stretch>
                  <a:fillRect l="-3102" b="-243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标题 1">
            <a:extLst>
              <a:ext uri="{FF2B5EF4-FFF2-40B4-BE49-F238E27FC236}">
                <a16:creationId xmlns:a16="http://schemas.microsoft.com/office/drawing/2014/main" id="{BAC9FB21-3740-403C-A8C3-3AA780111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87" y="482547"/>
            <a:ext cx="2723447" cy="724591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欧姆定律</a:t>
            </a:r>
          </a:p>
        </p:txBody>
      </p:sp>
      <p:pic>
        <p:nvPicPr>
          <p:cNvPr id="14342" name="Picture 6" descr="Georg Simon Ohm3.jpg">
            <a:extLst>
              <a:ext uri="{FF2B5EF4-FFF2-40B4-BE49-F238E27FC236}">
                <a16:creationId xmlns:a16="http://schemas.microsoft.com/office/drawing/2014/main" id="{8B0DD159-6892-497F-9732-7445630EA3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7747" y="1045592"/>
            <a:ext cx="1562239" cy="198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7055299-1986-49E6-A4B9-0D7FE6A70CF4}"/>
                  </a:ext>
                </a:extLst>
              </p:cNvPr>
              <p:cNvSpPr/>
              <p:nvPr/>
            </p:nvSpPr>
            <p:spPr>
              <a:xfrm>
                <a:off x="8475607" y="4728856"/>
                <a:ext cx="1393010" cy="9107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𝒍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7055299-1986-49E6-A4B9-0D7FE6A70CF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5607" y="4728856"/>
                <a:ext cx="1393010" cy="9107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09853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2" grpId="0"/>
      <p:bldP spid="13" grpId="0"/>
      <p:bldP spid="14" grpId="0"/>
      <p:bldP spid="15" grpId="0"/>
      <p:bldP spid="22" grpId="0"/>
      <p:bldP spid="2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EC3395F0-C28B-4D4B-869C-9187BD5255D8}"/>
                  </a:ext>
                </a:extLst>
              </p:cNvPr>
              <p:cNvSpPr txBox="1"/>
              <p:nvPr/>
            </p:nvSpPr>
            <p:spPr bwMode="auto">
              <a:xfrm>
                <a:off x="2209806" y="1329909"/>
                <a:ext cx="1797050" cy="11112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Object 3">
                <a:extLst>
                  <a:ext uri="{FF2B5EF4-FFF2-40B4-BE49-F238E27FC236}">
                    <a16:creationId xmlns:a16="http://schemas.microsoft.com/office/drawing/2014/main" id="{EC3395F0-C28B-4D4B-869C-9187BD5255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09806" y="1329909"/>
                <a:ext cx="1797050" cy="11112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CD18E96-399C-462E-B705-ECC5DF94F7AF}"/>
                  </a:ext>
                </a:extLst>
              </p:cNvPr>
              <p:cNvSpPr/>
              <p:nvPr/>
            </p:nvSpPr>
            <p:spPr>
              <a:xfrm>
                <a:off x="3465461" y="1321347"/>
                <a:ext cx="1148969" cy="91076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2800" i="1">
                          <a:solidFill>
                            <a:srgbClr val="0066FF"/>
                          </a:solidFill>
                          <a:latin typeface="Cambria Math" panose="02040503050406030204" pitchFamily="18" charset="0"/>
                        </a:rPr>
                        <m:t>ρ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𝒍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5CD18E96-399C-462E-B705-ECC5DF94F7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5461" y="1321347"/>
                <a:ext cx="1148969" cy="91076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B4D8EC63-855E-4CFA-9AA3-1E7D6E28976F}"/>
              </a:ext>
            </a:extLst>
          </p:cNvPr>
          <p:cNvSpPr/>
          <p:nvPr/>
        </p:nvSpPr>
        <p:spPr>
          <a:xfrm>
            <a:off x="1514961" y="1516202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电阻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FE9B11-0CAF-4CBF-9C05-A818E86104E5}"/>
              </a:ext>
            </a:extLst>
          </p:cNvPr>
          <p:cNvSpPr/>
          <p:nvPr/>
        </p:nvSpPr>
        <p:spPr>
          <a:xfrm>
            <a:off x="1293231" y="2629352"/>
            <a:ext cx="434445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电阻率，导体材料的性质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7446FEB-ACBE-4AE3-8F13-A4F1C7E84FD1}"/>
              </a:ext>
            </a:extLst>
          </p:cNvPr>
          <p:cNvSpPr/>
          <p:nvPr/>
        </p:nvSpPr>
        <p:spPr>
          <a:xfrm>
            <a:off x="1657980" y="5051999"/>
            <a:ext cx="126188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电导率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665C26A-1916-436F-A8FF-D69C3B57E156}"/>
                  </a:ext>
                </a:extLst>
              </p:cNvPr>
              <p:cNvSpPr/>
              <p:nvPr/>
            </p:nvSpPr>
            <p:spPr>
              <a:xfrm>
                <a:off x="2980009" y="5056024"/>
                <a:ext cx="493212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665C26A-1916-436F-A8FF-D69C3B57E15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0009" y="5056024"/>
                <a:ext cx="493212" cy="52322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7B8639A-A76C-49CB-84B8-B82D4F5D4670}"/>
                  </a:ext>
                </a:extLst>
              </p:cNvPr>
              <p:cNvSpPr/>
              <p:nvPr/>
            </p:nvSpPr>
            <p:spPr>
              <a:xfrm>
                <a:off x="3204334" y="4862510"/>
                <a:ext cx="840678" cy="97475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ρ</m:t>
                          </m:r>
                        </m:den>
                      </m:f>
                    </m:oMath>
                  </m:oMathPara>
                </a14:m>
                <a:endParaRPr 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87B8639A-A76C-49CB-84B8-B82D4F5D4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4334" y="4862510"/>
                <a:ext cx="840678" cy="9747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448B742-C68C-4EAB-9931-303F1B4F8E07}"/>
                  </a:ext>
                </a:extLst>
              </p:cNvPr>
              <p:cNvSpPr/>
              <p:nvPr/>
            </p:nvSpPr>
            <p:spPr>
              <a:xfrm>
                <a:off x="1731970" y="5837264"/>
                <a:ext cx="3820726" cy="67306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>
                  <a:lnSpc>
                    <a:spcPct val="150000"/>
                  </a:lnSpc>
                </a:pP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单位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: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西门子</a:t>
                </a:r>
                <a:r>
                  <a:rPr lang="en-US" altLang="zh-CN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/</a:t>
                </a:r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米，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altLang="zh-CN" sz="2800" b="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Symbol" panose="05050102010706020507" pitchFamily="18" charset="2"/>
                      </a:rPr>
                      <m:t></m:t>
                    </m:r>
                    <m:sSup>
                      <m:sSupPr>
                        <m:ctrlPr>
                          <a:rPr lang="en-US" altLang="zh-CN" sz="2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zh-CN" sz="2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e>
                      <m:sup>
                        <m:r>
                          <a:rPr lang="en-US" altLang="zh-CN" sz="2800" b="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endParaRPr lang="zh-CN" alt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7448B742-C68C-4EAB-9931-303F1B4F8E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1970" y="5837264"/>
                <a:ext cx="3820726" cy="673069"/>
              </a:xfrm>
              <a:prstGeom prst="rect">
                <a:avLst/>
              </a:prstGeom>
              <a:blipFill>
                <a:blip r:embed="rId6"/>
                <a:stretch>
                  <a:fillRect l="-2392" b="-254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Object 3">
                <a:extLst>
                  <a:ext uri="{FF2B5EF4-FFF2-40B4-BE49-F238E27FC236}">
                    <a16:creationId xmlns:a16="http://schemas.microsoft.com/office/drawing/2014/main" id="{CEB2E38A-29A9-4EC6-BE80-5B85839FA473}"/>
                  </a:ext>
                </a:extLst>
              </p:cNvPr>
              <p:cNvSpPr txBox="1"/>
              <p:nvPr/>
            </p:nvSpPr>
            <p:spPr bwMode="auto">
              <a:xfrm>
                <a:off x="5716729" y="5152309"/>
                <a:ext cx="1797050" cy="1111250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  <m:r>
                        <a:rPr lang="en-US" sz="28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  <m:t>𝒍</m:t>
                          </m:r>
                        </m:num>
                        <m:den>
                          <m: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r>
                            <m:rPr>
                              <m:nor/>
                            </m:rPr>
                            <a:rPr lang="en-US" sz="280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Object 3">
                <a:extLst>
                  <a:ext uri="{FF2B5EF4-FFF2-40B4-BE49-F238E27FC236}">
                    <a16:creationId xmlns:a16="http://schemas.microsoft.com/office/drawing/2014/main" id="{CEB2E38A-29A9-4EC6-BE80-5B85839FA4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716729" y="5152309"/>
                <a:ext cx="1797050" cy="11112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79332C7-3127-4FB4-B395-165C53E9B864}"/>
                  </a:ext>
                </a:extLst>
              </p:cNvPr>
              <p:cNvSpPr/>
              <p:nvPr/>
            </p:nvSpPr>
            <p:spPr>
              <a:xfrm>
                <a:off x="2104517" y="3304762"/>
                <a:ext cx="3075633" cy="5232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𝝆</m:t>
                          </m:r>
                        </m:e>
                        <m:sub>
                          <m:r>
                            <a:rPr lang="en-US" altLang="zh-CN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28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矩形 24">
                <a:extLst>
                  <a:ext uri="{FF2B5EF4-FFF2-40B4-BE49-F238E27FC236}">
                    <a16:creationId xmlns:a16="http://schemas.microsoft.com/office/drawing/2014/main" id="{D79332C7-3127-4FB4-B395-165C53E9B8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4517" y="3304762"/>
                <a:ext cx="3075633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338" name="Picture 2" descr="Resistor - Wikipedia">
            <a:extLst>
              <a:ext uri="{FF2B5EF4-FFF2-40B4-BE49-F238E27FC236}">
                <a16:creationId xmlns:a16="http://schemas.microsoft.com/office/drawing/2014/main" id="{B8315DFD-0E22-4733-93BD-43B8B67D76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1852" y="1413920"/>
            <a:ext cx="3448421" cy="241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6D7F84F4-3FB9-4776-B902-65A494A30EDC}"/>
              </a:ext>
            </a:extLst>
          </p:cNvPr>
          <p:cNvCxnSpPr>
            <a:cxnSpLocks/>
            <a:stCxn id="32" idx="0"/>
          </p:cNvCxnSpPr>
          <p:nvPr/>
        </p:nvCxnSpPr>
        <p:spPr>
          <a:xfrm flipV="1">
            <a:off x="3215761" y="3827983"/>
            <a:ext cx="86356" cy="290040"/>
          </a:xfrm>
          <a:prstGeom prst="straightConnector1">
            <a:avLst/>
          </a:prstGeom>
          <a:ln w="444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>
            <a:extLst>
              <a:ext uri="{FF2B5EF4-FFF2-40B4-BE49-F238E27FC236}">
                <a16:creationId xmlns:a16="http://schemas.microsoft.com/office/drawing/2014/main" id="{48C4139D-20C1-464A-B5A1-2CFBE8F50426}"/>
              </a:ext>
            </a:extLst>
          </p:cNvPr>
          <p:cNvSpPr/>
          <p:nvPr/>
        </p:nvSpPr>
        <p:spPr>
          <a:xfrm>
            <a:off x="2090225" y="4118023"/>
            <a:ext cx="225107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 </a:t>
            </a:r>
            <a:r>
              <a:rPr lang="en-US" altLang="zh-CN" sz="2800" dirty="0"/>
              <a:t>℃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时的电阻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533793BF-B016-498C-B338-3120011CAEF9}"/>
              </a:ext>
            </a:extLst>
          </p:cNvPr>
          <p:cNvCxnSpPr>
            <a:cxnSpLocks/>
          </p:cNvCxnSpPr>
          <p:nvPr/>
        </p:nvCxnSpPr>
        <p:spPr>
          <a:xfrm flipH="1" flipV="1">
            <a:off x="4489164" y="3781469"/>
            <a:ext cx="509288" cy="381353"/>
          </a:xfrm>
          <a:prstGeom prst="straightConnector1">
            <a:avLst/>
          </a:prstGeom>
          <a:ln w="44450">
            <a:solidFill>
              <a:srgbClr val="0066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C6A0E842-B9D6-4364-AC2B-B7004597CAD6}"/>
              </a:ext>
            </a:extLst>
          </p:cNvPr>
          <p:cNvSpPr/>
          <p:nvPr/>
        </p:nvSpPr>
        <p:spPr>
          <a:xfrm>
            <a:off x="4349039" y="4102672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电阻温度系数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 Box 2">
                <a:extLst>
                  <a:ext uri="{FF2B5EF4-FFF2-40B4-BE49-F238E27FC236}">
                    <a16:creationId xmlns:a16="http://schemas.microsoft.com/office/drawing/2014/main" id="{06D008F8-7269-479A-B0FF-6FA7338D99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967179" y="5152309"/>
                <a:ext cx="2009101" cy="12225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umimoji="1" b="1" kern="1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 eaLnBrk="1" fontAlgn="auto" hangingPunct="1">
                  <a:spcBef>
                    <a:spcPct val="50000"/>
                  </a:spcBef>
                  <a:spcAft>
                    <a:spcPts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𝑹</m:t>
                      </m:r>
                      <m:r>
                        <a:rPr kumimoji="0" lang="en-US" altLang="zh-CN" sz="28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黑体" panose="02010609060101010101" pitchFamily="49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kumimoji="0" lang="en-US" altLang="zh-CN" sz="28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黑体" panose="02010609060101010101" pitchFamily="49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/>
                        <m:sup/>
                        <m:e>
                          <m:f>
                            <m:fPr>
                              <m:ctrlPr>
                                <a:rPr kumimoji="0" lang="en-US" altLang="zh-CN" sz="28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kumimoji="0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𝒅𝒍</m:t>
                              </m:r>
                            </m:num>
                            <m:den>
                              <m:r>
                                <a:rPr kumimoji="0"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𝝈</m:t>
                              </m:r>
                              <m:r>
                                <a:rPr kumimoji="0"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  <a:cs typeface="Times New Roman" panose="02020603050405020304" pitchFamily="18" charset="0"/>
                                </a:rPr>
                                <m:t>𝑺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kumimoji="0" lang="en-US" altLang="zh-CN" sz="2800" dirty="0">
                  <a:solidFill>
                    <a:srgbClr val="FF0000"/>
                  </a:solidFill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 Box 2">
                <a:extLst>
                  <a:ext uri="{FF2B5EF4-FFF2-40B4-BE49-F238E27FC236}">
                    <a16:creationId xmlns:a16="http://schemas.microsoft.com/office/drawing/2014/main" id="{06D008F8-7269-479A-B0FF-6FA7338D99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67179" y="5152309"/>
                <a:ext cx="2009101" cy="122251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标题 1">
            <a:extLst>
              <a:ext uri="{FF2B5EF4-FFF2-40B4-BE49-F238E27FC236}">
                <a16:creationId xmlns:a16="http://schemas.microsoft.com/office/drawing/2014/main" id="{BAC9FB21-3740-403C-A8C3-3AA780111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887" y="482547"/>
            <a:ext cx="2723447" cy="724591"/>
          </a:xfrm>
        </p:spPr>
        <p:txBody>
          <a:bodyPr>
            <a:normAutofit/>
          </a:bodyPr>
          <a:lstStyle/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欧姆定律</a:t>
            </a:r>
          </a:p>
        </p:txBody>
      </p:sp>
    </p:spTree>
    <p:extLst>
      <p:ext uri="{BB962C8B-B14F-4D97-AF65-F5344CB8AC3E}">
        <p14:creationId xmlns:p14="http://schemas.microsoft.com/office/powerpoint/2010/main" val="230003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3" grpId="0"/>
      <p:bldP spid="24" grpId="0"/>
      <p:bldP spid="25" grpId="0"/>
      <p:bldP spid="32" grpId="0"/>
      <p:bldP spid="34" grpId="0"/>
      <p:bldP spid="3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" name="内容占位符 12"/>
              <p:cNvSpPr>
                <a:spLocks noGrp="1"/>
              </p:cNvSpPr>
              <p:nvPr>
                <p:ph idx="1"/>
              </p:nvPr>
            </p:nvSpPr>
            <p:spPr>
              <a:xfrm>
                <a:off x="4708538" y="1533661"/>
                <a:ext cx="3918104" cy="1583090"/>
              </a:xfrm>
            </p:spPr>
            <p:txBody>
              <a:bodyPr>
                <a:noAutofit/>
              </a:bodyPr>
              <a:lstStyle/>
              <a:p>
                <a:pPr marL="0" indent="0">
                  <a:lnSpc>
                    <a:spcPct val="13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𝐼</m:t>
                      </m:r>
                      <m:r>
                        <a:rPr lang="zh-CN" altLang="en-US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－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𝑅</m:t>
                          </m:r>
                        </m:den>
                      </m:f>
                      <m:r>
                        <a:rPr lang="zh-CN" altLang="en-US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  <a:ea typeface="+mn-ea"/>
                        </a:rPr>
                        <m:t>＝</m:t>
                      </m:r>
                      <m:f>
                        <m:fPr>
                          <m:ctrlPr>
                            <a:rPr lang="zh-CN" altLang="en-US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－</m:t>
                          </m:r>
                          <m:sSub>
                            <m:sSubPr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type m:val="lin"/>
                              <m:ctrlPr>
                                <a:rPr lang="zh-CN" altLang="en-US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Pr>
                            <m:num>
                              <m:r>
                                <a:rPr lang="zh-CN" altLang="en-US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∆</m:t>
                              </m:r>
                              <m:r>
                                <a:rPr lang="zh-CN" altLang="en-US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𝑙</m:t>
                              </m:r>
                            </m:num>
                            <m:den>
                              <m:r>
                                <a:rPr lang="zh-CN" altLang="en-US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𝜎</m:t>
                              </m:r>
                              <m:r>
                                <a:rPr lang="zh-CN" altLang="en-US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∆</m:t>
                              </m:r>
                              <m:r>
                                <a:rPr lang="zh-CN" altLang="en-US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𝑆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en-US" altLang="zh-CN" dirty="0">
                  <a:ea typeface="+mn-ea"/>
                </a:endParaRPr>
              </a:p>
            </p:txBody>
          </p:sp>
        </mc:Choice>
        <mc:Fallback xmlns="">
          <p:sp>
            <p:nvSpPr>
              <p:cNvPr id="13" name="内容占位符 1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08538" y="1533661"/>
                <a:ext cx="3918104" cy="158309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6402" y="1436028"/>
            <a:ext cx="3308356" cy="20625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5FE2206-9D4A-410E-BE11-AFD9FD0239DC}"/>
                  </a:ext>
                </a:extLst>
              </p:cNvPr>
              <p:cNvSpPr/>
              <p:nvPr/>
            </p:nvSpPr>
            <p:spPr>
              <a:xfrm>
                <a:off x="1307366" y="5025703"/>
                <a:ext cx="5821344" cy="109876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kern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</m:acc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∯"/>
                          <m:ctrlP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/>
                        <m:e>
                          <m:r>
                            <a:rPr lang="zh-CN" altLang="en-US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en-US" altLang="zh-CN" sz="2800" b="0" i="0" kern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0" ker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sz="280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CN" sz="280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altLang="zh-CN" sz="2800" b="0" i="1" ker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</m:num>
                        <m:den>
                          <m:r>
                            <a:rPr lang="en-US" altLang="zh-CN" sz="2800" b="0" i="1" ker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US" sz="2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" name="矩形 7">
                <a:extLst>
                  <a:ext uri="{FF2B5EF4-FFF2-40B4-BE49-F238E27FC236}">
                    <a16:creationId xmlns:a16="http://schemas.microsoft.com/office/drawing/2014/main" id="{A5FE2206-9D4A-410E-BE11-AFD9FD0239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7366" y="5025703"/>
                <a:ext cx="5821344" cy="109876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标题 1">
                <a:extLst>
                  <a:ext uri="{FF2B5EF4-FFF2-40B4-BE49-F238E27FC236}">
                    <a16:creationId xmlns:a16="http://schemas.microsoft.com/office/drawing/2014/main" id="{51B27A72-A9E5-496D-881A-F5E5A09CCA6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7586909" y="5302879"/>
                <a:ext cx="3257934" cy="687316"/>
              </a:xfrm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∯"/>
                          <m:ctrlPr>
                            <a:rPr lang="en-US" altLang="zh-CN" sz="280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𝑆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∙</m:t>
                          </m:r>
                          <m:r>
                            <a:rPr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𝑆</m:t>
                              </m:r>
                            </m:e>
                          </m:acc>
                          <m:r>
                            <a:rPr lang="en-US" altLang="zh-CN" sz="2800" b="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+mn-ea"/>
                            </a:rPr>
                            <m:t>=</m:t>
                          </m:r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fPr>
                            <m:num>
                              <m: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0</m:t>
                                  </m:r>
                                </m:sub>
                              </m:sSub>
                            </m:den>
                          </m:f>
                          <m:nary>
                            <m:naryPr>
                              <m:chr m:val="∑"/>
                              <m:supHide m:val="on"/>
                              <m:ctrlPr>
                                <a:rPr lang="en-US" altLang="zh-CN" sz="28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en-US" altLang="zh-CN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𝑆</m:t>
                              </m:r>
                              <m:r>
                                <m:rPr>
                                  <m:brk m:alnAt="7"/>
                                </m:rPr>
                                <a:rPr lang="zh-CN" altLang="en-US" sz="2800" b="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  <a:ea typeface="+mn-ea"/>
                                </a:rPr>
                                <m:t>内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en-US" altLang="zh-CN" sz="28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8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altLang="zh-CN" sz="2800" b="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  <a:ea typeface="+mn-ea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</m:e>
                      </m:nary>
                    </m:oMath>
                  </m:oMathPara>
                </a14:m>
                <a:endParaRPr lang="zh-CN" altLang="en-US" sz="2800" dirty="0">
                  <a:solidFill>
                    <a:srgbClr val="FF0000"/>
                  </a:solidFill>
                  <a:latin typeface="+mn-lt"/>
                  <a:ea typeface="+mn-ea"/>
                </a:endParaRPr>
              </a:p>
            </p:txBody>
          </p:sp>
        </mc:Choice>
        <mc:Fallback xmlns="">
          <p:sp>
            <p:nvSpPr>
              <p:cNvPr id="9" name="标题 1">
                <a:extLst>
                  <a:ext uri="{FF2B5EF4-FFF2-40B4-BE49-F238E27FC236}">
                    <a16:creationId xmlns:a16="http://schemas.microsoft.com/office/drawing/2014/main" id="{51B27A72-A9E5-496D-881A-F5E5A09CCA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586909" y="5302879"/>
                <a:ext cx="3257934" cy="687316"/>
              </a:xfrm>
              <a:blipFill>
                <a:blip r:embed="rId5"/>
                <a:stretch>
                  <a:fillRect t="-22124" r="-4307" b="-353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标题 1">
            <a:extLst>
              <a:ext uri="{FF2B5EF4-FFF2-40B4-BE49-F238E27FC236}">
                <a16:creationId xmlns:a16="http://schemas.microsoft.com/office/drawing/2014/main" id="{56DF999A-919A-4DA5-B3D1-9187674E5071}"/>
              </a:ext>
            </a:extLst>
          </p:cNvPr>
          <p:cNvSpPr txBox="1">
            <a:spLocks/>
          </p:cNvSpPr>
          <p:nvPr/>
        </p:nvSpPr>
        <p:spPr>
          <a:xfrm>
            <a:off x="480887" y="482547"/>
            <a:ext cx="2723447" cy="724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楷体" panose="02010600040101010101" pitchFamily="2" charset="-122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欧姆定律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D78896F-1082-456E-898F-63E701748407}"/>
                  </a:ext>
                </a:extLst>
              </p:cNvPr>
              <p:cNvSpPr/>
              <p:nvPr/>
            </p:nvSpPr>
            <p:spPr>
              <a:xfrm>
                <a:off x="8355830" y="1922188"/>
                <a:ext cx="120937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el-GR" altLang="zh-CN" sz="28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1D78896F-1082-456E-898F-63E7017484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5830" y="1922188"/>
                <a:ext cx="1209370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92848C0-43AD-41F6-B9F0-081082C8473F}"/>
                  </a:ext>
                </a:extLst>
              </p:cNvPr>
              <p:cNvSpPr/>
              <p:nvPr/>
            </p:nvSpPr>
            <p:spPr>
              <a:xfrm>
                <a:off x="1259598" y="3639580"/>
                <a:ext cx="3965557" cy="10520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－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zh-CN" altLang="en-US" sz="2800" b="0" i="1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b="0" i="1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US" altLang="zh-CN" sz="280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892848C0-43AD-41F6-B9F0-081082C847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598" y="3639580"/>
                <a:ext cx="3965557" cy="10520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2B5F4AF-32F5-4DF5-9F08-BDA42AF3C6B1}"/>
                  </a:ext>
                </a:extLst>
              </p:cNvPr>
              <p:cNvSpPr/>
              <p:nvPr/>
            </p:nvSpPr>
            <p:spPr>
              <a:xfrm>
                <a:off x="5439512" y="3824535"/>
                <a:ext cx="2248667" cy="7204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𝑱</m:t>
                          </m:r>
                        </m:e>
                      </m:acc>
                      <m:r>
                        <a:rPr lang="zh-CN" altLang="en-US" sz="2800" b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acc>
                        <m:accPr>
                          <m:chr m:val="⃗"/>
                          <m:ctrlPr>
                            <a:rPr lang="zh-CN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</m:oMath>
                  </m:oMathPara>
                </a14:m>
                <a:endParaRPr lang="zh-CN" alt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22B5F4AF-32F5-4DF5-9F08-BDA42AF3C6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9512" y="3824535"/>
                <a:ext cx="2248667" cy="7204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矩形 16">
            <a:extLst>
              <a:ext uri="{FF2B5EF4-FFF2-40B4-BE49-F238E27FC236}">
                <a16:creationId xmlns:a16="http://schemas.microsoft.com/office/drawing/2014/main" id="{43DCAC8F-B171-4EF6-A0E1-3AE05890F6CA}"/>
              </a:ext>
            </a:extLst>
          </p:cNvPr>
          <p:cNvSpPr/>
          <p:nvPr/>
        </p:nvSpPr>
        <p:spPr>
          <a:xfrm>
            <a:off x="7492946" y="3824535"/>
            <a:ext cx="2646878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cs typeface="Times New Roman" panose="02020603050405020304" pitchFamily="18" charset="0"/>
              </a:rPr>
              <a:t>欧姆定律微分形式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755C2B2-6D29-84B9-CA16-436C8CD8E04B}"/>
              </a:ext>
            </a:extLst>
          </p:cNvPr>
          <p:cNvSpPr/>
          <p:nvPr/>
        </p:nvSpPr>
        <p:spPr>
          <a:xfrm>
            <a:off x="3489906" y="6166688"/>
            <a:ext cx="462285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cs typeface="Times New Roman" panose="02020603050405020304" pitchFamily="18" charset="0"/>
              </a:rPr>
              <a:t>欧姆定律适用范围？</a:t>
            </a:r>
          </a:p>
        </p:txBody>
      </p:sp>
    </p:spTree>
    <p:extLst>
      <p:ext uri="{BB962C8B-B14F-4D97-AF65-F5344CB8AC3E}">
        <p14:creationId xmlns:p14="http://schemas.microsoft.com/office/powerpoint/2010/main" val="17842677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6" grpId="0"/>
      <p:bldP spid="14" grpId="0"/>
      <p:bldP spid="16" grpId="0"/>
      <p:bldP spid="17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CE451F6A-F7EB-451E-B861-EA6934F79E7D}"/>
              </a:ext>
            </a:extLst>
          </p:cNvPr>
          <p:cNvSpPr/>
          <p:nvPr/>
        </p:nvSpPr>
        <p:spPr>
          <a:xfrm>
            <a:off x="855929" y="450778"/>
            <a:ext cx="50642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</a:rPr>
              <a:t>电流的一种经典微观图像</a:t>
            </a:r>
            <a:endParaRPr lang="en-US" sz="3200" b="1" dirty="0">
              <a:solidFill>
                <a:srgbClr val="0066FF"/>
              </a:solidFill>
            </a:endParaRPr>
          </a:p>
        </p:txBody>
      </p:sp>
      <p:grpSp>
        <p:nvGrpSpPr>
          <p:cNvPr id="10" name="Group 46">
            <a:extLst>
              <a:ext uri="{FF2B5EF4-FFF2-40B4-BE49-F238E27FC236}">
                <a16:creationId xmlns:a16="http://schemas.microsoft.com/office/drawing/2014/main" id="{60E5BCF8-EDC9-4950-9838-D372C7D48FA8}"/>
              </a:ext>
            </a:extLst>
          </p:cNvPr>
          <p:cNvGrpSpPr>
            <a:grpSpLocks/>
          </p:cNvGrpSpPr>
          <p:nvPr/>
        </p:nvGrpSpPr>
        <p:grpSpPr bwMode="auto">
          <a:xfrm>
            <a:off x="1734879" y="1306408"/>
            <a:ext cx="2530475" cy="1809750"/>
            <a:chOff x="758" y="1356"/>
            <a:chExt cx="1594" cy="1140"/>
          </a:xfrm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3F5304CF-DC2A-482F-B73F-28D3626B2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6" y="2112"/>
              <a:ext cx="384" cy="384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12" name="Line 6">
              <a:extLst>
                <a:ext uri="{FF2B5EF4-FFF2-40B4-BE49-F238E27FC236}">
                  <a16:creationId xmlns:a16="http://schemas.microsoft.com/office/drawing/2014/main" id="{D5DC8026-B811-4148-A6D1-1B1EF9FB97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16" y="1440"/>
              <a:ext cx="110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3" name="Line 7">
              <a:extLst>
                <a:ext uri="{FF2B5EF4-FFF2-40B4-BE49-F238E27FC236}">
                  <a16:creationId xmlns:a16="http://schemas.microsoft.com/office/drawing/2014/main" id="{DA6D7C7F-726F-4DAC-A394-B5D9EC7634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864" y="1776"/>
              <a:ext cx="110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4" name="Line 8">
              <a:extLst>
                <a:ext uri="{FF2B5EF4-FFF2-40B4-BE49-F238E27FC236}">
                  <a16:creationId xmlns:a16="http://schemas.microsoft.com/office/drawing/2014/main" id="{CB765082-2C22-4E6B-87C5-0C983AAEBC7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1440"/>
              <a:ext cx="110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5" name="Line 9">
              <a:extLst>
                <a:ext uri="{FF2B5EF4-FFF2-40B4-BE49-F238E27FC236}">
                  <a16:creationId xmlns:a16="http://schemas.microsoft.com/office/drawing/2014/main" id="{9183E0F3-1E5E-44A7-A4C7-77DF8CA7E1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00" y="1824"/>
              <a:ext cx="1104" cy="67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6" name="Line 10">
              <a:extLst>
                <a:ext uri="{FF2B5EF4-FFF2-40B4-BE49-F238E27FC236}">
                  <a16:creationId xmlns:a16="http://schemas.microsoft.com/office/drawing/2014/main" id="{AA3EDE1D-850B-4F64-AD5A-7279C0C6AF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440"/>
              <a:ext cx="33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7" name="Line 11">
              <a:extLst>
                <a:ext uri="{FF2B5EF4-FFF2-40B4-BE49-F238E27FC236}">
                  <a16:creationId xmlns:a16="http://schemas.microsoft.com/office/drawing/2014/main" id="{67465525-71BF-4FD2-9147-47C06304E7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4" y="1440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8" name="Line 12">
              <a:extLst>
                <a:ext uri="{FF2B5EF4-FFF2-40B4-BE49-F238E27FC236}">
                  <a16:creationId xmlns:a16="http://schemas.microsoft.com/office/drawing/2014/main" id="{338187F9-5741-4343-A72D-1354A6353D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440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19" name="Line 13">
              <a:extLst>
                <a:ext uri="{FF2B5EF4-FFF2-40B4-BE49-F238E27FC236}">
                  <a16:creationId xmlns:a16="http://schemas.microsoft.com/office/drawing/2014/main" id="{BE3D84C6-0898-49BA-A0D6-2A44CE15B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1824"/>
              <a:ext cx="43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20" name="Text Box 15">
              <a:extLst>
                <a:ext uri="{FF2B5EF4-FFF2-40B4-BE49-F238E27FC236}">
                  <a16:creationId xmlns:a16="http://schemas.microsoft.com/office/drawing/2014/main" id="{70050E1D-D2D8-4BC1-A18E-C93A070FB8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68" y="2112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dirty="0">
                  <a:latin typeface="+mn-lt"/>
                  <a:ea typeface="华文楷体" panose="02010600040101010101" pitchFamily="2" charset="-122"/>
                </a:rPr>
                <a:t>v</a:t>
              </a:r>
            </a:p>
          </p:txBody>
        </p:sp>
        <p:sp>
          <p:nvSpPr>
            <p:cNvPr id="21" name="Line 16">
              <a:extLst>
                <a:ext uri="{FF2B5EF4-FFF2-40B4-BE49-F238E27FC236}">
                  <a16:creationId xmlns:a16="http://schemas.microsoft.com/office/drawing/2014/main" id="{8C4FDA64-2B01-47A0-B9AF-977227CAB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78" y="2196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22" name="Text Box 17">
              <a:extLst>
                <a:ext uri="{FF2B5EF4-FFF2-40B4-BE49-F238E27FC236}">
                  <a16:creationId xmlns:a16="http://schemas.microsoft.com/office/drawing/2014/main" id="{95F83B5C-FBCB-423C-8C68-D32B91A321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98" y="1356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dirty="0">
                  <a:latin typeface="+mn-lt"/>
                  <a:ea typeface="华文楷体" panose="02010600040101010101" pitchFamily="2" charset="-122"/>
                </a:rPr>
                <a:t>n</a:t>
              </a:r>
            </a:p>
          </p:txBody>
        </p:sp>
        <p:sp>
          <p:nvSpPr>
            <p:cNvPr id="23" name="Oval 18">
              <a:extLst>
                <a:ext uri="{FF2B5EF4-FFF2-40B4-BE49-F238E27FC236}">
                  <a16:creationId xmlns:a16="http://schemas.microsoft.com/office/drawing/2014/main" id="{BF7B8107-210B-47BF-8C9B-BF500A961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40" y="211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4" name="Oval 19">
              <a:extLst>
                <a:ext uri="{FF2B5EF4-FFF2-40B4-BE49-F238E27FC236}">
                  <a16:creationId xmlns:a16="http://schemas.microsoft.com/office/drawing/2014/main" id="{851DB4A6-D6A5-4DE3-9CE3-59FA9D22BB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20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5" name="Oval 20">
              <a:extLst>
                <a:ext uri="{FF2B5EF4-FFF2-40B4-BE49-F238E27FC236}">
                  <a16:creationId xmlns:a16="http://schemas.microsoft.com/office/drawing/2014/main" id="{8343EDFB-6B60-4464-8F4A-7F7F4DACA7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6" name="Oval 21">
              <a:extLst>
                <a:ext uri="{FF2B5EF4-FFF2-40B4-BE49-F238E27FC236}">
                  <a16:creationId xmlns:a16="http://schemas.microsoft.com/office/drawing/2014/main" id="{CD734C58-1794-4BFB-A56D-DB66C8B92A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201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7" name="Oval 22">
              <a:extLst>
                <a:ext uri="{FF2B5EF4-FFF2-40B4-BE49-F238E27FC236}">
                  <a16:creationId xmlns:a16="http://schemas.microsoft.com/office/drawing/2014/main" id="{28E67CF9-CEE9-46B2-862D-84AEFA959A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28" y="1680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8" name="Oval 23">
              <a:extLst>
                <a:ext uri="{FF2B5EF4-FFF2-40B4-BE49-F238E27FC236}">
                  <a16:creationId xmlns:a16="http://schemas.microsoft.com/office/drawing/2014/main" id="{D8252DEE-6FAB-4143-80C2-BD8239E556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6" y="201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29" name="Oval 24">
              <a:extLst>
                <a:ext uri="{FF2B5EF4-FFF2-40B4-BE49-F238E27FC236}">
                  <a16:creationId xmlns:a16="http://schemas.microsoft.com/office/drawing/2014/main" id="{F6C0E3A8-85C7-49A2-A7F8-66B833CC06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30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0" name="Oval 25">
              <a:extLst>
                <a:ext uri="{FF2B5EF4-FFF2-40B4-BE49-F238E27FC236}">
                  <a16:creationId xmlns:a16="http://schemas.microsoft.com/office/drawing/2014/main" id="{682FE6D9-E2B1-4A1F-8908-0E7FD9E35C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201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1" name="Oval 27">
              <a:extLst>
                <a:ext uri="{FF2B5EF4-FFF2-40B4-BE49-F238E27FC236}">
                  <a16:creationId xmlns:a16="http://schemas.microsoft.com/office/drawing/2014/main" id="{48359654-3BF7-4752-BD52-16CD67A32E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20" y="1872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2" name="Oval 28">
              <a:extLst>
                <a:ext uri="{FF2B5EF4-FFF2-40B4-BE49-F238E27FC236}">
                  <a16:creationId xmlns:a16="http://schemas.microsoft.com/office/drawing/2014/main" id="{DAB78C3C-8FE1-47D9-83CD-2C4ACC3E0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1968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3" name="Oval 29">
              <a:extLst>
                <a:ext uri="{FF2B5EF4-FFF2-40B4-BE49-F238E27FC236}">
                  <a16:creationId xmlns:a16="http://schemas.microsoft.com/office/drawing/2014/main" id="{7DCD6A15-5D03-46DE-8531-92471D9AC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2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4" name="Oval 30">
              <a:extLst>
                <a:ext uri="{FF2B5EF4-FFF2-40B4-BE49-F238E27FC236}">
                  <a16:creationId xmlns:a16="http://schemas.microsoft.com/office/drawing/2014/main" id="{F41D7B78-5BF8-4823-9F7E-34E13097F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2" y="2256"/>
              <a:ext cx="48" cy="48"/>
            </a:xfrm>
            <a:prstGeom prst="ellipse">
              <a:avLst/>
            </a:prstGeom>
            <a:solidFill>
              <a:schemeClr val="accent1"/>
            </a:solidFill>
            <a:ln w="12700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endParaRPr lang="zh-CN" altLang="en-US" sz="2800" dirty="0">
                <a:latin typeface="+mn-lt"/>
                <a:ea typeface="华文楷体" panose="02010600040101010101" pitchFamily="2" charset="-122"/>
              </a:endParaRPr>
            </a:p>
          </p:txBody>
        </p:sp>
        <p:sp>
          <p:nvSpPr>
            <p:cNvPr id="35" name="Line 32">
              <a:extLst>
                <a:ext uri="{FF2B5EF4-FFF2-40B4-BE49-F238E27FC236}">
                  <a16:creationId xmlns:a16="http://schemas.microsoft.com/office/drawing/2014/main" id="{9AF3CF20-C987-4F8A-8901-0760F25B8EF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96" y="220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6" name="Line 33">
              <a:extLst>
                <a:ext uri="{FF2B5EF4-FFF2-40B4-BE49-F238E27FC236}">
                  <a16:creationId xmlns:a16="http://schemas.microsoft.com/office/drawing/2014/main" id="{C4515A0A-F77B-42A3-9EBA-30723980C8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248" y="1872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7" name="Line 34">
              <a:extLst>
                <a:ext uri="{FF2B5EF4-FFF2-40B4-BE49-F238E27FC236}">
                  <a16:creationId xmlns:a16="http://schemas.microsoft.com/office/drawing/2014/main" id="{0946FD88-A06C-40CA-8ECB-BFAD95AE73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68" y="177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8" name="Line 35">
              <a:extLst>
                <a:ext uri="{FF2B5EF4-FFF2-40B4-BE49-F238E27FC236}">
                  <a16:creationId xmlns:a16="http://schemas.microsoft.com/office/drawing/2014/main" id="{D0BD2AF3-38EF-4035-9936-CFAE2859B6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192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39" name="Line 36">
              <a:extLst>
                <a:ext uri="{FF2B5EF4-FFF2-40B4-BE49-F238E27FC236}">
                  <a16:creationId xmlns:a16="http://schemas.microsoft.com/office/drawing/2014/main" id="{5DFF02A2-C0A2-4407-9B49-17460FF2DF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4" y="2112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0" name="Line 37">
              <a:extLst>
                <a:ext uri="{FF2B5EF4-FFF2-40B4-BE49-F238E27FC236}">
                  <a16:creationId xmlns:a16="http://schemas.microsoft.com/office/drawing/2014/main" id="{3929385A-634D-4C94-A5F6-8D0B93F5928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40" y="172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1" name="Line 38">
              <a:extLst>
                <a:ext uri="{FF2B5EF4-FFF2-40B4-BE49-F238E27FC236}">
                  <a16:creationId xmlns:a16="http://schemas.microsoft.com/office/drawing/2014/main" id="{B43EACDC-90EC-4DF8-80A8-3332142BE3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584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2" name="Line 39">
              <a:extLst>
                <a:ext uri="{FF2B5EF4-FFF2-40B4-BE49-F238E27FC236}">
                  <a16:creationId xmlns:a16="http://schemas.microsoft.com/office/drawing/2014/main" id="{AFE400D5-74AC-4A29-A851-D7EDD73DAD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60" y="216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3" name="Line 40">
              <a:extLst>
                <a:ext uri="{FF2B5EF4-FFF2-40B4-BE49-F238E27FC236}">
                  <a16:creationId xmlns:a16="http://schemas.microsoft.com/office/drawing/2014/main" id="{8F817491-29D6-4DA8-BF8C-BD9195C6B4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88" y="2016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4" name="Line 41">
              <a:extLst>
                <a:ext uri="{FF2B5EF4-FFF2-40B4-BE49-F238E27FC236}">
                  <a16:creationId xmlns:a16="http://schemas.microsoft.com/office/drawing/2014/main" id="{C87A5D21-35CB-4A28-A0D9-30261568C8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72" y="1728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5" name="Line 42">
              <a:extLst>
                <a:ext uri="{FF2B5EF4-FFF2-40B4-BE49-F238E27FC236}">
                  <a16:creationId xmlns:a16="http://schemas.microsoft.com/office/drawing/2014/main" id="{DB832654-EA66-4B94-9D34-0A03EB78B9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24" y="192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6" name="Line 43">
              <a:extLst>
                <a:ext uri="{FF2B5EF4-FFF2-40B4-BE49-F238E27FC236}">
                  <a16:creationId xmlns:a16="http://schemas.microsoft.com/office/drawing/2014/main" id="{C045420A-1E11-45DB-99DC-00EC65E8693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6" y="1920"/>
              <a:ext cx="144" cy="9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triangl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 sz="2800"/>
            </a:p>
          </p:txBody>
        </p:sp>
        <p:sp>
          <p:nvSpPr>
            <p:cNvPr id="47" name="Text Box 44">
              <a:extLst>
                <a:ext uri="{FF2B5EF4-FFF2-40B4-BE49-F238E27FC236}">
                  <a16:creationId xmlns:a16="http://schemas.microsoft.com/office/drawing/2014/main" id="{94BB82D7-34E9-4454-9755-52BAD8351A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8" y="1644"/>
              <a:ext cx="22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defTabSz="7620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defTabSz="7620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r>
                <a:rPr lang="en-US" altLang="zh-CN" sz="2800" dirty="0">
                  <a:latin typeface="+mn-lt"/>
                  <a:ea typeface="华文楷体" panose="02010600040101010101" pitchFamily="2" charset="-122"/>
                </a:rPr>
                <a:t>q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5">
                <a:extLst>
                  <a:ext uri="{FF2B5EF4-FFF2-40B4-BE49-F238E27FC236}">
                    <a16:creationId xmlns:a16="http://schemas.microsoft.com/office/drawing/2014/main" id="{1A43F12D-B07B-4598-9D58-863A72DBF956}"/>
                  </a:ext>
                </a:extLst>
              </p:cNvPr>
              <p:cNvSpPr txBox="1"/>
              <p:nvPr/>
            </p:nvSpPr>
            <p:spPr bwMode="auto">
              <a:xfrm>
                <a:off x="7683139" y="4244791"/>
                <a:ext cx="2427287" cy="700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32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acc>
                      <m:r>
                        <a:rPr lang="en-US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𝒏𝒒</m:t>
                      </m:r>
                      <m:acc>
                        <m:accPr>
                          <m:chr m:val="⃗"/>
                          <m:ctrlP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32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US" sz="32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Object 45">
                <a:extLst>
                  <a:ext uri="{FF2B5EF4-FFF2-40B4-BE49-F238E27FC236}">
                    <a16:creationId xmlns:a16="http://schemas.microsoft.com/office/drawing/2014/main" id="{1A43F12D-B07B-4598-9D58-863A72DBF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83139" y="4244791"/>
                <a:ext cx="2427287" cy="70008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9" name="Group 6">
            <a:extLst>
              <a:ext uri="{FF2B5EF4-FFF2-40B4-BE49-F238E27FC236}">
                <a16:creationId xmlns:a16="http://schemas.microsoft.com/office/drawing/2014/main" id="{2DA21E92-CE97-440B-A2D9-5A0C75B8BD30}"/>
              </a:ext>
            </a:extLst>
          </p:cNvPr>
          <p:cNvGrpSpPr>
            <a:grpSpLocks/>
          </p:cNvGrpSpPr>
          <p:nvPr/>
        </p:nvGrpSpPr>
        <p:grpSpPr bwMode="auto">
          <a:xfrm>
            <a:off x="4951052" y="1409401"/>
            <a:ext cx="4351337" cy="554038"/>
            <a:chOff x="2820" y="540"/>
            <a:chExt cx="2741" cy="34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Object 7">
                  <a:extLst>
                    <a:ext uri="{FF2B5EF4-FFF2-40B4-BE49-F238E27FC236}">
                      <a16:creationId xmlns:a16="http://schemas.microsoft.com/office/drawing/2014/main" id="{5EEB7606-D4BA-4C8B-B871-F99A3E8D1197}"/>
                    </a:ext>
                  </a:extLst>
                </p:cNvPr>
                <p:cNvSpPr txBox="1"/>
                <p:nvPr/>
              </p:nvSpPr>
              <p:spPr bwMode="auto">
                <a:xfrm>
                  <a:off x="2820" y="540"/>
                  <a:ext cx="237" cy="3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acc>
                          <m:accPr>
                            <m:chr m:val="⃗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m:rPr>
                                <m:sty m:val="p"/>
                              </m:rPr>
                              <a:rPr lang="zh-CN" altLang="en-US" sz="2800" b="0" i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v</m:t>
                            </m:r>
                          </m:e>
                        </m:acc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50" name="Object 7">
                  <a:extLst>
                    <a:ext uri="{FF2B5EF4-FFF2-40B4-BE49-F238E27FC236}">
                      <a16:creationId xmlns:a16="http://schemas.microsoft.com/office/drawing/2014/main" id="{5EEB7606-D4BA-4C8B-B871-F99A3E8D11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2820" y="540"/>
                  <a:ext cx="237" cy="324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1" name="Text Box 8">
              <a:extLst>
                <a:ext uri="{FF2B5EF4-FFF2-40B4-BE49-F238E27FC236}">
                  <a16:creationId xmlns:a16="http://schemas.microsoft.com/office/drawing/2014/main" id="{0E43CCCE-CD46-4F76-A5D2-FAC2C088B8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02" y="559"/>
              <a:ext cx="2559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altLang="zh-CN" sz="2800" i="1" dirty="0">
                  <a:solidFill>
                    <a:srgbClr val="000000"/>
                  </a:solidFill>
                  <a:latin typeface="+mn-lt"/>
                  <a:ea typeface="华文楷体" panose="02010600040101010101" pitchFamily="2" charset="-122"/>
                  <a:sym typeface="Symbol" panose="05050102010706020507" pitchFamily="18" charset="2"/>
                </a:rPr>
                <a:t> </a:t>
              </a:r>
              <a:r>
                <a:rPr lang="zh-CN" altLang="en-US" sz="2800" dirty="0">
                  <a:solidFill>
                    <a:srgbClr val="000000"/>
                  </a:solidFill>
                  <a:latin typeface="+mn-lt"/>
                  <a:ea typeface="华文楷体" panose="02010600040101010101" pitchFamily="2" charset="-122"/>
                </a:rPr>
                <a:t>载流子</a:t>
              </a:r>
              <a:r>
                <a:rPr lang="zh-CN" altLang="en-US" sz="2800" dirty="0">
                  <a:latin typeface="+mn-lt"/>
                  <a:ea typeface="华文楷体" panose="02010600040101010101" pitchFamily="2" charset="-122"/>
                </a:rPr>
                <a:t>定向</a:t>
              </a:r>
              <a:r>
                <a:rPr lang="zh-CN" altLang="en-US" sz="2800" dirty="0">
                  <a:solidFill>
                    <a:srgbClr val="000000"/>
                  </a:solidFill>
                  <a:latin typeface="+mn-lt"/>
                  <a:ea typeface="华文楷体" panose="02010600040101010101" pitchFamily="2" charset="-122"/>
                </a:rPr>
                <a:t>移动速度</a:t>
              </a:r>
            </a:p>
          </p:txBody>
        </p:sp>
      </p:grpSp>
      <p:sp>
        <p:nvSpPr>
          <p:cNvPr id="52" name="Text Box 50">
            <a:extLst>
              <a:ext uri="{FF2B5EF4-FFF2-40B4-BE49-F238E27FC236}">
                <a16:creationId xmlns:a16="http://schemas.microsoft.com/office/drawing/2014/main" id="{4A6C4D0E-6E72-4FE5-ACBA-AA31F1E5E5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2900" y="2700668"/>
            <a:ext cx="38862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zh-CN" sz="2800" i="1" dirty="0">
                <a:latin typeface="+mn-lt"/>
                <a:ea typeface="华文楷体" panose="02010600040101010101" pitchFamily="2" charset="-122"/>
              </a:rPr>
              <a:t>n</a:t>
            </a:r>
            <a:r>
              <a:rPr lang="en-US" altLang="zh-CN" sz="2800" dirty="0">
                <a:latin typeface="+mn-lt"/>
                <a:ea typeface="华文楷体" panose="02010600040101010101" pitchFamily="2" charset="-122"/>
              </a:rPr>
              <a:t>— 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载流子</a:t>
            </a:r>
            <a:r>
              <a:rPr lang="zh-CN" altLang="en-US" sz="2800" dirty="0">
                <a:latin typeface="+mn-lt"/>
                <a:ea typeface="华文楷体" panose="02010600040101010101" pitchFamily="2" charset="-122"/>
              </a:rPr>
              <a:t>的浓度</a:t>
            </a:r>
          </a:p>
        </p:txBody>
      </p:sp>
      <p:sp>
        <p:nvSpPr>
          <p:cNvPr id="53" name="Rectangle 51">
            <a:extLst>
              <a:ext uri="{FF2B5EF4-FFF2-40B4-BE49-F238E27FC236}">
                <a16:creationId xmlns:a16="http://schemas.microsoft.com/office/drawing/2014/main" id="{0953FBBD-2587-41B1-9290-2E99688024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6773" y="2089990"/>
            <a:ext cx="396875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q 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— 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华文楷体" panose="02010600040101010101" pitchFamily="2" charset="-122"/>
              </a:rPr>
              <a:t>载流子电荷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67">
                <a:extLst>
                  <a:ext uri="{FF2B5EF4-FFF2-40B4-BE49-F238E27FC236}">
                    <a16:creationId xmlns:a16="http://schemas.microsoft.com/office/drawing/2014/main" id="{2F802BD8-12B6-2246-1C73-D3C7AAEBF50B}"/>
                  </a:ext>
                </a:extLst>
              </p:cNvPr>
              <p:cNvSpPr txBox="1"/>
              <p:nvPr/>
            </p:nvSpPr>
            <p:spPr bwMode="auto">
              <a:xfrm>
                <a:off x="1979354" y="3814983"/>
                <a:ext cx="3521560" cy="7381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𝑑𝑞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𝑛𝑞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𝑑𝑡𝑑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67">
                <a:extLst>
                  <a:ext uri="{FF2B5EF4-FFF2-40B4-BE49-F238E27FC236}">
                    <a16:creationId xmlns:a16="http://schemas.microsoft.com/office/drawing/2014/main" id="{2F802BD8-12B6-2246-1C73-D3C7AAEBF5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79354" y="3814983"/>
                <a:ext cx="3521560" cy="7381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0A67FE65-7AE5-8DA5-BF3D-9FA92345FE88}"/>
                  </a:ext>
                </a:extLst>
              </p:cNvPr>
              <p:cNvSpPr txBox="1"/>
              <p:nvPr/>
            </p:nvSpPr>
            <p:spPr bwMode="auto">
              <a:xfrm>
                <a:off x="2213510" y="4695548"/>
                <a:ext cx="2503487" cy="73818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𝑑𝐼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𝑛𝑞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⃗"/>
                              <m:ctrlP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</m:d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⊥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2">
                <a:extLst>
                  <a:ext uri="{FF2B5EF4-FFF2-40B4-BE49-F238E27FC236}">
                    <a16:creationId xmlns:a16="http://schemas.microsoft.com/office/drawing/2014/main" id="{0A67FE65-7AE5-8DA5-BF3D-9FA92345FE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3510" y="4695548"/>
                <a:ext cx="2503487" cy="73818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Object 2">
                <a:extLst>
                  <a:ext uri="{FF2B5EF4-FFF2-40B4-BE49-F238E27FC236}">
                    <a16:creationId xmlns:a16="http://schemas.microsoft.com/office/drawing/2014/main" id="{F349A430-5005-A898-FDAF-C41228BAC098}"/>
                  </a:ext>
                </a:extLst>
              </p:cNvPr>
              <p:cNvSpPr txBox="1"/>
              <p:nvPr/>
            </p:nvSpPr>
            <p:spPr bwMode="auto">
              <a:xfrm>
                <a:off x="5697290" y="4058047"/>
                <a:ext cx="1454150" cy="117316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0" i="1"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𝑑𝐼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⊥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9" name="Object 2">
                <a:extLst>
                  <a:ext uri="{FF2B5EF4-FFF2-40B4-BE49-F238E27FC236}">
                    <a16:creationId xmlns:a16="http://schemas.microsoft.com/office/drawing/2014/main" id="{F349A430-5005-A898-FDAF-C41228BAC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97290" y="4058047"/>
                <a:ext cx="1454150" cy="117316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7128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2" grpId="0"/>
      <p:bldP spid="53" grpId="0"/>
      <p:bldP spid="3" grpId="0"/>
      <p:bldP spid="5" grpId="0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https://upload.wikimedia.org/wikipedia/commons/thumb/4/4d/Electrona_in_crystallo_fluentia.svg/300px-Electrona_in_crystallo_fluentia.svg.png">
            <a:extLst>
              <a:ext uri="{FF2B5EF4-FFF2-40B4-BE49-F238E27FC236}">
                <a16:creationId xmlns:a16="http://schemas.microsoft.com/office/drawing/2014/main" id="{8F1B2F0E-08B7-45E6-B3A3-0A0A0E6A1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4728" y="1704103"/>
            <a:ext cx="3161776" cy="2877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471" y="1377505"/>
            <a:ext cx="3915435" cy="315872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CE451F6A-F7EB-451E-B861-EA6934F79E7D}"/>
              </a:ext>
            </a:extLst>
          </p:cNvPr>
          <p:cNvSpPr/>
          <p:nvPr/>
        </p:nvSpPr>
        <p:spPr>
          <a:xfrm>
            <a:off x="855929" y="450778"/>
            <a:ext cx="506420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电流的一种经典微观图像</a:t>
            </a:r>
            <a:endParaRPr lang="en-US" sz="3200" b="1" dirty="0">
              <a:solidFill>
                <a:srgbClr val="0066F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Object 45">
                <a:extLst>
                  <a:ext uri="{FF2B5EF4-FFF2-40B4-BE49-F238E27FC236}">
                    <a16:creationId xmlns:a16="http://schemas.microsoft.com/office/drawing/2014/main" id="{1A43F12D-B07B-4598-9D58-863A72DBF956}"/>
                  </a:ext>
                </a:extLst>
              </p:cNvPr>
              <p:cNvSpPr txBox="1"/>
              <p:nvPr/>
            </p:nvSpPr>
            <p:spPr bwMode="auto">
              <a:xfrm>
                <a:off x="3957441" y="1046987"/>
                <a:ext cx="2427287" cy="7000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acc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𝒏𝒒</m:t>
                      </m:r>
                      <m:acc>
                        <m:accPr>
                          <m:chr m:val="⃗"/>
                          <m:ctrlP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e>
                      </m:acc>
                    </m:oMath>
                  </m:oMathPara>
                </a14:m>
                <a:endParaRPr lang="en-US" sz="28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8" name="Object 45">
                <a:extLst>
                  <a:ext uri="{FF2B5EF4-FFF2-40B4-BE49-F238E27FC236}">
                    <a16:creationId xmlns:a16="http://schemas.microsoft.com/office/drawing/2014/main" id="{1A43F12D-B07B-4598-9D58-863A72DBF9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57441" y="1046987"/>
                <a:ext cx="2427287" cy="7000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Object 47">
                <a:extLst>
                  <a:ext uri="{FF2B5EF4-FFF2-40B4-BE49-F238E27FC236}">
                    <a16:creationId xmlns:a16="http://schemas.microsoft.com/office/drawing/2014/main" id="{F7FF2D1A-200D-4361-9D59-C9CEE24F8FC6}"/>
                  </a:ext>
                </a:extLst>
              </p:cNvPr>
              <p:cNvSpPr txBox="1"/>
              <p:nvPr/>
            </p:nvSpPr>
            <p:spPr bwMode="auto">
              <a:xfrm>
                <a:off x="4192096" y="1980661"/>
                <a:ext cx="2247900" cy="11620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</m:acc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acc>
                        </m:e>
                        <m:sub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8" name="Object 47">
                <a:extLst>
                  <a:ext uri="{FF2B5EF4-FFF2-40B4-BE49-F238E27FC236}">
                    <a16:creationId xmlns:a16="http://schemas.microsoft.com/office/drawing/2014/main" id="{F7FF2D1A-200D-4361-9D59-C9CEE24F8F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92096" y="1980661"/>
                <a:ext cx="2247900" cy="11620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Object 49">
                <a:extLst>
                  <a:ext uri="{FF2B5EF4-FFF2-40B4-BE49-F238E27FC236}">
                    <a16:creationId xmlns:a16="http://schemas.microsoft.com/office/drawing/2014/main" id="{B49387D2-D0AD-4D49-9090-4E110B8C0461}"/>
                  </a:ext>
                </a:extLst>
              </p:cNvPr>
              <p:cNvSpPr txBox="1"/>
              <p:nvPr/>
            </p:nvSpPr>
            <p:spPr bwMode="auto">
              <a:xfrm>
                <a:off x="9651319" y="3682190"/>
                <a:ext cx="3215977" cy="6805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/>
                          <m:e/>
                        </m:mr>
                      </m:m>
                      <m:d>
                        <m:dPr>
                          <m:begChr m:val="⟨"/>
                          <m:endChr m:val="⟩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𝜏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9" name="Object 49">
                <a:extLst>
                  <a:ext uri="{FF2B5EF4-FFF2-40B4-BE49-F238E27FC236}">
                    <a16:creationId xmlns:a16="http://schemas.microsoft.com/office/drawing/2014/main" id="{B49387D2-D0AD-4D49-9090-4E110B8C04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651319" y="3682190"/>
                <a:ext cx="3215977" cy="6805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文本框 56">
            <a:extLst>
              <a:ext uri="{FF2B5EF4-FFF2-40B4-BE49-F238E27FC236}">
                <a16:creationId xmlns:a16="http://schemas.microsoft.com/office/drawing/2014/main" id="{A4EE4FA9-46AF-4BC2-83BD-2970F6FEAC9C}"/>
              </a:ext>
            </a:extLst>
          </p:cNvPr>
          <p:cNvSpPr txBox="1"/>
          <p:nvPr/>
        </p:nvSpPr>
        <p:spPr>
          <a:xfrm>
            <a:off x="9495704" y="1945911"/>
            <a:ext cx="278000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ea typeface="华文楷体" panose="02010600040101010101" pitchFamily="2" charset="-122"/>
              </a:rPr>
              <a:t>任意两次相邻碰撞之间自由飞行时间的平均值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Object 50">
                <a:extLst>
                  <a:ext uri="{FF2B5EF4-FFF2-40B4-BE49-F238E27FC236}">
                    <a16:creationId xmlns:a16="http://schemas.microsoft.com/office/drawing/2014/main" id="{AE8F2462-2A19-4021-87FD-3B89AB4C364A}"/>
                  </a:ext>
                </a:extLst>
              </p:cNvPr>
              <p:cNvSpPr txBox="1"/>
              <p:nvPr/>
            </p:nvSpPr>
            <p:spPr bwMode="auto">
              <a:xfrm>
                <a:off x="1701800" y="4823571"/>
                <a:ext cx="3084869" cy="8193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  <m:acc>
                            <m:accPr>
                              <m:chr m:val="⃗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1" name="Object 50">
                <a:extLst>
                  <a:ext uri="{FF2B5EF4-FFF2-40B4-BE49-F238E27FC236}">
                    <a16:creationId xmlns:a16="http://schemas.microsoft.com/office/drawing/2014/main" id="{AE8F2462-2A19-4021-87FD-3B89AB4C36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01800" y="4823571"/>
                <a:ext cx="3084869" cy="819313"/>
              </a:xfrm>
              <a:prstGeom prst="rect">
                <a:avLst/>
              </a:prstGeom>
              <a:blipFill>
                <a:blip r:embed="rId7"/>
                <a:stretch>
                  <a:fillRect b="-170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Object 1">
                <a:extLst>
                  <a:ext uri="{FF2B5EF4-FFF2-40B4-BE49-F238E27FC236}">
                    <a16:creationId xmlns:a16="http://schemas.microsoft.com/office/drawing/2014/main" id="{5C4BFD59-2355-4984-9874-7610D20D824A}"/>
                  </a:ext>
                </a:extLst>
              </p:cNvPr>
              <p:cNvSpPr txBox="1"/>
              <p:nvPr/>
            </p:nvSpPr>
            <p:spPr bwMode="auto">
              <a:xfrm>
                <a:off x="4930033" y="4868423"/>
                <a:ext cx="2435056" cy="8193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𝜏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2" name="Object 1">
                <a:extLst>
                  <a:ext uri="{FF2B5EF4-FFF2-40B4-BE49-F238E27FC236}">
                    <a16:creationId xmlns:a16="http://schemas.microsoft.com/office/drawing/2014/main" id="{5C4BFD59-2355-4984-9874-7610D20D8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30033" y="4868423"/>
                <a:ext cx="2435056" cy="819314"/>
              </a:xfrm>
              <a:prstGeom prst="rect">
                <a:avLst/>
              </a:prstGeom>
              <a:blipFill>
                <a:blip r:embed="rId8"/>
                <a:stretch>
                  <a:fillRect b="-10448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Object 49">
                <a:extLst>
                  <a:ext uri="{FF2B5EF4-FFF2-40B4-BE49-F238E27FC236}">
                    <a16:creationId xmlns:a16="http://schemas.microsoft.com/office/drawing/2014/main" id="{6EB95608-0AD4-1078-452B-9187E7AA6373}"/>
                  </a:ext>
                </a:extLst>
              </p:cNvPr>
              <p:cNvSpPr txBox="1"/>
              <p:nvPr/>
            </p:nvSpPr>
            <p:spPr bwMode="auto">
              <a:xfrm>
                <a:off x="4539573" y="3341898"/>
                <a:ext cx="3215977" cy="68058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acc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" name="Object 49">
                <a:extLst>
                  <a:ext uri="{FF2B5EF4-FFF2-40B4-BE49-F238E27FC236}">
                    <a16:creationId xmlns:a16="http://schemas.microsoft.com/office/drawing/2014/main" id="{6EB95608-0AD4-1078-452B-9187E7AA6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39573" y="3341898"/>
                <a:ext cx="3215977" cy="68058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>
            <a:extLst>
              <a:ext uri="{FF2B5EF4-FFF2-40B4-BE49-F238E27FC236}">
                <a16:creationId xmlns:a16="http://schemas.microsoft.com/office/drawing/2014/main" id="{820951AA-E308-03C2-BBB8-A37A55BCFC0B}"/>
              </a:ext>
            </a:extLst>
          </p:cNvPr>
          <p:cNvSpPr/>
          <p:nvPr/>
        </p:nvSpPr>
        <p:spPr>
          <a:xfrm>
            <a:off x="1651855" y="6010458"/>
            <a:ext cx="68606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solidFill>
                  <a:srgbClr val="000000"/>
                </a:solidFill>
              </a:rPr>
              <a:t>欧姆定律适用范围： 一般的金属或电解液</a:t>
            </a:r>
            <a:endParaRPr lang="en-US" sz="2800" dirty="0"/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1618FE71-672F-6231-FA62-5FE27CC05A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2372" y="5135062"/>
            <a:ext cx="521168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sz="2800" dirty="0">
                <a:latin typeface="+mn-lt"/>
                <a:ea typeface="+mn-ea"/>
              </a:rPr>
              <a:t>在一定的范围内跟实验近似符合</a:t>
            </a:r>
          </a:p>
        </p:txBody>
      </p:sp>
    </p:spTree>
    <p:extLst>
      <p:ext uri="{BB962C8B-B14F-4D97-AF65-F5344CB8AC3E}">
        <p14:creationId xmlns:p14="http://schemas.microsoft.com/office/powerpoint/2010/main" val="760777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57" grpId="0"/>
      <p:bldP spid="61" grpId="0"/>
      <p:bldP spid="62" grpId="0"/>
      <p:bldP spid="3" grpId="0"/>
      <p:bldP spid="5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0482" name="Object 2"/>
              <p:cNvSpPr txBox="1"/>
              <p:nvPr/>
            </p:nvSpPr>
            <p:spPr>
              <a:xfrm>
                <a:off x="2558691" y="2627709"/>
                <a:ext cx="3429000" cy="11239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zh-CN" altLang="en-US" sz="28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𝑟𝑙</m:t>
                          </m:r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48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8691" y="2627709"/>
                <a:ext cx="3429000" cy="112395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3" name="Object 3"/>
              <p:cNvSpPr txBox="1"/>
              <p:nvPr/>
            </p:nvSpPr>
            <p:spPr>
              <a:xfrm>
                <a:off x="2209800" y="3784600"/>
                <a:ext cx="4572000" cy="11684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𝑟𝑙</m:t>
                              </m:r>
                            </m:den>
                          </m:f>
                        </m:e>
                      </m:nary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b="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48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800" y="3784600"/>
                <a:ext cx="4572000" cy="11684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484" name="Object 4"/>
              <p:cNvSpPr txBox="1"/>
              <p:nvPr/>
            </p:nvSpPr>
            <p:spPr>
              <a:xfrm>
                <a:off x="2590800" y="5181601"/>
                <a:ext cx="3810000" cy="11779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𝑈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den>
                      </m:f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𝑙𝑈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048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5181601"/>
                <a:ext cx="3810000" cy="117792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5"/>
          <p:cNvGrpSpPr/>
          <p:nvPr/>
        </p:nvGrpSpPr>
        <p:grpSpPr>
          <a:xfrm>
            <a:off x="799741" y="2491422"/>
            <a:ext cx="2128838" cy="777875"/>
            <a:chOff x="243" y="1543"/>
            <a:chExt cx="1341" cy="490"/>
          </a:xfrm>
          <a:noFill/>
        </p:grpSpPr>
        <p:sp>
          <p:nvSpPr>
            <p:cNvPr id="20486" name="Rectangle 6"/>
            <p:cNvSpPr>
              <a:spLocks noChangeArrowheads="1"/>
            </p:cNvSpPr>
            <p:nvPr/>
          </p:nvSpPr>
          <p:spPr bwMode="auto">
            <a:xfrm>
              <a:off x="243" y="1543"/>
              <a:ext cx="864" cy="336"/>
            </a:xfrm>
            <a:prstGeom prst="rect">
              <a:avLst/>
            </a:prstGeom>
            <a:grpFill/>
            <a:ln w="9525">
              <a:noFill/>
              <a:miter lim="800000"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/>
            </a:p>
          </p:txBody>
        </p:sp>
        <p:sp>
          <p:nvSpPr>
            <p:cNvPr id="27682" name="Text Box 7"/>
            <p:cNvSpPr txBox="1"/>
            <p:nvPr/>
          </p:nvSpPr>
          <p:spPr>
            <a:xfrm>
              <a:off x="288" y="1706"/>
              <a:ext cx="1296" cy="327"/>
            </a:xfrm>
            <a:prstGeom prst="rect">
              <a:avLst/>
            </a:prstGeom>
            <a:grp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50000"/>
                </a:spcBef>
                <a:buNone/>
              </a:pPr>
              <a:r>
                <a:rPr lang="zh-CN" altLang="en-US" sz="2800" dirty="0"/>
                <a:t>解法一</a:t>
              </a:r>
            </a:p>
          </p:txBody>
        </p:sp>
      </p:grpSp>
      <p:sp>
        <p:nvSpPr>
          <p:cNvPr id="27654" name="Text Box 9"/>
          <p:cNvSpPr txBox="1"/>
          <p:nvPr/>
        </p:nvSpPr>
        <p:spPr>
          <a:xfrm>
            <a:off x="1177290" y="742156"/>
            <a:ext cx="8534400" cy="181588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800" dirty="0"/>
              <a:t>       例： 一内、外半径分别为     和       的金属圆筒，长度     ,  两筒间充满电阻率为   的均匀材料，若筒内外电势差为     ，且筒内缘电势高，圆柱体中径向的电流强度为多少 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7655" name="Object 10"/>
              <p:cNvSpPr txBox="1"/>
              <p:nvPr/>
            </p:nvSpPr>
            <p:spPr>
              <a:xfrm>
                <a:off x="5848509" y="764383"/>
                <a:ext cx="490537" cy="5445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655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8509" y="764383"/>
                <a:ext cx="490537" cy="5445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6" name="Object 11"/>
              <p:cNvSpPr txBox="1"/>
              <p:nvPr/>
            </p:nvSpPr>
            <p:spPr>
              <a:xfrm>
                <a:off x="6758940" y="772320"/>
                <a:ext cx="533400" cy="52863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656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940" y="772320"/>
                <a:ext cx="533400" cy="52863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7" name="Object 12"/>
              <p:cNvSpPr txBox="1"/>
              <p:nvPr/>
            </p:nvSpPr>
            <p:spPr>
              <a:xfrm>
                <a:off x="2045653" y="1197770"/>
                <a:ext cx="430212" cy="53498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𝑙</m:t>
                      </m:r>
                    </m:oMath>
                  </m:oMathPara>
                </a14:m>
                <a:endParaRPr lang="zh-CN" altLang="en-US" sz="280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65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5653" y="1197770"/>
                <a:ext cx="430212" cy="5349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8" name="Object 13"/>
              <p:cNvSpPr txBox="1"/>
              <p:nvPr/>
            </p:nvSpPr>
            <p:spPr>
              <a:xfrm>
                <a:off x="5815012" y="1100049"/>
                <a:ext cx="409575" cy="4572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658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5012" y="1100049"/>
                <a:ext cx="409575" cy="457200"/>
              </a:xfrm>
              <a:prstGeom prst="rect">
                <a:avLst/>
              </a:prstGeom>
              <a:blipFill>
                <a:blip r:embed="rId8"/>
                <a:stretch>
                  <a:fillRect b="-266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659" name="Object 14"/>
              <p:cNvSpPr txBox="1"/>
              <p:nvPr/>
            </p:nvSpPr>
            <p:spPr>
              <a:xfrm>
                <a:off x="3083560" y="1591623"/>
                <a:ext cx="381000" cy="3810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659" name="Object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3560" y="1591623"/>
                <a:ext cx="381000" cy="381000"/>
              </a:xfrm>
              <a:prstGeom prst="rect">
                <a:avLst/>
              </a:prstGeom>
              <a:blipFill>
                <a:blip r:embed="rId9"/>
                <a:stretch>
                  <a:fillRect b="-3175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15"/>
          <p:cNvGrpSpPr/>
          <p:nvPr/>
        </p:nvGrpSpPr>
        <p:grpSpPr>
          <a:xfrm>
            <a:off x="7711440" y="2430462"/>
            <a:ext cx="2593975" cy="2708275"/>
            <a:chOff x="3792" y="1824"/>
            <a:chExt cx="1634" cy="1706"/>
          </a:xfrm>
        </p:grpSpPr>
        <p:sp>
          <p:nvSpPr>
            <p:cNvPr id="27666" name="AutoShape 17"/>
            <p:cNvSpPr/>
            <p:nvPr/>
          </p:nvSpPr>
          <p:spPr>
            <a:xfrm>
              <a:off x="3812" y="2112"/>
              <a:ext cx="1248" cy="1418"/>
            </a:xfrm>
            <a:prstGeom prst="can">
              <a:avLst>
                <a:gd name="adj" fmla="val 42056"/>
              </a:avLst>
            </a:prstGeom>
            <a:gradFill rotWithShape="0">
              <a:gsLst>
                <a:gs pos="0">
                  <a:srgbClr val="2F7676"/>
                </a:gs>
                <a:gs pos="50000">
                  <a:srgbClr val="66FFFF"/>
                </a:gs>
                <a:gs pos="100000">
                  <a:srgbClr val="2F7676"/>
                </a:gs>
              </a:gsLst>
              <a:lin ang="0" scaled="1"/>
              <a:tileRect/>
            </a:gra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800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67" name="Object 18"/>
                <p:cNvSpPr txBox="1"/>
                <p:nvPr/>
              </p:nvSpPr>
              <p:spPr>
                <a:xfrm>
                  <a:off x="4032" y="2544"/>
                  <a:ext cx="292" cy="32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925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sz="2800" b="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667" name="Object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2" y="2544"/>
                  <a:ext cx="292" cy="32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668" name="Line 19"/>
            <p:cNvSpPr/>
            <p:nvPr/>
          </p:nvSpPr>
          <p:spPr>
            <a:xfrm>
              <a:off x="5040" y="2337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27669" name="Line 20"/>
            <p:cNvSpPr/>
            <p:nvPr/>
          </p:nvSpPr>
          <p:spPr>
            <a:xfrm>
              <a:off x="5040" y="3297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27670" name="Line 21"/>
            <p:cNvSpPr/>
            <p:nvPr/>
          </p:nvSpPr>
          <p:spPr>
            <a:xfrm>
              <a:off x="5232" y="2337"/>
              <a:ext cx="0" cy="96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dash"/>
              <a:headEnd type="triangle" w="sm" len="lg"/>
              <a:tailEnd type="triangle" w="sm" len="lg"/>
            </a:ln>
          </p:spPr>
        </p:sp>
        <p:sp>
          <p:nvSpPr>
            <p:cNvPr id="27671" name="Line 22"/>
            <p:cNvSpPr/>
            <p:nvPr/>
          </p:nvSpPr>
          <p:spPr>
            <a:xfrm flipV="1">
              <a:off x="4224" y="1872"/>
              <a:ext cx="0" cy="52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72" name="Line 23"/>
            <p:cNvSpPr/>
            <p:nvPr/>
          </p:nvSpPr>
          <p:spPr>
            <a:xfrm flipV="1">
              <a:off x="3806" y="1905"/>
              <a:ext cx="0" cy="48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7673" name="Line 24"/>
            <p:cNvSpPr/>
            <p:nvPr/>
          </p:nvSpPr>
          <p:spPr>
            <a:xfrm flipV="1">
              <a:off x="3792" y="2064"/>
              <a:ext cx="432" cy="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dash"/>
              <a:headEnd type="triangl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74" name="Object 25"/>
                <p:cNvSpPr txBox="1"/>
                <p:nvPr/>
              </p:nvSpPr>
              <p:spPr>
                <a:xfrm>
                  <a:off x="5184" y="2625"/>
                  <a:ext cx="242" cy="34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674" name="Object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4" y="2625"/>
                  <a:ext cx="242" cy="344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506" name="Oval 26"/>
            <p:cNvSpPr>
              <a:spLocks noChangeArrowheads="1"/>
            </p:cNvSpPr>
            <p:nvPr/>
          </p:nvSpPr>
          <p:spPr bwMode="auto">
            <a:xfrm>
              <a:off x="4224" y="2304"/>
              <a:ext cx="384" cy="144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shade val="6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/>
            </a:p>
          </p:txBody>
        </p:sp>
        <p:grpSp>
          <p:nvGrpSpPr>
            <p:cNvPr id="27676" name="Group 27"/>
            <p:cNvGrpSpPr/>
            <p:nvPr/>
          </p:nvGrpSpPr>
          <p:grpSpPr>
            <a:xfrm>
              <a:off x="4416" y="2208"/>
              <a:ext cx="480" cy="315"/>
              <a:chOff x="4416" y="2160"/>
              <a:chExt cx="451" cy="315"/>
            </a:xfrm>
          </p:grpSpPr>
          <p:sp>
            <p:nvSpPr>
              <p:cNvPr id="27679" name="Line 28"/>
              <p:cNvSpPr/>
              <p:nvPr/>
            </p:nvSpPr>
            <p:spPr>
              <a:xfrm>
                <a:off x="4416" y="2304"/>
                <a:ext cx="192" cy="48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680" name="Object 29"/>
                  <p:cNvSpPr txBox="1"/>
                  <p:nvPr/>
                </p:nvSpPr>
                <p:spPr>
                  <a:xfrm>
                    <a:off x="4608" y="2160"/>
                    <a:ext cx="259" cy="31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 fontScale="92500"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sz="28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 sz="280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7680" name="Object 2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8" y="2160"/>
                    <a:ext cx="259" cy="31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77" name="Object 30"/>
                <p:cNvSpPr txBox="1"/>
                <p:nvPr/>
              </p:nvSpPr>
              <p:spPr>
                <a:xfrm>
                  <a:off x="3888" y="1824"/>
                  <a:ext cx="240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677" name="Object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" y="1824"/>
                  <a:ext cx="240" cy="240"/>
                </a:xfrm>
                <a:prstGeom prst="rect">
                  <a:avLst/>
                </a:prstGeom>
                <a:blipFill>
                  <a:blip r:embed="rId13"/>
                  <a:stretch>
                    <a:fillRect b="-3226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678" name="Line 31"/>
            <p:cNvSpPr/>
            <p:nvPr/>
          </p:nvSpPr>
          <p:spPr>
            <a:xfrm flipH="1">
              <a:off x="4128" y="2352"/>
              <a:ext cx="288" cy="255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5" name="Group 32"/>
          <p:cNvGrpSpPr/>
          <p:nvPr/>
        </p:nvGrpSpPr>
        <p:grpSpPr>
          <a:xfrm>
            <a:off x="7940040" y="2963862"/>
            <a:ext cx="1600200" cy="609600"/>
            <a:chOff x="3936" y="1248"/>
            <a:chExt cx="1008" cy="384"/>
          </a:xfrm>
        </p:grpSpPr>
        <p:sp>
          <p:nvSpPr>
            <p:cNvPr id="27662" name="AutoShape 33"/>
            <p:cNvSpPr/>
            <p:nvPr/>
          </p:nvSpPr>
          <p:spPr>
            <a:xfrm>
              <a:off x="3936" y="1296"/>
              <a:ext cx="1008" cy="336"/>
            </a:xfrm>
            <a:custGeom>
              <a:avLst/>
              <a:gdLst>
                <a:gd name="txL" fmla="*/ 3171 w 21600"/>
                <a:gd name="txT" fmla="*/ 3150 h 21600"/>
                <a:gd name="txR" fmla="*/ 18429 w 21600"/>
                <a:gd name="txB" fmla="*/ 18450 h 21600"/>
              </a:gdLst>
              <a:ahLst/>
              <a:cxnLst>
                <a:cxn ang="0">
                  <a:pos x="24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7" y="4"/>
                </a:cxn>
                <a:cxn ang="0">
                  <a:pos x="24" y="5"/>
                </a:cxn>
                <a:cxn ang="0">
                  <a:pos x="40" y="4"/>
                </a:cxn>
                <a:cxn ang="0">
                  <a:pos x="47" y="3"/>
                </a:cxn>
                <a:cxn ang="0">
                  <a:pos x="40" y="1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02" y="10800"/>
                  </a:moveTo>
                  <a:cubicBezTo>
                    <a:pt x="1902" y="15714"/>
                    <a:pt x="5886" y="19698"/>
                    <a:pt x="10800" y="19698"/>
                  </a:cubicBezTo>
                  <a:cubicBezTo>
                    <a:pt x="15714" y="19698"/>
                    <a:pt x="19698" y="15714"/>
                    <a:pt x="19698" y="10800"/>
                  </a:cubicBezTo>
                  <a:cubicBezTo>
                    <a:pt x="19698" y="5886"/>
                    <a:pt x="15714" y="1902"/>
                    <a:pt x="10800" y="1902"/>
                  </a:cubicBezTo>
                  <a:cubicBezTo>
                    <a:pt x="5886" y="1902"/>
                    <a:pt x="1902" y="5886"/>
                    <a:pt x="1902" y="10800"/>
                  </a:cubicBezTo>
                  <a:close/>
                </a:path>
              </a:pathLst>
            </a:custGeom>
            <a:solidFill>
              <a:srgbClr val="F5C5BB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7663" name="Line 34"/>
            <p:cNvSpPr/>
            <p:nvPr/>
          </p:nvSpPr>
          <p:spPr>
            <a:xfrm flipH="1">
              <a:off x="4028" y="1440"/>
              <a:ext cx="416" cy="48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664" name="Object 35"/>
                <p:cNvSpPr txBox="1"/>
                <p:nvPr/>
              </p:nvSpPr>
              <p:spPr>
                <a:xfrm>
                  <a:off x="4012" y="1248"/>
                  <a:ext cx="196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 sz="280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7664" name="Object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2" y="1248"/>
                  <a:ext cx="196" cy="240"/>
                </a:xfrm>
                <a:prstGeom prst="rect">
                  <a:avLst/>
                </a:prstGeom>
                <a:blipFill>
                  <a:blip r:embed="rId14"/>
                  <a:stretch>
                    <a:fillRect b="-1587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275512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/>
      <p:bldP spid="20483" grpId="0"/>
      <p:bldP spid="2048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1506" name="Object 2"/>
              <p:cNvSpPr txBox="1"/>
              <p:nvPr/>
            </p:nvSpPr>
            <p:spPr>
              <a:xfrm>
                <a:off x="2288540" y="1581309"/>
                <a:ext cx="3657600" cy="7429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𝑟𝑙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50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540" y="1581309"/>
                <a:ext cx="3657600" cy="742950"/>
              </a:xfrm>
              <a:prstGeom prst="rect">
                <a:avLst/>
              </a:prstGeom>
              <a:blipFill>
                <a:blip r:embed="rId2"/>
                <a:stretch>
                  <a:fillRect b="-16393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7" name="Object 3"/>
              <p:cNvSpPr txBox="1"/>
              <p:nvPr/>
            </p:nvSpPr>
            <p:spPr>
              <a:xfrm>
                <a:off x="2856865" y="2669065"/>
                <a:ext cx="2286000" cy="13811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𝑟𝑙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50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6865" y="2669065"/>
                <a:ext cx="2286000" cy="13811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8" name="Object 4"/>
              <p:cNvSpPr txBox="1"/>
              <p:nvPr/>
            </p:nvSpPr>
            <p:spPr>
              <a:xfrm>
                <a:off x="2017871" y="4050190"/>
                <a:ext cx="1858963" cy="128905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𝑟𝑙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50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7871" y="4050190"/>
                <a:ext cx="1858963" cy="128905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509" name="Object 5"/>
              <p:cNvSpPr txBox="1"/>
              <p:nvPr/>
            </p:nvSpPr>
            <p:spPr>
              <a:xfrm>
                <a:off x="3999071" y="3992245"/>
                <a:ext cx="6561138" cy="11207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subHide m:val="on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num>
                            <m:den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m:rPr>
                                  <m:sty m:val="p"/>
                                </m:r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𝑙𝑟</m:t>
                              </m:r>
                            </m:den>
                          </m:f>
                        </m:e>
                      </m:nary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π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𝑙</m:t>
                          </m:r>
                        </m:den>
                      </m:f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8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509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071" y="3992245"/>
                <a:ext cx="6561138" cy="1120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7"/>
          <p:cNvGrpSpPr/>
          <p:nvPr/>
        </p:nvGrpSpPr>
        <p:grpSpPr>
          <a:xfrm>
            <a:off x="7127240" y="1061720"/>
            <a:ext cx="2593975" cy="2708275"/>
            <a:chOff x="3792" y="1824"/>
            <a:chExt cx="1634" cy="1706"/>
          </a:xfrm>
        </p:grpSpPr>
        <p:sp>
          <p:nvSpPr>
            <p:cNvPr id="28685" name="AutoShape 9"/>
            <p:cNvSpPr/>
            <p:nvPr/>
          </p:nvSpPr>
          <p:spPr>
            <a:xfrm>
              <a:off x="3812" y="2112"/>
              <a:ext cx="1248" cy="1418"/>
            </a:xfrm>
            <a:prstGeom prst="can">
              <a:avLst>
                <a:gd name="adj" fmla="val 42056"/>
              </a:avLst>
            </a:prstGeom>
            <a:gradFill rotWithShape="0">
              <a:gsLst>
                <a:gs pos="0">
                  <a:srgbClr val="2F7676"/>
                </a:gs>
                <a:gs pos="50000">
                  <a:srgbClr val="66FFFF"/>
                </a:gs>
                <a:gs pos="100000">
                  <a:srgbClr val="2F7676"/>
                </a:gs>
              </a:gsLst>
              <a:lin ang="0" scaled="1"/>
              <a:tileRect/>
            </a:gradFill>
            <a:ln w="12700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86" name="Object 10"/>
                <p:cNvSpPr txBox="1"/>
                <p:nvPr/>
              </p:nvSpPr>
              <p:spPr>
                <a:xfrm>
                  <a:off x="4032" y="2544"/>
                  <a:ext cx="292" cy="32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zh-CN" altLang="en-US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8686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2" y="2544"/>
                  <a:ext cx="292" cy="32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687" name="Line 11"/>
            <p:cNvSpPr/>
            <p:nvPr/>
          </p:nvSpPr>
          <p:spPr>
            <a:xfrm>
              <a:off x="5040" y="2337"/>
              <a:ext cx="384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28688" name="Line 12"/>
            <p:cNvSpPr/>
            <p:nvPr/>
          </p:nvSpPr>
          <p:spPr>
            <a:xfrm>
              <a:off x="5040" y="3297"/>
              <a:ext cx="33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dash"/>
              <a:headEnd type="none" w="med" len="med"/>
              <a:tailEnd type="none" w="sm" len="lg"/>
            </a:ln>
          </p:spPr>
        </p:sp>
        <p:sp>
          <p:nvSpPr>
            <p:cNvPr id="28689" name="Line 13"/>
            <p:cNvSpPr/>
            <p:nvPr/>
          </p:nvSpPr>
          <p:spPr>
            <a:xfrm>
              <a:off x="5232" y="2337"/>
              <a:ext cx="0" cy="96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dash"/>
              <a:headEnd type="triangle" w="sm" len="lg"/>
              <a:tailEnd type="triangle" w="sm" len="lg"/>
            </a:ln>
          </p:spPr>
        </p:sp>
        <p:sp>
          <p:nvSpPr>
            <p:cNvPr id="28690" name="Line 14"/>
            <p:cNvSpPr/>
            <p:nvPr/>
          </p:nvSpPr>
          <p:spPr>
            <a:xfrm flipV="1">
              <a:off x="4224" y="1872"/>
              <a:ext cx="0" cy="528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691" name="Line 15"/>
            <p:cNvSpPr/>
            <p:nvPr/>
          </p:nvSpPr>
          <p:spPr>
            <a:xfrm flipV="1">
              <a:off x="3806" y="1905"/>
              <a:ext cx="0" cy="480"/>
            </a:xfrm>
            <a:prstGeom prst="line">
              <a:avLst/>
            </a:prstGeom>
            <a:ln w="19050" cap="flat" cmpd="sng">
              <a:solidFill>
                <a:srgbClr val="0000FF"/>
              </a:solidFill>
              <a:prstDash val="dash"/>
              <a:headEnd type="none" w="med" len="med"/>
              <a:tailEnd type="none" w="med" len="med"/>
            </a:ln>
          </p:spPr>
        </p:sp>
        <p:sp>
          <p:nvSpPr>
            <p:cNvPr id="28692" name="Line 16"/>
            <p:cNvSpPr/>
            <p:nvPr/>
          </p:nvSpPr>
          <p:spPr>
            <a:xfrm flipV="1">
              <a:off x="3792" y="2064"/>
              <a:ext cx="432" cy="0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dash"/>
              <a:headEnd type="triangle" w="sm" len="lg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93" name="Object 17"/>
                <p:cNvSpPr txBox="1"/>
                <p:nvPr/>
              </p:nvSpPr>
              <p:spPr>
                <a:xfrm>
                  <a:off x="5184" y="2625"/>
                  <a:ext cx="242" cy="344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8693" name="Object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4" y="2625"/>
                  <a:ext cx="242" cy="344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522" name="Oval 18"/>
            <p:cNvSpPr>
              <a:spLocks noChangeArrowheads="1"/>
            </p:cNvSpPr>
            <p:nvPr/>
          </p:nvSpPr>
          <p:spPr bwMode="auto">
            <a:xfrm>
              <a:off x="4224" y="2304"/>
              <a:ext cx="384" cy="144"/>
            </a:xfrm>
            <a:prstGeom prst="ellipse">
              <a:avLst/>
            </a:prstGeom>
            <a:gradFill rotWithShape="0">
              <a:gsLst>
                <a:gs pos="0">
                  <a:schemeClr val="accent1"/>
                </a:gs>
                <a:gs pos="50000">
                  <a:schemeClr val="accent1">
                    <a:gamma/>
                    <a:shade val="66275"/>
                    <a:invGamma/>
                  </a:schemeClr>
                </a:gs>
                <a:gs pos="100000">
                  <a:schemeClr val="accent1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endParaRPr lang="zh-CN" altLang="en-US" sz="2800" b="1">
                <a:solidFill>
                  <a:srgbClr val="1C1C1C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grpSp>
          <p:nvGrpSpPr>
            <p:cNvPr id="28695" name="Group 19"/>
            <p:cNvGrpSpPr/>
            <p:nvPr/>
          </p:nvGrpSpPr>
          <p:grpSpPr>
            <a:xfrm>
              <a:off x="4416" y="2208"/>
              <a:ext cx="480" cy="315"/>
              <a:chOff x="4416" y="2160"/>
              <a:chExt cx="451" cy="315"/>
            </a:xfrm>
          </p:grpSpPr>
          <p:sp>
            <p:nvSpPr>
              <p:cNvPr id="28698" name="Line 20"/>
              <p:cNvSpPr/>
              <p:nvPr/>
            </p:nvSpPr>
            <p:spPr>
              <a:xfrm>
                <a:off x="4416" y="2304"/>
                <a:ext cx="192" cy="48"/>
              </a:xfrm>
              <a:prstGeom prst="line">
                <a:avLst/>
              </a:prstGeom>
              <a:ln w="28575" cap="flat" cmpd="sng">
                <a:solidFill>
                  <a:srgbClr val="FF6600"/>
                </a:solidFill>
                <a:prstDash val="solid"/>
                <a:headEnd type="none" w="med" len="med"/>
                <a:tailEnd type="triangle" w="sm" len="lg"/>
              </a:ln>
            </p:spPr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699" name="Object 21"/>
                  <p:cNvSpPr txBox="1"/>
                  <p:nvPr/>
                </p:nvSpPr>
                <p:spPr>
                  <a:xfrm>
                    <a:off x="4608" y="2160"/>
                    <a:ext cx="259" cy="315"/>
                  </a:xfrm>
                  <a:prstGeom prst="rect">
                    <a:avLst/>
                  </a:prstGeom>
                  <a:noFill/>
                  <a:ln w="38100">
                    <a:noFill/>
                    <a:miter/>
                  </a:ln>
                </p:spPr>
                <p:txBody>
                  <a:bodyPr>
                    <a:norm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left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zh-CN" altLang="en-US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zh-CN" altLang="en-US"/>
                  </a:p>
                </p:txBody>
              </p:sp>
            </mc:Choice>
            <mc:Fallback xmlns="">
              <p:sp>
                <p:nvSpPr>
                  <p:cNvPr id="28699" name="Object 2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608" y="2160"/>
                    <a:ext cx="259" cy="315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38100">
                    <a:noFill/>
                    <a:miter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96" name="Object 22"/>
                <p:cNvSpPr txBox="1"/>
                <p:nvPr/>
              </p:nvSpPr>
              <p:spPr>
                <a:xfrm>
                  <a:off x="3888" y="1824"/>
                  <a:ext cx="240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𝑈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8696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88" y="1824"/>
                  <a:ext cx="240" cy="24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697" name="Line 23"/>
            <p:cNvSpPr/>
            <p:nvPr/>
          </p:nvSpPr>
          <p:spPr>
            <a:xfrm flipH="1">
              <a:off x="4128" y="2352"/>
              <a:ext cx="288" cy="255"/>
            </a:xfrm>
            <a:prstGeom prst="line">
              <a:avLst/>
            </a:prstGeom>
            <a:ln w="19050" cap="flat" cmpd="sng">
              <a:solidFill>
                <a:srgbClr val="FF6600"/>
              </a:solidFill>
              <a:prstDash val="solid"/>
              <a:headEnd type="none" w="med" len="med"/>
              <a:tailEnd type="triangle" w="sm" len="lg"/>
            </a:ln>
          </p:spPr>
        </p:sp>
      </p:grpSp>
      <p:grpSp>
        <p:nvGrpSpPr>
          <p:cNvPr id="4" name="Group 24"/>
          <p:cNvGrpSpPr/>
          <p:nvPr/>
        </p:nvGrpSpPr>
        <p:grpSpPr>
          <a:xfrm>
            <a:off x="7355840" y="1595120"/>
            <a:ext cx="1600200" cy="609600"/>
            <a:chOff x="3936" y="1248"/>
            <a:chExt cx="1008" cy="384"/>
          </a:xfrm>
        </p:grpSpPr>
        <p:sp>
          <p:nvSpPr>
            <p:cNvPr id="28681" name="AutoShape 25"/>
            <p:cNvSpPr/>
            <p:nvPr/>
          </p:nvSpPr>
          <p:spPr>
            <a:xfrm>
              <a:off x="3936" y="1296"/>
              <a:ext cx="1008" cy="336"/>
            </a:xfrm>
            <a:custGeom>
              <a:avLst/>
              <a:gdLst>
                <a:gd name="txL" fmla="*/ 3171 w 21600"/>
                <a:gd name="txT" fmla="*/ 3150 h 21600"/>
                <a:gd name="txR" fmla="*/ 18429 w 21600"/>
                <a:gd name="txB" fmla="*/ 18450 h 21600"/>
              </a:gdLst>
              <a:ahLst/>
              <a:cxnLst>
                <a:cxn ang="0">
                  <a:pos x="24" y="0"/>
                </a:cxn>
                <a:cxn ang="0">
                  <a:pos x="7" y="1"/>
                </a:cxn>
                <a:cxn ang="0">
                  <a:pos x="0" y="3"/>
                </a:cxn>
                <a:cxn ang="0">
                  <a:pos x="7" y="4"/>
                </a:cxn>
                <a:cxn ang="0">
                  <a:pos x="24" y="5"/>
                </a:cxn>
                <a:cxn ang="0">
                  <a:pos x="40" y="4"/>
                </a:cxn>
                <a:cxn ang="0">
                  <a:pos x="47" y="3"/>
                </a:cxn>
                <a:cxn ang="0">
                  <a:pos x="40" y="1"/>
                </a:cxn>
              </a:cxnLst>
              <a:rect l="txL" t="txT" r="txR" b="txB"/>
              <a:pathLst>
                <a:path w="21600" h="21600">
                  <a:moveTo>
                    <a:pt x="0" y="10800"/>
                  </a:moveTo>
                  <a:cubicBezTo>
                    <a:pt x="0" y="4835"/>
                    <a:pt x="4835" y="0"/>
                    <a:pt x="10800" y="0"/>
                  </a:cubicBezTo>
                  <a:cubicBezTo>
                    <a:pt x="16765" y="0"/>
                    <a:pt x="21600" y="4835"/>
                    <a:pt x="21600" y="10800"/>
                  </a:cubicBezTo>
                  <a:cubicBezTo>
                    <a:pt x="21600" y="16765"/>
                    <a:pt x="16765" y="21600"/>
                    <a:pt x="10800" y="21600"/>
                  </a:cubicBezTo>
                  <a:cubicBezTo>
                    <a:pt x="4835" y="21600"/>
                    <a:pt x="0" y="16765"/>
                    <a:pt x="0" y="10800"/>
                  </a:cubicBezTo>
                  <a:close/>
                  <a:moveTo>
                    <a:pt x="1902" y="10800"/>
                  </a:moveTo>
                  <a:cubicBezTo>
                    <a:pt x="1902" y="15714"/>
                    <a:pt x="5886" y="19698"/>
                    <a:pt x="10800" y="19698"/>
                  </a:cubicBezTo>
                  <a:cubicBezTo>
                    <a:pt x="15714" y="19698"/>
                    <a:pt x="19698" y="15714"/>
                    <a:pt x="19698" y="10800"/>
                  </a:cubicBezTo>
                  <a:cubicBezTo>
                    <a:pt x="19698" y="5886"/>
                    <a:pt x="15714" y="1902"/>
                    <a:pt x="10800" y="1902"/>
                  </a:cubicBezTo>
                  <a:cubicBezTo>
                    <a:pt x="5886" y="1902"/>
                    <a:pt x="1902" y="5886"/>
                    <a:pt x="1902" y="10800"/>
                  </a:cubicBezTo>
                  <a:close/>
                </a:path>
              </a:pathLst>
            </a:custGeom>
            <a:solidFill>
              <a:srgbClr val="F5C5BB">
                <a:alpha val="100000"/>
              </a:srgbClr>
            </a:solidFill>
            <a:ln w="9525" cap="flat" cmpd="sng">
              <a:solidFill>
                <a:schemeClr val="tx1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82" name="Line 26"/>
            <p:cNvSpPr/>
            <p:nvPr/>
          </p:nvSpPr>
          <p:spPr>
            <a:xfrm flipH="1">
              <a:off x="4028" y="1440"/>
              <a:ext cx="416" cy="48"/>
            </a:xfrm>
            <a:prstGeom prst="line">
              <a:avLst/>
            </a:prstGeom>
            <a:ln w="19050" cap="flat" cmpd="sng">
              <a:solidFill>
                <a:srgbClr val="FF0066"/>
              </a:solidFill>
              <a:prstDash val="solid"/>
              <a:headEnd type="none" w="med" len="med"/>
              <a:tailEnd type="triangle" w="sm" len="lg"/>
            </a:ln>
          </p:spPr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683" name="Object 27"/>
                <p:cNvSpPr txBox="1"/>
                <p:nvPr/>
              </p:nvSpPr>
              <p:spPr>
                <a:xfrm>
                  <a:off x="4012" y="1248"/>
                  <a:ext cx="196" cy="240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28683" name="Object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2" y="1248"/>
                  <a:ext cx="196" cy="24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" name="Text Box 7">
            <a:extLst>
              <a:ext uri="{FF2B5EF4-FFF2-40B4-BE49-F238E27FC236}">
                <a16:creationId xmlns:a16="http://schemas.microsoft.com/office/drawing/2014/main" id="{1046C3D9-CC0D-93A5-5E3E-0471BCFC2B54}"/>
              </a:ext>
            </a:extLst>
          </p:cNvPr>
          <p:cNvSpPr txBox="1"/>
          <p:nvPr/>
        </p:nvSpPr>
        <p:spPr>
          <a:xfrm>
            <a:off x="1394419" y="930751"/>
            <a:ext cx="2057400" cy="519113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50000"/>
              </a:spcBef>
              <a:buNone/>
            </a:pPr>
            <a:r>
              <a:rPr lang="zh-CN" altLang="en-US" sz="2800" dirty="0"/>
              <a:t>解法二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FB8A62A6-583B-9D65-72FB-B1DC5FAD38C9}"/>
                  </a:ext>
                </a:extLst>
              </p:cNvPr>
              <p:cNvSpPr txBox="1"/>
              <p:nvPr/>
            </p:nvSpPr>
            <p:spPr>
              <a:xfrm>
                <a:off x="4117340" y="5217795"/>
                <a:ext cx="3810000" cy="117792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type m:val="lin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𝑙𝑈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func>
                            <m:funcPr>
                              <m:ctrlPr>
                                <a:rPr lang="zh-CN" altLang="en-US" sz="28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zh-CN" altLang="en-US" sz="2800" b="0" i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zh-CN" altLang="en-US" sz="280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zh-CN" alt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zh-CN" altLang="en-US" sz="2800" b="0" i="1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func>
                        </m:den>
                      </m:f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" name="Object 4">
                <a:extLst>
                  <a:ext uri="{FF2B5EF4-FFF2-40B4-BE49-F238E27FC236}">
                    <a16:creationId xmlns:a16="http://schemas.microsoft.com/office/drawing/2014/main" id="{FB8A62A6-583B-9D65-72FB-B1DC5FAD38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7340" y="5217795"/>
                <a:ext cx="3810000" cy="117792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6936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/>
      <p:bldP spid="21507" grpId="0"/>
      <p:bldP spid="21508" grpId="0"/>
      <p:bldP spid="21509" grpId="0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1B28F26-FA1A-904F-13D3-F60AF1EA3F8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此刻两导体之间电流与导体尺寸相关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1159A04-9BB6-581F-8C31-6B973FB181B5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此刻两导体之间电流与导体距离相关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AE9168D-CFBC-A5D5-EE64-74C82BE592E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此刻两导体之间电流与导体带电量相关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CC87762-95C8-84B7-60CA-397CBF2F789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此刻两导体之间电流与周围物质的电阻率和电容率相关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451054B-77D2-D024-9758-8606D0D652F2}"/>
              </a:ext>
            </a:extLst>
          </p:cNvPr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285035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C11C6E-DBFE-3F33-9BC0-F5A6CB2296AC}"/>
              </a:ext>
            </a:extLst>
          </p:cNvPr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3707606"/>
            <a:ext cx="514350" cy="514350"/>
          </a:xfrm>
          <a:prstGeom prst="rect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ABF651B-EF14-DD3F-7161-75CE7880FC97}"/>
              </a:ext>
            </a:extLst>
          </p:cNvPr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456485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75DC873-70D8-E975-9ADA-90DBB874EC5C}"/>
              </a:ext>
            </a:extLst>
          </p:cNvPr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5422106"/>
            <a:ext cx="514350" cy="514350"/>
          </a:xfrm>
          <a:prstGeom prst="rect">
            <a:avLst/>
          </a:prstGeom>
          <a:solidFill>
            <a:srgbClr val="00FF00"/>
          </a:solidFill>
          <a:ln w="254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en-US" altLang="zh-CN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78774472-DEB6-3B7D-3607-E722DCE44869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 anchorCtr="1">
            <a:noAutofit/>
          </a:bodyPr>
          <a:lstStyle/>
          <a:p>
            <a:pPr algn="ctr"/>
            <a:r>
              <a:rPr lang="zh-CN" altLang="en-US" sz="16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</a:p>
        </p:txBody>
      </p:sp>
      <p:sp>
        <p:nvSpPr>
          <p:cNvPr id="20" name="Text Box 17">
            <a:extLst>
              <a:ext uri="{FF2B5EF4-FFF2-40B4-BE49-F238E27FC236}">
                <a16:creationId xmlns:a16="http://schemas.microsoft.com/office/drawing/2014/main" id="{890647CD-C39D-7305-802F-743CCD2ECC32}"/>
              </a:ext>
            </a:extLst>
          </p:cNvPr>
          <p:cNvSpPr txBox="1"/>
          <p:nvPr/>
        </p:nvSpPr>
        <p:spPr>
          <a:xfrm>
            <a:off x="1571625" y="1041955"/>
            <a:ext cx="8226425" cy="138499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两个导体</a:t>
            </a:r>
            <a:r>
              <a: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A、B </a:t>
            </a:r>
            <a:r>
              <a: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带电 </a:t>
            </a:r>
            <a:r>
              <a:rPr lang="zh-CN" altLang="en-US" sz="2800" b="1" i="1" dirty="0">
                <a:solidFill>
                  <a:srgbClr val="1C1C1C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800" b="1" i="1" dirty="0">
                <a:solidFill>
                  <a:srgbClr val="1C1C1C"/>
                </a:solidFill>
                <a:latin typeface="Times New Roman" panose="02020603050405020304" pitchFamily="18" charset="0"/>
              </a:rPr>
              <a:t>Q、+Q</a:t>
            </a:r>
            <a:r>
              <a:rPr lang="en-US" altLang="zh-CN" sz="28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</a:rPr>
              <a:t>被相对电容率     电阻率    的物质包围，假设电场是恒定的，下列说法正确的是</a:t>
            </a:r>
            <a:r>
              <a: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  <a:sym typeface="Wingdings" panose="05000000000000000000" pitchFamily="2" charset="2"/>
              </a:rPr>
              <a:t>： </a:t>
            </a:r>
            <a:endParaRPr lang="zh-CN" altLang="en-US" sz="2800" b="1" dirty="0">
              <a:solidFill>
                <a:srgbClr val="1C1C1C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18">
                <a:extLst>
                  <a:ext uri="{FF2B5EF4-FFF2-40B4-BE49-F238E27FC236}">
                    <a16:creationId xmlns:a16="http://schemas.microsoft.com/office/drawing/2014/main" id="{34DE528C-D162-26FE-485F-A3649A1E3D8A}"/>
                  </a:ext>
                </a:extLst>
              </p:cNvPr>
              <p:cNvSpPr txBox="1"/>
              <p:nvPr/>
            </p:nvSpPr>
            <p:spPr>
              <a:xfrm>
                <a:off x="8308952" y="986574"/>
                <a:ext cx="450850" cy="6858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1" name="Object 18">
                <a:extLst>
                  <a:ext uri="{FF2B5EF4-FFF2-40B4-BE49-F238E27FC236}">
                    <a16:creationId xmlns:a16="http://schemas.microsoft.com/office/drawing/2014/main" id="{34DE528C-D162-26FE-485F-A3649A1E3D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952" y="986574"/>
                <a:ext cx="450850" cy="685800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Object 19">
                <a:extLst>
                  <a:ext uri="{FF2B5EF4-FFF2-40B4-BE49-F238E27FC236}">
                    <a16:creationId xmlns:a16="http://schemas.microsoft.com/office/drawing/2014/main" id="{624AC53F-408D-6609-6DB8-675F3AF3BC99}"/>
                  </a:ext>
                </a:extLst>
              </p:cNvPr>
              <p:cNvSpPr txBox="1"/>
              <p:nvPr/>
            </p:nvSpPr>
            <p:spPr>
              <a:xfrm>
                <a:off x="2050167" y="1393935"/>
                <a:ext cx="484188" cy="52546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" name="Object 19">
                <a:extLst>
                  <a:ext uri="{FF2B5EF4-FFF2-40B4-BE49-F238E27FC236}">
                    <a16:creationId xmlns:a16="http://schemas.microsoft.com/office/drawing/2014/main" id="{624AC53F-408D-6609-6DB8-675F3AF3BC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167" y="1393935"/>
                <a:ext cx="484188" cy="52546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6" name="Group 2">
            <a:extLst>
              <a:ext uri="{FF2B5EF4-FFF2-40B4-BE49-F238E27FC236}">
                <a16:creationId xmlns:a16="http://schemas.microsoft.com/office/drawing/2014/main" id="{94383243-1399-C6C6-463F-2713108D3231}"/>
              </a:ext>
            </a:extLst>
          </p:cNvPr>
          <p:cNvGrpSpPr/>
          <p:nvPr/>
        </p:nvGrpSpPr>
        <p:grpSpPr>
          <a:xfrm>
            <a:off x="7955280" y="1974056"/>
            <a:ext cx="4038600" cy="2590800"/>
            <a:chOff x="2832" y="1392"/>
            <a:chExt cx="2544" cy="1632"/>
          </a:xfrm>
        </p:grpSpPr>
        <p:sp>
          <p:nvSpPr>
            <p:cNvPr id="27" name="Rectangle 3" descr="上对角虚线">
              <a:extLst>
                <a:ext uri="{FF2B5EF4-FFF2-40B4-BE49-F238E27FC236}">
                  <a16:creationId xmlns:a16="http://schemas.microsoft.com/office/drawing/2014/main" id="{609A2262-3E72-6055-8352-0D7695C10FDE}"/>
                </a:ext>
              </a:extLst>
            </p:cNvPr>
            <p:cNvSpPr/>
            <p:nvPr/>
          </p:nvSpPr>
          <p:spPr>
            <a:xfrm>
              <a:off x="2832" y="1392"/>
              <a:ext cx="2544" cy="1632"/>
            </a:xfrm>
            <a:prstGeom prst="rect">
              <a:avLst/>
            </a:prstGeom>
            <a:pattFill prst="dashUpDiag">
              <a:fgClr>
                <a:srgbClr val="0099FF"/>
              </a:fgClr>
              <a:bgClr>
                <a:srgbClr val="FFFFFF"/>
              </a:bgClr>
            </a:pattFill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8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8" name="Freeform 4">
              <a:extLst>
                <a:ext uri="{FF2B5EF4-FFF2-40B4-BE49-F238E27FC236}">
                  <a16:creationId xmlns:a16="http://schemas.microsoft.com/office/drawing/2014/main" id="{51ACCAFB-C65E-7A2F-CF82-F1E101789EF9}"/>
                </a:ext>
              </a:extLst>
            </p:cNvPr>
            <p:cNvSpPr/>
            <p:nvPr/>
          </p:nvSpPr>
          <p:spPr>
            <a:xfrm>
              <a:off x="3216" y="2016"/>
              <a:ext cx="726" cy="572"/>
            </a:xfrm>
            <a:custGeom>
              <a:avLst/>
              <a:gdLst>
                <a:gd name="txL" fmla="*/ 0 w 726"/>
                <a:gd name="txT" fmla="*/ 0 h 572"/>
                <a:gd name="txR" fmla="*/ 726 w 726"/>
                <a:gd name="txB" fmla="*/ 572 h 572"/>
              </a:gdLst>
              <a:ahLst/>
              <a:cxnLst>
                <a:cxn ang="0">
                  <a:pos x="120" y="60"/>
                </a:cxn>
                <a:cxn ang="0">
                  <a:pos x="252" y="3"/>
                </a:cxn>
                <a:cxn ang="0">
                  <a:pos x="680" y="15"/>
                </a:cxn>
                <a:cxn ang="0">
                  <a:pos x="708" y="53"/>
                </a:cxn>
                <a:cxn ang="0">
                  <a:pos x="619" y="351"/>
                </a:cxn>
                <a:cxn ang="0">
                  <a:pos x="451" y="519"/>
                </a:cxn>
                <a:cxn ang="0">
                  <a:pos x="396" y="540"/>
                </a:cxn>
                <a:cxn ang="0">
                  <a:pos x="338" y="547"/>
                </a:cxn>
                <a:cxn ang="0">
                  <a:pos x="282" y="572"/>
                </a:cxn>
                <a:cxn ang="0">
                  <a:pos x="224" y="547"/>
                </a:cxn>
                <a:cxn ang="0">
                  <a:pos x="103" y="399"/>
                </a:cxn>
                <a:cxn ang="0">
                  <a:pos x="53" y="250"/>
                </a:cxn>
                <a:cxn ang="0">
                  <a:pos x="120" y="60"/>
                </a:cxn>
              </a:cxnLst>
              <a:rect l="txL" t="txT" r="txR" b="txB"/>
              <a:pathLst>
                <a:path w="726" h="572">
                  <a:moveTo>
                    <a:pt x="120" y="60"/>
                  </a:moveTo>
                  <a:cubicBezTo>
                    <a:pt x="146" y="13"/>
                    <a:pt x="175" y="38"/>
                    <a:pt x="252" y="3"/>
                  </a:cubicBezTo>
                  <a:cubicBezTo>
                    <a:pt x="394" y="7"/>
                    <a:pt x="541" y="0"/>
                    <a:pt x="680" y="15"/>
                  </a:cubicBezTo>
                  <a:cubicBezTo>
                    <a:pt x="710" y="19"/>
                    <a:pt x="708" y="40"/>
                    <a:pt x="708" y="53"/>
                  </a:cubicBezTo>
                  <a:cubicBezTo>
                    <a:pt x="708" y="127"/>
                    <a:pt x="726" y="303"/>
                    <a:pt x="619" y="351"/>
                  </a:cubicBezTo>
                  <a:cubicBezTo>
                    <a:pt x="548" y="425"/>
                    <a:pt x="551" y="453"/>
                    <a:pt x="451" y="519"/>
                  </a:cubicBezTo>
                  <a:cubicBezTo>
                    <a:pt x="407" y="539"/>
                    <a:pt x="415" y="535"/>
                    <a:pt x="396" y="540"/>
                  </a:cubicBezTo>
                  <a:cubicBezTo>
                    <a:pt x="377" y="545"/>
                    <a:pt x="357" y="542"/>
                    <a:pt x="338" y="547"/>
                  </a:cubicBezTo>
                  <a:cubicBezTo>
                    <a:pt x="332" y="558"/>
                    <a:pt x="308" y="572"/>
                    <a:pt x="282" y="572"/>
                  </a:cubicBezTo>
                  <a:cubicBezTo>
                    <a:pt x="254" y="572"/>
                    <a:pt x="242" y="555"/>
                    <a:pt x="224" y="547"/>
                  </a:cubicBezTo>
                  <a:cubicBezTo>
                    <a:pt x="209" y="511"/>
                    <a:pt x="131" y="448"/>
                    <a:pt x="103" y="399"/>
                  </a:cubicBezTo>
                  <a:cubicBezTo>
                    <a:pt x="75" y="350"/>
                    <a:pt x="50" y="306"/>
                    <a:pt x="53" y="250"/>
                  </a:cubicBezTo>
                  <a:cubicBezTo>
                    <a:pt x="0" y="181"/>
                    <a:pt x="13" y="106"/>
                    <a:pt x="120" y="60"/>
                  </a:cubicBez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22225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Box 5">
              <a:extLst>
                <a:ext uri="{FF2B5EF4-FFF2-40B4-BE49-F238E27FC236}">
                  <a16:creationId xmlns:a16="http://schemas.microsoft.com/office/drawing/2014/main" id="{0616DEFE-E3F7-029F-AAED-AE3DCDB3C130}"/>
                </a:ext>
              </a:extLst>
            </p:cNvPr>
            <p:cNvSpPr txBox="1"/>
            <p:nvPr/>
          </p:nvSpPr>
          <p:spPr>
            <a:xfrm>
              <a:off x="3388" y="2092"/>
              <a:ext cx="644" cy="36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r>
                <a:rPr lang="zh-CN" altLang="en-US" b="1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b="1" i="1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30" name="Freeform 6">
              <a:extLst>
                <a:ext uri="{FF2B5EF4-FFF2-40B4-BE49-F238E27FC236}">
                  <a16:creationId xmlns:a16="http://schemas.microsoft.com/office/drawing/2014/main" id="{8545EA16-53EF-7E57-272B-75659EE2ECF0}"/>
                </a:ext>
              </a:extLst>
            </p:cNvPr>
            <p:cNvSpPr/>
            <p:nvPr/>
          </p:nvSpPr>
          <p:spPr>
            <a:xfrm>
              <a:off x="4504" y="1912"/>
              <a:ext cx="542" cy="707"/>
            </a:xfrm>
            <a:custGeom>
              <a:avLst/>
              <a:gdLst>
                <a:gd name="txL" fmla="*/ 0 w 539"/>
                <a:gd name="txT" fmla="*/ 0 h 502"/>
                <a:gd name="txR" fmla="*/ 539 w 539"/>
                <a:gd name="txB" fmla="*/ 502 h 502"/>
              </a:gdLst>
              <a:ahLst/>
              <a:cxnLst>
                <a:cxn ang="0">
                  <a:pos x="276" y="3"/>
                </a:cxn>
                <a:cxn ang="0">
                  <a:pos x="154" y="24"/>
                </a:cxn>
                <a:cxn ang="0">
                  <a:pos x="47" y="194"/>
                </a:cxn>
                <a:cxn ang="0">
                  <a:pos x="139" y="579"/>
                </a:cxn>
                <a:cxn ang="0">
                  <a:pos x="245" y="642"/>
                </a:cxn>
                <a:cxn ang="0">
                  <a:pos x="291" y="686"/>
                </a:cxn>
                <a:cxn ang="0">
                  <a:pos x="337" y="707"/>
                </a:cxn>
                <a:cxn ang="0">
                  <a:pos x="489" y="579"/>
                </a:cxn>
                <a:cxn ang="0">
                  <a:pos x="520" y="451"/>
                </a:cxn>
                <a:cxn ang="0">
                  <a:pos x="535" y="387"/>
                </a:cxn>
                <a:cxn ang="0">
                  <a:pos x="413" y="66"/>
                </a:cxn>
                <a:cxn ang="0">
                  <a:pos x="276" y="3"/>
                </a:cxn>
              </a:cxnLst>
              <a:rect l="txL" t="txT" r="txR" b="txB"/>
              <a:pathLst>
                <a:path w="539" h="502">
                  <a:moveTo>
                    <a:pt x="274" y="2"/>
                  </a:moveTo>
                  <a:cubicBezTo>
                    <a:pt x="234" y="7"/>
                    <a:pt x="190" y="0"/>
                    <a:pt x="153" y="17"/>
                  </a:cubicBezTo>
                  <a:cubicBezTo>
                    <a:pt x="110" y="37"/>
                    <a:pt x="74" y="98"/>
                    <a:pt x="47" y="138"/>
                  </a:cubicBezTo>
                  <a:cubicBezTo>
                    <a:pt x="0" y="281"/>
                    <a:pt x="1" y="366"/>
                    <a:pt x="138" y="411"/>
                  </a:cubicBezTo>
                  <a:cubicBezTo>
                    <a:pt x="255" y="489"/>
                    <a:pt x="102" y="394"/>
                    <a:pt x="244" y="456"/>
                  </a:cubicBezTo>
                  <a:cubicBezTo>
                    <a:pt x="261" y="463"/>
                    <a:pt x="273" y="479"/>
                    <a:pt x="289" y="487"/>
                  </a:cubicBezTo>
                  <a:cubicBezTo>
                    <a:pt x="303" y="494"/>
                    <a:pt x="320" y="497"/>
                    <a:pt x="335" y="502"/>
                  </a:cubicBezTo>
                  <a:cubicBezTo>
                    <a:pt x="406" y="484"/>
                    <a:pt x="434" y="463"/>
                    <a:pt x="486" y="411"/>
                  </a:cubicBezTo>
                  <a:cubicBezTo>
                    <a:pt x="496" y="381"/>
                    <a:pt x="507" y="350"/>
                    <a:pt x="517" y="320"/>
                  </a:cubicBezTo>
                  <a:cubicBezTo>
                    <a:pt x="522" y="305"/>
                    <a:pt x="532" y="275"/>
                    <a:pt x="532" y="275"/>
                  </a:cubicBezTo>
                  <a:cubicBezTo>
                    <a:pt x="518" y="135"/>
                    <a:pt x="539" y="90"/>
                    <a:pt x="411" y="47"/>
                  </a:cubicBezTo>
                  <a:cubicBezTo>
                    <a:pt x="365" y="2"/>
                    <a:pt x="338" y="2"/>
                    <a:pt x="274" y="2"/>
                  </a:cubicBezTo>
                  <a:close/>
                </a:path>
              </a:pathLst>
            </a:custGeom>
            <a:solidFill>
              <a:srgbClr val="ECD9FF">
                <a:alpha val="100000"/>
              </a:srgbClr>
            </a:solidFill>
            <a:ln w="22225" cap="flat" cmpd="sng">
              <a:solidFill>
                <a:srgbClr val="99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Text Box 7">
              <a:extLst>
                <a:ext uri="{FF2B5EF4-FFF2-40B4-BE49-F238E27FC236}">
                  <a16:creationId xmlns:a16="http://schemas.microsoft.com/office/drawing/2014/main" id="{90DACE52-71A2-EAC6-E356-8BED45D6FD7A}"/>
                </a:ext>
              </a:extLst>
            </p:cNvPr>
            <p:cNvSpPr txBox="1"/>
            <p:nvPr/>
          </p:nvSpPr>
          <p:spPr>
            <a:xfrm>
              <a:off x="3388" y="1728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32" name="Text Box 8">
              <a:extLst>
                <a:ext uri="{FF2B5EF4-FFF2-40B4-BE49-F238E27FC236}">
                  <a16:creationId xmlns:a16="http://schemas.microsoft.com/office/drawing/2014/main" id="{7EB4DE0A-74F7-AFBA-7D2E-1A8AD3B34ED3}"/>
                </a:ext>
              </a:extLst>
            </p:cNvPr>
            <p:cNvSpPr txBox="1"/>
            <p:nvPr/>
          </p:nvSpPr>
          <p:spPr>
            <a:xfrm>
              <a:off x="4801" y="1632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r>
                <a:rPr lang="en-US" altLang="zh-CN" sz="2800" b="1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33" name="Text Box 9">
              <a:extLst>
                <a:ext uri="{FF2B5EF4-FFF2-40B4-BE49-F238E27FC236}">
                  <a16:creationId xmlns:a16="http://schemas.microsoft.com/office/drawing/2014/main" id="{6506545D-5F4C-0B88-BDE3-B2B711339EDB}"/>
                </a:ext>
              </a:extLst>
            </p:cNvPr>
            <p:cNvSpPr txBox="1"/>
            <p:nvPr/>
          </p:nvSpPr>
          <p:spPr>
            <a:xfrm>
              <a:off x="4518" y="2036"/>
              <a:ext cx="666" cy="404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r>
                <a:rPr lang="zh-CN" altLang="en-US" sz="3600" b="1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-</a:t>
              </a:r>
              <a:r>
                <a:rPr lang="en-US" altLang="zh-CN" b="1" i="1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Q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bject 10">
                  <a:extLst>
                    <a:ext uri="{FF2B5EF4-FFF2-40B4-BE49-F238E27FC236}">
                      <a16:creationId xmlns:a16="http://schemas.microsoft.com/office/drawing/2014/main" id="{113FE79A-806D-B5F0-5048-C0A0C1B47FFF}"/>
                    </a:ext>
                  </a:extLst>
                </p:cNvPr>
                <p:cNvSpPr txBox="1"/>
                <p:nvPr/>
              </p:nvSpPr>
              <p:spPr>
                <a:xfrm>
                  <a:off x="4176" y="2592"/>
                  <a:ext cx="299" cy="29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 fontScale="85000" lnSpcReduction="10000"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34" name="Object 10">
                  <a:extLst>
                    <a:ext uri="{FF2B5EF4-FFF2-40B4-BE49-F238E27FC236}">
                      <a16:creationId xmlns:a16="http://schemas.microsoft.com/office/drawing/2014/main" id="{113FE79A-806D-B5F0-5048-C0A0C1B47FF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" y="2592"/>
                  <a:ext cx="299" cy="291"/>
                </a:xfrm>
                <a:prstGeom prst="rect">
                  <a:avLst/>
                </a:prstGeom>
                <a:blipFill>
                  <a:blip r:embed="rId20"/>
                  <a:stretch>
                    <a:fillRect l="-3846" b="-11842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bject 11">
                  <a:extLst>
                    <a:ext uri="{FF2B5EF4-FFF2-40B4-BE49-F238E27FC236}">
                      <a16:creationId xmlns:a16="http://schemas.microsoft.com/office/drawing/2014/main" id="{DEE9EC2B-2CD0-1F53-A37F-06C27D3E213D}"/>
                    </a:ext>
                  </a:extLst>
                </p:cNvPr>
                <p:cNvSpPr txBox="1"/>
                <p:nvPr/>
              </p:nvSpPr>
              <p:spPr>
                <a:xfrm>
                  <a:off x="4151" y="1522"/>
                  <a:ext cx="324" cy="37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35" name="Object 11">
                  <a:extLst>
                    <a:ext uri="{FF2B5EF4-FFF2-40B4-BE49-F238E27FC236}">
                      <a16:creationId xmlns:a16="http://schemas.microsoft.com/office/drawing/2014/main" id="{DEE9EC2B-2CD0-1F53-A37F-06C27D3E21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1" y="1522"/>
                  <a:ext cx="324" cy="379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15E0D00-4ACB-7AA9-DC4B-5BBA39727B6C}"/>
              </a:ext>
            </a:extLst>
          </p:cNvPr>
          <p:cNvGrpSpPr/>
          <p:nvPr>
            <p:custDataLst>
              <p:tags r:id="rId11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4" name="TitleBackground">
              <a:extLst>
                <a:ext uri="{FF2B5EF4-FFF2-40B4-BE49-F238E27FC236}">
                  <a16:creationId xmlns:a16="http://schemas.microsoft.com/office/drawing/2014/main" id="{5E7FD521-47A8-2B2D-3F18-606044BF22F2}"/>
                </a:ext>
              </a:extLst>
            </p:cNvPr>
            <p:cNvSpPr/>
            <p:nvPr>
              <p:custDataLst>
                <p:tags r:id="rId13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ColorBlock">
              <a:extLst>
                <a:ext uri="{FF2B5EF4-FFF2-40B4-BE49-F238E27FC236}">
                  <a16:creationId xmlns:a16="http://schemas.microsoft.com/office/drawing/2014/main" id="{8CAAA66F-A34B-5017-922D-BEA65488DDB9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ypeText">
              <a:extLst>
                <a:ext uri="{FF2B5EF4-FFF2-40B4-BE49-F238E27FC236}">
                  <a16:creationId xmlns:a16="http://schemas.microsoft.com/office/drawing/2014/main" id="{4CBFFA72-A822-9F79-90F4-46A76076010B}"/>
                </a:ext>
              </a:extLst>
            </p:cNvPr>
            <p:cNvSpPr txBox="1"/>
            <p:nvPr>
              <p:custDataLst>
                <p:tags r:id="rId15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多选题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4" name="TipText">
              <a:extLst>
                <a:ext uri="{FF2B5EF4-FFF2-40B4-BE49-F238E27FC236}">
                  <a16:creationId xmlns:a16="http://schemas.microsoft.com/office/drawing/2014/main" id="{16FB2EB3-2F63-F9AF-D892-C8D93621A3C1}"/>
                </a:ext>
              </a:extLst>
            </p:cNvPr>
            <p:cNvSpPr txBox="1"/>
            <p:nvPr>
              <p:custDataLst>
                <p:tags r:id="rId16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</a:p>
          </p:txBody>
        </p:sp>
      </p:grpSp>
      <p:pic>
        <p:nvPicPr>
          <p:cNvPr id="3" name="图片 2">
            <a:extLst>
              <a:ext uri="{FF2B5EF4-FFF2-40B4-BE49-F238E27FC236}">
                <a16:creationId xmlns:a16="http://schemas.microsoft.com/office/drawing/2014/main" id="{7EEBADE0-31E7-25A0-084A-1F655C1CF6C0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03841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98" name="Group 2"/>
          <p:cNvGrpSpPr/>
          <p:nvPr/>
        </p:nvGrpSpPr>
        <p:grpSpPr>
          <a:xfrm>
            <a:off x="6019800" y="2286000"/>
            <a:ext cx="4038600" cy="2590800"/>
            <a:chOff x="2832" y="1392"/>
            <a:chExt cx="2544" cy="1632"/>
          </a:xfrm>
        </p:grpSpPr>
        <p:sp>
          <p:nvSpPr>
            <p:cNvPr id="29711" name="Rectangle 3" descr="上对角虚线"/>
            <p:cNvSpPr/>
            <p:nvPr/>
          </p:nvSpPr>
          <p:spPr>
            <a:xfrm>
              <a:off x="2832" y="1392"/>
              <a:ext cx="2544" cy="1632"/>
            </a:xfrm>
            <a:prstGeom prst="rect">
              <a:avLst/>
            </a:prstGeom>
            <a:pattFill prst="dashUpDiag">
              <a:fgClr>
                <a:srgbClr val="0099FF"/>
              </a:fgClr>
              <a:bgClr>
                <a:srgbClr val="FFFFFF"/>
              </a:bgClr>
            </a:pattFill>
            <a:ln w="9525" cap="flat" cmpd="sng">
              <a:solidFill>
                <a:srgbClr val="00808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endPara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712" name="Freeform 4"/>
            <p:cNvSpPr/>
            <p:nvPr/>
          </p:nvSpPr>
          <p:spPr>
            <a:xfrm>
              <a:off x="3216" y="2016"/>
              <a:ext cx="726" cy="572"/>
            </a:xfrm>
            <a:custGeom>
              <a:avLst/>
              <a:gdLst>
                <a:gd name="txL" fmla="*/ 0 w 726"/>
                <a:gd name="txT" fmla="*/ 0 h 572"/>
                <a:gd name="txR" fmla="*/ 726 w 726"/>
                <a:gd name="txB" fmla="*/ 572 h 572"/>
              </a:gdLst>
              <a:ahLst/>
              <a:cxnLst>
                <a:cxn ang="0">
                  <a:pos x="120" y="60"/>
                </a:cxn>
                <a:cxn ang="0">
                  <a:pos x="252" y="3"/>
                </a:cxn>
                <a:cxn ang="0">
                  <a:pos x="680" y="15"/>
                </a:cxn>
                <a:cxn ang="0">
                  <a:pos x="708" y="53"/>
                </a:cxn>
                <a:cxn ang="0">
                  <a:pos x="619" y="351"/>
                </a:cxn>
                <a:cxn ang="0">
                  <a:pos x="451" y="519"/>
                </a:cxn>
                <a:cxn ang="0">
                  <a:pos x="396" y="540"/>
                </a:cxn>
                <a:cxn ang="0">
                  <a:pos x="338" y="547"/>
                </a:cxn>
                <a:cxn ang="0">
                  <a:pos x="282" y="572"/>
                </a:cxn>
                <a:cxn ang="0">
                  <a:pos x="224" y="547"/>
                </a:cxn>
                <a:cxn ang="0">
                  <a:pos x="103" y="399"/>
                </a:cxn>
                <a:cxn ang="0">
                  <a:pos x="53" y="250"/>
                </a:cxn>
                <a:cxn ang="0">
                  <a:pos x="120" y="60"/>
                </a:cxn>
              </a:cxnLst>
              <a:rect l="txL" t="txT" r="txR" b="txB"/>
              <a:pathLst>
                <a:path w="726" h="572">
                  <a:moveTo>
                    <a:pt x="120" y="60"/>
                  </a:moveTo>
                  <a:cubicBezTo>
                    <a:pt x="146" y="13"/>
                    <a:pt x="175" y="38"/>
                    <a:pt x="252" y="3"/>
                  </a:cubicBezTo>
                  <a:cubicBezTo>
                    <a:pt x="394" y="7"/>
                    <a:pt x="541" y="0"/>
                    <a:pt x="680" y="15"/>
                  </a:cubicBezTo>
                  <a:cubicBezTo>
                    <a:pt x="710" y="19"/>
                    <a:pt x="708" y="40"/>
                    <a:pt x="708" y="53"/>
                  </a:cubicBezTo>
                  <a:cubicBezTo>
                    <a:pt x="708" y="127"/>
                    <a:pt x="726" y="303"/>
                    <a:pt x="619" y="351"/>
                  </a:cubicBezTo>
                  <a:cubicBezTo>
                    <a:pt x="548" y="425"/>
                    <a:pt x="551" y="453"/>
                    <a:pt x="451" y="519"/>
                  </a:cubicBezTo>
                  <a:cubicBezTo>
                    <a:pt x="407" y="539"/>
                    <a:pt x="415" y="535"/>
                    <a:pt x="396" y="540"/>
                  </a:cubicBezTo>
                  <a:cubicBezTo>
                    <a:pt x="377" y="545"/>
                    <a:pt x="357" y="542"/>
                    <a:pt x="338" y="547"/>
                  </a:cubicBezTo>
                  <a:cubicBezTo>
                    <a:pt x="332" y="558"/>
                    <a:pt x="308" y="572"/>
                    <a:pt x="282" y="572"/>
                  </a:cubicBezTo>
                  <a:cubicBezTo>
                    <a:pt x="254" y="572"/>
                    <a:pt x="242" y="555"/>
                    <a:pt x="224" y="547"/>
                  </a:cubicBezTo>
                  <a:cubicBezTo>
                    <a:pt x="209" y="511"/>
                    <a:pt x="131" y="448"/>
                    <a:pt x="103" y="399"/>
                  </a:cubicBezTo>
                  <a:cubicBezTo>
                    <a:pt x="75" y="350"/>
                    <a:pt x="50" y="306"/>
                    <a:pt x="53" y="250"/>
                  </a:cubicBezTo>
                  <a:cubicBezTo>
                    <a:pt x="0" y="181"/>
                    <a:pt x="13" y="106"/>
                    <a:pt x="120" y="60"/>
                  </a:cubicBezTo>
                  <a:close/>
                </a:path>
              </a:pathLst>
            </a:custGeom>
            <a:solidFill>
              <a:schemeClr val="accent1">
                <a:alpha val="100000"/>
              </a:schemeClr>
            </a:solidFill>
            <a:ln w="22225" cap="flat" cmpd="sng">
              <a:solidFill>
                <a:schemeClr val="tx2">
                  <a:alpha val="10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9713" name="Text Box 5"/>
            <p:cNvSpPr txBox="1"/>
            <p:nvPr/>
          </p:nvSpPr>
          <p:spPr>
            <a:xfrm>
              <a:off x="3388" y="2092"/>
              <a:ext cx="644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r>
                <a:rPr lang="zh-CN" altLang="en-US" sz="28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+</a:t>
              </a:r>
              <a:r>
                <a:rPr lang="en-US" altLang="zh-CN" sz="2800" i="1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Q</a:t>
              </a:r>
            </a:p>
          </p:txBody>
        </p:sp>
        <p:sp>
          <p:nvSpPr>
            <p:cNvPr id="29714" name="Freeform 6"/>
            <p:cNvSpPr/>
            <p:nvPr/>
          </p:nvSpPr>
          <p:spPr>
            <a:xfrm>
              <a:off x="4504" y="1912"/>
              <a:ext cx="542" cy="707"/>
            </a:xfrm>
            <a:custGeom>
              <a:avLst/>
              <a:gdLst>
                <a:gd name="txL" fmla="*/ 0 w 539"/>
                <a:gd name="txT" fmla="*/ 0 h 502"/>
                <a:gd name="txR" fmla="*/ 539 w 539"/>
                <a:gd name="txB" fmla="*/ 502 h 502"/>
              </a:gdLst>
              <a:ahLst/>
              <a:cxnLst>
                <a:cxn ang="0">
                  <a:pos x="276" y="3"/>
                </a:cxn>
                <a:cxn ang="0">
                  <a:pos x="154" y="24"/>
                </a:cxn>
                <a:cxn ang="0">
                  <a:pos x="47" y="194"/>
                </a:cxn>
                <a:cxn ang="0">
                  <a:pos x="139" y="579"/>
                </a:cxn>
                <a:cxn ang="0">
                  <a:pos x="245" y="642"/>
                </a:cxn>
                <a:cxn ang="0">
                  <a:pos x="291" y="686"/>
                </a:cxn>
                <a:cxn ang="0">
                  <a:pos x="337" y="707"/>
                </a:cxn>
                <a:cxn ang="0">
                  <a:pos x="489" y="579"/>
                </a:cxn>
                <a:cxn ang="0">
                  <a:pos x="520" y="451"/>
                </a:cxn>
                <a:cxn ang="0">
                  <a:pos x="535" y="387"/>
                </a:cxn>
                <a:cxn ang="0">
                  <a:pos x="413" y="66"/>
                </a:cxn>
                <a:cxn ang="0">
                  <a:pos x="276" y="3"/>
                </a:cxn>
              </a:cxnLst>
              <a:rect l="txL" t="txT" r="txR" b="txB"/>
              <a:pathLst>
                <a:path w="539" h="502">
                  <a:moveTo>
                    <a:pt x="274" y="2"/>
                  </a:moveTo>
                  <a:cubicBezTo>
                    <a:pt x="234" y="7"/>
                    <a:pt x="190" y="0"/>
                    <a:pt x="153" y="17"/>
                  </a:cubicBezTo>
                  <a:cubicBezTo>
                    <a:pt x="110" y="37"/>
                    <a:pt x="74" y="98"/>
                    <a:pt x="47" y="138"/>
                  </a:cubicBezTo>
                  <a:cubicBezTo>
                    <a:pt x="0" y="281"/>
                    <a:pt x="1" y="366"/>
                    <a:pt x="138" y="411"/>
                  </a:cubicBezTo>
                  <a:cubicBezTo>
                    <a:pt x="255" y="489"/>
                    <a:pt x="102" y="394"/>
                    <a:pt x="244" y="456"/>
                  </a:cubicBezTo>
                  <a:cubicBezTo>
                    <a:pt x="261" y="463"/>
                    <a:pt x="273" y="479"/>
                    <a:pt x="289" y="487"/>
                  </a:cubicBezTo>
                  <a:cubicBezTo>
                    <a:pt x="303" y="494"/>
                    <a:pt x="320" y="497"/>
                    <a:pt x="335" y="502"/>
                  </a:cubicBezTo>
                  <a:cubicBezTo>
                    <a:pt x="406" y="484"/>
                    <a:pt x="434" y="463"/>
                    <a:pt x="486" y="411"/>
                  </a:cubicBezTo>
                  <a:cubicBezTo>
                    <a:pt x="496" y="381"/>
                    <a:pt x="507" y="350"/>
                    <a:pt x="517" y="320"/>
                  </a:cubicBezTo>
                  <a:cubicBezTo>
                    <a:pt x="522" y="305"/>
                    <a:pt x="532" y="275"/>
                    <a:pt x="532" y="275"/>
                  </a:cubicBezTo>
                  <a:cubicBezTo>
                    <a:pt x="518" y="135"/>
                    <a:pt x="539" y="90"/>
                    <a:pt x="411" y="47"/>
                  </a:cubicBezTo>
                  <a:cubicBezTo>
                    <a:pt x="365" y="2"/>
                    <a:pt x="338" y="2"/>
                    <a:pt x="274" y="2"/>
                  </a:cubicBezTo>
                  <a:close/>
                </a:path>
              </a:pathLst>
            </a:custGeom>
            <a:solidFill>
              <a:srgbClr val="ECD9FF">
                <a:alpha val="100000"/>
              </a:srgbClr>
            </a:solidFill>
            <a:ln w="22225" cap="flat" cmpd="sng">
              <a:solidFill>
                <a:srgbClr val="9900CC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9715" name="Text Box 7"/>
            <p:cNvSpPr txBox="1"/>
            <p:nvPr/>
          </p:nvSpPr>
          <p:spPr>
            <a:xfrm>
              <a:off x="3388" y="1728"/>
              <a:ext cx="278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29716" name="Text Box 8"/>
            <p:cNvSpPr txBox="1"/>
            <p:nvPr/>
          </p:nvSpPr>
          <p:spPr>
            <a:xfrm>
              <a:off x="4801" y="1632"/>
              <a:ext cx="265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r>
                <a:rPr lang="en-US" altLang="zh-CN" sz="28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29717" name="Text Box 9"/>
            <p:cNvSpPr txBox="1"/>
            <p:nvPr/>
          </p:nvSpPr>
          <p:spPr>
            <a:xfrm>
              <a:off x="4518" y="2036"/>
              <a:ext cx="666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r>
                <a:rPr lang="zh-CN" altLang="en-US" sz="2800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-</a:t>
              </a:r>
              <a:r>
                <a:rPr lang="en-US" altLang="zh-CN" sz="2800" i="1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Q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18" name="Object 10"/>
                <p:cNvSpPr txBox="1"/>
                <p:nvPr/>
              </p:nvSpPr>
              <p:spPr>
                <a:xfrm>
                  <a:off x="4176" y="2592"/>
                  <a:ext cx="299" cy="291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𝜌</m:t>
                        </m:r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29718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6" y="2592"/>
                  <a:ext cx="299" cy="291"/>
                </a:xfrm>
                <a:prstGeom prst="rect">
                  <a:avLst/>
                </a:prstGeom>
                <a:blipFill>
                  <a:blip r:embed="rId2"/>
                  <a:stretch>
                    <a:fillRect b="-1333"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719" name="Object 11"/>
                <p:cNvSpPr txBox="1"/>
                <p:nvPr/>
              </p:nvSpPr>
              <p:spPr>
                <a:xfrm>
                  <a:off x="4151" y="1522"/>
                  <a:ext cx="324" cy="379"/>
                </a:xfrm>
                <a:prstGeom prst="rect">
                  <a:avLst/>
                </a:prstGeom>
                <a:noFill/>
                <a:ln w="38100">
                  <a:noFill/>
                  <a:miter/>
                </a:ln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zh-CN" altLang="en-US" sz="2800" b="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zh-CN" altLang="en-US" sz="2800"/>
                </a:p>
              </p:txBody>
            </p:sp>
          </mc:Choice>
          <mc:Fallback xmlns="">
            <p:sp>
              <p:nvSpPr>
                <p:cNvPr id="29719" name="Object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1" y="1522"/>
                  <a:ext cx="324" cy="37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>
                  <a:noFill/>
                  <a:miter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540" name="Text Box 12"/>
          <p:cNvSpPr txBox="1"/>
          <p:nvPr/>
        </p:nvSpPr>
        <p:spPr>
          <a:xfrm>
            <a:off x="1981200" y="2300288"/>
            <a:ext cx="3962400" cy="519112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333333"/>
                </a:solidFill>
                <a:latin typeface="Times New Roman" panose="02020603050405020304" pitchFamily="18" charset="0"/>
              </a:rPr>
              <a:t>由高斯定律得</a:t>
            </a:r>
          </a:p>
        </p:txBody>
      </p:sp>
      <p:grpSp>
        <p:nvGrpSpPr>
          <p:cNvPr id="3" name="Group 13"/>
          <p:cNvGrpSpPr/>
          <p:nvPr/>
        </p:nvGrpSpPr>
        <p:grpSpPr>
          <a:xfrm>
            <a:off x="6440487" y="2332831"/>
            <a:ext cx="1646238" cy="2192338"/>
            <a:chOff x="3072" y="1392"/>
            <a:chExt cx="1037" cy="1381"/>
          </a:xfrm>
        </p:grpSpPr>
        <p:sp>
          <p:nvSpPr>
            <p:cNvPr id="29709" name="Freeform 14"/>
            <p:cNvSpPr/>
            <p:nvPr/>
          </p:nvSpPr>
          <p:spPr>
            <a:xfrm>
              <a:off x="3072" y="1680"/>
              <a:ext cx="1037" cy="1093"/>
            </a:xfrm>
            <a:custGeom>
              <a:avLst/>
              <a:gdLst>
                <a:gd name="txL" fmla="*/ 0 w 1037"/>
                <a:gd name="txT" fmla="*/ 0 h 1093"/>
                <a:gd name="txR" fmla="*/ 1037 w 1037"/>
                <a:gd name="txB" fmla="*/ 1093 h 1093"/>
              </a:gdLst>
              <a:ahLst/>
              <a:cxnLst>
                <a:cxn ang="0">
                  <a:pos x="0" y="272"/>
                </a:cxn>
                <a:cxn ang="0">
                  <a:pos x="184" y="100"/>
                </a:cxn>
                <a:cxn ang="0">
                  <a:pos x="268" y="40"/>
                </a:cxn>
                <a:cxn ang="0">
                  <a:pos x="280" y="16"/>
                </a:cxn>
                <a:cxn ang="0">
                  <a:pos x="460" y="4"/>
                </a:cxn>
                <a:cxn ang="0">
                  <a:pos x="616" y="16"/>
                </a:cxn>
                <a:cxn ang="0">
                  <a:pos x="898" y="98"/>
                </a:cxn>
                <a:cxn ang="0">
                  <a:pos x="966" y="191"/>
                </a:cxn>
                <a:cxn ang="0">
                  <a:pos x="1023" y="376"/>
                </a:cxn>
                <a:cxn ang="0">
                  <a:pos x="1035" y="481"/>
                </a:cxn>
                <a:cxn ang="0">
                  <a:pos x="1023" y="876"/>
                </a:cxn>
                <a:cxn ang="0">
                  <a:pos x="736" y="1048"/>
                </a:cxn>
                <a:cxn ang="0">
                  <a:pos x="182" y="992"/>
                </a:cxn>
                <a:cxn ang="0">
                  <a:pos x="113" y="911"/>
                </a:cxn>
                <a:cxn ang="0">
                  <a:pos x="80" y="841"/>
                </a:cxn>
                <a:cxn ang="0">
                  <a:pos x="34" y="655"/>
                </a:cxn>
                <a:cxn ang="0">
                  <a:pos x="11" y="562"/>
                </a:cxn>
                <a:cxn ang="0">
                  <a:pos x="0" y="272"/>
                </a:cxn>
              </a:cxnLst>
              <a:rect l="txL" t="txT" r="txR" b="txB"/>
              <a:pathLst>
                <a:path w="1037" h="1093">
                  <a:moveTo>
                    <a:pt x="0" y="272"/>
                  </a:moveTo>
                  <a:cubicBezTo>
                    <a:pt x="133" y="120"/>
                    <a:pt x="37" y="142"/>
                    <a:pt x="184" y="100"/>
                  </a:cubicBezTo>
                  <a:cubicBezTo>
                    <a:pt x="207" y="93"/>
                    <a:pt x="245" y="47"/>
                    <a:pt x="268" y="40"/>
                  </a:cubicBezTo>
                  <a:cubicBezTo>
                    <a:pt x="275" y="32"/>
                    <a:pt x="270" y="16"/>
                    <a:pt x="280" y="16"/>
                  </a:cubicBezTo>
                  <a:cubicBezTo>
                    <a:pt x="311" y="16"/>
                    <a:pt x="404" y="4"/>
                    <a:pt x="460" y="4"/>
                  </a:cubicBezTo>
                  <a:cubicBezTo>
                    <a:pt x="516" y="4"/>
                    <a:pt x="543" y="0"/>
                    <a:pt x="616" y="16"/>
                  </a:cubicBezTo>
                  <a:cubicBezTo>
                    <a:pt x="689" y="32"/>
                    <a:pt x="840" y="69"/>
                    <a:pt x="898" y="98"/>
                  </a:cubicBezTo>
                  <a:cubicBezTo>
                    <a:pt x="912" y="99"/>
                    <a:pt x="961" y="183"/>
                    <a:pt x="966" y="191"/>
                  </a:cubicBezTo>
                  <a:cubicBezTo>
                    <a:pt x="997" y="238"/>
                    <a:pt x="1005" y="322"/>
                    <a:pt x="1023" y="376"/>
                  </a:cubicBezTo>
                  <a:cubicBezTo>
                    <a:pt x="1027" y="411"/>
                    <a:pt x="1035" y="446"/>
                    <a:pt x="1035" y="481"/>
                  </a:cubicBezTo>
                  <a:cubicBezTo>
                    <a:pt x="1035" y="613"/>
                    <a:pt x="1037" y="745"/>
                    <a:pt x="1023" y="876"/>
                  </a:cubicBezTo>
                  <a:cubicBezTo>
                    <a:pt x="1014" y="975"/>
                    <a:pt x="795" y="1040"/>
                    <a:pt x="736" y="1048"/>
                  </a:cubicBezTo>
                  <a:cubicBezTo>
                    <a:pt x="555" y="1093"/>
                    <a:pt x="359" y="1051"/>
                    <a:pt x="182" y="992"/>
                  </a:cubicBezTo>
                  <a:cubicBezTo>
                    <a:pt x="157" y="966"/>
                    <a:pt x="139" y="936"/>
                    <a:pt x="113" y="911"/>
                  </a:cubicBezTo>
                  <a:cubicBezTo>
                    <a:pt x="73" y="784"/>
                    <a:pt x="137" y="974"/>
                    <a:pt x="80" y="841"/>
                  </a:cubicBezTo>
                  <a:cubicBezTo>
                    <a:pt x="54" y="781"/>
                    <a:pt x="47" y="718"/>
                    <a:pt x="34" y="655"/>
                  </a:cubicBezTo>
                  <a:cubicBezTo>
                    <a:pt x="27" y="624"/>
                    <a:pt x="13" y="594"/>
                    <a:pt x="11" y="562"/>
                  </a:cubicBezTo>
                  <a:cubicBezTo>
                    <a:pt x="8" y="466"/>
                    <a:pt x="4" y="368"/>
                    <a:pt x="0" y="272"/>
                  </a:cubicBezTo>
                  <a:close/>
                </a:path>
              </a:pathLst>
            </a:custGeom>
            <a:solidFill>
              <a:srgbClr val="FFCCFF">
                <a:alpha val="50195"/>
              </a:srgbClr>
            </a:solidFill>
            <a:ln w="22225" cap="flat" cmpd="sng">
              <a:solidFill>
                <a:srgbClr val="FF3399">
                  <a:alpha val="100000"/>
                </a:srgb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lstStyle/>
            <a:p>
              <a:endParaRPr lang="zh-CN" altLang="en-US" sz="2800"/>
            </a:p>
          </p:txBody>
        </p:sp>
        <p:sp>
          <p:nvSpPr>
            <p:cNvPr id="29710" name="Text Box 15"/>
            <p:cNvSpPr txBox="1"/>
            <p:nvPr/>
          </p:nvSpPr>
          <p:spPr>
            <a:xfrm>
              <a:off x="3396" y="1392"/>
              <a:ext cx="229" cy="33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3200" b="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800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>
                  <a:solidFill>
                    <a:schemeClr val="tx1"/>
                  </a:solidFill>
                  <a:latin typeface="+mn-lt"/>
                  <a:ea typeface="+mn-ea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–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+mn-lt"/>
                  <a:ea typeface="+mn-ea"/>
                </a:defRPr>
              </a:lvl5pPr>
            </a:lstStyle>
            <a:p>
              <a:pPr marL="0" indent="0" eaLnBrk="1" hangingPunct="1">
                <a:spcBef>
                  <a:spcPct val="0"/>
                </a:spcBef>
                <a:buNone/>
              </a:pPr>
              <a:r>
                <a:rPr lang="en-US" altLang="zh-CN" sz="2800" i="1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548" name="Object 20"/>
              <p:cNvSpPr txBox="1"/>
              <p:nvPr/>
            </p:nvSpPr>
            <p:spPr>
              <a:xfrm>
                <a:off x="2743200" y="2867026"/>
                <a:ext cx="2590800" cy="1323975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zh-CN" alt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𝜀</m:t>
                                  </m:r>
                                </m:e>
                                <m:sub>
                                  <m:r>
                                    <a:rPr lang="zh-CN" altLang="en-US" sz="28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548" name="Object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2867026"/>
                <a:ext cx="2590800" cy="13239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49" name="Object 21"/>
              <p:cNvSpPr txBox="1"/>
              <p:nvPr/>
            </p:nvSpPr>
            <p:spPr>
              <a:xfrm>
                <a:off x="2686049" y="4127500"/>
                <a:ext cx="2057400" cy="795337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e>
                          </m:acc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m:rPr>
                              <m:sty m:val="p"/>
                            </m:rPr>
                            <a:rPr lang="zh-CN" altLang="en-US" sz="28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acc>
                            <m:accPr>
                              <m:chr m:val="⃑"/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549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6049" y="4127500"/>
                <a:ext cx="2057400" cy="795337"/>
              </a:xfrm>
              <a:prstGeom prst="rect">
                <a:avLst/>
              </a:prstGeom>
              <a:blipFill>
                <a:blip r:embed="rId5"/>
                <a:stretch>
                  <a:fillRect b="-15267"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50" name="Object 22"/>
              <p:cNvSpPr txBox="1"/>
              <p:nvPr/>
            </p:nvSpPr>
            <p:spPr>
              <a:xfrm>
                <a:off x="2895600" y="5244783"/>
                <a:ext cx="1447800" cy="124301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e>
                      </m:acc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  <m:acc>
                        <m:accPr>
                          <m:chr m:val="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550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5600" y="5244783"/>
                <a:ext cx="1447800" cy="12430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51" name="Object 23"/>
              <p:cNvSpPr txBox="1"/>
              <p:nvPr/>
            </p:nvSpPr>
            <p:spPr>
              <a:xfrm>
                <a:off x="5141912" y="5256213"/>
                <a:ext cx="3962400" cy="1179513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/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den>
                          </m:f>
                        </m:e>
                      </m:nary>
                      <m:acc>
                        <m:accPr>
                          <m:chr m:val="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r>
                        <m:rPr>
                          <m:sty m:val="p"/>
                        </m:rPr>
                        <a:rPr lang="zh-CN" altLang="en-US" sz="2800" b="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d</m:t>
                      </m:r>
                      <m:acc>
                        <m:accPr>
                          <m:chr m:val="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acc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num>
                        <m:den>
                          <m:r>
                            <a:rPr lang="zh-CN" altLang="en-US" sz="28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𝜌</m:t>
                          </m:r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zh-CN" altLang="en-US" sz="28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22551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1912" y="5256213"/>
                <a:ext cx="3962400" cy="117951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Box 17">
            <a:extLst>
              <a:ext uri="{FF2B5EF4-FFF2-40B4-BE49-F238E27FC236}">
                <a16:creationId xmlns:a16="http://schemas.microsoft.com/office/drawing/2014/main" id="{1E22FC38-ABE8-FC7B-05BB-D5A67FAF7B58}"/>
              </a:ext>
            </a:extLst>
          </p:cNvPr>
          <p:cNvSpPr txBox="1"/>
          <p:nvPr/>
        </p:nvSpPr>
        <p:spPr>
          <a:xfrm>
            <a:off x="1571625" y="1041955"/>
            <a:ext cx="8226425" cy="954107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indent="0" eaLnBrk="1" hangingPunct="1">
              <a:spcBef>
                <a:spcPct val="0"/>
              </a:spcBef>
              <a:buNone/>
            </a:pPr>
            <a:r>
              <a: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rPr>
              <a:t>两个导体</a:t>
            </a:r>
            <a:r>
              <a:rPr lang="en-US" altLang="zh-CN" sz="2800" dirty="0">
                <a:solidFill>
                  <a:srgbClr val="1C1C1C"/>
                </a:solidFill>
                <a:latin typeface="Times New Roman" panose="02020603050405020304" pitchFamily="18" charset="0"/>
              </a:rPr>
              <a:t>A、B </a:t>
            </a:r>
            <a:r>
              <a: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rPr>
              <a:t>带电 </a:t>
            </a:r>
            <a:r>
              <a:rPr lang="zh-CN" altLang="en-US" sz="2800" i="1" dirty="0">
                <a:solidFill>
                  <a:srgbClr val="1C1C1C"/>
                </a:solidFill>
                <a:latin typeface="Times New Roman" panose="02020603050405020304" pitchFamily="18" charset="0"/>
              </a:rPr>
              <a:t>-</a:t>
            </a:r>
            <a:r>
              <a:rPr lang="en-US" altLang="zh-CN" sz="2800" i="1" dirty="0">
                <a:solidFill>
                  <a:srgbClr val="1C1C1C"/>
                </a:solidFill>
                <a:latin typeface="Times New Roman" panose="02020603050405020304" pitchFamily="18" charset="0"/>
              </a:rPr>
              <a:t>Q、+Q</a:t>
            </a:r>
            <a:r>
              <a:rPr lang="en-US" altLang="zh-CN" sz="2800" dirty="0">
                <a:solidFill>
                  <a:srgbClr val="1C1C1C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1C1C1C"/>
                </a:solidFill>
                <a:latin typeface="Times New Roman" panose="02020603050405020304" pitchFamily="18" charset="0"/>
              </a:rPr>
              <a:t>被相对电容率     电阻率    的物质包围，电场恒定，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Object 18">
                <a:extLst>
                  <a:ext uri="{FF2B5EF4-FFF2-40B4-BE49-F238E27FC236}">
                    <a16:creationId xmlns:a16="http://schemas.microsoft.com/office/drawing/2014/main" id="{8E392CE7-5776-CDE4-B795-D5F84A74A1DD}"/>
                  </a:ext>
                </a:extLst>
              </p:cNvPr>
              <p:cNvSpPr txBox="1"/>
              <p:nvPr/>
            </p:nvSpPr>
            <p:spPr>
              <a:xfrm>
                <a:off x="8308952" y="986574"/>
                <a:ext cx="450850" cy="685800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4" name="Object 18">
                <a:extLst>
                  <a:ext uri="{FF2B5EF4-FFF2-40B4-BE49-F238E27FC236}">
                    <a16:creationId xmlns:a16="http://schemas.microsoft.com/office/drawing/2014/main" id="{8E392CE7-5776-CDE4-B795-D5F84A74A1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08952" y="986574"/>
                <a:ext cx="450850" cy="6858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Object 19">
                <a:extLst>
                  <a:ext uri="{FF2B5EF4-FFF2-40B4-BE49-F238E27FC236}">
                    <a16:creationId xmlns:a16="http://schemas.microsoft.com/office/drawing/2014/main" id="{C4AC8B2A-9C51-9D38-3FE1-A1E8DEEDD5D7}"/>
                  </a:ext>
                </a:extLst>
              </p:cNvPr>
              <p:cNvSpPr txBox="1"/>
              <p:nvPr/>
            </p:nvSpPr>
            <p:spPr>
              <a:xfrm>
                <a:off x="2050167" y="1393935"/>
                <a:ext cx="484188" cy="525462"/>
              </a:xfrm>
              <a:prstGeom prst="rect">
                <a:avLst/>
              </a:prstGeom>
              <a:noFill/>
              <a:ln w="38100">
                <a:noFill/>
                <a:miter/>
              </a:ln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Object 19">
                <a:extLst>
                  <a:ext uri="{FF2B5EF4-FFF2-40B4-BE49-F238E27FC236}">
                    <a16:creationId xmlns:a16="http://schemas.microsoft.com/office/drawing/2014/main" id="{C4AC8B2A-9C51-9D38-3FE1-A1E8DEEDD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0167" y="1393935"/>
                <a:ext cx="484188" cy="52546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38100">
                <a:noFill/>
                <a:miter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81759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40" grpId="0"/>
      <p:bldP spid="22548" grpId="0"/>
      <p:bldP spid="22549" grpId="0"/>
      <p:bldP spid="22550" grpId="0"/>
      <p:bldP spid="2255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8" name="Picture 8" descr="强大的半导体二极管图片-强大的半导体二极管素材-强大的半导体二极管插画-摄图新视界">
            <a:extLst>
              <a:ext uri="{FF2B5EF4-FFF2-40B4-BE49-F238E27FC236}">
                <a16:creationId xmlns:a16="http://schemas.microsoft.com/office/drawing/2014/main" id="{AA6F64EE-5674-4D57-9C00-91E92DA51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92" y="3854287"/>
            <a:ext cx="3275314" cy="23284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419692" y="558169"/>
            <a:ext cx="4062317" cy="4460329"/>
            <a:chOff x="4824456" y="3298780"/>
            <a:chExt cx="3584254" cy="355922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4456" y="4330437"/>
              <a:ext cx="3584254" cy="2527563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5272987" y="3298780"/>
              <a:ext cx="57" cy="34383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pic>
        <p:nvPicPr>
          <p:cNvPr id="15362" name="Picture 2" descr="https://upload.wikimedia.org/wikipedia/commons/a/a8/PnJunction-Diode-ForwardBias.PNG">
            <a:extLst>
              <a:ext uri="{FF2B5EF4-FFF2-40B4-BE49-F238E27FC236}">
                <a16:creationId xmlns:a16="http://schemas.microsoft.com/office/drawing/2014/main" id="{0E1627F0-368A-4858-8569-51B9EADB8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932" y="1322275"/>
            <a:ext cx="2481985" cy="19397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4" name="Picture 4" descr="https://upload.wikimedia.org/wikipedia/commons/c/cd/PnJunction-Diode-ReverseBias.PNG">
            <a:extLst>
              <a:ext uri="{FF2B5EF4-FFF2-40B4-BE49-F238E27FC236}">
                <a16:creationId xmlns:a16="http://schemas.microsoft.com/office/drawing/2014/main" id="{7CF3E99B-0CB2-4A8F-ADF2-6456C62D7E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6408" y="1322275"/>
            <a:ext cx="2332642" cy="2117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https://upload.wikimedia.org/wikipedia/commons/thumb/e/ec/Chinese_diode.jpg/220px-Chinese_diode.jpg">
            <a:extLst>
              <a:ext uri="{FF2B5EF4-FFF2-40B4-BE49-F238E27FC236}">
                <a16:creationId xmlns:a16="http://schemas.microsoft.com/office/drawing/2014/main" id="{DF267DD4-2F71-47B5-B75E-BC3A5FA3E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6631" y="3691704"/>
            <a:ext cx="1114925" cy="1692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377818D-0412-4306-9784-1FAE69C4408D}"/>
              </a:ext>
            </a:extLst>
          </p:cNvPr>
          <p:cNvSpPr/>
          <p:nvPr/>
        </p:nvSpPr>
        <p:spPr>
          <a:xfrm>
            <a:off x="1355396" y="1429715"/>
            <a:ext cx="25405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0" dirty="0">
                <a:solidFill>
                  <a:srgbClr val="FF0000"/>
                </a:solidFill>
                <a:ea typeface="华文楷体" panose="02010600040101010101" pitchFamily="2" charset="-122"/>
              </a:rPr>
              <a:t>伏安特性曲线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FD2232-416D-4207-9175-C66455C0DB2D}"/>
              </a:ext>
            </a:extLst>
          </p:cNvPr>
          <p:cNvSpPr/>
          <p:nvPr/>
        </p:nvSpPr>
        <p:spPr>
          <a:xfrm>
            <a:off x="5993217" y="5508536"/>
            <a:ext cx="274611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solidFill>
                  <a:srgbClr val="202122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70</a:t>
            </a:r>
            <a:r>
              <a:rPr lang="zh-CN" altLang="en-US" sz="2800" dirty="0">
                <a:solidFill>
                  <a:srgbClr val="202122"/>
                </a:solidFill>
                <a:latin typeface="Arial" panose="020B0604020202020204" pitchFamily="34" charset="0"/>
                <a:ea typeface="华文楷体" panose="02010600040101010101" pitchFamily="2" charset="-122"/>
              </a:rPr>
              <a:t>年代北京电子厂生产的二极管</a:t>
            </a:r>
            <a:endParaRPr lang="en-US" sz="2800" dirty="0"/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822853D7-5834-40CA-A9CF-8A060AC2D979}"/>
              </a:ext>
            </a:extLst>
          </p:cNvPr>
          <p:cNvSpPr txBox="1">
            <a:spLocks/>
          </p:cNvSpPr>
          <p:nvPr/>
        </p:nvSpPr>
        <p:spPr>
          <a:xfrm>
            <a:off x="583542" y="252288"/>
            <a:ext cx="3627829" cy="7245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楷体" panose="02010600040101010101" pitchFamily="2" charset="-122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半导体二极管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42A862A-DB96-454F-AE59-AF3C8774B8DE}"/>
              </a:ext>
            </a:extLst>
          </p:cNvPr>
          <p:cNvSpPr txBox="1"/>
          <p:nvPr/>
        </p:nvSpPr>
        <p:spPr>
          <a:xfrm>
            <a:off x="6004714" y="906495"/>
            <a:ext cx="15888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正偏压</a:t>
            </a:r>
            <a:endParaRPr 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50783E7-E287-4F96-982F-204FF06B5946}"/>
              </a:ext>
            </a:extLst>
          </p:cNvPr>
          <p:cNvSpPr txBox="1"/>
          <p:nvPr/>
        </p:nvSpPr>
        <p:spPr>
          <a:xfrm>
            <a:off x="8739336" y="872410"/>
            <a:ext cx="19781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负偏压</a:t>
            </a:r>
            <a:endParaRPr 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8497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1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8" name="Picture 8" descr="强大的半导体二极管图片-强大的半导体二极管素材-强大的半导体二极管插画-摄图新视界">
            <a:extLst>
              <a:ext uri="{FF2B5EF4-FFF2-40B4-BE49-F238E27FC236}">
                <a16:creationId xmlns:a16="http://schemas.microsoft.com/office/drawing/2014/main" id="{AA6F64EE-5674-4D57-9C00-91E92DA51B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38273" y="4669485"/>
            <a:ext cx="2807842" cy="1996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/>
          <p:cNvGrpSpPr/>
          <p:nvPr/>
        </p:nvGrpSpPr>
        <p:grpSpPr>
          <a:xfrm>
            <a:off x="871124" y="29427"/>
            <a:ext cx="4062317" cy="4460329"/>
            <a:chOff x="4824456" y="3298780"/>
            <a:chExt cx="3584254" cy="355922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24456" y="4330437"/>
              <a:ext cx="3584254" cy="2527563"/>
            </a:xfrm>
            <a:prstGeom prst="rect">
              <a:avLst/>
            </a:prstGeom>
          </p:spPr>
        </p:pic>
        <p:sp>
          <p:nvSpPr>
            <p:cNvPr id="5" name="文本框 4"/>
            <p:cNvSpPr txBox="1"/>
            <p:nvPr/>
          </p:nvSpPr>
          <p:spPr>
            <a:xfrm>
              <a:off x="5272987" y="3298780"/>
              <a:ext cx="57" cy="34383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endParaRPr lang="zh-CN" altLang="en-US" sz="2800" b="1" dirty="0">
                <a:solidFill>
                  <a:srgbClr val="0000F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" name="矩形 5">
            <a:extLst>
              <a:ext uri="{FF2B5EF4-FFF2-40B4-BE49-F238E27FC236}">
                <a16:creationId xmlns:a16="http://schemas.microsoft.com/office/drawing/2014/main" id="{3377818D-0412-4306-9784-1FAE69C4408D}"/>
              </a:ext>
            </a:extLst>
          </p:cNvPr>
          <p:cNvSpPr/>
          <p:nvPr/>
        </p:nvSpPr>
        <p:spPr>
          <a:xfrm>
            <a:off x="1865557" y="1028099"/>
            <a:ext cx="254052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kern="0" dirty="0">
                <a:solidFill>
                  <a:srgbClr val="0066FF"/>
                </a:solidFill>
                <a:ea typeface="华文楷体" panose="02010600040101010101" pitchFamily="2" charset="-122"/>
              </a:rPr>
              <a:t>伏安特性曲线</a:t>
            </a:r>
            <a:endParaRPr lang="en-US" sz="2800" dirty="0">
              <a:solidFill>
                <a:srgbClr val="0066FF"/>
              </a:solidFill>
            </a:endParaRPr>
          </a:p>
        </p:txBody>
      </p:sp>
      <p:sp>
        <p:nvSpPr>
          <p:cNvPr id="15" name="标题 1">
            <a:extLst>
              <a:ext uri="{FF2B5EF4-FFF2-40B4-BE49-F238E27FC236}">
                <a16:creationId xmlns:a16="http://schemas.microsoft.com/office/drawing/2014/main" id="{822853D7-5834-40CA-A9CF-8A060AC2D979}"/>
              </a:ext>
            </a:extLst>
          </p:cNvPr>
          <p:cNvSpPr txBox="1">
            <a:spLocks/>
          </p:cNvSpPr>
          <p:nvPr/>
        </p:nvSpPr>
        <p:spPr>
          <a:xfrm>
            <a:off x="583542" y="252288"/>
            <a:ext cx="3627829" cy="7245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楷体" panose="02010600040101010101" pitchFamily="2" charset="-122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半导体二极管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9447070-BAFF-4CE2-9469-F20F29AE46FD}"/>
              </a:ext>
            </a:extLst>
          </p:cNvPr>
          <p:cNvSpPr/>
          <p:nvPr/>
        </p:nvSpPr>
        <p:spPr>
          <a:xfrm>
            <a:off x="5562365" y="1414166"/>
            <a:ext cx="5180691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整流二极管</a:t>
            </a: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把交流电变换成直流电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开关元件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正向电压电阻小，处于导通状态反向电压电阻大，处于截止状态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发光二极管</a:t>
            </a:r>
            <a:endParaRPr lang="en-US" altLang="zh-CN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Tx/>
              <a:buChar char="-"/>
            </a:pP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buFontTx/>
              <a:buChar char="-"/>
            </a:pP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</a:rPr>
              <a:t>光电二极管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88694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2E51DD8C-4FFF-4E4E-9265-2343BD23DE37}"/>
              </a:ext>
            </a:extLst>
          </p:cNvPr>
          <p:cNvGrpSpPr/>
          <p:nvPr/>
        </p:nvGrpSpPr>
        <p:grpSpPr>
          <a:xfrm>
            <a:off x="2958073" y="1410918"/>
            <a:ext cx="4104074" cy="2876632"/>
            <a:chOff x="2434755" y="1228357"/>
            <a:chExt cx="4104074" cy="2876632"/>
          </a:xfrm>
        </p:grpSpPr>
        <p:pic>
          <p:nvPicPr>
            <p:cNvPr id="8" name="Picture 6" descr="Capacitor Charging GIF | Gfycat">
              <a:extLst>
                <a:ext uri="{FF2B5EF4-FFF2-40B4-BE49-F238E27FC236}">
                  <a16:creationId xmlns:a16="http://schemas.microsoft.com/office/drawing/2014/main" id="{188FD606-0786-47D0-94C7-60B672655426}"/>
                </a:ext>
              </a:extLst>
            </p:cNvPr>
            <p:cNvPicPr>
              <a:picLocks noChangeAspect="1" noChangeArrowheads="1" noCrop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34755" y="1553711"/>
              <a:ext cx="4038946" cy="24381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B7CDC9B8-6C23-403E-8DB0-7D37661E1678}"/>
                </a:ext>
              </a:extLst>
            </p:cNvPr>
            <p:cNvSpPr/>
            <p:nvPr/>
          </p:nvSpPr>
          <p:spPr>
            <a:xfrm>
              <a:off x="4984069" y="1228357"/>
              <a:ext cx="1554760" cy="287663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/>
            </a:p>
          </p:txBody>
        </p:sp>
      </p:grpSp>
      <p:sp>
        <p:nvSpPr>
          <p:cNvPr id="20484" name="Rectangle 4">
            <a:extLst>
              <a:ext uri="{FF2B5EF4-FFF2-40B4-BE49-F238E27FC236}">
                <a16:creationId xmlns:a16="http://schemas.microsoft.com/office/drawing/2014/main" id="{58B4FF75-A2FA-443E-BFD0-EEAB3A033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7263" y="1695561"/>
            <a:ext cx="2767974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非静电力做功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7FE899C-BB12-4B99-B449-8BD8809F7D2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744"/>
          <a:stretch/>
        </p:blipFill>
        <p:spPr>
          <a:xfrm>
            <a:off x="1071697" y="1620955"/>
            <a:ext cx="1985178" cy="2740809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4D21F59B-3D2C-453F-B435-8D4A98479F97}"/>
              </a:ext>
            </a:extLst>
          </p:cNvPr>
          <p:cNvSpPr/>
          <p:nvPr/>
        </p:nvSpPr>
        <p:spPr>
          <a:xfrm>
            <a:off x="3023201" y="2537566"/>
            <a:ext cx="690706" cy="83558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DB59EE5-1480-48EE-B5B1-AFA3EA89EFA6}"/>
              </a:ext>
            </a:extLst>
          </p:cNvPr>
          <p:cNvSpPr txBox="1"/>
          <p:nvPr/>
        </p:nvSpPr>
        <p:spPr>
          <a:xfrm>
            <a:off x="5842965" y="2358947"/>
            <a:ext cx="51167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ea typeface="华文楷体" panose="02010600040101010101" pitchFamily="2" charset="-122"/>
              </a:rPr>
              <a:t>电源</a:t>
            </a:r>
            <a:r>
              <a:rPr lang="en-US" altLang="zh-CN" sz="2800" dirty="0">
                <a:ea typeface="华文楷体" panose="02010600040101010101" pitchFamily="2" charset="-122"/>
              </a:rPr>
              <a:t>: </a:t>
            </a:r>
            <a:r>
              <a:rPr lang="zh-CN" altLang="en-US" sz="2800" dirty="0">
                <a:ea typeface="华文楷体" panose="02010600040101010101" pitchFamily="2" charset="-122"/>
              </a:rPr>
              <a:t>提供非静电力的装置</a:t>
            </a:r>
            <a:endParaRPr lang="en-US" sz="28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1AF1DC9-B80D-4475-9785-29D8AB97802C}"/>
              </a:ext>
            </a:extLst>
          </p:cNvPr>
          <p:cNvSpPr txBox="1"/>
          <p:nvPr/>
        </p:nvSpPr>
        <p:spPr>
          <a:xfrm>
            <a:off x="6053852" y="3231502"/>
            <a:ext cx="4529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ea typeface="华文楷体" panose="02010600040101010101" pitchFamily="2" charset="-122"/>
              </a:rPr>
              <a:t>化学电池： 化学能</a:t>
            </a:r>
            <a:r>
              <a:rPr lang="en-US" altLang="zh-CN" sz="2800" dirty="0">
                <a:ea typeface="华文楷体" panose="02010600040101010101" pitchFamily="2" charset="-122"/>
              </a:rPr>
              <a:t> – </a:t>
            </a:r>
            <a:r>
              <a:rPr lang="zh-CN" altLang="en-US" sz="2800" dirty="0">
                <a:ea typeface="华文楷体" panose="02010600040101010101" pitchFamily="2" charset="-122"/>
              </a:rPr>
              <a:t>电能</a:t>
            </a:r>
            <a:endParaRPr lang="en-US" altLang="zh-CN" sz="2800" dirty="0">
              <a:ea typeface="华文楷体" panose="02010600040101010101" pitchFamily="2" charset="-122"/>
            </a:endParaRPr>
          </a:p>
          <a:p>
            <a:r>
              <a:rPr lang="zh-CN" altLang="en-US" sz="2800" dirty="0">
                <a:ea typeface="华文楷体" panose="02010600040101010101" pitchFamily="2" charset="-122"/>
              </a:rPr>
              <a:t>发电机：      机械能</a:t>
            </a:r>
            <a:r>
              <a:rPr lang="en-US" altLang="zh-CN" sz="2800" dirty="0">
                <a:ea typeface="华文楷体" panose="02010600040101010101" pitchFamily="2" charset="-122"/>
              </a:rPr>
              <a:t> – </a:t>
            </a:r>
            <a:r>
              <a:rPr lang="zh-CN" altLang="en-US" sz="2800" dirty="0">
                <a:ea typeface="华文楷体" panose="02010600040101010101" pitchFamily="2" charset="-122"/>
              </a:rPr>
              <a:t>电能</a:t>
            </a:r>
            <a:endParaRPr lang="en-US" sz="2800" dirty="0"/>
          </a:p>
        </p:txBody>
      </p:sp>
      <p:sp>
        <p:nvSpPr>
          <p:cNvPr id="16" name="标题 1">
            <a:extLst>
              <a:ext uri="{FF2B5EF4-FFF2-40B4-BE49-F238E27FC236}">
                <a16:creationId xmlns:a16="http://schemas.microsoft.com/office/drawing/2014/main" id="{1CC8A576-43EE-4D47-9C1F-784AC9B584FB}"/>
              </a:ext>
            </a:extLst>
          </p:cNvPr>
          <p:cNvSpPr txBox="1">
            <a:spLocks/>
          </p:cNvSpPr>
          <p:nvPr/>
        </p:nvSpPr>
        <p:spPr>
          <a:xfrm>
            <a:off x="625809" y="503766"/>
            <a:ext cx="3247353" cy="724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楷体" panose="02010600040101010101" pitchFamily="2" charset="-122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电流的产生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90BC357-1C71-4D94-AEAD-9A51ED1C4A63}"/>
              </a:ext>
            </a:extLst>
          </p:cNvPr>
          <p:cNvSpPr/>
          <p:nvPr/>
        </p:nvSpPr>
        <p:spPr>
          <a:xfrm>
            <a:off x="2874429" y="4992444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ea typeface="华文楷体" panose="02010600040101010101" pitchFamily="2" charset="-122"/>
              </a:rPr>
              <a:t>能量守恒</a:t>
            </a:r>
            <a:endParaRPr lang="en-US" sz="2800" dirty="0">
              <a:solidFill>
                <a:srgbClr val="FF0000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E38E477-9DE2-419A-AC48-A0EB74185360}"/>
              </a:ext>
            </a:extLst>
          </p:cNvPr>
          <p:cNvSpPr txBox="1"/>
          <p:nvPr/>
        </p:nvSpPr>
        <p:spPr>
          <a:xfrm>
            <a:off x="4989083" y="4837830"/>
            <a:ext cx="35138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ea typeface="华文楷体" panose="02010600040101010101" pitchFamily="2" charset="-122"/>
              </a:rPr>
              <a:t>机械能，热能，光能，化学能，原子能  </a:t>
            </a:r>
            <a:endParaRPr lang="en-US" sz="2800" dirty="0"/>
          </a:p>
        </p:txBody>
      </p:sp>
      <p:sp>
        <p:nvSpPr>
          <p:cNvPr id="22" name="箭头: 右 21">
            <a:extLst>
              <a:ext uri="{FF2B5EF4-FFF2-40B4-BE49-F238E27FC236}">
                <a16:creationId xmlns:a16="http://schemas.microsoft.com/office/drawing/2014/main" id="{00ADF289-5D44-4FBF-93B0-616CBC8A536F}"/>
              </a:ext>
            </a:extLst>
          </p:cNvPr>
          <p:cNvSpPr/>
          <p:nvPr/>
        </p:nvSpPr>
        <p:spPr>
          <a:xfrm>
            <a:off x="8632954" y="5254054"/>
            <a:ext cx="727280" cy="193028"/>
          </a:xfrm>
          <a:prstGeom prst="rightArrow">
            <a:avLst>
              <a:gd name="adj1" fmla="val 50000"/>
              <a:gd name="adj2" fmla="val 60313"/>
            </a:avLst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DF1E2A8-DF18-4C5A-AF6B-056614126E2A}"/>
              </a:ext>
            </a:extLst>
          </p:cNvPr>
          <p:cNvSpPr/>
          <p:nvPr/>
        </p:nvSpPr>
        <p:spPr>
          <a:xfrm>
            <a:off x="9490291" y="5048922"/>
            <a:ext cx="90281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华文楷体" panose="02010600040101010101" pitchFamily="2" charset="-122"/>
              </a:rPr>
              <a:t>电能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701354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4" grpId="0"/>
      <p:bldP spid="3" grpId="0" animBg="1"/>
      <p:bldP spid="4" grpId="0"/>
      <p:bldP spid="15" grpId="0"/>
      <p:bldP spid="17" grpId="0"/>
      <p:bldP spid="22" grpId="0" animBg="1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组合 10"/>
          <p:cNvGrpSpPr/>
          <p:nvPr/>
        </p:nvGrpSpPr>
        <p:grpSpPr>
          <a:xfrm>
            <a:off x="1399220" y="377413"/>
            <a:ext cx="9393560" cy="6103173"/>
            <a:chOff x="162056" y="0"/>
            <a:chExt cx="8859348" cy="5769260"/>
          </a:xfrm>
        </p:grpSpPr>
        <p:grpSp>
          <p:nvGrpSpPr>
            <p:cNvPr id="6" name="组合 5"/>
            <p:cNvGrpSpPr/>
            <p:nvPr/>
          </p:nvGrpSpPr>
          <p:grpSpPr>
            <a:xfrm>
              <a:off x="162056" y="3564015"/>
              <a:ext cx="8859348" cy="2205245"/>
              <a:chOff x="1" y="0"/>
              <a:chExt cx="8981944" cy="2312066"/>
            </a:xfrm>
          </p:grpSpPr>
          <p:pic>
            <p:nvPicPr>
              <p:cNvPr id="3" name="图片 2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" y="0"/>
                <a:ext cx="3096358" cy="2306787"/>
              </a:xfrm>
              <a:prstGeom prst="rect">
                <a:avLst/>
              </a:prstGeom>
            </p:spPr>
          </p:pic>
          <p:pic>
            <p:nvPicPr>
              <p:cNvPr id="4" name="图片 3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303037" y="13650"/>
                <a:ext cx="2948473" cy="2298416"/>
              </a:xfrm>
              <a:prstGeom prst="rect">
                <a:avLst/>
              </a:prstGeom>
            </p:spPr>
          </p:pic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391466" y="13650"/>
                <a:ext cx="2590479" cy="2293137"/>
              </a:xfrm>
              <a:prstGeom prst="rect">
                <a:avLst/>
              </a:prstGeom>
            </p:spPr>
          </p:pic>
        </p:grpSp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5900" y="0"/>
              <a:ext cx="2412201" cy="1806823"/>
            </a:xfrm>
            <a:prstGeom prst="rect">
              <a:avLst/>
            </a:prstGeom>
          </p:spPr>
        </p:pic>
        <p:grpSp>
          <p:nvGrpSpPr>
            <p:cNvPr id="10" name="组合 9"/>
            <p:cNvGrpSpPr/>
            <p:nvPr/>
          </p:nvGrpSpPr>
          <p:grpSpPr>
            <a:xfrm>
              <a:off x="949098" y="1636924"/>
              <a:ext cx="7245805" cy="1657062"/>
              <a:chOff x="821094" y="1584525"/>
              <a:chExt cx="7872947" cy="2143127"/>
            </a:xfrm>
          </p:grpSpPr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21094" y="1584525"/>
                <a:ext cx="2143125" cy="2143125"/>
              </a:xfrm>
              <a:prstGeom prst="rect">
                <a:avLst/>
              </a:prstGeom>
            </p:spPr>
          </p:pic>
          <p:pic>
            <p:nvPicPr>
              <p:cNvPr id="9" name="图片 8"/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466906" y="1584526"/>
                <a:ext cx="5227135" cy="2143126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580170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4">
            <a:extLst>
              <a:ext uri="{FF2B5EF4-FFF2-40B4-BE49-F238E27FC236}">
                <a16:creationId xmlns:a16="http://schemas.microsoft.com/office/drawing/2014/main" id="{58B4FF75-A2FA-443E-BFD0-EEAB3A0335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1405" y="1484386"/>
            <a:ext cx="2767974" cy="523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92075" tIns="46038" rIns="92075" bIns="46038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非静电力做功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43AFB56D-F932-4600-B5E1-865D69BB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084" y="2221265"/>
            <a:ext cx="2752713" cy="2236967"/>
          </a:xfrm>
          <a:prstGeom prst="rect">
            <a:avLst/>
          </a:prstGeom>
        </p:spPr>
      </p:pic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2E2EC1FA-8CEE-43B5-8B68-45F9CD33B6A4}"/>
              </a:ext>
            </a:extLst>
          </p:cNvPr>
          <p:cNvSpPr txBox="1">
            <a:spLocks/>
          </p:cNvSpPr>
          <p:nvPr/>
        </p:nvSpPr>
        <p:spPr>
          <a:xfrm>
            <a:off x="801571" y="5288505"/>
            <a:ext cx="3806715" cy="1178221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altLang="zh-CN" dirty="0">
                <a:solidFill>
                  <a:srgbClr val="333333"/>
                </a:solidFill>
                <a:latin typeface="华文楷体" panose="02010600040101010101" pitchFamily="2" charset="-122"/>
              </a:rPr>
              <a:t>- </a:t>
            </a:r>
            <a:r>
              <a:rPr lang="zh-CN" altLang="en-US" dirty="0">
                <a:solidFill>
                  <a:srgbClr val="333333"/>
                </a:solidFill>
                <a:latin typeface="华文楷体" panose="02010600040101010101" pitchFamily="2" charset="-122"/>
              </a:rPr>
              <a:t>电源内的单位正电荷所受的非静电力</a:t>
            </a:r>
            <a:endParaRPr lang="en-US" altLang="zh-CN" dirty="0">
              <a:solidFill>
                <a:srgbClr val="333333"/>
              </a:solidFill>
              <a:latin typeface="华文楷体" panose="02010600040101010101" pitchFamily="2" charset="-122"/>
            </a:endParaRP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72C7B1F-358D-4AC1-B359-B8867E40455D}"/>
                  </a:ext>
                </a:extLst>
              </p:cNvPr>
              <p:cNvSpPr/>
              <p:nvPr/>
            </p:nvSpPr>
            <p:spPr>
              <a:xfrm>
                <a:off x="1251408" y="4579485"/>
                <a:ext cx="2903808" cy="57547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0066FF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非静电场强度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⃗"/>
                            <m:ctrlPr>
                              <a:rPr lang="en-US" altLang="zh-CN" sz="2800" b="1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2800" b="1" i="1">
                                <a:solidFill>
                                  <a:srgbClr val="0066FF"/>
                                </a:solidFill>
                                <a:latin typeface="Cambria Math" panose="02040503050406030204" pitchFamily="18" charset="0"/>
                                <a:ea typeface="华文新魏" panose="02010800040101010101" pitchFamily="2" charset="-122"/>
                                <a:cs typeface="Times New Roman" panose="02020603050405020304" pitchFamily="18" charset="0"/>
                              </a:rPr>
                              <m:t>𝑬</m:t>
                            </m:r>
                          </m:e>
                        </m:acc>
                      </m:e>
                      <m:sub>
                        <m:r>
                          <a:rPr lang="en-US" altLang="zh-CN" sz="2800" b="1" i="1">
                            <a:solidFill>
                              <a:srgbClr val="0066FF"/>
                            </a:solidFill>
                            <a:latin typeface="Cambria Math" panose="02040503050406030204" pitchFamily="18" charset="0"/>
                            <a:ea typeface="华文新魏" panose="02010800040101010101" pitchFamily="2" charset="-122"/>
                            <a:cs typeface="Times New Roman" panose="02020603050405020304" pitchFamily="18" charset="0"/>
                          </a:rPr>
                          <m:t>𝒏𝒆</m:t>
                        </m:r>
                      </m:sub>
                    </m:sSub>
                  </m:oMath>
                </a14:m>
                <a:endParaRPr lang="zh-CN" altLang="en-US" sz="2800" dirty="0">
                  <a:solidFill>
                    <a:srgbClr val="0066FF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A72C7B1F-358D-4AC1-B359-B8867E40455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1408" y="4579485"/>
                <a:ext cx="2903808" cy="575479"/>
              </a:xfrm>
              <a:prstGeom prst="rect">
                <a:avLst/>
              </a:prstGeom>
              <a:blipFill>
                <a:blip r:embed="rId3"/>
                <a:stretch>
                  <a:fillRect l="-4193" t="-1053" b="-2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标题 1">
            <a:extLst>
              <a:ext uri="{FF2B5EF4-FFF2-40B4-BE49-F238E27FC236}">
                <a16:creationId xmlns:a16="http://schemas.microsoft.com/office/drawing/2014/main" id="{1CC8A576-43EE-4D47-9C1F-784AC9B584FB}"/>
              </a:ext>
            </a:extLst>
          </p:cNvPr>
          <p:cNvSpPr txBox="1">
            <a:spLocks/>
          </p:cNvSpPr>
          <p:nvPr/>
        </p:nvSpPr>
        <p:spPr>
          <a:xfrm>
            <a:off x="224489" y="493606"/>
            <a:ext cx="3247353" cy="7245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华文楷体" panose="02010600040101010101" pitchFamily="2" charset="-122"/>
                <a:cs typeface="+mj-cs"/>
              </a:defRPr>
            </a:lvl1pPr>
          </a:lstStyle>
          <a:p>
            <a:pPr marL="571500" indent="-571500" algn="ctr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电动势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C191EF3-D348-4216-902B-CC9EDA91D4E5}"/>
              </a:ext>
            </a:extLst>
          </p:cNvPr>
          <p:cNvSpPr/>
          <p:nvPr/>
        </p:nvSpPr>
        <p:spPr>
          <a:xfrm>
            <a:off x="845779" y="6334780"/>
            <a:ext cx="32592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333333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2800" dirty="0">
                <a:solidFill>
                  <a:srgbClr val="333333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方向与静电场相反</a:t>
            </a:r>
            <a:endParaRPr lang="en-US" sz="2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312C2DF-1553-481F-1BD2-F0D78BB885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6162" y="1643541"/>
            <a:ext cx="2893416" cy="3392414"/>
          </a:xfrm>
          <a:prstGeom prst="rect">
            <a:avLst/>
          </a:prstGeom>
        </p:spPr>
      </p:pic>
      <p:sp>
        <p:nvSpPr>
          <p:cNvPr id="13" name="Text Box 9">
            <a:extLst>
              <a:ext uri="{FF2B5EF4-FFF2-40B4-BE49-F238E27FC236}">
                <a16:creationId xmlns:a16="http://schemas.microsoft.com/office/drawing/2014/main" id="{89535FAC-D029-AE3B-39B4-0C23C5C2C6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33588" y="1954753"/>
            <a:ext cx="4262803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800" dirty="0">
                <a:ea typeface="华文楷体" panose="02010600040101010101" pitchFamily="2" charset="-122"/>
              </a:rPr>
              <a:t>电动势：把单位正电荷经电源内部由负极移向正极过程中非静电力所作的功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2954662-10BD-0603-FD0B-9B57016BAC40}"/>
                  </a:ext>
                </a:extLst>
              </p:cNvPr>
              <p:cNvSpPr/>
              <p:nvPr/>
            </p:nvSpPr>
            <p:spPr>
              <a:xfrm>
                <a:off x="5796459" y="3878091"/>
                <a:ext cx="816827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0" i="1" dirty="0" smtClean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𝜀</m:t>
                    </m:r>
                    <m:r>
                      <a:rPr lang="en-US" altLang="zh-CN" sz="2800" b="0" i="1" dirty="0">
                        <a:solidFill>
                          <a:srgbClr val="0066FF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>
                    <a:solidFill>
                      <a:srgbClr val="0066FF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02954662-10BD-0603-FD0B-9B57016BAC4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6459" y="3878091"/>
                <a:ext cx="816827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6B4AD70-C935-4E26-0536-EB8F826D8106}"/>
                  </a:ext>
                </a:extLst>
              </p:cNvPr>
              <p:cNvSpPr txBox="1"/>
              <p:nvPr/>
            </p:nvSpPr>
            <p:spPr>
              <a:xfrm>
                <a:off x="6306301" y="3661846"/>
                <a:ext cx="1994072" cy="10431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trlPr>
                            <a:rPr lang="en-US" sz="280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−)</m:t>
                          </m:r>
                        </m:sub>
                        <m:sup>
                          <m:r>
                            <a:rPr lang="en-US" sz="2800" b="0" i="1" smtClean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</a:rPr>
                            <m:t>(+)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800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altLang="zh-CN" sz="2800" i="1" dirty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sz="2800" b="0" i="1" dirty="0">
                                      <a:solidFill>
                                        <a:srgbClr val="0066FF"/>
                                      </a:solidFill>
                                      <a:latin typeface="Cambria Math" panose="02040503050406030204" pitchFamily="18" charset="0"/>
                                      <a:ea typeface="华文新魏" panose="02010800040101010101" pitchFamily="2" charset="-122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CN" sz="2800" b="0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华文新魏" panose="02010800040101010101" pitchFamily="2" charset="-122"/>
                                </a:rPr>
                                <m:t>𝑛𝑒</m:t>
                              </m:r>
                            </m:sub>
                          </m:sSub>
                          <m:r>
                            <m:rPr>
                              <m:brk/>
                            </m:rPr>
                            <a:rPr lang="en-US" altLang="zh-CN" sz="2800" b="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a:rPr lang="en-US" altLang="zh-CN" sz="2800" b="0" i="1" dirty="0">
                              <a:solidFill>
                                <a:srgbClr val="0066FF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altLang="zh-CN" sz="2800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sz="2800" b="0" i="1" dirty="0">
                                  <a:solidFill>
                                    <a:srgbClr val="0066FF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>
                  <a:solidFill>
                    <a:srgbClr val="0066FF"/>
                  </a:solidFill>
                </a:endParaRPr>
              </a:p>
            </p:txBody>
          </p:sp>
        </mc:Choice>
        <mc:Fallback xmlns=""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46B4AD70-C935-4E26-0536-EB8F826D81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06301" y="3661846"/>
                <a:ext cx="1994072" cy="104317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矩形 20">
            <a:extLst>
              <a:ext uri="{FF2B5EF4-FFF2-40B4-BE49-F238E27FC236}">
                <a16:creationId xmlns:a16="http://schemas.microsoft.com/office/drawing/2014/main" id="{025F0F61-4B7F-46CA-A0B0-F63FC1593ED9}"/>
              </a:ext>
            </a:extLst>
          </p:cNvPr>
          <p:cNvSpPr/>
          <p:nvPr/>
        </p:nvSpPr>
        <p:spPr>
          <a:xfrm>
            <a:off x="5308315" y="5198669"/>
            <a:ext cx="370218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8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方向：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自负极经电源  </a:t>
            </a:r>
            <a:b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内到正极</a:t>
            </a:r>
            <a:endParaRPr lang="en-US" sz="28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6" grpId="0"/>
      <p:bldP spid="23" grpId="0"/>
      <p:bldP spid="13" grpId="0"/>
      <p:bldP spid="19" grpId="0"/>
      <p:bldP spid="20" grpId="0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图片 142">
            <a:extLst>
              <a:ext uri="{FF2B5EF4-FFF2-40B4-BE49-F238E27FC236}">
                <a16:creationId xmlns:a16="http://schemas.microsoft.com/office/drawing/2014/main" id="{5FA544D1-CAFB-46AC-849B-7710F2993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9983" y="1306449"/>
            <a:ext cx="3028685" cy="246123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1991" name="Object 7">
                <a:extLst>
                  <a:ext uri="{FF2B5EF4-FFF2-40B4-BE49-F238E27FC236}">
                    <a16:creationId xmlns:a16="http://schemas.microsoft.com/office/drawing/2014/main" id="{94D0381C-96D2-4CA1-9DD5-093421A3FC69}"/>
                  </a:ext>
                </a:extLst>
              </p:cNvPr>
              <p:cNvSpPr txBox="1"/>
              <p:nvPr/>
            </p:nvSpPr>
            <p:spPr bwMode="auto">
              <a:xfrm>
                <a:off x="7636765" y="2245762"/>
                <a:ext cx="3259226" cy="4841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en-US" sz="2800" b="1" i="1" smtClean="0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𝒋</m:t>
                          </m:r>
                        </m:e>
                      </m:acc>
                      <m:r>
                        <a:rPr lang="en-US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𝝈</m:t>
                      </m:r>
                      <m:r>
                        <a:rPr lang="en-US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acc>
                        <m:accPr>
                          <m:chr m:val="⃗"/>
                          <m:ctrlPr>
                            <a:rPr lang="en-US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</m:acc>
                      <m:r>
                        <a:rPr lang="en-US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b="1" i="1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</a:rPr>
                                <m:t>𝑬</m:t>
                              </m:r>
                            </m:e>
                          </m:acc>
                        </m:e>
                        <m:sub>
                          <m:r>
                            <a:rPr lang="en-US" altLang="zh-CN" sz="2800" b="1" i="1">
                              <a:solidFill>
                                <a:srgbClr val="0000FF"/>
                              </a:solidFill>
                              <a:latin typeface="Cambria Math" panose="02040503050406030204" pitchFamily="18" charset="0"/>
                            </a:rPr>
                            <m:t>𝒏𝒆</m:t>
                          </m:r>
                        </m:sub>
                      </m:sSub>
                      <m:r>
                        <a:rPr lang="en-US" sz="2800" b="1" i="1">
                          <a:solidFill>
                            <a:srgbClr val="0000FF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b="1" dirty="0">
                  <a:solidFill>
                    <a:srgbClr val="0000FF"/>
                  </a:solidFill>
                </a:endParaRPr>
              </a:p>
            </p:txBody>
          </p:sp>
        </mc:Choice>
        <mc:Fallback xmlns="">
          <p:sp>
            <p:nvSpPr>
              <p:cNvPr id="41991" name="Object 7">
                <a:extLst>
                  <a:ext uri="{FF2B5EF4-FFF2-40B4-BE49-F238E27FC236}">
                    <a16:creationId xmlns:a16="http://schemas.microsoft.com/office/drawing/2014/main" id="{94D0381C-96D2-4CA1-9DD5-093421A3FC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636765" y="2245762"/>
                <a:ext cx="3259226" cy="484188"/>
              </a:xfrm>
              <a:prstGeom prst="rect">
                <a:avLst/>
              </a:prstGeom>
              <a:blipFill>
                <a:blip r:embed="rId3"/>
                <a:stretch>
                  <a:fillRect b="-7500"/>
                </a:stretch>
              </a:blip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55" name="Rectangle 8">
            <a:extLst>
              <a:ext uri="{FF2B5EF4-FFF2-40B4-BE49-F238E27FC236}">
                <a16:creationId xmlns:a16="http://schemas.microsoft.com/office/drawing/2014/main" id="{DB299876-6F3D-42C2-965F-DCC87D2C9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220" y="418154"/>
            <a:ext cx="433965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sym typeface="Monotype Sorts" pitchFamily="2" charset="2"/>
              </a:rPr>
              <a:t>有电动势时欧姆定律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Object 50">
                <a:extLst>
                  <a:ext uri="{FF2B5EF4-FFF2-40B4-BE49-F238E27FC236}">
                    <a16:creationId xmlns:a16="http://schemas.microsoft.com/office/drawing/2014/main" id="{ADB15E3A-DF51-47B0-AA20-EF6880A8488B}"/>
                  </a:ext>
                </a:extLst>
              </p:cNvPr>
              <p:cNvSpPr txBox="1"/>
              <p:nvPr/>
            </p:nvSpPr>
            <p:spPr bwMode="auto">
              <a:xfrm>
                <a:off x="8144692" y="3114912"/>
                <a:ext cx="2303462" cy="957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1" name="Object 50">
                <a:extLst>
                  <a:ext uri="{FF2B5EF4-FFF2-40B4-BE49-F238E27FC236}">
                    <a16:creationId xmlns:a16="http://schemas.microsoft.com/office/drawing/2014/main" id="{ADB15E3A-DF51-47B0-AA20-EF6880A848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144692" y="3114912"/>
                <a:ext cx="2303462" cy="9572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Rectangle 46">
            <a:extLst>
              <a:ext uri="{FF2B5EF4-FFF2-40B4-BE49-F238E27FC236}">
                <a16:creationId xmlns:a16="http://schemas.microsoft.com/office/drawing/2014/main" id="{3CAC3388-1F7C-4363-9F65-9554DCFB1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9759" y="2895100"/>
            <a:ext cx="358775" cy="127000"/>
          </a:xfrm>
          <a:prstGeom prst="rect">
            <a:avLst/>
          </a:prstGeom>
          <a:solidFill>
            <a:schemeClr val="bg1"/>
          </a:solidFill>
          <a:ln w="12700" algn="ctr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/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 sz="2800" dirty="0"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Object 35">
                <a:extLst>
                  <a:ext uri="{FF2B5EF4-FFF2-40B4-BE49-F238E27FC236}">
                    <a16:creationId xmlns:a16="http://schemas.microsoft.com/office/drawing/2014/main" id="{91FD4383-DB96-41A3-8C7A-329153C6FC7A}"/>
                  </a:ext>
                </a:extLst>
              </p:cNvPr>
              <p:cNvSpPr txBox="1"/>
              <p:nvPr/>
            </p:nvSpPr>
            <p:spPr bwMode="auto">
              <a:xfrm>
                <a:off x="4663752" y="3098720"/>
                <a:ext cx="366713" cy="4032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CN" altLang="en-US" sz="2800"/>
              </a:p>
            </p:txBody>
          </p:sp>
        </mc:Choice>
        <mc:Fallback xmlns="">
          <p:sp>
            <p:nvSpPr>
              <p:cNvPr id="71" name="Object 35">
                <a:extLst>
                  <a:ext uri="{FF2B5EF4-FFF2-40B4-BE49-F238E27FC236}">
                    <a16:creationId xmlns:a16="http://schemas.microsoft.com/office/drawing/2014/main" id="{91FD4383-DB96-41A3-8C7A-329153C6F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63752" y="3098720"/>
                <a:ext cx="366713" cy="40322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bject 39">
                <a:extLst>
                  <a:ext uri="{FF2B5EF4-FFF2-40B4-BE49-F238E27FC236}">
                    <a16:creationId xmlns:a16="http://schemas.microsoft.com/office/drawing/2014/main" id="{6795EE29-3F14-47D5-8AD2-79B147DB43F7}"/>
                  </a:ext>
                </a:extLst>
              </p:cNvPr>
              <p:cNvSpPr txBox="1"/>
              <p:nvPr/>
            </p:nvSpPr>
            <p:spPr bwMode="auto">
              <a:xfrm>
                <a:off x="4470077" y="2552890"/>
                <a:ext cx="387350" cy="49688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r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4" name="Object 39">
                <a:extLst>
                  <a:ext uri="{FF2B5EF4-FFF2-40B4-BE49-F238E27FC236}">
                    <a16:creationId xmlns:a16="http://schemas.microsoft.com/office/drawing/2014/main" id="{6795EE29-3F14-47D5-8AD2-79B147DB4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470077" y="2552890"/>
                <a:ext cx="387350" cy="496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B9F36C1-D035-4F5A-9875-C4FE9D335206}"/>
                  </a:ext>
                </a:extLst>
              </p:cNvPr>
              <p:cNvSpPr/>
              <p:nvPr/>
            </p:nvSpPr>
            <p:spPr>
              <a:xfrm>
                <a:off x="4701695" y="4503377"/>
                <a:ext cx="1425455" cy="97334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∮"/>
                          <m:supHide m:val="on"/>
                          <m:ctrlPr>
                            <a:rPr 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</m:acc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B9F36C1-D035-4F5A-9875-C4FE9D33520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1695" y="4503377"/>
                <a:ext cx="1425455" cy="9733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9B48E04F-F03F-4C03-98FD-95C5BA9F74EE}"/>
                  </a:ext>
                </a:extLst>
              </p:cNvPr>
              <p:cNvSpPr/>
              <p:nvPr/>
            </p:nvSpPr>
            <p:spPr>
              <a:xfrm>
                <a:off x="5817231" y="4418510"/>
                <a:ext cx="3039165" cy="103900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∮"/>
                          <m:supHide m:val="on"/>
                          <m:ctrlP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⃗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e>
                              </m:acc>
                            </m:num>
                            <m:den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den>
                          </m:f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⃗"/>
                                  <m:ctrlP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𝐸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𝑛𝑒</m:t>
                              </m:r>
                            </m:sub>
                          </m:sSub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)⋅</m:t>
                          </m:r>
                          <m:r>
                            <a:rPr 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𝑑</m:t>
                          </m:r>
                          <m:acc>
                            <m:accPr>
                              <m:chr m:val="⃗"/>
                              <m:ctrlP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</m:acc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矩形 28">
                <a:extLst>
                  <a:ext uri="{FF2B5EF4-FFF2-40B4-BE49-F238E27FC236}">
                    <a16:creationId xmlns:a16="http://schemas.microsoft.com/office/drawing/2014/main" id="{9B48E04F-F03F-4C03-98FD-95C5BA9F74E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7231" y="4418510"/>
                <a:ext cx="3039165" cy="103900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Object 14">
                <a:extLst>
                  <a:ext uri="{FF2B5EF4-FFF2-40B4-BE49-F238E27FC236}">
                    <a16:creationId xmlns:a16="http://schemas.microsoft.com/office/drawing/2014/main" id="{65988388-6B3F-4A43-A9F0-82338E23D9D6}"/>
                  </a:ext>
                </a:extLst>
              </p:cNvPr>
              <p:cNvSpPr txBox="1"/>
              <p:nvPr/>
            </p:nvSpPr>
            <p:spPr bwMode="auto">
              <a:xfrm>
                <a:off x="8768806" y="4648114"/>
                <a:ext cx="2564825" cy="4683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altLang="zh-CN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R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</m:d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9" name="Object 14">
                <a:extLst>
                  <a:ext uri="{FF2B5EF4-FFF2-40B4-BE49-F238E27FC236}">
                    <a16:creationId xmlns:a16="http://schemas.microsoft.com/office/drawing/2014/main" id="{65988388-6B3F-4A43-A9F0-82338E23D9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768806" y="4648114"/>
                <a:ext cx="2564825" cy="46831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8EBB4B97-46DF-433B-8EF3-3BD335CE1028}"/>
                  </a:ext>
                </a:extLst>
              </p:cNvPr>
              <p:cNvSpPr txBox="1"/>
              <p:nvPr/>
            </p:nvSpPr>
            <p:spPr>
              <a:xfrm>
                <a:off x="5682327" y="5679888"/>
                <a:ext cx="1116268" cy="66870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I=</a:t>
                </a:r>
                <a:r>
                  <a:rPr lang="en-US" sz="2800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81" name="文本框 80">
                <a:extLst>
                  <a:ext uri="{FF2B5EF4-FFF2-40B4-BE49-F238E27FC236}">
                    <a16:creationId xmlns:a16="http://schemas.microsoft.com/office/drawing/2014/main" id="{8EBB4B97-46DF-433B-8EF3-3BD335CE1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82327" y="5679888"/>
                <a:ext cx="1116268" cy="668709"/>
              </a:xfrm>
              <a:prstGeom prst="rect">
                <a:avLst/>
              </a:prstGeom>
              <a:blipFill>
                <a:blip r:embed="rId10"/>
                <a:stretch>
                  <a:fillRect l="-10929" t="-2752" b="-1100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" name="文本框 109">
            <a:extLst>
              <a:ext uri="{FF2B5EF4-FFF2-40B4-BE49-F238E27FC236}">
                <a16:creationId xmlns:a16="http://schemas.microsoft.com/office/drawing/2014/main" id="{0EED2D2C-2F8A-454B-A87C-148CDD293B11}"/>
              </a:ext>
            </a:extLst>
          </p:cNvPr>
          <p:cNvSpPr txBox="1"/>
          <p:nvPr/>
        </p:nvSpPr>
        <p:spPr>
          <a:xfrm>
            <a:off x="7579249" y="5769750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ea typeface="华文楷体" panose="02010600040101010101" pitchFamily="2" charset="-122"/>
              </a:rPr>
              <a:t>全电路欧姆定律</a:t>
            </a:r>
            <a:endParaRPr lang="en-US" sz="2800" dirty="0"/>
          </a:p>
        </p:txBody>
      </p:sp>
      <p:pic>
        <p:nvPicPr>
          <p:cNvPr id="140" name="图片 139">
            <a:extLst>
              <a:ext uri="{FF2B5EF4-FFF2-40B4-BE49-F238E27FC236}">
                <a16:creationId xmlns:a16="http://schemas.microsoft.com/office/drawing/2014/main" id="{84AA11E4-48A2-42EF-B031-91D08FD461E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4869" y="4109893"/>
            <a:ext cx="3509035" cy="18107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F632242B-6EDE-43FD-8E78-D7F771C68E2D}"/>
                  </a:ext>
                </a:extLst>
              </p:cNvPr>
              <p:cNvSpPr/>
              <p:nvPr/>
            </p:nvSpPr>
            <p:spPr>
              <a:xfrm>
                <a:off x="1520108" y="2301561"/>
                <a:ext cx="1523109" cy="72045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ts val="100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⃗"/>
                          <m:ctrlPr>
                            <a:rPr lang="zh-CN" altLang="en-US" sz="2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acc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𝜎</m:t>
                      </m:r>
                      <m:acc>
                        <m:accPr>
                          <m:chr m:val="⃗"/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acc>
                    </m:oMath>
                  </m:oMathPara>
                </a14:m>
                <a:endParaRPr lang="zh-CN" altLang="en-US" sz="2800" dirty="0">
                  <a:solidFill>
                    <a:schemeClr val="tx1"/>
                  </a:solidFill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141" name="矩形 140">
                <a:extLst>
                  <a:ext uri="{FF2B5EF4-FFF2-40B4-BE49-F238E27FC236}">
                    <a16:creationId xmlns:a16="http://schemas.microsoft.com/office/drawing/2014/main" id="{F632242B-6EDE-43FD-8E78-D7F771C68E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0108" y="2301561"/>
                <a:ext cx="1523109" cy="720454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矩形 112">
            <a:extLst>
              <a:ext uri="{FF2B5EF4-FFF2-40B4-BE49-F238E27FC236}">
                <a16:creationId xmlns:a16="http://schemas.microsoft.com/office/drawing/2014/main" id="{057A94F2-B13F-4A6D-8874-4E64082178DC}"/>
              </a:ext>
            </a:extLst>
          </p:cNvPr>
          <p:cNvSpPr/>
          <p:nvPr/>
        </p:nvSpPr>
        <p:spPr>
          <a:xfrm>
            <a:off x="1499782" y="1574258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ea typeface="华文楷体" panose="02010600040101010101" pitchFamily="2" charset="-122"/>
              </a:rPr>
              <a:t>稳恒电场</a:t>
            </a:r>
            <a:endParaRPr lang="en-US" sz="2800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637B26F2-046F-470A-BCED-9479D283CD58}"/>
              </a:ext>
            </a:extLst>
          </p:cNvPr>
          <p:cNvSpPr/>
          <p:nvPr/>
        </p:nvSpPr>
        <p:spPr>
          <a:xfrm>
            <a:off x="7647387" y="1618301"/>
            <a:ext cx="325922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prstClr val="black"/>
                </a:solidFill>
                <a:ea typeface="华文楷体" panose="02010600040101010101" pitchFamily="2" charset="-122"/>
              </a:rPr>
              <a:t>稳恒电场</a:t>
            </a:r>
            <a:r>
              <a:rPr lang="en-US" altLang="zh-CN" sz="2800" dirty="0">
                <a:solidFill>
                  <a:prstClr val="black"/>
                </a:solidFill>
                <a:ea typeface="华文楷体" panose="02010600040101010101" pitchFamily="2" charset="-122"/>
              </a:rPr>
              <a:t>+</a:t>
            </a:r>
            <a:r>
              <a:rPr lang="zh-CN" altLang="en-US" sz="2800" dirty="0">
                <a:solidFill>
                  <a:prstClr val="black"/>
                </a:solidFill>
                <a:ea typeface="华文楷体" panose="02010600040101010101" pitchFamily="2" charset="-122"/>
              </a:rPr>
              <a:t>非静电场</a:t>
            </a:r>
            <a:endParaRPr lang="en-US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A37E7862-7788-45D2-9F03-CC29888F65CA}"/>
                  </a:ext>
                </a:extLst>
              </p:cNvPr>
              <p:cNvSpPr/>
              <p:nvPr/>
            </p:nvSpPr>
            <p:spPr>
              <a:xfrm>
                <a:off x="11181702" y="4648114"/>
                <a:ext cx="840679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2" name="矩形 141">
                <a:extLst>
                  <a:ext uri="{FF2B5EF4-FFF2-40B4-BE49-F238E27FC236}">
                    <a16:creationId xmlns:a16="http://schemas.microsoft.com/office/drawing/2014/main" id="{A37E7862-7788-45D2-9F03-CC29888F65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81702" y="4648114"/>
                <a:ext cx="840679" cy="52322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420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991" grpId="0"/>
      <p:bldP spid="51" grpId="0"/>
      <p:bldP spid="68" grpId="0" animBg="1"/>
      <p:bldP spid="74" grpId="0"/>
      <p:bldP spid="28" grpId="0"/>
      <p:bldP spid="29" grpId="0"/>
      <p:bldP spid="109" grpId="0"/>
      <p:bldP spid="81" grpId="0"/>
      <p:bldP spid="110" grpId="0"/>
      <p:bldP spid="141" grpId="0"/>
      <p:bldP spid="113" grpId="0"/>
      <p:bldP spid="146" grpId="0"/>
      <p:bldP spid="14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9">
            <a:extLst>
              <a:ext uri="{FF2B5EF4-FFF2-40B4-BE49-F238E27FC236}">
                <a16:creationId xmlns:a16="http://schemas.microsoft.com/office/drawing/2014/main" id="{D969169A-90DD-4926-A1A2-F974FB872C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058" y="580396"/>
            <a:ext cx="392928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q"/>
            </a:pPr>
            <a:r>
              <a:rPr lang="zh-CN" altLang="en-US" sz="3200" b="1" dirty="0">
                <a:solidFill>
                  <a:srgbClr val="0066FF"/>
                </a:solidFill>
                <a:ea typeface="华文楷体" panose="02010600040101010101" pitchFamily="2" charset="-122"/>
                <a:sym typeface="Monotype Sorts" pitchFamily="2" charset="2"/>
              </a:rPr>
              <a:t>基尔霍夫第二定律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EF8D45CA-E09B-4F59-8AAE-70D1F42EBDD8}"/>
                  </a:ext>
                </a:extLst>
              </p:cNvPr>
              <p:cNvSpPr/>
              <p:nvPr/>
            </p:nvSpPr>
            <p:spPr>
              <a:xfrm>
                <a:off x="4963618" y="1532311"/>
                <a:ext cx="4396973" cy="11356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∓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𝜺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b>
                              <m:r>
                                <a:rPr lang="en-US" altLang="zh-CN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zh-CN" altLang="en-US" sz="28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3" name="矩形 32">
                <a:extLst>
                  <a:ext uri="{FF2B5EF4-FFF2-40B4-BE49-F238E27FC236}">
                    <a16:creationId xmlns:a16="http://schemas.microsoft.com/office/drawing/2014/main" id="{EF8D45CA-E09B-4F59-8AAE-70D1F42EBDD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618" y="1532311"/>
                <a:ext cx="4396973" cy="11356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矩形 33">
            <a:extLst>
              <a:ext uri="{FF2B5EF4-FFF2-40B4-BE49-F238E27FC236}">
                <a16:creationId xmlns:a16="http://schemas.microsoft.com/office/drawing/2014/main" id="{AFAFCD7F-B37B-4D4E-9584-D088B118488D}"/>
              </a:ext>
            </a:extLst>
          </p:cNvPr>
          <p:cNvSpPr/>
          <p:nvPr/>
        </p:nvSpPr>
        <p:spPr>
          <a:xfrm>
            <a:off x="4182712" y="2799731"/>
            <a:ext cx="398538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选择回路并规定正方向</a:t>
            </a:r>
            <a:endParaRPr 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3231CD2-3DE8-43A0-8326-7525314C50EA}"/>
              </a:ext>
            </a:extLst>
          </p:cNvPr>
          <p:cNvSpPr txBox="1"/>
          <p:nvPr/>
        </p:nvSpPr>
        <p:spPr>
          <a:xfrm>
            <a:off x="4192473" y="3458208"/>
            <a:ext cx="79512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电动势方向和回路方向相同取负号，相反取正号</a:t>
            </a:r>
            <a:endParaRPr 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6F0B7B63-0BF6-409E-A006-55D3011C371D}"/>
              </a:ext>
            </a:extLst>
          </p:cNvPr>
          <p:cNvSpPr/>
          <p:nvPr/>
        </p:nvSpPr>
        <p:spPr>
          <a:xfrm>
            <a:off x="4192473" y="4116685"/>
            <a:ext cx="848961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 </a:t>
            </a: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电流方向和回路方向相同取正号，相反取负号</a:t>
            </a:r>
            <a:endParaRPr 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71CC3FD-0ADF-7DDD-269F-604603DAA9FE}"/>
              </a:ext>
            </a:extLst>
          </p:cNvPr>
          <p:cNvGrpSpPr/>
          <p:nvPr/>
        </p:nvGrpSpPr>
        <p:grpSpPr>
          <a:xfrm>
            <a:off x="914058" y="1576939"/>
            <a:ext cx="2891553" cy="2759668"/>
            <a:chOff x="1173681" y="3376529"/>
            <a:chExt cx="2891553" cy="2759668"/>
          </a:xfrm>
        </p:grpSpPr>
        <p:sp>
          <p:nvSpPr>
            <p:cNvPr id="3" name="Line 43">
              <a:extLst>
                <a:ext uri="{FF2B5EF4-FFF2-40B4-BE49-F238E27FC236}">
                  <a16:creationId xmlns:a16="http://schemas.microsoft.com/office/drawing/2014/main" id="{06753743-5700-8807-DD5A-F6F2262151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998306" y="4083049"/>
              <a:ext cx="1644788" cy="1467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800"/>
            </a:p>
          </p:txBody>
        </p:sp>
        <p:sp>
          <p:nvSpPr>
            <p:cNvPr id="5" name="Freeform 45">
              <a:extLst>
                <a:ext uri="{FF2B5EF4-FFF2-40B4-BE49-F238E27FC236}">
                  <a16:creationId xmlns:a16="http://schemas.microsoft.com/office/drawing/2014/main" id="{D010E372-5AFF-955C-EDCD-1A67FE3CA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9200" y="4083049"/>
              <a:ext cx="625791" cy="1456607"/>
            </a:xfrm>
            <a:custGeom>
              <a:avLst/>
              <a:gdLst>
                <a:gd name="T0" fmla="*/ 432 w 1248"/>
                <a:gd name="T1" fmla="*/ 0 h 912"/>
                <a:gd name="T2" fmla="*/ 0 w 1248"/>
                <a:gd name="T3" fmla="*/ 0 h 912"/>
                <a:gd name="T4" fmla="*/ 0 w 1248"/>
                <a:gd name="T5" fmla="*/ 912 h 912"/>
                <a:gd name="T6" fmla="*/ 1248 w 1248"/>
                <a:gd name="T7" fmla="*/ 912 h 9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48" h="912">
                  <a:moveTo>
                    <a:pt x="432" y="0"/>
                  </a:moveTo>
                  <a:lnTo>
                    <a:pt x="0" y="0"/>
                  </a:lnTo>
                  <a:lnTo>
                    <a:pt x="0" y="912"/>
                  </a:lnTo>
                  <a:lnTo>
                    <a:pt x="1248" y="912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800"/>
            </a:p>
          </p:txBody>
        </p:sp>
        <p:grpSp>
          <p:nvGrpSpPr>
            <p:cNvPr id="6" name="Group 46">
              <a:extLst>
                <a:ext uri="{FF2B5EF4-FFF2-40B4-BE49-F238E27FC236}">
                  <a16:creationId xmlns:a16="http://schemas.microsoft.com/office/drawing/2014/main" id="{70E9F86B-08D6-4108-844F-C839F649A6C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7115" y="5264150"/>
              <a:ext cx="135602" cy="533400"/>
              <a:chOff x="3120" y="2420"/>
              <a:chExt cx="96" cy="336"/>
            </a:xfrm>
          </p:grpSpPr>
          <p:sp>
            <p:nvSpPr>
              <p:cNvPr id="26" name="Line 47">
                <a:extLst>
                  <a:ext uri="{FF2B5EF4-FFF2-40B4-BE49-F238E27FC236}">
                    <a16:creationId xmlns:a16="http://schemas.microsoft.com/office/drawing/2014/main" id="{EB9A413B-24BC-C237-5B4B-3A6750DCDA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420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800"/>
              </a:p>
            </p:txBody>
          </p:sp>
          <p:sp>
            <p:nvSpPr>
              <p:cNvPr id="27" name="Line 48">
                <a:extLst>
                  <a:ext uri="{FF2B5EF4-FFF2-40B4-BE49-F238E27FC236}">
                    <a16:creationId xmlns:a16="http://schemas.microsoft.com/office/drawing/2014/main" id="{02038C01-4DEA-A9FA-B507-98DFB029A356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15" y="2504"/>
                <a:ext cx="1" cy="1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800"/>
              </a:p>
            </p:txBody>
          </p:sp>
        </p:grpSp>
        <p:sp>
          <p:nvSpPr>
            <p:cNvPr id="7" name="Freeform 52">
              <a:extLst>
                <a:ext uri="{FF2B5EF4-FFF2-40B4-BE49-F238E27FC236}">
                  <a16:creationId xmlns:a16="http://schemas.microsoft.com/office/drawing/2014/main" id="{3DD13F0F-C68C-068A-CFE0-C71DEE52C7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304" y="4083049"/>
              <a:ext cx="2055883" cy="1474471"/>
            </a:xfrm>
            <a:custGeom>
              <a:avLst/>
              <a:gdLst>
                <a:gd name="T0" fmla="*/ 295 w 651"/>
                <a:gd name="T1" fmla="*/ 0 h 891"/>
                <a:gd name="T2" fmla="*/ 651 w 651"/>
                <a:gd name="T3" fmla="*/ 0 h 891"/>
                <a:gd name="T4" fmla="*/ 651 w 651"/>
                <a:gd name="T5" fmla="*/ 891 h 891"/>
                <a:gd name="T6" fmla="*/ 0 w 651"/>
                <a:gd name="T7" fmla="*/ 891 h 8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1" h="891">
                  <a:moveTo>
                    <a:pt x="295" y="0"/>
                  </a:moveTo>
                  <a:cubicBezTo>
                    <a:pt x="414" y="0"/>
                    <a:pt x="532" y="0"/>
                    <a:pt x="651" y="0"/>
                  </a:cubicBezTo>
                  <a:lnTo>
                    <a:pt x="651" y="891"/>
                  </a:lnTo>
                  <a:lnTo>
                    <a:pt x="0" y="891"/>
                  </a:lnTo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en-US" sz="2800"/>
            </a:p>
          </p:txBody>
        </p:sp>
        <p:sp>
          <p:nvSpPr>
            <p:cNvPr id="8" name="Text Box 53">
              <a:extLst>
                <a:ext uri="{FF2B5EF4-FFF2-40B4-BE49-F238E27FC236}">
                  <a16:creationId xmlns:a16="http://schemas.microsoft.com/office/drawing/2014/main" id="{D5338DE7-6E56-FF2E-2CC1-BEBD2C767D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7253" y="4098925"/>
              <a:ext cx="30489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I</a:t>
              </a:r>
            </a:p>
          </p:txBody>
        </p:sp>
        <p:sp>
          <p:nvSpPr>
            <p:cNvPr id="10" name="Text Box 56">
              <a:extLst>
                <a:ext uri="{FF2B5EF4-FFF2-40B4-BE49-F238E27FC236}">
                  <a16:creationId xmlns:a16="http://schemas.microsoft.com/office/drawing/2014/main" id="{4B10546A-CBA3-42AB-8A01-05E134A400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7898" y="4153177"/>
              <a:ext cx="5437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1" name="Text Box 57">
              <a:extLst>
                <a:ext uri="{FF2B5EF4-FFF2-40B4-BE49-F238E27FC236}">
                  <a16:creationId xmlns:a16="http://schemas.microsoft.com/office/drawing/2014/main" id="{E3BBF873-C659-58A7-B39E-8952382308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9196" y="4103688"/>
              <a:ext cx="3642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b</a:t>
              </a:r>
            </a:p>
          </p:txBody>
        </p:sp>
        <p:sp>
          <p:nvSpPr>
            <p:cNvPr id="12" name="Oval 65">
              <a:extLst>
                <a:ext uri="{FF2B5EF4-FFF2-40B4-BE49-F238E27FC236}">
                  <a16:creationId xmlns:a16="http://schemas.microsoft.com/office/drawing/2014/main" id="{C4F6FFBC-D14F-2CC7-C0E2-FDDB5C88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62200" y="5507978"/>
              <a:ext cx="67801" cy="76200"/>
            </a:xfrm>
            <a:prstGeom prst="ellipse">
              <a:avLst/>
            </a:prstGeom>
            <a:solidFill>
              <a:srgbClr val="0033CC"/>
            </a:solidFill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3" name="Rectangle 44">
              <a:extLst>
                <a:ext uri="{FF2B5EF4-FFF2-40B4-BE49-F238E27FC236}">
                  <a16:creationId xmlns:a16="http://schemas.microsoft.com/office/drawing/2014/main" id="{505D6034-FA28-5DFD-CE0F-D2F3FF4783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7744" y="5437279"/>
              <a:ext cx="745813" cy="22860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4" name="Text Box 57">
              <a:extLst>
                <a:ext uri="{FF2B5EF4-FFF2-40B4-BE49-F238E27FC236}">
                  <a16:creationId xmlns:a16="http://schemas.microsoft.com/office/drawing/2014/main" id="{3B35A669-907B-B2B3-AE47-5C74819C78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26032" y="5059023"/>
              <a:ext cx="364203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a</a:t>
              </a:r>
            </a:p>
          </p:txBody>
        </p:sp>
        <p:sp>
          <p:nvSpPr>
            <p:cNvPr id="15" name="Oval 63">
              <a:extLst>
                <a:ext uri="{FF2B5EF4-FFF2-40B4-BE49-F238E27FC236}">
                  <a16:creationId xmlns:a16="http://schemas.microsoft.com/office/drawing/2014/main" id="{5351B130-6B90-9F24-E709-3D80D914DA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85184" y="4051301"/>
              <a:ext cx="67801" cy="76200"/>
            </a:xfrm>
            <a:prstGeom prst="ellipse">
              <a:avLst/>
            </a:prstGeom>
            <a:solidFill>
              <a:srgbClr val="0033CC"/>
            </a:solidFill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grpSp>
          <p:nvGrpSpPr>
            <p:cNvPr id="16" name="Group 46">
              <a:extLst>
                <a:ext uri="{FF2B5EF4-FFF2-40B4-BE49-F238E27FC236}">
                  <a16:creationId xmlns:a16="http://schemas.microsoft.com/office/drawing/2014/main" id="{928263C3-34B7-2742-74A5-6E875FB9D7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7163" y="3816349"/>
              <a:ext cx="135602" cy="533400"/>
              <a:chOff x="3120" y="2420"/>
              <a:chExt cx="96" cy="336"/>
            </a:xfrm>
          </p:grpSpPr>
          <p:sp>
            <p:nvSpPr>
              <p:cNvPr id="24" name="Line 47">
                <a:extLst>
                  <a:ext uri="{FF2B5EF4-FFF2-40B4-BE49-F238E27FC236}">
                    <a16:creationId xmlns:a16="http://schemas.microsoft.com/office/drawing/2014/main" id="{A606F6B2-A45F-0480-B183-D3099BEDE1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20" y="2420"/>
                <a:ext cx="0" cy="3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800"/>
              </a:p>
            </p:txBody>
          </p:sp>
          <p:sp>
            <p:nvSpPr>
              <p:cNvPr id="25" name="Line 48">
                <a:extLst>
                  <a:ext uri="{FF2B5EF4-FFF2-40B4-BE49-F238E27FC236}">
                    <a16:creationId xmlns:a16="http://schemas.microsoft.com/office/drawing/2014/main" id="{BD944DC9-E1CE-79D4-32D1-BBA1A8859072}"/>
                  </a:ext>
                </a:extLst>
              </p:cNvPr>
              <p:cNvSpPr>
                <a:spLocks noChangeAspect="1" noChangeShapeType="1"/>
              </p:cNvSpPr>
              <p:nvPr/>
            </p:nvSpPr>
            <p:spPr bwMode="auto">
              <a:xfrm>
                <a:off x="3215" y="2504"/>
                <a:ext cx="1" cy="16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en-US" sz="2800"/>
              </a:p>
            </p:txBody>
          </p:sp>
        </p:grpSp>
        <p:sp>
          <p:nvSpPr>
            <p:cNvPr id="17" name="Rectangle 44">
              <a:extLst>
                <a:ext uri="{FF2B5EF4-FFF2-40B4-BE49-F238E27FC236}">
                  <a16:creationId xmlns:a16="http://schemas.microsoft.com/office/drawing/2014/main" id="{39E39F4C-2CE7-4174-FB04-B01328BC45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6300" y="3967671"/>
              <a:ext cx="745813" cy="228600"/>
            </a:xfrm>
            <a:prstGeom prst="rect">
              <a:avLst/>
            </a:prstGeom>
            <a:solidFill>
              <a:srgbClr val="FFFF99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18" name="Text Box 56">
              <a:extLst>
                <a:ext uri="{FF2B5EF4-FFF2-40B4-BE49-F238E27FC236}">
                  <a16:creationId xmlns:a16="http://schemas.microsoft.com/office/drawing/2014/main" id="{9E1EFAEA-EEEE-9043-53DF-05CCD2DF67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95413" y="4987722"/>
              <a:ext cx="543739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cap="rnd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SzTx/>
                <a:buFontTx/>
                <a:buNone/>
              </a:pPr>
              <a:r>
                <a:rPr lang="en-US" altLang="zh-CN" sz="2800" i="1" dirty="0">
                  <a:latin typeface="Times New Roman" panose="02020603050405020304" pitchFamily="18" charset="0"/>
                </a:rPr>
                <a:t>R</a:t>
              </a:r>
              <a:r>
                <a:rPr lang="en-US" altLang="zh-CN" sz="2800" baseline="-25000" dirty="0">
                  <a:latin typeface="Times New Roman" panose="02020603050405020304" pitchFamily="18" charset="0"/>
                </a:rPr>
                <a:t>2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F91ED79-52C6-E1BB-88D0-5AFC955B3E97}"/>
                    </a:ext>
                  </a:extLst>
                </p:cNvPr>
                <p:cNvSpPr txBox="1"/>
                <p:nvPr/>
              </p:nvSpPr>
              <p:spPr>
                <a:xfrm>
                  <a:off x="1173681" y="3376529"/>
                  <a:ext cx="152399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sz="2800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zh-CN" sz="2800" i="1" dirty="0">
                            <a:solidFill>
                              <a:schemeClr val="tx1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zh-CN" altLang="en-US" sz="2800" baseline="-25000" dirty="0">
                            <a:solidFill>
                              <a:schemeClr val="tx1"/>
                            </a:solidFill>
                          </a:rPr>
                          <m:t>内</m:t>
                        </m:r>
                        <m:r>
                          <m:rPr>
                            <m:nor/>
                          </m:rPr>
                          <a:rPr lang="en-US" altLang="zh-CN" sz="2800" i="0" baseline="-25000" dirty="0" smtClean="0">
                            <a:solidFill>
                              <a:schemeClr val="tx1"/>
                            </a:solidFill>
                          </a:rPr>
                          <m:t>1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3F91ED79-52C6-E1BB-88D0-5AFC955B3E9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73681" y="3376529"/>
                  <a:ext cx="1523996" cy="52322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99A24D4-2010-EA46-1E5D-E88A04ECE729}"/>
                    </a:ext>
                  </a:extLst>
                </p:cNvPr>
                <p:cNvSpPr txBox="1"/>
                <p:nvPr/>
              </p:nvSpPr>
              <p:spPr>
                <a:xfrm>
                  <a:off x="1205927" y="5612977"/>
                  <a:ext cx="1523996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sz="2800" b="0" i="1" baseline="-2500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sz="2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nor/>
                          </m:rPr>
                          <a:rPr lang="en-US" altLang="zh-CN" sz="2800" i="1" dirty="0">
                            <a:solidFill>
                              <a:schemeClr val="tx1"/>
                            </a:solidFill>
                          </a:rPr>
                          <m:t>R</m:t>
                        </m:r>
                        <m:r>
                          <m:rPr>
                            <m:nor/>
                          </m:rPr>
                          <a:rPr lang="zh-CN" altLang="en-US" sz="2800" baseline="-25000" dirty="0">
                            <a:solidFill>
                              <a:schemeClr val="tx1"/>
                            </a:solidFill>
                          </a:rPr>
                          <m:t>内</m:t>
                        </m:r>
                        <m:r>
                          <m:rPr>
                            <m:nor/>
                          </m:rPr>
                          <a:rPr lang="en-US" altLang="zh-CN" sz="2800" i="0" baseline="-25000" dirty="0" smtClean="0">
                            <a:solidFill>
                              <a:schemeClr val="tx1"/>
                            </a:solidFill>
                          </a:rPr>
                          <m:t>2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99A24D4-2010-EA46-1E5D-E88A04ECE7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5927" y="5612977"/>
                  <a:ext cx="1523996" cy="52322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Oval 63">
              <a:extLst>
                <a:ext uri="{FF2B5EF4-FFF2-40B4-BE49-F238E27FC236}">
                  <a16:creationId xmlns:a16="http://schemas.microsoft.com/office/drawing/2014/main" id="{B18F7F50-33CD-D1AF-70BB-F029EFADFB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83209" y="4773966"/>
              <a:ext cx="67801" cy="76200"/>
            </a:xfrm>
            <a:prstGeom prst="ellipse">
              <a:avLst/>
            </a:prstGeom>
            <a:solidFill>
              <a:srgbClr val="0033CC"/>
            </a:solidFill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  <p:sp>
          <p:nvSpPr>
            <p:cNvPr id="22" name="Oval 63">
              <a:extLst>
                <a:ext uri="{FF2B5EF4-FFF2-40B4-BE49-F238E27FC236}">
                  <a16:creationId xmlns:a16="http://schemas.microsoft.com/office/drawing/2014/main" id="{BCBA9C1C-4F36-F74F-71DB-71ED66AEE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7433" y="4724400"/>
              <a:ext cx="67801" cy="76200"/>
            </a:xfrm>
            <a:prstGeom prst="ellipse">
              <a:avLst/>
            </a:prstGeom>
            <a:solidFill>
              <a:srgbClr val="0033CC"/>
            </a:solidFill>
            <a:ln w="28575">
              <a:solidFill>
                <a:srgbClr val="0033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SzPct val="90000"/>
                <a:buBlip>
                  <a:blip r:embed="rId3"/>
                </a:buBlip>
                <a:defRPr kumimoji="1" sz="32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SzPct val="80000"/>
                <a:buBlip>
                  <a:blip r:embed="rId4"/>
                </a:buBlip>
                <a:defRPr kumimoji="1" sz="28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SzPct val="70000"/>
                <a:buBlip>
                  <a:blip r:embed="rId5"/>
                </a:buBlip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SzPct val="70000"/>
                <a:buBlip>
                  <a:blip r:embed="rId6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SzPct val="70000"/>
                <a:buBlip>
                  <a:blip r:embed="rId7"/>
                </a:buBlip>
                <a:defRPr kumimoji="1" sz="20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SzTx/>
                <a:buFontTx/>
                <a:buNone/>
              </a:pPr>
              <a:endParaRPr lang="en-US" altLang="en-US" sz="2800">
                <a:latin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A4FD061-ED8E-E12A-C674-ED2990D3EC90}"/>
                  </a:ext>
                </a:extLst>
              </p:cNvPr>
              <p:cNvSpPr txBox="1"/>
              <p:nvPr/>
            </p:nvSpPr>
            <p:spPr>
              <a:xfrm>
                <a:off x="1910080" y="5120596"/>
                <a:ext cx="6107076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28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solidFill>
                            <a:schemeClr val="tx1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zh-CN" altLang="en-US" sz="2800" baseline="-25000" dirty="0">
                          <a:solidFill>
                            <a:schemeClr val="tx1"/>
                          </a:solidFill>
                        </a:rPr>
                        <m:t>内</m:t>
                      </m:r>
                      <m:r>
                        <m:rPr>
                          <m:nor/>
                        </m:rPr>
                        <a:rPr lang="en-US" altLang="zh-CN" sz="2800" i="0" baseline="-25000" dirty="0" smtClean="0">
                          <a:solidFill>
                            <a:schemeClr val="tx1"/>
                          </a:solidFill>
                        </a:rPr>
                        <m:t>1</m:t>
                      </m:r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sz="28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𝐼𝑅</m:t>
                      </m:r>
                      <m:r>
                        <a:rPr lang="en-US" sz="28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m:rPr>
                          <m:nor/>
                        </m:rPr>
                        <a:rPr lang="en-US" altLang="zh-CN" sz="2800" i="1" dirty="0">
                          <a:solidFill>
                            <a:schemeClr val="tx1"/>
                          </a:solidFill>
                        </a:rPr>
                        <m:t>R</m:t>
                      </m:r>
                      <m:r>
                        <m:rPr>
                          <m:nor/>
                        </m:rPr>
                        <a:rPr lang="zh-CN" altLang="en-US" sz="2800" baseline="-25000" dirty="0">
                          <a:solidFill>
                            <a:schemeClr val="tx1"/>
                          </a:solidFill>
                        </a:rPr>
                        <m:t>内</m:t>
                      </m:r>
                      <m:r>
                        <m:rPr>
                          <m:nor/>
                        </m:rPr>
                        <a:rPr lang="en-US" altLang="zh-CN" sz="2800" i="0" baseline="-25000" dirty="0" smtClean="0">
                          <a:solidFill>
                            <a:schemeClr val="tx1"/>
                          </a:solidFill>
                        </a:rPr>
                        <m:t>2</m:t>
                      </m:r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n-US" sz="2800" b="0" i="1" baseline="-2500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b="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2A4FD061-ED8E-E12A-C674-ED2990D3E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0080" y="5120596"/>
                <a:ext cx="6107076" cy="430887"/>
              </a:xfrm>
              <a:prstGeom prst="rect">
                <a:avLst/>
              </a:prstGeom>
              <a:blipFill>
                <a:blip r:embed="rId10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2C976D0-A3B1-C4F1-1832-CD72C9FA4BD1}"/>
                  </a:ext>
                </a:extLst>
              </p:cNvPr>
              <p:cNvSpPr txBox="1"/>
              <p:nvPr/>
            </p:nvSpPr>
            <p:spPr>
              <a:xfrm>
                <a:off x="2178338" y="6032174"/>
                <a:ext cx="5570560" cy="43088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just"/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800" b="0" i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</a:rPr>
                      <m:t>(</m:t>
                    </m:r>
                    <m:r>
                      <a:rPr lang="en-US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800" b="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sz="2800" b="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nor/>
                      </m:rPr>
                      <a:rPr lang="en-US" sz="2800" dirty="0">
                        <a:solidFill>
                          <a:schemeClr val="tx1"/>
                        </a:solidFill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/(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2800" i="1" dirty="0">
                        <a:solidFill>
                          <a:schemeClr val="tx1"/>
                        </a:solidFill>
                      </a:rPr>
                      <m:t>R</m:t>
                    </m:r>
                    <m:r>
                      <m:rPr>
                        <m:nor/>
                      </m:rPr>
                      <a:rPr lang="zh-CN" altLang="en-US" sz="2800" baseline="-25000" dirty="0">
                        <a:solidFill>
                          <a:schemeClr val="tx1"/>
                        </a:solidFill>
                      </a:rPr>
                      <m:t>内</m:t>
                    </m:r>
                    <m:r>
                      <m:rPr>
                        <m:nor/>
                      </m:rPr>
                      <a:rPr lang="en-US" altLang="zh-CN" sz="2800" baseline="-25000" dirty="0">
                        <a:solidFill>
                          <a:schemeClr val="tx1"/>
                        </a:solidFill>
                      </a:rPr>
                      <m:t>1</m:t>
                    </m:r>
                    <m:r>
                      <a:rPr lang="en-US" sz="2800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b="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sz="2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800" b="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US" sz="2800" b="0" i="1" baseline="-2500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sz="2800" b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en-US" altLang="zh-CN" sz="2800" i="1" dirty="0">
                        <a:solidFill>
                          <a:schemeClr val="tx1"/>
                        </a:solidFill>
                      </a:rPr>
                      <m:t>R</m:t>
                    </m:r>
                    <m:r>
                      <m:rPr>
                        <m:nor/>
                      </m:rPr>
                      <a:rPr lang="zh-CN" altLang="en-US" sz="2800" baseline="-25000" dirty="0">
                        <a:solidFill>
                          <a:schemeClr val="tx1"/>
                        </a:solidFill>
                      </a:rPr>
                      <m:t>内</m:t>
                    </m:r>
                    <m:r>
                      <m:rPr>
                        <m:nor/>
                      </m:rPr>
                      <a:rPr lang="en-US" altLang="zh-CN" sz="2800" baseline="-25000" dirty="0">
                        <a:solidFill>
                          <a:schemeClr val="tx1"/>
                        </a:solidFill>
                      </a:rPr>
                      <m:t>2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)</a:t>
                </a:r>
              </a:p>
            </p:txBody>
          </p:sp>
        </mc:Choice>
        <mc:Fallback xmlns="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2C976D0-A3B1-C4F1-1832-CD72C9FA4B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338" y="6032174"/>
                <a:ext cx="5570560" cy="430887"/>
              </a:xfrm>
              <a:prstGeom prst="rect">
                <a:avLst/>
              </a:prstGeom>
              <a:blipFill>
                <a:blip r:embed="rId11"/>
                <a:stretch>
                  <a:fillRect t="-25714" b="-5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Line 54">
            <a:extLst>
              <a:ext uri="{FF2B5EF4-FFF2-40B4-BE49-F238E27FC236}">
                <a16:creationId xmlns:a16="http://schemas.microsoft.com/office/drawing/2014/main" id="{D3DC3523-CC58-452B-8422-95C9FBFFAB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8177" y="2283460"/>
            <a:ext cx="406807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en-US" sz="2800"/>
          </a:p>
        </p:txBody>
      </p:sp>
      <p:sp>
        <p:nvSpPr>
          <p:cNvPr id="32" name="箭头: 下弧形 31">
            <a:extLst>
              <a:ext uri="{FF2B5EF4-FFF2-40B4-BE49-F238E27FC236}">
                <a16:creationId xmlns:a16="http://schemas.microsoft.com/office/drawing/2014/main" id="{1F894955-5718-803C-05F6-D6BB7B272D43}"/>
              </a:ext>
            </a:extLst>
          </p:cNvPr>
          <p:cNvSpPr/>
          <p:nvPr/>
        </p:nvSpPr>
        <p:spPr bwMode="auto">
          <a:xfrm rot="5400000" flipH="1">
            <a:off x="1077576" y="2784001"/>
            <a:ext cx="815325" cy="480474"/>
          </a:xfrm>
          <a:prstGeom prst="curvedUpArrow">
            <a:avLst>
              <a:gd name="adj1" fmla="val 25000"/>
              <a:gd name="adj2" fmla="val 50000"/>
              <a:gd name="adj3" fmla="val 23646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en-US" sz="2800" i="0" u="none" strike="noStrike" cap="none" normalizeH="0" baseline="0">
              <a:ln>
                <a:noFill/>
              </a:ln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39583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  <p:bldP spid="36" grpId="0"/>
      <p:bldP spid="28" grpId="0"/>
      <p:bldP spid="29" grpId="0"/>
      <p:bldP spid="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2F7BC148-6BD7-4F3F-A52C-47569E583C0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" t="41227" r="51847" b="17884"/>
          <a:stretch/>
        </p:blipFill>
        <p:spPr>
          <a:xfrm rot="10800000">
            <a:off x="6647870" y="2283491"/>
            <a:ext cx="5213647" cy="32065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612801-16A4-CAD5-4B0F-76EF6AF7DC2B}"/>
                  </a:ext>
                </a:extLst>
              </p:cNvPr>
              <p:cNvSpPr txBox="1"/>
              <p:nvPr/>
            </p:nvSpPr>
            <p:spPr>
              <a:xfrm>
                <a:off x="990390" y="578939"/>
                <a:ext cx="108839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如图所示的电路，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=12V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=8 V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=0.5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=3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=1.5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=4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。试求通过每个电阻的电流。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612801-16A4-CAD5-4B0F-76EF6AF7D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90" y="578939"/>
                <a:ext cx="10883900" cy="954107"/>
              </a:xfrm>
              <a:prstGeom prst="rect">
                <a:avLst/>
              </a:prstGeom>
              <a:blipFill>
                <a:blip r:embed="rId8"/>
                <a:stretch>
                  <a:fillRect l="-1120" t="-8333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矩形 2">
            <a:extLst>
              <a:ext uri="{FF2B5EF4-FFF2-40B4-BE49-F238E27FC236}">
                <a16:creationId xmlns:a16="http://schemas.microsoft.com/office/drawing/2014/main" id="{6A667C44-1563-9652-BA32-DF753E03918B}"/>
              </a:ext>
            </a:extLst>
          </p:cNvPr>
          <p:cNvSpPr/>
          <p:nvPr/>
        </p:nvSpPr>
        <p:spPr>
          <a:xfrm>
            <a:off x="1418526" y="1760271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  <a:sym typeface="Monotype Sorts" pitchFamily="2" charset="2"/>
              </a:rPr>
              <a:t>基尔霍夫定律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p:sp>
        <p:nvSpPr>
          <p:cNvPr id="4" name="Rectangle 1027">
            <a:extLst>
              <a:ext uri="{FF2B5EF4-FFF2-40B4-BE49-F238E27FC236}">
                <a16:creationId xmlns:a16="http://schemas.microsoft.com/office/drawing/2014/main" id="{42C24C46-9B88-6D60-AE58-17DE11ADB2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45" y="2510716"/>
            <a:ext cx="6417353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90000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10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11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12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如果电路中有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+mn-ea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个节点，那么只有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</a:rPr>
              <a:t>(</a:t>
            </a:r>
            <a:r>
              <a:rPr lang="en-US" altLang="zh-CN" sz="2800" i="1" dirty="0">
                <a:solidFill>
                  <a:srgbClr val="000000"/>
                </a:solidFill>
                <a:latin typeface="+mn-lt"/>
                <a:ea typeface="+mn-ea"/>
              </a:rPr>
              <a:t>n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－</a:t>
            </a: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</a:rPr>
              <a:t>1)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个相互独立的节点电流方程。</a:t>
            </a:r>
            <a:endParaRPr lang="en-US" altLang="zh-CN" sz="28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5" name="Rectangle 1028">
            <a:extLst>
              <a:ext uri="{FF2B5EF4-FFF2-40B4-BE49-F238E27FC236}">
                <a16:creationId xmlns:a16="http://schemas.microsoft.com/office/drawing/2014/main" id="{3833A137-A1E7-1FC2-711B-7CF063F80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46" y="3718772"/>
            <a:ext cx="6075922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90000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10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11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12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新选定的回路中，至少应有一段电路是已选回路中未曾出现过的。</a:t>
            </a:r>
            <a:endParaRPr lang="en-US" altLang="zh-CN" sz="28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  <p:sp>
        <p:nvSpPr>
          <p:cNvPr id="6" name="Rectangle 1029">
            <a:extLst>
              <a:ext uri="{FF2B5EF4-FFF2-40B4-BE49-F238E27FC236}">
                <a16:creationId xmlns:a16="http://schemas.microsoft.com/office/drawing/2014/main" id="{F0EF5DEC-CC15-E1C8-2FBD-A97ABE2EB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046" y="4926828"/>
            <a:ext cx="6417353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SzPct val="90000"/>
              <a:buBlip>
                <a:blip r:embed="rId9"/>
              </a:buBlip>
              <a:defRPr kumimoji="1"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SzPct val="80000"/>
              <a:buBlip>
                <a:blip r:embed="rId10"/>
              </a:buBlip>
              <a:defRPr kumimoji="1"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SzPct val="70000"/>
              <a:buBlip>
                <a:blip r:embed="rId11"/>
              </a:buBlip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SzPct val="70000"/>
              <a:buBlip>
                <a:blip r:embed="rId12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SzPct val="70000"/>
              <a:buBlip>
                <a:blip r:embed="rId13"/>
              </a:buBlip>
              <a:defRPr kumimoji="1"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SzTx/>
              <a:buFontTx/>
              <a:buNone/>
            </a:pPr>
            <a:r>
              <a:rPr lang="en-US" altLang="zh-CN" sz="2800" dirty="0">
                <a:solidFill>
                  <a:srgbClr val="000000"/>
                </a:solidFill>
                <a:latin typeface="+mn-lt"/>
                <a:ea typeface="+mn-ea"/>
              </a:rPr>
              <a:t>- </a:t>
            </a:r>
            <a:r>
              <a:rPr lang="zh-CN" altLang="en-US" sz="2800" dirty="0">
                <a:solidFill>
                  <a:srgbClr val="000000"/>
                </a:solidFill>
                <a:latin typeface="+mn-lt"/>
                <a:ea typeface="+mn-ea"/>
              </a:rPr>
              <a:t>独立方程的个数应等于未知数的个数。</a:t>
            </a:r>
            <a:endParaRPr lang="en-US" altLang="zh-CN" sz="2800" dirty="0">
              <a:solidFill>
                <a:srgbClr val="000000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01552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8B68FAED-C6B2-40A7-9713-B49EECC09F94}"/>
              </a:ext>
            </a:extLst>
          </p:cNvPr>
          <p:cNvSpPr/>
          <p:nvPr/>
        </p:nvSpPr>
        <p:spPr>
          <a:xfrm>
            <a:off x="1418526" y="1760271"/>
            <a:ext cx="23391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  <a:sym typeface="Monotype Sorts" pitchFamily="2" charset="2"/>
              </a:rPr>
              <a:t>基尔霍夫定律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FDD9443-1131-4010-BD32-D2F5AF499C2D}"/>
                  </a:ext>
                </a:extLst>
              </p:cNvPr>
              <p:cNvSpPr/>
              <p:nvPr/>
            </p:nvSpPr>
            <p:spPr>
              <a:xfrm>
                <a:off x="2502354" y="2612772"/>
                <a:ext cx="357149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800" i="1" smtClean="0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m:t>  </m:t>
                      </m:r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CN" altLang="en-US" sz="2800" i="1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m:t>   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altLang="zh-CN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zh-CN" altLang="en-US" sz="2800" i="1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m:t>    </m:t>
                      </m:r>
                      <m:sSub>
                        <m:sSubPr>
                          <m:ctrlPr>
                            <a:rPr lang="zh-CN" altLang="en-US" sz="28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sz="2800" b="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800" b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zh-CN" altLang="en-US" sz="2800" i="1">
                          <a:solidFill>
                            <a:schemeClr val="tx1"/>
                          </a:solidFill>
                          <a:cs typeface="Times New Roman" panose="02020603050405020304" pitchFamily="18" charset="0"/>
                        </a:rPr>
                        <m:t>    </m:t>
                      </m:r>
                      <m:r>
                        <a:rPr lang="zh-CN" altLang="en-US" sz="2800" b="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2800" dirty="0">
                  <a:solidFill>
                    <a:schemeClr val="tx1"/>
                  </a:solidFill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BFDD9443-1131-4010-BD32-D2F5AF499C2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2354" y="2612772"/>
                <a:ext cx="3571491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图片 10">
            <a:extLst>
              <a:ext uri="{FF2B5EF4-FFF2-40B4-BE49-F238E27FC236}">
                <a16:creationId xmlns:a16="http://schemas.microsoft.com/office/drawing/2014/main" id="{2F7BC148-6BD7-4F3F-A52C-47569E583C04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10" t="41227" r="51847" b="17884"/>
          <a:stretch/>
        </p:blipFill>
        <p:spPr>
          <a:xfrm rot="10800000">
            <a:off x="6647870" y="2283491"/>
            <a:ext cx="5213647" cy="3206537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ECA1B14F-5052-4D29-8016-3E8B2AFF5DC1}"/>
              </a:ext>
            </a:extLst>
          </p:cNvPr>
          <p:cNvSpPr txBox="1"/>
          <p:nvPr/>
        </p:nvSpPr>
        <p:spPr>
          <a:xfrm>
            <a:off x="1689990" y="2612772"/>
            <a:ext cx="1624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</a:rPr>
              <a:t>节点</a:t>
            </a:r>
            <a:r>
              <a:rPr lang="en-US" altLang="zh-CN" sz="2800" dirty="0">
                <a:cs typeface="Times New Roman" panose="02020603050405020304" pitchFamily="18" charset="0"/>
              </a:rPr>
              <a:t>a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514B439-8EDF-47BD-8DBA-732A2B39EC2D}"/>
              </a:ext>
            </a:extLst>
          </p:cNvPr>
          <p:cNvSpPr txBox="1"/>
          <p:nvPr/>
        </p:nvSpPr>
        <p:spPr>
          <a:xfrm>
            <a:off x="1689990" y="3497747"/>
            <a:ext cx="1624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</a:rPr>
              <a:t>回路</a:t>
            </a:r>
            <a:r>
              <a:rPr lang="en-US" altLang="zh-CN" sz="2800" dirty="0">
                <a:cs typeface="Times New Roman" panose="02020603050405020304" pitchFamily="18" charset="0"/>
              </a:rPr>
              <a:t>I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9F00D3A-2C97-4D24-92BC-C1D66C7FB5A8}"/>
                  </a:ext>
                </a:extLst>
              </p:cNvPr>
              <p:cNvSpPr txBox="1"/>
              <p:nvPr/>
            </p:nvSpPr>
            <p:spPr>
              <a:xfrm>
                <a:off x="2910221" y="3496533"/>
                <a:ext cx="3416513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-</a:t>
                </a:r>
                <a14:m>
                  <m:oMath xmlns:m="http://schemas.openxmlformats.org/officeDocument/2006/math">
                    <m:r>
                      <a:rPr lang="zh-CN" altLang="en-US" sz="2800" b="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+I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 (R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+</a:t>
                </a:r>
                <a:r>
                  <a:rPr lang="en-US" sz="2800" dirty="0">
                    <a:cs typeface="Times New Roman" panose="02020603050405020304" pitchFamily="18" charset="0"/>
                  </a:rPr>
                  <a:t>r</a:t>
                </a:r>
                <a:r>
                  <a:rPr lang="en-US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sz="2800" dirty="0">
                    <a:cs typeface="Times New Roman" panose="02020603050405020304" pitchFamily="18" charset="0"/>
                  </a:rPr>
                  <a:t>)+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I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49F00D3A-2C97-4D24-92BC-C1D66C7FB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0221" y="3496533"/>
                <a:ext cx="3416513" cy="523220"/>
              </a:xfrm>
              <a:prstGeom prst="rect">
                <a:avLst/>
              </a:prstGeom>
              <a:blipFill>
                <a:blip r:embed="rId5"/>
                <a:stretch>
                  <a:fillRect l="-3565" t="-12941" r="-1070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文本框 15">
            <a:extLst>
              <a:ext uri="{FF2B5EF4-FFF2-40B4-BE49-F238E27FC236}">
                <a16:creationId xmlns:a16="http://schemas.microsoft.com/office/drawing/2014/main" id="{81F58DD5-208D-43FF-AE48-8AB66A50672D}"/>
              </a:ext>
            </a:extLst>
          </p:cNvPr>
          <p:cNvSpPr txBox="1"/>
          <p:nvPr/>
        </p:nvSpPr>
        <p:spPr>
          <a:xfrm>
            <a:off x="1689990" y="4489982"/>
            <a:ext cx="16247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cs typeface="Times New Roman" panose="02020603050405020304" pitchFamily="18" charset="0"/>
              </a:rPr>
              <a:t>回路</a:t>
            </a:r>
            <a:r>
              <a:rPr lang="en-US" altLang="zh-CN" sz="2800" dirty="0">
                <a:cs typeface="Times New Roman" panose="02020603050405020304" pitchFamily="18" charset="0"/>
              </a:rPr>
              <a:t>II</a:t>
            </a:r>
            <a:endParaRPr lang="en-US" sz="2800" dirty="0"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6FF01B6-5148-4155-9308-CD437D8ACFD3}"/>
                  </a:ext>
                </a:extLst>
              </p:cNvPr>
              <p:cNvSpPr txBox="1"/>
              <p:nvPr/>
            </p:nvSpPr>
            <p:spPr>
              <a:xfrm>
                <a:off x="2976937" y="4461296"/>
                <a:ext cx="324640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zh-CN" altLang="en-US" sz="28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𝜀</m:t>
                    </m:r>
                    <m:r>
                      <a:rPr lang="en-US" altLang="zh-CN" sz="2800" b="0" i="0" baseline="-2500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+I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cs typeface="Times New Roman" panose="02020603050405020304" pitchFamily="18" charset="0"/>
                  </a:rPr>
                  <a:t> (R</a:t>
                </a:r>
                <a:r>
                  <a:rPr lang="en-US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cs typeface="Times New Roman" panose="02020603050405020304" pitchFamily="18" charset="0"/>
                  </a:rPr>
                  <a:t>+r</a:t>
                </a:r>
                <a:r>
                  <a:rPr lang="en-US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sz="2800" dirty="0">
                    <a:cs typeface="Times New Roman" panose="02020603050405020304" pitchFamily="18" charset="0"/>
                  </a:rPr>
                  <a:t>) 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-I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R</a:t>
                </a:r>
                <a:r>
                  <a:rPr lang="en-US" sz="2800" baseline="-250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3</a:t>
                </a:r>
                <a:r>
                  <a:rPr lang="en-US" sz="2800" dirty="0">
                    <a:solidFill>
                      <a:schemeClr val="tx1"/>
                    </a:solidFill>
                    <a:cs typeface="Times New Roman" panose="02020603050405020304" pitchFamily="18" charset="0"/>
                  </a:rPr>
                  <a:t>=0</a:t>
                </a:r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76FF01B6-5148-4155-9308-CD437D8ACF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6937" y="4461296"/>
                <a:ext cx="3246402" cy="523220"/>
              </a:xfrm>
              <a:prstGeom prst="rect">
                <a:avLst/>
              </a:prstGeom>
              <a:blipFill>
                <a:blip r:embed="rId6"/>
                <a:stretch>
                  <a:fillRect t="-12791" r="-2814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文本框 17">
            <a:extLst>
              <a:ext uri="{FF2B5EF4-FFF2-40B4-BE49-F238E27FC236}">
                <a16:creationId xmlns:a16="http://schemas.microsoft.com/office/drawing/2014/main" id="{D3AC8F98-FB24-4CA9-8E61-D5206EC7F8BE}"/>
              </a:ext>
            </a:extLst>
          </p:cNvPr>
          <p:cNvSpPr txBox="1"/>
          <p:nvPr/>
        </p:nvSpPr>
        <p:spPr>
          <a:xfrm>
            <a:off x="7680006" y="2118665"/>
            <a:ext cx="11540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1.25 A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B7D26A12-BCEE-40B2-BFF5-BB90A321B344}"/>
              </a:ext>
            </a:extLst>
          </p:cNvPr>
          <p:cNvSpPr txBox="1"/>
          <p:nvPr/>
        </p:nvSpPr>
        <p:spPr>
          <a:xfrm>
            <a:off x="9292307" y="2098826"/>
            <a:ext cx="11540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-0.5 A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89A4F2A6-7D0C-422C-9ABA-7E0CF82059EE}"/>
              </a:ext>
            </a:extLst>
          </p:cNvPr>
          <p:cNvSpPr txBox="1"/>
          <p:nvPr/>
        </p:nvSpPr>
        <p:spPr>
          <a:xfrm>
            <a:off x="8765847" y="4199686"/>
            <a:ext cx="1153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1.75A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612801-16A4-CAD5-4B0F-76EF6AF7DC2B}"/>
                  </a:ext>
                </a:extLst>
              </p:cNvPr>
              <p:cNvSpPr txBox="1"/>
              <p:nvPr/>
            </p:nvSpPr>
            <p:spPr>
              <a:xfrm>
                <a:off x="990390" y="578939"/>
                <a:ext cx="108839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/>
                  <a:t>如图所示的电路，</a:t>
                </a:r>
                <a14:m>
                  <m:oMath xmlns:m="http://schemas.openxmlformats.org/officeDocument/2006/math"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=12V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2800" b="0" i="0" dirty="0" smtClean="0">
                        <a:latin typeface="Cambria Math" panose="02040503050406030204" pitchFamily="18" charset="0"/>
                      </a:rPr>
                      <m:t>     </m:t>
                    </m:r>
                    <m:r>
                      <a:rPr lang="zh-CN" altLang="en-US" sz="2800" i="1" dirty="0">
                        <a:latin typeface="Cambria Math" panose="02040503050406030204" pitchFamily="18" charset="0"/>
                      </a:rPr>
                      <m:t>𝜀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=8 V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800" i="1" dirty="0"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=0.5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1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=3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2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=1.5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zh-CN" sz="2800" b="0" i="1" dirty="0" smtClean="0"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lang="en-US" altLang="zh-CN" sz="2800" baseline="-25000" dirty="0"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=4 </a:t>
                </a:r>
                <a:r>
                  <a:rPr lang="el-GR" altLang="zh-CN" sz="2800" dirty="0">
                    <a:cs typeface="Times New Roman" panose="02020603050405020304" pitchFamily="18" charset="0"/>
                  </a:rPr>
                  <a:t>Ω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。试求通过每个电阻的电流。</a:t>
                </a:r>
                <a:r>
                  <a:rPr lang="en-US" altLang="zh-CN" sz="2800" dirty="0">
                    <a:cs typeface="Times New Roman" panose="02020603050405020304" pitchFamily="18" charset="0"/>
                  </a:rPr>
                  <a:t> </a:t>
                </a:r>
                <a:endParaRPr lang="zh-CN" altLang="en-US" sz="2800" dirty="0"/>
              </a:p>
            </p:txBody>
          </p:sp>
        </mc:Choice>
        <mc:Fallback xmlns="">
          <p:sp>
            <p:nvSpPr>
              <p:cNvPr id="2" name="文本框 1">
                <a:extLst>
                  <a:ext uri="{FF2B5EF4-FFF2-40B4-BE49-F238E27FC236}">
                    <a16:creationId xmlns:a16="http://schemas.microsoft.com/office/drawing/2014/main" id="{17612801-16A4-CAD5-4B0F-76EF6AF7DC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390" y="578939"/>
                <a:ext cx="10883900" cy="954107"/>
              </a:xfrm>
              <a:prstGeom prst="rect">
                <a:avLst/>
              </a:prstGeom>
              <a:blipFill>
                <a:blip r:embed="rId8"/>
                <a:stretch>
                  <a:fillRect l="-1120" t="-8333" b="-173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1956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5" grpId="0"/>
      <p:bldP spid="16" grpId="0"/>
      <p:bldP spid="17" grpId="0"/>
      <p:bldP spid="18" grpId="0"/>
      <p:bldP spid="19" grpId="0"/>
      <p:bldP spid="20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BLEMSCORE" val="1.0"/>
  <p:tag name="RAINPROBLEMTYPE" val="MultipleChoiceMA"/>
  <p:tag name="RAINPROBLEM" val="MultipleChoiceMA"/>
  <p:tag name="PROBLEMSCORE_HALF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MultipleChoiceM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MultipleChoiceMA"/>
  <p:tag name="RAINBULLET" val="Correct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MultipleChoiceM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MultipleChoiceM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大学物理">
      <a:majorFont>
        <a:latin typeface="Times New Roman"/>
        <a:ea typeface="华文楷体"/>
        <a:cs typeface=""/>
      </a:majorFont>
      <a:minorFont>
        <a:latin typeface="Times New Roman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档" ma:contentTypeID="0x010100CA343C45D49B2744AE1406E56A2ED666" ma:contentTypeVersion="1" ma:contentTypeDescription="新建文档。" ma:contentTypeScope="" ma:versionID="6b0f810430c447e99b80ecacf0b04663">
  <xsd:schema xmlns:xsd="http://www.w3.org/2001/XMLSchema" xmlns:xs="http://www.w3.org/2001/XMLSchema" xmlns:p="http://schemas.microsoft.com/office/2006/metadata/properties" xmlns:ns3="25ea6e4d-8952-4839-be57-11fda0df19d2" targetNamespace="http://schemas.microsoft.com/office/2006/metadata/properties" ma:root="true" ma:fieldsID="eb43a71fd68e81875b93fced2c01a36c" ns3:_="">
    <xsd:import namespace="25ea6e4d-8952-4839-be57-11fda0df19d2"/>
    <xsd:element name="properties">
      <xsd:complexType>
        <xsd:sequence>
          <xsd:element name="documentManagement">
            <xsd:complexType>
              <xsd:all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ea6e4d-8952-4839-be57-11fda0df19d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内容类型"/>
        <xsd:element ref="dc:title" minOccurs="0" maxOccurs="1" ma:index="4" ma:displayName="标题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5ea6e4d-8952-4839-be57-11fda0df19d2" xsi:nil="true"/>
  </documentManagement>
</p:properties>
</file>

<file path=customXml/itemProps1.xml><?xml version="1.0" encoding="utf-8"?>
<ds:datastoreItem xmlns:ds="http://schemas.openxmlformats.org/officeDocument/2006/customXml" ds:itemID="{D0BC6AA1-A723-4C18-A512-D9ED6B3D7C6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0120BB-0242-44D2-A7C4-92F3A0AE11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5ea6e4d-8952-4839-be57-11fda0df19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680EDA7-8B72-4DCC-8942-51E1EC2DBC5E}">
  <ds:schemaRefs>
    <ds:schemaRef ds:uri="http://purl.org/dc/dcmitype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infopath/2007/PartnerControls"/>
    <ds:schemaRef ds:uri="25ea6e4d-8952-4839-be57-11fda0df19d2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17035</TotalTime>
  <Words>1597</Words>
  <Application>Microsoft Office PowerPoint</Application>
  <PresentationFormat>宽屏</PresentationFormat>
  <Paragraphs>303</Paragraphs>
  <Slides>31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1" baseType="lpstr">
      <vt:lpstr>黑体</vt:lpstr>
      <vt:lpstr>华文楷体</vt:lpstr>
      <vt:lpstr>Microsoft Yahei</vt:lpstr>
      <vt:lpstr>Arial</vt:lpstr>
      <vt:lpstr>Calibri</vt:lpstr>
      <vt:lpstr>Cambria Math</vt:lpstr>
      <vt:lpstr>Times New Roman</vt:lpstr>
      <vt:lpstr>Wingdings</vt:lpstr>
      <vt:lpstr>Office 主题​​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稳恒电流</vt:lpstr>
      <vt:lpstr>稳恒电流</vt:lpstr>
      <vt:lpstr>稳恒电场</vt:lpstr>
      <vt:lpstr>稳恒电场</vt:lpstr>
      <vt:lpstr>欧姆定律</vt:lpstr>
      <vt:lpstr>欧姆定律</vt:lpstr>
      <vt:lpstr>∯16_S▒〖E ⃗∙dS ⃗=1/ε_0  ∑_S内▒q_i 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Jingcheng  Li</dc:creator>
  <cp:lastModifiedBy>竟成</cp:lastModifiedBy>
  <cp:revision>308</cp:revision>
  <dcterms:created xsi:type="dcterms:W3CDTF">2023-02-17T03:39:54Z</dcterms:created>
  <dcterms:modified xsi:type="dcterms:W3CDTF">2024-04-16T06:37:27Z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0x010100CA343C45D49B2744AE1406E56A2ED666</vt:lpwstr>
  </property>
</Properties>
</file>