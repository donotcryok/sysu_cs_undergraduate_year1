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sldIdLst>
    <p:sldId id="821" r:id="rId5"/>
    <p:sldId id="822" r:id="rId6"/>
    <p:sldId id="861" r:id="rId7"/>
    <p:sldId id="1228" r:id="rId8"/>
    <p:sldId id="867" r:id="rId9"/>
    <p:sldId id="259" r:id="rId10"/>
    <p:sldId id="882" r:id="rId11"/>
    <p:sldId id="1241" r:id="rId12"/>
    <p:sldId id="885" r:id="rId13"/>
    <p:sldId id="886" r:id="rId14"/>
    <p:sldId id="887" r:id="rId15"/>
    <p:sldId id="888" r:id="rId16"/>
    <p:sldId id="896" r:id="rId17"/>
    <p:sldId id="1239" r:id="rId18"/>
    <p:sldId id="889" r:id="rId19"/>
    <p:sldId id="1242" r:id="rId20"/>
    <p:sldId id="1143" r:id="rId21"/>
    <p:sldId id="973" r:id="rId22"/>
    <p:sldId id="974" r:id="rId23"/>
    <p:sldId id="258" r:id="rId24"/>
    <p:sldId id="256" r:id="rId25"/>
    <p:sldId id="964" r:id="rId26"/>
    <p:sldId id="962" r:id="rId27"/>
    <p:sldId id="1243" r:id="rId28"/>
    <p:sldId id="367" r:id="rId29"/>
    <p:sldId id="975" r:id="rId30"/>
    <p:sldId id="366" r:id="rId31"/>
    <p:sldId id="368" r:id="rId32"/>
    <p:sldId id="965" r:id="rId33"/>
    <p:sldId id="912" r:id="rId34"/>
    <p:sldId id="976" r:id="rId35"/>
    <p:sldId id="1248" r:id="rId36"/>
    <p:sldId id="96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38" autoAdjust="0"/>
    <p:restoredTop sz="94662" autoAdjust="0"/>
  </p:normalViewPr>
  <p:slideViewPr>
    <p:cSldViewPr snapToGrid="0">
      <p:cViewPr varScale="1">
        <p:scale>
          <a:sx n="158" d="100"/>
          <a:sy n="158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733EA-8E6D-4666-B9D4-9ACE27AD59EA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FE689-547E-4EC7-A7DE-41A4901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2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采用伏安法测电阻，存在电流表分压，电压表分流问题。理论上惠斯通电桥测电阻一般比伏安法测量的准确度要高。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2D924B-2E04-4520-B540-8EB69FA88927}" type="slidenum">
              <a:rPr lang="zh-CN" altLang="en-US" smtClean="0">
                <a:ea typeface="华文楷体" panose="02010600040101010101" pitchFamily="2" charset="-122"/>
              </a:rPr>
              <a:t>12</a:t>
            </a:fld>
            <a:endParaRPr lang="zh-CN" altLang="en-US" dirty="0"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758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E430028D-F176-4B56-AB18-D966A5CA27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C67FB96-3439-4452-B55A-A99A809743AE}" type="slidenum">
              <a:rPr lang="en-US" altLang="zh-CN" sz="1300" b="0" smtClean="0">
                <a:ea typeface="华文楷体" panose="02010600040101010101" pitchFamily="2" charset="-122"/>
              </a:rPr>
              <a:pPr/>
              <a:t>22</a:t>
            </a:fld>
            <a:endParaRPr lang="en-US" altLang="zh-CN" sz="1300" b="0" dirty="0">
              <a:ea typeface="华文楷体" panose="02010600040101010101" pitchFamily="2" charset="-122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B159F500-F6C7-48B5-A8BC-614BDA36E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C7EAA9B9-A37C-4D26-A400-8D99229FE1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08506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25AF01-ADFD-4D57-B1D1-108C2920877E}" type="slidenum">
              <a:rPr lang="en-US" altLang="zh-CN" smtClean="0">
                <a:ea typeface="华文楷体" panose="02010600040101010101" pitchFamily="2" charset="-122"/>
              </a:rPr>
              <a:pPr>
                <a:defRPr/>
              </a:pPr>
              <a:t>30</a:t>
            </a:fld>
            <a:endParaRPr lang="en-US" altLang="zh-CN" dirty="0"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4407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075D9-9C0A-4907-9E0A-2E1C5E387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3CDB30-CF70-4C98-8777-71D0DE601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455DCF-EA4C-4853-BD99-7C8B1152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57D055-1BEA-4835-BCF3-DA518BC7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424949-9B6D-4ABE-81D0-3E801610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8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3ECBA-8D3D-44FD-8451-1C68376A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2FE7C-6E4F-4D24-8713-B2191E020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4F968E-F782-49B7-8CFB-D5AD5205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733CAE-7B6D-4B2F-A356-51AA8A9B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C30F0-28D6-4C9B-AEE5-03D12DB8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E53B1-9079-49D9-9131-26E0E03C6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F01D29-1A52-4551-9AAD-87EDF9D76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2B19E-2D1A-4065-8E51-732596D1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70643E-4976-4353-A93C-94547389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E8924-C3CD-4AD0-8D20-BDBCD27DF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BD28B-F5E7-4DEF-A7ED-85E67C83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B5A803-634D-4E5A-8215-1F45D12CC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45702B-45D0-4EB5-AAA5-C47494C79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713FAE-28EA-4DD1-B781-345A797E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B78BAD-ABD9-461C-A7F6-83BEE5EA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AFC4C7-93A9-4642-A356-4D4E2BD3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57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4F436-0EA1-486E-BFA5-AEFC10B54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E3DD6-1221-4B2B-A081-C438B4EA1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A0C97E-5BD2-4E0E-B6D8-06BA9CC07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A250BC-6CDA-4F55-9122-E95732154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9A7F6C-B16D-4596-8C2E-4B3AAA599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6CDA96-F74A-4624-A701-06BB40E85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82C964-0DCE-4251-A2D2-8B40BD44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F80643-74A0-4D0A-B3AE-FDFCC0037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1D687-2952-433A-A486-099C48C4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4DCF08-EA4B-4E0C-B9DA-AF780B86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DF4D79-43A3-4D15-AADB-49E2A00CD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7F9052-09FA-4D04-AB45-329EED24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6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E4DD36-7F96-444A-A9B7-5FBBE9CE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8F5D18-B09A-4096-AFDA-96A804D6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CC0151-1B68-4B32-AB2F-4A65BE2A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6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BC3E4-C582-4A91-A7AE-1D796218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42F964-0EB5-4901-BC24-85E335433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6385E8-484A-4DCD-B049-3172288A7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569B17-EB32-4F6A-9B7C-5B597E7C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4C8B3B-8E4D-4EBB-8A2B-D5C7322C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762D6F-D0D3-4812-B6E8-731E7AFB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6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EBE16-E626-4C00-8722-0F82B3A32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5C2DE1-D969-4D9C-B72F-3E40B9672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0D0D84-9E46-41CD-A472-B1029A0FC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C908C6-21BD-4D14-B9E5-67673794C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237D1E-BE48-42AB-BF84-696F9BA0C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5CDD9A-D6DD-4908-A730-2867C019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83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F7F10-CD63-4FB1-A171-A7DAAE88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F1AB79-8425-466E-A8A5-DADBC36F2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9E2F66-1492-47A7-BCD3-BF219BAE6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42A3AF-5C92-49DE-B7CE-F57501C2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16F9F-8375-4DF1-A57B-BDA6BF36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0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CEAE66-692B-4D65-A7C3-1680609F0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818DC3-D68F-47FD-9934-DB88063C3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197317-A46D-420C-A392-2D9B93AC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B454CD-23C0-496D-BC54-03322B1D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57EF11-F507-4D48-9B8C-E8680A05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2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8EF7D3-5A27-4B57-8A33-E7C0DD1B0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E378D8-CAD9-4EDA-B737-D08910374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1C7E5-DED7-4901-BEA1-361A29013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BCA12B-ADFA-4389-8BED-E30DC2D60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7DB51E-6AD4-4AAC-BD8A-505C38223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3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.pn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6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53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5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13" Type="http://schemas.openxmlformats.org/officeDocument/2006/relationships/image" Target="../media/image33.png"/><Relationship Id="rId12" Type="http://schemas.openxmlformats.org/officeDocument/2006/relationships/image" Target="../media/image32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1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0.png"/><Relationship Id="rId5" Type="http://schemas.openxmlformats.org/officeDocument/2006/relationships/image" Target="../media/image330.png"/><Relationship Id="rId4" Type="http://schemas.openxmlformats.org/officeDocument/2006/relationships/image" Target="../media/image34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18" Type="http://schemas.openxmlformats.org/officeDocument/2006/relationships/image" Target="../media/image196.png"/><Relationship Id="rId26" Type="http://schemas.openxmlformats.org/officeDocument/2006/relationships/image" Target="../media/image204.png"/><Relationship Id="rId3" Type="http://schemas.openxmlformats.org/officeDocument/2006/relationships/image" Target="../media/image180.png"/><Relationship Id="rId21" Type="http://schemas.openxmlformats.org/officeDocument/2006/relationships/image" Target="../media/image199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17" Type="http://schemas.openxmlformats.org/officeDocument/2006/relationships/image" Target="../media/image195.png"/><Relationship Id="rId25" Type="http://schemas.openxmlformats.org/officeDocument/2006/relationships/image" Target="../media/image600.png"/><Relationship Id="rId2" Type="http://schemas.openxmlformats.org/officeDocument/2006/relationships/image" Target="../media/image57.png"/><Relationship Id="rId16" Type="http://schemas.openxmlformats.org/officeDocument/2006/relationships/image" Target="../media/image194.png"/><Relationship Id="rId20" Type="http://schemas.openxmlformats.org/officeDocument/2006/relationships/image" Target="../media/image198.png"/><Relationship Id="rId29" Type="http://schemas.openxmlformats.org/officeDocument/2006/relationships/image" Target="../media/image4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24" Type="http://schemas.openxmlformats.org/officeDocument/2006/relationships/image" Target="../media/image202.png"/><Relationship Id="rId5" Type="http://schemas.openxmlformats.org/officeDocument/2006/relationships/image" Target="../media/image58.png"/><Relationship Id="rId15" Type="http://schemas.openxmlformats.org/officeDocument/2006/relationships/image" Target="../media/image193.png"/><Relationship Id="rId23" Type="http://schemas.openxmlformats.org/officeDocument/2006/relationships/image" Target="../media/image201.png"/><Relationship Id="rId28" Type="http://schemas.openxmlformats.org/officeDocument/2006/relationships/image" Target="../media/image621.png"/><Relationship Id="rId10" Type="http://schemas.openxmlformats.org/officeDocument/2006/relationships/image" Target="../media/image187.png"/><Relationship Id="rId19" Type="http://schemas.openxmlformats.org/officeDocument/2006/relationships/image" Target="../media/image19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92.png"/><Relationship Id="rId22" Type="http://schemas.openxmlformats.org/officeDocument/2006/relationships/image" Target="../media/image200.png"/><Relationship Id="rId27" Type="http://schemas.openxmlformats.org/officeDocument/2006/relationships/image" Target="../media/image20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187.png"/><Relationship Id="rId18" Type="http://schemas.openxmlformats.org/officeDocument/2006/relationships/image" Target="../media/image193.png"/><Relationship Id="rId26" Type="http://schemas.openxmlformats.org/officeDocument/2006/relationships/image" Target="../media/image39.png"/><Relationship Id="rId3" Type="http://schemas.openxmlformats.org/officeDocument/2006/relationships/image" Target="../media/image36.png"/><Relationship Id="rId21" Type="http://schemas.openxmlformats.org/officeDocument/2006/relationships/image" Target="../media/image196.png"/><Relationship Id="rId7" Type="http://schemas.openxmlformats.org/officeDocument/2006/relationships/image" Target="../media/image181.png"/><Relationship Id="rId12" Type="http://schemas.openxmlformats.org/officeDocument/2006/relationships/image" Target="../media/image186.png"/><Relationship Id="rId17" Type="http://schemas.openxmlformats.org/officeDocument/2006/relationships/image" Target="../media/image192.png"/><Relationship Id="rId25" Type="http://schemas.openxmlformats.org/officeDocument/2006/relationships/image" Target="../media/image38.png"/><Relationship Id="rId2" Type="http://schemas.openxmlformats.org/officeDocument/2006/relationships/image" Target="../media/image35.png"/><Relationship Id="rId16" Type="http://schemas.openxmlformats.org/officeDocument/2006/relationships/image" Target="../media/image190.png"/><Relationship Id="rId20" Type="http://schemas.openxmlformats.org/officeDocument/2006/relationships/image" Target="../media/image1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11" Type="http://schemas.openxmlformats.org/officeDocument/2006/relationships/image" Target="../media/image185.png"/><Relationship Id="rId24" Type="http://schemas.openxmlformats.org/officeDocument/2006/relationships/image" Target="../media/image199.png"/><Relationship Id="rId15" Type="http://schemas.openxmlformats.org/officeDocument/2006/relationships/image" Target="../media/image189.png"/><Relationship Id="rId23" Type="http://schemas.openxmlformats.org/officeDocument/2006/relationships/image" Target="../media/image198.png"/><Relationship Id="rId10" Type="http://schemas.openxmlformats.org/officeDocument/2006/relationships/image" Target="../media/image184.png"/><Relationship Id="rId19" Type="http://schemas.openxmlformats.org/officeDocument/2006/relationships/image" Target="../media/image194.png"/><Relationship Id="rId4" Type="http://schemas.openxmlformats.org/officeDocument/2006/relationships/image" Target="../media/image37.png"/><Relationship Id="rId9" Type="http://schemas.openxmlformats.org/officeDocument/2006/relationships/image" Target="../media/image183.png"/><Relationship Id="rId14" Type="http://schemas.openxmlformats.org/officeDocument/2006/relationships/image" Target="../media/image188.png"/><Relationship Id="rId22" Type="http://schemas.openxmlformats.org/officeDocument/2006/relationships/image" Target="../media/image19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217.png"/><Relationship Id="rId7" Type="http://schemas.openxmlformats.org/officeDocument/2006/relationships/image" Target="../media/image22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2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3" Type="http://schemas.openxmlformats.org/officeDocument/2006/relationships/image" Target="../media/image47.png"/><Relationship Id="rId7" Type="http://schemas.openxmlformats.org/officeDocument/2006/relationships/image" Target="../media/image22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.png"/><Relationship Id="rId5" Type="http://schemas.openxmlformats.org/officeDocument/2006/relationships/image" Target="../media/image226.png"/><Relationship Id="rId4" Type="http://schemas.openxmlformats.org/officeDocument/2006/relationships/image" Target="../media/image2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3" Type="http://schemas.openxmlformats.org/officeDocument/2006/relationships/image" Target="../media/image47.png"/><Relationship Id="rId7" Type="http://schemas.openxmlformats.org/officeDocument/2006/relationships/image" Target="../media/image23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2.png"/><Relationship Id="rId5" Type="http://schemas.openxmlformats.org/officeDocument/2006/relationships/image" Target="../media/image231.png"/><Relationship Id="rId4" Type="http://schemas.openxmlformats.org/officeDocument/2006/relationships/image" Target="../media/image2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gi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webm"/><Relationship Id="rId1" Type="http://schemas.microsoft.com/office/2007/relationships/media" Target="../media/media1.webm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ile:A_maglev_train_coming_out,_Pudong_International_Airport,_Shanghai.jpg" TargetMode="External"/><Relationship Id="rId7" Type="http://schemas.openxmlformats.org/officeDocument/2006/relationships/image" Target="../media/image60.pn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jpeg"/><Relationship Id="rId5" Type="http://schemas.openxmlformats.org/officeDocument/2006/relationships/hyperlink" Target="http://en.wikipedia.org/wiki/File:Hard_disk.jpg" TargetMode="External"/><Relationship Id="rId4" Type="http://schemas.openxmlformats.org/officeDocument/2006/relationships/image" Target="../media/image58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350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7.png"/><Relationship Id="rId7" Type="http://schemas.openxmlformats.org/officeDocument/2006/relationships/image" Target="../media/image35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0.png"/><Relationship Id="rId5" Type="http://schemas.openxmlformats.org/officeDocument/2006/relationships/image" Target="../media/image70.jpg"/><Relationship Id="rId10" Type="http://schemas.openxmlformats.org/officeDocument/2006/relationships/image" Target="../media/image72.png"/><Relationship Id="rId4" Type="http://schemas.openxmlformats.org/officeDocument/2006/relationships/image" Target="../media/image98.png"/><Relationship Id="rId9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Text Box 13">
            <a:extLst>
              <a:ext uri="{FF2B5EF4-FFF2-40B4-BE49-F238E27FC236}">
                <a16:creationId xmlns:a16="http://schemas.microsoft.com/office/drawing/2014/main" id="{B1D77FAA-C6EC-4AC5-A3F5-4CC64C94B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6371" y="261453"/>
            <a:ext cx="70971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16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恒定电流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11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E4498F14-2B16-44E2-8121-1F90B801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1486" y="1550588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电流和电流密度</a:t>
            </a:r>
          </a:p>
        </p:txBody>
      </p:sp>
      <p:sp>
        <p:nvSpPr>
          <p:cNvPr id="4114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6FD6935D-21DB-4E0A-A113-0012E404D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487" y="2845988"/>
            <a:ext cx="553883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3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欧姆定律和电阻</a:t>
            </a:r>
          </a:p>
        </p:txBody>
      </p:sp>
      <p:sp>
        <p:nvSpPr>
          <p:cNvPr id="4115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2E74E40B-D4E9-420C-843A-63B8B00C8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0486" y="3489520"/>
            <a:ext cx="18710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电动势</a:t>
            </a:r>
          </a:p>
        </p:txBody>
      </p:sp>
      <p:sp>
        <p:nvSpPr>
          <p:cNvPr id="4116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163FEB06-B244-41DC-9745-09D2B510C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486" y="4853899"/>
            <a:ext cx="46799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6 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电容器的充电和放电</a:t>
            </a: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*</a:t>
            </a:r>
            <a:endParaRPr lang="zh-CN" altLang="en-US" sz="3200" b="1" dirty="0">
              <a:solidFill>
                <a:srgbClr val="0066FF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33F5298E-54F0-4E10-A769-B55A508ED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1488" y="2198288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2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恒定电流和恒定电场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DB04A1-0ED6-47DB-AB21-B6B2EFE1D30C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" name="Picture 2" descr="Circuits – Dominion Energy">
            <a:extLst>
              <a:ext uri="{FF2B5EF4-FFF2-40B4-BE49-F238E27FC236}">
                <a16:creationId xmlns:a16="http://schemas.microsoft.com/office/drawing/2014/main" id="{1B268123-9569-4C7A-A1D8-0D49C2056C9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23" y="1694959"/>
            <a:ext cx="5303259" cy="3977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00652B4C-7B69-4F63-BD2E-34326BFB5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486" y="5472811"/>
            <a:ext cx="46799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7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电流的微观图像</a:t>
            </a:r>
          </a:p>
        </p:txBody>
      </p:sp>
      <p:sp>
        <p:nvSpPr>
          <p:cNvPr id="3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58772E6F-4249-DAC3-4C17-81716BD36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486" y="4159078"/>
            <a:ext cx="46799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5 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有电动势的电路</a:t>
            </a:r>
          </a:p>
        </p:txBody>
      </p:sp>
    </p:spTree>
    <p:extLst>
      <p:ext uri="{BB962C8B-B14F-4D97-AF65-F5344CB8AC3E}">
        <p14:creationId xmlns:p14="http://schemas.microsoft.com/office/powerpoint/2010/main" val="77909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721606D-C2CB-4A35-B4C4-536404ED6F81}"/>
                  </a:ext>
                </a:extLst>
              </p:cNvPr>
              <p:cNvSpPr/>
              <p:nvPr/>
            </p:nvSpPr>
            <p:spPr>
              <a:xfrm>
                <a:off x="324062" y="1266978"/>
                <a:ext cx="7343351" cy="19661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单位时间内通过导体横截面的电量：</a:t>
                </a:r>
                <a:endParaRPr lang="en-US" altLang="zh-CN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𝑑𝑞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𝑑𝑡</m:t>
                      </m:r>
                    </m:oMath>
                  </m:oMathPara>
                </a14:m>
                <a:endPara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- 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方向：规定为正电荷运动的方向</a:t>
                </a:r>
                <a:endParaRPr lang="en-US" altLang="zh-CN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721606D-C2CB-4A35-B4C4-536404ED6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62" y="1266978"/>
                <a:ext cx="7343351" cy="1966179"/>
              </a:xfrm>
              <a:prstGeom prst="rect">
                <a:avLst/>
              </a:prstGeom>
              <a:blipFill>
                <a:blip r:embed="rId2"/>
                <a:stretch>
                  <a:fillRect b="-80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E969968-6CF1-4F17-A37F-D31BB14D6BC0}"/>
                  </a:ext>
                </a:extLst>
              </p:cNvPr>
              <p:cNvSpPr/>
              <p:nvPr/>
            </p:nvSpPr>
            <p:spPr>
              <a:xfrm>
                <a:off x="7092099" y="1667363"/>
                <a:ext cx="3870541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- </a:t>
                </a:r>
                <a:r>
                  <a:rPr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单位：</a:t>
                </a:r>
                <a:r>
                  <a:rPr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[</a:t>
                </a:r>
                <a:r>
                  <a:rPr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安培</a:t>
                </a:r>
                <a:r>
                  <a:rPr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E969968-6CF1-4F17-A37F-D31BB14D6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099" y="1667363"/>
                <a:ext cx="3870541" cy="954107"/>
              </a:xfrm>
              <a:prstGeom prst="rect">
                <a:avLst/>
              </a:prstGeom>
              <a:blipFill>
                <a:blip r:embed="rId3"/>
                <a:stretch>
                  <a:fillRect t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57998AB2-0F22-6075-2914-E38E2766D749}"/>
              </a:ext>
            </a:extLst>
          </p:cNvPr>
          <p:cNvSpPr/>
          <p:nvPr/>
        </p:nvSpPr>
        <p:spPr>
          <a:xfrm>
            <a:off x="467893" y="366441"/>
            <a:ext cx="2696947" cy="756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</a:t>
            </a:r>
            <a:endParaRPr lang="en-US" altLang="zh-CN" sz="32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C9883-19F6-056A-5B1E-AEB3CF61F669}"/>
              </a:ext>
            </a:extLst>
          </p:cNvPr>
          <p:cNvSpPr/>
          <p:nvPr/>
        </p:nvSpPr>
        <p:spPr>
          <a:xfrm>
            <a:off x="1198635" y="3377077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</a:rPr>
              <a:t>电流密度</a:t>
            </a:r>
            <a:r>
              <a:rPr lang="en-US" altLang="zh-CN" sz="3200" b="1" dirty="0">
                <a:solidFill>
                  <a:srgbClr val="0066FF"/>
                </a:solidFill>
                <a:ea typeface="华文楷体" panose="02010600040101010101" pitchFamily="2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">
                <a:extLst>
                  <a:ext uri="{FF2B5EF4-FFF2-40B4-BE49-F238E27FC236}">
                    <a16:creationId xmlns:a16="http://schemas.microsoft.com/office/drawing/2014/main" id="{CECC81D2-65B1-F884-8A0E-98EC6BAF8A2D}"/>
                  </a:ext>
                </a:extLst>
              </p:cNvPr>
              <p:cNvSpPr txBox="1"/>
              <p:nvPr/>
            </p:nvSpPr>
            <p:spPr bwMode="auto">
              <a:xfrm>
                <a:off x="6165122" y="5198887"/>
                <a:ext cx="1454150" cy="11731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bject 2">
                <a:extLst>
                  <a:ext uri="{FF2B5EF4-FFF2-40B4-BE49-F238E27FC236}">
                    <a16:creationId xmlns:a16="http://schemas.microsoft.com/office/drawing/2014/main" id="{CECC81D2-65B1-F884-8A0E-98EC6BAF8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5122" y="5198887"/>
                <a:ext cx="1454150" cy="1173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5">
                <a:extLst>
                  <a:ext uri="{FF2B5EF4-FFF2-40B4-BE49-F238E27FC236}">
                    <a16:creationId xmlns:a16="http://schemas.microsoft.com/office/drawing/2014/main" id="{3CB9BF6E-59D1-8EE8-E19D-46BB3DB5BC6F}"/>
                  </a:ext>
                </a:extLst>
              </p:cNvPr>
              <p:cNvSpPr txBox="1"/>
              <p:nvPr/>
            </p:nvSpPr>
            <p:spPr bwMode="auto">
              <a:xfrm>
                <a:off x="8714262" y="4913409"/>
                <a:ext cx="1887245" cy="7019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𝑑𝐼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bject 55">
                <a:extLst>
                  <a:ext uri="{FF2B5EF4-FFF2-40B4-BE49-F238E27FC236}">
                    <a16:creationId xmlns:a16="http://schemas.microsoft.com/office/drawing/2014/main" id="{3CB9BF6E-59D1-8EE8-E19D-46BB3DB5B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14262" y="4913409"/>
                <a:ext cx="1887245" cy="7019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9C1625FF-4DD0-54C3-BF62-320079D77433}"/>
              </a:ext>
            </a:extLst>
          </p:cNvPr>
          <p:cNvSpPr/>
          <p:nvPr/>
        </p:nvSpPr>
        <p:spPr>
          <a:xfrm>
            <a:off x="1602867" y="4193173"/>
            <a:ext cx="81656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ea typeface="华文楷体" panose="02010600040101010101" pitchFamily="2" charset="-122"/>
              </a:rPr>
              <a:t>正电荷定向移动方向垂直的单位面积上的电流强度</a:t>
            </a:r>
          </a:p>
        </p:txBody>
      </p:sp>
      <p:sp>
        <p:nvSpPr>
          <p:cNvPr id="13" name="Oval 6">
            <a:extLst>
              <a:ext uri="{FF2B5EF4-FFF2-40B4-BE49-F238E27FC236}">
                <a16:creationId xmlns:a16="http://schemas.microsoft.com/office/drawing/2014/main" id="{38F536C9-3765-18B9-BC11-CF96BE60C902}"/>
              </a:ext>
            </a:extLst>
          </p:cNvPr>
          <p:cNvSpPr/>
          <p:nvPr/>
        </p:nvSpPr>
        <p:spPr>
          <a:xfrm rot="715387">
            <a:off x="3095776" y="5512419"/>
            <a:ext cx="228600" cy="669925"/>
          </a:xfrm>
          <a:prstGeom prst="ellipse">
            <a:avLst/>
          </a:prstGeom>
          <a:solidFill>
            <a:srgbClr val="FFCCFF"/>
          </a:solidFill>
          <a:ln w="9525" cap="flat" cmpd="sng">
            <a:solidFill>
              <a:srgbClr val="CC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002D1AF1-2F26-60A9-D0B5-6EAAB3C43CFB}"/>
              </a:ext>
            </a:extLst>
          </p:cNvPr>
          <p:cNvSpPr/>
          <p:nvPr/>
        </p:nvSpPr>
        <p:spPr>
          <a:xfrm rot="20722748">
            <a:off x="3246589" y="5498131"/>
            <a:ext cx="227012" cy="728663"/>
          </a:xfrm>
          <a:prstGeom prst="ellipse">
            <a:avLst/>
          </a:prstGeom>
          <a:solidFill>
            <a:srgbClr val="FF66FF"/>
          </a:solidFill>
          <a:ln w="9525" cap="flat" cmpd="sng">
            <a:solidFill>
              <a:srgbClr val="CC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" name="Group 8">
            <a:extLst>
              <a:ext uri="{FF2B5EF4-FFF2-40B4-BE49-F238E27FC236}">
                <a16:creationId xmlns:a16="http://schemas.microsoft.com/office/drawing/2014/main" id="{72C4E894-1069-AD13-6B73-48E882F42283}"/>
              </a:ext>
            </a:extLst>
          </p:cNvPr>
          <p:cNvGrpSpPr/>
          <p:nvPr/>
        </p:nvGrpSpPr>
        <p:grpSpPr>
          <a:xfrm>
            <a:off x="3406926" y="4907581"/>
            <a:ext cx="1184275" cy="952500"/>
            <a:chOff x="4198" y="2640"/>
            <a:chExt cx="746" cy="600"/>
          </a:xfrm>
        </p:grpSpPr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216B33EB-5849-61E3-17E1-7F06E402DC41}"/>
                </a:ext>
              </a:extLst>
            </p:cNvPr>
            <p:cNvSpPr/>
            <p:nvPr/>
          </p:nvSpPr>
          <p:spPr>
            <a:xfrm flipV="1">
              <a:off x="4198" y="2856"/>
              <a:ext cx="384" cy="384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1033">
                  <a:extLst>
                    <a:ext uri="{FF2B5EF4-FFF2-40B4-BE49-F238E27FC236}">
                      <a16:creationId xmlns:a16="http://schemas.microsoft.com/office/drawing/2014/main" id="{D035F1FE-FBE9-D5C6-CBB6-3E496CF89325}"/>
                    </a:ext>
                  </a:extLst>
                </p:cNvPr>
                <p:cNvSpPr txBox="1"/>
                <p:nvPr/>
              </p:nvSpPr>
              <p:spPr>
                <a:xfrm>
                  <a:off x="4560" y="2640"/>
                  <a:ext cx="384" cy="36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acc>
                          <m:accPr>
                            <m:chr m:val="⃑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9" name="Object 1033">
                  <a:extLst>
                    <a:ext uri="{FF2B5EF4-FFF2-40B4-BE49-F238E27FC236}">
                      <a16:creationId xmlns:a16="http://schemas.microsoft.com/office/drawing/2014/main" id="{6EB2E99A-F39D-306E-C30B-7EC99EEA1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0" y="2640"/>
                  <a:ext cx="384" cy="36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1">
            <a:extLst>
              <a:ext uri="{FF2B5EF4-FFF2-40B4-BE49-F238E27FC236}">
                <a16:creationId xmlns:a16="http://schemas.microsoft.com/office/drawing/2014/main" id="{CEF731E5-896D-0A09-FBCE-963802351205}"/>
              </a:ext>
            </a:extLst>
          </p:cNvPr>
          <p:cNvGrpSpPr/>
          <p:nvPr/>
        </p:nvGrpSpPr>
        <p:grpSpPr>
          <a:xfrm>
            <a:off x="3398989" y="5847381"/>
            <a:ext cx="1268412" cy="736600"/>
            <a:chOff x="4080" y="3264"/>
            <a:chExt cx="799" cy="528"/>
          </a:xfrm>
        </p:grpSpPr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B14595C8-2631-B6F6-037C-CF72C8195718}"/>
                </a:ext>
              </a:extLst>
            </p:cNvPr>
            <p:cNvSpPr/>
            <p:nvPr/>
          </p:nvSpPr>
          <p:spPr>
            <a:xfrm>
              <a:off x="4080" y="3264"/>
              <a:ext cx="470" cy="1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bject 1032">
                  <a:extLst>
                    <a:ext uri="{FF2B5EF4-FFF2-40B4-BE49-F238E27FC236}">
                      <a16:creationId xmlns:a16="http://schemas.microsoft.com/office/drawing/2014/main" id="{82FEA747-CD84-F851-2B9F-96044F32B6E7}"/>
                    </a:ext>
                  </a:extLst>
                </p:cNvPr>
                <p:cNvSpPr txBox="1"/>
                <p:nvPr/>
              </p:nvSpPr>
              <p:spPr>
                <a:xfrm>
                  <a:off x="4512" y="3312"/>
                  <a:ext cx="367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Object 1032">
                  <a:extLst>
                    <a:ext uri="{FF2B5EF4-FFF2-40B4-BE49-F238E27FC236}">
                      <a16:creationId xmlns:a16="http://schemas.microsoft.com/office/drawing/2014/main" id="{07F6F213-DC1B-7653-1453-244F60454B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2" y="3312"/>
                  <a:ext cx="367" cy="48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027">
                <a:extLst>
                  <a:ext uri="{FF2B5EF4-FFF2-40B4-BE49-F238E27FC236}">
                    <a16:creationId xmlns:a16="http://schemas.microsoft.com/office/drawing/2014/main" id="{794C2E56-ED7B-6068-E68E-7E8255B3B8C3}"/>
                  </a:ext>
                </a:extLst>
              </p:cNvPr>
              <p:cNvSpPr txBox="1"/>
              <p:nvPr/>
            </p:nvSpPr>
            <p:spPr>
              <a:xfrm>
                <a:off x="3598545" y="5482624"/>
                <a:ext cx="273988" cy="33496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Object 1027">
                <a:extLst>
                  <a:ext uri="{FF2B5EF4-FFF2-40B4-BE49-F238E27FC236}">
                    <a16:creationId xmlns:a16="http://schemas.microsoft.com/office/drawing/2014/main" id="{794C2E56-ED7B-6068-E68E-7E8255B3B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545" y="5482624"/>
                <a:ext cx="273988" cy="334962"/>
              </a:xfrm>
              <a:prstGeom prst="rect">
                <a:avLst/>
              </a:prstGeom>
              <a:blipFill>
                <a:blip r:embed="rId8"/>
                <a:stretch>
                  <a:fillRect r="-11111" b="-18182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15">
            <a:extLst>
              <a:ext uri="{FF2B5EF4-FFF2-40B4-BE49-F238E27FC236}">
                <a16:creationId xmlns:a16="http://schemas.microsoft.com/office/drawing/2014/main" id="{C8C3BEF0-E8EA-3E53-48E2-978D41CE5A6A}"/>
              </a:ext>
            </a:extLst>
          </p:cNvPr>
          <p:cNvGrpSpPr/>
          <p:nvPr/>
        </p:nvGrpSpPr>
        <p:grpSpPr>
          <a:xfrm>
            <a:off x="2396951" y="4921868"/>
            <a:ext cx="2951163" cy="1662113"/>
            <a:chOff x="3571" y="2664"/>
            <a:chExt cx="1859" cy="1047"/>
          </a:xfrm>
        </p:grpSpPr>
        <p:sp>
          <p:nvSpPr>
            <p:cNvPr id="23" name="Oval 17">
              <a:extLst>
                <a:ext uri="{FF2B5EF4-FFF2-40B4-BE49-F238E27FC236}">
                  <a16:creationId xmlns:a16="http://schemas.microsoft.com/office/drawing/2014/main" id="{1E71F82D-7802-2D2A-34FD-4B0AA7CDE5E8}"/>
                </a:ext>
              </a:extLst>
            </p:cNvPr>
            <p:cNvSpPr/>
            <p:nvPr/>
          </p:nvSpPr>
          <p:spPr>
            <a:xfrm>
              <a:off x="3571" y="2909"/>
              <a:ext cx="174" cy="510"/>
            </a:xfrm>
            <a:prstGeom prst="ellipse">
              <a:avLst/>
            </a:prstGeom>
            <a:noFill/>
            <a:ln w="222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Oval 18">
              <a:extLst>
                <a:ext uri="{FF2B5EF4-FFF2-40B4-BE49-F238E27FC236}">
                  <a16:creationId xmlns:a16="http://schemas.microsoft.com/office/drawing/2014/main" id="{A6365C11-6D3F-918F-7BAD-EB113C72E0F6}"/>
                </a:ext>
              </a:extLst>
            </p:cNvPr>
            <p:cNvSpPr/>
            <p:nvPr/>
          </p:nvSpPr>
          <p:spPr>
            <a:xfrm>
              <a:off x="4989" y="2695"/>
              <a:ext cx="259" cy="1016"/>
            </a:xfrm>
            <a:prstGeom prst="ellipse">
              <a:avLst/>
            </a:prstGeom>
            <a:noFill/>
            <a:ln w="222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AB4ADF0-ED4A-3B9B-A836-7D3B0FFACFE0}"/>
                </a:ext>
              </a:extLst>
            </p:cNvPr>
            <p:cNvSpPr/>
            <p:nvPr/>
          </p:nvSpPr>
          <p:spPr>
            <a:xfrm>
              <a:off x="3657" y="2664"/>
              <a:ext cx="1460" cy="245"/>
            </a:xfrm>
            <a:custGeom>
              <a:avLst/>
              <a:gdLst>
                <a:gd name="txL" fmla="*/ 0 w 1509"/>
                <a:gd name="txT" fmla="*/ 0 h 207"/>
                <a:gd name="txR" fmla="*/ 1509 w 1509"/>
                <a:gd name="txB" fmla="*/ 207 h 207"/>
              </a:gdLst>
              <a:ahLst/>
              <a:cxnLst>
                <a:cxn ang="0">
                  <a:pos x="0" y="245"/>
                </a:cxn>
                <a:cxn ang="0">
                  <a:pos x="232" y="148"/>
                </a:cxn>
                <a:cxn ang="0">
                  <a:pos x="513" y="71"/>
                </a:cxn>
                <a:cxn ang="0">
                  <a:pos x="763" y="26"/>
                </a:cxn>
                <a:cxn ang="0">
                  <a:pos x="1121" y="1"/>
                </a:cxn>
                <a:cxn ang="0">
                  <a:pos x="1460" y="18"/>
                </a:cxn>
              </a:cxnLst>
              <a:rect l="txL" t="txT" r="txR" b="txB"/>
              <a:pathLst>
                <a:path w="1509" h="207">
                  <a:moveTo>
                    <a:pt x="0" y="207"/>
                  </a:moveTo>
                  <a:cubicBezTo>
                    <a:pt x="40" y="193"/>
                    <a:pt x="152" y="149"/>
                    <a:pt x="240" y="125"/>
                  </a:cubicBezTo>
                  <a:cubicBezTo>
                    <a:pt x="328" y="101"/>
                    <a:pt x="439" y="77"/>
                    <a:pt x="530" y="60"/>
                  </a:cubicBezTo>
                  <a:cubicBezTo>
                    <a:pt x="621" y="43"/>
                    <a:pt x="684" y="32"/>
                    <a:pt x="789" y="22"/>
                  </a:cubicBezTo>
                  <a:cubicBezTo>
                    <a:pt x="894" y="12"/>
                    <a:pt x="1039" y="2"/>
                    <a:pt x="1159" y="1"/>
                  </a:cubicBezTo>
                  <a:cubicBezTo>
                    <a:pt x="1279" y="0"/>
                    <a:pt x="1436" y="12"/>
                    <a:pt x="1509" y="15"/>
                  </a:cubicBezTo>
                </a:path>
              </a:pathLst>
            </a:custGeom>
            <a:noFill/>
            <a:ln w="2222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8A05168-2148-CE6A-7F8D-9E2E86EC8BCC}"/>
                </a:ext>
              </a:extLst>
            </p:cNvPr>
            <p:cNvSpPr/>
            <p:nvPr/>
          </p:nvSpPr>
          <p:spPr>
            <a:xfrm>
              <a:off x="3650" y="3420"/>
              <a:ext cx="1461" cy="291"/>
            </a:xfrm>
            <a:custGeom>
              <a:avLst/>
              <a:gdLst>
                <a:gd name="txL" fmla="*/ 0 w 1509"/>
                <a:gd name="txT" fmla="*/ 0 h 247"/>
                <a:gd name="txR" fmla="*/ 1509 w 1509"/>
                <a:gd name="txB" fmla="*/ 247 h 247"/>
              </a:gdLst>
              <a:ahLst/>
              <a:cxnLst>
                <a:cxn ang="0">
                  <a:pos x="0" y="0"/>
                </a:cxn>
                <a:cxn ang="0">
                  <a:pos x="504" y="113"/>
                </a:cxn>
                <a:cxn ang="0">
                  <a:pos x="1461" y="291"/>
                </a:cxn>
              </a:cxnLst>
              <a:rect l="txL" t="txT" r="txR" b="txB"/>
              <a:pathLst>
                <a:path w="1509" h="247">
                  <a:moveTo>
                    <a:pt x="0" y="0"/>
                  </a:moveTo>
                  <a:cubicBezTo>
                    <a:pt x="87" y="16"/>
                    <a:pt x="270" y="55"/>
                    <a:pt x="521" y="96"/>
                  </a:cubicBezTo>
                  <a:cubicBezTo>
                    <a:pt x="772" y="137"/>
                    <a:pt x="1303" y="216"/>
                    <a:pt x="1509" y="247"/>
                  </a:cubicBezTo>
                </a:path>
              </a:pathLst>
            </a:custGeom>
            <a:noFill/>
            <a:ln w="2222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1">
              <a:extLst>
                <a:ext uri="{FF2B5EF4-FFF2-40B4-BE49-F238E27FC236}">
                  <a16:creationId xmlns:a16="http://schemas.microsoft.com/office/drawing/2014/main" id="{BA4D5FFD-F876-41E6-4B05-B4107202A012}"/>
                </a:ext>
              </a:extLst>
            </p:cNvPr>
            <p:cNvSpPr/>
            <p:nvPr/>
          </p:nvSpPr>
          <p:spPr>
            <a:xfrm>
              <a:off x="5050" y="3210"/>
              <a:ext cx="367" cy="9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1031">
                  <a:extLst>
                    <a:ext uri="{FF2B5EF4-FFF2-40B4-BE49-F238E27FC236}">
                      <a16:creationId xmlns:a16="http://schemas.microsoft.com/office/drawing/2014/main" id="{C51CD0EC-E82D-D609-9AD8-84CD52A5110A}"/>
                    </a:ext>
                  </a:extLst>
                </p:cNvPr>
                <p:cNvSpPr txBox="1"/>
                <p:nvPr/>
              </p:nvSpPr>
              <p:spPr>
                <a:xfrm>
                  <a:off x="5299" y="2992"/>
                  <a:ext cx="131" cy="24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028" name="Object 1031">
                  <a:extLst>
                    <a:ext uri="{FF2B5EF4-FFF2-40B4-BE49-F238E27FC236}">
                      <a16:creationId xmlns:a16="http://schemas.microsoft.com/office/drawing/2014/main" id="{4C94AD65-20CD-73B1-EF9D-E46731EBC6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" y="2992"/>
                  <a:ext cx="131" cy="241"/>
                </a:xfrm>
                <a:prstGeom prst="rect">
                  <a:avLst/>
                </a:prstGeom>
                <a:blipFill>
                  <a:blip r:embed="rId9"/>
                  <a:stretch>
                    <a:fillRect r="-5882" b="-1587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51">
                <a:extLst>
                  <a:ext uri="{FF2B5EF4-FFF2-40B4-BE49-F238E27FC236}">
                    <a16:creationId xmlns:a16="http://schemas.microsoft.com/office/drawing/2014/main" id="{CCB39F5E-46B4-46D5-C87C-29FFA8128F50}"/>
                  </a:ext>
                </a:extLst>
              </p:cNvPr>
              <p:cNvSpPr txBox="1"/>
              <p:nvPr/>
            </p:nvSpPr>
            <p:spPr bwMode="auto">
              <a:xfrm>
                <a:off x="8704738" y="5593381"/>
                <a:ext cx="2549987" cy="10541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Object 51">
                <a:extLst>
                  <a:ext uri="{FF2B5EF4-FFF2-40B4-BE49-F238E27FC236}">
                    <a16:creationId xmlns:a16="http://schemas.microsoft.com/office/drawing/2014/main" id="{CCB39F5E-46B4-46D5-C87C-29FFA8128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04738" y="5593381"/>
                <a:ext cx="2549987" cy="1054100"/>
              </a:xfrm>
              <a:prstGeom prst="rect">
                <a:avLst/>
              </a:prstGeom>
              <a:blipFill>
                <a:blip r:embed="rId10"/>
                <a:stretch>
                  <a:fillRect b="-110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239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P spid="6" grpId="0"/>
      <p:bldP spid="10" grpId="0"/>
      <p:bldP spid="11" grpId="0"/>
      <p:bldP spid="13" grpId="0" animBg="1"/>
      <p:bldP spid="14" grpId="0" animBg="1"/>
      <p:bldP spid="21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B9651C8-5062-4CF1-B8BC-D0E8002A11F3}"/>
                  </a:ext>
                </a:extLst>
              </p:cNvPr>
              <p:cNvSpPr/>
              <p:nvPr/>
            </p:nvSpPr>
            <p:spPr>
              <a:xfrm>
                <a:off x="5367557" y="2028166"/>
                <a:ext cx="3277372" cy="10986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en-US" altLang="zh-CN" sz="28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=−</m:t>
                      </m:r>
                      <m:f>
                        <m:fPr>
                          <m:ctrlP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B9651C8-5062-4CF1-B8BC-D0E8002A11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557" y="2028166"/>
                <a:ext cx="3277372" cy="10986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3A37F976-D89A-4C71-8F2C-C9DB9033B69B}"/>
              </a:ext>
            </a:extLst>
          </p:cNvPr>
          <p:cNvSpPr/>
          <p:nvPr/>
        </p:nvSpPr>
        <p:spPr>
          <a:xfrm>
            <a:off x="940977" y="3616092"/>
            <a:ext cx="43488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净流出封闭面的电流  </a:t>
            </a:r>
            <a:r>
              <a:rPr lang="en-US" altLang="zh-CN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A483EC-2190-42C7-AD45-76918B1A1EF1}"/>
              </a:ext>
            </a:extLst>
          </p:cNvPr>
          <p:cNvSpPr txBox="1"/>
          <p:nvPr/>
        </p:nvSpPr>
        <p:spPr>
          <a:xfrm>
            <a:off x="5969141" y="1421789"/>
            <a:ext cx="1959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a typeface="华文楷体" panose="02010600040101010101" pitchFamily="2" charset="-122"/>
              </a:rPr>
              <a:t>电荷守恒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A4B39A1-68C9-4473-AC1B-25DC9D6FE4E0}"/>
              </a:ext>
            </a:extLst>
          </p:cNvPr>
          <p:cNvSpPr/>
          <p:nvPr/>
        </p:nvSpPr>
        <p:spPr>
          <a:xfrm>
            <a:off x="589623" y="396302"/>
            <a:ext cx="3833101" cy="68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zh-CN" altLang="en-US" sz="3200" b="1" kern="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电流的连续性方程</a:t>
            </a:r>
            <a:endParaRPr lang="zh-CN" altLang="en-US" sz="3200" b="1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3FFFF9F-84C7-4E70-9865-DBFC5BB04778}"/>
              </a:ext>
            </a:extLst>
          </p:cNvPr>
          <p:cNvSpPr/>
          <p:nvPr/>
        </p:nvSpPr>
        <p:spPr>
          <a:xfrm>
            <a:off x="4825881" y="3616092"/>
            <a:ext cx="73661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单位时间内从封闭面内向外流出的正电荷的量</a:t>
            </a:r>
            <a:endParaRPr lang="en-US" sz="2800" dirty="0"/>
          </a:p>
        </p:txBody>
      </p:sp>
      <p:grpSp>
        <p:nvGrpSpPr>
          <p:cNvPr id="32" name="Group 112">
            <a:extLst>
              <a:ext uri="{FF2B5EF4-FFF2-40B4-BE49-F238E27FC236}">
                <a16:creationId xmlns:a16="http://schemas.microsoft.com/office/drawing/2014/main" id="{C3B68C23-2B21-48E4-8636-AA82CBE7F80E}"/>
              </a:ext>
            </a:extLst>
          </p:cNvPr>
          <p:cNvGrpSpPr>
            <a:grpSpLocks/>
          </p:cNvGrpSpPr>
          <p:nvPr/>
        </p:nvGrpSpPr>
        <p:grpSpPr bwMode="auto">
          <a:xfrm>
            <a:off x="1627494" y="1517796"/>
            <a:ext cx="2795230" cy="2069702"/>
            <a:chOff x="1538" y="1080"/>
            <a:chExt cx="2278" cy="1500"/>
          </a:xfrm>
        </p:grpSpPr>
        <p:sp>
          <p:nvSpPr>
            <p:cNvPr id="34" name="Freeform 56">
              <a:extLst>
                <a:ext uri="{FF2B5EF4-FFF2-40B4-BE49-F238E27FC236}">
                  <a16:creationId xmlns:a16="http://schemas.microsoft.com/office/drawing/2014/main" id="{1D02CAB9-6542-462E-80CD-EEA806616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1080"/>
              <a:ext cx="2278" cy="1103"/>
            </a:xfrm>
            <a:custGeom>
              <a:avLst/>
              <a:gdLst>
                <a:gd name="T0" fmla="*/ 706 w 1942"/>
                <a:gd name="T1" fmla="*/ 336 h 1055"/>
                <a:gd name="T2" fmla="*/ 910 w 1942"/>
                <a:gd name="T3" fmla="*/ 228 h 1055"/>
                <a:gd name="T4" fmla="*/ 1006 w 1942"/>
                <a:gd name="T5" fmla="*/ 144 h 1055"/>
                <a:gd name="T6" fmla="*/ 1186 w 1942"/>
                <a:gd name="T7" fmla="*/ 24 h 1055"/>
                <a:gd name="T8" fmla="*/ 1330 w 1942"/>
                <a:gd name="T9" fmla="*/ 0 h 1055"/>
                <a:gd name="T10" fmla="*/ 1666 w 1942"/>
                <a:gd name="T11" fmla="*/ 48 h 1055"/>
                <a:gd name="T12" fmla="*/ 1786 w 1942"/>
                <a:gd name="T13" fmla="*/ 144 h 1055"/>
                <a:gd name="T14" fmla="*/ 1858 w 1942"/>
                <a:gd name="T15" fmla="*/ 300 h 1055"/>
                <a:gd name="T16" fmla="*/ 1882 w 1942"/>
                <a:gd name="T17" fmla="*/ 336 h 1055"/>
                <a:gd name="T18" fmla="*/ 1906 w 1942"/>
                <a:gd name="T19" fmla="*/ 372 h 1055"/>
                <a:gd name="T20" fmla="*/ 1942 w 1942"/>
                <a:gd name="T21" fmla="*/ 540 h 1055"/>
                <a:gd name="T22" fmla="*/ 1858 w 1942"/>
                <a:gd name="T23" fmla="*/ 672 h 1055"/>
                <a:gd name="T24" fmla="*/ 1738 w 1942"/>
                <a:gd name="T25" fmla="*/ 792 h 1055"/>
                <a:gd name="T26" fmla="*/ 1702 w 1942"/>
                <a:gd name="T27" fmla="*/ 840 h 1055"/>
                <a:gd name="T28" fmla="*/ 1486 w 1942"/>
                <a:gd name="T29" fmla="*/ 936 h 1055"/>
                <a:gd name="T30" fmla="*/ 1054 w 1942"/>
                <a:gd name="T31" fmla="*/ 996 h 1055"/>
                <a:gd name="T32" fmla="*/ 790 w 1942"/>
                <a:gd name="T33" fmla="*/ 1044 h 1055"/>
                <a:gd name="T34" fmla="*/ 106 w 1942"/>
                <a:gd name="T35" fmla="*/ 996 h 1055"/>
                <a:gd name="T36" fmla="*/ 10 w 1942"/>
                <a:gd name="T37" fmla="*/ 696 h 1055"/>
                <a:gd name="T38" fmla="*/ 34 w 1942"/>
                <a:gd name="T39" fmla="*/ 516 h 1055"/>
                <a:gd name="T40" fmla="*/ 526 w 1942"/>
                <a:gd name="T41" fmla="*/ 348 h 1055"/>
                <a:gd name="T42" fmla="*/ 706 w 1942"/>
                <a:gd name="T43" fmla="*/ 336 h 1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42" h="1055">
                  <a:moveTo>
                    <a:pt x="706" y="336"/>
                  </a:moveTo>
                  <a:cubicBezTo>
                    <a:pt x="774" y="300"/>
                    <a:pt x="845" y="269"/>
                    <a:pt x="910" y="228"/>
                  </a:cubicBezTo>
                  <a:cubicBezTo>
                    <a:pt x="949" y="204"/>
                    <a:pt x="937" y="167"/>
                    <a:pt x="1006" y="144"/>
                  </a:cubicBezTo>
                  <a:cubicBezTo>
                    <a:pt x="1043" y="107"/>
                    <a:pt x="1136" y="36"/>
                    <a:pt x="1186" y="24"/>
                  </a:cubicBezTo>
                  <a:cubicBezTo>
                    <a:pt x="1233" y="12"/>
                    <a:pt x="1283" y="12"/>
                    <a:pt x="1330" y="0"/>
                  </a:cubicBezTo>
                  <a:cubicBezTo>
                    <a:pt x="1442" y="19"/>
                    <a:pt x="1556" y="20"/>
                    <a:pt x="1666" y="48"/>
                  </a:cubicBezTo>
                  <a:cubicBezTo>
                    <a:pt x="1709" y="80"/>
                    <a:pt x="1748" y="106"/>
                    <a:pt x="1786" y="144"/>
                  </a:cubicBezTo>
                  <a:cubicBezTo>
                    <a:pt x="1818" y="256"/>
                    <a:pt x="1794" y="204"/>
                    <a:pt x="1858" y="300"/>
                  </a:cubicBezTo>
                  <a:cubicBezTo>
                    <a:pt x="1866" y="312"/>
                    <a:pt x="1874" y="324"/>
                    <a:pt x="1882" y="336"/>
                  </a:cubicBezTo>
                  <a:cubicBezTo>
                    <a:pt x="1890" y="348"/>
                    <a:pt x="1906" y="372"/>
                    <a:pt x="1906" y="372"/>
                  </a:cubicBezTo>
                  <a:cubicBezTo>
                    <a:pt x="1920" y="428"/>
                    <a:pt x="1928" y="484"/>
                    <a:pt x="1942" y="540"/>
                  </a:cubicBezTo>
                  <a:cubicBezTo>
                    <a:pt x="1926" y="604"/>
                    <a:pt x="1906" y="624"/>
                    <a:pt x="1858" y="672"/>
                  </a:cubicBezTo>
                  <a:cubicBezTo>
                    <a:pt x="1814" y="803"/>
                    <a:pt x="1868" y="697"/>
                    <a:pt x="1738" y="792"/>
                  </a:cubicBezTo>
                  <a:cubicBezTo>
                    <a:pt x="1722" y="804"/>
                    <a:pt x="1716" y="826"/>
                    <a:pt x="1702" y="840"/>
                  </a:cubicBezTo>
                  <a:cubicBezTo>
                    <a:pt x="1643" y="899"/>
                    <a:pt x="1565" y="923"/>
                    <a:pt x="1486" y="936"/>
                  </a:cubicBezTo>
                  <a:cubicBezTo>
                    <a:pt x="1361" y="1020"/>
                    <a:pt x="1197" y="991"/>
                    <a:pt x="1054" y="996"/>
                  </a:cubicBezTo>
                  <a:cubicBezTo>
                    <a:pt x="965" y="1011"/>
                    <a:pt x="879" y="1029"/>
                    <a:pt x="790" y="1044"/>
                  </a:cubicBezTo>
                  <a:cubicBezTo>
                    <a:pt x="521" y="1038"/>
                    <a:pt x="343" y="1055"/>
                    <a:pt x="106" y="996"/>
                  </a:cubicBezTo>
                  <a:cubicBezTo>
                    <a:pt x="34" y="888"/>
                    <a:pt x="30" y="818"/>
                    <a:pt x="10" y="696"/>
                  </a:cubicBezTo>
                  <a:cubicBezTo>
                    <a:pt x="15" y="636"/>
                    <a:pt x="0" y="566"/>
                    <a:pt x="34" y="516"/>
                  </a:cubicBezTo>
                  <a:cubicBezTo>
                    <a:pt x="134" y="367"/>
                    <a:pt x="375" y="363"/>
                    <a:pt x="526" y="348"/>
                  </a:cubicBezTo>
                  <a:cubicBezTo>
                    <a:pt x="673" y="333"/>
                    <a:pt x="588" y="336"/>
                    <a:pt x="706" y="336"/>
                  </a:cubicBez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FF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b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CDD2D2F7-EDB9-4330-85C6-66E951E74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4" y="2448"/>
              <a:ext cx="120" cy="1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b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38" name="Line 88">
            <a:extLst>
              <a:ext uri="{FF2B5EF4-FFF2-40B4-BE49-F238E27FC236}">
                <a16:creationId xmlns:a16="http://schemas.microsoft.com/office/drawing/2014/main" id="{A57B5BEB-A73A-4013-A5E4-A6702C2157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31185" y="2279446"/>
            <a:ext cx="368116" cy="99346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Line 89">
            <a:extLst>
              <a:ext uri="{FF2B5EF4-FFF2-40B4-BE49-F238E27FC236}">
                <a16:creationId xmlns:a16="http://schemas.microsoft.com/office/drawing/2014/main" id="{F4CB6941-0119-48FA-BCCB-61A38359D5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7649" y="2146985"/>
            <a:ext cx="397566" cy="11590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0" name="Line 102">
            <a:extLst>
              <a:ext uri="{FF2B5EF4-FFF2-40B4-BE49-F238E27FC236}">
                <a16:creationId xmlns:a16="http://schemas.microsoft.com/office/drawing/2014/main" id="{00B24A9B-4660-4613-9302-55C31F65AC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098" y="2602319"/>
            <a:ext cx="316580" cy="12418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Line 103">
            <a:extLst>
              <a:ext uri="{FF2B5EF4-FFF2-40B4-BE49-F238E27FC236}">
                <a16:creationId xmlns:a16="http://schemas.microsoft.com/office/drawing/2014/main" id="{177410AE-E0A5-4260-A6F2-BBF3DF16E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8200" y="2751338"/>
            <a:ext cx="316580" cy="11590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2" name="Line 105">
            <a:extLst>
              <a:ext uri="{FF2B5EF4-FFF2-40B4-BE49-F238E27FC236}">
                <a16:creationId xmlns:a16="http://schemas.microsoft.com/office/drawing/2014/main" id="{3BDE898F-A24D-4859-AFB1-AA360792E5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51476" y="2858962"/>
            <a:ext cx="419653" cy="8279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3" name="Line 106">
            <a:extLst>
              <a:ext uri="{FF2B5EF4-FFF2-40B4-BE49-F238E27FC236}">
                <a16:creationId xmlns:a16="http://schemas.microsoft.com/office/drawing/2014/main" id="{DAB3363A-A573-423E-BA93-7FA9BDC418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8722" y="1832390"/>
            <a:ext cx="404928" cy="17385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4" name="Line 107">
            <a:extLst>
              <a:ext uri="{FF2B5EF4-FFF2-40B4-BE49-F238E27FC236}">
                <a16:creationId xmlns:a16="http://schemas.microsoft.com/office/drawing/2014/main" id="{436E54BA-C536-407D-8F54-CC33FE7199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9911" y="1766160"/>
            <a:ext cx="353392" cy="1655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6" name="Line 108">
            <a:extLst>
              <a:ext uri="{FF2B5EF4-FFF2-40B4-BE49-F238E27FC236}">
                <a16:creationId xmlns:a16="http://schemas.microsoft.com/office/drawing/2014/main" id="{EB8A9568-F7DF-440A-85FB-268EA1CB1C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4288" y="1832390"/>
            <a:ext cx="294493" cy="827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7" name="Line 109">
            <a:extLst>
              <a:ext uri="{FF2B5EF4-FFF2-40B4-BE49-F238E27FC236}">
                <a16:creationId xmlns:a16="http://schemas.microsoft.com/office/drawing/2014/main" id="{23EAB8BD-77A0-4352-9EBE-34BBAF363E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37389" y="2751338"/>
            <a:ext cx="397566" cy="6623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8" name="Line 92">
            <a:extLst>
              <a:ext uri="{FF2B5EF4-FFF2-40B4-BE49-F238E27FC236}">
                <a16:creationId xmlns:a16="http://schemas.microsoft.com/office/drawing/2014/main" id="{96C4E635-B415-4AA9-BB38-CD9CAC1BF8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5909" y="2478137"/>
            <a:ext cx="427015" cy="1655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" name="Line 93">
            <a:extLst>
              <a:ext uri="{FF2B5EF4-FFF2-40B4-BE49-F238E27FC236}">
                <a16:creationId xmlns:a16="http://schemas.microsoft.com/office/drawing/2014/main" id="{B85E7706-DAD8-4466-9142-5B5E37F880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185" y="2428465"/>
            <a:ext cx="412290" cy="4967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0" name="Line 95">
            <a:extLst>
              <a:ext uri="{FF2B5EF4-FFF2-40B4-BE49-F238E27FC236}">
                <a16:creationId xmlns:a16="http://schemas.microsoft.com/office/drawing/2014/main" id="{A9A8E176-2325-439B-BEDE-E9EDF47B83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5098" y="2378792"/>
            <a:ext cx="412290" cy="4967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Line 96">
            <a:extLst>
              <a:ext uri="{FF2B5EF4-FFF2-40B4-BE49-F238E27FC236}">
                <a16:creationId xmlns:a16="http://schemas.microsoft.com/office/drawing/2014/main" id="{EAD2DF99-53CE-48AF-9352-A694E5C6F8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722" y="2287725"/>
            <a:ext cx="412290" cy="4967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" name="Line 90">
            <a:extLst>
              <a:ext uri="{FF2B5EF4-FFF2-40B4-BE49-F238E27FC236}">
                <a16:creationId xmlns:a16="http://schemas.microsoft.com/office/drawing/2014/main" id="{5847B449-999B-493A-8FDD-BA3C56DF9E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7737" y="2080755"/>
            <a:ext cx="382841" cy="99346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5" name="Line 91">
            <a:extLst>
              <a:ext uri="{FF2B5EF4-FFF2-40B4-BE49-F238E27FC236}">
                <a16:creationId xmlns:a16="http://schemas.microsoft.com/office/drawing/2014/main" id="{B9CA5506-3E13-4A2A-81F0-2FAF9FD829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88925" y="2031082"/>
            <a:ext cx="412290" cy="1655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6" name="Line 94">
            <a:extLst>
              <a:ext uri="{FF2B5EF4-FFF2-40B4-BE49-F238E27FC236}">
                <a16:creationId xmlns:a16="http://schemas.microsoft.com/office/drawing/2014/main" id="{39F57F67-19D3-4B1D-876D-E971AD34A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4288" y="2097312"/>
            <a:ext cx="397566" cy="827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7" name="Line 97">
            <a:extLst>
              <a:ext uri="{FF2B5EF4-FFF2-40B4-BE49-F238E27FC236}">
                <a16:creationId xmlns:a16="http://schemas.microsoft.com/office/drawing/2014/main" id="{8237FE31-9E0E-4F21-8A33-755773D63C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9013" y="2370513"/>
            <a:ext cx="323942" cy="12418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8" name="Line 99">
            <a:extLst>
              <a:ext uri="{FF2B5EF4-FFF2-40B4-BE49-F238E27FC236}">
                <a16:creationId xmlns:a16="http://schemas.microsoft.com/office/drawing/2014/main" id="{FBE1AC5C-A336-4344-8F4F-505D487EEF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1823" y="2643714"/>
            <a:ext cx="397566" cy="6623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9" name="Line 100">
            <a:extLst>
              <a:ext uri="{FF2B5EF4-FFF2-40B4-BE49-F238E27FC236}">
                <a16:creationId xmlns:a16="http://schemas.microsoft.com/office/drawing/2014/main" id="{7E0846A4-FEFD-4D9D-931E-179CF9D2C2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7186" y="2668550"/>
            <a:ext cx="41229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0" name="Line 101">
            <a:extLst>
              <a:ext uri="{FF2B5EF4-FFF2-40B4-BE49-F238E27FC236}">
                <a16:creationId xmlns:a16="http://schemas.microsoft.com/office/drawing/2014/main" id="{BD494D90-0CD0-4547-BBE4-D8A964BC30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2549" y="2527810"/>
            <a:ext cx="368116" cy="99346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1DD7BD8-C42E-4ADF-AB68-51A3F4A4610F}"/>
              </a:ext>
            </a:extLst>
          </p:cNvPr>
          <p:cNvSpPr/>
          <p:nvPr/>
        </p:nvSpPr>
        <p:spPr>
          <a:xfrm>
            <a:off x="2417716" y="1895121"/>
            <a:ext cx="1100669" cy="1017014"/>
          </a:xfrm>
          <a:prstGeom prst="ellipse">
            <a:avLst/>
          </a:prstGeom>
          <a:solidFill>
            <a:schemeClr val="bg1">
              <a:lumMod val="65000"/>
              <a:alpha val="74000"/>
            </a:schemeClr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2C578DD-F016-A7B9-1612-9433F2E38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331" y="4328522"/>
            <a:ext cx="2723447" cy="724591"/>
          </a:xfrm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稳恒电流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AA60748-6622-FAC0-1C73-ECF3A781AC3B}"/>
                  </a:ext>
                </a:extLst>
              </p:cNvPr>
              <p:cNvSpPr/>
              <p:nvPr/>
            </p:nvSpPr>
            <p:spPr>
              <a:xfrm>
                <a:off x="1483379" y="5161502"/>
                <a:ext cx="2403671" cy="1401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en-US" altLang="zh-CN" sz="28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=0</m:t>
                      </m:r>
                    </m:oMath>
                  </m:oMathPara>
                </a14:m>
                <a:endParaRPr lang="en-US" altLang="zh-CN" sz="2800" kern="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AA60748-6622-FAC0-1C73-ECF3A781AC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379" y="5161502"/>
                <a:ext cx="2403671" cy="14015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8783A5B0-7D4B-6B6F-EDCF-A74530E02C26}"/>
              </a:ext>
            </a:extLst>
          </p:cNvPr>
          <p:cNvSpPr/>
          <p:nvPr/>
        </p:nvSpPr>
        <p:spPr>
          <a:xfrm>
            <a:off x="3980984" y="4499313"/>
            <a:ext cx="69359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电流场中每一点的电流密度的大小和方向均不随时间改变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9098FD-2CD2-7333-3F5C-E0FE9032A9B8}"/>
              </a:ext>
            </a:extLst>
          </p:cNvPr>
          <p:cNvSpPr/>
          <p:nvPr/>
        </p:nvSpPr>
        <p:spPr>
          <a:xfrm>
            <a:off x="4201854" y="5453420"/>
            <a:ext cx="7780596" cy="1169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buFontTx/>
              <a:buChar char="-"/>
            </a:pPr>
            <a:r>
              <a:rPr lang="zh-CN" altLang="en-US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任一封闭曲面内均无无电荷的堆积和减少</a:t>
            </a:r>
            <a:endParaRPr lang="en-US" altLang="zh-CN" sz="2800" kern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buFontTx/>
              <a:buChar char="-"/>
            </a:pPr>
            <a:r>
              <a:rPr lang="zh-CN" altLang="en-US" sz="2800" dirty="0">
                <a:ea typeface="华文楷体" panose="02010600040101010101" pitchFamily="2" charset="-122"/>
              </a:rPr>
              <a:t> 稳恒电流的电路必须闭合</a:t>
            </a:r>
            <a:endParaRPr lang="en-US" altLang="zh-CN" sz="2800" kern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397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5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5960" y="400132"/>
            <a:ext cx="2723447" cy="724591"/>
          </a:xfrm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稳恒电流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594ECF-D9D5-4C74-BADB-4B5EAC479C32}"/>
              </a:ext>
            </a:extLst>
          </p:cNvPr>
          <p:cNvSpPr/>
          <p:nvPr/>
        </p:nvSpPr>
        <p:spPr>
          <a:xfrm>
            <a:off x="1045851" y="1466320"/>
            <a:ext cx="6654279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节点电流定律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基尔霍夫第一定律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：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Monotype Sorts" pitchFamily="2" charset="2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endParaRPr lang="zh-CN" altLang="en-US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Monotype Sorts" pitchFamily="2" charset="2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       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在电路的任一节点处 流入的电流强   </a:t>
            </a:r>
            <a:b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</a:b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       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度之和等于流出节点的电流强度之和</a:t>
            </a:r>
          </a:p>
          <a:p>
            <a:pPr lvl="0">
              <a:lnSpc>
                <a:spcPct val="130000"/>
              </a:lnSpc>
            </a:pPr>
            <a:endParaRPr lang="en-US" altLang="zh-CN" sz="28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1" name="Picture 2" descr="https://upload.wikimedia.org/wikipedia/commons/thumb/4/46/KCL_-_Kirchhoff%27s_circuit_laws.svg/1920px-KCL_-_Kirchhoff%27s_circuit_laws.svg.png">
            <a:extLst>
              <a:ext uri="{FF2B5EF4-FFF2-40B4-BE49-F238E27FC236}">
                <a16:creationId xmlns:a16="http://schemas.microsoft.com/office/drawing/2014/main" id="{76932ECB-CC57-4EBE-8843-5E7B75515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55" y="1124723"/>
            <a:ext cx="2709214" cy="263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5763083-3789-4782-9451-9A40E89AE80A}"/>
                  </a:ext>
                </a:extLst>
              </p:cNvPr>
              <p:cNvSpPr/>
              <p:nvPr/>
            </p:nvSpPr>
            <p:spPr>
              <a:xfrm>
                <a:off x="2182094" y="3352933"/>
                <a:ext cx="1765612" cy="13443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720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sz="28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a:rPr lang="en-US" altLang="zh-CN" sz="2800" b="0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800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5763083-3789-4782-9451-9A40E89AE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094" y="3352933"/>
                <a:ext cx="1765612" cy="13443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BFD61B94-9DCC-4502-9A1F-B314495F7CB7}"/>
              </a:ext>
            </a:extLst>
          </p:cNvPr>
          <p:cNvSpPr txBox="1"/>
          <p:nvPr/>
        </p:nvSpPr>
        <p:spPr>
          <a:xfrm>
            <a:off x="8128663" y="3713089"/>
            <a:ext cx="359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ea typeface="华文楷体" panose="02010600040101010101" pitchFamily="2" charset="-122"/>
              </a:rPr>
              <a:t>流入的电流为负号，流出电流为正号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F42DF4D-FE3F-4EED-9E69-6E7C60881498}"/>
                  </a:ext>
                </a:extLst>
              </p:cNvPr>
              <p:cNvSpPr/>
              <p:nvPr/>
            </p:nvSpPr>
            <p:spPr>
              <a:xfrm>
                <a:off x="4126018" y="3837847"/>
                <a:ext cx="36736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  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zh-CN" altLang="en-US" sz="2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   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zh-CN" altLang="en-US" sz="2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    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    </m:t>
                      </m:r>
                      <m:r>
                        <a:rPr lang="zh-CN" altLang="en-US" sz="2800" b="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F42DF4D-FE3F-4EED-9E69-6E7C608814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018" y="3837847"/>
                <a:ext cx="367363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181966-B332-3331-C37C-5511314D4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9174" y="5706617"/>
            <a:ext cx="6549890" cy="1207389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zh-CN" altLang="en-US" sz="2800" kern="0" dirty="0">
                <a:solidFill>
                  <a:srgbClr val="000000"/>
                </a:solidFill>
                <a:latin typeface="华文楷体" panose="02010600040101010101" pitchFamily="2" charset="-122"/>
              </a:rPr>
              <a:t>恒定电路中，沿任何闭合回路一周的电势降等于零，称为回路电压方程</a:t>
            </a: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1F4B0-5F3C-87C2-EA28-58359F4B3CF6}"/>
              </a:ext>
            </a:extLst>
          </p:cNvPr>
          <p:cNvSpPr/>
          <p:nvPr/>
        </p:nvSpPr>
        <p:spPr>
          <a:xfrm>
            <a:off x="923940" y="5629718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导体内电荷分布不随时间改变</a:t>
            </a:r>
            <a:endParaRPr lang="en-US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656404-A8B8-FF47-6165-424A8D4FE27C}"/>
              </a:ext>
            </a:extLst>
          </p:cNvPr>
          <p:cNvSpPr/>
          <p:nvPr/>
        </p:nvSpPr>
        <p:spPr>
          <a:xfrm>
            <a:off x="1077404" y="622764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恒定电场</a:t>
            </a:r>
            <a:endParaRPr lang="en-US" sz="2800" dirty="0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32F710C5-9A42-24DF-F4FA-58F469DA7971}"/>
              </a:ext>
            </a:extLst>
          </p:cNvPr>
          <p:cNvSpPr txBox="1">
            <a:spLocks/>
          </p:cNvSpPr>
          <p:nvPr/>
        </p:nvSpPr>
        <p:spPr>
          <a:xfrm>
            <a:off x="923940" y="4697275"/>
            <a:ext cx="2723447" cy="724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楷体" panose="02010600040101010101" pitchFamily="2" charset="-122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稳恒电场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740017-02E3-8AA8-989F-6660EBCD2CD3}"/>
              </a:ext>
            </a:extLst>
          </p:cNvPr>
          <p:cNvSpPr/>
          <p:nvPr/>
        </p:nvSpPr>
        <p:spPr>
          <a:xfrm>
            <a:off x="7492909" y="5106265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基尔霍夫第二方程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30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3" grpId="0" build="p"/>
      <p:bldP spid="4" grpId="0"/>
      <p:bldP spid="9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D67ACB0-B9B5-4192-8871-24A6D5A84695}"/>
                  </a:ext>
                </a:extLst>
              </p:cNvPr>
              <p:cNvSpPr/>
              <p:nvPr/>
            </p:nvSpPr>
            <p:spPr>
              <a:xfrm>
                <a:off x="1587365" y="1207138"/>
                <a:ext cx="3928063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𝑰𝑹</m:t>
                      </m:r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D67ACB0-B9B5-4192-8871-24A6D5A846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365" y="1207138"/>
                <a:ext cx="3928063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标题 1">
            <a:extLst>
              <a:ext uri="{FF2B5EF4-FFF2-40B4-BE49-F238E27FC236}">
                <a16:creationId xmlns:a16="http://schemas.microsoft.com/office/drawing/2014/main" id="{BAC9FB21-3740-403C-A8C3-3AA780111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87" y="482547"/>
            <a:ext cx="2723447" cy="724591"/>
          </a:xfrm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欧姆定律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ABF341EB-7C7E-468E-D85B-FBC8DFA3DAF2}"/>
                  </a:ext>
                </a:extLst>
              </p:cNvPr>
              <p:cNvSpPr txBox="1"/>
              <p:nvPr/>
            </p:nvSpPr>
            <p:spPr bwMode="auto">
              <a:xfrm>
                <a:off x="2282210" y="2317750"/>
                <a:ext cx="1797050" cy="11112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ABF341EB-7C7E-468E-D85B-FBC8DFA3D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2210" y="2317750"/>
                <a:ext cx="1797050" cy="1111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F18961F-8B1A-609B-216C-CE346C829AEC}"/>
                  </a:ext>
                </a:extLst>
              </p:cNvPr>
              <p:cNvSpPr/>
              <p:nvPr/>
            </p:nvSpPr>
            <p:spPr>
              <a:xfrm>
                <a:off x="3537865" y="2309188"/>
                <a:ext cx="1148969" cy="9107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𝒍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F18961F-8B1A-609B-216C-CE346C829A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865" y="2309188"/>
                <a:ext cx="1148969" cy="910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1732D74C-F4B4-E263-3BE8-72A21BCA5FB7}"/>
              </a:ext>
            </a:extLst>
          </p:cNvPr>
          <p:cNvSpPr/>
          <p:nvPr/>
        </p:nvSpPr>
        <p:spPr>
          <a:xfrm>
            <a:off x="1587365" y="2504043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电阻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132C25F8-F7F7-D392-66F5-8E827E2D7298}"/>
                  </a:ext>
                </a:extLst>
              </p:cNvPr>
              <p:cNvSpPr txBox="1"/>
              <p:nvPr/>
            </p:nvSpPr>
            <p:spPr bwMode="auto">
              <a:xfrm>
                <a:off x="1149533" y="5079171"/>
                <a:ext cx="1797050" cy="11112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𝒍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132C25F8-F7F7-D392-66F5-8E827E2D7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9533" y="5079171"/>
                <a:ext cx="1797050" cy="11112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">
                <a:extLst>
                  <a:ext uri="{FF2B5EF4-FFF2-40B4-BE49-F238E27FC236}">
                    <a16:creationId xmlns:a16="http://schemas.microsoft.com/office/drawing/2014/main" id="{7725BFA3-030F-3E2B-82B5-E171D9D786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9983" y="5079171"/>
                <a:ext cx="2009101" cy="12225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𝑹</m:t>
                      </m:r>
                      <m:r>
                        <a:rPr kumimoji="0" lang="en-US" altLang="zh-C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0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kumimoji="0" lang="en-US" altLang="zh-CN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kumimoji="0"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𝒅𝒍</m:t>
                              </m:r>
                            </m:num>
                            <m:den>
                              <m:r>
                                <a:rPr kumimoji="0"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𝝈</m:t>
                              </m:r>
                              <m:r>
                                <a:rPr kumimoji="0"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𝑺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kumimoji="0" lang="en-US" altLang="zh-CN" sz="2800" dirty="0">
                  <a:solidFill>
                    <a:srgbClr val="FF0000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 Box 2">
                <a:extLst>
                  <a:ext uri="{FF2B5EF4-FFF2-40B4-BE49-F238E27FC236}">
                    <a16:creationId xmlns:a16="http://schemas.microsoft.com/office/drawing/2014/main" id="{7725BFA3-030F-3E2B-82B5-E171D9D78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9983" y="5079171"/>
                <a:ext cx="2009101" cy="12225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278C8F70-4948-2BF2-CF90-6A81AA7496F5}"/>
              </a:ext>
            </a:extLst>
          </p:cNvPr>
          <p:cNvSpPr/>
          <p:nvPr/>
        </p:nvSpPr>
        <p:spPr>
          <a:xfrm>
            <a:off x="1584742" y="3966213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电导率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5FFDA38-75DC-C586-9F55-57A22780D8ED}"/>
                  </a:ext>
                </a:extLst>
              </p:cNvPr>
              <p:cNvSpPr/>
              <p:nvPr/>
            </p:nvSpPr>
            <p:spPr>
              <a:xfrm>
                <a:off x="2906771" y="3970238"/>
                <a:ext cx="4932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5FFDA38-75DC-C586-9F55-57A22780D8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771" y="3970238"/>
                <a:ext cx="49321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39B2417-557D-C291-A8BC-6632CF0C52DA}"/>
                  </a:ext>
                </a:extLst>
              </p:cNvPr>
              <p:cNvSpPr/>
              <p:nvPr/>
            </p:nvSpPr>
            <p:spPr>
              <a:xfrm>
                <a:off x="3131096" y="3776724"/>
                <a:ext cx="840678" cy="9747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39B2417-557D-C291-A8BC-6632CF0C52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096" y="3776724"/>
                <a:ext cx="840678" cy="9747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7D5475D-0E68-73F9-5522-22F5DE4B40A6}"/>
                  </a:ext>
                </a:extLst>
              </p:cNvPr>
              <p:cNvSpPr/>
              <p:nvPr/>
            </p:nvSpPr>
            <p:spPr>
              <a:xfrm>
                <a:off x="5992363" y="1328120"/>
                <a:ext cx="2248667" cy="7204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3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zh-CN" altLang="en-US" sz="2800" b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7D5475D-0E68-73F9-5522-22F5DE4B40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363" y="1328120"/>
                <a:ext cx="2248667" cy="7204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F3957C49-49D9-1312-3AF0-A1912622B9B4}"/>
              </a:ext>
            </a:extLst>
          </p:cNvPr>
          <p:cNvSpPr/>
          <p:nvPr/>
        </p:nvSpPr>
        <p:spPr>
          <a:xfrm>
            <a:off x="7786903" y="1405193"/>
            <a:ext cx="39561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cs typeface="Times New Roman" panose="02020603050405020304" pitchFamily="18" charset="0"/>
              </a:rPr>
              <a:t>欧姆定律微分形式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45">
                <a:extLst>
                  <a:ext uri="{FF2B5EF4-FFF2-40B4-BE49-F238E27FC236}">
                    <a16:creationId xmlns:a16="http://schemas.microsoft.com/office/drawing/2014/main" id="{2CB4253C-A1C4-0FA4-5396-209BAD2BA7C9}"/>
                  </a:ext>
                </a:extLst>
              </p:cNvPr>
              <p:cNvSpPr txBox="1"/>
              <p:nvPr/>
            </p:nvSpPr>
            <p:spPr bwMode="auto">
              <a:xfrm>
                <a:off x="5876308" y="2931469"/>
                <a:ext cx="2427287" cy="7000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𝑛𝑞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Object 45">
                <a:extLst>
                  <a:ext uri="{FF2B5EF4-FFF2-40B4-BE49-F238E27FC236}">
                    <a16:creationId xmlns:a16="http://schemas.microsoft.com/office/drawing/2014/main" id="{2CB4253C-A1C4-0FA4-5396-209BAD2BA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76308" y="2931469"/>
                <a:ext cx="2427287" cy="7000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50">
                <a:extLst>
                  <a:ext uri="{FF2B5EF4-FFF2-40B4-BE49-F238E27FC236}">
                    <a16:creationId xmlns:a16="http://schemas.microsoft.com/office/drawing/2014/main" id="{A576F937-3E6B-4F20-D859-0F1820A9FEC8}"/>
                  </a:ext>
                </a:extLst>
              </p:cNvPr>
              <p:cNvSpPr txBox="1"/>
              <p:nvPr/>
            </p:nvSpPr>
            <p:spPr bwMode="auto">
              <a:xfrm>
                <a:off x="6316937" y="4536560"/>
                <a:ext cx="3084869" cy="819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Object 50">
                <a:extLst>
                  <a:ext uri="{FF2B5EF4-FFF2-40B4-BE49-F238E27FC236}">
                    <a16:creationId xmlns:a16="http://schemas.microsoft.com/office/drawing/2014/main" id="{A576F937-3E6B-4F20-D859-0F1820A9F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16937" y="4536560"/>
                <a:ext cx="3084869" cy="819313"/>
              </a:xfrm>
              <a:prstGeom prst="rect">
                <a:avLst/>
              </a:prstGeom>
              <a:blipFill>
                <a:blip r:embed="rId11"/>
                <a:stretch>
                  <a:fillRect b="-170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">
                <a:extLst>
                  <a:ext uri="{FF2B5EF4-FFF2-40B4-BE49-F238E27FC236}">
                    <a16:creationId xmlns:a16="http://schemas.microsoft.com/office/drawing/2014/main" id="{12ED40A0-B087-B03A-1D05-4A9F1ED0DAF8}"/>
                  </a:ext>
                </a:extLst>
              </p:cNvPr>
              <p:cNvSpPr txBox="1"/>
              <p:nvPr/>
            </p:nvSpPr>
            <p:spPr bwMode="auto">
              <a:xfrm>
                <a:off x="9422427" y="4625458"/>
                <a:ext cx="2435056" cy="8193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" name="Object 1">
                <a:extLst>
                  <a:ext uri="{FF2B5EF4-FFF2-40B4-BE49-F238E27FC236}">
                    <a16:creationId xmlns:a16="http://schemas.microsoft.com/office/drawing/2014/main" id="{12ED40A0-B087-B03A-1D05-4A9F1ED0D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2427" y="4625458"/>
                <a:ext cx="2435056" cy="819314"/>
              </a:xfrm>
              <a:prstGeom prst="rect">
                <a:avLst/>
              </a:prstGeom>
              <a:blipFill>
                <a:blip r:embed="rId12"/>
                <a:stretch>
                  <a:fillRect b="-104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78494A69-E08F-5363-68D8-A4E96B4C1038}"/>
              </a:ext>
            </a:extLst>
          </p:cNvPr>
          <p:cNvSpPr/>
          <p:nvPr/>
        </p:nvSpPr>
        <p:spPr>
          <a:xfrm>
            <a:off x="6192135" y="5795985"/>
            <a:ext cx="56985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</a:rPr>
              <a:t>适用范围： 一般的金属或电解液</a:t>
            </a:r>
            <a:endParaRPr lang="en-US" sz="2800" dirty="0"/>
          </a:p>
        </p:txBody>
      </p:sp>
      <p:grpSp>
        <p:nvGrpSpPr>
          <p:cNvPr id="5" name="Group 46">
            <a:extLst>
              <a:ext uri="{FF2B5EF4-FFF2-40B4-BE49-F238E27FC236}">
                <a16:creationId xmlns:a16="http://schemas.microsoft.com/office/drawing/2014/main" id="{7BCF5F9B-D2EC-4AC7-D90A-16703DD0E4F4}"/>
              </a:ext>
            </a:extLst>
          </p:cNvPr>
          <p:cNvGrpSpPr>
            <a:grpSpLocks/>
          </p:cNvGrpSpPr>
          <p:nvPr/>
        </p:nvGrpSpPr>
        <p:grpSpPr bwMode="auto">
          <a:xfrm>
            <a:off x="8644552" y="2568058"/>
            <a:ext cx="2530475" cy="1676400"/>
            <a:chOff x="758" y="1440"/>
            <a:chExt cx="1594" cy="1056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8C41D40C-868B-9AC9-6906-419A4A89E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112"/>
              <a:ext cx="384" cy="3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8ABF51C0-05B2-C267-09F0-D835D90C3D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1440"/>
              <a:ext cx="110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4113F1BD-4B52-8F37-68F4-CC18449594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1776"/>
              <a:ext cx="110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6AC34959-19AA-A267-36E9-E048B5DFEB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1440"/>
              <a:ext cx="110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0B38326B-9765-9261-EFA7-7439208B16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1824"/>
              <a:ext cx="110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227E5F6F-8D8B-1DBE-0CE9-00921B86A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440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7C732448-B98A-0C07-00BA-FEA5896ED6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440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AD520D2B-515F-D361-2A47-4D90A9245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44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26" name="Line 13">
              <a:extLst>
                <a:ext uri="{FF2B5EF4-FFF2-40B4-BE49-F238E27FC236}">
                  <a16:creationId xmlns:a16="http://schemas.microsoft.com/office/drawing/2014/main" id="{B07B79FF-B660-8E19-DA51-5606D8A02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824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27" name="Text Box 15">
              <a:extLst>
                <a:ext uri="{FF2B5EF4-FFF2-40B4-BE49-F238E27FC236}">
                  <a16:creationId xmlns:a16="http://schemas.microsoft.com/office/drawing/2014/main" id="{1C88B343-E295-456A-D867-BF52ED0F0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8" y="2112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dirty="0">
                  <a:latin typeface="+mn-lt"/>
                  <a:ea typeface="华文楷体" panose="02010600040101010101" pitchFamily="2" charset="-122"/>
                </a:rPr>
                <a:t>v</a:t>
              </a:r>
            </a:p>
          </p:txBody>
        </p:sp>
        <p:sp>
          <p:nvSpPr>
            <p:cNvPr id="28" name="Line 16">
              <a:extLst>
                <a:ext uri="{FF2B5EF4-FFF2-40B4-BE49-F238E27FC236}">
                  <a16:creationId xmlns:a16="http://schemas.microsoft.com/office/drawing/2014/main" id="{0638AC37-AF5E-59F7-7C0A-B24C8E0FBB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8" y="219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29" name="Text Box 17">
              <a:extLst>
                <a:ext uri="{FF2B5EF4-FFF2-40B4-BE49-F238E27FC236}">
                  <a16:creationId xmlns:a16="http://schemas.microsoft.com/office/drawing/2014/main" id="{524CB94C-90A7-4668-9F57-40C4B24B8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1" y="1444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dirty="0">
                  <a:latin typeface="+mn-lt"/>
                  <a:ea typeface="华文楷体" panose="02010600040101010101" pitchFamily="2" charset="-122"/>
                </a:rPr>
                <a:t>n</a:t>
              </a:r>
            </a:p>
          </p:txBody>
        </p:sp>
        <p:sp>
          <p:nvSpPr>
            <p:cNvPr id="30" name="Oval 18">
              <a:extLst>
                <a:ext uri="{FF2B5EF4-FFF2-40B4-BE49-F238E27FC236}">
                  <a16:creationId xmlns:a16="http://schemas.microsoft.com/office/drawing/2014/main" id="{65288357-7B73-1E5B-B3E6-23D63912D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11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1" name="Oval 19">
              <a:extLst>
                <a:ext uri="{FF2B5EF4-FFF2-40B4-BE49-F238E27FC236}">
                  <a16:creationId xmlns:a16="http://schemas.microsoft.com/office/drawing/2014/main" id="{2D8E8200-1885-5DEE-2140-EC6F96808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20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2" name="Oval 20">
              <a:extLst>
                <a:ext uri="{FF2B5EF4-FFF2-40B4-BE49-F238E27FC236}">
                  <a16:creationId xmlns:a16="http://schemas.microsoft.com/office/drawing/2014/main" id="{91680E54-D976-38E6-7B05-0B797D7E5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3" name="Oval 21">
              <a:extLst>
                <a:ext uri="{FF2B5EF4-FFF2-40B4-BE49-F238E27FC236}">
                  <a16:creationId xmlns:a16="http://schemas.microsoft.com/office/drawing/2014/main" id="{42FDE520-D146-0925-41DD-915B51FF8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01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4" name="Oval 22">
              <a:extLst>
                <a:ext uri="{FF2B5EF4-FFF2-40B4-BE49-F238E27FC236}">
                  <a16:creationId xmlns:a16="http://schemas.microsoft.com/office/drawing/2014/main" id="{CEE1A59B-3775-F83D-1AE8-56747AB03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68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5" name="Oval 23">
              <a:extLst>
                <a:ext uri="{FF2B5EF4-FFF2-40B4-BE49-F238E27FC236}">
                  <a16:creationId xmlns:a16="http://schemas.microsoft.com/office/drawing/2014/main" id="{CBCC2DE3-421F-8BE7-7157-50E758DC6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01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6" name="Oval 24">
              <a:extLst>
                <a:ext uri="{FF2B5EF4-FFF2-40B4-BE49-F238E27FC236}">
                  <a16:creationId xmlns:a16="http://schemas.microsoft.com/office/drawing/2014/main" id="{1C4427C5-4E3A-4166-F091-350713757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30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8" name="Oval 25">
              <a:extLst>
                <a:ext uri="{FF2B5EF4-FFF2-40B4-BE49-F238E27FC236}">
                  <a16:creationId xmlns:a16="http://schemas.microsoft.com/office/drawing/2014/main" id="{D4F8589F-8096-3816-8A91-35F8B7DF6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01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9" name="Oval 27">
              <a:extLst>
                <a:ext uri="{FF2B5EF4-FFF2-40B4-BE49-F238E27FC236}">
                  <a16:creationId xmlns:a16="http://schemas.microsoft.com/office/drawing/2014/main" id="{9B4F5526-EE38-A8E2-77F0-3C36BCBF2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0" name="Oval 28">
              <a:extLst>
                <a:ext uri="{FF2B5EF4-FFF2-40B4-BE49-F238E27FC236}">
                  <a16:creationId xmlns:a16="http://schemas.microsoft.com/office/drawing/2014/main" id="{D36E65E9-C9E1-6F7C-C847-1AAF694C7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96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1" name="Oval 29">
              <a:extLst>
                <a:ext uri="{FF2B5EF4-FFF2-40B4-BE49-F238E27FC236}">
                  <a16:creationId xmlns:a16="http://schemas.microsoft.com/office/drawing/2014/main" id="{21DDCB09-6E5B-22E1-8F57-11232FD2B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2" name="Oval 30">
              <a:extLst>
                <a:ext uri="{FF2B5EF4-FFF2-40B4-BE49-F238E27FC236}">
                  <a16:creationId xmlns:a16="http://schemas.microsoft.com/office/drawing/2014/main" id="{040702E4-3592-2190-80A4-E4F36767A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3" name="Line 32">
              <a:extLst>
                <a:ext uri="{FF2B5EF4-FFF2-40B4-BE49-F238E27FC236}">
                  <a16:creationId xmlns:a16="http://schemas.microsoft.com/office/drawing/2014/main" id="{1FCCC9BA-6B77-8AC0-4CAB-D2886AD12A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20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4" name="Line 33">
              <a:extLst>
                <a:ext uri="{FF2B5EF4-FFF2-40B4-BE49-F238E27FC236}">
                  <a16:creationId xmlns:a16="http://schemas.microsoft.com/office/drawing/2014/main" id="{B99BC716-6BC4-D8E4-B5E2-4569A7058B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872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5" name="Line 34">
              <a:extLst>
                <a:ext uri="{FF2B5EF4-FFF2-40B4-BE49-F238E27FC236}">
                  <a16:creationId xmlns:a16="http://schemas.microsoft.com/office/drawing/2014/main" id="{1DBA4818-3E76-3415-6950-C87FC7EC21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177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6" name="Line 35">
              <a:extLst>
                <a:ext uri="{FF2B5EF4-FFF2-40B4-BE49-F238E27FC236}">
                  <a16:creationId xmlns:a16="http://schemas.microsoft.com/office/drawing/2014/main" id="{B8E75D9E-A9CF-D85D-F71E-351B724A36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192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7" name="Line 36">
              <a:extLst>
                <a:ext uri="{FF2B5EF4-FFF2-40B4-BE49-F238E27FC236}">
                  <a16:creationId xmlns:a16="http://schemas.microsoft.com/office/drawing/2014/main" id="{192B28D4-46A9-DAAE-9B3E-426B602BB9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2112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8" name="Line 37">
              <a:extLst>
                <a:ext uri="{FF2B5EF4-FFF2-40B4-BE49-F238E27FC236}">
                  <a16:creationId xmlns:a16="http://schemas.microsoft.com/office/drawing/2014/main" id="{847D123D-496E-4C96-2ADC-3A0B1E1620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172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9" name="Line 38">
              <a:extLst>
                <a:ext uri="{FF2B5EF4-FFF2-40B4-BE49-F238E27FC236}">
                  <a16:creationId xmlns:a16="http://schemas.microsoft.com/office/drawing/2014/main" id="{31C79EB4-EA5F-8931-E861-D07501ABF9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584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9DC83660-0955-D182-888A-456F4852A9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216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51" name="Line 40">
              <a:extLst>
                <a:ext uri="{FF2B5EF4-FFF2-40B4-BE49-F238E27FC236}">
                  <a16:creationId xmlns:a16="http://schemas.microsoft.com/office/drawing/2014/main" id="{11DDDF67-1F3E-D180-ADEC-1712628820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201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52" name="Line 41">
              <a:extLst>
                <a:ext uri="{FF2B5EF4-FFF2-40B4-BE49-F238E27FC236}">
                  <a16:creationId xmlns:a16="http://schemas.microsoft.com/office/drawing/2014/main" id="{05D6DB68-1959-DA78-13C5-0B78A2FE33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72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53" name="Line 42">
              <a:extLst>
                <a:ext uri="{FF2B5EF4-FFF2-40B4-BE49-F238E27FC236}">
                  <a16:creationId xmlns:a16="http://schemas.microsoft.com/office/drawing/2014/main" id="{2917AEC2-3891-8ACB-6938-AC7E5ADBF0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92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54" name="Line 43">
              <a:extLst>
                <a:ext uri="{FF2B5EF4-FFF2-40B4-BE49-F238E27FC236}">
                  <a16:creationId xmlns:a16="http://schemas.microsoft.com/office/drawing/2014/main" id="{034CC19A-EE37-0DCB-1F20-E4BF8E65E9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2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55" name="Text Box 44">
              <a:extLst>
                <a:ext uri="{FF2B5EF4-FFF2-40B4-BE49-F238E27FC236}">
                  <a16:creationId xmlns:a16="http://schemas.microsoft.com/office/drawing/2014/main" id="{3441644E-2CB5-7C1F-2358-9AB812F18A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1644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dirty="0">
                  <a:latin typeface="+mn-lt"/>
                  <a:ea typeface="华文楷体" panose="02010600040101010101" pitchFamily="2" charset="-122"/>
                </a:rPr>
                <a:t>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098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  <p:bldP spid="4" grpId="0"/>
      <p:bldP spid="9" grpId="0"/>
      <p:bldP spid="10" grpId="0"/>
      <p:bldP spid="11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58B4FF75-A2FA-443E-BFD0-EEAB3A033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405" y="1484386"/>
            <a:ext cx="2767974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非静电力做功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3AFB56D-F932-4600-B5E1-865D69BB4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799" y="725794"/>
            <a:ext cx="2752713" cy="22369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72C7B1F-358D-4AC1-B359-B8867E40455D}"/>
                  </a:ext>
                </a:extLst>
              </p:cNvPr>
              <p:cNvSpPr/>
              <p:nvPr/>
            </p:nvSpPr>
            <p:spPr>
              <a:xfrm>
                <a:off x="6812469" y="1211881"/>
                <a:ext cx="2903808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非静电场强度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800" b="1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</m:acc>
                      </m:e>
                      <m:sub>
                        <m:r>
                          <a:rPr lang="en-US" altLang="zh-CN" sz="2800" b="1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𝒏𝒆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0066FF"/>
                  </a:solidFill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72C7B1F-358D-4AC1-B359-B8867E4045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469" y="1211881"/>
                <a:ext cx="2903808" cy="575479"/>
              </a:xfrm>
              <a:prstGeom prst="rect">
                <a:avLst/>
              </a:prstGeom>
              <a:blipFill>
                <a:blip r:embed="rId3"/>
                <a:stretch>
                  <a:fillRect l="-4412" t="-2128" b="-29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标题 1">
            <a:extLst>
              <a:ext uri="{FF2B5EF4-FFF2-40B4-BE49-F238E27FC236}">
                <a16:creationId xmlns:a16="http://schemas.microsoft.com/office/drawing/2014/main" id="{1CC8A576-43EE-4D47-9C1F-784AC9B584FB}"/>
              </a:ext>
            </a:extLst>
          </p:cNvPr>
          <p:cNvSpPr txBox="1">
            <a:spLocks/>
          </p:cNvSpPr>
          <p:nvPr/>
        </p:nvSpPr>
        <p:spPr>
          <a:xfrm>
            <a:off x="224489" y="493606"/>
            <a:ext cx="3247353" cy="724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楷体" panose="02010600040101010101" pitchFamily="2" charset="-122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电动势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89535FAC-D029-AE3B-39B4-0C23C5C2C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136" y="2872068"/>
            <a:ext cx="657986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ea typeface="华文楷体" panose="02010600040101010101" pitchFamily="2" charset="-122"/>
              </a:rPr>
              <a:t>电动势：把单位正电荷经电源内部由负极移向正极过程中非静电力所作的功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2954662-10BD-0603-FD0B-9B57016BAC40}"/>
                  </a:ext>
                </a:extLst>
              </p:cNvPr>
              <p:cNvSpPr/>
              <p:nvPr/>
            </p:nvSpPr>
            <p:spPr>
              <a:xfrm>
                <a:off x="7379242" y="3062226"/>
                <a:ext cx="81682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CN" sz="2800" b="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2954662-10BD-0603-FD0B-9B57016BA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242" y="3062226"/>
                <a:ext cx="81682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6B4AD70-C935-4E26-0536-EB8F826D8106}"/>
                  </a:ext>
                </a:extLst>
              </p:cNvPr>
              <p:cNvSpPr txBox="1"/>
              <p:nvPr/>
            </p:nvSpPr>
            <p:spPr>
              <a:xfrm>
                <a:off x="7889084" y="2845981"/>
                <a:ext cx="1994072" cy="1043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−)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(+)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800" i="1" dirty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dirty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800" b="0" i="1" dirty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𝑛𝑒</m:t>
                              </m:r>
                            </m:sub>
                          </m:sSub>
                          <m:r>
                            <m:rPr>
                              <m:brk/>
                            </m:rPr>
                            <a:rPr lang="en-US" altLang="zh-CN" sz="2800" b="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dirty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dirty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6B4AD70-C935-4E26-0536-EB8F826D8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084" y="2845981"/>
                <a:ext cx="1994072" cy="1043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025F0F61-4B7F-46CA-A0B0-F63FC1593ED9}"/>
              </a:ext>
            </a:extLst>
          </p:cNvPr>
          <p:cNvSpPr/>
          <p:nvPr/>
        </p:nvSpPr>
        <p:spPr>
          <a:xfrm>
            <a:off x="7454978" y="4016333"/>
            <a:ext cx="37021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方向：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自负极经电源  </a:t>
            </a:r>
            <a:b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内到正极</a:t>
            </a:r>
            <a:endParaRPr lang="en-US" sz="2800" dirty="0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75E55520-4339-8B86-351B-7F302B6D0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39" y="3890741"/>
            <a:ext cx="39292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sym typeface="Monotype Sorts" pitchFamily="2" charset="2"/>
              </a:rPr>
              <a:t>基尔霍夫第二定律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66D923D-4989-5087-A8A7-9CB273C0B56A}"/>
                  </a:ext>
                </a:extLst>
              </p:cNvPr>
              <p:cNvSpPr/>
              <p:nvPr/>
            </p:nvSpPr>
            <p:spPr>
              <a:xfrm>
                <a:off x="6343108" y="5276593"/>
                <a:ext cx="4396973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∓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66D923D-4989-5087-A8A7-9CB273C0B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108" y="5276593"/>
                <a:ext cx="4396973" cy="11356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BC182703-4044-D9C5-EBA7-8DC79F80D47D}"/>
              </a:ext>
            </a:extLst>
          </p:cNvPr>
          <p:cNvGrpSpPr/>
          <p:nvPr/>
        </p:nvGrpSpPr>
        <p:grpSpPr>
          <a:xfrm>
            <a:off x="2803008" y="4211627"/>
            <a:ext cx="2891553" cy="2759668"/>
            <a:chOff x="1173681" y="3376529"/>
            <a:chExt cx="2891553" cy="2759668"/>
          </a:xfrm>
        </p:grpSpPr>
        <p:sp>
          <p:nvSpPr>
            <p:cNvPr id="5" name="Line 43">
              <a:extLst>
                <a:ext uri="{FF2B5EF4-FFF2-40B4-BE49-F238E27FC236}">
                  <a16:creationId xmlns:a16="http://schemas.microsoft.com/office/drawing/2014/main" id="{CD04D9BE-5CCE-2A24-5B1B-EC2A9E3A30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8306" y="4083049"/>
              <a:ext cx="1644788" cy="146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800"/>
            </a:p>
          </p:txBody>
        </p:sp>
        <p:sp>
          <p:nvSpPr>
            <p:cNvPr id="7" name="Freeform 45">
              <a:extLst>
                <a:ext uri="{FF2B5EF4-FFF2-40B4-BE49-F238E27FC236}">
                  <a16:creationId xmlns:a16="http://schemas.microsoft.com/office/drawing/2014/main" id="{1FF11C4D-9D29-E8DA-20D9-75F680C57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9200" y="4083049"/>
              <a:ext cx="625791" cy="1456607"/>
            </a:xfrm>
            <a:custGeom>
              <a:avLst/>
              <a:gdLst>
                <a:gd name="T0" fmla="*/ 432 w 1248"/>
                <a:gd name="T1" fmla="*/ 0 h 912"/>
                <a:gd name="T2" fmla="*/ 0 w 1248"/>
                <a:gd name="T3" fmla="*/ 0 h 912"/>
                <a:gd name="T4" fmla="*/ 0 w 1248"/>
                <a:gd name="T5" fmla="*/ 912 h 912"/>
                <a:gd name="T6" fmla="*/ 1248 w 1248"/>
                <a:gd name="T7" fmla="*/ 912 h 9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48" h="912">
                  <a:moveTo>
                    <a:pt x="432" y="0"/>
                  </a:moveTo>
                  <a:lnTo>
                    <a:pt x="0" y="0"/>
                  </a:lnTo>
                  <a:lnTo>
                    <a:pt x="0" y="912"/>
                  </a:lnTo>
                  <a:lnTo>
                    <a:pt x="1248" y="91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800"/>
            </a:p>
          </p:txBody>
        </p:sp>
        <p:grpSp>
          <p:nvGrpSpPr>
            <p:cNvPr id="8" name="Group 46">
              <a:extLst>
                <a:ext uri="{FF2B5EF4-FFF2-40B4-BE49-F238E27FC236}">
                  <a16:creationId xmlns:a16="http://schemas.microsoft.com/office/drawing/2014/main" id="{8D6541A3-CDCD-D2CF-8B26-EABA9536D1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7115" y="5264150"/>
              <a:ext cx="135602" cy="533400"/>
              <a:chOff x="3120" y="2420"/>
              <a:chExt cx="96" cy="336"/>
            </a:xfrm>
          </p:grpSpPr>
          <p:sp>
            <p:nvSpPr>
              <p:cNvPr id="34" name="Line 47">
                <a:extLst>
                  <a:ext uri="{FF2B5EF4-FFF2-40B4-BE49-F238E27FC236}">
                    <a16:creationId xmlns:a16="http://schemas.microsoft.com/office/drawing/2014/main" id="{2FE2FA21-8DCE-EA0F-4566-F35024A1FD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420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800"/>
              </a:p>
            </p:txBody>
          </p:sp>
          <p:sp>
            <p:nvSpPr>
              <p:cNvPr id="35" name="Line 48">
                <a:extLst>
                  <a:ext uri="{FF2B5EF4-FFF2-40B4-BE49-F238E27FC236}">
                    <a16:creationId xmlns:a16="http://schemas.microsoft.com/office/drawing/2014/main" id="{4FA06F30-A6A0-0BFB-DD7B-4239A101F79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15" y="2504"/>
                <a:ext cx="1" cy="1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800"/>
              </a:p>
            </p:txBody>
          </p:sp>
        </p:grpSp>
        <p:sp>
          <p:nvSpPr>
            <p:cNvPr id="9" name="Freeform 52">
              <a:extLst>
                <a:ext uri="{FF2B5EF4-FFF2-40B4-BE49-F238E27FC236}">
                  <a16:creationId xmlns:a16="http://schemas.microsoft.com/office/drawing/2014/main" id="{555A80D7-7FA5-F1FE-EAD6-15FC347D3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304" y="4083049"/>
              <a:ext cx="2055883" cy="1474471"/>
            </a:xfrm>
            <a:custGeom>
              <a:avLst/>
              <a:gdLst>
                <a:gd name="T0" fmla="*/ 295 w 651"/>
                <a:gd name="T1" fmla="*/ 0 h 891"/>
                <a:gd name="T2" fmla="*/ 651 w 651"/>
                <a:gd name="T3" fmla="*/ 0 h 891"/>
                <a:gd name="T4" fmla="*/ 651 w 651"/>
                <a:gd name="T5" fmla="*/ 891 h 891"/>
                <a:gd name="T6" fmla="*/ 0 w 651"/>
                <a:gd name="T7" fmla="*/ 891 h 8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1" h="891">
                  <a:moveTo>
                    <a:pt x="295" y="0"/>
                  </a:moveTo>
                  <a:cubicBezTo>
                    <a:pt x="414" y="0"/>
                    <a:pt x="532" y="0"/>
                    <a:pt x="651" y="0"/>
                  </a:cubicBezTo>
                  <a:lnTo>
                    <a:pt x="651" y="891"/>
                  </a:lnTo>
                  <a:lnTo>
                    <a:pt x="0" y="891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800"/>
            </a:p>
          </p:txBody>
        </p:sp>
        <p:sp>
          <p:nvSpPr>
            <p:cNvPr id="10" name="Text Box 53">
              <a:extLst>
                <a:ext uri="{FF2B5EF4-FFF2-40B4-BE49-F238E27FC236}">
                  <a16:creationId xmlns:a16="http://schemas.microsoft.com/office/drawing/2014/main" id="{B67B35DD-7B36-DB5C-7C6A-A251F8154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253" y="4098925"/>
              <a:ext cx="30489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8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10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1" name="Text Box 56">
              <a:extLst>
                <a:ext uri="{FF2B5EF4-FFF2-40B4-BE49-F238E27FC236}">
                  <a16:creationId xmlns:a16="http://schemas.microsoft.com/office/drawing/2014/main" id="{4AF83003-E8CE-A0EC-5CB3-FC6A4E94F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7898" y="4153177"/>
              <a:ext cx="54373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8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10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" name="Text Box 57">
              <a:extLst>
                <a:ext uri="{FF2B5EF4-FFF2-40B4-BE49-F238E27FC236}">
                  <a16:creationId xmlns:a16="http://schemas.microsoft.com/office/drawing/2014/main" id="{5BAF23AC-0764-98B0-AA5A-1FCF882C1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9196" y="4103688"/>
              <a:ext cx="36420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8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10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7" name="Oval 65">
              <a:extLst>
                <a:ext uri="{FF2B5EF4-FFF2-40B4-BE49-F238E27FC236}">
                  <a16:creationId xmlns:a16="http://schemas.microsoft.com/office/drawing/2014/main" id="{3B0EE714-EE64-3704-D1C5-B0240299B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5507978"/>
              <a:ext cx="67801" cy="76200"/>
            </a:xfrm>
            <a:prstGeom prst="ellipse">
              <a:avLst/>
            </a:prstGeom>
            <a:solidFill>
              <a:srgbClr val="0033CC"/>
            </a:solidFill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8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10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8" name="Rectangle 44">
              <a:extLst>
                <a:ext uri="{FF2B5EF4-FFF2-40B4-BE49-F238E27FC236}">
                  <a16:creationId xmlns:a16="http://schemas.microsoft.com/office/drawing/2014/main" id="{4BAD03A2-9391-1669-0D41-B7DB382C6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7744" y="5437279"/>
              <a:ext cx="745813" cy="22860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8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10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2" name="Text Box 57">
              <a:extLst>
                <a:ext uri="{FF2B5EF4-FFF2-40B4-BE49-F238E27FC236}">
                  <a16:creationId xmlns:a16="http://schemas.microsoft.com/office/drawing/2014/main" id="{2B5895F2-CED4-557C-50E4-D7C8009CA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6032" y="5059023"/>
              <a:ext cx="36420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8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10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4" name="Oval 63">
              <a:extLst>
                <a:ext uri="{FF2B5EF4-FFF2-40B4-BE49-F238E27FC236}">
                  <a16:creationId xmlns:a16="http://schemas.microsoft.com/office/drawing/2014/main" id="{1BE05875-AA44-8A16-D5FA-6C637FC18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5184" y="4051301"/>
              <a:ext cx="67801" cy="76200"/>
            </a:xfrm>
            <a:prstGeom prst="ellipse">
              <a:avLst/>
            </a:prstGeom>
            <a:solidFill>
              <a:srgbClr val="0033CC"/>
            </a:solidFill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8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10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25" name="Group 46">
              <a:extLst>
                <a:ext uri="{FF2B5EF4-FFF2-40B4-BE49-F238E27FC236}">
                  <a16:creationId xmlns:a16="http://schemas.microsoft.com/office/drawing/2014/main" id="{FD11D9DB-6C69-3E56-F8E5-57E5C26880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7163" y="3816349"/>
              <a:ext cx="135602" cy="533400"/>
              <a:chOff x="3120" y="2420"/>
              <a:chExt cx="96" cy="336"/>
            </a:xfrm>
          </p:grpSpPr>
          <p:sp>
            <p:nvSpPr>
              <p:cNvPr id="32" name="Line 47">
                <a:extLst>
                  <a:ext uri="{FF2B5EF4-FFF2-40B4-BE49-F238E27FC236}">
                    <a16:creationId xmlns:a16="http://schemas.microsoft.com/office/drawing/2014/main" id="{BF79D4ED-8262-C724-77DF-117FDB09B1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420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800"/>
              </a:p>
            </p:txBody>
          </p:sp>
          <p:sp>
            <p:nvSpPr>
              <p:cNvPr id="33" name="Line 48">
                <a:extLst>
                  <a:ext uri="{FF2B5EF4-FFF2-40B4-BE49-F238E27FC236}">
                    <a16:creationId xmlns:a16="http://schemas.microsoft.com/office/drawing/2014/main" id="{99D638A5-0A3E-DFD0-6BD2-1E0F89F5305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15" y="2504"/>
                <a:ext cx="1" cy="1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800"/>
              </a:p>
            </p:txBody>
          </p:sp>
        </p:grpSp>
        <p:sp>
          <p:nvSpPr>
            <p:cNvPr id="26" name="Rectangle 44">
              <a:extLst>
                <a:ext uri="{FF2B5EF4-FFF2-40B4-BE49-F238E27FC236}">
                  <a16:creationId xmlns:a16="http://schemas.microsoft.com/office/drawing/2014/main" id="{B045CFCB-9049-6D62-540D-A633AB4AB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300" y="3967671"/>
              <a:ext cx="745813" cy="22860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8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10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56">
              <a:extLst>
                <a:ext uri="{FF2B5EF4-FFF2-40B4-BE49-F238E27FC236}">
                  <a16:creationId xmlns:a16="http://schemas.microsoft.com/office/drawing/2014/main" id="{BCD2AA6D-DBDC-0770-BA28-294639D27A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5413" y="4987722"/>
              <a:ext cx="54373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8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10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960D204-4EA4-2821-C769-ACD6AB102E98}"/>
                    </a:ext>
                  </a:extLst>
                </p:cNvPr>
                <p:cNvSpPr txBox="1"/>
                <p:nvPr/>
              </p:nvSpPr>
              <p:spPr>
                <a:xfrm>
                  <a:off x="1173681" y="3376529"/>
                  <a:ext cx="152399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sz="2800" b="0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altLang="zh-CN" sz="2800" i="1" dirty="0">
                            <a:solidFill>
                              <a:schemeClr val="tx1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zh-CN" altLang="en-US" sz="2800" baseline="-25000" dirty="0">
                            <a:solidFill>
                              <a:schemeClr val="tx1"/>
                            </a:solidFill>
                          </a:rPr>
                          <m:t>内</m:t>
                        </m:r>
                        <m:r>
                          <m:rPr>
                            <m:nor/>
                          </m:rPr>
                          <a:rPr lang="en-US" altLang="zh-CN" sz="2800" i="0" baseline="-25000" dirty="0" smtClean="0">
                            <a:solidFill>
                              <a:schemeClr val="tx1"/>
                            </a:solidFill>
                          </a:rPr>
                          <m:t>1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F91ED79-52C6-E1BB-88D0-5AFC955B3E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3681" y="3376529"/>
                  <a:ext cx="1523996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1982378-5951-9D89-5CE9-E7AC8F6C1529}"/>
                    </a:ext>
                  </a:extLst>
                </p:cNvPr>
                <p:cNvSpPr txBox="1"/>
                <p:nvPr/>
              </p:nvSpPr>
              <p:spPr>
                <a:xfrm>
                  <a:off x="1205927" y="5612977"/>
                  <a:ext cx="152399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sz="2800" b="0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altLang="zh-CN" sz="2800" i="1" dirty="0">
                            <a:solidFill>
                              <a:schemeClr val="tx1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zh-CN" altLang="en-US" sz="2800" baseline="-25000" dirty="0">
                            <a:solidFill>
                              <a:schemeClr val="tx1"/>
                            </a:solidFill>
                          </a:rPr>
                          <m:t>内</m:t>
                        </m:r>
                        <m:r>
                          <m:rPr>
                            <m:nor/>
                          </m:rPr>
                          <a:rPr lang="en-US" altLang="zh-CN" sz="2800" i="0" baseline="-25000" dirty="0" smtClean="0">
                            <a:solidFill>
                              <a:schemeClr val="tx1"/>
                            </a:solidFill>
                          </a:rPr>
                          <m:t>2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99A24D4-2010-EA46-1E5D-E88A04ECE7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5927" y="5612977"/>
                  <a:ext cx="1523996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Oval 63">
              <a:extLst>
                <a:ext uri="{FF2B5EF4-FFF2-40B4-BE49-F238E27FC236}">
                  <a16:creationId xmlns:a16="http://schemas.microsoft.com/office/drawing/2014/main" id="{94239AFC-7E83-E40E-FD62-A7D7E75F9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3209" y="4773966"/>
              <a:ext cx="67801" cy="76200"/>
            </a:xfrm>
            <a:prstGeom prst="ellipse">
              <a:avLst/>
            </a:prstGeom>
            <a:solidFill>
              <a:srgbClr val="0033CC"/>
            </a:solidFill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8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10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" name="Oval 63">
              <a:extLst>
                <a:ext uri="{FF2B5EF4-FFF2-40B4-BE49-F238E27FC236}">
                  <a16:creationId xmlns:a16="http://schemas.microsoft.com/office/drawing/2014/main" id="{13133163-697E-62ED-AA2C-53F6733E7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433" y="4724400"/>
              <a:ext cx="67801" cy="76200"/>
            </a:xfrm>
            <a:prstGeom prst="ellipse">
              <a:avLst/>
            </a:prstGeom>
            <a:solidFill>
              <a:srgbClr val="0033CC"/>
            </a:solidFill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8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9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10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11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8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9" grpId="0"/>
      <p:bldP spid="20" grpId="0"/>
      <p:bldP spid="21" grpId="0"/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F7BC148-6BD7-4F3F-A52C-47569E583C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" t="41227" r="51847" b="17884"/>
          <a:stretch/>
        </p:blipFill>
        <p:spPr>
          <a:xfrm rot="10800000">
            <a:off x="6647870" y="2283491"/>
            <a:ext cx="5213647" cy="32065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7612801-16A4-CAD5-4B0F-76EF6AF7DC2B}"/>
                  </a:ext>
                </a:extLst>
              </p:cNvPr>
              <p:cNvSpPr txBox="1"/>
              <p:nvPr/>
            </p:nvSpPr>
            <p:spPr>
              <a:xfrm>
                <a:off x="990390" y="578939"/>
                <a:ext cx="108839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如图所示的电路，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=12V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=1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=8 V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=0.5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=3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=1.5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=4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。试求通过每个电阻的电流。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7612801-16A4-CAD5-4B0F-76EF6AF7D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90" y="578939"/>
                <a:ext cx="10883900" cy="954107"/>
              </a:xfrm>
              <a:prstGeom prst="rect">
                <a:avLst/>
              </a:prstGeom>
              <a:blipFill>
                <a:blip r:embed="rId8"/>
                <a:stretch>
                  <a:fillRect l="-1120" t="-8333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6A667C44-1563-9652-BA32-DF753E03918B}"/>
              </a:ext>
            </a:extLst>
          </p:cNvPr>
          <p:cNvSpPr/>
          <p:nvPr/>
        </p:nvSpPr>
        <p:spPr>
          <a:xfrm>
            <a:off x="1418526" y="1760271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cs typeface="Times New Roman" panose="02020603050405020304" pitchFamily="18" charset="0"/>
                <a:sym typeface="Monotype Sorts" pitchFamily="2" charset="2"/>
              </a:rPr>
              <a:t>基尔霍夫定律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42C24C46-9B88-6D60-AE58-17DE11ADB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45" y="2510716"/>
            <a:ext cx="6417353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90000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10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11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12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</a:rPr>
              <a:t>如果电路中有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+mn-ea"/>
              </a:rPr>
              <a:t>n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</a:rPr>
              <a:t>个节点，那么只有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+mn-ea"/>
              </a:rPr>
              <a:t>n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</a:rPr>
              <a:t>－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</a:rPr>
              <a:t>1)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</a:rPr>
              <a:t>个相互独立的节点电流方程。</a:t>
            </a:r>
            <a:endParaRPr lang="en-US" altLang="zh-CN" sz="28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" name="Rectangle 1028">
            <a:extLst>
              <a:ext uri="{FF2B5EF4-FFF2-40B4-BE49-F238E27FC236}">
                <a16:creationId xmlns:a16="http://schemas.microsoft.com/office/drawing/2014/main" id="{3833A137-A1E7-1FC2-711B-7CF063F80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46" y="3718772"/>
            <a:ext cx="6075922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90000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10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11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12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</a:rPr>
              <a:t>新选定的回路中，至少应有一段电路是已选回路中未曾出现过的。</a:t>
            </a:r>
            <a:endParaRPr lang="en-US" altLang="zh-CN" sz="28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" name="Rectangle 1029">
            <a:extLst>
              <a:ext uri="{FF2B5EF4-FFF2-40B4-BE49-F238E27FC236}">
                <a16:creationId xmlns:a16="http://schemas.microsoft.com/office/drawing/2014/main" id="{F0EF5DEC-CC15-E1C8-2FBD-A97ABE2EB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46" y="4926828"/>
            <a:ext cx="641735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90000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10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11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12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</a:rPr>
              <a:t>独立方程的个数应等于未知数的个数。</a:t>
            </a:r>
            <a:endParaRPr lang="en-US" altLang="zh-CN" sz="28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155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B68FAED-C6B2-40A7-9713-B49EECC09F94}"/>
              </a:ext>
            </a:extLst>
          </p:cNvPr>
          <p:cNvSpPr/>
          <p:nvPr/>
        </p:nvSpPr>
        <p:spPr>
          <a:xfrm>
            <a:off x="1418526" y="1760271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cs typeface="Times New Roman" panose="02020603050405020304" pitchFamily="18" charset="0"/>
                <a:sym typeface="Monotype Sorts" pitchFamily="2" charset="2"/>
              </a:rPr>
              <a:t>基尔霍夫定律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FDD9443-1131-4010-BD32-D2F5AF499C2D}"/>
                  </a:ext>
                </a:extLst>
              </p:cNvPr>
              <p:cNvSpPr/>
              <p:nvPr/>
            </p:nvSpPr>
            <p:spPr>
              <a:xfrm>
                <a:off x="2502354" y="2612772"/>
                <a:ext cx="35714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1" smtClean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m:t>  </m:t>
                      </m:r>
                      <m:r>
                        <a:rPr lang="zh-CN" altLang="en-US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CN" altLang="en-US" sz="2800" i="1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m:t>   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CN" altLang="en-US" sz="2800" i="1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m:t>    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800" i="1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m:t>    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FDD9443-1131-4010-BD32-D2F5AF499C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354" y="2612772"/>
                <a:ext cx="357149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2F7BC148-6BD7-4F3F-A52C-47569E583C0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" t="41227" r="51847" b="17884"/>
          <a:stretch/>
        </p:blipFill>
        <p:spPr>
          <a:xfrm rot="10800000">
            <a:off x="6647870" y="2283491"/>
            <a:ext cx="5213647" cy="320653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CA1B14F-5052-4D29-8016-3E8B2AFF5DC1}"/>
              </a:ext>
            </a:extLst>
          </p:cNvPr>
          <p:cNvSpPr txBox="1"/>
          <p:nvPr/>
        </p:nvSpPr>
        <p:spPr>
          <a:xfrm>
            <a:off x="1689990" y="2612772"/>
            <a:ext cx="1624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cs typeface="Times New Roman" panose="02020603050405020304" pitchFamily="18" charset="0"/>
              </a:rPr>
              <a:t>节点</a:t>
            </a:r>
            <a:r>
              <a:rPr lang="en-US" altLang="zh-CN" sz="2800" dirty="0">
                <a:cs typeface="Times New Roman" panose="02020603050405020304" pitchFamily="18" charset="0"/>
              </a:rPr>
              <a:t>a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14B439-8EDF-47BD-8DBA-732A2B39EC2D}"/>
              </a:ext>
            </a:extLst>
          </p:cNvPr>
          <p:cNvSpPr txBox="1"/>
          <p:nvPr/>
        </p:nvSpPr>
        <p:spPr>
          <a:xfrm>
            <a:off x="1689990" y="3497747"/>
            <a:ext cx="1624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cs typeface="Times New Roman" panose="02020603050405020304" pitchFamily="18" charset="0"/>
              </a:rPr>
              <a:t>回路</a:t>
            </a:r>
            <a:r>
              <a:rPr lang="en-US" altLang="zh-CN" sz="2800" dirty="0">
                <a:cs typeface="Times New Roman" panose="02020603050405020304" pitchFamily="18" charset="0"/>
              </a:rPr>
              <a:t>I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9F00D3A-2C97-4D24-92BC-C1D66C7FB5A8}"/>
                  </a:ext>
                </a:extLst>
              </p:cNvPr>
              <p:cNvSpPr txBox="1"/>
              <p:nvPr/>
            </p:nvSpPr>
            <p:spPr>
              <a:xfrm>
                <a:off x="2910221" y="3496533"/>
                <a:ext cx="341651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r>
                      <a:rPr lang="zh-CN" altLang="en-US" sz="2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+I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(R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+</a:t>
                </a:r>
                <a:r>
                  <a:rPr lang="en-US" sz="2800" dirty="0">
                    <a:cs typeface="Times New Roman" panose="02020603050405020304" pitchFamily="18" charset="0"/>
                  </a:rPr>
                  <a:t>r</a:t>
                </a:r>
                <a:r>
                  <a:rPr lang="en-US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cs typeface="Times New Roman" panose="02020603050405020304" pitchFamily="18" charset="0"/>
                  </a:rPr>
                  <a:t>)+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I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3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3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9F00D3A-2C97-4D24-92BC-C1D66C7FB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221" y="3496533"/>
                <a:ext cx="3416513" cy="523220"/>
              </a:xfrm>
              <a:prstGeom prst="rect">
                <a:avLst/>
              </a:prstGeom>
              <a:blipFill>
                <a:blip r:embed="rId5"/>
                <a:stretch>
                  <a:fillRect l="-3565" t="-12941" r="-1070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1F58DD5-208D-43FF-AE48-8AB66A50672D}"/>
              </a:ext>
            </a:extLst>
          </p:cNvPr>
          <p:cNvSpPr txBox="1"/>
          <p:nvPr/>
        </p:nvSpPr>
        <p:spPr>
          <a:xfrm>
            <a:off x="1689990" y="4489982"/>
            <a:ext cx="1624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cs typeface="Times New Roman" panose="02020603050405020304" pitchFamily="18" charset="0"/>
              </a:rPr>
              <a:t>回路</a:t>
            </a:r>
            <a:r>
              <a:rPr lang="en-US" altLang="zh-CN" sz="2800" dirty="0">
                <a:cs typeface="Times New Roman" panose="02020603050405020304" pitchFamily="18" charset="0"/>
              </a:rPr>
              <a:t>II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6FF01B6-5148-4155-9308-CD437D8ACFD3}"/>
                  </a:ext>
                </a:extLst>
              </p:cNvPr>
              <p:cNvSpPr txBox="1"/>
              <p:nvPr/>
            </p:nvSpPr>
            <p:spPr>
              <a:xfrm>
                <a:off x="2976937" y="4461296"/>
                <a:ext cx="32464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800" b="0" i="0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+I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cs typeface="Times New Roman" panose="02020603050405020304" pitchFamily="18" charset="0"/>
                  </a:rPr>
                  <a:t> (R</a:t>
                </a:r>
                <a:r>
                  <a:rPr lang="en-US" sz="28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cs typeface="Times New Roman" panose="02020603050405020304" pitchFamily="18" charset="0"/>
                  </a:rPr>
                  <a:t>+r</a:t>
                </a:r>
                <a:r>
                  <a:rPr lang="en-US" sz="28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cs typeface="Times New Roman" panose="02020603050405020304" pitchFamily="18" charset="0"/>
                  </a:rPr>
                  <a:t>) 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-I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3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3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6FF01B6-5148-4155-9308-CD437D8AC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937" y="4461296"/>
                <a:ext cx="3246402" cy="523220"/>
              </a:xfrm>
              <a:prstGeom prst="rect">
                <a:avLst/>
              </a:prstGeom>
              <a:blipFill>
                <a:blip r:embed="rId6"/>
                <a:stretch>
                  <a:fillRect t="-12791" r="-2814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D3AC8F98-FB24-4CA9-8E61-D5206EC7F8BE}"/>
              </a:ext>
            </a:extLst>
          </p:cNvPr>
          <p:cNvSpPr txBox="1"/>
          <p:nvPr/>
        </p:nvSpPr>
        <p:spPr>
          <a:xfrm>
            <a:off x="7680006" y="2118665"/>
            <a:ext cx="1154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1.25 A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7D26A12-BCEE-40B2-BFF5-BB90A321B344}"/>
              </a:ext>
            </a:extLst>
          </p:cNvPr>
          <p:cNvSpPr txBox="1"/>
          <p:nvPr/>
        </p:nvSpPr>
        <p:spPr>
          <a:xfrm>
            <a:off x="9292307" y="2098826"/>
            <a:ext cx="1154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-0.5 A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9A4F2A6-7D0C-422C-9ABA-7E0CF82059EE}"/>
              </a:ext>
            </a:extLst>
          </p:cNvPr>
          <p:cNvSpPr txBox="1"/>
          <p:nvPr/>
        </p:nvSpPr>
        <p:spPr>
          <a:xfrm>
            <a:off x="8765847" y="4199686"/>
            <a:ext cx="11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1.75A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7612801-16A4-CAD5-4B0F-76EF6AF7DC2B}"/>
                  </a:ext>
                </a:extLst>
              </p:cNvPr>
              <p:cNvSpPr txBox="1"/>
              <p:nvPr/>
            </p:nvSpPr>
            <p:spPr>
              <a:xfrm>
                <a:off x="990390" y="578939"/>
                <a:ext cx="108839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如图所示的电路，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=12V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=1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=8 V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=0.5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=3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=1.5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=4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。试求通过每个电阻的电流。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7612801-16A4-CAD5-4B0F-76EF6AF7D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90" y="578939"/>
                <a:ext cx="10883900" cy="954107"/>
              </a:xfrm>
              <a:prstGeom prst="rect">
                <a:avLst/>
              </a:prstGeom>
              <a:blipFill>
                <a:blip r:embed="rId8"/>
                <a:stretch>
                  <a:fillRect l="-1120" t="-8333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95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8642" name="Text Box 2"/>
              <p:cNvSpPr txBox="1">
                <a:spLocks noChangeArrowheads="1"/>
              </p:cNvSpPr>
              <p:nvPr/>
            </p:nvSpPr>
            <p:spPr bwMode="auto">
              <a:xfrm>
                <a:off x="1333510" y="1090205"/>
                <a:ext cx="9382481" cy="6281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是内阻为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sz="2800" b="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的检流计，电源的电动势为</a:t>
                </a:r>
                <a14:m>
                  <m:oMath xmlns:m="http://schemas.openxmlformats.org/officeDocument/2006/math">
                    <m:r>
                      <a:rPr lang="zh-CN" altLang="en-US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，内阻忽略不计。</a:t>
                </a:r>
              </a:p>
            </p:txBody>
          </p:sp>
        </mc:Choice>
        <mc:Fallback xmlns="">
          <p:sp>
            <p:nvSpPr>
              <p:cNvPr id="368642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3510" y="1090205"/>
                <a:ext cx="9382481" cy="628121"/>
              </a:xfrm>
              <a:prstGeom prst="rect">
                <a:avLst/>
              </a:prstGeom>
              <a:blipFill>
                <a:blip r:embed="rId2"/>
                <a:stretch>
                  <a:fillRect r="-5133" b="-223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643" name="Text Box 3"/>
          <p:cNvSpPr txBox="1">
            <a:spLocks noChangeArrowheads="1"/>
          </p:cNvSpPr>
          <p:nvPr/>
        </p:nvSpPr>
        <p:spPr bwMode="auto">
          <a:xfrm>
            <a:off x="1055069" y="2892272"/>
            <a:ext cx="5080157" cy="10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电路中有四个节点，列出三个独立的节点电流方程式 </a:t>
            </a:r>
          </a:p>
        </p:txBody>
      </p:sp>
      <p:grpSp>
        <p:nvGrpSpPr>
          <p:cNvPr id="368653" name="Group 13"/>
          <p:cNvGrpSpPr>
            <a:grpSpLocks/>
          </p:cNvGrpSpPr>
          <p:nvPr/>
        </p:nvGrpSpPr>
        <p:grpSpPr bwMode="auto">
          <a:xfrm>
            <a:off x="7785591" y="1849465"/>
            <a:ext cx="3276000" cy="3159069"/>
            <a:chOff x="3700" y="1141"/>
            <a:chExt cx="1820" cy="1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54" name="Object 14"/>
                <p:cNvSpPr txBox="1"/>
                <p:nvPr/>
              </p:nvSpPr>
              <p:spPr bwMode="auto">
                <a:xfrm>
                  <a:off x="4041" y="1402"/>
                  <a:ext cx="231" cy="2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68654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41" y="1402"/>
                  <a:ext cx="231" cy="23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55" name="Object 15"/>
                <p:cNvSpPr txBox="1"/>
                <p:nvPr/>
              </p:nvSpPr>
              <p:spPr bwMode="auto">
                <a:xfrm>
                  <a:off x="5374" y="2256"/>
                  <a:ext cx="146" cy="1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55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74" y="2256"/>
                  <a:ext cx="146" cy="182"/>
                </a:xfrm>
                <a:prstGeom prst="rect">
                  <a:avLst/>
                </a:prstGeom>
                <a:blipFill>
                  <a:blip r:embed="rId4"/>
                  <a:stretch>
                    <a:fillRect l="-4545" r="-18182" b="-4038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8656" name="Line 16"/>
            <p:cNvSpPr>
              <a:spLocks noChangeShapeType="1"/>
            </p:cNvSpPr>
            <p:nvPr/>
          </p:nvSpPr>
          <p:spPr bwMode="auto">
            <a:xfrm rot="10800586" flipH="1">
              <a:off x="4464" y="2685"/>
              <a:ext cx="0" cy="13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57" name="Line 17"/>
            <p:cNvSpPr>
              <a:spLocks noChangeShapeType="1"/>
            </p:cNvSpPr>
            <p:nvPr/>
          </p:nvSpPr>
          <p:spPr bwMode="auto">
            <a:xfrm rot="10800586" flipH="1">
              <a:off x="4416" y="2640"/>
              <a:ext cx="0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58" name="Object 18"/>
                <p:cNvSpPr txBox="1"/>
                <p:nvPr/>
              </p:nvSpPr>
              <p:spPr bwMode="auto">
                <a:xfrm>
                  <a:off x="4245" y="2736"/>
                  <a:ext cx="219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8658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45" y="2736"/>
                  <a:ext cx="219" cy="210"/>
                </a:xfrm>
                <a:prstGeom prst="rect">
                  <a:avLst/>
                </a:prstGeom>
                <a:blipFill>
                  <a:blip r:embed="rId5"/>
                  <a:stretch>
                    <a:fillRect b="-655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59" name="Object 19"/>
                <p:cNvSpPr txBox="1"/>
                <p:nvPr/>
              </p:nvSpPr>
              <p:spPr bwMode="auto">
                <a:xfrm>
                  <a:off x="4080" y="2160"/>
                  <a:ext cx="219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68659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0" y="2160"/>
                  <a:ext cx="219" cy="237"/>
                </a:xfrm>
                <a:prstGeom prst="rect">
                  <a:avLst/>
                </a:prstGeom>
                <a:blipFill>
                  <a:blip r:embed="rId6"/>
                  <a:stretch>
                    <a:fillRect r="-769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60" name="Object 20"/>
                <p:cNvSpPr txBox="1"/>
                <p:nvPr/>
              </p:nvSpPr>
              <p:spPr bwMode="auto">
                <a:xfrm>
                  <a:off x="4656" y="2029"/>
                  <a:ext cx="197" cy="2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60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56" y="2029"/>
                  <a:ext cx="197" cy="221"/>
                </a:xfrm>
                <a:prstGeom prst="rect">
                  <a:avLst/>
                </a:prstGeom>
                <a:blipFill>
                  <a:blip r:embed="rId7"/>
                  <a:stretch>
                    <a:fillRect l="-3390" r="-13559" b="-3809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8661" name="Line 21"/>
            <p:cNvSpPr>
              <a:spLocks noChangeShapeType="1"/>
            </p:cNvSpPr>
            <p:nvPr/>
          </p:nvSpPr>
          <p:spPr bwMode="auto">
            <a:xfrm>
              <a:off x="4608" y="1947"/>
              <a:ext cx="0" cy="29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62" name="Line 22"/>
            <p:cNvSpPr>
              <a:spLocks noChangeShapeType="1"/>
            </p:cNvSpPr>
            <p:nvPr/>
          </p:nvSpPr>
          <p:spPr bwMode="auto">
            <a:xfrm>
              <a:off x="4608" y="1410"/>
              <a:ext cx="0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63" name="Line 23"/>
            <p:cNvSpPr>
              <a:spLocks noChangeShapeType="1"/>
            </p:cNvSpPr>
            <p:nvPr/>
          </p:nvSpPr>
          <p:spPr bwMode="auto">
            <a:xfrm>
              <a:off x="4608" y="1944"/>
              <a:ext cx="0" cy="5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64" name="Line 24"/>
            <p:cNvSpPr>
              <a:spLocks noChangeShapeType="1"/>
            </p:cNvSpPr>
            <p:nvPr/>
          </p:nvSpPr>
          <p:spPr bwMode="auto">
            <a:xfrm rot="2820000" flipV="1">
              <a:off x="4009" y="1702"/>
              <a:ext cx="1" cy="2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65" name="Object 25"/>
                <p:cNvSpPr txBox="1"/>
                <p:nvPr/>
              </p:nvSpPr>
              <p:spPr bwMode="auto">
                <a:xfrm>
                  <a:off x="4320" y="2365"/>
                  <a:ext cx="202" cy="19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68665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20" y="2365"/>
                  <a:ext cx="202" cy="195"/>
                </a:xfrm>
                <a:prstGeom prst="rect">
                  <a:avLst/>
                </a:prstGeom>
                <a:blipFill>
                  <a:blip r:embed="rId8"/>
                  <a:stretch>
                    <a:fillRect l="-3333" r="-6667" b="-3928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8666" name="Rectangle 26"/>
            <p:cNvSpPr>
              <a:spLocks noChangeArrowheads="1"/>
            </p:cNvSpPr>
            <p:nvPr/>
          </p:nvSpPr>
          <p:spPr bwMode="auto">
            <a:xfrm rot="7500000">
              <a:off x="4949" y="1523"/>
              <a:ext cx="77" cy="296"/>
            </a:xfrm>
            <a:prstGeom prst="rect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67" name="Line 27"/>
            <p:cNvSpPr>
              <a:spLocks noChangeShapeType="1"/>
            </p:cNvSpPr>
            <p:nvPr/>
          </p:nvSpPr>
          <p:spPr bwMode="auto">
            <a:xfrm rot="5400000" flipH="1">
              <a:off x="4639" y="1361"/>
              <a:ext cx="192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68" name="Line 28"/>
            <p:cNvSpPr>
              <a:spLocks noChangeShapeType="1"/>
            </p:cNvSpPr>
            <p:nvPr/>
          </p:nvSpPr>
          <p:spPr bwMode="auto">
            <a:xfrm rot="5400000" flipV="1">
              <a:off x="5119" y="1697"/>
              <a:ext cx="192" cy="2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69" name="Rectangle 29"/>
            <p:cNvSpPr>
              <a:spLocks noChangeArrowheads="1"/>
            </p:cNvSpPr>
            <p:nvPr/>
          </p:nvSpPr>
          <p:spPr bwMode="auto">
            <a:xfrm rot="3010971" flipH="1">
              <a:off x="4957" y="2022"/>
              <a:ext cx="77" cy="296"/>
            </a:xfrm>
            <a:prstGeom prst="rect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70" name="Line 30"/>
            <p:cNvSpPr>
              <a:spLocks noChangeShapeType="1"/>
            </p:cNvSpPr>
            <p:nvPr/>
          </p:nvSpPr>
          <p:spPr bwMode="auto">
            <a:xfrm rot="5400000">
              <a:off x="4639" y="2225"/>
              <a:ext cx="192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71" name="Rectangle 31"/>
            <p:cNvSpPr>
              <a:spLocks noChangeArrowheads="1"/>
            </p:cNvSpPr>
            <p:nvPr/>
          </p:nvSpPr>
          <p:spPr bwMode="auto">
            <a:xfrm rot="3010971" flipV="1">
              <a:off x="4230" y="1494"/>
              <a:ext cx="76" cy="296"/>
            </a:xfrm>
            <a:prstGeom prst="rect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72" name="Line 32"/>
            <p:cNvSpPr>
              <a:spLocks noChangeShapeType="1"/>
            </p:cNvSpPr>
            <p:nvPr/>
          </p:nvSpPr>
          <p:spPr bwMode="auto">
            <a:xfrm rot="5400000" flipH="1" flipV="1">
              <a:off x="4385" y="1361"/>
              <a:ext cx="192" cy="2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73" name="Line 33"/>
            <p:cNvSpPr>
              <a:spLocks noChangeShapeType="1"/>
            </p:cNvSpPr>
            <p:nvPr/>
          </p:nvSpPr>
          <p:spPr bwMode="auto">
            <a:xfrm rot="5400000">
              <a:off x="3919" y="1697"/>
              <a:ext cx="192" cy="2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68674" name="Group 34"/>
            <p:cNvGrpSpPr>
              <a:grpSpLocks/>
            </p:cNvGrpSpPr>
            <p:nvPr/>
          </p:nvGrpSpPr>
          <p:grpSpPr bwMode="auto">
            <a:xfrm rot="5400000" flipH="1" flipV="1">
              <a:off x="3978" y="1819"/>
              <a:ext cx="538" cy="720"/>
              <a:chOff x="2016" y="864"/>
              <a:chExt cx="672" cy="816"/>
            </a:xfrm>
          </p:grpSpPr>
          <p:sp>
            <p:nvSpPr>
              <p:cNvPr id="368675" name="Rectangle 35"/>
              <p:cNvSpPr>
                <a:spLocks noChangeArrowheads="1"/>
              </p:cNvSpPr>
              <p:nvPr/>
            </p:nvSpPr>
            <p:spPr bwMode="auto">
              <a:xfrm rot="2389029">
                <a:off x="2304" y="1104"/>
                <a:ext cx="96" cy="336"/>
              </a:xfrm>
              <a:prstGeom prst="rect">
                <a:avLst/>
              </a:prstGeom>
              <a:solidFill>
                <a:srgbClr val="8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8676" name="Line 36"/>
              <p:cNvSpPr>
                <a:spLocks noChangeShapeType="1"/>
              </p:cNvSpPr>
              <p:nvPr/>
            </p:nvSpPr>
            <p:spPr bwMode="auto">
              <a:xfrm flipH="1">
                <a:off x="2016" y="1392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8677" name="Line 37"/>
              <p:cNvSpPr>
                <a:spLocks noChangeShapeType="1"/>
              </p:cNvSpPr>
              <p:nvPr/>
            </p:nvSpPr>
            <p:spPr bwMode="auto">
              <a:xfrm flipV="1">
                <a:off x="2448" y="864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8678" name="Line 38"/>
            <p:cNvSpPr>
              <a:spLocks noChangeShapeType="1"/>
            </p:cNvSpPr>
            <p:nvPr/>
          </p:nvSpPr>
          <p:spPr bwMode="auto">
            <a:xfrm>
              <a:off x="3888" y="1909"/>
              <a:ext cx="0" cy="8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79" name="Line 39"/>
            <p:cNvSpPr>
              <a:spLocks noChangeShapeType="1"/>
            </p:cNvSpPr>
            <p:nvPr/>
          </p:nvSpPr>
          <p:spPr bwMode="auto">
            <a:xfrm>
              <a:off x="5328" y="1909"/>
              <a:ext cx="0" cy="8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80" name="Object 40"/>
                <p:cNvSpPr txBox="1"/>
                <p:nvPr/>
              </p:nvSpPr>
              <p:spPr bwMode="auto">
                <a:xfrm>
                  <a:off x="4992" y="1428"/>
                  <a:ext cx="222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68680" name="Object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92" y="1428"/>
                  <a:ext cx="222" cy="252"/>
                </a:xfrm>
                <a:prstGeom prst="rect">
                  <a:avLst/>
                </a:prstGeom>
                <a:blipFill>
                  <a:blip r:embed="rId9"/>
                  <a:stretch>
                    <a:fillRect l="-1538" r="-1384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81" name="Object 41"/>
                <p:cNvSpPr txBox="1"/>
                <p:nvPr/>
              </p:nvSpPr>
              <p:spPr bwMode="auto">
                <a:xfrm>
                  <a:off x="4992" y="2160"/>
                  <a:ext cx="222" cy="2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81" name="Object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92" y="2160"/>
                  <a:ext cx="222" cy="239"/>
                </a:xfrm>
                <a:prstGeom prst="rect">
                  <a:avLst/>
                </a:prstGeom>
                <a:blipFill>
                  <a:blip r:embed="rId10"/>
                  <a:stretch>
                    <a:fillRect r="-615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82" name="Object 42"/>
                <p:cNvSpPr txBox="1"/>
                <p:nvPr/>
              </p:nvSpPr>
              <p:spPr bwMode="auto">
                <a:xfrm>
                  <a:off x="4626" y="1541"/>
                  <a:ext cx="228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8682" name="Object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26" y="1541"/>
                  <a:ext cx="228" cy="261"/>
                </a:xfrm>
                <a:prstGeom prst="rect">
                  <a:avLst/>
                </a:prstGeom>
                <a:blipFill>
                  <a:blip r:embed="rId11"/>
                  <a:stretch>
                    <a:fillRect l="-1493" r="-11940" b="-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8683" name="Oval 43"/>
            <p:cNvSpPr>
              <a:spLocks noChangeArrowheads="1"/>
            </p:cNvSpPr>
            <p:nvPr/>
          </p:nvSpPr>
          <p:spPr bwMode="auto">
            <a:xfrm>
              <a:off x="4525" y="1755"/>
              <a:ext cx="211" cy="19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84" name="Line 44"/>
            <p:cNvSpPr>
              <a:spLocks noChangeShapeType="1"/>
            </p:cNvSpPr>
            <p:nvPr/>
          </p:nvSpPr>
          <p:spPr bwMode="auto">
            <a:xfrm flipV="1">
              <a:off x="4584" y="1764"/>
              <a:ext cx="120" cy="15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85" name="Freeform 45"/>
            <p:cNvSpPr>
              <a:spLocks/>
            </p:cNvSpPr>
            <p:nvPr/>
          </p:nvSpPr>
          <p:spPr bwMode="auto">
            <a:xfrm rot="21420000">
              <a:off x="4656" y="2280"/>
              <a:ext cx="206" cy="120"/>
            </a:xfrm>
            <a:custGeom>
              <a:avLst/>
              <a:gdLst>
                <a:gd name="T0" fmla="*/ 0 w 336"/>
                <a:gd name="T1" fmla="*/ 263 h 263"/>
                <a:gd name="T2" fmla="*/ 336 w 336"/>
                <a:gd name="T3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6" h="263">
                  <a:moveTo>
                    <a:pt x="0" y="263"/>
                  </a:moveTo>
                  <a:lnTo>
                    <a:pt x="336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86" name="Line 46"/>
            <p:cNvSpPr>
              <a:spLocks noChangeShapeType="1"/>
            </p:cNvSpPr>
            <p:nvPr/>
          </p:nvSpPr>
          <p:spPr bwMode="auto">
            <a:xfrm rot="18600000">
              <a:off x="4726" y="1366"/>
              <a:ext cx="1" cy="2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87" name="Line 47"/>
            <p:cNvSpPr>
              <a:spLocks noChangeShapeType="1"/>
            </p:cNvSpPr>
            <p:nvPr/>
          </p:nvSpPr>
          <p:spPr bwMode="auto">
            <a:xfrm rot="18600000">
              <a:off x="4490" y="2230"/>
              <a:ext cx="0" cy="2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688" name="Line 48"/>
            <p:cNvSpPr>
              <a:spLocks noChangeShapeType="1"/>
            </p:cNvSpPr>
            <p:nvPr/>
          </p:nvSpPr>
          <p:spPr bwMode="auto">
            <a:xfrm>
              <a:off x="5328" y="2208"/>
              <a:ext cx="0" cy="33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89" name="Object 49"/>
                <p:cNvSpPr txBox="1"/>
                <p:nvPr/>
              </p:nvSpPr>
              <p:spPr bwMode="auto">
                <a:xfrm>
                  <a:off x="4569" y="2136"/>
                  <a:ext cx="146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68689" name="Object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9" y="2136"/>
                  <a:ext cx="146" cy="192"/>
                </a:xfrm>
                <a:prstGeom prst="rect">
                  <a:avLst/>
                </a:prstGeom>
                <a:blipFill>
                  <a:blip r:embed="rId12"/>
                  <a:stretch>
                    <a:fillRect l="-6977" r="-48837" b="-4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90" name="Object 50"/>
                <p:cNvSpPr txBox="1"/>
                <p:nvPr/>
              </p:nvSpPr>
              <p:spPr bwMode="auto">
                <a:xfrm>
                  <a:off x="4780" y="1289"/>
                  <a:ext cx="179" cy="1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68690" name="Object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80" y="1289"/>
                  <a:ext cx="179" cy="196"/>
                </a:xfrm>
                <a:prstGeom prst="rect">
                  <a:avLst/>
                </a:prstGeom>
                <a:blipFill>
                  <a:blip r:embed="rId13"/>
                  <a:stretch>
                    <a:fillRect l="-3774" r="-20755" b="-3684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91" name="Object 51"/>
                <p:cNvSpPr txBox="1"/>
                <p:nvPr/>
              </p:nvSpPr>
              <p:spPr bwMode="auto">
                <a:xfrm>
                  <a:off x="3832" y="1546"/>
                  <a:ext cx="162" cy="1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68691" name="Object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32" y="1546"/>
                  <a:ext cx="162" cy="182"/>
                </a:xfrm>
                <a:prstGeom prst="rect">
                  <a:avLst/>
                </a:prstGeom>
                <a:blipFill>
                  <a:blip r:embed="rId14"/>
                  <a:stretch>
                    <a:fillRect l="-4167" r="-31250" b="-5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8692" name="Line 52"/>
            <p:cNvSpPr>
              <a:spLocks noChangeShapeType="1"/>
            </p:cNvSpPr>
            <p:nvPr/>
          </p:nvSpPr>
          <p:spPr bwMode="auto">
            <a:xfrm flipV="1">
              <a:off x="5088" y="1913"/>
              <a:ext cx="258" cy="1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93" name="Object 53"/>
                <p:cNvSpPr txBox="1"/>
                <p:nvPr/>
              </p:nvSpPr>
              <p:spPr bwMode="auto">
                <a:xfrm>
                  <a:off x="3700" y="1788"/>
                  <a:ext cx="141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68693" name="Object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00" y="1788"/>
                  <a:ext cx="141" cy="146"/>
                </a:xfrm>
                <a:prstGeom prst="rect">
                  <a:avLst/>
                </a:prstGeom>
                <a:blipFill>
                  <a:blip r:embed="rId15"/>
                  <a:stretch>
                    <a:fillRect l="-4762" r="-54762" b="-738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94" name="Object 54"/>
                <p:cNvSpPr txBox="1"/>
                <p:nvPr/>
              </p:nvSpPr>
              <p:spPr bwMode="auto">
                <a:xfrm>
                  <a:off x="5328" y="1869"/>
                  <a:ext cx="141" cy="1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94" name="Object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28" y="1869"/>
                  <a:ext cx="141" cy="158"/>
                </a:xfrm>
                <a:prstGeom prst="rect">
                  <a:avLst/>
                </a:prstGeom>
                <a:blipFill>
                  <a:blip r:embed="rId16"/>
                  <a:stretch>
                    <a:fillRect l="-7143" r="-47619" b="-6222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95" name="Object 55"/>
                <p:cNvSpPr txBox="1"/>
                <p:nvPr/>
              </p:nvSpPr>
              <p:spPr bwMode="auto">
                <a:xfrm>
                  <a:off x="4520" y="1141"/>
                  <a:ext cx="176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95" name="Object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20" y="1141"/>
                  <a:ext cx="176" cy="146"/>
                </a:xfrm>
                <a:prstGeom prst="rect">
                  <a:avLst/>
                </a:prstGeom>
                <a:blipFill>
                  <a:blip r:embed="rId17"/>
                  <a:stretch>
                    <a:fillRect l="-3846" r="-26923" b="-738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96" name="Object 56"/>
                <p:cNvSpPr txBox="1"/>
                <p:nvPr/>
              </p:nvSpPr>
              <p:spPr bwMode="auto">
                <a:xfrm>
                  <a:off x="4560" y="2459"/>
                  <a:ext cx="154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96" name="Object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0" y="2459"/>
                  <a:ext cx="154" cy="146"/>
                </a:xfrm>
                <a:prstGeom prst="rect">
                  <a:avLst/>
                </a:prstGeom>
                <a:blipFill>
                  <a:blip r:embed="rId18"/>
                  <a:stretch>
                    <a:fillRect l="-4348" r="-47826" b="-738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97" name="Object 57"/>
                <p:cNvSpPr txBox="1"/>
                <p:nvPr/>
              </p:nvSpPr>
              <p:spPr bwMode="auto">
                <a:xfrm>
                  <a:off x="5280" y="2736"/>
                  <a:ext cx="141" cy="1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97" name="Object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80" y="2736"/>
                  <a:ext cx="141" cy="147"/>
                </a:xfrm>
                <a:prstGeom prst="rect">
                  <a:avLst/>
                </a:prstGeom>
                <a:blipFill>
                  <a:blip r:embed="rId19"/>
                  <a:stretch>
                    <a:fillRect l="-7317" r="-53659" b="-738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698" name="Object 58"/>
                <p:cNvSpPr txBox="1"/>
                <p:nvPr/>
              </p:nvSpPr>
              <p:spPr bwMode="auto">
                <a:xfrm>
                  <a:off x="3783" y="2759"/>
                  <a:ext cx="153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98" name="Object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83" y="2759"/>
                  <a:ext cx="153" cy="146"/>
                </a:xfrm>
                <a:prstGeom prst="rect">
                  <a:avLst/>
                </a:prstGeom>
                <a:blipFill>
                  <a:blip r:embed="rId20"/>
                  <a:stretch>
                    <a:fillRect l="-6667" r="-40000" b="-738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8699" name="Line 59"/>
            <p:cNvSpPr>
              <a:spLocks noChangeShapeType="1"/>
            </p:cNvSpPr>
            <p:nvPr/>
          </p:nvSpPr>
          <p:spPr bwMode="auto">
            <a:xfrm>
              <a:off x="4464" y="2736"/>
              <a:ext cx="8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700" name="Line 60"/>
            <p:cNvSpPr>
              <a:spLocks noChangeShapeType="1"/>
            </p:cNvSpPr>
            <p:nvPr/>
          </p:nvSpPr>
          <p:spPr bwMode="auto">
            <a:xfrm rot="10800000">
              <a:off x="3888" y="2208"/>
              <a:ext cx="0" cy="33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701" name="Line 61"/>
            <p:cNvSpPr>
              <a:spLocks noChangeShapeType="1"/>
            </p:cNvSpPr>
            <p:nvPr/>
          </p:nvSpPr>
          <p:spPr bwMode="auto">
            <a:xfrm>
              <a:off x="3888" y="273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702" name="Object 62"/>
                <p:cNvSpPr txBox="1"/>
                <p:nvPr/>
              </p:nvSpPr>
              <p:spPr bwMode="auto">
                <a:xfrm>
                  <a:off x="3742" y="2256"/>
                  <a:ext cx="146" cy="1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702" name="Object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42" y="2256"/>
                  <a:ext cx="146" cy="182"/>
                </a:xfrm>
                <a:prstGeom prst="rect">
                  <a:avLst/>
                </a:prstGeom>
                <a:blipFill>
                  <a:blip r:embed="rId21"/>
                  <a:stretch>
                    <a:fillRect l="-6977" r="-18605" b="-4038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064893" y="4267634"/>
                <a:ext cx="131831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节点</m:t>
                      </m:r>
                      <m:r>
                        <a:rPr lang="zh-CN" altLang="en-US" sz="2800" b="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93" y="4267634"/>
                <a:ext cx="1318310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022572" y="5066127"/>
                <a:ext cx="13324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节点</m:t>
                      </m:r>
                      <m:r>
                        <a:rPr lang="zh-CN" altLang="en-US" sz="2800" b="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572" y="5066127"/>
                <a:ext cx="1332416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022572" y="5883083"/>
                <a:ext cx="4694042" cy="5582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节点</m:t>
                      </m:r>
                      <m:r>
                        <a:rPr lang="zh-CN" altLang="en-US" sz="2800" b="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nor/>
                        </m:rPr>
                        <a:rPr lang="zh-CN" altLang="en-US" sz="2800" i="1"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  ​​</m:t>
                      </m:r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zh-CN" altLang="en-US" sz="2800" i="1"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  </m:t>
                      </m:r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572" y="5883083"/>
                <a:ext cx="4694042" cy="55823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92F3C07-468E-44CA-828F-B75D19BD69E8}"/>
                  </a:ext>
                </a:extLst>
              </p:cNvPr>
              <p:cNvSpPr/>
              <p:nvPr/>
            </p:nvSpPr>
            <p:spPr>
              <a:xfrm>
                <a:off x="804562" y="1719640"/>
                <a:ext cx="7097657" cy="9891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分析电桥平衡时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检流计中无电流通过，即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 0 </m:t>
                    </m:r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800" b="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800" b="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800" b="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800" b="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之间的关系</a:t>
                </a:r>
                <a:endParaRPr 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92F3C07-468E-44CA-828F-B75D19BD69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62" y="1719640"/>
                <a:ext cx="7097657" cy="989117"/>
              </a:xfrm>
              <a:prstGeom prst="rect">
                <a:avLst/>
              </a:prstGeom>
              <a:blipFill>
                <a:blip r:embed="rId25"/>
                <a:stretch>
                  <a:fillRect l="-1804" t="-7407" b="-14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191738" y="5101008"/>
                <a:ext cx="3430106" cy="5582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1" smtClean="0"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  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738" y="5101008"/>
                <a:ext cx="3430106" cy="55823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/>
              <p:cNvSpPr/>
              <p:nvPr/>
            </p:nvSpPr>
            <p:spPr>
              <a:xfrm>
                <a:off x="2131833" y="4242185"/>
                <a:ext cx="352929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1" smtClean="0"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  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/>
                      </m:sSub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矩形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833" y="4242185"/>
                <a:ext cx="3529299" cy="5232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4FC3FC90-1337-2194-0C6C-954D9E07CE56}"/>
              </a:ext>
            </a:extLst>
          </p:cNvPr>
          <p:cNvSpPr/>
          <p:nvPr/>
        </p:nvSpPr>
        <p:spPr>
          <a:xfrm>
            <a:off x="890741" y="302367"/>
            <a:ext cx="26019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惠斯通电桥</a:t>
            </a:r>
            <a:endParaRPr 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6B11A7D-955F-19A2-8878-298D2B55708E}"/>
                  </a:ext>
                </a:extLst>
              </p:cNvPr>
              <p:cNvSpPr txBox="1"/>
              <p:nvPr/>
            </p:nvSpPr>
            <p:spPr>
              <a:xfrm>
                <a:off x="8622212" y="2837455"/>
                <a:ext cx="76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𝐺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6B11A7D-955F-19A2-8878-298D2B557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2212" y="2837455"/>
                <a:ext cx="762000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0692C49-D689-4D0E-A097-992CE1BE784B}"/>
                  </a:ext>
                </a:extLst>
              </p:cNvPr>
              <p:cNvSpPr/>
              <p:nvPr/>
            </p:nvSpPr>
            <p:spPr>
              <a:xfrm>
                <a:off x="6091358" y="5673410"/>
                <a:ext cx="6090129" cy="7679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60000"/>
                  </a:lnSpc>
                </a:pP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时，可得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altLang="zh-CN" sz="280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altLang="zh-CN" sz="280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0692C49-D689-4D0E-A097-992CE1BE78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358" y="5673410"/>
                <a:ext cx="6090129" cy="767903"/>
              </a:xfrm>
              <a:prstGeom prst="rect">
                <a:avLst/>
              </a:prstGeom>
              <a:blipFill>
                <a:blip r:embed="rId29"/>
                <a:stretch>
                  <a:fillRect l="-2002" r="-1101" b="-17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747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3" grpId="0"/>
      <p:bldP spid="2" grpId="0"/>
      <p:bldP spid="3" grpId="0"/>
      <p:bldP spid="4" grpId="0"/>
      <p:bldP spid="5" grpId="0"/>
      <p:bldP spid="7" grpId="0"/>
      <p:bldP spid="61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ChangeArrowheads="1"/>
          </p:cNvSpPr>
          <p:nvPr/>
        </p:nvSpPr>
        <p:spPr bwMode="auto">
          <a:xfrm>
            <a:off x="965610" y="943273"/>
            <a:ext cx="7755882" cy="109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选择图示三个独立回路，选定绕行方向为顺时针方向，如虚箭头所示。列出回路电压方程式为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9667" name="Rectangle 3"/>
              <p:cNvSpPr>
                <a:spLocks noChangeArrowheads="1"/>
              </p:cNvSpPr>
              <p:nvPr/>
            </p:nvSpPr>
            <p:spPr bwMode="auto">
              <a:xfrm>
                <a:off x="676215" y="3454901"/>
                <a:ext cx="7755882" cy="14525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60000"/>
                  </a:lnSpc>
                </a:pP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时，可得</a:t>
                </a:r>
                <a14:m>
                  <m:oMath xmlns:m="http://schemas.openxmlformats.org/officeDocument/2006/math"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altLang="zh-CN" sz="2800" b="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1 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800" b="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b="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altLang="zh-CN" sz="2800" b="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2 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800" b="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lnSpc>
                    <a:spcPct val="160000"/>
                  </a:lnSpc>
                </a:pP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                   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800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800" b="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9667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6215" y="3454901"/>
                <a:ext cx="7755882" cy="1452514"/>
              </a:xfrm>
              <a:prstGeom prst="rect">
                <a:avLst/>
              </a:prstGeom>
              <a:blipFill>
                <a:blip r:embed="rId2"/>
                <a:stretch>
                  <a:fillRect l="-1651" b="-1092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782116" y="2097298"/>
                <a:ext cx="5006179" cy="5582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回路</m:t>
                      </m:r>
                      <m:r>
                        <a:rPr lang="zh-CN" altLang="en-US" sz="2800" b="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zh-CN" altLang="en-US" sz="2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  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116" y="2097298"/>
                <a:ext cx="5006179" cy="5582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745311" y="2788447"/>
                <a:ext cx="5022722" cy="5582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回路</m:t>
                      </m:r>
                      <m:r>
                        <a:rPr lang="zh-CN" altLang="en-US" sz="2800" b="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zh-CN" altLang="en-US" sz="2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  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311" y="2788447"/>
                <a:ext cx="5022722" cy="5582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13">
            <a:extLst>
              <a:ext uri="{FF2B5EF4-FFF2-40B4-BE49-F238E27FC236}">
                <a16:creationId xmlns:a16="http://schemas.microsoft.com/office/drawing/2014/main" id="{8A67881E-1BCC-0581-CD31-29DFB52027BA}"/>
              </a:ext>
            </a:extLst>
          </p:cNvPr>
          <p:cNvGrpSpPr>
            <a:grpSpLocks/>
          </p:cNvGrpSpPr>
          <p:nvPr/>
        </p:nvGrpSpPr>
        <p:grpSpPr bwMode="auto">
          <a:xfrm>
            <a:off x="8077691" y="1675166"/>
            <a:ext cx="3276000" cy="3159069"/>
            <a:chOff x="3700" y="1141"/>
            <a:chExt cx="1820" cy="1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bject 14">
                  <a:extLst>
                    <a:ext uri="{FF2B5EF4-FFF2-40B4-BE49-F238E27FC236}">
                      <a16:creationId xmlns:a16="http://schemas.microsoft.com/office/drawing/2014/main" id="{3759239B-10E2-0DFF-EC4A-5BB7A0C11A54}"/>
                    </a:ext>
                  </a:extLst>
                </p:cNvPr>
                <p:cNvSpPr txBox="1"/>
                <p:nvPr/>
              </p:nvSpPr>
              <p:spPr bwMode="auto">
                <a:xfrm>
                  <a:off x="4041" y="1402"/>
                  <a:ext cx="231" cy="2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68654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41" y="1402"/>
                  <a:ext cx="231" cy="23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15">
                  <a:extLst>
                    <a:ext uri="{FF2B5EF4-FFF2-40B4-BE49-F238E27FC236}">
                      <a16:creationId xmlns:a16="http://schemas.microsoft.com/office/drawing/2014/main" id="{8DBD2B5A-1569-C1EA-C5D3-B39ED83EF4D2}"/>
                    </a:ext>
                  </a:extLst>
                </p:cNvPr>
                <p:cNvSpPr txBox="1"/>
                <p:nvPr/>
              </p:nvSpPr>
              <p:spPr bwMode="auto">
                <a:xfrm>
                  <a:off x="5374" y="2256"/>
                  <a:ext cx="146" cy="1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55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74" y="2256"/>
                  <a:ext cx="146" cy="182"/>
                </a:xfrm>
                <a:prstGeom prst="rect">
                  <a:avLst/>
                </a:prstGeom>
                <a:blipFill>
                  <a:blip r:embed="rId7"/>
                  <a:stretch>
                    <a:fillRect l="-4545" r="-18182" b="-4038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Line 16">
              <a:extLst>
                <a:ext uri="{FF2B5EF4-FFF2-40B4-BE49-F238E27FC236}">
                  <a16:creationId xmlns:a16="http://schemas.microsoft.com/office/drawing/2014/main" id="{2FB450EB-F7B4-2467-FBD6-B2DFA57505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586" flipH="1">
              <a:off x="4464" y="2685"/>
              <a:ext cx="0" cy="13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Line 17">
              <a:extLst>
                <a:ext uri="{FF2B5EF4-FFF2-40B4-BE49-F238E27FC236}">
                  <a16:creationId xmlns:a16="http://schemas.microsoft.com/office/drawing/2014/main" id="{724DC176-B9EB-D5F9-F51A-837E1FE706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586" flipH="1">
              <a:off x="4416" y="2640"/>
              <a:ext cx="0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18">
                  <a:extLst>
                    <a:ext uri="{FF2B5EF4-FFF2-40B4-BE49-F238E27FC236}">
                      <a16:creationId xmlns:a16="http://schemas.microsoft.com/office/drawing/2014/main" id="{194798FC-64AC-19F1-8D5E-319DC6058EFC}"/>
                    </a:ext>
                  </a:extLst>
                </p:cNvPr>
                <p:cNvSpPr txBox="1"/>
                <p:nvPr/>
              </p:nvSpPr>
              <p:spPr bwMode="auto">
                <a:xfrm>
                  <a:off x="4245" y="2736"/>
                  <a:ext cx="219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" name="Object 18">
                  <a:extLst>
                    <a:ext uri="{FF2B5EF4-FFF2-40B4-BE49-F238E27FC236}">
                      <a16:creationId xmlns:a16="http://schemas.microsoft.com/office/drawing/2014/main" id="{194798FC-64AC-19F1-8D5E-319DC6058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45" y="2736"/>
                  <a:ext cx="219" cy="210"/>
                </a:xfrm>
                <a:prstGeom prst="rect">
                  <a:avLst/>
                </a:prstGeom>
                <a:blipFill>
                  <a:blip r:embed="rId8"/>
                  <a:stretch>
                    <a:fillRect b="-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19">
                  <a:extLst>
                    <a:ext uri="{FF2B5EF4-FFF2-40B4-BE49-F238E27FC236}">
                      <a16:creationId xmlns:a16="http://schemas.microsoft.com/office/drawing/2014/main" id="{27E8ED38-C550-D5F4-0AB2-13C2FDEDDAD2}"/>
                    </a:ext>
                  </a:extLst>
                </p:cNvPr>
                <p:cNvSpPr txBox="1"/>
                <p:nvPr/>
              </p:nvSpPr>
              <p:spPr bwMode="auto">
                <a:xfrm>
                  <a:off x="4080" y="2160"/>
                  <a:ext cx="219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68659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0" y="2160"/>
                  <a:ext cx="219" cy="237"/>
                </a:xfrm>
                <a:prstGeom prst="rect">
                  <a:avLst/>
                </a:prstGeom>
                <a:blipFill>
                  <a:blip r:embed="rId9"/>
                  <a:stretch>
                    <a:fillRect r="-769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20">
                  <a:extLst>
                    <a:ext uri="{FF2B5EF4-FFF2-40B4-BE49-F238E27FC236}">
                      <a16:creationId xmlns:a16="http://schemas.microsoft.com/office/drawing/2014/main" id="{6D7D1AEC-CC10-C90A-06D3-A8C2E1B43D5C}"/>
                    </a:ext>
                  </a:extLst>
                </p:cNvPr>
                <p:cNvSpPr txBox="1"/>
                <p:nvPr/>
              </p:nvSpPr>
              <p:spPr bwMode="auto">
                <a:xfrm>
                  <a:off x="4656" y="2029"/>
                  <a:ext cx="197" cy="2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60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56" y="2029"/>
                  <a:ext cx="197" cy="221"/>
                </a:xfrm>
                <a:prstGeom prst="rect">
                  <a:avLst/>
                </a:prstGeom>
                <a:blipFill>
                  <a:blip r:embed="rId10"/>
                  <a:stretch>
                    <a:fillRect l="-3390" r="-13559" b="-3809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Line 21">
              <a:extLst>
                <a:ext uri="{FF2B5EF4-FFF2-40B4-BE49-F238E27FC236}">
                  <a16:creationId xmlns:a16="http://schemas.microsoft.com/office/drawing/2014/main" id="{18F542A2-1C1A-CC57-82C9-605D169E18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947"/>
              <a:ext cx="0" cy="29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Line 22">
              <a:extLst>
                <a:ext uri="{FF2B5EF4-FFF2-40B4-BE49-F238E27FC236}">
                  <a16:creationId xmlns:a16="http://schemas.microsoft.com/office/drawing/2014/main" id="{8E63B0E2-21F7-5A20-2A1B-C5CF3EA78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410"/>
              <a:ext cx="0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23">
              <a:extLst>
                <a:ext uri="{FF2B5EF4-FFF2-40B4-BE49-F238E27FC236}">
                  <a16:creationId xmlns:a16="http://schemas.microsoft.com/office/drawing/2014/main" id="{E841DBC9-65AF-2E3B-B1EF-E95C33977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944"/>
              <a:ext cx="0" cy="5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24">
              <a:extLst>
                <a:ext uri="{FF2B5EF4-FFF2-40B4-BE49-F238E27FC236}">
                  <a16:creationId xmlns:a16="http://schemas.microsoft.com/office/drawing/2014/main" id="{4157E027-429D-8B1C-83FF-69B4D12E3A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820000" flipV="1">
              <a:off x="4009" y="1702"/>
              <a:ext cx="1" cy="2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25">
                  <a:extLst>
                    <a:ext uri="{FF2B5EF4-FFF2-40B4-BE49-F238E27FC236}">
                      <a16:creationId xmlns:a16="http://schemas.microsoft.com/office/drawing/2014/main" id="{CFD1FE03-827B-8281-0A7D-D03643FE7AE7}"/>
                    </a:ext>
                  </a:extLst>
                </p:cNvPr>
                <p:cNvSpPr txBox="1"/>
                <p:nvPr/>
              </p:nvSpPr>
              <p:spPr bwMode="auto">
                <a:xfrm>
                  <a:off x="4320" y="2365"/>
                  <a:ext cx="202" cy="19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68665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20" y="2365"/>
                  <a:ext cx="202" cy="195"/>
                </a:xfrm>
                <a:prstGeom prst="rect">
                  <a:avLst/>
                </a:prstGeom>
                <a:blipFill>
                  <a:blip r:embed="rId11"/>
                  <a:stretch>
                    <a:fillRect l="-3333" r="-6667" b="-3928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26">
              <a:extLst>
                <a:ext uri="{FF2B5EF4-FFF2-40B4-BE49-F238E27FC236}">
                  <a16:creationId xmlns:a16="http://schemas.microsoft.com/office/drawing/2014/main" id="{539A136B-5BE0-2ED0-D1D6-B2B201A271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500000">
              <a:off x="4949" y="1523"/>
              <a:ext cx="77" cy="296"/>
            </a:xfrm>
            <a:prstGeom prst="rect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3B4194C5-043E-A328-E039-27EF7108752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4639" y="1361"/>
              <a:ext cx="192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Line 28">
              <a:extLst>
                <a:ext uri="{FF2B5EF4-FFF2-40B4-BE49-F238E27FC236}">
                  <a16:creationId xmlns:a16="http://schemas.microsoft.com/office/drawing/2014/main" id="{569A6DE0-0744-3A2A-1CD6-DF5129CF4B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119" y="1697"/>
              <a:ext cx="192" cy="2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01EF0E59-E192-B5A1-47C7-0524192F17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10971" flipH="1">
              <a:off x="4957" y="2022"/>
              <a:ext cx="77" cy="296"/>
            </a:xfrm>
            <a:prstGeom prst="rect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Line 30">
              <a:extLst>
                <a:ext uri="{FF2B5EF4-FFF2-40B4-BE49-F238E27FC236}">
                  <a16:creationId xmlns:a16="http://schemas.microsoft.com/office/drawing/2014/main" id="{2C99F975-494E-314B-145B-E4E7C8D9A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639" y="2225"/>
              <a:ext cx="192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31">
              <a:extLst>
                <a:ext uri="{FF2B5EF4-FFF2-40B4-BE49-F238E27FC236}">
                  <a16:creationId xmlns:a16="http://schemas.microsoft.com/office/drawing/2014/main" id="{246932F2-6B6C-D973-9DF5-1B09BDA5B5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10971" flipV="1">
              <a:off x="4230" y="1494"/>
              <a:ext cx="76" cy="296"/>
            </a:xfrm>
            <a:prstGeom prst="rect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32">
              <a:extLst>
                <a:ext uri="{FF2B5EF4-FFF2-40B4-BE49-F238E27FC236}">
                  <a16:creationId xmlns:a16="http://schemas.microsoft.com/office/drawing/2014/main" id="{C8A7A462-EC96-A3DA-1EC8-1831D708441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4385" y="1361"/>
              <a:ext cx="192" cy="2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33">
              <a:extLst>
                <a:ext uri="{FF2B5EF4-FFF2-40B4-BE49-F238E27FC236}">
                  <a16:creationId xmlns:a16="http://schemas.microsoft.com/office/drawing/2014/main" id="{23187B32-C48B-9849-6B6B-7E939F30532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19" y="1697"/>
              <a:ext cx="192" cy="2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6" name="Group 34">
              <a:extLst>
                <a:ext uri="{FF2B5EF4-FFF2-40B4-BE49-F238E27FC236}">
                  <a16:creationId xmlns:a16="http://schemas.microsoft.com/office/drawing/2014/main" id="{9BA91FB6-4C88-BF8F-FF6B-43FF84A27EB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H="1" flipV="1">
              <a:off x="3978" y="1819"/>
              <a:ext cx="538" cy="720"/>
              <a:chOff x="2016" y="864"/>
              <a:chExt cx="672" cy="816"/>
            </a:xfrm>
          </p:grpSpPr>
          <p:sp>
            <p:nvSpPr>
              <p:cNvPr id="52" name="Rectangle 35">
                <a:extLst>
                  <a:ext uri="{FF2B5EF4-FFF2-40B4-BE49-F238E27FC236}">
                    <a16:creationId xmlns:a16="http://schemas.microsoft.com/office/drawing/2014/main" id="{330941BB-40AF-2A7A-6FCD-9395EBEA2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389029">
                <a:off x="2304" y="1104"/>
                <a:ext cx="96" cy="336"/>
              </a:xfrm>
              <a:prstGeom prst="rect">
                <a:avLst/>
              </a:prstGeom>
              <a:solidFill>
                <a:srgbClr val="8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Line 36">
                <a:extLst>
                  <a:ext uri="{FF2B5EF4-FFF2-40B4-BE49-F238E27FC236}">
                    <a16:creationId xmlns:a16="http://schemas.microsoft.com/office/drawing/2014/main" id="{B9C523EB-48B4-9548-738C-F9D8DFF81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6" y="1392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Line 37">
                <a:extLst>
                  <a:ext uri="{FF2B5EF4-FFF2-40B4-BE49-F238E27FC236}">
                    <a16:creationId xmlns:a16="http://schemas.microsoft.com/office/drawing/2014/main" id="{B55EC596-3E13-0CF5-A839-13D895A80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864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7" name="Line 38">
              <a:extLst>
                <a:ext uri="{FF2B5EF4-FFF2-40B4-BE49-F238E27FC236}">
                  <a16:creationId xmlns:a16="http://schemas.microsoft.com/office/drawing/2014/main" id="{ADC8F8D2-7D78-602F-71F8-30D946BBD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909"/>
              <a:ext cx="0" cy="8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39">
              <a:extLst>
                <a:ext uri="{FF2B5EF4-FFF2-40B4-BE49-F238E27FC236}">
                  <a16:creationId xmlns:a16="http://schemas.microsoft.com/office/drawing/2014/main" id="{263677AA-CA77-FFB9-1FD1-479E2085FE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909"/>
              <a:ext cx="0" cy="8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bject 40">
                  <a:extLst>
                    <a:ext uri="{FF2B5EF4-FFF2-40B4-BE49-F238E27FC236}">
                      <a16:creationId xmlns:a16="http://schemas.microsoft.com/office/drawing/2014/main" id="{47219C5E-AE5E-3CCF-F8D5-1724A449AD37}"/>
                    </a:ext>
                  </a:extLst>
                </p:cNvPr>
                <p:cNvSpPr txBox="1"/>
                <p:nvPr/>
              </p:nvSpPr>
              <p:spPr bwMode="auto">
                <a:xfrm>
                  <a:off x="4992" y="1428"/>
                  <a:ext cx="222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68680" name="Object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92" y="1428"/>
                  <a:ext cx="222" cy="252"/>
                </a:xfrm>
                <a:prstGeom prst="rect">
                  <a:avLst/>
                </a:prstGeom>
                <a:blipFill>
                  <a:blip r:embed="rId12"/>
                  <a:stretch>
                    <a:fillRect l="-1538" r="-1384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bject 41">
                  <a:extLst>
                    <a:ext uri="{FF2B5EF4-FFF2-40B4-BE49-F238E27FC236}">
                      <a16:creationId xmlns:a16="http://schemas.microsoft.com/office/drawing/2014/main" id="{4D9C5054-9403-0205-3260-EE3FBFB8BE89}"/>
                    </a:ext>
                  </a:extLst>
                </p:cNvPr>
                <p:cNvSpPr txBox="1"/>
                <p:nvPr/>
              </p:nvSpPr>
              <p:spPr bwMode="auto">
                <a:xfrm>
                  <a:off x="4992" y="2160"/>
                  <a:ext cx="222" cy="2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81" name="Object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92" y="2160"/>
                  <a:ext cx="222" cy="239"/>
                </a:xfrm>
                <a:prstGeom prst="rect">
                  <a:avLst/>
                </a:prstGeom>
                <a:blipFill>
                  <a:blip r:embed="rId13"/>
                  <a:stretch>
                    <a:fillRect r="-615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bject 42">
                  <a:extLst>
                    <a:ext uri="{FF2B5EF4-FFF2-40B4-BE49-F238E27FC236}">
                      <a16:creationId xmlns:a16="http://schemas.microsoft.com/office/drawing/2014/main" id="{2DD9B979-E248-6614-3074-DFE780036551}"/>
                    </a:ext>
                  </a:extLst>
                </p:cNvPr>
                <p:cNvSpPr txBox="1"/>
                <p:nvPr/>
              </p:nvSpPr>
              <p:spPr bwMode="auto">
                <a:xfrm>
                  <a:off x="4626" y="1541"/>
                  <a:ext cx="228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8682" name="Object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26" y="1541"/>
                  <a:ext cx="228" cy="261"/>
                </a:xfrm>
                <a:prstGeom prst="rect">
                  <a:avLst/>
                </a:prstGeom>
                <a:blipFill>
                  <a:blip r:embed="rId14"/>
                  <a:stretch>
                    <a:fillRect l="-1493" r="-11940" b="-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Oval 43">
              <a:extLst>
                <a:ext uri="{FF2B5EF4-FFF2-40B4-BE49-F238E27FC236}">
                  <a16:creationId xmlns:a16="http://schemas.microsoft.com/office/drawing/2014/main" id="{014532A9-39E3-EB2F-7E2A-03C14DF3A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" y="1755"/>
              <a:ext cx="211" cy="19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Line 44">
              <a:extLst>
                <a:ext uri="{FF2B5EF4-FFF2-40B4-BE49-F238E27FC236}">
                  <a16:creationId xmlns:a16="http://schemas.microsoft.com/office/drawing/2014/main" id="{28A0C746-89B6-458E-EAE7-4C5BC90948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4" y="1764"/>
              <a:ext cx="120" cy="15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Freeform 45">
              <a:extLst>
                <a:ext uri="{FF2B5EF4-FFF2-40B4-BE49-F238E27FC236}">
                  <a16:creationId xmlns:a16="http://schemas.microsoft.com/office/drawing/2014/main" id="{B72143D3-14EA-2853-2272-2997C4CE8CC0}"/>
                </a:ext>
              </a:extLst>
            </p:cNvPr>
            <p:cNvSpPr>
              <a:spLocks/>
            </p:cNvSpPr>
            <p:nvPr/>
          </p:nvSpPr>
          <p:spPr bwMode="auto">
            <a:xfrm rot="21420000">
              <a:off x="4656" y="2280"/>
              <a:ext cx="206" cy="120"/>
            </a:xfrm>
            <a:custGeom>
              <a:avLst/>
              <a:gdLst>
                <a:gd name="T0" fmla="*/ 0 w 336"/>
                <a:gd name="T1" fmla="*/ 263 h 263"/>
                <a:gd name="T2" fmla="*/ 336 w 336"/>
                <a:gd name="T3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6" h="263">
                  <a:moveTo>
                    <a:pt x="0" y="263"/>
                  </a:moveTo>
                  <a:lnTo>
                    <a:pt x="336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Line 46">
              <a:extLst>
                <a:ext uri="{FF2B5EF4-FFF2-40B4-BE49-F238E27FC236}">
                  <a16:creationId xmlns:a16="http://schemas.microsoft.com/office/drawing/2014/main" id="{BF719E86-1E38-90BC-9000-8C75F9B4E3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600000">
              <a:off x="4726" y="1366"/>
              <a:ext cx="1" cy="2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47">
              <a:extLst>
                <a:ext uri="{FF2B5EF4-FFF2-40B4-BE49-F238E27FC236}">
                  <a16:creationId xmlns:a16="http://schemas.microsoft.com/office/drawing/2014/main" id="{DF9EF12C-3E95-8ACB-7296-7ACBEDBCF3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600000">
              <a:off x="4490" y="2230"/>
              <a:ext cx="0" cy="2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48">
              <a:extLst>
                <a:ext uri="{FF2B5EF4-FFF2-40B4-BE49-F238E27FC236}">
                  <a16:creationId xmlns:a16="http://schemas.microsoft.com/office/drawing/2014/main" id="{CF1FA08E-FA50-B7B9-9CB5-B82F77BA3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208"/>
              <a:ext cx="0" cy="33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bject 49">
                  <a:extLst>
                    <a:ext uri="{FF2B5EF4-FFF2-40B4-BE49-F238E27FC236}">
                      <a16:creationId xmlns:a16="http://schemas.microsoft.com/office/drawing/2014/main" id="{43710E8A-9BEE-2495-3401-EE6B4324C9EF}"/>
                    </a:ext>
                  </a:extLst>
                </p:cNvPr>
                <p:cNvSpPr txBox="1"/>
                <p:nvPr/>
              </p:nvSpPr>
              <p:spPr bwMode="auto">
                <a:xfrm>
                  <a:off x="4569" y="2136"/>
                  <a:ext cx="146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68689" name="Object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9" y="2136"/>
                  <a:ext cx="146" cy="192"/>
                </a:xfrm>
                <a:prstGeom prst="rect">
                  <a:avLst/>
                </a:prstGeom>
                <a:blipFill>
                  <a:blip r:embed="rId15"/>
                  <a:stretch>
                    <a:fillRect l="-6977" r="-48837" b="-4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bject 50">
                  <a:extLst>
                    <a:ext uri="{FF2B5EF4-FFF2-40B4-BE49-F238E27FC236}">
                      <a16:creationId xmlns:a16="http://schemas.microsoft.com/office/drawing/2014/main" id="{F0B5FF23-A0FD-4893-3E27-6ACCAAECF314}"/>
                    </a:ext>
                  </a:extLst>
                </p:cNvPr>
                <p:cNvSpPr txBox="1"/>
                <p:nvPr/>
              </p:nvSpPr>
              <p:spPr bwMode="auto">
                <a:xfrm>
                  <a:off x="4780" y="1289"/>
                  <a:ext cx="179" cy="1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68690" name="Object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80" y="1289"/>
                  <a:ext cx="179" cy="196"/>
                </a:xfrm>
                <a:prstGeom prst="rect">
                  <a:avLst/>
                </a:prstGeom>
                <a:blipFill>
                  <a:blip r:embed="rId16"/>
                  <a:stretch>
                    <a:fillRect l="-3774" r="-20755" b="-3684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Object 51">
                  <a:extLst>
                    <a:ext uri="{FF2B5EF4-FFF2-40B4-BE49-F238E27FC236}">
                      <a16:creationId xmlns:a16="http://schemas.microsoft.com/office/drawing/2014/main" id="{62CF8620-3A76-8D9A-248A-D1712C0DDA92}"/>
                    </a:ext>
                  </a:extLst>
                </p:cNvPr>
                <p:cNvSpPr txBox="1"/>
                <p:nvPr/>
              </p:nvSpPr>
              <p:spPr bwMode="auto">
                <a:xfrm>
                  <a:off x="3832" y="1546"/>
                  <a:ext cx="162" cy="1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68691" name="Object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32" y="1546"/>
                  <a:ext cx="162" cy="182"/>
                </a:xfrm>
                <a:prstGeom prst="rect">
                  <a:avLst/>
                </a:prstGeom>
                <a:blipFill>
                  <a:blip r:embed="rId17"/>
                  <a:stretch>
                    <a:fillRect l="-4167" r="-31250" b="-5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Line 52">
              <a:extLst>
                <a:ext uri="{FF2B5EF4-FFF2-40B4-BE49-F238E27FC236}">
                  <a16:creationId xmlns:a16="http://schemas.microsoft.com/office/drawing/2014/main" id="{32B949B6-DB22-A1B2-6C62-A6A9860C92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8" y="1913"/>
              <a:ext cx="258" cy="1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bject 53">
                  <a:extLst>
                    <a:ext uri="{FF2B5EF4-FFF2-40B4-BE49-F238E27FC236}">
                      <a16:creationId xmlns:a16="http://schemas.microsoft.com/office/drawing/2014/main" id="{FEE602F8-D982-5FC0-EC90-1699547DE2C3}"/>
                    </a:ext>
                  </a:extLst>
                </p:cNvPr>
                <p:cNvSpPr txBox="1"/>
                <p:nvPr/>
              </p:nvSpPr>
              <p:spPr bwMode="auto">
                <a:xfrm>
                  <a:off x="3700" y="1788"/>
                  <a:ext cx="141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68693" name="Object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00" y="1788"/>
                  <a:ext cx="141" cy="146"/>
                </a:xfrm>
                <a:prstGeom prst="rect">
                  <a:avLst/>
                </a:prstGeom>
                <a:blipFill>
                  <a:blip r:embed="rId18"/>
                  <a:stretch>
                    <a:fillRect l="-4762" r="-54762" b="-738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bject 54">
                  <a:extLst>
                    <a:ext uri="{FF2B5EF4-FFF2-40B4-BE49-F238E27FC236}">
                      <a16:creationId xmlns:a16="http://schemas.microsoft.com/office/drawing/2014/main" id="{ABCC35D5-A9EC-FBC6-613B-159EE92C12D5}"/>
                    </a:ext>
                  </a:extLst>
                </p:cNvPr>
                <p:cNvSpPr txBox="1"/>
                <p:nvPr/>
              </p:nvSpPr>
              <p:spPr bwMode="auto">
                <a:xfrm>
                  <a:off x="5328" y="1869"/>
                  <a:ext cx="141" cy="1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94" name="Object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28" y="1869"/>
                  <a:ext cx="141" cy="158"/>
                </a:xfrm>
                <a:prstGeom prst="rect">
                  <a:avLst/>
                </a:prstGeom>
                <a:blipFill>
                  <a:blip r:embed="rId19"/>
                  <a:stretch>
                    <a:fillRect l="-7143" r="-47619" b="-6222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Object 55">
                  <a:extLst>
                    <a:ext uri="{FF2B5EF4-FFF2-40B4-BE49-F238E27FC236}">
                      <a16:creationId xmlns:a16="http://schemas.microsoft.com/office/drawing/2014/main" id="{2D8D0448-1D90-0F89-7DDE-27D46E2880A7}"/>
                    </a:ext>
                  </a:extLst>
                </p:cNvPr>
                <p:cNvSpPr txBox="1"/>
                <p:nvPr/>
              </p:nvSpPr>
              <p:spPr bwMode="auto">
                <a:xfrm>
                  <a:off x="4520" y="1141"/>
                  <a:ext cx="176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95" name="Object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20" y="1141"/>
                  <a:ext cx="176" cy="146"/>
                </a:xfrm>
                <a:prstGeom prst="rect">
                  <a:avLst/>
                </a:prstGeom>
                <a:blipFill>
                  <a:blip r:embed="rId20"/>
                  <a:stretch>
                    <a:fillRect l="-3846" r="-26923" b="-738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Object 56">
                  <a:extLst>
                    <a:ext uri="{FF2B5EF4-FFF2-40B4-BE49-F238E27FC236}">
                      <a16:creationId xmlns:a16="http://schemas.microsoft.com/office/drawing/2014/main" id="{C5DD8E07-B1DC-A4C0-83B3-62CB03E1D6E4}"/>
                    </a:ext>
                  </a:extLst>
                </p:cNvPr>
                <p:cNvSpPr txBox="1"/>
                <p:nvPr/>
              </p:nvSpPr>
              <p:spPr bwMode="auto">
                <a:xfrm>
                  <a:off x="4560" y="2459"/>
                  <a:ext cx="154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96" name="Object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0" y="2459"/>
                  <a:ext cx="154" cy="146"/>
                </a:xfrm>
                <a:prstGeom prst="rect">
                  <a:avLst/>
                </a:prstGeom>
                <a:blipFill>
                  <a:blip r:embed="rId21"/>
                  <a:stretch>
                    <a:fillRect l="-4348" r="-47826" b="-738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Object 57">
                  <a:extLst>
                    <a:ext uri="{FF2B5EF4-FFF2-40B4-BE49-F238E27FC236}">
                      <a16:creationId xmlns:a16="http://schemas.microsoft.com/office/drawing/2014/main" id="{C79CAA33-8E60-0E12-FBE8-BC64E7E064CE}"/>
                    </a:ext>
                  </a:extLst>
                </p:cNvPr>
                <p:cNvSpPr txBox="1"/>
                <p:nvPr/>
              </p:nvSpPr>
              <p:spPr bwMode="auto">
                <a:xfrm>
                  <a:off x="5280" y="2736"/>
                  <a:ext cx="141" cy="1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97" name="Object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80" y="2736"/>
                  <a:ext cx="141" cy="147"/>
                </a:xfrm>
                <a:prstGeom prst="rect">
                  <a:avLst/>
                </a:prstGeom>
                <a:blipFill>
                  <a:blip r:embed="rId22"/>
                  <a:stretch>
                    <a:fillRect l="-7317" r="-53659" b="-738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Object 58">
                  <a:extLst>
                    <a:ext uri="{FF2B5EF4-FFF2-40B4-BE49-F238E27FC236}">
                      <a16:creationId xmlns:a16="http://schemas.microsoft.com/office/drawing/2014/main" id="{F3EECCF1-ABA2-4281-EA96-BC02086D9ECC}"/>
                    </a:ext>
                  </a:extLst>
                </p:cNvPr>
                <p:cNvSpPr txBox="1"/>
                <p:nvPr/>
              </p:nvSpPr>
              <p:spPr bwMode="auto">
                <a:xfrm>
                  <a:off x="3783" y="2759"/>
                  <a:ext cx="153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698" name="Object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83" y="2759"/>
                  <a:ext cx="153" cy="146"/>
                </a:xfrm>
                <a:prstGeom prst="rect">
                  <a:avLst/>
                </a:prstGeom>
                <a:blipFill>
                  <a:blip r:embed="rId23"/>
                  <a:stretch>
                    <a:fillRect l="-6667" r="-40000" b="-738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Line 59">
              <a:extLst>
                <a:ext uri="{FF2B5EF4-FFF2-40B4-BE49-F238E27FC236}">
                  <a16:creationId xmlns:a16="http://schemas.microsoft.com/office/drawing/2014/main" id="{D6163AFC-F0B6-6B30-C758-32B10294D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736"/>
              <a:ext cx="8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Line 60">
              <a:extLst>
                <a:ext uri="{FF2B5EF4-FFF2-40B4-BE49-F238E27FC236}">
                  <a16:creationId xmlns:a16="http://schemas.microsoft.com/office/drawing/2014/main" id="{F9DFDD4C-379A-F583-4A69-81E66DF52F0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888" y="2208"/>
              <a:ext cx="0" cy="33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Line 61">
              <a:extLst>
                <a:ext uri="{FF2B5EF4-FFF2-40B4-BE49-F238E27FC236}">
                  <a16:creationId xmlns:a16="http://schemas.microsoft.com/office/drawing/2014/main" id="{747F5A0D-A50F-2A83-A905-E1468033E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73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Object 62">
                  <a:extLst>
                    <a:ext uri="{FF2B5EF4-FFF2-40B4-BE49-F238E27FC236}">
                      <a16:creationId xmlns:a16="http://schemas.microsoft.com/office/drawing/2014/main" id="{06338DD6-BCC2-9B28-B06D-C13E1B75F9DC}"/>
                    </a:ext>
                  </a:extLst>
                </p:cNvPr>
                <p:cNvSpPr txBox="1"/>
                <p:nvPr/>
              </p:nvSpPr>
              <p:spPr bwMode="auto">
                <a:xfrm>
                  <a:off x="3742" y="2256"/>
                  <a:ext cx="146" cy="1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368702" name="Object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42" y="2256"/>
                  <a:ext cx="146" cy="182"/>
                </a:xfrm>
                <a:prstGeom prst="rect">
                  <a:avLst/>
                </a:prstGeom>
                <a:blipFill>
                  <a:blip r:embed="rId24"/>
                  <a:stretch>
                    <a:fillRect l="-6977" r="-18605" b="-4038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64">
            <a:extLst>
              <a:ext uri="{FF2B5EF4-FFF2-40B4-BE49-F238E27FC236}">
                <a16:creationId xmlns:a16="http://schemas.microsoft.com/office/drawing/2014/main" id="{E7C8AC2F-CFBF-E0CA-C889-A425959FAE90}"/>
              </a:ext>
            </a:extLst>
          </p:cNvPr>
          <p:cNvGrpSpPr>
            <a:grpSpLocks/>
          </p:cNvGrpSpPr>
          <p:nvPr/>
        </p:nvGrpSpPr>
        <p:grpSpPr bwMode="auto">
          <a:xfrm>
            <a:off x="9080257" y="2734945"/>
            <a:ext cx="457200" cy="533400"/>
            <a:chOff x="3216" y="2016"/>
            <a:chExt cx="288" cy="336"/>
          </a:xfrm>
        </p:grpSpPr>
        <p:grpSp>
          <p:nvGrpSpPr>
            <p:cNvPr id="56" name="Group 65">
              <a:extLst>
                <a:ext uri="{FF2B5EF4-FFF2-40B4-BE49-F238E27FC236}">
                  <a16:creationId xmlns:a16="http://schemas.microsoft.com/office/drawing/2014/main" id="{584E0ED2-9F0B-8594-BB9C-9551817286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064"/>
              <a:ext cx="288" cy="288"/>
              <a:chOff x="3216" y="2064"/>
              <a:chExt cx="288" cy="288"/>
            </a:xfrm>
          </p:grpSpPr>
          <p:sp>
            <p:nvSpPr>
              <p:cNvPr id="58" name="Oval 66">
                <a:extLst>
                  <a:ext uri="{FF2B5EF4-FFF2-40B4-BE49-F238E27FC236}">
                    <a16:creationId xmlns:a16="http://schemas.microsoft.com/office/drawing/2014/main" id="{88786AEA-E3D7-464C-245D-8561DE4EF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2064"/>
                <a:ext cx="288" cy="288"/>
              </a:xfrm>
              <a:prstGeom prst="ellipse">
                <a:avLst/>
              </a:prstGeom>
              <a:noFill/>
              <a:ln w="25400">
                <a:solidFill>
                  <a:srgbClr val="3333FF"/>
                </a:solidFill>
                <a:prstDash val="lgDash"/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59" name="Line 67">
                <a:extLst>
                  <a:ext uri="{FF2B5EF4-FFF2-40B4-BE49-F238E27FC236}">
                    <a16:creationId xmlns:a16="http://schemas.microsoft.com/office/drawing/2014/main" id="{C3271755-2569-5FED-CA52-97A82B970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300000" flipH="1" flipV="1">
                <a:off x="3216" y="2280"/>
                <a:ext cx="96" cy="48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57" name="Rectangle 68">
              <a:extLst>
                <a:ext uri="{FF2B5EF4-FFF2-40B4-BE49-F238E27FC236}">
                  <a16:creationId xmlns:a16="http://schemas.microsoft.com/office/drawing/2014/main" id="{B3DF1222-DE39-6FD9-FA9F-7AEC3FA12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16"/>
              <a:ext cx="192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0000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 sz="2800" baseline="-30000" dirty="0">
                  <a:ea typeface="华文楷体" panose="02010600040101010101" pitchFamily="2" charset="-122"/>
                </a:rPr>
                <a:t>1</a:t>
              </a:r>
            </a:p>
          </p:txBody>
        </p:sp>
      </p:grpSp>
      <p:grpSp>
        <p:nvGrpSpPr>
          <p:cNvPr id="60" name="Group 69">
            <a:extLst>
              <a:ext uri="{FF2B5EF4-FFF2-40B4-BE49-F238E27FC236}">
                <a16:creationId xmlns:a16="http://schemas.microsoft.com/office/drawing/2014/main" id="{74ACA72A-E61A-254F-D118-9055936FFE54}"/>
              </a:ext>
            </a:extLst>
          </p:cNvPr>
          <p:cNvGrpSpPr>
            <a:grpSpLocks/>
          </p:cNvGrpSpPr>
          <p:nvPr/>
        </p:nvGrpSpPr>
        <p:grpSpPr bwMode="auto">
          <a:xfrm>
            <a:off x="10090214" y="2703342"/>
            <a:ext cx="457200" cy="533400"/>
            <a:chOff x="3312" y="816"/>
            <a:chExt cx="288" cy="336"/>
          </a:xfrm>
        </p:grpSpPr>
        <p:grpSp>
          <p:nvGrpSpPr>
            <p:cNvPr id="61" name="Group 70">
              <a:extLst>
                <a:ext uri="{FF2B5EF4-FFF2-40B4-BE49-F238E27FC236}">
                  <a16:creationId xmlns:a16="http://schemas.microsoft.com/office/drawing/2014/main" id="{6D6E70D0-0354-F67F-C706-F233445D3894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3312" y="864"/>
              <a:ext cx="288" cy="288"/>
              <a:chOff x="3216" y="2064"/>
              <a:chExt cx="288" cy="288"/>
            </a:xfrm>
          </p:grpSpPr>
          <p:sp>
            <p:nvSpPr>
              <p:cNvPr id="63" name="Oval 71">
                <a:extLst>
                  <a:ext uri="{FF2B5EF4-FFF2-40B4-BE49-F238E27FC236}">
                    <a16:creationId xmlns:a16="http://schemas.microsoft.com/office/drawing/2014/main" id="{2E3AB955-F0CA-6BA8-F2AC-5802840D0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2064"/>
                <a:ext cx="288" cy="288"/>
              </a:xfrm>
              <a:prstGeom prst="ellipse">
                <a:avLst/>
              </a:prstGeom>
              <a:noFill/>
              <a:ln w="25400">
                <a:solidFill>
                  <a:srgbClr val="3333FF"/>
                </a:solidFill>
                <a:prstDash val="lgDash"/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369664" name="Line 72">
                <a:extLst>
                  <a:ext uri="{FF2B5EF4-FFF2-40B4-BE49-F238E27FC236}">
                    <a16:creationId xmlns:a16="http://schemas.microsoft.com/office/drawing/2014/main" id="{E80A7EF3-F658-1FF3-A950-7E513E8F1B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300000" flipH="1" flipV="1">
                <a:off x="3216" y="2280"/>
                <a:ext cx="96" cy="48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62" name="Rectangle 73">
              <a:extLst>
                <a:ext uri="{FF2B5EF4-FFF2-40B4-BE49-F238E27FC236}">
                  <a16:creationId xmlns:a16="http://schemas.microsoft.com/office/drawing/2014/main" id="{ED31DE64-40DC-DEBD-7682-B507BD4CF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816"/>
              <a:ext cx="24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0000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0"/>
                </a:spcBef>
              </a:pPr>
              <a:r>
                <a:rPr lang="en-US" altLang="zh-CN" sz="2800" baseline="-30000" dirty="0">
                  <a:ea typeface="华文楷体" panose="02010600040101010101" pitchFamily="2" charset="-122"/>
                </a:rPr>
                <a:t>2</a:t>
              </a:r>
            </a:p>
          </p:txBody>
        </p:sp>
      </p:grpSp>
      <p:sp>
        <p:nvSpPr>
          <p:cNvPr id="369672" name="矩形 369671">
            <a:extLst>
              <a:ext uri="{FF2B5EF4-FFF2-40B4-BE49-F238E27FC236}">
                <a16:creationId xmlns:a16="http://schemas.microsoft.com/office/drawing/2014/main" id="{641520B6-34FF-5B7C-D0C1-26931DB5F92C}"/>
              </a:ext>
            </a:extLst>
          </p:cNvPr>
          <p:cNvSpPr/>
          <p:nvPr/>
        </p:nvSpPr>
        <p:spPr>
          <a:xfrm>
            <a:off x="1055305" y="358498"/>
            <a:ext cx="26019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惠斯通电桥</a:t>
            </a:r>
            <a:endParaRPr 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9674" name="矩形 369673">
                <a:extLst>
                  <a:ext uri="{FF2B5EF4-FFF2-40B4-BE49-F238E27FC236}">
                    <a16:creationId xmlns:a16="http://schemas.microsoft.com/office/drawing/2014/main" id="{C6559B07-7F88-2472-0FBB-9FC6082F09B8}"/>
                  </a:ext>
                </a:extLst>
              </p:cNvPr>
              <p:cNvSpPr/>
              <p:nvPr/>
            </p:nvSpPr>
            <p:spPr>
              <a:xfrm>
                <a:off x="848751" y="4999735"/>
                <a:ext cx="4043286" cy="707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60000"/>
                  </a:lnSpc>
                </a:pP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又因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altLang="zh-CN" sz="280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altLang="zh-CN" sz="2800" i="1" baseline="-30000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9674" name="矩形 369673">
                <a:extLst>
                  <a:ext uri="{FF2B5EF4-FFF2-40B4-BE49-F238E27FC236}">
                    <a16:creationId xmlns:a16="http://schemas.microsoft.com/office/drawing/2014/main" id="{C6559B07-7F88-2472-0FBB-9FC6082F09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51" y="4999735"/>
                <a:ext cx="4043286" cy="707053"/>
              </a:xfrm>
              <a:prstGeom prst="rect">
                <a:avLst/>
              </a:prstGeom>
              <a:blipFill>
                <a:blip r:embed="rId25"/>
                <a:stretch>
                  <a:fillRect l="-3017" r="-2112" b="-232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9675" name="Rectangle 13">
                <a:extLst>
                  <a:ext uri="{FF2B5EF4-FFF2-40B4-BE49-F238E27FC236}">
                    <a16:creationId xmlns:a16="http://schemas.microsoft.com/office/drawing/2014/main" id="{718454C9-5467-0292-08B7-FC3B79C5B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9875" y="5114263"/>
                <a:ext cx="4885516" cy="17933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可求得电桥的平衡条件为                                               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dirty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dirty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9675" name="Rectangle 13">
                <a:extLst>
                  <a:ext uri="{FF2B5EF4-FFF2-40B4-BE49-F238E27FC236}">
                    <a16:creationId xmlns:a16="http://schemas.microsoft.com/office/drawing/2014/main" id="{718454C9-5467-0292-08B7-FC3B79C5B0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39875" y="5114263"/>
                <a:ext cx="4885516" cy="1793376"/>
              </a:xfrm>
              <a:prstGeom prst="rect">
                <a:avLst/>
              </a:prstGeom>
              <a:blipFill>
                <a:blip r:embed="rId26"/>
                <a:stretch>
                  <a:fillRect l="-26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37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6" grpId="0"/>
      <p:bldP spid="369667" grpId="0"/>
      <p:bldP spid="2" grpId="0"/>
      <p:bldP spid="3" grpId="0"/>
      <p:bldP spid="369674" grpId="0"/>
      <p:bldP spid="36967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3"/>
              <p:cNvSpPr>
                <a:spLocks noChangeArrowheads="1"/>
              </p:cNvSpPr>
              <p:nvPr/>
            </p:nvSpPr>
            <p:spPr bwMode="auto">
              <a:xfrm>
                <a:off x="943110" y="1628643"/>
                <a:ext cx="4885516" cy="11472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dirty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 dirty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dirty="0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3110" y="1628643"/>
                <a:ext cx="4885516" cy="11472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602" name="Picture 2" descr="惠斯登電橋- 维基百科，自由的百科全书">
            <a:extLst>
              <a:ext uri="{FF2B5EF4-FFF2-40B4-BE49-F238E27FC236}">
                <a16:creationId xmlns:a16="http://schemas.microsoft.com/office/drawing/2014/main" id="{CCA2939D-526D-4EE4-A8E5-FD0AF0AFE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135" y="1160242"/>
            <a:ext cx="2953062" cy="226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0F07C01-EF49-4437-A2F9-9CEFB986365C}"/>
                  </a:ext>
                </a:extLst>
              </p:cNvPr>
              <p:cNvSpPr/>
              <p:nvPr/>
            </p:nvSpPr>
            <p:spPr>
              <a:xfrm>
                <a:off x="1683863" y="2784073"/>
                <a:ext cx="3196192" cy="12980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sz="2800" b="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US" altLang="zh-CN" sz="2800" b="0" i="1" baseline="-25000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altLang="zh-CN" sz="2800" b="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US" altLang="zh-CN" sz="2800" b="0" i="1" baseline="-30000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800" b="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US" altLang="zh-CN" sz="2800" b="0" i="1" baseline="-25000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CN" sz="2800" b="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US" altLang="zh-CN" sz="2800" b="0" i="1" baseline="-30000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3</m:t>
                      </m:r>
                    </m:oMath>
                  </m:oMathPara>
                </a14:m>
                <a:endParaRPr lang="en-US" altLang="zh-CN" sz="2800" dirty="0">
                  <a:solidFill>
                    <a:srgbClr val="0066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0F07C01-EF49-4437-A2F9-9CEFB98636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863" y="2784073"/>
                <a:ext cx="3196192" cy="12980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82C5256D-F1FA-4A48-9D35-A714F78BCDE2}"/>
              </a:ext>
            </a:extLst>
          </p:cNvPr>
          <p:cNvSpPr/>
          <p:nvPr/>
        </p:nvSpPr>
        <p:spPr>
          <a:xfrm>
            <a:off x="1074355" y="703389"/>
            <a:ext cx="26019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惠斯通电桥</a:t>
            </a:r>
            <a:endParaRPr 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D737B69-6471-4CC0-87DB-30BB99B20E26}"/>
                  </a:ext>
                </a:extLst>
              </p:cNvPr>
              <p:cNvSpPr/>
              <p:nvPr/>
            </p:nvSpPr>
            <p:spPr>
              <a:xfrm>
                <a:off x="7233514" y="3634049"/>
                <a:ext cx="2378303" cy="896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US" altLang="zh-CN" sz="2800" b="0" i="1" baseline="-25000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800" b="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US" altLang="zh-CN" sz="2800" b="0" i="1" baseline="-30000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800" b="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US" altLang="zh-CN" sz="2800" b="0" i="1" baseline="-25000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CN" sz="2800" b="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US" altLang="zh-CN" sz="2800" b="0" i="1" baseline="-30000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3</m:t>
                      </m:r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D737B69-6471-4CC0-87DB-30BB99B20E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514" y="3634049"/>
                <a:ext cx="2378303" cy="896143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CF19F91-30BE-4B0E-BCD0-75BF557DAEAE}"/>
                  </a:ext>
                </a:extLst>
              </p:cNvPr>
              <p:cNvSpPr/>
              <p:nvPr/>
            </p:nvSpPr>
            <p:spPr>
              <a:xfrm>
                <a:off x="1289091" y="4586760"/>
                <a:ext cx="9079069" cy="674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调节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达到电桥平衡，由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数值可得出待测电阻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的大小</a:t>
                </a:r>
                <a:endParaRPr lang="en-US" altLang="zh-CN" sz="28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CF19F91-30BE-4B0E-BCD0-75BF557DAE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091" y="4586760"/>
                <a:ext cx="9079069" cy="674736"/>
              </a:xfrm>
              <a:prstGeom prst="rect">
                <a:avLst/>
              </a:prstGeom>
              <a:blipFill>
                <a:blip r:embed="rId6"/>
                <a:stretch>
                  <a:fillRect l="-1342" r="-940" b="-24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04A184C8-CF63-49F1-AC6B-A6BB03AD50A1}"/>
              </a:ext>
            </a:extLst>
          </p:cNvPr>
          <p:cNvSpPr/>
          <p:nvPr/>
        </p:nvSpPr>
        <p:spPr>
          <a:xfrm>
            <a:off x="2836431" y="5766135"/>
            <a:ext cx="61291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相对于伏安法测电阻有什么优势？</a:t>
            </a:r>
            <a:endParaRPr lang="en-US" sz="28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20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54832" y="6047966"/>
                <a:ext cx="5855962" cy="674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为热敏电阻制成温度测量仪</a:t>
                </a:r>
                <a:endParaRPr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32" y="6047966"/>
                <a:ext cx="5855962" cy="674736"/>
              </a:xfrm>
              <a:prstGeom prst="rect">
                <a:avLst/>
              </a:prstGeom>
              <a:blipFill>
                <a:blip r:embed="rId3"/>
                <a:stretch>
                  <a:fillRect l="-2081" b="-24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626" name="Picture 2" descr="惠斯通电桥电路|理论、实例及应用- betway 台球">
            <a:extLst>
              <a:ext uri="{FF2B5EF4-FFF2-40B4-BE49-F238E27FC236}">
                <a16:creationId xmlns:a16="http://schemas.microsoft.com/office/drawing/2014/main" id="{E8A9AB75-47CC-423A-A360-3C340D69E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161" y="2921865"/>
            <a:ext cx="4249069" cy="312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第3章阻抗(电阻、电容、电感)的测量. - ppt download">
            <a:extLst>
              <a:ext uri="{FF2B5EF4-FFF2-40B4-BE49-F238E27FC236}">
                <a16:creationId xmlns:a16="http://schemas.microsoft.com/office/drawing/2014/main" id="{00EED251-84DE-49A7-AAF6-9E89A83411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6" t="28393" r="48977" b="17015"/>
          <a:stretch/>
        </p:blipFill>
        <p:spPr bwMode="auto">
          <a:xfrm>
            <a:off x="7522193" y="1637740"/>
            <a:ext cx="4014975" cy="372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8" name="Picture 4" descr="第3章阻抗(电阻、电容、电感)的测量. - ppt download">
            <a:extLst>
              <a:ext uri="{FF2B5EF4-FFF2-40B4-BE49-F238E27FC236}">
                <a16:creationId xmlns:a16="http://schemas.microsoft.com/office/drawing/2014/main" id="{71B432AA-510A-4F52-99DB-207102FE67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77" t="30043" r="9069" b="56509"/>
          <a:stretch/>
        </p:blipFill>
        <p:spPr bwMode="auto">
          <a:xfrm>
            <a:off x="9077939" y="5636231"/>
            <a:ext cx="1408657" cy="823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AD6DDC9-512B-4055-BC84-91AABD761DDC}"/>
                  </a:ext>
                </a:extLst>
              </p:cNvPr>
              <p:cNvSpPr/>
              <p:nvPr/>
            </p:nvSpPr>
            <p:spPr>
              <a:xfrm>
                <a:off x="654832" y="1288164"/>
                <a:ext cx="6096000" cy="132343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采用与压强成正比的锰铜电阻，即可制成压强计，可测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万个大气压</a:t>
                </a:r>
                <a:endParaRPr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AD6DDC9-512B-4055-BC84-91AABD761D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32" y="1288164"/>
                <a:ext cx="6096000" cy="1323439"/>
              </a:xfrm>
              <a:prstGeom prst="rect">
                <a:avLst/>
              </a:prstGeom>
              <a:blipFill>
                <a:blip r:embed="rId6"/>
                <a:stretch>
                  <a:fillRect l="-2000" r="-8000" b="-119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AFD9F285-F9FB-185D-336B-DD33D00B75B0}"/>
              </a:ext>
            </a:extLst>
          </p:cNvPr>
          <p:cNvSpPr/>
          <p:nvPr/>
        </p:nvSpPr>
        <p:spPr>
          <a:xfrm>
            <a:off x="1074355" y="703389"/>
            <a:ext cx="26019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惠斯通电桥</a:t>
            </a:r>
            <a:endParaRPr lang="en-US" sz="32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847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6">
                <a:extLst>
                  <a:ext uri="{FF2B5EF4-FFF2-40B4-BE49-F238E27FC236}">
                    <a16:creationId xmlns:a16="http://schemas.microsoft.com/office/drawing/2014/main" id="{6CEC1746-4BFA-4D7D-9AD9-D919785896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15144" y="4519122"/>
                <a:ext cx="4214153" cy="138717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30000"/>
                  </a:lnSpc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  <a:ea typeface="+mn-ea"/>
                      </a:rPr>
                      <m:t>𝑝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zh-CN" altLang="en-US" b="0" i="1" kern="0">
                        <a:latin typeface="Cambria Math" panose="02040503050406030204" pitchFamily="18" charset="0"/>
                        <a:ea typeface="+mn-ea"/>
                      </a:rPr>
                      <m:t>𝜎</m:t>
                    </m:r>
                    <m:sSup>
                      <m:sSupPr>
                        <m:ctrlPr>
                          <a:rPr lang="en-US" altLang="zh-CN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b="0" i="1" kern="0">
                            <a:latin typeface="Cambria Math" panose="02040503050406030204" pitchFamily="18" charset="0"/>
                            <a:ea typeface="+mn-ea"/>
                          </a:rPr>
                          <m:t>𝐸</m:t>
                        </m:r>
                      </m:e>
                      <m:sup>
                        <m:r>
                          <a:rPr lang="en-US" altLang="zh-CN" b="0" i="1" kern="0"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kern="0" dirty="0">
                    <a:latin typeface="华文楷体" panose="02010600040101010101" pitchFamily="2" charset="-122"/>
                  </a:rPr>
                  <a:t>      </a:t>
                </a:r>
                <a:r>
                  <a:rPr lang="zh-CN" altLang="en-US" kern="0" dirty="0">
                    <a:latin typeface="华文楷体" panose="02010600040101010101" pitchFamily="2" charset="-122"/>
                  </a:rPr>
                  <a:t>𝑝：功率密度</a:t>
                </a:r>
                <a:r>
                  <a:rPr lang="en-US" altLang="zh-CN" kern="0" dirty="0">
                    <a:latin typeface="华文楷体" panose="02010600040101010101" pitchFamily="2" charset="-122"/>
                  </a:rPr>
                  <a:t>   </a:t>
                </a:r>
                <a:br>
                  <a:rPr lang="en-US" altLang="zh-CN" kern="0" dirty="0">
                    <a:latin typeface="华文楷体" panose="02010600040101010101" pitchFamily="2" charset="-122"/>
                  </a:rPr>
                </a:br>
                <a:r>
                  <a:rPr lang="en-US" altLang="zh-CN" kern="0" dirty="0">
                    <a:latin typeface="华文楷体" panose="02010600040101010101" pitchFamily="2" charset="-122"/>
                  </a:rPr>
                  <a:t>    </a:t>
                </a:r>
                <a:r>
                  <a:rPr lang="zh-CN" altLang="en-US" kern="0" dirty="0">
                    <a:latin typeface="华文楷体" panose="02010600040101010101" pitchFamily="2" charset="-122"/>
                  </a:rPr>
                  <a:t>焦耳定律的微分形式</a:t>
                </a:r>
                <a:endParaRPr lang="zh-CN" altLang="en-US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" name="内容占位符 6">
                <a:extLst>
                  <a:ext uri="{FF2B5EF4-FFF2-40B4-BE49-F238E27FC236}">
                    <a16:creationId xmlns:a16="http://schemas.microsoft.com/office/drawing/2014/main" id="{6CEC1746-4BFA-4D7D-9AD9-D91978589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144" y="4519122"/>
                <a:ext cx="4214153" cy="13871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7553DE04-850D-4FB2-A38D-33A5082E43C0}"/>
              </a:ext>
            </a:extLst>
          </p:cNvPr>
          <p:cNvSpPr/>
          <p:nvPr/>
        </p:nvSpPr>
        <p:spPr>
          <a:xfrm>
            <a:off x="855929" y="1459392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ea typeface="华文楷体" panose="02010600040101010101" pitchFamily="2" charset="-122"/>
              </a:rPr>
              <a:t>电阻导致温度升高</a:t>
            </a:r>
            <a:endParaRPr lang="en-US" sz="2800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4D85B1C-3BF7-4B61-8373-EB87D513DB0D}"/>
                  </a:ext>
                </a:extLst>
              </p:cNvPr>
              <p:cNvSpPr/>
              <p:nvPr/>
            </p:nvSpPr>
            <p:spPr>
              <a:xfrm>
                <a:off x="410403" y="3532157"/>
                <a:ext cx="7063683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8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𝑑𝑡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内通过用电设备的电量</a:t>
                </a:r>
                <a:r>
                  <a:rPr lang="en-US" altLang="zh-CN" sz="2800" kern="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𝑑𝑞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𝐼𝑑𝑡</m:t>
                      </m:r>
                    </m:oMath>
                  </m:oMathPara>
                </a14:m>
                <a:endParaRPr lang="en-US" altLang="zh-CN" sz="2800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800" kern="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电势能的减少量（转换为其它形式能量）</a:t>
                </a:r>
                <a:r>
                  <a:rPr lang="en-US" altLang="zh-CN" sz="2800" kern="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𝑑𝑊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𝑑𝑞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𝐼𝑑𝑡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sz="2800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4D85B1C-3BF7-4B61-8373-EB87D513DB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03" y="3532157"/>
                <a:ext cx="7063683" cy="2677656"/>
              </a:xfrm>
              <a:prstGeom prst="rect">
                <a:avLst/>
              </a:prstGeom>
              <a:blipFill>
                <a:blip r:embed="rId3"/>
                <a:stretch>
                  <a:fillRect l="-17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9920510F-CBC9-427C-B719-D4E7807F9AD2}"/>
              </a:ext>
            </a:extLst>
          </p:cNvPr>
          <p:cNvGrpSpPr/>
          <p:nvPr/>
        </p:nvGrpSpPr>
        <p:grpSpPr>
          <a:xfrm>
            <a:off x="671805" y="2350209"/>
            <a:ext cx="4088330" cy="1160377"/>
            <a:chOff x="1954993" y="1948681"/>
            <a:chExt cx="5055407" cy="156725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803589B-9E41-4E91-B86A-27ECEF806BA3}"/>
                </a:ext>
              </a:extLst>
            </p:cNvPr>
            <p:cNvSpPr/>
            <p:nvPr/>
          </p:nvSpPr>
          <p:spPr bwMode="auto">
            <a:xfrm>
              <a:off x="3470084" y="2224190"/>
              <a:ext cx="2025225" cy="585065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用电设备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6C0A87EE-F160-4AD5-ACD1-FF43B467DEA2}"/>
                </a:ext>
              </a:extLst>
            </p:cNvPr>
            <p:cNvCxnSpPr>
              <a:endCxn id="9" idx="1"/>
            </p:cNvCxnSpPr>
            <p:nvPr/>
          </p:nvCxnSpPr>
          <p:spPr bwMode="auto">
            <a:xfrm>
              <a:off x="1954993" y="2516722"/>
              <a:ext cx="1515091" cy="1"/>
            </a:xfrm>
            <a:prstGeom prst="line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oval" w="med" len="med"/>
              <a:tailEnd type="oval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D64919C6-0B4B-4ADB-9DA3-FB64850EAADD}"/>
                </a:ext>
              </a:extLst>
            </p:cNvPr>
            <p:cNvCxnSpPr/>
            <p:nvPr/>
          </p:nvCxnSpPr>
          <p:spPr bwMode="auto">
            <a:xfrm>
              <a:off x="5495309" y="2516722"/>
              <a:ext cx="1515091" cy="1"/>
            </a:xfrm>
            <a:prstGeom prst="line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oval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100A736-1BA0-42CF-B676-8AD4816C5761}"/>
                    </a:ext>
                  </a:extLst>
                </p:cNvPr>
                <p:cNvSpPr txBox="1"/>
                <p:nvPr/>
              </p:nvSpPr>
              <p:spPr>
                <a:xfrm>
                  <a:off x="2982767" y="2516722"/>
                  <a:ext cx="616857" cy="706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2400" i="1">
                      <a:solidFill>
                        <a:srgbClr val="0000FF"/>
                      </a:solidFill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2800" dirty="0"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100A736-1BA0-42CF-B676-8AD4816C57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2767" y="2516722"/>
                  <a:ext cx="616857" cy="70668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560283F-D631-4AC5-86CC-0D996D52BEA1}"/>
                    </a:ext>
                  </a:extLst>
                </p:cNvPr>
                <p:cNvSpPr txBox="1"/>
                <p:nvPr/>
              </p:nvSpPr>
              <p:spPr>
                <a:xfrm>
                  <a:off x="5514614" y="2516722"/>
                  <a:ext cx="660465" cy="706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560283F-D631-4AC5-86CC-0D996D52B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4614" y="2516722"/>
                  <a:ext cx="660465" cy="70668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F08E42D-D09B-4325-B984-FE342A031F70}"/>
                    </a:ext>
                  </a:extLst>
                </p:cNvPr>
                <p:cNvSpPr txBox="1"/>
                <p:nvPr/>
              </p:nvSpPr>
              <p:spPr>
                <a:xfrm>
                  <a:off x="5999042" y="1948681"/>
                  <a:ext cx="533604" cy="7772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F08E42D-D09B-4325-B984-FE342A031F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9042" y="1948681"/>
                  <a:ext cx="533604" cy="7772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C5E9909-4CEE-4055-82C6-E6C067A5ECB1}"/>
                    </a:ext>
                  </a:extLst>
                </p:cNvPr>
                <p:cNvSpPr txBox="1"/>
                <p:nvPr/>
              </p:nvSpPr>
              <p:spPr>
                <a:xfrm>
                  <a:off x="4270659" y="2809254"/>
                  <a:ext cx="617093" cy="706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2400" i="1">
                      <a:solidFill>
                        <a:srgbClr val="0000FF"/>
                      </a:solidFill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CN" altLang="en-US" sz="2800" dirty="0"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C5E9909-4CEE-4055-82C6-E6C067A5EC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0659" y="2809254"/>
                  <a:ext cx="617093" cy="70668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B64C935-B5AE-4438-A89F-79A1E6A1AA4B}"/>
                  </a:ext>
                </a:extLst>
              </p:cNvPr>
              <p:cNvSpPr/>
              <p:nvPr/>
            </p:nvSpPr>
            <p:spPr>
              <a:xfrm>
                <a:off x="5067923" y="1459392"/>
                <a:ext cx="8130284" cy="25462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𝑑𝑊</m:t>
                          </m:r>
                        </m:num>
                        <m:den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𝑑𝑡</m:t>
                          </m:r>
                        </m:den>
                      </m:f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𝐼𝑉</m:t>
                      </m:r>
                    </m:oMath>
                  </m:oMathPara>
                </a14:m>
                <a:endParaRPr lang="en-US" altLang="zh-CN" sz="2800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800" kern="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对于纯导体，减少的电能全部转换为焦耳热：</a:t>
                </a:r>
                <a:endParaRPr lang="en-US" altLang="zh-CN" sz="2800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algn="ctr"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𝑃</m:t>
                    </m:r>
                    <m:r>
                      <a:rPr lang="en-US" altLang="zh-CN" sz="2800" b="0" i="1" kern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r>
                      <a:rPr lang="en-US" altLang="zh-CN" sz="2800" b="0" i="1" kern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𝐼𝑉</m:t>
                    </m:r>
                    <m:r>
                      <a:rPr lang="en-US" altLang="zh-CN" sz="2800" b="0" i="1" kern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800" i="1" ker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pPr>
                      <m:e>
                        <m:r>
                          <a:rPr lang="en-US" altLang="zh-CN" sz="2800" b="0" i="1" ker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𝐼</m:t>
                        </m:r>
                      </m:e>
                      <m:sup>
                        <m:r>
                          <a:rPr lang="en-US" altLang="zh-CN" sz="2800" b="0" i="1" ker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2800" b="0" i="1" ker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𝑅</m:t>
                    </m:r>
                  </m:oMath>
                </a14:m>
                <a:r>
                  <a:rPr lang="en-US" altLang="zh-CN" sz="2800" kern="0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</a:t>
                </a:r>
                <a:r>
                  <a:rPr lang="zh-CN" altLang="en-US" sz="2800" kern="0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焦耳定律</a:t>
                </a:r>
                <a:endParaRPr lang="zh-CN" altLang="en-US" sz="2800" dirty="0">
                  <a:solidFill>
                    <a:srgbClr val="0066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B64C935-B5AE-4438-A89F-79A1E6A1AA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923" y="1459392"/>
                <a:ext cx="8130284" cy="2546274"/>
              </a:xfrm>
              <a:prstGeom prst="rect">
                <a:avLst/>
              </a:prstGeom>
              <a:blipFill>
                <a:blip r:embed="rId8"/>
                <a:stretch>
                  <a:fillRect l="-1499" b="-57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CE451F6A-F7EB-451E-B861-EA6934F79E7D}"/>
              </a:ext>
            </a:extLst>
          </p:cNvPr>
          <p:cNvSpPr/>
          <p:nvPr/>
        </p:nvSpPr>
        <p:spPr>
          <a:xfrm>
            <a:off x="855929" y="450778"/>
            <a:ext cx="21916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焦耳定律</a:t>
            </a:r>
            <a:endParaRPr lang="en-US" sz="32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32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12199" y="231662"/>
            <a:ext cx="5113445" cy="1117171"/>
          </a:xfrm>
        </p:spPr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p"/>
            </a:pPr>
            <a:r>
              <a:rPr lang="zh-CN" altLang="en-US" sz="3200" dirty="0">
                <a:solidFill>
                  <a:srgbClr val="0066FF"/>
                </a:solidFill>
                <a:latin typeface="华文楷体" panose="02010600040101010101" pitchFamily="2" charset="-122"/>
              </a:rPr>
              <a:t>电容器的充电与放电</a:t>
            </a:r>
            <a:endParaRPr lang="zh-CN" altLang="en-US" sz="3200" dirty="0">
              <a:solidFill>
                <a:srgbClr val="0066FF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r="51502"/>
          <a:stretch/>
        </p:blipFill>
        <p:spPr>
          <a:xfrm>
            <a:off x="7515556" y="3704485"/>
            <a:ext cx="4120984" cy="31535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l="25051" t="12804" r="26332" b="13071"/>
          <a:stretch/>
        </p:blipFill>
        <p:spPr>
          <a:xfrm>
            <a:off x="1053264" y="1768446"/>
            <a:ext cx="2856672" cy="20627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43C8D081-5B6B-4AF7-8FFD-915D295D5084}"/>
                  </a:ext>
                </a:extLst>
              </p:cNvPr>
              <p:cNvSpPr txBox="1"/>
              <p:nvPr/>
            </p:nvSpPr>
            <p:spPr bwMode="auto">
              <a:xfrm>
                <a:off x="4541156" y="1663388"/>
                <a:ext cx="3109687" cy="75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43C8D081-5B6B-4AF7-8FFD-915D295D5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1156" y="1663388"/>
                <a:ext cx="3109687" cy="754918"/>
              </a:xfrm>
              <a:prstGeom prst="rect">
                <a:avLst/>
              </a:prstGeom>
              <a:blipFill>
                <a:blip r:embed="rId4"/>
                <a:stretch>
                  <a:fillRect b="-24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8">
                <a:extLst>
                  <a:ext uri="{FF2B5EF4-FFF2-40B4-BE49-F238E27FC236}">
                    <a16:creationId xmlns:a16="http://schemas.microsoft.com/office/drawing/2014/main" id="{9ED6F369-4DB9-48E2-AC17-B2293B16C4CD}"/>
                  </a:ext>
                </a:extLst>
              </p:cNvPr>
              <p:cNvSpPr txBox="1"/>
              <p:nvPr/>
            </p:nvSpPr>
            <p:spPr bwMode="auto">
              <a:xfrm>
                <a:off x="4823199" y="2647897"/>
                <a:ext cx="1246238" cy="807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Object 38">
                <a:extLst>
                  <a:ext uri="{FF2B5EF4-FFF2-40B4-BE49-F238E27FC236}">
                    <a16:creationId xmlns:a16="http://schemas.microsoft.com/office/drawing/2014/main" id="{9ED6F369-4DB9-48E2-AC17-B2293B16C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23199" y="2647897"/>
                <a:ext cx="1246238" cy="807050"/>
              </a:xfrm>
              <a:prstGeom prst="rect">
                <a:avLst/>
              </a:prstGeom>
              <a:blipFill>
                <a:blip r:embed="rId5"/>
                <a:stretch>
                  <a:fillRect b="-60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9">
                <a:extLst>
                  <a:ext uri="{FF2B5EF4-FFF2-40B4-BE49-F238E27FC236}">
                    <a16:creationId xmlns:a16="http://schemas.microsoft.com/office/drawing/2014/main" id="{ABADDA90-6B75-4960-B50F-EB387A86AA4B}"/>
                  </a:ext>
                </a:extLst>
              </p:cNvPr>
              <p:cNvSpPr txBox="1"/>
              <p:nvPr/>
            </p:nvSpPr>
            <p:spPr bwMode="auto">
              <a:xfrm>
                <a:off x="6982700" y="2673943"/>
                <a:ext cx="2727357" cy="75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𝐶𝑅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Object 39">
                <a:extLst>
                  <a:ext uri="{FF2B5EF4-FFF2-40B4-BE49-F238E27FC236}">
                    <a16:creationId xmlns:a16="http://schemas.microsoft.com/office/drawing/2014/main" id="{ABADDA90-6B75-4960-B50F-EB387A86A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82700" y="2673943"/>
                <a:ext cx="2727357" cy="754918"/>
              </a:xfrm>
              <a:prstGeom prst="rect">
                <a:avLst/>
              </a:prstGeom>
              <a:blipFill>
                <a:blip r:embed="rId6"/>
                <a:stretch>
                  <a:fillRect b="-138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71">
                <a:extLst>
                  <a:ext uri="{FF2B5EF4-FFF2-40B4-BE49-F238E27FC236}">
                    <a16:creationId xmlns:a16="http://schemas.microsoft.com/office/drawing/2014/main" id="{02874FE8-21D2-4ED5-98E5-6775668B133A}"/>
                  </a:ext>
                </a:extLst>
              </p:cNvPr>
              <p:cNvSpPr txBox="1"/>
              <p:nvPr/>
            </p:nvSpPr>
            <p:spPr bwMode="auto">
              <a:xfrm>
                <a:off x="4757791" y="3947089"/>
                <a:ext cx="3259138" cy="1131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Object 71">
                <a:extLst>
                  <a:ext uri="{FF2B5EF4-FFF2-40B4-BE49-F238E27FC236}">
                    <a16:creationId xmlns:a16="http://schemas.microsoft.com/office/drawing/2014/main" id="{02874FE8-21D2-4ED5-98E5-6775668B1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7791" y="3947089"/>
                <a:ext cx="3259138" cy="1131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282B2436-81A9-4BA8-BC84-FFE0F8C7D0C4}"/>
              </a:ext>
            </a:extLst>
          </p:cNvPr>
          <p:cNvSpPr/>
          <p:nvPr/>
        </p:nvSpPr>
        <p:spPr>
          <a:xfrm>
            <a:off x="4810101" y="1234479"/>
            <a:ext cx="13803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充电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75">
                <a:extLst>
                  <a:ext uri="{FF2B5EF4-FFF2-40B4-BE49-F238E27FC236}">
                    <a16:creationId xmlns:a16="http://schemas.microsoft.com/office/drawing/2014/main" id="{8088A5A5-D598-4F94-8406-A6BE5A47F4BF}"/>
                  </a:ext>
                </a:extLst>
              </p:cNvPr>
              <p:cNvSpPr txBox="1"/>
              <p:nvPr/>
            </p:nvSpPr>
            <p:spPr bwMode="auto">
              <a:xfrm>
                <a:off x="3278570" y="4983730"/>
                <a:ext cx="1293812" cy="476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zh-CN" alt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𝑅𝐶</m:t>
                      </m:r>
                    </m:oMath>
                  </m:oMathPara>
                </a14:m>
                <a:endParaRPr lang="zh-CN" alt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3" name="Object 75">
                <a:extLst>
                  <a:ext uri="{FF2B5EF4-FFF2-40B4-BE49-F238E27FC236}">
                    <a16:creationId xmlns:a16="http://schemas.microsoft.com/office/drawing/2014/main" id="{8088A5A5-D598-4F94-8406-A6BE5A47F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8570" y="4983730"/>
                <a:ext cx="1293812" cy="4762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4">
            <a:extLst>
              <a:ext uri="{FF2B5EF4-FFF2-40B4-BE49-F238E27FC236}">
                <a16:creationId xmlns:a16="http://schemas.microsoft.com/office/drawing/2014/main" id="{6AF13EB3-2FBD-4D4B-B3E9-111EA31E6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5952" y="5549105"/>
            <a:ext cx="36576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特征</a:t>
            </a:r>
            <a:r>
              <a:rPr kumimoji="0" lang="zh-CN" altLang="en-US" sz="2800" b="1" dirty="0">
                <a:solidFill>
                  <a:srgbClr val="0066FF"/>
                </a:solidFill>
                <a:ea typeface="华文楷体" panose="02010600040101010101" pitchFamily="2" charset="-122"/>
              </a:rPr>
              <a:t>时间常量</a:t>
            </a:r>
          </a:p>
        </p:txBody>
      </p:sp>
    </p:spTree>
    <p:extLst>
      <p:ext uri="{BB962C8B-B14F-4D97-AF65-F5344CB8AC3E}">
        <p14:creationId xmlns:p14="http://schemas.microsoft.com/office/powerpoint/2010/main" val="20201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3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C57C5452-D77C-4735-A4EF-6001999E46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586" t="4557" r="-1084" b="-4557"/>
          <a:stretch/>
        </p:blipFill>
        <p:spPr>
          <a:xfrm>
            <a:off x="7823265" y="3858362"/>
            <a:ext cx="3919899" cy="2999638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12199" y="231662"/>
            <a:ext cx="5113445" cy="1117171"/>
          </a:xfrm>
        </p:spPr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p"/>
            </a:pPr>
            <a:r>
              <a:rPr lang="zh-CN" altLang="en-US" sz="3200" dirty="0">
                <a:solidFill>
                  <a:srgbClr val="0066FF"/>
                </a:solidFill>
                <a:latin typeface="华文楷体" panose="02010600040101010101" pitchFamily="2" charset="-122"/>
              </a:rPr>
              <a:t>电容器的充电与放电</a:t>
            </a:r>
            <a:endParaRPr lang="zh-CN" altLang="en-US" sz="3200" dirty="0">
              <a:solidFill>
                <a:srgbClr val="0066FF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l="25051" t="12804" r="26332" b="13071"/>
          <a:stretch/>
        </p:blipFill>
        <p:spPr>
          <a:xfrm>
            <a:off x="668635" y="1410351"/>
            <a:ext cx="2856672" cy="206273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A02FE55-1A5D-446A-BCD7-028AEA7CC47C}"/>
              </a:ext>
            </a:extLst>
          </p:cNvPr>
          <p:cNvSpPr/>
          <p:nvPr/>
        </p:nvSpPr>
        <p:spPr>
          <a:xfrm>
            <a:off x="4293865" y="1148741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放电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6">
                <a:extLst>
                  <a:ext uri="{FF2B5EF4-FFF2-40B4-BE49-F238E27FC236}">
                    <a16:creationId xmlns:a16="http://schemas.microsoft.com/office/drawing/2014/main" id="{EA6B0175-BD1B-47DF-95DF-AEDCF161E3C8}"/>
                  </a:ext>
                </a:extLst>
              </p:cNvPr>
              <p:cNvSpPr txBox="1"/>
              <p:nvPr/>
            </p:nvSpPr>
            <p:spPr bwMode="auto">
              <a:xfrm>
                <a:off x="5525644" y="1075061"/>
                <a:ext cx="2055813" cy="119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𝑖𝑅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Object 6">
                <a:extLst>
                  <a:ext uri="{FF2B5EF4-FFF2-40B4-BE49-F238E27FC236}">
                    <a16:creationId xmlns:a16="http://schemas.microsoft.com/office/drawing/2014/main" id="{EA6B0175-BD1B-47DF-95DF-AEDCF161E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5644" y="1075061"/>
                <a:ext cx="2055813" cy="1193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42">
                <a:extLst>
                  <a:ext uri="{FF2B5EF4-FFF2-40B4-BE49-F238E27FC236}">
                    <a16:creationId xmlns:a16="http://schemas.microsoft.com/office/drawing/2014/main" id="{10465564-FE6B-4135-A3FE-34D92CA3F549}"/>
                  </a:ext>
                </a:extLst>
              </p:cNvPr>
              <p:cNvSpPr txBox="1"/>
              <p:nvPr/>
            </p:nvSpPr>
            <p:spPr bwMode="auto">
              <a:xfrm>
                <a:off x="6998625" y="2207682"/>
                <a:ext cx="2305031" cy="7106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𝐶𝑅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Object 42">
                <a:extLst>
                  <a:ext uri="{FF2B5EF4-FFF2-40B4-BE49-F238E27FC236}">
                    <a16:creationId xmlns:a16="http://schemas.microsoft.com/office/drawing/2014/main" id="{10465564-FE6B-4135-A3FE-34D92CA3F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98625" y="2207682"/>
                <a:ext cx="2305031" cy="710642"/>
              </a:xfrm>
              <a:prstGeom prst="rect">
                <a:avLst/>
              </a:prstGeom>
              <a:blipFill>
                <a:blip r:embed="rId5"/>
                <a:stretch>
                  <a:fillRect b="-205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8">
                <a:extLst>
                  <a:ext uri="{FF2B5EF4-FFF2-40B4-BE49-F238E27FC236}">
                    <a16:creationId xmlns:a16="http://schemas.microsoft.com/office/drawing/2014/main" id="{4589A129-E30B-449A-BAF7-2F6C3FA36F14}"/>
                  </a:ext>
                </a:extLst>
              </p:cNvPr>
              <p:cNvSpPr txBox="1"/>
              <p:nvPr/>
            </p:nvSpPr>
            <p:spPr bwMode="auto">
              <a:xfrm>
                <a:off x="4390830" y="2207682"/>
                <a:ext cx="2162720" cy="806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Object 38">
                <a:extLst>
                  <a:ext uri="{FF2B5EF4-FFF2-40B4-BE49-F238E27FC236}">
                    <a16:creationId xmlns:a16="http://schemas.microsoft.com/office/drawing/2014/main" id="{4589A129-E30B-449A-BAF7-2F6C3FA36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0830" y="2207682"/>
                <a:ext cx="2162720" cy="806450"/>
              </a:xfrm>
              <a:prstGeom prst="rect">
                <a:avLst/>
              </a:prstGeom>
              <a:blipFill>
                <a:blip r:embed="rId6"/>
                <a:stretch>
                  <a:fillRect b="-68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">
                <a:extLst>
                  <a:ext uri="{FF2B5EF4-FFF2-40B4-BE49-F238E27FC236}">
                    <a16:creationId xmlns:a16="http://schemas.microsoft.com/office/drawing/2014/main" id="{34EC262F-5193-4CBD-9B84-CE941B5D3573}"/>
                  </a:ext>
                </a:extLst>
              </p:cNvPr>
              <p:cNvSpPr txBox="1"/>
              <p:nvPr/>
            </p:nvSpPr>
            <p:spPr bwMode="auto">
              <a:xfrm>
                <a:off x="5310582" y="3416666"/>
                <a:ext cx="2485935" cy="12685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Object 3">
                <a:extLst>
                  <a:ext uri="{FF2B5EF4-FFF2-40B4-BE49-F238E27FC236}">
                    <a16:creationId xmlns:a16="http://schemas.microsoft.com/office/drawing/2014/main" id="{34EC262F-5193-4CBD-9B84-CE941B5D3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0582" y="3416666"/>
                <a:ext cx="2485935" cy="12685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2167123" y="1761744"/>
            <a:ext cx="976979" cy="1411356"/>
            <a:chOff x="2167123" y="1761744"/>
            <a:chExt cx="976979" cy="1411356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B9E9DACE-B57E-4AF9-80D0-5EF3C40B1F68}"/>
                </a:ext>
              </a:extLst>
            </p:cNvPr>
            <p:cNvGrpSpPr/>
            <p:nvPr/>
          </p:nvGrpSpPr>
          <p:grpSpPr>
            <a:xfrm>
              <a:off x="2751656" y="2165269"/>
              <a:ext cx="392446" cy="1007831"/>
              <a:chOff x="7162146" y="2359359"/>
              <a:chExt cx="2699377" cy="1007831"/>
            </a:xfrm>
          </p:grpSpPr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8D16AC54-B6AB-4BA7-B372-B7DE25D83316}"/>
                  </a:ext>
                </a:extLst>
              </p:cNvPr>
              <p:cNvCxnSpPr/>
              <p:nvPr/>
            </p:nvCxnSpPr>
            <p:spPr>
              <a:xfrm flipV="1">
                <a:off x="7162146" y="2359359"/>
                <a:ext cx="0" cy="98035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6D1C65F8-4E7E-49E0-95A9-FACE98D862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162146" y="2359360"/>
                <a:ext cx="2699377" cy="30638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A3B76D37-9B14-4E20-8B70-70350D0F0928}"/>
                  </a:ext>
                </a:extLst>
              </p:cNvPr>
              <p:cNvCxnSpPr/>
              <p:nvPr/>
            </p:nvCxnSpPr>
            <p:spPr>
              <a:xfrm>
                <a:off x="9861523" y="2401772"/>
                <a:ext cx="0" cy="96541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8D16AC54-B6AB-4BA7-B372-B7DE25D83316}"/>
                </a:ext>
              </a:extLst>
            </p:cNvPr>
            <p:cNvCxnSpPr/>
            <p:nvPr/>
          </p:nvCxnSpPr>
          <p:spPr>
            <a:xfrm flipV="1">
              <a:off x="2167123" y="1761744"/>
              <a:ext cx="179128" cy="31502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75">
                <a:extLst>
                  <a:ext uri="{FF2B5EF4-FFF2-40B4-BE49-F238E27FC236}">
                    <a16:creationId xmlns:a16="http://schemas.microsoft.com/office/drawing/2014/main" id="{CD597511-5889-316E-0AB4-E6204ACB42AB}"/>
                  </a:ext>
                </a:extLst>
              </p:cNvPr>
              <p:cNvSpPr txBox="1"/>
              <p:nvPr/>
            </p:nvSpPr>
            <p:spPr bwMode="auto">
              <a:xfrm>
                <a:off x="4359439" y="4882274"/>
                <a:ext cx="1293812" cy="476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zh-CN" alt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𝑅𝐶</m:t>
                      </m:r>
                    </m:oMath>
                  </m:oMathPara>
                </a14:m>
                <a:endParaRPr lang="zh-CN" alt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" name="Object 75">
                <a:extLst>
                  <a:ext uri="{FF2B5EF4-FFF2-40B4-BE49-F238E27FC236}">
                    <a16:creationId xmlns:a16="http://schemas.microsoft.com/office/drawing/2014/main" id="{CD597511-5889-316E-0AB4-E6204ACB4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9439" y="4882274"/>
                <a:ext cx="1293812" cy="4762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4">
            <a:extLst>
              <a:ext uri="{FF2B5EF4-FFF2-40B4-BE49-F238E27FC236}">
                <a16:creationId xmlns:a16="http://schemas.microsoft.com/office/drawing/2014/main" id="{361EC0E9-C038-6ADD-CD46-2E3F923D1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6821" y="5447649"/>
            <a:ext cx="36576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特征</a:t>
            </a:r>
            <a:r>
              <a:rPr kumimoji="0" lang="zh-CN" altLang="en-US" sz="2800" b="1" dirty="0">
                <a:solidFill>
                  <a:srgbClr val="0066FF"/>
                </a:solidFill>
                <a:ea typeface="华文楷体" panose="02010600040101010101" pitchFamily="2" charset="-122"/>
              </a:rPr>
              <a:t>时间常量</a:t>
            </a:r>
          </a:p>
        </p:txBody>
      </p:sp>
    </p:spTree>
    <p:extLst>
      <p:ext uri="{BB962C8B-B14F-4D97-AF65-F5344CB8AC3E}">
        <p14:creationId xmlns:p14="http://schemas.microsoft.com/office/powerpoint/2010/main" val="8752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7" grpId="0"/>
      <p:bldP spid="21" grpId="0"/>
      <p:bldP spid="30" grpId="0"/>
      <p:bldP spid="2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1BD76B1-4C11-41A9-A868-5BF0590FD187}"/>
              </a:ext>
            </a:extLst>
          </p:cNvPr>
          <p:cNvGrpSpPr/>
          <p:nvPr/>
        </p:nvGrpSpPr>
        <p:grpSpPr>
          <a:xfrm>
            <a:off x="316648" y="3642268"/>
            <a:ext cx="5688011" cy="2538095"/>
            <a:chOff x="479109" y="1795145"/>
            <a:chExt cx="5261291" cy="2090141"/>
          </a:xfrm>
        </p:grpSpPr>
        <p:pic>
          <p:nvPicPr>
            <p:cNvPr id="1026" name="Picture 2" descr="无论是第一次还是今后的每一次“它”都必须正常工作！ - 知乎">
              <a:extLst>
                <a:ext uri="{FF2B5EF4-FFF2-40B4-BE49-F238E27FC236}">
                  <a16:creationId xmlns:a16="http://schemas.microsoft.com/office/drawing/2014/main" id="{69ACC721-ADBD-40AA-B9B6-2AE0A16A21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7" b="3765"/>
            <a:stretch/>
          </p:blipFill>
          <p:spPr bwMode="auto">
            <a:xfrm>
              <a:off x="479109" y="1795145"/>
              <a:ext cx="5261291" cy="20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56FA27-8E78-4EEF-99CE-0F95275AED73}"/>
                </a:ext>
              </a:extLst>
            </p:cNvPr>
            <p:cNvSpPr/>
            <p:nvPr/>
          </p:nvSpPr>
          <p:spPr>
            <a:xfrm>
              <a:off x="4693920" y="3647440"/>
              <a:ext cx="980440" cy="2378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80A44DC8-43BC-E72F-7C87-B58A53B58CB2}"/>
              </a:ext>
            </a:extLst>
          </p:cNvPr>
          <p:cNvSpPr txBox="1">
            <a:spLocks/>
          </p:cNvSpPr>
          <p:nvPr/>
        </p:nvSpPr>
        <p:spPr>
          <a:xfrm>
            <a:off x="412199" y="231662"/>
            <a:ext cx="3438441" cy="11171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楷体" panose="02010600040101010101" pitchFamily="2" charset="-122"/>
                <a:cs typeface="+mj-cs"/>
              </a:defRPr>
            </a:lvl1pPr>
          </a:lstStyle>
          <a:p>
            <a:pPr marL="457200" indent="-457200" algn="ctr">
              <a:buFont typeface="Wingdings" panose="05000000000000000000" pitchFamily="2" charset="2"/>
              <a:buChar char="p"/>
            </a:pPr>
            <a:r>
              <a:rPr lang="zh-CN" altLang="en-US" sz="3200" dirty="0">
                <a:solidFill>
                  <a:srgbClr val="0066FF"/>
                </a:solidFill>
                <a:latin typeface="华文楷体" panose="02010600040101010101" pitchFamily="2" charset="-122"/>
              </a:rPr>
              <a:t>心脏除颤器</a:t>
            </a:r>
            <a:endParaRPr lang="zh-CN" altLang="en-US" sz="3200" dirty="0">
              <a:solidFill>
                <a:srgbClr val="0066FF"/>
              </a:solidFill>
            </a:endParaRPr>
          </a:p>
        </p:txBody>
      </p:sp>
      <p:pic>
        <p:nvPicPr>
          <p:cNvPr id="5" name="Picture 2" descr="突发心脏骤停急救神器AED自动体外除颤仪怎么使用？把握黄金救命4分钟！-北美省钱快报Dealmoon.com 攻略">
            <a:extLst>
              <a:ext uri="{FF2B5EF4-FFF2-40B4-BE49-F238E27FC236}">
                <a16:creationId xmlns:a16="http://schemas.microsoft.com/office/drawing/2014/main" id="{084EB1AE-1725-C2A1-C2DD-6AC065FAE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272" y="1221833"/>
            <a:ext cx="3548667" cy="199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B147FBC-03E8-B085-8551-7C8C20315944}"/>
              </a:ext>
            </a:extLst>
          </p:cNvPr>
          <p:cNvSpPr txBox="1"/>
          <p:nvPr/>
        </p:nvSpPr>
        <p:spPr>
          <a:xfrm>
            <a:off x="6004659" y="1148819"/>
            <a:ext cx="590126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zh-CN" altLang="en-US" sz="2800" dirty="0"/>
              <a:t>对于危及生命的心律不整、心室颤动、无脉性心室频脉的一种治疗手段</a:t>
            </a:r>
            <a:endParaRPr lang="en-US" altLang="zh-CN" sz="2800" dirty="0"/>
          </a:p>
          <a:p>
            <a:pPr marL="457200" indent="-457200">
              <a:buFontTx/>
              <a:buChar char="-"/>
            </a:pPr>
            <a:endParaRPr lang="en-US" altLang="zh-CN" sz="2800" dirty="0"/>
          </a:p>
          <a:p>
            <a:pPr marL="457200" indent="-457200">
              <a:buFontTx/>
              <a:buChar char="-"/>
            </a:pPr>
            <a:r>
              <a:rPr lang="zh-CN" altLang="en-US" sz="2800" dirty="0"/>
              <a:t>具体方法为使用去颤器（也称除颤仪）给予心脏治疗剂量的电能。</a:t>
            </a:r>
            <a:endParaRPr lang="en-US" altLang="zh-CN" sz="2800" dirty="0"/>
          </a:p>
          <a:p>
            <a:pPr marL="457200" indent="-457200">
              <a:buFontTx/>
              <a:buChar char="-"/>
            </a:pPr>
            <a:endParaRPr lang="en-US" altLang="zh-CN" sz="2800" dirty="0"/>
          </a:p>
          <a:p>
            <a:pPr marL="457200" indent="-457200">
              <a:buFontTx/>
              <a:buChar char="-"/>
            </a:pPr>
            <a:r>
              <a:rPr lang="zh-CN" altLang="en-US" sz="2800" dirty="0"/>
              <a:t>虽然原理目前尚未明了，但普遍认为这么做能使极大部分的心肌去极化，终止心律不整，并使窦房结中的节律点能重建窦性心律</a:t>
            </a:r>
          </a:p>
        </p:txBody>
      </p:sp>
    </p:spTree>
    <p:extLst>
      <p:ext uri="{BB962C8B-B14F-4D97-AF65-F5344CB8AC3E}">
        <p14:creationId xmlns:p14="http://schemas.microsoft.com/office/powerpoint/2010/main" val="155541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EE6B56-DBAD-4460-85C8-B9D868FF6142}"/>
              </a:ext>
            </a:extLst>
          </p:cNvPr>
          <p:cNvSpPr/>
          <p:nvPr/>
        </p:nvSpPr>
        <p:spPr>
          <a:xfrm>
            <a:off x="2391265" y="2363801"/>
            <a:ext cx="72635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作业 ：课后习题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16.1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16.4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16.6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16.8</a:t>
            </a:r>
            <a:endParaRPr lang="en-US" sz="3200" kern="100" dirty="0">
              <a:effectLst/>
              <a:latin typeface="+mj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7FC185-3475-403F-A50E-0427321BF6DE}"/>
              </a:ext>
            </a:extLst>
          </p:cNvPr>
          <p:cNvSpPr/>
          <p:nvPr/>
        </p:nvSpPr>
        <p:spPr>
          <a:xfrm>
            <a:off x="2348143" y="3617037"/>
            <a:ext cx="62376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截止时间： 下周二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4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月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23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日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10</a:t>
            </a:r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：</a:t>
            </a:r>
            <a:r>
              <a:rPr lang="en-US" altLang="zh-CN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10</a:t>
            </a:r>
            <a:endParaRPr lang="en-US" sz="3200" kern="100" dirty="0">
              <a:effectLst/>
              <a:latin typeface="+mj-lt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95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8C2B31D-6590-4FF5-8A1D-E5BDA6006C25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AFA0A3EB-F728-4376-B314-3CBC41359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7841" y="211325"/>
            <a:ext cx="59477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17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磁场和它的源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2" name="Picture 2" descr="研究顯示人類能感應地球磁場| Fresh-Minds.net">
            <a:extLst>
              <a:ext uri="{FF2B5EF4-FFF2-40B4-BE49-F238E27FC236}">
                <a16:creationId xmlns:a16="http://schemas.microsoft.com/office/drawing/2014/main" id="{C98159C8-A0DE-49E8-AED6-808153912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1" y="1574800"/>
            <a:ext cx="508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A0014B31-1C4D-4F7E-80C8-CA7A195F6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726" y="1311828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磁力与电荷的运动</a:t>
            </a:r>
          </a:p>
        </p:txBody>
      </p:sp>
      <p:sp>
        <p:nvSpPr>
          <p:cNvPr id="27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48306CEC-1F29-4EDE-9B28-0F8312ACF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727" y="2607228"/>
            <a:ext cx="553883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3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毕奥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-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萨伐尔定律</a:t>
            </a:r>
          </a:p>
        </p:txBody>
      </p:sp>
      <p:sp>
        <p:nvSpPr>
          <p:cNvPr id="28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ECF120C4-50E2-4E26-B5D3-6D094BEFC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6203" y="3256514"/>
            <a:ext cx="49039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匀速运动点电荷的磁场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*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1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E27DE69-AAA4-4330-BB63-223D0F2A9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203" y="4615139"/>
            <a:ext cx="6560914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6 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利用安培环路定理求磁场的分布</a:t>
            </a:r>
          </a:p>
        </p:txBody>
      </p:sp>
      <p:sp>
        <p:nvSpPr>
          <p:cNvPr id="3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690E4B17-0680-49D8-B393-01C57F5D0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728" y="1959528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2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磁场与磁感应强度</a:t>
            </a:r>
          </a:p>
        </p:txBody>
      </p:sp>
      <p:sp>
        <p:nvSpPr>
          <p:cNvPr id="33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0A176ECB-589C-402C-BF9C-573951082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203" y="5309960"/>
            <a:ext cx="5732874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7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与变化电场相联系的磁场</a:t>
            </a:r>
          </a:p>
        </p:txBody>
      </p:sp>
      <p:sp>
        <p:nvSpPr>
          <p:cNvPr id="35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0264BFE7-0025-4536-83F4-1ECBBD36D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4726" y="3920318"/>
            <a:ext cx="46799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5 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安培环路定理</a:t>
            </a:r>
          </a:p>
        </p:txBody>
      </p:sp>
      <p:sp>
        <p:nvSpPr>
          <p:cNvPr id="2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12224C06-443C-6472-550E-EBB0000C1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202" y="5990511"/>
            <a:ext cx="6102077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8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电场与磁场的相对性和统一性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*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34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8" grpId="0"/>
      <p:bldP spid="31" grpId="0"/>
      <p:bldP spid="32" grpId="0"/>
      <p:bldP spid="33" grpId="0"/>
      <p:bldP spid="35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291D3C93-D927-4BE0-B8F7-7AD694A7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12" y="3886250"/>
            <a:ext cx="3682126" cy="242041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7230B3A-2B8C-4287-A7AD-0D86BAE0A398}"/>
              </a:ext>
            </a:extLst>
          </p:cNvPr>
          <p:cNvSpPr/>
          <p:nvPr/>
        </p:nvSpPr>
        <p:spPr>
          <a:xfrm>
            <a:off x="877810" y="1349959"/>
            <a:ext cx="169136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ea typeface="华文楷体" panose="02010600040101010101" pitchFamily="2" charset="-122"/>
                <a:cs typeface="Arial" panose="020B0604020202020204" pitchFamily="34" charset="0"/>
              </a:rPr>
              <a:t>慈石</a:t>
            </a:r>
            <a:endParaRPr lang="en-US" sz="2800" dirty="0"/>
          </a:p>
          <a:p>
            <a:pPr>
              <a:spcBef>
                <a:spcPct val="50000"/>
              </a:spcBef>
            </a:pP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20F4B3-0600-40ED-9AEF-71F224368E8A}"/>
              </a:ext>
            </a:extLst>
          </p:cNvPr>
          <p:cNvSpPr/>
          <p:nvPr/>
        </p:nvSpPr>
        <p:spPr>
          <a:xfrm>
            <a:off x="1874250" y="2041542"/>
            <a:ext cx="43030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华文楷体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以为母也，故能引其子</a:t>
            </a:r>
            <a:endParaRPr lang="en-US" sz="28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2C85F3-C018-45DA-8946-A8C178EDA8E1}"/>
              </a:ext>
            </a:extLst>
          </p:cNvPr>
          <p:cNvSpPr/>
          <p:nvPr/>
        </p:nvSpPr>
        <p:spPr>
          <a:xfrm>
            <a:off x="3478483" y="2737253"/>
            <a:ext cx="20649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ea typeface="华文楷体" panose="02010600040101010101" pitchFamily="2" charset="-122"/>
                <a:cs typeface="Arial" panose="020B0604020202020204" pitchFamily="34" charset="0"/>
              </a:rPr>
              <a:t>《</a:t>
            </a:r>
            <a:r>
              <a:rPr lang="zh-CN" altLang="en-US" sz="2800" dirty="0">
                <a:ea typeface="华文楷体" panose="02010600040101010101" pitchFamily="2" charset="-122"/>
                <a:cs typeface="Arial" panose="020B0604020202020204" pitchFamily="34" charset="0"/>
              </a:rPr>
              <a:t>吕氏春秋</a:t>
            </a:r>
            <a:r>
              <a:rPr lang="en-US" altLang="zh-CN" sz="2800" dirty="0">
                <a:ea typeface="华文楷体" panose="02010600040101010101" pitchFamily="2" charset="-122"/>
                <a:cs typeface="Arial" panose="020B0604020202020204" pitchFamily="34" charset="0"/>
              </a:rPr>
              <a:t>》</a:t>
            </a:r>
            <a:endParaRPr lang="en-US" sz="28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240F65-FD23-4DA9-9602-9B7431B84C31}"/>
              </a:ext>
            </a:extLst>
          </p:cNvPr>
          <p:cNvSpPr/>
          <p:nvPr/>
        </p:nvSpPr>
        <p:spPr>
          <a:xfrm>
            <a:off x="877970" y="3281282"/>
            <a:ext cx="19925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司南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900F92-4A87-42FA-A424-E009A84CC14B}"/>
              </a:ext>
            </a:extLst>
          </p:cNvPr>
          <p:cNvSpPr/>
          <p:nvPr/>
        </p:nvSpPr>
        <p:spPr>
          <a:xfrm>
            <a:off x="2101114" y="1339786"/>
            <a:ext cx="41117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慈石召铁，或引之也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8A6FE6-B397-4627-AC0D-857600D31923}"/>
              </a:ext>
            </a:extLst>
          </p:cNvPr>
          <p:cNvSpPr/>
          <p:nvPr/>
        </p:nvSpPr>
        <p:spPr>
          <a:xfrm>
            <a:off x="6562438" y="1934734"/>
            <a:ext cx="532984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zh-CN" altLang="en-US" sz="2800" b="0" i="0" dirty="0">
                <a:effectLst/>
                <a:latin typeface="Helvetica Neue"/>
                <a:ea typeface="华文楷体" panose="02010600040101010101" pitchFamily="2" charset="-122"/>
              </a:rPr>
              <a:t>方家以磁石磨针锋，则能指南</a:t>
            </a:r>
            <a:br>
              <a:rPr lang="en-US" altLang="zh-CN" sz="2800" b="0" i="0" dirty="0">
                <a:effectLst/>
                <a:latin typeface="Helvetica Neue"/>
                <a:ea typeface="华文楷体" panose="02010600040101010101" pitchFamily="2" charset="-122"/>
              </a:rPr>
            </a:br>
            <a:endParaRPr lang="en-US" altLang="zh-CN" sz="2800" b="0" i="0" dirty="0">
              <a:effectLst/>
              <a:latin typeface="Helvetica Neue"/>
              <a:ea typeface="华文楷体" panose="02010600040101010101" pitchFamily="2" charset="-122"/>
            </a:endParaRPr>
          </a:p>
          <a:p>
            <a:pPr marL="457200" indent="-457200">
              <a:buFontTx/>
              <a:buChar char="-"/>
            </a:pPr>
            <a:r>
              <a:rPr lang="zh-CN" altLang="en-US" sz="2800" b="0" i="0" dirty="0">
                <a:effectLst/>
                <a:latin typeface="Helvetica Neue"/>
                <a:ea typeface="华文楷体" panose="02010600040101010101" pitchFamily="2" charset="-122"/>
              </a:rPr>
              <a:t>然常微偏东，不</a:t>
            </a:r>
            <a:r>
              <a:rPr lang="zh-CN" altLang="en-US" sz="2800" dirty="0">
                <a:latin typeface="Helvetica Neue"/>
                <a:ea typeface="华文楷体" panose="02010600040101010101" pitchFamily="2" charset="-122"/>
              </a:rPr>
              <a:t>全南</a:t>
            </a:r>
            <a:r>
              <a:rPr lang="zh-CN" altLang="en-US" sz="2800" b="0" i="0" dirty="0">
                <a:effectLst/>
                <a:latin typeface="Helvetica Neue"/>
                <a:ea typeface="华文楷体" panose="02010600040101010101" pitchFamily="2" charset="-122"/>
              </a:rPr>
              <a:t>也</a:t>
            </a:r>
            <a:br>
              <a:rPr lang="en-US" altLang="zh-CN" sz="2800" b="0" i="0" dirty="0">
                <a:effectLst/>
                <a:latin typeface="Helvetica Neue"/>
                <a:ea typeface="华文楷体" panose="02010600040101010101" pitchFamily="2" charset="-122"/>
              </a:rPr>
            </a:br>
            <a:endParaRPr lang="en-US" altLang="zh-CN" sz="2800" b="0" i="0" dirty="0">
              <a:effectLst/>
              <a:latin typeface="Helvetica Neue"/>
              <a:ea typeface="华文楷体" panose="02010600040101010101" pitchFamily="2" charset="-122"/>
            </a:endParaRPr>
          </a:p>
          <a:p>
            <a:pPr marL="457200" indent="-457200">
              <a:buFontTx/>
              <a:buChar char="-"/>
            </a:pPr>
            <a:r>
              <a:rPr lang="zh-CN" altLang="en-US" sz="2800" b="0" i="0" dirty="0">
                <a:effectLst/>
                <a:latin typeface="Helvetica Neue"/>
                <a:ea typeface="华文楷体" panose="02010600040101010101" pitchFamily="2" charset="-122"/>
              </a:rPr>
              <a:t>水浮多荡摇。指爪及碗唇上皆可为之，运转尤速，但</a:t>
            </a:r>
            <a:r>
              <a:rPr lang="zh-CN" altLang="en-US" sz="2800" dirty="0">
                <a:latin typeface="Helvetica Neue"/>
                <a:ea typeface="华文楷体" panose="02010600040101010101" pitchFamily="2" charset="-122"/>
              </a:rPr>
              <a:t>坚滑</a:t>
            </a:r>
            <a:r>
              <a:rPr lang="zh-CN" altLang="en-US" sz="2800" b="0" i="0" dirty="0">
                <a:effectLst/>
                <a:latin typeface="Helvetica Neue"/>
                <a:ea typeface="华文楷体" panose="02010600040101010101" pitchFamily="2" charset="-122"/>
              </a:rPr>
              <a:t>易坠，不若缕悬为最善。</a:t>
            </a:r>
            <a:endParaRPr lang="en-US" sz="28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8C4BCE5-07B2-4409-9394-F8F22A81EDE6}"/>
              </a:ext>
            </a:extLst>
          </p:cNvPr>
          <p:cNvSpPr/>
          <p:nvPr/>
        </p:nvSpPr>
        <p:spPr>
          <a:xfrm>
            <a:off x="6562438" y="1087435"/>
            <a:ext cx="335296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沈括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梦溪笔谈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</a:p>
          <a:p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0875CF-C748-4C48-8DEF-51809E33A7B4}"/>
              </a:ext>
            </a:extLst>
          </p:cNvPr>
          <p:cNvSpPr/>
          <p:nvPr/>
        </p:nvSpPr>
        <p:spPr>
          <a:xfrm>
            <a:off x="694929" y="250465"/>
            <a:ext cx="2879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磁学的发展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17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2" grpId="0"/>
      <p:bldP spid="13" grpId="0"/>
      <p:bldP spid="19" grpId="0"/>
      <p:bldP spid="16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28FF550C-3DB4-40AE-9712-FC4D09EED686}"/>
              </a:ext>
            </a:extLst>
          </p:cNvPr>
          <p:cNvSpPr/>
          <p:nvPr/>
        </p:nvSpPr>
        <p:spPr>
          <a:xfrm>
            <a:off x="926455" y="1114238"/>
            <a:ext cx="957898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论磁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威廉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·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吉尔伯特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William Gilbert，1504-1603)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于</a:t>
            </a:r>
            <a:r>
              <a:rPr 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1600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年发表了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论磁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一书，系统地讨论了地球的磁性，认为地球是一个大磁石，还提出可以用磁倾角来判断地球上各处的维度。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BAB8D8-0297-49AB-86AB-12A5CB009DBA}"/>
              </a:ext>
            </a:extLst>
          </p:cNvPr>
          <p:cNvSpPr txBox="1"/>
          <p:nvPr/>
        </p:nvSpPr>
        <p:spPr>
          <a:xfrm>
            <a:off x="2227409" y="3209118"/>
            <a:ext cx="73496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66FF"/>
                </a:solidFill>
                <a:ea typeface="华文楷体" panose="02010600040101010101" pitchFamily="2" charset="-122"/>
              </a:rPr>
              <a:t>对磁现象的总结，未触及磁性的本质</a:t>
            </a:r>
            <a:endParaRPr lang="en-US" sz="2800" b="1" dirty="0">
              <a:solidFill>
                <a:srgbClr val="0066FF"/>
              </a:solidFill>
            </a:endParaRPr>
          </a:p>
        </p:txBody>
      </p:sp>
      <p:pic>
        <p:nvPicPr>
          <p:cNvPr id="4110" name="Picture 14" descr="天然磁石的成因，恐怕不关地磁场的事儿| 玉米熊小报No.326">
            <a:extLst>
              <a:ext uri="{FF2B5EF4-FFF2-40B4-BE49-F238E27FC236}">
                <a16:creationId xmlns:a16="http://schemas.microsoft.com/office/drawing/2014/main" id="{5F5B7731-F6D6-4D27-B075-FA3CBF0CC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279" y="4093900"/>
            <a:ext cx="3118874" cy="1964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250875CF-C748-4C48-8DEF-51809E33A7B4}"/>
              </a:ext>
            </a:extLst>
          </p:cNvPr>
          <p:cNvSpPr/>
          <p:nvPr/>
        </p:nvSpPr>
        <p:spPr>
          <a:xfrm>
            <a:off x="694929" y="250465"/>
            <a:ext cx="2879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磁学的发展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78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 descr="Oersted experiment on Make a GIF">
            <a:extLst>
              <a:ext uri="{FF2B5EF4-FFF2-40B4-BE49-F238E27FC236}">
                <a16:creationId xmlns:a16="http://schemas.microsoft.com/office/drawing/2014/main" id="{CEAC7C11-CEE0-44E4-9BDD-97AC3017A79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655" y="1835000"/>
            <a:ext cx="6149865" cy="3459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EE83B57-55F9-4B89-85B5-6BEAD8ACCEFA}"/>
              </a:ext>
            </a:extLst>
          </p:cNvPr>
          <p:cNvSpPr/>
          <p:nvPr/>
        </p:nvSpPr>
        <p:spPr>
          <a:xfrm>
            <a:off x="1089486" y="411402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电流的磁效应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Text Box 17">
            <a:extLst>
              <a:ext uri="{FF2B5EF4-FFF2-40B4-BE49-F238E27FC236}">
                <a16:creationId xmlns:a16="http://schemas.microsoft.com/office/drawing/2014/main" id="{8AB6942B-83FA-46B7-8764-0C5041457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60" y="4169071"/>
            <a:ext cx="3441291" cy="138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ea typeface="华文楷体" panose="02010600040101010101" pitchFamily="2" charset="-122"/>
              </a:rPr>
              <a:t>奥斯特  </a:t>
            </a:r>
            <a:r>
              <a:rPr lang="en-US" altLang="zh-CN" b="0" dirty="0">
                <a:ea typeface="华文楷体" panose="02010600040101010101" pitchFamily="2" charset="-122"/>
              </a:rPr>
              <a:t>Hans Christian Oersted   (1777 </a:t>
            </a:r>
            <a:r>
              <a:rPr lang="zh-CN" altLang="en-US" b="0" dirty="0">
                <a:ea typeface="华文楷体" panose="02010600040101010101" pitchFamily="2" charset="-122"/>
              </a:rPr>
              <a:t>～ </a:t>
            </a:r>
            <a:r>
              <a:rPr lang="en-US" altLang="zh-CN" b="0" dirty="0">
                <a:ea typeface="华文楷体" panose="02010600040101010101" pitchFamily="2" charset="-122"/>
              </a:rPr>
              <a:t>1851)</a:t>
            </a:r>
          </a:p>
        </p:txBody>
      </p:sp>
      <p:pic>
        <p:nvPicPr>
          <p:cNvPr id="28" name="Picture 20" descr="h3">
            <a:extLst>
              <a:ext uri="{FF2B5EF4-FFF2-40B4-BE49-F238E27FC236}">
                <a16:creationId xmlns:a16="http://schemas.microsoft.com/office/drawing/2014/main" id="{7A897E4A-6DCF-4162-A28E-C1A02D0FA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177" y="1740365"/>
            <a:ext cx="1936750" cy="213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1323B48-E696-E4E0-B0C0-47A75FF13BFA}"/>
              </a:ext>
            </a:extLst>
          </p:cNvPr>
          <p:cNvSpPr/>
          <p:nvPr/>
        </p:nvSpPr>
        <p:spPr>
          <a:xfrm>
            <a:off x="6593491" y="1217145"/>
            <a:ext cx="19459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ea typeface="华文楷体" panose="02010600040101010101" pitchFamily="2" charset="-122"/>
              </a:rPr>
              <a:t> 1819</a:t>
            </a:r>
            <a:r>
              <a:rPr kumimoji="1" lang="zh-CN" altLang="en-US" sz="2800" dirty="0">
                <a:ea typeface="华文楷体" panose="02010600040101010101" pitchFamily="2" charset="-122"/>
              </a:rPr>
              <a:t>年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5798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92" name="Text Box 16">
            <a:extLst>
              <a:ext uri="{FF2B5EF4-FFF2-40B4-BE49-F238E27FC236}">
                <a16:creationId xmlns:a16="http://schemas.microsoft.com/office/drawing/2014/main" id="{FD2D7928-2E74-4D32-B642-24E46A45E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537" y="1028367"/>
            <a:ext cx="2879725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- 1820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月</a:t>
            </a:r>
          </a:p>
        </p:txBody>
      </p:sp>
      <p:sp>
        <p:nvSpPr>
          <p:cNvPr id="280597" name="Text Box 21">
            <a:extLst>
              <a:ext uri="{FF2B5EF4-FFF2-40B4-BE49-F238E27FC236}">
                <a16:creationId xmlns:a16="http://schemas.microsoft.com/office/drawing/2014/main" id="{ED8A4EC8-A726-4F7B-8B16-1A8DCB6DD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115" y="1048417"/>
            <a:ext cx="7793565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奥斯特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关于电冲击对磁针影响的实验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280598" name="Rectangle 22">
            <a:extLst>
              <a:ext uri="{FF2B5EF4-FFF2-40B4-BE49-F238E27FC236}">
                <a16:creationId xmlns:a16="http://schemas.microsoft.com/office/drawing/2014/main" id="{35AA90F4-ADF7-4C63-9DF6-A749ECC04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37" y="1549295"/>
            <a:ext cx="326462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- 1820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月</a:t>
            </a:r>
          </a:p>
        </p:txBody>
      </p:sp>
      <p:sp>
        <p:nvSpPr>
          <p:cNvPr id="280599" name="Text Box 23">
            <a:extLst>
              <a:ext uri="{FF2B5EF4-FFF2-40B4-BE49-F238E27FC236}">
                <a16:creationId xmlns:a16="http://schemas.microsoft.com/office/drawing/2014/main" id="{48BD7F38-FB9F-43F4-B751-E3E3ECE95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8598" y="1549072"/>
            <a:ext cx="8794962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安培（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A. M. Ampere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关于圆电流对磁针作用的实验</a:t>
            </a:r>
          </a:p>
        </p:txBody>
      </p:sp>
      <p:sp>
        <p:nvSpPr>
          <p:cNvPr id="280600" name="Rectangle 24">
            <a:extLst>
              <a:ext uri="{FF2B5EF4-FFF2-40B4-BE49-F238E27FC236}">
                <a16:creationId xmlns:a16="http://schemas.microsoft.com/office/drawing/2014/main" id="{E0F0F3EB-0CD1-4528-A94E-29EB9033D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36" y="2096982"/>
            <a:ext cx="440254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- 1820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月</a:t>
            </a:r>
          </a:p>
        </p:txBody>
      </p:sp>
      <p:sp>
        <p:nvSpPr>
          <p:cNvPr id="280601" name="Text Box 25">
            <a:extLst>
              <a:ext uri="{FF2B5EF4-FFF2-40B4-BE49-F238E27FC236}">
                <a16:creationId xmlns:a16="http://schemas.microsoft.com/office/drawing/2014/main" id="{7D286A7E-FEF1-4718-A39A-0C3A47E37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8598" y="2096664"/>
            <a:ext cx="655320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安培关于两平行直电流相互作用的实验</a:t>
            </a:r>
          </a:p>
        </p:txBody>
      </p:sp>
      <p:sp>
        <p:nvSpPr>
          <p:cNvPr id="280602" name="Rectangle 26">
            <a:extLst>
              <a:ext uri="{FF2B5EF4-FFF2-40B4-BE49-F238E27FC236}">
                <a16:creationId xmlns:a16="http://schemas.microsoft.com/office/drawing/2014/main" id="{FB5CF11F-D840-427D-8927-308753253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37" y="2647845"/>
            <a:ext cx="351354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- 1820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月</a:t>
            </a:r>
          </a:p>
        </p:txBody>
      </p:sp>
      <p:sp>
        <p:nvSpPr>
          <p:cNvPr id="280603" name="Text Box 27">
            <a:extLst>
              <a:ext uri="{FF2B5EF4-FFF2-40B4-BE49-F238E27FC236}">
                <a16:creationId xmlns:a16="http://schemas.microsoft.com/office/drawing/2014/main" id="{9C5D0A34-2A5F-4FB9-BFCB-5AD753016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3783" y="2647600"/>
            <a:ext cx="691356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安培关于载流螺线管与磁棒等效性的实验</a:t>
            </a:r>
          </a:p>
        </p:txBody>
      </p:sp>
      <p:sp>
        <p:nvSpPr>
          <p:cNvPr id="280604" name="Rectangle 28">
            <a:extLst>
              <a:ext uri="{FF2B5EF4-FFF2-40B4-BE49-F238E27FC236}">
                <a16:creationId xmlns:a16="http://schemas.microsoft.com/office/drawing/2014/main" id="{5234FF9B-5F0E-4775-A036-3E1B8F837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36" y="3208231"/>
            <a:ext cx="401646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- 1820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月</a:t>
            </a:r>
          </a:p>
        </p:txBody>
      </p:sp>
      <p:sp>
        <p:nvSpPr>
          <p:cNvPr id="280605" name="Text Box 29">
            <a:extLst>
              <a:ext uri="{FF2B5EF4-FFF2-40B4-BE49-F238E27FC236}">
                <a16:creationId xmlns:a16="http://schemas.microsoft.com/office/drawing/2014/main" id="{7319EEAC-0879-4FE7-8AB1-7AC983F72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138" y="3223510"/>
            <a:ext cx="7862299" cy="956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毕奥（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Jean Baptiste </a:t>
            </a:r>
            <a:r>
              <a:rPr lang="en-US" altLang="zh-CN" b="0" dirty="0" err="1">
                <a:ea typeface="华文楷体" panose="02010600040101010101" pitchFamily="2" charset="-122"/>
                <a:cs typeface="Times New Roman" panose="02020603050405020304" pitchFamily="18" charset="0"/>
              </a:rPr>
              <a:t>Biot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）和萨伐尔（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Félix Savart 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  <a:p>
            <a:pPr eaLnBrk="1" hangingPunct="1"/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关于载流长直导线对磁针作用的实验</a:t>
            </a:r>
          </a:p>
        </p:txBody>
      </p:sp>
      <p:sp>
        <p:nvSpPr>
          <p:cNvPr id="3" name="AutoShape 2" descr="安培分子电流假说_万图壁纸网">
            <a:extLst>
              <a:ext uri="{FF2B5EF4-FFF2-40B4-BE49-F238E27FC236}">
                <a16:creationId xmlns:a16="http://schemas.microsoft.com/office/drawing/2014/main" id="{74A5F560-E7EB-44DF-9655-3BDAB17506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61186" y="371517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0252A6C-D8BD-4845-BFD4-01F37656D622}"/>
              </a:ext>
            </a:extLst>
          </p:cNvPr>
          <p:cNvSpPr/>
          <p:nvPr/>
        </p:nvSpPr>
        <p:spPr>
          <a:xfrm>
            <a:off x="694929" y="250465"/>
            <a:ext cx="2879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磁学的发展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28">
            <a:extLst>
              <a:ext uri="{FF2B5EF4-FFF2-40B4-BE49-F238E27FC236}">
                <a16:creationId xmlns:a16="http://schemas.microsoft.com/office/drawing/2014/main" id="{E198946A-1864-4450-B2A8-B2B56BB2A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36" y="4269106"/>
            <a:ext cx="280828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- 1821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年</a:t>
            </a:r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F5720F65-1C40-4EA1-8DA9-8DDB59829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043" y="4257416"/>
            <a:ext cx="7862299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法拉第（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Michael Faraday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）发明了电动机</a:t>
            </a:r>
          </a:p>
        </p:txBody>
      </p:sp>
      <p:sp>
        <p:nvSpPr>
          <p:cNvPr id="39" name="Rectangle 28">
            <a:extLst>
              <a:ext uri="{FF2B5EF4-FFF2-40B4-BE49-F238E27FC236}">
                <a16:creationId xmlns:a16="http://schemas.microsoft.com/office/drawing/2014/main" id="{DC3575B2-C36B-4B44-B78E-89E8E2266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36" y="4922042"/>
            <a:ext cx="280828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- 1821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年</a:t>
            </a:r>
          </a:p>
        </p:txBody>
      </p:sp>
      <p:sp>
        <p:nvSpPr>
          <p:cNvPr id="40" name="Text Box 27">
            <a:extLst>
              <a:ext uri="{FF2B5EF4-FFF2-40B4-BE49-F238E27FC236}">
                <a16:creationId xmlns:a16="http://schemas.microsoft.com/office/drawing/2014/main" id="{E36BC043-1233-491A-9DEC-8B070B459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043" y="4910352"/>
            <a:ext cx="691356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安培提出解释磁场产生的分子电流假说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1DF70956-86F5-4EA3-B884-3A0BD4115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51" y="5889225"/>
            <a:ext cx="2396237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奥斯特的发现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8C0525-46E3-4EA4-B262-AA311F0B9322}"/>
              </a:ext>
            </a:extLst>
          </p:cNvPr>
          <p:cNvSpPr/>
          <p:nvPr/>
        </p:nvSpPr>
        <p:spPr>
          <a:xfrm>
            <a:off x="4221479" y="5889225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对磁现象的系统认识和应用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EDB69946-9B69-4CC0-9392-8068E30EB56E}"/>
              </a:ext>
            </a:extLst>
          </p:cNvPr>
          <p:cNvSpPr/>
          <p:nvPr/>
        </p:nvSpPr>
        <p:spPr>
          <a:xfrm>
            <a:off x="2960947" y="6075455"/>
            <a:ext cx="1155227" cy="197244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rgbClr val="0066FF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0FA420-1775-4F62-A524-0B0CED150121}"/>
              </a:ext>
            </a:extLst>
          </p:cNvPr>
          <p:cNvSpPr txBox="1"/>
          <p:nvPr/>
        </p:nvSpPr>
        <p:spPr>
          <a:xfrm>
            <a:off x="3117946" y="5574978"/>
            <a:ext cx="801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endParaRPr 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F3F6F3BA-DA38-4AA0-9D21-7B4BDA241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2094" y="4838423"/>
            <a:ext cx="1838399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1873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年</a:t>
            </a:r>
          </a:p>
        </p:txBody>
      </p:sp>
      <p:sp>
        <p:nvSpPr>
          <p:cNvPr id="23" name="Text Box 27">
            <a:extLst>
              <a:ext uri="{FF2B5EF4-FFF2-40B4-BE49-F238E27FC236}">
                <a16:creationId xmlns:a16="http://schemas.microsoft.com/office/drawing/2014/main" id="{E7883ADB-2E56-46C3-9DDA-BCCDADC24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5711" y="5327860"/>
            <a:ext cx="378080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麦克斯韦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电磁通论</a:t>
            </a:r>
            <a:r>
              <a:rPr lang="en-US" altLang="zh-CN" b="0" dirty="0">
                <a:ea typeface="华文楷体" panose="02010600040101010101" pitchFamily="2" charset="-122"/>
                <a:cs typeface="Times New Roman" panose="02020603050405020304" pitchFamily="18" charset="0"/>
              </a:rPr>
              <a:t>》</a:t>
            </a:r>
            <a:endParaRPr lang="zh-CN" altLang="en-US" b="0" dirty="0"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009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98" grpId="0"/>
      <p:bldP spid="280599" grpId="0"/>
      <p:bldP spid="280600" grpId="0"/>
      <p:bldP spid="280601" grpId="0"/>
      <p:bldP spid="280602" grpId="0"/>
      <p:bldP spid="280603" grpId="0"/>
      <p:bldP spid="280604" grpId="0"/>
      <p:bldP spid="280605" grpId="0"/>
      <p:bldP spid="31" grpId="0"/>
      <p:bldP spid="32" grpId="0"/>
      <p:bldP spid="39" grpId="0"/>
      <p:bldP spid="40" grpId="0"/>
      <p:bldP spid="18" grpId="0"/>
      <p:bldP spid="19" grpId="0"/>
      <p:bldP spid="20" grpId="0" animBg="1"/>
      <p:bldP spid="21" grpId="0"/>
      <p:bldP spid="22" grpId="0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mopolarmotor_MAQ03891_smial_wp.ogv.480p.vp9">
            <a:hlinkClick r:id="" action="ppaction://media"/>
            <a:extLst>
              <a:ext uri="{FF2B5EF4-FFF2-40B4-BE49-F238E27FC236}">
                <a16:creationId xmlns:a16="http://schemas.microsoft.com/office/drawing/2014/main" id="{747A8463-3E79-4480-9F62-B30A5C3F3BF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61335" y="1557058"/>
            <a:ext cx="4991844" cy="3743883"/>
          </a:xfrm>
          <a:prstGeom prst="rect">
            <a:avLst/>
          </a:prstGeom>
        </p:spPr>
      </p:pic>
      <p:pic>
        <p:nvPicPr>
          <p:cNvPr id="3" name="Picture 6" descr="https://upload.wikimedia.org/wikipedia/commons/8/83/Motor_homopolar_flux_force_neutral.png">
            <a:extLst>
              <a:ext uri="{FF2B5EF4-FFF2-40B4-BE49-F238E27FC236}">
                <a16:creationId xmlns:a16="http://schemas.microsoft.com/office/drawing/2014/main" id="{8BC53737-9DA5-4E1D-8D21-091E9FFBC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972" y="1306278"/>
            <a:ext cx="2826112" cy="481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7DCE9A3-9091-43E2-B98D-25F00EDC8B38}"/>
              </a:ext>
            </a:extLst>
          </p:cNvPr>
          <p:cNvSpPr/>
          <p:nvPr/>
        </p:nvSpPr>
        <p:spPr>
          <a:xfrm>
            <a:off x="1089486" y="411402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电动机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79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核磁共振、顺磁共振、磁共振成像这些原理你都了解吗-材料测试-科学指南针">
            <a:extLst>
              <a:ext uri="{FF2B5EF4-FFF2-40B4-BE49-F238E27FC236}">
                <a16:creationId xmlns:a16="http://schemas.microsoft.com/office/drawing/2014/main" id="{AF1AD06D-C1E8-FB5F-F6B1-4594D48D0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433" y="921704"/>
            <a:ext cx="3732847" cy="2449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A maglev train coming out, Pudong International Airport, Shanghai.jpg">
            <a:hlinkClick r:id="rId3"/>
            <a:extLst>
              <a:ext uri="{FF2B5EF4-FFF2-40B4-BE49-F238E27FC236}">
                <a16:creationId xmlns:a16="http://schemas.microsoft.com/office/drawing/2014/main" id="{FD1D953A-B63E-45C3-4616-0BE012AC79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3" t="5593" r="31375" b="-867"/>
          <a:stretch/>
        </p:blipFill>
        <p:spPr bwMode="auto">
          <a:xfrm>
            <a:off x="1558116" y="3627884"/>
            <a:ext cx="3200400" cy="2979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http://upload.wikimedia.org/wikipedia/commons/thumb/7/7a/Hard_disk.jpg/330px-Hard_disk.jpg">
            <a:hlinkClick r:id="rId5"/>
            <a:extLst>
              <a:ext uri="{FF2B5EF4-FFF2-40B4-BE49-F238E27FC236}">
                <a16:creationId xmlns:a16="http://schemas.microsoft.com/office/drawing/2014/main" id="{74253DAB-4CC7-C5B1-F307-3D37717F19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6" r="10150" b="14496"/>
          <a:stretch/>
        </p:blipFill>
        <p:spPr bwMode="auto">
          <a:xfrm>
            <a:off x="1558116" y="921704"/>
            <a:ext cx="3059604" cy="2429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插图-配.jpg">
            <a:extLst>
              <a:ext uri="{FF2B5EF4-FFF2-40B4-BE49-F238E27FC236}">
                <a16:creationId xmlns:a16="http://schemas.microsoft.com/office/drawing/2014/main" id="{F7430C6E-4E89-472C-B772-8E5D28570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713" y="3663445"/>
            <a:ext cx="3838013" cy="2742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32FA3AA-1789-A84C-882F-E3CC5564A564}"/>
              </a:ext>
            </a:extLst>
          </p:cNvPr>
          <p:cNvSpPr/>
          <p:nvPr/>
        </p:nvSpPr>
        <p:spPr>
          <a:xfrm>
            <a:off x="694929" y="250465"/>
            <a:ext cx="2879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磁现象应用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07B559-C502-4BEB-9207-DF32A6C50E99}"/>
              </a:ext>
            </a:extLst>
          </p:cNvPr>
          <p:cNvSpPr txBox="1"/>
          <p:nvPr/>
        </p:nvSpPr>
        <p:spPr>
          <a:xfrm>
            <a:off x="465666" y="188504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硬盘</a:t>
            </a:r>
            <a:endParaRPr 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D24822-C0F3-4667-955F-C9C97A85F211}"/>
              </a:ext>
            </a:extLst>
          </p:cNvPr>
          <p:cNvSpPr txBox="1"/>
          <p:nvPr/>
        </p:nvSpPr>
        <p:spPr>
          <a:xfrm>
            <a:off x="9563514" y="204101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核磁共振</a:t>
            </a:r>
            <a:endParaRPr 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D78EED-39A5-4141-833B-936667485656}"/>
              </a:ext>
            </a:extLst>
          </p:cNvPr>
          <p:cNvSpPr txBox="1"/>
          <p:nvPr/>
        </p:nvSpPr>
        <p:spPr>
          <a:xfrm>
            <a:off x="347130" y="466210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磁悬浮</a:t>
            </a:r>
            <a:endParaRPr 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798474-52AB-4766-BBFC-0CA070ADFEA0}"/>
              </a:ext>
            </a:extLst>
          </p:cNvPr>
          <p:cNvSpPr txBox="1"/>
          <p:nvPr/>
        </p:nvSpPr>
        <p:spPr>
          <a:xfrm>
            <a:off x="9563514" y="481808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质谱仪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5508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Magnetic Field Lines | Brilliant Math &amp;amp; Science Wiki">
            <a:extLst>
              <a:ext uri="{FF2B5EF4-FFF2-40B4-BE49-F238E27FC236}">
                <a16:creationId xmlns:a16="http://schemas.microsoft.com/office/drawing/2014/main" id="{FA1B5009-1726-4390-A966-4E1477041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251" y="1148788"/>
            <a:ext cx="4911362" cy="358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ne207">
            <a:extLst>
              <a:ext uri="{FF2B5EF4-FFF2-40B4-BE49-F238E27FC236}">
                <a16:creationId xmlns:a16="http://schemas.microsoft.com/office/drawing/2014/main" id="{F95416F3-2C28-46BC-80EF-E1F6D47FF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307" y="3316396"/>
            <a:ext cx="3119984" cy="256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607FA60-85E0-4E49-B8DC-71FE0776C0A5}"/>
              </a:ext>
            </a:extLst>
          </p:cNvPr>
          <p:cNvSpPr txBox="1"/>
          <p:nvPr/>
        </p:nvSpPr>
        <p:spPr>
          <a:xfrm>
            <a:off x="1121338" y="6167200"/>
            <a:ext cx="3998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ea typeface="华文楷体" panose="02010600040101010101" pitchFamily="2" charset="-122"/>
              </a:rPr>
              <a:t>通电导线受磁场作用力</a:t>
            </a:r>
            <a:endParaRPr lang="en-US" sz="28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8606316-1BCA-484F-8C79-DBAEF49202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6751"/>
          <a:stretch/>
        </p:blipFill>
        <p:spPr>
          <a:xfrm>
            <a:off x="1367288" y="1052269"/>
            <a:ext cx="3146118" cy="162141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6579F2A1-0DD1-47D5-B0F3-4D854BAD4E75}"/>
              </a:ext>
            </a:extLst>
          </p:cNvPr>
          <p:cNvSpPr/>
          <p:nvPr/>
        </p:nvSpPr>
        <p:spPr>
          <a:xfrm>
            <a:off x="1089486" y="411402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电流磁效应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D6E2A1-C40D-4AFA-B9FC-33CD87889FA7}"/>
              </a:ext>
            </a:extLst>
          </p:cNvPr>
          <p:cNvSpPr txBox="1"/>
          <p:nvPr/>
        </p:nvSpPr>
        <p:spPr>
          <a:xfrm>
            <a:off x="5847080" y="4923174"/>
            <a:ext cx="5489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ea typeface="华文楷体" panose="02010600040101010101" pitchFamily="2" charset="-122"/>
              </a:rPr>
              <a:t>通电平行导线之间有相互作用力</a:t>
            </a:r>
            <a:endParaRPr lang="en-US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F13A6D-A19D-4B5F-B4BE-A956295464F5}"/>
              </a:ext>
            </a:extLst>
          </p:cNvPr>
          <p:cNvSpPr txBox="1"/>
          <p:nvPr/>
        </p:nvSpPr>
        <p:spPr>
          <a:xfrm>
            <a:off x="1228386" y="2880343"/>
            <a:ext cx="3998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ea typeface="华文楷体" panose="02010600040101010101" pitchFamily="2" charset="-122"/>
              </a:rPr>
              <a:t>电流对磁针有作用力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432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17D25DE-D258-4808-8E7C-7AE2A52BB77E}"/>
              </a:ext>
            </a:extLst>
          </p:cNvPr>
          <p:cNvSpPr/>
          <p:nvPr/>
        </p:nvSpPr>
        <p:spPr>
          <a:xfrm>
            <a:off x="1712725" y="4255065"/>
            <a:ext cx="8018954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运动电荷（电流）激发磁场</a:t>
            </a:r>
            <a:endParaRPr lang="en-US" altLang="zh-CN" sz="28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磁场对运动电荷、载流导体和永久磁铁等有磁场力的作用。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A84F37-70B1-4C5A-B450-CBA0899282D9}"/>
              </a:ext>
            </a:extLst>
          </p:cNvPr>
          <p:cNvSpPr/>
          <p:nvPr/>
        </p:nvSpPr>
        <p:spPr>
          <a:xfrm>
            <a:off x="3062781" y="1315808"/>
            <a:ext cx="12637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磁体</a:t>
            </a:r>
            <a:endParaRPr lang="en-US" sz="2800" dirty="0">
              <a:solidFill>
                <a:srgbClr val="0066F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70424A-D844-4A04-84D2-D08D6DEC1E7B}"/>
              </a:ext>
            </a:extLst>
          </p:cNvPr>
          <p:cNvSpPr/>
          <p:nvPr/>
        </p:nvSpPr>
        <p:spPr>
          <a:xfrm>
            <a:off x="5869790" y="1280889"/>
            <a:ext cx="12637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磁体</a:t>
            </a:r>
            <a:endParaRPr lang="en-US" sz="2800" dirty="0">
              <a:solidFill>
                <a:srgbClr val="0066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22C3B5-5BAF-4756-B668-F78F07B5F8C3}"/>
              </a:ext>
            </a:extLst>
          </p:cNvPr>
          <p:cNvSpPr/>
          <p:nvPr/>
        </p:nvSpPr>
        <p:spPr>
          <a:xfrm>
            <a:off x="3045883" y="2440871"/>
            <a:ext cx="9915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电流</a:t>
            </a:r>
            <a:endParaRPr lang="en-US" sz="2800" dirty="0">
              <a:solidFill>
                <a:srgbClr val="0066FF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A9AE2A-5C92-4DAC-A724-BD5FBB85E637}"/>
              </a:ext>
            </a:extLst>
          </p:cNvPr>
          <p:cNvSpPr/>
          <p:nvPr/>
        </p:nvSpPr>
        <p:spPr>
          <a:xfrm>
            <a:off x="5906163" y="2446810"/>
            <a:ext cx="9915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电流</a:t>
            </a:r>
            <a:endParaRPr lang="en-US" sz="2800" dirty="0">
              <a:solidFill>
                <a:srgbClr val="0066FF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9A3791E-CD35-4FA2-8904-93ED8BA82808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037466" y="1537419"/>
            <a:ext cx="1832324" cy="508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46F0925-C71F-4A7E-888D-179415FE7546}"/>
              </a:ext>
            </a:extLst>
          </p:cNvPr>
          <p:cNvCxnSpPr>
            <a:cxnSpLocks/>
          </p:cNvCxnSpPr>
          <p:nvPr/>
        </p:nvCxnSpPr>
        <p:spPr>
          <a:xfrm>
            <a:off x="3517974" y="1857155"/>
            <a:ext cx="0" cy="518997"/>
          </a:xfrm>
          <a:prstGeom prst="straightConnector1">
            <a:avLst/>
          </a:prstGeom>
          <a:ln w="57150">
            <a:solidFill>
              <a:srgbClr val="008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9720B8A-99E0-45B0-8207-3EF37B9CA397}"/>
              </a:ext>
            </a:extLst>
          </p:cNvPr>
          <p:cNvCxnSpPr>
            <a:cxnSpLocks/>
          </p:cNvCxnSpPr>
          <p:nvPr/>
        </p:nvCxnSpPr>
        <p:spPr>
          <a:xfrm>
            <a:off x="6332906" y="1921874"/>
            <a:ext cx="0" cy="518997"/>
          </a:xfrm>
          <a:prstGeom prst="straightConnector1">
            <a:avLst/>
          </a:prstGeom>
          <a:ln w="57150">
            <a:solidFill>
              <a:srgbClr val="008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7FE4B85-741D-44E2-AB9D-80BE77DE4F8B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082205" y="2702482"/>
            <a:ext cx="1823958" cy="5938"/>
          </a:xfrm>
          <a:prstGeom prst="straightConnector1">
            <a:avLst/>
          </a:prstGeom>
          <a:ln w="571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E7979DAB-F15E-4011-9CE7-B7FD49F63604}"/>
              </a:ext>
            </a:extLst>
          </p:cNvPr>
          <p:cNvSpPr/>
          <p:nvPr/>
        </p:nvSpPr>
        <p:spPr>
          <a:xfrm>
            <a:off x="1089486" y="411402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电流磁效应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241706-C2D4-4CCE-A9C7-F04368A555A5}"/>
              </a:ext>
            </a:extLst>
          </p:cNvPr>
          <p:cNvSpPr/>
          <p:nvPr/>
        </p:nvSpPr>
        <p:spPr>
          <a:xfrm>
            <a:off x="2509199" y="3365373"/>
            <a:ext cx="62334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磁体与静止电荷之间无相互作用力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5244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内容占位符 9">
            <a:extLst>
              <a:ext uri="{FF2B5EF4-FFF2-40B4-BE49-F238E27FC236}">
                <a16:creationId xmlns:a16="http://schemas.microsoft.com/office/drawing/2014/main" id="{421711A6-FCA7-4A4F-B411-370F652018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857"/>
          <a:stretch/>
        </p:blipFill>
        <p:spPr>
          <a:xfrm>
            <a:off x="4257413" y="2762890"/>
            <a:ext cx="1703997" cy="324753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11BA445-E03B-4F4D-A3A1-EC6B9FA12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397" y="340325"/>
            <a:ext cx="2035631" cy="2079081"/>
          </a:xfrm>
          <a:prstGeom prst="rect">
            <a:avLst/>
          </a:prstGeom>
        </p:spPr>
      </p:pic>
      <p:sp>
        <p:nvSpPr>
          <p:cNvPr id="6" name="Text Box 19">
            <a:extLst>
              <a:ext uri="{FF2B5EF4-FFF2-40B4-BE49-F238E27FC236}">
                <a16:creationId xmlns:a16="http://schemas.microsoft.com/office/drawing/2014/main" id="{AC6E174D-9550-448D-A754-637BA9A51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631" y="1667076"/>
            <a:ext cx="6931025" cy="1095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组成磁体的每一个分子都存在着永不停息的环形电流</a:t>
            </a:r>
          </a:p>
        </p:txBody>
      </p:sp>
      <p:sp>
        <p:nvSpPr>
          <p:cNvPr id="7" name="Text Box 25">
            <a:extLst>
              <a:ext uri="{FF2B5EF4-FFF2-40B4-BE49-F238E27FC236}">
                <a16:creationId xmlns:a16="http://schemas.microsoft.com/office/drawing/2014/main" id="{C98361B6-DBDB-46D4-BCC6-38963FC75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075" y="988552"/>
            <a:ext cx="5740689" cy="582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磁性来源于物质中的分子电流</a:t>
            </a:r>
          </a:p>
        </p:txBody>
      </p:sp>
      <p:sp>
        <p:nvSpPr>
          <p:cNvPr id="10" name="Text Box 226">
            <a:extLst>
              <a:ext uri="{FF2B5EF4-FFF2-40B4-BE49-F238E27FC236}">
                <a16:creationId xmlns:a16="http://schemas.microsoft.com/office/drawing/2014/main" id="{DF83D845-8B30-45BC-9499-36A692D9A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922" y="6202790"/>
            <a:ext cx="494367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磁化：分子电流排列整齐</a:t>
            </a:r>
          </a:p>
        </p:txBody>
      </p:sp>
      <p:sp>
        <p:nvSpPr>
          <p:cNvPr id="13" name="Text Box 50">
            <a:extLst>
              <a:ext uri="{FF2B5EF4-FFF2-40B4-BE49-F238E27FC236}">
                <a16:creationId xmlns:a16="http://schemas.microsoft.com/office/drawing/2014/main" id="{A4C9BDF9-3264-4906-926B-2C55AA3EC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5592" y="5724646"/>
            <a:ext cx="4333875" cy="956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原子内电子绕核的运动和电子的自旋两部分形成的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6075E3-A87E-4FC0-80FA-EBAC42360876}"/>
              </a:ext>
            </a:extLst>
          </p:cNvPr>
          <p:cNvSpPr/>
          <p:nvPr/>
        </p:nvSpPr>
        <p:spPr>
          <a:xfrm>
            <a:off x="694929" y="250465"/>
            <a:ext cx="37357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分子电流假说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2FC747-9601-4FC7-A0FD-2FB8A5A4541D}"/>
              </a:ext>
            </a:extLst>
          </p:cNvPr>
          <p:cNvSpPr txBox="1"/>
          <p:nvPr/>
        </p:nvSpPr>
        <p:spPr>
          <a:xfrm>
            <a:off x="7934477" y="1047672"/>
            <a:ext cx="1502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铁磁体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1" name="内容占位符 9">
            <a:extLst>
              <a:ext uri="{FF2B5EF4-FFF2-40B4-BE49-F238E27FC236}">
                <a16:creationId xmlns:a16="http://schemas.microsoft.com/office/drawing/2014/main" id="{7C5F722E-C61A-4A7D-A7D3-A81F46A533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70" r="7257"/>
          <a:stretch/>
        </p:blipFill>
        <p:spPr>
          <a:xfrm>
            <a:off x="1481666" y="2786687"/>
            <a:ext cx="1615691" cy="324753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A0CE0D5E-D350-4A3C-A788-626042A8744E}"/>
              </a:ext>
            </a:extLst>
          </p:cNvPr>
          <p:cNvSpPr/>
          <p:nvPr/>
        </p:nvSpPr>
        <p:spPr>
          <a:xfrm rot="10800000">
            <a:off x="3310467" y="4095111"/>
            <a:ext cx="855133" cy="561556"/>
          </a:xfrm>
          <a:prstGeom prst="right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IRON GROUND STATE | Lefteris Kaliambos Wiki | Fandom">
            <a:extLst>
              <a:ext uri="{FF2B5EF4-FFF2-40B4-BE49-F238E27FC236}">
                <a16:creationId xmlns:a16="http://schemas.microsoft.com/office/drawing/2014/main" id="{D5DEB010-9437-47D0-8ABE-0F3515CB6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372" y="2482620"/>
            <a:ext cx="3145066" cy="31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153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3" grpId="0"/>
      <p:bldP spid="15" grpId="0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9">
            <a:extLst>
              <a:ext uri="{FF2B5EF4-FFF2-40B4-BE49-F238E27FC236}">
                <a16:creationId xmlns:a16="http://schemas.microsoft.com/office/drawing/2014/main" id="{7400E737-E562-42E0-9229-386BC7DCC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130" y="2785642"/>
            <a:ext cx="2521031" cy="264626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AE4904F-AC50-4085-96D0-0B904C75E0E3}"/>
              </a:ext>
            </a:extLst>
          </p:cNvPr>
          <p:cNvSpPr/>
          <p:nvPr/>
        </p:nvSpPr>
        <p:spPr>
          <a:xfrm>
            <a:off x="1182761" y="1198412"/>
            <a:ext cx="35984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通过</a:t>
            </a:r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运动检验电荷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在磁场中</a:t>
            </a:r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所受的作用力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来定量描述磁场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616113-CD84-40CF-9AC4-76E549CD0669}"/>
              </a:ext>
            </a:extLst>
          </p:cNvPr>
          <p:cNvSpPr/>
          <p:nvPr/>
        </p:nvSpPr>
        <p:spPr>
          <a:xfrm>
            <a:off x="1089486" y="411402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洛伦兹力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A08AB6-EBB4-42BF-96E5-9C653771D2F3}"/>
              </a:ext>
            </a:extLst>
          </p:cNvPr>
          <p:cNvSpPr/>
          <p:nvPr/>
        </p:nvSpPr>
        <p:spPr>
          <a:xfrm>
            <a:off x="5539566" y="818377"/>
            <a:ext cx="565675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0"/>
              </a:spcBef>
              <a:buFontTx/>
              <a:buChar char="-"/>
            </a:pPr>
            <a:r>
              <a:rPr kumimoji="1"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磁力的方向总是与电荷运动方向垂直</a:t>
            </a:r>
            <a:endParaRPr kumimoji="1"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 algn="just">
              <a:spcBef>
                <a:spcPct val="0"/>
              </a:spcBef>
              <a:buFontTx/>
              <a:buChar char="-"/>
            </a:pPr>
            <a:endParaRPr kumimoji="1"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 algn="just">
              <a:spcBef>
                <a:spcPct val="0"/>
              </a:spcBef>
              <a:buFontTx/>
              <a:buChar char="-"/>
            </a:pPr>
            <a:r>
              <a:rPr kumimoji="1"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在特定运动方向不受力，且磁力的方向与不受力方向垂直</a:t>
            </a:r>
            <a:endParaRPr kumimoji="1"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 algn="just">
              <a:spcBef>
                <a:spcPct val="0"/>
              </a:spcBef>
              <a:buFontTx/>
              <a:buChar char="-"/>
            </a:pPr>
            <a:endParaRPr kumimoji="1"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 algn="just">
              <a:spcBef>
                <a:spcPct val="0"/>
              </a:spcBef>
              <a:buFontTx/>
              <a:buChar char="-"/>
            </a:pPr>
            <a:r>
              <a:rPr kumimoji="1"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磁力与速度大小和带电量成正比</a:t>
            </a:r>
            <a:endParaRPr kumimoji="1"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 algn="just">
              <a:spcBef>
                <a:spcPct val="0"/>
              </a:spcBef>
              <a:buFontTx/>
              <a:buChar char="-"/>
            </a:pPr>
            <a:endParaRPr kumimoji="1"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 algn="just">
              <a:spcBef>
                <a:spcPct val="0"/>
              </a:spcBef>
              <a:buFontTx/>
              <a:buChar char="-"/>
            </a:pPr>
            <a:r>
              <a:rPr kumimoji="1"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速度方向和不受力方向的夹角影响磁力大小</a:t>
            </a:r>
            <a:endParaRPr kumimoji="1"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 algn="just">
              <a:spcBef>
                <a:spcPct val="0"/>
              </a:spcBef>
              <a:buFontTx/>
              <a:buChar char="-"/>
            </a:pPr>
            <a:endParaRPr kumimoji="1"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D0553A4-832F-4DC2-8CC4-DF25AD12320A}"/>
                  </a:ext>
                </a:extLst>
              </p:cNvPr>
              <p:cNvSpPr/>
              <p:nvPr/>
            </p:nvSpPr>
            <p:spPr>
              <a:xfrm>
                <a:off x="862985" y="5528051"/>
                <a:ext cx="4029319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检验电荷：质量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m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，带电量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q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，运动速度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等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endParaRPr lang="en-US" sz="28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D0553A4-832F-4DC2-8CC4-DF25AD1232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85" y="5528051"/>
                <a:ext cx="4029319" cy="954107"/>
              </a:xfrm>
              <a:prstGeom prst="rect">
                <a:avLst/>
              </a:prstGeom>
              <a:blipFill>
                <a:blip r:embed="rId3"/>
                <a:stretch>
                  <a:fillRect l="-3177" t="-7051" r="-2118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70">
            <a:extLst>
              <a:ext uri="{FF2B5EF4-FFF2-40B4-BE49-F238E27FC236}">
                <a16:creationId xmlns:a16="http://schemas.microsoft.com/office/drawing/2014/main" id="{E18606AD-1B65-40A8-9DD9-81EDBB6BE3F8}"/>
              </a:ext>
            </a:extLst>
          </p:cNvPr>
          <p:cNvGrpSpPr>
            <a:grpSpLocks/>
          </p:cNvGrpSpPr>
          <p:nvPr/>
        </p:nvGrpSpPr>
        <p:grpSpPr bwMode="auto">
          <a:xfrm>
            <a:off x="6233160" y="5225870"/>
            <a:ext cx="4756150" cy="722313"/>
            <a:chOff x="700" y="1384"/>
            <a:chExt cx="2996" cy="455"/>
          </a:xfrm>
        </p:grpSpPr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1D16DE00-007D-4EF3-980D-6B1F605A4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7" y="1507"/>
              <a:ext cx="21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0" dirty="0">
                  <a:solidFill>
                    <a:srgbClr val="0066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与                    无关</a:t>
              </a:r>
            </a:p>
          </p:txBody>
        </p:sp>
        <p:grpSp>
          <p:nvGrpSpPr>
            <p:cNvPr id="16" name="Group 69">
              <a:extLst>
                <a:ext uri="{FF2B5EF4-FFF2-40B4-BE49-F238E27FC236}">
                  <a16:creationId xmlns:a16="http://schemas.microsoft.com/office/drawing/2014/main" id="{4D64B101-AD5F-46FF-9455-FA0576443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0" y="1384"/>
              <a:ext cx="2044" cy="455"/>
              <a:chOff x="700" y="1397"/>
              <a:chExt cx="2044" cy="4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Object 15">
                    <a:extLst>
                      <a:ext uri="{FF2B5EF4-FFF2-40B4-BE49-F238E27FC236}">
                        <a16:creationId xmlns:a16="http://schemas.microsoft.com/office/drawing/2014/main" id="{D204BCD9-1E88-4063-ADD6-C9A05D561144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00" y="1397"/>
                    <a:ext cx="684" cy="45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80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num>
                            <m:den>
                              <m:r>
                                <a:rPr 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𝑞𝑣</m:t>
                              </m:r>
                              <m:func>
                                <m:funcPr>
                                  <m:ctrlPr>
                                    <a:rPr lang="en-US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kumimoji="1" lang="zh-CN" altLang="en-US" sz="2800" b="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den>
                          </m:f>
                        </m:oMath>
                      </m:oMathPara>
                    </a14:m>
                    <a:endParaRPr lang="en-US" sz="2800" dirty="0">
                      <a:solidFill>
                        <a:srgbClr val="0066FF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3" name="Object 15">
                    <a:extLst>
                      <a:ext uri="{FF2B5EF4-FFF2-40B4-BE49-F238E27FC236}">
                        <a16:creationId xmlns:a16="http://schemas.microsoft.com/office/drawing/2014/main" id="{6164C643-FECE-4D3E-AFEF-31A1D99947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00" y="1397"/>
                    <a:ext cx="684" cy="45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3371" b="-9244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Object 16">
                    <a:extLst>
                      <a:ext uri="{FF2B5EF4-FFF2-40B4-BE49-F238E27FC236}">
                        <a16:creationId xmlns:a16="http://schemas.microsoft.com/office/drawing/2014/main" id="{0D72AF31-8617-4D3D-8E01-F6CE72824B8C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845" y="1523"/>
                    <a:ext cx="899" cy="26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、</m:t>
                          </m:r>
                          <m: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、</m:t>
                          </m:r>
                          <m: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2800" dirty="0">
                      <a:solidFill>
                        <a:srgbClr val="0066FF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4" name="Object 16">
                    <a:extLst>
                      <a:ext uri="{FF2B5EF4-FFF2-40B4-BE49-F238E27FC236}">
                        <a16:creationId xmlns:a16="http://schemas.microsoft.com/office/drawing/2014/main" id="{C96B9F74-9C0D-44C2-80B6-8D2FCCCBBD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845" y="1523"/>
                    <a:ext cx="899" cy="26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8841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9" name="Text Box 47">
            <a:extLst>
              <a:ext uri="{FF2B5EF4-FFF2-40B4-BE49-F238E27FC236}">
                <a16:creationId xmlns:a16="http://schemas.microsoft.com/office/drawing/2014/main" id="{1F73CE73-A2D9-49D1-8110-97E1E77C6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2632" y="6219457"/>
            <a:ext cx="3173319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只与空间位置有关</a:t>
            </a:r>
          </a:p>
        </p:txBody>
      </p:sp>
    </p:spTree>
    <p:extLst>
      <p:ext uri="{BB962C8B-B14F-4D97-AF65-F5344CB8AC3E}">
        <p14:creationId xmlns:p14="http://schemas.microsoft.com/office/powerpoint/2010/main" val="368921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5F6E8B-6E21-49FA-9CBA-4207836AEFA6}"/>
              </a:ext>
            </a:extLst>
          </p:cNvPr>
          <p:cNvSpPr/>
          <p:nvPr/>
        </p:nvSpPr>
        <p:spPr>
          <a:xfrm>
            <a:off x="775529" y="380006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磁感应强度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5F40A85-6FBE-44BD-B1F2-868ED6502C2C}"/>
                  </a:ext>
                </a:extLst>
              </p:cNvPr>
              <p:cNvSpPr/>
              <p:nvPr/>
            </p:nvSpPr>
            <p:spPr>
              <a:xfrm>
                <a:off x="1041887" y="5759175"/>
                <a:ext cx="6788216" cy="10063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ct val="0"/>
                  </a:spcBef>
                </a:pPr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规定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方向使得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  <m:r>
                      <a:rPr kumimoji="1" lang="en-US" altLang="zh-CN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的方向是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的方向</a:t>
                </a:r>
                <a:endParaRPr kumimoji="1"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</a:pPr>
                <a:endParaRPr kumimoji="1"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5F40A85-6FBE-44BD-B1F2-868ED6502C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887" y="5759175"/>
                <a:ext cx="6788216" cy="1006366"/>
              </a:xfrm>
              <a:prstGeom prst="rect">
                <a:avLst/>
              </a:prstGeom>
              <a:blipFill>
                <a:blip r:embed="rId2"/>
                <a:stretch>
                  <a:fillRect l="-1887" t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66F4752-B264-4827-91C8-2B7B9B263E34}"/>
                  </a:ext>
                </a:extLst>
              </p:cNvPr>
              <p:cNvSpPr/>
              <p:nvPr/>
            </p:nvSpPr>
            <p:spPr>
              <a:xfrm>
                <a:off x="125097" y="4819901"/>
                <a:ext cx="841726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CN" altLang="en-US" sz="2800" dirty="0">
                    <a:solidFill>
                      <a:srgbClr val="C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单位：</a:t>
                </a:r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特斯拉（</a:t>
                </a:r>
                <a:r>
                  <a:rPr kumimoji="1"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T</a:t>
                </a:r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 高斯（</a:t>
                </a:r>
                <a:r>
                  <a:rPr kumimoji="1" lang="en-US" altLang="zh-CN" sz="2800" dirty="0" err="1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Gs</a:t>
                </a:r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  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1</m:t>
                    </m:r>
                    <m:r>
                      <m:rPr>
                        <m:sty m:val="p"/>
                      </m:rPr>
                      <a:rPr kumimoji="1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T</m:t>
                    </m:r>
                    <m:r>
                      <a:rPr kumimoji="1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pPr>
                      <m:e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10</m:t>
                        </m:r>
                      </m:e>
                      <m:sup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kumimoji="1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Gs</m:t>
                    </m:r>
                  </m:oMath>
                </a14:m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66F4752-B264-4827-91C8-2B7B9B263E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97" y="4819901"/>
                <a:ext cx="8417269" cy="523220"/>
              </a:xfrm>
              <a:prstGeom prst="rect">
                <a:avLst/>
              </a:prstGeom>
              <a:blipFill>
                <a:blip r:embed="rId3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578F68C0-588D-447B-9365-16EDC0B4A4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38288" y="1886889"/>
                <a:ext cx="2026078" cy="531142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𝑭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kumimoji="1" lang="en-US" altLang="zh-CN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𝒒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𝒗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0066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578F68C0-588D-447B-9365-16EDC0B4A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288" y="1886889"/>
                <a:ext cx="2026078" cy="531142"/>
              </a:xfrm>
              <a:prstGeom prst="rect">
                <a:avLst/>
              </a:prstGeom>
              <a:blipFill>
                <a:blip r:embed="rId4"/>
                <a:stretch>
                  <a:fillRect b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内容占位符 9">
            <a:extLst>
              <a:ext uri="{FF2B5EF4-FFF2-40B4-BE49-F238E27FC236}">
                <a16:creationId xmlns:a16="http://schemas.microsoft.com/office/drawing/2014/main" id="{BC3A0167-FEAB-4B49-A7B9-4A03A9A139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46" y="1214666"/>
            <a:ext cx="2597937" cy="2726993"/>
          </a:xfrm>
          <a:prstGeom prst="rect">
            <a:avLst/>
          </a:prstGeom>
        </p:spPr>
      </p:pic>
      <p:grpSp>
        <p:nvGrpSpPr>
          <p:cNvPr id="10" name="Group 70">
            <a:extLst>
              <a:ext uri="{FF2B5EF4-FFF2-40B4-BE49-F238E27FC236}">
                <a16:creationId xmlns:a16="http://schemas.microsoft.com/office/drawing/2014/main" id="{10A5D7D0-1AF0-49AC-84CB-A2A3C9104F62}"/>
              </a:ext>
            </a:extLst>
          </p:cNvPr>
          <p:cNvGrpSpPr>
            <a:grpSpLocks/>
          </p:cNvGrpSpPr>
          <p:nvPr/>
        </p:nvGrpSpPr>
        <p:grpSpPr bwMode="auto">
          <a:xfrm>
            <a:off x="3628234" y="1382840"/>
            <a:ext cx="4756150" cy="722313"/>
            <a:chOff x="700" y="1384"/>
            <a:chExt cx="2996" cy="455"/>
          </a:xfrm>
        </p:grpSpPr>
        <p:sp>
          <p:nvSpPr>
            <p:cNvPr id="11" name="Text Box 17">
              <a:extLst>
                <a:ext uri="{FF2B5EF4-FFF2-40B4-BE49-F238E27FC236}">
                  <a16:creationId xmlns:a16="http://schemas.microsoft.com/office/drawing/2014/main" id="{BC4C2A3C-68F8-4431-8E05-020D5A1F1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7" y="1507"/>
              <a:ext cx="21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与                    无关</a:t>
              </a:r>
            </a:p>
          </p:txBody>
        </p:sp>
        <p:grpSp>
          <p:nvGrpSpPr>
            <p:cNvPr id="12" name="Group 69">
              <a:extLst>
                <a:ext uri="{FF2B5EF4-FFF2-40B4-BE49-F238E27FC236}">
                  <a16:creationId xmlns:a16="http://schemas.microsoft.com/office/drawing/2014/main" id="{B07BB30E-717F-4746-916F-764E0757D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0" y="1384"/>
              <a:ext cx="2044" cy="455"/>
              <a:chOff x="700" y="1397"/>
              <a:chExt cx="2044" cy="4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Object 15">
                    <a:extLst>
                      <a:ext uri="{FF2B5EF4-FFF2-40B4-BE49-F238E27FC236}">
                        <a16:creationId xmlns:a16="http://schemas.microsoft.com/office/drawing/2014/main" id="{6164C643-FECE-4D3E-AFEF-31A1D99947C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00" y="1397"/>
                    <a:ext cx="684" cy="45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num>
                            <m:den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𝑞𝑣</m:t>
                              </m:r>
                              <m:func>
                                <m:func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kumimoji="1" lang="zh-CN" alt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den>
                          </m:f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3" name="Object 15">
                    <a:extLst>
                      <a:ext uri="{FF2B5EF4-FFF2-40B4-BE49-F238E27FC236}">
                        <a16:creationId xmlns:a16="http://schemas.microsoft.com/office/drawing/2014/main" id="{6164C643-FECE-4D3E-AFEF-31A1D99947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00" y="1397"/>
                    <a:ext cx="684" cy="45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3371" b="-9244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Object 16">
                    <a:extLst>
                      <a:ext uri="{FF2B5EF4-FFF2-40B4-BE49-F238E27FC236}">
                        <a16:creationId xmlns:a16="http://schemas.microsoft.com/office/drawing/2014/main" id="{C96B9F74-9C0D-44C2-80B6-8D2FCCCBBD9C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845" y="1523"/>
                    <a:ext cx="899" cy="26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、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、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4" name="Object 16">
                    <a:extLst>
                      <a:ext uri="{FF2B5EF4-FFF2-40B4-BE49-F238E27FC236}">
                        <a16:creationId xmlns:a16="http://schemas.microsoft.com/office/drawing/2014/main" id="{C96B9F74-9C0D-44C2-80B6-8D2FCCCBBD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845" y="1523"/>
                    <a:ext cx="899" cy="26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8841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5" name="Text Box 47">
            <a:extLst>
              <a:ext uri="{FF2B5EF4-FFF2-40B4-BE49-F238E27FC236}">
                <a16:creationId xmlns:a16="http://schemas.microsoft.com/office/drawing/2014/main" id="{123F3339-E2FB-4DF4-B200-6DD6BBF2F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360" y="2485872"/>
            <a:ext cx="3173319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只与空间位置有关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9">
                <a:extLst>
                  <a:ext uri="{FF2B5EF4-FFF2-40B4-BE49-F238E27FC236}">
                    <a16:creationId xmlns:a16="http://schemas.microsoft.com/office/drawing/2014/main" id="{F320E934-5634-4164-A7BB-2E7D7D601760}"/>
                  </a:ext>
                </a:extLst>
              </p:cNvPr>
              <p:cNvSpPr txBox="1"/>
              <p:nvPr/>
            </p:nvSpPr>
            <p:spPr bwMode="auto">
              <a:xfrm>
                <a:off x="2269252" y="3513130"/>
                <a:ext cx="2366963" cy="12334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𝑞𝑣</m:t>
                          </m:r>
                          <m:r>
                            <m:rPr>
                              <m:nor/>
                            </m:rPr>
                            <a:rPr lang="en-US" sz="2800" i="0">
                              <a:solidFill>
                                <a:srgbClr val="0066FF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m:t>sin</m:t>
                          </m:r>
                          <m:r>
                            <m:rPr>
                              <m:nor/>
                            </m:rPr>
                            <a:rPr lang="en-US" sz="2800">
                              <a:solidFill>
                                <a:srgbClr val="0066FF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m:t>𝜶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" name="Object 19">
                <a:extLst>
                  <a:ext uri="{FF2B5EF4-FFF2-40B4-BE49-F238E27FC236}">
                    <a16:creationId xmlns:a16="http://schemas.microsoft.com/office/drawing/2014/main" id="{F320E934-5634-4164-A7BB-2E7D7D601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9252" y="3513130"/>
                <a:ext cx="2366963" cy="12334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4AE05CDB-3787-4F6D-830C-C479B80531A6}"/>
              </a:ext>
            </a:extLst>
          </p:cNvPr>
          <p:cNvSpPr/>
          <p:nvPr/>
        </p:nvSpPr>
        <p:spPr>
          <a:xfrm>
            <a:off x="4559533" y="3732425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磁感应强度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F6C90D-E245-4327-943F-4222A9754F91}"/>
              </a:ext>
            </a:extLst>
          </p:cNvPr>
          <p:cNvSpPr/>
          <p:nvPr/>
        </p:nvSpPr>
        <p:spPr>
          <a:xfrm>
            <a:off x="8674898" y="1150005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洛伦兹力：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7" name="Picture 2" descr="https://upload.wikimedia.org/wikipedia/commons/thumb/d/d2/Right_hand_rule_cross_product.svg/220px-Right_hand_rule_cross_product.svg.png">
            <a:extLst>
              <a:ext uri="{FF2B5EF4-FFF2-40B4-BE49-F238E27FC236}">
                <a16:creationId xmlns:a16="http://schemas.microsoft.com/office/drawing/2014/main" id="{868B88EE-7278-4C8A-81F6-1F2738024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248" y="3046297"/>
            <a:ext cx="209550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https://upload.wikimedia.org/wikipedia/commons/thumb/b/b0/Cross_product_vector.svg/220px-Cross_product_vector.svg.png">
            <a:extLst>
              <a:ext uri="{FF2B5EF4-FFF2-40B4-BE49-F238E27FC236}">
                <a16:creationId xmlns:a16="http://schemas.microsoft.com/office/drawing/2014/main" id="{D06833D9-FD97-4733-91AE-E45B91695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5447" y="3340499"/>
            <a:ext cx="1917837" cy="266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1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20" grpId="0"/>
      <p:bldP spid="25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5481" t="2511" r="3491"/>
          <a:stretch/>
        </p:blipFill>
        <p:spPr>
          <a:xfrm>
            <a:off x="2182334" y="635000"/>
            <a:ext cx="7599206" cy="6223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3059BC4-86C7-4AD4-8530-C92306327A18}"/>
              </a:ext>
            </a:extLst>
          </p:cNvPr>
          <p:cNvSpPr/>
          <p:nvPr/>
        </p:nvSpPr>
        <p:spPr>
          <a:xfrm>
            <a:off x="8214360" y="398487"/>
            <a:ext cx="31343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ea typeface="华文楷体" panose="02010600040101010101" pitchFamily="2" charset="-122"/>
              </a:rPr>
              <a:t>单位：特斯拉（</a:t>
            </a:r>
            <a:r>
              <a:rPr kumimoji="1" lang="en-US" altLang="zh-CN" sz="2800" dirty="0">
                <a:ea typeface="华文楷体" panose="02010600040101010101" pitchFamily="2" charset="-122"/>
              </a:rPr>
              <a:t>T</a:t>
            </a:r>
            <a:r>
              <a:rPr kumimoji="1" lang="zh-CN" altLang="en-US" sz="2800" dirty="0">
                <a:ea typeface="华文楷体" panose="02010600040101010101" pitchFamily="2" charset="-122"/>
              </a:rPr>
              <a:t>）</a:t>
            </a:r>
            <a:endParaRPr lang="en-US" sz="28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93D20D-CE6F-47A9-8CB8-204468335C0C}"/>
              </a:ext>
            </a:extLst>
          </p:cNvPr>
          <p:cNvSpPr/>
          <p:nvPr/>
        </p:nvSpPr>
        <p:spPr>
          <a:xfrm>
            <a:off x="775529" y="380006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磁感应强度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959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5D3C5975-7451-499D-8565-A5196EE6451B}"/>
              </a:ext>
            </a:extLst>
          </p:cNvPr>
          <p:cNvSpPr/>
          <p:nvPr/>
        </p:nvSpPr>
        <p:spPr>
          <a:xfrm>
            <a:off x="844491" y="552726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磁感应线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Picture 2" descr="1">
            <a:extLst>
              <a:ext uri="{FF2B5EF4-FFF2-40B4-BE49-F238E27FC236}">
                <a16:creationId xmlns:a16="http://schemas.microsoft.com/office/drawing/2014/main" id="{62D49BE5-47E5-31DF-0A15-6132A3B9C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76" t="1555" r="3794" b="12755"/>
          <a:stretch/>
        </p:blipFill>
        <p:spPr>
          <a:xfrm>
            <a:off x="507708" y="1474194"/>
            <a:ext cx="6311175" cy="432208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2" descr="FG28_02">
            <a:extLst>
              <a:ext uri="{FF2B5EF4-FFF2-40B4-BE49-F238E27FC236}">
                <a16:creationId xmlns:a16="http://schemas.microsoft.com/office/drawing/2014/main" id="{8CA766A3-BD2B-D8D5-DCED-C759B632A8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68424" b="41498"/>
          <a:stretch/>
        </p:blipFill>
        <p:spPr bwMode="auto">
          <a:xfrm rot="5400000">
            <a:off x="6844549" y="1386054"/>
            <a:ext cx="4322087" cy="4498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730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5D3C5975-7451-499D-8565-A5196EE6451B}"/>
              </a:ext>
            </a:extLst>
          </p:cNvPr>
          <p:cNvSpPr/>
          <p:nvPr/>
        </p:nvSpPr>
        <p:spPr>
          <a:xfrm>
            <a:off x="844491" y="552726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磁感应线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内容占位符 7">
                <a:extLst>
                  <a:ext uri="{FF2B5EF4-FFF2-40B4-BE49-F238E27FC236}">
                    <a16:creationId xmlns:a16="http://schemas.microsoft.com/office/drawing/2014/main" id="{525A20EE-C330-482A-8890-7A05E29D3D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031" y="3541723"/>
                <a:ext cx="6100209" cy="435133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57200">
                  <a:lnSpc>
                    <a:spcPct val="100000"/>
                  </a:lnSpc>
                  <a:spcBef>
                    <a:spcPct val="0"/>
                  </a:spcBef>
                  <a:buFontTx/>
                  <a:buChar char="-"/>
                </a:pPr>
                <a:r>
                  <a:rPr kumimoji="1" lang="zh-CN" altLang="en-US" spc="300" dirty="0">
                    <a:solidFill>
                      <a:prstClr val="black"/>
                    </a:solidFill>
                    <a:latin typeface="华文楷体" panose="02010600040101010101" pitchFamily="2" charset="-122"/>
                  </a:rPr>
                  <a:t>磁感应线上任意一点的切向代表该点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i="1" spc="3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a:rPr kumimoji="1" lang="en-US" altLang="zh-CN" i="1" spc="3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kumimoji="1" lang="zh-CN" altLang="en-US" spc="300" dirty="0">
                    <a:solidFill>
                      <a:prstClr val="black"/>
                    </a:solidFill>
                    <a:latin typeface="华文楷体" panose="02010600040101010101" pitchFamily="2" charset="-122"/>
                  </a:rPr>
                  <a:t>的方向</a:t>
                </a:r>
                <a:endParaRPr kumimoji="1" lang="en-US" altLang="zh-CN" spc="300" dirty="0">
                  <a:solidFill>
                    <a:prstClr val="black"/>
                  </a:solidFill>
                  <a:latin typeface="华文楷体" panose="02010600040101010101" pitchFamily="2" charset="-122"/>
                </a:endParaRPr>
              </a:p>
              <a:p>
                <a:pPr marL="0" indent="0" defTabSz="457200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kumimoji="1" lang="en-US" altLang="zh-CN" spc="300" dirty="0">
                  <a:solidFill>
                    <a:prstClr val="black"/>
                  </a:solidFill>
                  <a:latin typeface="华文楷体" panose="02010600040101010101" pitchFamily="2" charset="-122"/>
                </a:endParaRPr>
              </a:p>
              <a:p>
                <a:pPr marL="0" indent="0" defTabSz="457200">
                  <a:lnSpc>
                    <a:spcPct val="100000"/>
                  </a:lnSpc>
                  <a:spcBef>
                    <a:spcPct val="0"/>
                  </a:spcBef>
                  <a:buNone/>
                </a:pPr>
                <a:r>
                  <a:rPr kumimoji="1" lang="en-US" altLang="zh-CN" spc="300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- </a:t>
                </a:r>
                <a:r>
                  <a:rPr kumimoji="1" lang="zh-CN" altLang="en-US" spc="300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某点垂直于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a:rPr kumimoji="1" lang="en-US" altLang="zh-CN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kumimoji="1" lang="zh-CN" altLang="en-US" spc="300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矢量的单位面积的磁感应线数等于该点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a:rPr kumimoji="1" lang="en-US" altLang="zh-CN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kumimoji="1" lang="zh-CN" altLang="en-US" spc="300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矢量的大小</a:t>
                </a:r>
                <a:endParaRPr lang="zh-CN" altLang="en-US" spc="3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8" name="内容占位符 7">
                <a:extLst>
                  <a:ext uri="{FF2B5EF4-FFF2-40B4-BE49-F238E27FC236}">
                    <a16:creationId xmlns:a16="http://schemas.microsoft.com/office/drawing/2014/main" id="{525A20EE-C330-482A-8890-7A05E29D3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31" y="3541723"/>
                <a:ext cx="6100209" cy="4351338"/>
              </a:xfrm>
              <a:prstGeom prst="rect">
                <a:avLst/>
              </a:prstGeom>
              <a:blipFill>
                <a:blip r:embed="rId2"/>
                <a:stretch>
                  <a:fillRect l="-1998" t="-15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内容占位符 9">
            <a:extLst>
              <a:ext uri="{FF2B5EF4-FFF2-40B4-BE49-F238E27FC236}">
                <a16:creationId xmlns:a16="http://schemas.microsoft.com/office/drawing/2014/main" id="{4B8771C0-D904-41BF-AFCD-CA7F9035D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97" y="1336764"/>
            <a:ext cx="2968871" cy="1853296"/>
          </a:xfrm>
          <a:prstGeom prst="rect">
            <a:avLst/>
          </a:prstGeom>
        </p:spPr>
      </p:pic>
      <p:pic>
        <p:nvPicPr>
          <p:cNvPr id="6" name="内容占位符 8">
            <a:extLst>
              <a:ext uri="{FF2B5EF4-FFF2-40B4-BE49-F238E27FC236}">
                <a16:creationId xmlns:a16="http://schemas.microsoft.com/office/drawing/2014/main" id="{B33C841F-F194-BD7B-F14B-752D076486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677" y="426713"/>
            <a:ext cx="2333487" cy="431869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71A967B-A151-30A5-AAE7-D324E18CCACD}"/>
              </a:ext>
            </a:extLst>
          </p:cNvPr>
          <p:cNvSpPr/>
          <p:nvPr/>
        </p:nvSpPr>
        <p:spPr>
          <a:xfrm>
            <a:off x="7056658" y="4939837"/>
            <a:ext cx="2815194" cy="580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与电流套连</a:t>
            </a:r>
            <a:endParaRPr kumimoji="1" lang="en-US" altLang="zh-CN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177224-8FB0-142D-5339-2750C201E1F4}"/>
              </a:ext>
            </a:extLst>
          </p:cNvPr>
          <p:cNvSpPr/>
          <p:nvPr/>
        </p:nvSpPr>
        <p:spPr>
          <a:xfrm>
            <a:off x="7247186" y="5810863"/>
            <a:ext cx="2053767" cy="580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互不相交</a:t>
            </a:r>
            <a:endParaRPr kumimoji="1" lang="en-US" altLang="zh-CN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0" name="内容占位符 8">
            <a:extLst>
              <a:ext uri="{FF2B5EF4-FFF2-40B4-BE49-F238E27FC236}">
                <a16:creationId xmlns:a16="http://schemas.microsoft.com/office/drawing/2014/main" id="{1DEBF681-17C6-4E52-AD01-92A7E5387A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953" y="1627528"/>
            <a:ext cx="2803921" cy="219940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567357D-3001-451D-97BE-DAB4554C2336}"/>
              </a:ext>
            </a:extLst>
          </p:cNvPr>
          <p:cNvSpPr/>
          <p:nvPr/>
        </p:nvSpPr>
        <p:spPr>
          <a:xfrm>
            <a:off x="9732125" y="4745405"/>
            <a:ext cx="2372750" cy="1614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方向与电流成右手螺旋关系</a:t>
            </a:r>
            <a:endParaRPr lang="zh-CN" altLang="en-US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361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6B594CE-BAEF-40D5-B4A7-12CE696BE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016" y="1981194"/>
            <a:ext cx="2272919" cy="3538902"/>
          </a:xfrm>
          <a:prstGeom prst="rect">
            <a:avLst/>
          </a:prstGeom>
        </p:spPr>
      </p:pic>
      <p:pic>
        <p:nvPicPr>
          <p:cNvPr id="5" name="Picture 2" descr="FG28_02">
            <a:extLst>
              <a:ext uri="{FF2B5EF4-FFF2-40B4-BE49-F238E27FC236}">
                <a16:creationId xmlns:a16="http://schemas.microsoft.com/office/drawing/2014/main" id="{FC6BFFA6-F7C8-429B-ADD7-492B656312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424" b="28676"/>
          <a:stretch/>
        </p:blipFill>
        <p:spPr bwMode="auto">
          <a:xfrm>
            <a:off x="7385934" y="2370234"/>
            <a:ext cx="2444941" cy="3102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19A3B35-D94C-4D4A-BE82-DAA0A4DF3BD6}"/>
              </a:ext>
            </a:extLst>
          </p:cNvPr>
          <p:cNvSpPr/>
          <p:nvPr/>
        </p:nvSpPr>
        <p:spPr>
          <a:xfrm>
            <a:off x="719933" y="265711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磁感应线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D48D90-DA2C-4610-901E-3507EE276280}"/>
              </a:ext>
            </a:extLst>
          </p:cNvPr>
          <p:cNvSpPr/>
          <p:nvPr/>
        </p:nvSpPr>
        <p:spPr>
          <a:xfrm>
            <a:off x="4942168" y="5961934"/>
            <a:ext cx="2053767" cy="580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闭合曲线</a:t>
            </a:r>
            <a:endParaRPr kumimoji="1" lang="en-US" altLang="zh-CN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44436-15FA-43C2-A925-6AA1B2FD454F}"/>
              </a:ext>
            </a:extLst>
          </p:cNvPr>
          <p:cNvSpPr/>
          <p:nvPr/>
        </p:nvSpPr>
        <p:spPr>
          <a:xfrm>
            <a:off x="7569475" y="5057038"/>
            <a:ext cx="40671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载流螺线管相当于磁棒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6" name="Picture 4" descr="ne210">
            <a:extLst>
              <a:ext uri="{FF2B5EF4-FFF2-40B4-BE49-F238E27FC236}">
                <a16:creationId xmlns:a16="http://schemas.microsoft.com/office/drawing/2014/main" id="{5CA4DD7F-D5CD-4DA9-B2D7-AF17D08D6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045" y="1981194"/>
            <a:ext cx="2452229" cy="172114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7CA6D2C-49E5-448C-A918-6E6F442A93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840" y="1774386"/>
            <a:ext cx="2138105" cy="4477628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79043B2-4C70-49B0-BC23-02A03A50CAA8}"/>
              </a:ext>
            </a:extLst>
          </p:cNvPr>
          <p:cNvSpPr/>
          <p:nvPr/>
        </p:nvSpPr>
        <p:spPr>
          <a:xfrm>
            <a:off x="1011458" y="833373"/>
            <a:ext cx="2815194" cy="580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与电流套连</a:t>
            </a:r>
            <a:endParaRPr kumimoji="1" lang="en-US" altLang="zh-CN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C132483-3A3B-4B24-BEAF-5328EB89089B}"/>
              </a:ext>
            </a:extLst>
          </p:cNvPr>
          <p:cNvSpPr/>
          <p:nvPr/>
        </p:nvSpPr>
        <p:spPr>
          <a:xfrm>
            <a:off x="3826652" y="833373"/>
            <a:ext cx="2053767" cy="580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互不相交</a:t>
            </a:r>
            <a:endParaRPr kumimoji="1" lang="en-US" altLang="zh-CN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836622-3CC9-471E-8C42-D8D04BA47870}"/>
              </a:ext>
            </a:extLst>
          </p:cNvPr>
          <p:cNvSpPr/>
          <p:nvPr/>
        </p:nvSpPr>
        <p:spPr>
          <a:xfrm>
            <a:off x="6106035" y="833980"/>
            <a:ext cx="5234125" cy="580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方向与电流成右手螺旋关系</a:t>
            </a:r>
            <a:endParaRPr lang="zh-CN" altLang="en-US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553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大学物理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CA343C45D49B2744AE1406E56A2ED666" ma:contentTypeVersion="1" ma:contentTypeDescription="新建文档。" ma:contentTypeScope="" ma:versionID="6b0f810430c447e99b80ecacf0b04663">
  <xsd:schema xmlns:xsd="http://www.w3.org/2001/XMLSchema" xmlns:xs="http://www.w3.org/2001/XMLSchema" xmlns:p="http://schemas.microsoft.com/office/2006/metadata/properties" xmlns:ns3="25ea6e4d-8952-4839-be57-11fda0df19d2" targetNamespace="http://schemas.microsoft.com/office/2006/metadata/properties" ma:root="true" ma:fieldsID="eb43a71fd68e81875b93fced2c01a36c" ns3:_="">
    <xsd:import namespace="25ea6e4d-8952-4839-be57-11fda0df19d2"/>
    <xsd:element name="properties">
      <xsd:complexType>
        <xsd:sequence>
          <xsd:element name="documentManagement">
            <xsd:complexType>
              <xsd:all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ea6e4d-8952-4839-be57-11fda0df19d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5ea6e4d-8952-4839-be57-11fda0df19d2" xsi:nil="true"/>
  </documentManagement>
</p:properties>
</file>

<file path=customXml/itemProps1.xml><?xml version="1.0" encoding="utf-8"?>
<ds:datastoreItem xmlns:ds="http://schemas.openxmlformats.org/officeDocument/2006/customXml" ds:itemID="{3B0120BB-0242-44D2-A7C4-92F3A0AE11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ea6e4d-8952-4839-be57-11fda0df19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BC6AA1-A723-4C18-A512-D9ED6B3D7C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80EDA7-8B72-4DCC-8942-51E1EC2DBC5E}">
  <ds:schemaRefs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25ea6e4d-8952-4839-be57-11fda0df19d2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17126</TotalTime>
  <Words>1927</Words>
  <Application>Microsoft Office PowerPoint</Application>
  <PresentationFormat>宽屏</PresentationFormat>
  <Paragraphs>319</Paragraphs>
  <Slides>33</Slides>
  <Notes>3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Helvetica Neue</vt:lpstr>
      <vt:lpstr>华文楷体</vt:lpstr>
      <vt:lpstr>华文中宋</vt:lpstr>
      <vt:lpstr>Arial</vt:lpstr>
      <vt:lpstr>Calibri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稳恒电流</vt:lpstr>
      <vt:lpstr>稳恒电流</vt:lpstr>
      <vt:lpstr>欧姆定律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电容器的充电与放电</vt:lpstr>
      <vt:lpstr>电容器的充电与放电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Jingcheng  Li</dc:creator>
  <cp:lastModifiedBy>竟成</cp:lastModifiedBy>
  <cp:revision>314</cp:revision>
  <dcterms:created xsi:type="dcterms:W3CDTF">2023-02-17T03:39:54Z</dcterms:created>
  <dcterms:modified xsi:type="dcterms:W3CDTF">2024-04-16T06:37:01Z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0x010100CA343C45D49B2744AE1406E56A2ED666</vt:lpwstr>
  </property>
</Properties>
</file>