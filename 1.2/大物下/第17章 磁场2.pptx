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973" r:id="rId2"/>
    <p:sldId id="1258" r:id="rId3"/>
    <p:sldId id="1260" r:id="rId4"/>
    <p:sldId id="1256" r:id="rId5"/>
    <p:sldId id="417" r:id="rId6"/>
    <p:sldId id="938" r:id="rId7"/>
    <p:sldId id="940" r:id="rId8"/>
    <p:sldId id="1257" r:id="rId9"/>
    <p:sldId id="409" r:id="rId10"/>
    <p:sldId id="410" r:id="rId11"/>
    <p:sldId id="411" r:id="rId12"/>
    <p:sldId id="424" r:id="rId13"/>
    <p:sldId id="943" r:id="rId14"/>
    <p:sldId id="945" r:id="rId15"/>
    <p:sldId id="1259" r:id="rId16"/>
    <p:sldId id="947" r:id="rId17"/>
    <p:sldId id="282" r:id="rId18"/>
    <p:sldId id="949" r:id="rId19"/>
    <p:sldId id="950" r:id="rId20"/>
    <p:sldId id="975" r:id="rId21"/>
    <p:sldId id="974" r:id="rId22"/>
    <p:sldId id="951" r:id="rId23"/>
    <p:sldId id="114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99FF"/>
    <a:srgbClr val="0066CC"/>
    <a:srgbClr val="00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17.wmf"/><Relationship Id="rId1" Type="http://schemas.openxmlformats.org/officeDocument/2006/relationships/image" Target="../media/image24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1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08245-6742-4EFC-BDD9-54B6E7D9E50E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5DE3A-83F4-4EB4-ACBA-3DC8C8879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5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37333B23-4EA5-4B4F-8B75-8DDF5CDA6A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F64AA1-915D-4C62-A90C-CD7FE2994A5A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4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2FFD4D9-8A50-4976-9C77-DD3BCBE3F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F9B2F61-1331-45F6-97CA-A21ABD5FA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191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37333B23-4EA5-4B4F-8B75-8DDF5CDA6A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F64AA1-915D-4C62-A90C-CD7FE2994A5A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5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2FFD4D9-8A50-4976-9C77-DD3BCBE3F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F9B2F61-1331-45F6-97CA-A21ABD5FA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85321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D924B-2E04-4520-B540-8EB69FA88927}" type="slidenum">
              <a:rPr lang="zh-CN" altLang="en-US" smtClean="0">
                <a:ea typeface="华文楷体" panose="02010600040101010101" pitchFamily="2" charset="-122"/>
              </a:rPr>
              <a:t>6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666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077850D1-BCA3-4C17-BB12-FA90A07B4A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55322F-63B5-4E59-A5F4-952894F62BEB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12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8AD9AB4B-8D8F-4E72-9796-36FBD7C742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30370AED-F213-41F7-ADDB-8D86F771B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59682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B649E-CA0C-413C-AF46-327DF25B2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390545-C0FD-4BE3-B0AD-A0D50EDE1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DB290E-E783-4B14-A660-492D5B7A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28203B-C380-4036-8AE2-74C289A9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BF459-75F9-4867-8B76-2BA13103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1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E3567-BDF8-4A53-840E-C23FF3D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FC1E8-AE91-44D8-BDD3-FA860E19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F32A38-21AE-44A1-92B1-1C109CFC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E23C9-87AA-497F-9A57-0F7337D9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2169E4-19E9-4988-B65F-8C5C0190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11B75-02EF-442C-9C20-953E01DC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08F14-C30F-4B2B-AC9C-3EB6FE738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00FA8-52FF-4377-9CD9-BF35A5F8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C6D92-9A3F-461D-93F6-1D85BD87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70F24-C512-402D-A1F6-CC76642D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9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B8DC8-1100-48E0-AB16-7F8D852B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A539F-3C0B-4ABE-B323-C5115356D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7CE6B3-D656-4527-8366-B77B9614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B36C20-3512-456B-A4DE-36C4D631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92A7C9-CE05-4DA8-A250-AA16F13B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27F3E8-1F60-4F06-9505-70B5C394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0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0DB6F-718B-4A50-9651-1CE91CAE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AA99F6-04C6-480F-9AD4-7B221AD76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6CF9B9-7A58-4311-AE4A-6BF90FF83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F113B9-5917-46D5-BDF3-97536C84A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0BF0A9-7944-4AFD-A69E-2BA785913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3AAC39-6924-4AFB-BA19-E50CF553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832BF4-6F62-4632-88DF-DB518F15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7F9F55-4766-4D03-A824-9B68AC4B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D4C0D-D96F-4C34-8716-A2757A84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E493AC-632A-4C2E-88FD-E334CA69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83B8CE-1EAF-4DA9-B155-841163B8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B0420E-3EB1-43E9-85BA-0B668D10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CF4BDD-D7F0-48FC-B635-7B743A75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6B7676-C38B-4A22-B416-8EE7A8ED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1D00D-7547-4C40-A013-7B5CC8CF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4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DAC86-5309-4D7B-89F2-B38864112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26EBD-D039-410D-BEC1-5CA2C191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739DB3-8A43-44A3-9257-FEC1A1E8D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BAD11F-A55D-47B3-BAC2-F3007F96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DCDE4E-BBD1-4DF0-A975-4BACECDE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BDB0EC-2010-46B5-AB99-D4B66EC8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2FB18-90E6-46BD-AA31-02FA74F0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C2E9AC-2A5F-4FAE-A0D5-9DE5D4235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B72A3D-94DF-47AC-91DA-4BF7F08E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D27FF8-A3F7-4194-9131-2ED8BE1D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332FC9-57F0-4859-8974-C6ED867F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992B2F-9F2C-49B6-A878-2D264BAF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7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4F0C5-6D98-41F2-A190-BDF62C0B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235BFB-0938-446C-B194-4A216CCCE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A4335-E8A0-485D-ACA7-E0E9E4B9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5592F-5281-4442-BBA4-E59F50D5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27F9F-3E0F-4E73-BD17-C68062B4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6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2A0AFB-A166-4314-B7EB-AD6775249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B9BBB2-3583-4917-A9B8-F52421932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FDE25D-1092-4956-92FE-E282D8DD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E6B23-83BA-4E24-8FA5-B46B73EA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2A3CC-5017-49CD-92AB-886F7778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4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B94765-5A86-4DEF-8B90-3F24981E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609C0B-D43A-4C9E-B772-833B4DA08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6E5C5-40DD-48DE-99CE-CE0FE9971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C0312-1D25-4317-8C09-41C98FDFD08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28B8F-58B6-4951-89EE-0F706681C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45E2C-8FAC-4FAC-9464-B6E68950E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6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华文楷体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36.png"/><Relationship Id="rId3" Type="http://schemas.openxmlformats.org/officeDocument/2006/relationships/image" Target="../media/image6.png"/><Relationship Id="rId21" Type="http://schemas.openxmlformats.org/officeDocument/2006/relationships/image" Target="../media/image12.png"/><Relationship Id="rId17" Type="http://schemas.openxmlformats.org/officeDocument/2006/relationships/image" Target="../media/image135.png"/><Relationship Id="rId2" Type="http://schemas.openxmlformats.org/officeDocument/2006/relationships/image" Target="../media/image4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24" Type="http://schemas.openxmlformats.org/officeDocument/2006/relationships/image" Target="../media/image14.png"/><Relationship Id="rId5" Type="http://schemas.openxmlformats.org/officeDocument/2006/relationships/image" Target="../media/image8.png"/><Relationship Id="rId23" Type="http://schemas.openxmlformats.org/officeDocument/2006/relationships/image" Target="../media/image13.png"/><Relationship Id="rId19" Type="http://schemas.openxmlformats.org/officeDocument/2006/relationships/image" Target="../media/image137.png"/><Relationship Id="rId4" Type="http://schemas.openxmlformats.org/officeDocument/2006/relationships/image" Target="../media/image7.png"/><Relationship Id="rId2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8.jpe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11" Type="http://schemas.openxmlformats.org/officeDocument/2006/relationships/image" Target="../media/image163.png"/><Relationship Id="rId5" Type="http://schemas.openxmlformats.org/officeDocument/2006/relationships/slide" Target="slide12.xml"/><Relationship Id="rId10" Type="http://schemas.openxmlformats.org/officeDocument/2006/relationships/image" Target="../media/image64.png"/><Relationship Id="rId4" Type="http://schemas.openxmlformats.org/officeDocument/2006/relationships/image" Target="../media/image120.png"/><Relationship Id="rId9" Type="http://schemas.openxmlformats.org/officeDocument/2006/relationships/image" Target="../media/image16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slide" Target="slide12.xml"/><Relationship Id="rId7" Type="http://schemas.openxmlformats.org/officeDocument/2006/relationships/image" Target="../media/image1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10" Type="http://schemas.openxmlformats.org/officeDocument/2006/relationships/image" Target="../media/image169.png"/><Relationship Id="rId4" Type="http://schemas.openxmlformats.org/officeDocument/2006/relationships/image" Target="../media/image15.png"/><Relationship Id="rId9" Type="http://schemas.openxmlformats.org/officeDocument/2006/relationships/image" Target="../media/image1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0.png"/><Relationship Id="rId3" Type="http://schemas.openxmlformats.org/officeDocument/2006/relationships/image" Target="../media/image170.png"/><Relationship Id="rId7" Type="http://schemas.openxmlformats.org/officeDocument/2006/relationships/image" Target="../media/image175.png"/><Relationship Id="rId12" Type="http://schemas.openxmlformats.org/officeDocument/2006/relationships/slide" Target="slide12.xml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66.png"/><Relationship Id="rId10" Type="http://schemas.openxmlformats.org/officeDocument/2006/relationships/image" Target="../media/image178.png"/><Relationship Id="rId4" Type="http://schemas.openxmlformats.org/officeDocument/2006/relationships/image" Target="../media/image171.png"/><Relationship Id="rId9" Type="http://schemas.openxmlformats.org/officeDocument/2006/relationships/image" Target="../media/image177.png"/><Relationship Id="rId14" Type="http://schemas.openxmlformats.org/officeDocument/2006/relationships/image" Target="../media/image18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20.wmf"/><Relationship Id="rId26" Type="http://schemas.openxmlformats.org/officeDocument/2006/relationships/oleObject" Target="../embeddings/oleObject10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7.bin"/><Relationship Id="rId7" Type="http://schemas.openxmlformats.org/officeDocument/2006/relationships/image" Target="../media/image199.png"/><Relationship Id="rId12" Type="http://schemas.openxmlformats.org/officeDocument/2006/relationships/oleObject" Target="../embeddings/oleObject2.bin"/><Relationship Id="rId17" Type="http://schemas.openxmlformats.org/officeDocument/2006/relationships/oleObject" Target="../embeddings/oleObject5.bin"/><Relationship Id="rId25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8.png"/><Relationship Id="rId11" Type="http://schemas.openxmlformats.org/officeDocument/2006/relationships/image" Target="../media/image101.png"/><Relationship Id="rId24" Type="http://schemas.openxmlformats.org/officeDocument/2006/relationships/image" Target="../media/image23.wmf"/><Relationship Id="rId5" Type="http://schemas.openxmlformats.org/officeDocument/2006/relationships/image" Target="../media/image197.png"/><Relationship Id="rId15" Type="http://schemas.openxmlformats.org/officeDocument/2006/relationships/oleObject" Target="../embeddings/oleObject4.bin"/><Relationship Id="rId23" Type="http://schemas.openxmlformats.org/officeDocument/2006/relationships/oleObject" Target="../embeddings/oleObject8.bin"/><Relationship Id="rId10" Type="http://schemas.openxmlformats.org/officeDocument/2006/relationships/image" Target="../media/image202.png"/><Relationship Id="rId19" Type="http://schemas.openxmlformats.org/officeDocument/2006/relationships/oleObject" Target="../embeddings/oleObject6.bin"/><Relationship Id="rId4" Type="http://schemas.openxmlformats.org/officeDocument/2006/relationships/image" Target="../media/image17.wmf"/><Relationship Id="rId9" Type="http://schemas.openxmlformats.org/officeDocument/2006/relationships/image" Target="../media/image201.png"/><Relationship Id="rId14" Type="http://schemas.openxmlformats.org/officeDocument/2006/relationships/image" Target="../media/image18.wmf"/><Relationship Id="rId22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10.png"/><Relationship Id="rId3" Type="http://schemas.openxmlformats.org/officeDocument/2006/relationships/image" Target="../media/image206.png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5.wmf"/><Relationship Id="rId17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.bin"/><Relationship Id="rId20" Type="http://schemas.openxmlformats.org/officeDocument/2006/relationships/image" Target="../media/image212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9.png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208.png"/><Relationship Id="rId15" Type="http://schemas.openxmlformats.org/officeDocument/2006/relationships/image" Target="../media/image26.wmf"/><Relationship Id="rId10" Type="http://schemas.openxmlformats.org/officeDocument/2006/relationships/image" Target="../media/image17.wmf"/><Relationship Id="rId19" Type="http://schemas.openxmlformats.org/officeDocument/2006/relationships/image" Target="../media/image211.png"/><Relationship Id="rId4" Type="http://schemas.openxmlformats.org/officeDocument/2006/relationships/image" Target="../media/image207.png"/><Relationship Id="rId9" Type="http://schemas.openxmlformats.org/officeDocument/2006/relationships/oleObject" Target="../embeddings/oleObject12.bin"/><Relationship Id="rId14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1.wmf"/><Relationship Id="rId26" Type="http://schemas.openxmlformats.org/officeDocument/2006/relationships/image" Target="../media/image224.png"/><Relationship Id="rId3" Type="http://schemas.openxmlformats.org/officeDocument/2006/relationships/image" Target="../media/image111.png"/><Relationship Id="rId21" Type="http://schemas.openxmlformats.org/officeDocument/2006/relationships/image" Target="../media/image32.wmf"/><Relationship Id="rId7" Type="http://schemas.openxmlformats.org/officeDocument/2006/relationships/image" Target="../media/image118.png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6.png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33.wmf"/><Relationship Id="rId5" Type="http://schemas.openxmlformats.org/officeDocument/2006/relationships/image" Target="../media/image114.png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5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113.png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9.wmf"/><Relationship Id="rId22" Type="http://schemas.openxmlformats.org/officeDocument/2006/relationships/oleObject" Target="../embeddings/oleObject2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9.png"/><Relationship Id="rId18" Type="http://schemas.openxmlformats.org/officeDocument/2006/relationships/image" Target="../media/image194.png"/><Relationship Id="rId3" Type="http://schemas.openxmlformats.org/officeDocument/2006/relationships/image" Target="../media/image126.png"/><Relationship Id="rId21" Type="http://schemas.openxmlformats.org/officeDocument/2006/relationships/image" Target="../media/image200.png"/><Relationship Id="rId7" Type="http://schemas.openxmlformats.org/officeDocument/2006/relationships/image" Target="../media/image182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187.png"/><Relationship Id="rId5" Type="http://schemas.openxmlformats.org/officeDocument/2006/relationships/image" Target="../media/image162.png"/><Relationship Id="rId15" Type="http://schemas.openxmlformats.org/officeDocument/2006/relationships/image" Target="../media/image191.png"/><Relationship Id="rId10" Type="http://schemas.openxmlformats.org/officeDocument/2006/relationships/image" Target="../media/image186.png"/><Relationship Id="rId19" Type="http://schemas.openxmlformats.org/officeDocument/2006/relationships/image" Target="../media/image195.png"/><Relationship Id="rId4" Type="http://schemas.openxmlformats.org/officeDocument/2006/relationships/image" Target="../media/image132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35.jpeg"/><Relationship Id="rId7" Type="http://schemas.openxmlformats.org/officeDocument/2006/relationships/image" Target="../media/image10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6.png"/><Relationship Id="rId5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20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216.png"/><Relationship Id="rId4" Type="http://schemas.openxmlformats.org/officeDocument/2006/relationships/image" Target="../media/image215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36.jpeg"/><Relationship Id="rId7" Type="http://schemas.openxmlformats.org/officeDocument/2006/relationships/image" Target="../media/image223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22.png"/><Relationship Id="rId10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34.png"/><Relationship Id="rId7" Type="http://schemas.openxmlformats.org/officeDocument/2006/relationships/image" Target="../media/image239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41" y="211325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17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磁场和它的源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2" name="Picture 2" descr="研究顯示人類能感應地球磁場| Fresh-Minds.net">
            <a:extLst>
              <a:ext uri="{FF2B5EF4-FFF2-40B4-BE49-F238E27FC236}">
                <a16:creationId xmlns:a16="http://schemas.microsoft.com/office/drawing/2014/main" id="{C98159C8-A0DE-49E8-AED6-808153912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1" y="1574800"/>
            <a:ext cx="508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26" y="131182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磁力与电荷的运动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727" y="260722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毕奥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-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萨伐尔定律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203" y="3256514"/>
            <a:ext cx="49039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匀速运动点电荷的磁场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27DE69-AAA4-4330-BB63-223D0F2A9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3" y="4615139"/>
            <a:ext cx="6560914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利用安培环路定理求磁场的分布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28" y="195952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磁场与磁感应强度</a:t>
            </a:r>
          </a:p>
        </p:txBody>
      </p:sp>
      <p:sp>
        <p:nvSpPr>
          <p:cNvPr id="33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A176ECB-589C-402C-BF9C-573951082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3" y="5309960"/>
            <a:ext cx="5732874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7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与变化电场相联系的磁场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4726" y="3920318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安培环路定理</a:t>
            </a:r>
          </a:p>
        </p:txBody>
      </p:sp>
      <p:sp>
        <p:nvSpPr>
          <p:cNvPr id="2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2224C06-443C-6472-550E-EBB0000C1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2" y="5990511"/>
            <a:ext cx="6102077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8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电场与磁场的相对性和统一性</a:t>
            </a: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rgbClr val="0066FF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661FF7B-0FAE-4397-982A-1A6401699EFE}"/>
                  </a:ext>
                </a:extLst>
              </p:cNvPr>
              <p:cNvSpPr/>
              <p:nvPr/>
            </p:nvSpPr>
            <p:spPr>
              <a:xfrm>
                <a:off x="1686958" y="2260267"/>
                <a:ext cx="3133510" cy="1529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8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8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661FF7B-0FAE-4397-982A-1A6401699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958" y="2260267"/>
                <a:ext cx="3133510" cy="15295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0E989827-BCF2-485B-B6E7-FD27626E7A51}"/>
              </a:ext>
            </a:extLst>
          </p:cNvPr>
          <p:cNvSpPr/>
          <p:nvPr/>
        </p:nvSpPr>
        <p:spPr>
          <a:xfrm>
            <a:off x="5435998" y="1542083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通过任意闭合曲面的磁通量必等于零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F47A3C-4B7B-4A04-B3D7-8C4218E7650C}"/>
              </a:ext>
            </a:extLst>
          </p:cNvPr>
          <p:cNvSpPr/>
          <p:nvPr/>
        </p:nvSpPr>
        <p:spPr>
          <a:xfrm>
            <a:off x="677601" y="692419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磁高斯定理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435DD3-C687-4B02-BCA5-7BBC65278E89}"/>
              </a:ext>
            </a:extLst>
          </p:cNvPr>
          <p:cNvSpPr/>
          <p:nvPr/>
        </p:nvSpPr>
        <p:spPr>
          <a:xfrm>
            <a:off x="1128158" y="1542083"/>
            <a:ext cx="3762568" cy="576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800" spc="3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磁感应线是闭合曲线</a:t>
            </a:r>
            <a:endParaRPr kumimoji="1" lang="en-US" altLang="zh-CN" sz="2800" spc="3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4C56016D-C257-45E9-85EF-DAF2D9E0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1512" y="2348169"/>
            <a:ext cx="338455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>
              <a:spcBef>
                <a:spcPct val="50000"/>
              </a:spcBef>
              <a:buFontTx/>
              <a:buChar char="-"/>
            </a:pP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磁场是无源场 </a:t>
            </a:r>
            <a:endParaRPr lang="en-US" altLang="zh-CN" sz="2800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ct val="50000"/>
              </a:spcBef>
              <a:buFontTx/>
              <a:buChar char="-"/>
            </a:pP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没有磁荷</a:t>
            </a:r>
            <a:r>
              <a: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磁单极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8B45F8-B665-8425-ED4E-46ACE7208CED}"/>
              </a:ext>
            </a:extLst>
          </p:cNvPr>
          <p:cNvSpPr/>
          <p:nvPr/>
        </p:nvSpPr>
        <p:spPr>
          <a:xfrm>
            <a:off x="885881" y="3778241"/>
            <a:ext cx="382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毕奥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萨伐尔定律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EEDE7F-FDD9-B8F5-1C3D-86D1C0943757}"/>
              </a:ext>
            </a:extLst>
          </p:cNvPr>
          <p:cNvSpPr/>
          <p:nvPr/>
        </p:nvSpPr>
        <p:spPr>
          <a:xfrm>
            <a:off x="1022544" y="4778307"/>
            <a:ext cx="3027816" cy="1233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电流元的磁场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973EA8E-00CB-41BC-F7E8-FE1461D196E7}"/>
                  </a:ext>
                </a:extLst>
              </p:cNvPr>
              <p:cNvSpPr/>
              <p:nvPr/>
            </p:nvSpPr>
            <p:spPr>
              <a:xfrm>
                <a:off x="3743653" y="4558603"/>
                <a:ext cx="2883033" cy="1022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𝟒</m:t>
                          </m:r>
                          <m:r>
                            <a:rPr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𝝅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𝑰𝒅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𝒍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973EA8E-00CB-41BC-F7E8-FE1461D196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653" y="4558603"/>
                <a:ext cx="2883033" cy="1022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B0B81F4-2106-4CAA-92BF-B5F483D811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05425" y="3242459"/>
            <a:ext cx="3045072" cy="38737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AF4F84B-1965-5A58-AAF4-48817733DE87}"/>
                  </a:ext>
                </a:extLst>
              </p:cNvPr>
              <p:cNvSpPr/>
              <p:nvPr/>
            </p:nvSpPr>
            <p:spPr>
              <a:xfrm>
                <a:off x="3657762" y="5582479"/>
                <a:ext cx="1841338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AF4F84B-1965-5A58-AAF4-48817733D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762" y="5582479"/>
                <a:ext cx="1841338" cy="1222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96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2" grpId="0"/>
      <p:bldP spid="3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8">
            <a:extLst>
              <a:ext uri="{FF2B5EF4-FFF2-40B4-BE49-F238E27FC236}">
                <a16:creationId xmlns:a16="http://schemas.microsoft.com/office/drawing/2014/main" id="{3E534803-9C73-281E-1B90-3879C1CC7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5" y="1093463"/>
            <a:ext cx="2333487" cy="43186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F971DA-E9F9-88EE-7A3F-454251242C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48" y="1093463"/>
            <a:ext cx="2062212" cy="43186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08AE319-898E-5B64-3479-A6DF5D5D2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799" y="1483358"/>
            <a:ext cx="2272919" cy="3538902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800FC9D5-27B5-C189-EE64-BBEE0001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17" y="309048"/>
            <a:ext cx="87852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电流产生的磁场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E6451A6-F389-46DE-C01E-FDE975282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911" y="5501836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无限长导线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58080485-8C2A-BBCC-FFB9-DFD00C637688}"/>
                  </a:ext>
                </a:extLst>
              </p:cNvPr>
              <p:cNvSpPr txBox="1"/>
              <p:nvPr/>
            </p:nvSpPr>
            <p:spPr bwMode="auto">
              <a:xfrm>
                <a:off x="2429032" y="5378316"/>
                <a:ext cx="2160588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58080485-8C2A-BBCC-FFB9-DFD00C637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9032" y="5378316"/>
                <a:ext cx="2160588" cy="10810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73">
            <a:extLst>
              <a:ext uri="{FF2B5EF4-FFF2-40B4-BE49-F238E27FC236}">
                <a16:creationId xmlns:a16="http://schemas.microsoft.com/office/drawing/2014/main" id="{0399762B-A576-D86C-61FA-49DE4F7F30BB}"/>
              </a:ext>
            </a:extLst>
          </p:cNvPr>
          <p:cNvGrpSpPr>
            <a:grpSpLocks/>
          </p:cNvGrpSpPr>
          <p:nvPr/>
        </p:nvGrpSpPr>
        <p:grpSpPr bwMode="auto">
          <a:xfrm>
            <a:off x="3935412" y="3745641"/>
            <a:ext cx="215900" cy="228600"/>
            <a:chOff x="1504" y="2652"/>
            <a:chExt cx="136" cy="144"/>
          </a:xfrm>
        </p:grpSpPr>
        <p:sp>
          <p:nvSpPr>
            <p:cNvPr id="22" name="Oval 46">
              <a:extLst>
                <a:ext uri="{FF2B5EF4-FFF2-40B4-BE49-F238E27FC236}">
                  <a16:creationId xmlns:a16="http://schemas.microsoft.com/office/drawing/2014/main" id="{B682B0D8-8D6D-A501-7FDC-4DEB89085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656"/>
              <a:ext cx="136" cy="1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  <p:sp>
          <p:nvSpPr>
            <p:cNvPr id="23" name="Line 47">
              <a:extLst>
                <a:ext uri="{FF2B5EF4-FFF2-40B4-BE49-F238E27FC236}">
                  <a16:creationId xmlns:a16="http://schemas.microsoft.com/office/drawing/2014/main" id="{87DF4997-C21E-6D97-F580-CE77855A02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8" y="2652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24" name="Line 48">
              <a:extLst>
                <a:ext uri="{FF2B5EF4-FFF2-40B4-BE49-F238E27FC236}">
                  <a16:creationId xmlns:a16="http://schemas.microsoft.com/office/drawing/2014/main" id="{8A060B03-EDE4-AD32-B45A-0B467A683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704"/>
              <a:ext cx="113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61">
                <a:extLst>
                  <a:ext uri="{FF2B5EF4-FFF2-40B4-BE49-F238E27FC236}">
                    <a16:creationId xmlns:a16="http://schemas.microsoft.com/office/drawing/2014/main" id="{F1A3C5AD-EB6F-09F9-9F67-EA391C8335F8}"/>
                  </a:ext>
                </a:extLst>
              </p:cNvPr>
              <p:cNvSpPr txBox="1"/>
              <p:nvPr/>
            </p:nvSpPr>
            <p:spPr bwMode="auto">
              <a:xfrm>
                <a:off x="3970337" y="4039329"/>
                <a:ext cx="387350" cy="387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5" name="Object 61">
                <a:extLst>
                  <a:ext uri="{FF2B5EF4-FFF2-40B4-BE49-F238E27FC236}">
                    <a16:creationId xmlns:a16="http://schemas.microsoft.com/office/drawing/2014/main" id="{F1A3C5AD-EB6F-09F9-9F67-EA391C833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0337" y="4039329"/>
                <a:ext cx="387350" cy="387350"/>
              </a:xfrm>
              <a:prstGeom prst="rect">
                <a:avLst/>
              </a:prstGeom>
              <a:blipFill>
                <a:blip r:embed="rId6"/>
                <a:stretch>
                  <a:fillRect l="-3125" b="-158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75">
            <a:extLst>
              <a:ext uri="{FF2B5EF4-FFF2-40B4-BE49-F238E27FC236}">
                <a16:creationId xmlns:a16="http://schemas.microsoft.com/office/drawing/2014/main" id="{71C88741-B8E4-9045-0B90-1C59B955AEF3}"/>
              </a:ext>
            </a:extLst>
          </p:cNvPr>
          <p:cNvGrpSpPr>
            <a:grpSpLocks/>
          </p:cNvGrpSpPr>
          <p:nvPr/>
        </p:nvGrpSpPr>
        <p:grpSpPr bwMode="auto">
          <a:xfrm>
            <a:off x="2252663" y="1226279"/>
            <a:ext cx="1744663" cy="4164012"/>
            <a:chOff x="465" y="845"/>
            <a:chExt cx="1099" cy="2623"/>
          </a:xfrm>
        </p:grpSpPr>
        <p:sp>
          <p:nvSpPr>
            <p:cNvPr id="27" name="Line 8">
              <a:extLst>
                <a:ext uri="{FF2B5EF4-FFF2-40B4-BE49-F238E27FC236}">
                  <a16:creationId xmlns:a16="http://schemas.microsoft.com/office/drawing/2014/main" id="{C77A0C1C-8CA3-8A5C-D9A1-DB9C2DFB0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72"/>
              <a:ext cx="0" cy="2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35815C0F-EEF4-E896-1FCF-50D180FBE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312"/>
              <a:ext cx="72" cy="1912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66FF"/>
                </a:solidFill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31">
                  <a:extLst>
                    <a:ext uri="{FF2B5EF4-FFF2-40B4-BE49-F238E27FC236}">
                      <a16:creationId xmlns:a16="http://schemas.microsoft.com/office/drawing/2014/main" id="{6FDEB4A6-8DDC-2CB6-316F-D9E93085B36B}"/>
                    </a:ext>
                  </a:extLst>
                </p:cNvPr>
                <p:cNvSpPr txBox="1"/>
                <p:nvPr/>
              </p:nvSpPr>
              <p:spPr bwMode="auto">
                <a:xfrm>
                  <a:off x="480" y="845"/>
                  <a:ext cx="196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8" name="Object 31">
                  <a:extLst>
                    <a:ext uri="{FF2B5EF4-FFF2-40B4-BE49-F238E27FC236}">
                      <a16:creationId xmlns:a16="http://schemas.microsoft.com/office/drawing/2014/main" id="{EF3F4B83-06B0-4AE8-8876-FB1B9E842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" y="845"/>
                  <a:ext cx="196" cy="240"/>
                </a:xfrm>
                <a:prstGeom prst="rect">
                  <a:avLst/>
                </a:prstGeom>
                <a:blipFill>
                  <a:blip r:embed="rId17"/>
                  <a:stretch>
                    <a:fillRect b="-79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32">
                  <a:extLst>
                    <a:ext uri="{FF2B5EF4-FFF2-40B4-BE49-F238E27FC236}">
                      <a16:creationId xmlns:a16="http://schemas.microsoft.com/office/drawing/2014/main" id="{44D7E25E-FFF7-C01B-EF7A-E7A30E0FC8F1}"/>
                    </a:ext>
                  </a:extLst>
                </p:cNvPr>
                <p:cNvSpPr txBox="1"/>
                <p:nvPr/>
              </p:nvSpPr>
              <p:spPr bwMode="auto">
                <a:xfrm>
                  <a:off x="465" y="2621"/>
                  <a:ext cx="23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9" name="Object 32">
                  <a:extLst>
                    <a:ext uri="{FF2B5EF4-FFF2-40B4-BE49-F238E27FC236}">
                      <a16:creationId xmlns:a16="http://schemas.microsoft.com/office/drawing/2014/main" id="{2CA1D5E5-23C7-409F-BE27-C8358AA64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" y="2621"/>
                  <a:ext cx="230" cy="248"/>
                </a:xfrm>
                <a:prstGeom prst="rect">
                  <a:avLst/>
                </a:prstGeom>
                <a:blipFill>
                  <a:blip r:embed="rId18"/>
                  <a:stretch>
                    <a:fillRect l="-5085" r="-11864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45">
              <a:extLst>
                <a:ext uri="{FF2B5EF4-FFF2-40B4-BE49-F238E27FC236}">
                  <a16:creationId xmlns:a16="http://schemas.microsoft.com/office/drawing/2014/main" id="{AF22EE9A-2A83-BAEC-FBF3-D79C91346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" y="271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59">
                  <a:extLst>
                    <a:ext uri="{FF2B5EF4-FFF2-40B4-BE49-F238E27FC236}">
                      <a16:creationId xmlns:a16="http://schemas.microsoft.com/office/drawing/2014/main" id="{138007D4-C173-317C-C250-EEE6A2330FCF}"/>
                    </a:ext>
                  </a:extLst>
                </p:cNvPr>
                <p:cNvSpPr txBox="1"/>
                <p:nvPr/>
              </p:nvSpPr>
              <p:spPr bwMode="auto">
                <a:xfrm>
                  <a:off x="934" y="2501"/>
                  <a:ext cx="21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41" name="Object 59">
                  <a:extLst>
                    <a:ext uri="{FF2B5EF4-FFF2-40B4-BE49-F238E27FC236}">
                      <a16:creationId xmlns:a16="http://schemas.microsoft.com/office/drawing/2014/main" id="{AE77A5E3-B914-431B-B7EA-18A96A6FA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4" y="2501"/>
                  <a:ext cx="218" cy="240"/>
                </a:xfrm>
                <a:prstGeom prst="rect">
                  <a:avLst/>
                </a:prstGeom>
                <a:blipFill>
                  <a:blip r:embed="rId19"/>
                  <a:stretch>
                    <a:fillRect b="-79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Oval 74">
              <a:extLst>
                <a:ext uri="{FF2B5EF4-FFF2-40B4-BE49-F238E27FC236}">
                  <a16:creationId xmlns:a16="http://schemas.microsoft.com/office/drawing/2014/main" id="{61B2E5F2-88A0-92D9-A547-AE810E16E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688"/>
              <a:ext cx="45" cy="46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7">
                <a:extLst>
                  <a:ext uri="{FF2B5EF4-FFF2-40B4-BE49-F238E27FC236}">
                    <a16:creationId xmlns:a16="http://schemas.microsoft.com/office/drawing/2014/main" id="{4D868466-7956-44AD-8054-2D8EA4617275}"/>
                  </a:ext>
                </a:extLst>
              </p:cNvPr>
              <p:cNvSpPr txBox="1"/>
              <p:nvPr/>
            </p:nvSpPr>
            <p:spPr bwMode="auto">
              <a:xfrm>
                <a:off x="5423056" y="5086216"/>
                <a:ext cx="2405062" cy="1309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Object 7">
                <a:extLst>
                  <a:ext uri="{FF2B5EF4-FFF2-40B4-BE49-F238E27FC236}">
                    <a16:creationId xmlns:a16="http://schemas.microsoft.com/office/drawing/2014/main" id="{4D868466-7956-44AD-8054-2D8EA4617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3056" y="5086216"/>
                <a:ext cx="2405062" cy="13096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8">
                <a:extLst>
                  <a:ext uri="{FF2B5EF4-FFF2-40B4-BE49-F238E27FC236}">
                    <a16:creationId xmlns:a16="http://schemas.microsoft.com/office/drawing/2014/main" id="{7ED5B534-9149-D277-B168-3A3E6F73CE72}"/>
                  </a:ext>
                </a:extLst>
              </p:cNvPr>
              <p:cNvSpPr txBox="1"/>
              <p:nvPr/>
            </p:nvSpPr>
            <p:spPr bwMode="auto">
              <a:xfrm>
                <a:off x="5054599" y="5352917"/>
                <a:ext cx="1765300" cy="725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Object 8">
                <a:extLst>
                  <a:ext uri="{FF2B5EF4-FFF2-40B4-BE49-F238E27FC236}">
                    <a16:creationId xmlns:a16="http://schemas.microsoft.com/office/drawing/2014/main" id="{7ED5B534-9149-D277-B168-3A3E6F73C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4599" y="5352917"/>
                <a:ext cx="1765300" cy="7254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">
                <a:extLst>
                  <a:ext uri="{FF2B5EF4-FFF2-40B4-BE49-F238E27FC236}">
                    <a16:creationId xmlns:a16="http://schemas.microsoft.com/office/drawing/2014/main" id="{13C2E8AA-ECDB-4777-75B0-B9F7E09D4C45}"/>
                  </a:ext>
                </a:extLst>
              </p:cNvPr>
              <p:cNvSpPr txBox="1"/>
              <p:nvPr/>
            </p:nvSpPr>
            <p:spPr bwMode="auto">
              <a:xfrm>
                <a:off x="4923630" y="6027794"/>
                <a:ext cx="3792537" cy="1152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圆心处：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Object 2">
                <a:extLst>
                  <a:ext uri="{FF2B5EF4-FFF2-40B4-BE49-F238E27FC236}">
                    <a16:creationId xmlns:a16="http://schemas.microsoft.com/office/drawing/2014/main" id="{13C2E8AA-ECDB-4777-75B0-B9F7E09D4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3630" y="6027794"/>
                <a:ext cx="3792537" cy="115252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FBA7DF0-042E-D814-C321-F477BFF2C6B4}"/>
                  </a:ext>
                </a:extLst>
              </p:cNvPr>
              <p:cNvSpPr/>
              <p:nvPr/>
            </p:nvSpPr>
            <p:spPr>
              <a:xfrm>
                <a:off x="8549000" y="5091711"/>
                <a:ext cx="5161402" cy="674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无限长：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𝑛𝐼</m:t>
                    </m:r>
                  </m:oMath>
                </a14:m>
                <a:endParaRPr lang="en-US" altLang="zh-CN" sz="28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FBA7DF0-042E-D814-C321-F477BFF2C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000" y="5091711"/>
                <a:ext cx="5161402" cy="674736"/>
              </a:xfrm>
              <a:prstGeom prst="rect">
                <a:avLst/>
              </a:prstGeom>
              <a:blipFill>
                <a:blip r:embed="rId23"/>
                <a:stretch>
                  <a:fillRect l="-2361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38">
            <a:extLst>
              <a:ext uri="{FF2B5EF4-FFF2-40B4-BE49-F238E27FC236}">
                <a16:creationId xmlns:a16="http://schemas.microsoft.com/office/drawing/2014/main" id="{39DFEA60-5F05-0368-4B94-2E008FAD1F60}"/>
              </a:ext>
            </a:extLst>
          </p:cNvPr>
          <p:cNvSpPr/>
          <p:nvPr/>
        </p:nvSpPr>
        <p:spPr>
          <a:xfrm>
            <a:off x="8628839" y="5585225"/>
            <a:ext cx="3657600" cy="7566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dirty="0"/>
              <a:t>任一端口中心处：</a:t>
            </a:r>
            <a:endParaRPr lang="en-US" altLang="zh-CN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35610DD-F8F8-8FA1-C45D-8724702C5A00}"/>
                  </a:ext>
                </a:extLst>
              </p:cNvPr>
              <p:cNvSpPr/>
              <p:nvPr/>
            </p:nvSpPr>
            <p:spPr>
              <a:xfrm>
                <a:off x="9762968" y="6222943"/>
                <a:ext cx="202672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b="1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𝒏𝑰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35610DD-F8F8-8FA1-C45D-8724702C5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68" y="6222943"/>
                <a:ext cx="2026722" cy="7105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31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5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54" name="Picture 7" descr="FG29_07">
            <a:extLst>
              <a:ext uri="{FF2B5EF4-FFF2-40B4-BE49-F238E27FC236}">
                <a16:creationId xmlns:a16="http://schemas.microsoft.com/office/drawing/2014/main" id="{1E5D224B-8C09-4B20-AF29-819F44D94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060" y="581411"/>
            <a:ext cx="3306967" cy="279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1241" name="Object 9">
                <a:extLst>
                  <a:ext uri="{FF2B5EF4-FFF2-40B4-BE49-F238E27FC236}">
                    <a16:creationId xmlns:a16="http://schemas.microsoft.com/office/drawing/2014/main" id="{FD178745-5B97-4C63-97EA-734C3CA6927F}"/>
                  </a:ext>
                </a:extLst>
              </p:cNvPr>
              <p:cNvSpPr txBox="1"/>
              <p:nvPr/>
            </p:nvSpPr>
            <p:spPr bwMode="auto">
              <a:xfrm>
                <a:off x="1352126" y="3365681"/>
                <a:ext cx="1160463" cy="731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41" name="Object 9">
                <a:extLst>
                  <a:ext uri="{FF2B5EF4-FFF2-40B4-BE49-F238E27FC236}">
                    <a16:creationId xmlns:a16="http://schemas.microsoft.com/office/drawing/2014/main" id="{FD178745-5B97-4C63-97EA-734C3CA69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2126" y="3365681"/>
                <a:ext cx="1160463" cy="731838"/>
              </a:xfrm>
              <a:prstGeom prst="rect">
                <a:avLst/>
              </a:prstGeom>
              <a:blipFill>
                <a:blip r:embed="rId4"/>
                <a:stretch>
                  <a:fillRect r="-9474" b="-25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0" name="Text Box 11">
            <a:hlinkClick r:id="rId5" action="ppaction://hlinksldjump"/>
            <a:extLst>
              <a:ext uri="{FF2B5EF4-FFF2-40B4-BE49-F238E27FC236}">
                <a16:creationId xmlns:a16="http://schemas.microsoft.com/office/drawing/2014/main" id="{E69F80D4-C94F-4F7C-BF13-3528EE795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260" name="Object 28">
                <a:extLst>
                  <a:ext uri="{FF2B5EF4-FFF2-40B4-BE49-F238E27FC236}">
                    <a16:creationId xmlns:a16="http://schemas.microsoft.com/office/drawing/2014/main" id="{C9E01B06-B957-4B06-9FD9-B69C0CC8D233}"/>
                  </a:ext>
                </a:extLst>
              </p:cNvPr>
              <p:cNvSpPr txBox="1"/>
              <p:nvPr/>
            </p:nvSpPr>
            <p:spPr bwMode="auto">
              <a:xfrm>
                <a:off x="2678391" y="3342278"/>
                <a:ext cx="1406525" cy="731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60" name="Object 28">
                <a:extLst>
                  <a:ext uri="{FF2B5EF4-FFF2-40B4-BE49-F238E27FC236}">
                    <a16:creationId xmlns:a16="http://schemas.microsoft.com/office/drawing/2014/main" id="{C9E01B06-B957-4B06-9FD9-B69C0CC8D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8391" y="3342278"/>
                <a:ext cx="1406525" cy="731837"/>
              </a:xfrm>
              <a:prstGeom prst="rect">
                <a:avLst/>
              </a:prstGeom>
              <a:blipFill>
                <a:blip r:embed="rId6"/>
                <a:stretch>
                  <a:fillRect r="-11688" b="-25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262" name="Object 30">
                <a:extLst>
                  <a:ext uri="{FF2B5EF4-FFF2-40B4-BE49-F238E27FC236}">
                    <a16:creationId xmlns:a16="http://schemas.microsoft.com/office/drawing/2014/main" id="{E22FE5E4-CAA6-4CFC-AB76-B5722238F160}"/>
                  </a:ext>
                </a:extLst>
              </p:cNvPr>
              <p:cNvSpPr txBox="1"/>
              <p:nvPr/>
            </p:nvSpPr>
            <p:spPr bwMode="auto">
              <a:xfrm>
                <a:off x="4372497" y="3350833"/>
                <a:ext cx="1222375" cy="731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62" name="Object 30">
                <a:extLst>
                  <a:ext uri="{FF2B5EF4-FFF2-40B4-BE49-F238E27FC236}">
                    <a16:creationId xmlns:a16="http://schemas.microsoft.com/office/drawing/2014/main" id="{E22FE5E4-CAA6-4CFC-AB76-B5722238F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497" y="3350833"/>
                <a:ext cx="1222375" cy="731837"/>
              </a:xfrm>
              <a:prstGeom prst="rect">
                <a:avLst/>
              </a:prstGeom>
              <a:blipFill>
                <a:blip r:embed="rId7"/>
                <a:stretch>
                  <a:fillRect r="-11940" b="-25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264" name="Object 32">
                <a:extLst>
                  <a:ext uri="{FF2B5EF4-FFF2-40B4-BE49-F238E27FC236}">
                    <a16:creationId xmlns:a16="http://schemas.microsoft.com/office/drawing/2014/main" id="{8D78CEAA-FB61-4AC4-A431-86DEB38E55E8}"/>
                  </a:ext>
                </a:extLst>
              </p:cNvPr>
              <p:cNvSpPr txBox="1"/>
              <p:nvPr/>
            </p:nvSpPr>
            <p:spPr bwMode="auto">
              <a:xfrm>
                <a:off x="2705622" y="4715879"/>
                <a:ext cx="1666875" cy="1006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64" name="Object 32">
                <a:extLst>
                  <a:ext uri="{FF2B5EF4-FFF2-40B4-BE49-F238E27FC236}">
                    <a16:creationId xmlns:a16="http://schemas.microsoft.com/office/drawing/2014/main" id="{8D78CEAA-FB61-4AC4-A431-86DEB38E5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622" y="4715879"/>
                <a:ext cx="1666875" cy="10064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271" name="Object 39">
                <a:extLst>
                  <a:ext uri="{FF2B5EF4-FFF2-40B4-BE49-F238E27FC236}">
                    <a16:creationId xmlns:a16="http://schemas.microsoft.com/office/drawing/2014/main" id="{AE7D69F4-36C8-46E4-8823-EF24FE11B133}"/>
                  </a:ext>
                </a:extLst>
              </p:cNvPr>
              <p:cNvSpPr txBox="1"/>
              <p:nvPr/>
            </p:nvSpPr>
            <p:spPr bwMode="auto">
              <a:xfrm>
                <a:off x="6811443" y="4445419"/>
                <a:ext cx="3651215" cy="731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51271" name="Object 39">
                <a:extLst>
                  <a:ext uri="{FF2B5EF4-FFF2-40B4-BE49-F238E27FC236}">
                    <a16:creationId xmlns:a16="http://schemas.microsoft.com/office/drawing/2014/main" id="{AE7D69F4-36C8-46E4-8823-EF24FE11B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1443" y="4445419"/>
                <a:ext cx="3651215" cy="731838"/>
              </a:xfrm>
              <a:prstGeom prst="rect">
                <a:avLst/>
              </a:prstGeom>
              <a:blipFill>
                <a:blip r:embed="rId9"/>
                <a:stretch>
                  <a:fillRect b="-2583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>
                <a:extLst>
                  <a:ext uri="{FF2B5EF4-FFF2-40B4-BE49-F238E27FC236}">
                    <a16:creationId xmlns:a16="http://schemas.microsoft.com/office/drawing/2014/main" id="{FA613D8B-A287-4771-916C-5121439E85A4}"/>
                  </a:ext>
                </a:extLst>
              </p:cNvPr>
              <p:cNvSpPr txBox="1"/>
              <p:nvPr/>
            </p:nvSpPr>
            <p:spPr bwMode="auto">
              <a:xfrm>
                <a:off x="4372497" y="4894682"/>
                <a:ext cx="1008062" cy="56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对象 1">
                <a:extLst>
                  <a:ext uri="{FF2B5EF4-FFF2-40B4-BE49-F238E27FC236}">
                    <a16:creationId xmlns:a16="http://schemas.microsoft.com/office/drawing/2014/main" id="{FA613D8B-A287-4771-916C-5121439E8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497" y="4894682"/>
                <a:ext cx="1008062" cy="5651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6">
            <a:extLst>
              <a:ext uri="{FF2B5EF4-FFF2-40B4-BE49-F238E27FC236}">
                <a16:creationId xmlns:a16="http://schemas.microsoft.com/office/drawing/2014/main" id="{9CE977F5-44D9-42FD-BEAE-6F7CE7EE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760" y="1396059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无限长导线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/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6">
            <a:extLst>
              <a:ext uri="{FF2B5EF4-FFF2-40B4-BE49-F238E27FC236}">
                <a16:creationId xmlns:a16="http://schemas.microsoft.com/office/drawing/2014/main" id="{E918865F-8333-43DF-A26B-8E93F2E3F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76" y="2515277"/>
            <a:ext cx="5907684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路径</a:t>
            </a:r>
            <a:r>
              <a:rPr lang="en-US" altLang="zh-CN" b="0" dirty="0">
                <a:ea typeface="华文楷体" panose="02010600040101010101" pitchFamily="2" charset="-122"/>
              </a:rPr>
              <a:t>L</a:t>
            </a:r>
            <a:r>
              <a:rPr lang="zh-CN" altLang="en-US" b="0" dirty="0">
                <a:ea typeface="华文楷体" panose="02010600040101010101" pitchFamily="2" charset="-122"/>
              </a:rPr>
              <a:t>：距离为</a:t>
            </a:r>
            <a:r>
              <a:rPr lang="en-US" altLang="zh-CN" b="0" dirty="0">
                <a:ea typeface="华文楷体" panose="02010600040101010101" pitchFamily="2" charset="-122"/>
              </a:rPr>
              <a:t>r</a:t>
            </a:r>
            <a:r>
              <a:rPr lang="zh-CN" altLang="en-US" b="0" dirty="0">
                <a:ea typeface="华文楷体" panose="02010600040101010101" pitchFamily="2" charset="-122"/>
              </a:rPr>
              <a:t>的圆环，方向逆时针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514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41" grpId="0"/>
      <p:bldP spid="351260" grpId="0"/>
      <p:bldP spid="351262" grpId="0"/>
      <p:bldP spid="351264" grpId="0"/>
      <p:bldP spid="351271" grpId="0"/>
      <p:bldP spid="2" grpId="0"/>
      <p:bldP spid="24" grpId="0"/>
      <p:bldP spid="2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0" name="Text Box 11">
            <a:hlinkClick r:id="rId3" action="ppaction://hlinksldjump"/>
            <a:extLst>
              <a:ext uri="{FF2B5EF4-FFF2-40B4-BE49-F238E27FC236}">
                <a16:creationId xmlns:a16="http://schemas.microsoft.com/office/drawing/2014/main" id="{E69F80D4-C94F-4F7C-BF13-3528EE795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p:pic>
        <p:nvPicPr>
          <p:cNvPr id="25" name="内容占位符 10">
            <a:extLst>
              <a:ext uri="{FF2B5EF4-FFF2-40B4-BE49-F238E27FC236}">
                <a16:creationId xmlns:a16="http://schemas.microsoft.com/office/drawing/2014/main" id="{E3D44CF7-9C80-4C76-A2C5-00B8B266A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537" y="839749"/>
            <a:ext cx="2571915" cy="3062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CAEBB8-DE5A-4FAA-B2A6-FD45BB5E9A81}"/>
                  </a:ext>
                </a:extLst>
              </p:cNvPr>
              <p:cNvSpPr/>
              <p:nvPr/>
            </p:nvSpPr>
            <p:spPr>
              <a:xfrm>
                <a:off x="1494760" y="2441976"/>
                <a:ext cx="4439742" cy="720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𝐵𝑑𝑟</m:t>
                      </m:r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𝐵𝑟𝑑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CAEBB8-DE5A-4FAA-B2A6-FD45BB5E9A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60" y="2441976"/>
                <a:ext cx="4439742" cy="720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4B3916-9076-405A-8282-C47CA624BD8F}"/>
                  </a:ext>
                </a:extLst>
              </p:cNvPr>
              <p:cNvSpPr/>
              <p:nvPr/>
            </p:nvSpPr>
            <p:spPr>
              <a:xfrm>
                <a:off x="1494760" y="3303341"/>
                <a:ext cx="3573735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𝐵𝑟𝑑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4B3916-9076-405A-8282-C47CA624B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60" y="3303341"/>
                <a:ext cx="3573735" cy="1401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5CE72BD-AE94-4DC2-A0B0-C5EF1EA820B0}"/>
                  </a:ext>
                </a:extLst>
              </p:cNvPr>
              <p:cNvSpPr/>
              <p:nvPr/>
            </p:nvSpPr>
            <p:spPr>
              <a:xfrm>
                <a:off x="5016479" y="3593031"/>
                <a:ext cx="2503058" cy="10994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𝜋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5CE72BD-AE94-4DC2-A0B0-C5EF1EA82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79" y="3593031"/>
                <a:ext cx="2503058" cy="10994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6122217-1593-4FE4-9E64-654D8105E854}"/>
                  </a:ext>
                </a:extLst>
              </p:cNvPr>
              <p:cNvSpPr/>
              <p:nvPr/>
            </p:nvSpPr>
            <p:spPr>
              <a:xfrm>
                <a:off x="5114102" y="5123036"/>
                <a:ext cx="11539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𝐼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6122217-1593-4FE4-9E64-654D8105E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102" y="5123036"/>
                <a:ext cx="11539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6">
            <a:extLst>
              <a:ext uri="{FF2B5EF4-FFF2-40B4-BE49-F238E27FC236}">
                <a16:creationId xmlns:a16="http://schemas.microsoft.com/office/drawing/2014/main" id="{9CE977F5-44D9-42FD-BEAE-6F7CE7EE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760" y="1396059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无限长导线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/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AE67A40B-C36E-44B1-A1B3-C5D1119A00B0}"/>
                  </a:ext>
                </a:extLst>
              </p:cNvPr>
              <p:cNvSpPr txBox="1"/>
              <p:nvPr/>
            </p:nvSpPr>
            <p:spPr bwMode="auto">
              <a:xfrm>
                <a:off x="7186093" y="4839119"/>
                <a:ext cx="3651215" cy="731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AE67A40B-C36E-44B1-A1B3-C5D1119A0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6093" y="4839119"/>
                <a:ext cx="3651215" cy="731838"/>
              </a:xfrm>
              <a:prstGeom prst="rect">
                <a:avLst/>
              </a:prstGeom>
              <a:blipFill>
                <a:blip r:embed="rId10"/>
                <a:stretch>
                  <a:fillRect b="-2583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1313665" y="1299257"/>
            <a:ext cx="370584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电流在回路之外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  <a:p>
            <a:pPr lvl="0" algn="ctr">
              <a:lnSpc>
                <a:spcPct val="150000"/>
              </a:lnSpc>
              <a:defRPr/>
            </a:pPr>
            <a:endParaRPr lang="zh-CN" altLang="en-US" sz="2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420537" y="1195621"/>
            <a:ext cx="3418796" cy="3413966"/>
            <a:chOff x="5561733" y="876842"/>
            <a:chExt cx="3425826" cy="3429000"/>
          </a:xfrm>
        </p:grpSpPr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V="1">
              <a:off x="6026340" y="2588167"/>
              <a:ext cx="1117602" cy="48736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71"/>
            <p:cNvGrpSpPr>
              <a:grpSpLocks/>
            </p:cNvGrpSpPr>
            <p:nvPr/>
          </p:nvGrpSpPr>
          <p:grpSpPr bwMode="auto">
            <a:xfrm>
              <a:off x="5561733" y="2883447"/>
              <a:ext cx="577850" cy="398463"/>
              <a:chOff x="231" y="2560"/>
              <a:chExt cx="364" cy="251"/>
            </a:xfrm>
          </p:grpSpPr>
          <p:grpSp>
            <p:nvGrpSpPr>
              <p:cNvPr id="63" name="Group 29"/>
              <p:cNvGrpSpPr>
                <a:grpSpLocks/>
              </p:cNvGrpSpPr>
              <p:nvPr/>
            </p:nvGrpSpPr>
            <p:grpSpPr bwMode="auto">
              <a:xfrm>
                <a:off x="417" y="2582"/>
                <a:ext cx="178" cy="209"/>
                <a:chOff x="2448" y="3360"/>
                <a:chExt cx="144" cy="144"/>
              </a:xfrm>
            </p:grpSpPr>
            <p:sp>
              <p:nvSpPr>
                <p:cNvPr id="65" name="Oval 30"/>
                <p:cNvSpPr>
                  <a:spLocks noChangeArrowheads="1"/>
                </p:cNvSpPr>
                <p:nvPr/>
              </p:nvSpPr>
              <p:spPr bwMode="auto">
                <a:xfrm>
                  <a:off x="2448" y="3360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Oval 31"/>
                <p:cNvSpPr>
                  <a:spLocks noChangeArrowheads="1"/>
                </p:cNvSpPr>
                <p:nvPr/>
              </p:nvSpPr>
              <p:spPr bwMode="auto">
                <a:xfrm>
                  <a:off x="2496" y="3408"/>
                  <a:ext cx="48" cy="48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Object 14"/>
                  <p:cNvSpPr txBox="1"/>
                  <p:nvPr/>
                </p:nvSpPr>
                <p:spPr bwMode="auto">
                  <a:xfrm>
                    <a:off x="231" y="2560"/>
                    <a:ext cx="196" cy="2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31" y="2560"/>
                    <a:ext cx="196" cy="25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67"/>
            <p:cNvGrpSpPr>
              <a:grpSpLocks/>
            </p:cNvGrpSpPr>
            <p:nvPr/>
          </p:nvGrpSpPr>
          <p:grpSpPr bwMode="auto">
            <a:xfrm>
              <a:off x="7131771" y="1488030"/>
              <a:ext cx="1855788" cy="2535237"/>
              <a:chOff x="1268" y="1624"/>
              <a:chExt cx="1169" cy="1597"/>
            </a:xfrm>
          </p:grpSpPr>
          <p:grpSp>
            <p:nvGrpSpPr>
              <p:cNvPr id="59" name="Group 62"/>
              <p:cNvGrpSpPr>
                <a:grpSpLocks/>
              </p:cNvGrpSpPr>
              <p:nvPr/>
            </p:nvGrpSpPr>
            <p:grpSpPr bwMode="auto">
              <a:xfrm>
                <a:off x="1268" y="1624"/>
                <a:ext cx="1033" cy="1583"/>
                <a:chOff x="1268" y="1624"/>
                <a:chExt cx="1033" cy="1583"/>
              </a:xfrm>
            </p:grpSpPr>
            <p:sp>
              <p:nvSpPr>
                <p:cNvPr id="61" name="Freeform 32"/>
                <p:cNvSpPr>
                  <a:spLocks/>
                </p:cNvSpPr>
                <p:nvPr/>
              </p:nvSpPr>
              <p:spPr bwMode="auto">
                <a:xfrm>
                  <a:off x="1268" y="1624"/>
                  <a:ext cx="1033" cy="1583"/>
                </a:xfrm>
                <a:custGeom>
                  <a:avLst/>
                  <a:gdLst>
                    <a:gd name="T0" fmla="*/ 20 w 1033"/>
                    <a:gd name="T1" fmla="*/ 224 h 1583"/>
                    <a:gd name="T2" fmla="*/ 341 w 1033"/>
                    <a:gd name="T3" fmla="*/ 0 h 1583"/>
                    <a:gd name="T4" fmla="*/ 506 w 1033"/>
                    <a:gd name="T5" fmla="*/ 16 h 1583"/>
                    <a:gd name="T6" fmla="*/ 581 w 1033"/>
                    <a:gd name="T7" fmla="*/ 48 h 1583"/>
                    <a:gd name="T8" fmla="*/ 708 w 1033"/>
                    <a:gd name="T9" fmla="*/ 178 h 1583"/>
                    <a:gd name="T10" fmla="*/ 783 w 1033"/>
                    <a:gd name="T11" fmla="*/ 226 h 1583"/>
                    <a:gd name="T12" fmla="*/ 896 w 1033"/>
                    <a:gd name="T13" fmla="*/ 437 h 1583"/>
                    <a:gd name="T14" fmla="*/ 972 w 1033"/>
                    <a:gd name="T15" fmla="*/ 631 h 1583"/>
                    <a:gd name="T16" fmla="*/ 997 w 1033"/>
                    <a:gd name="T17" fmla="*/ 729 h 1583"/>
                    <a:gd name="T18" fmla="*/ 1010 w 1033"/>
                    <a:gd name="T19" fmla="*/ 777 h 1583"/>
                    <a:gd name="T20" fmla="*/ 1004 w 1033"/>
                    <a:gd name="T21" fmla="*/ 1240 h 1583"/>
                    <a:gd name="T22" fmla="*/ 972 w 1033"/>
                    <a:gd name="T23" fmla="*/ 1320 h 1583"/>
                    <a:gd name="T24" fmla="*/ 700 w 1033"/>
                    <a:gd name="T25" fmla="*/ 1544 h 1583"/>
                    <a:gd name="T26" fmla="*/ 481 w 1033"/>
                    <a:gd name="T27" fmla="*/ 1538 h 1583"/>
                    <a:gd name="T28" fmla="*/ 417 w 1033"/>
                    <a:gd name="T29" fmla="*/ 1458 h 1583"/>
                    <a:gd name="T30" fmla="*/ 292 w 1033"/>
                    <a:gd name="T31" fmla="*/ 1392 h 1583"/>
                    <a:gd name="T32" fmla="*/ 141 w 1033"/>
                    <a:gd name="T33" fmla="*/ 1150 h 1583"/>
                    <a:gd name="T34" fmla="*/ 102 w 1033"/>
                    <a:gd name="T35" fmla="*/ 1052 h 1583"/>
                    <a:gd name="T36" fmla="*/ 52 w 1033"/>
                    <a:gd name="T37" fmla="*/ 793 h 1583"/>
                    <a:gd name="T38" fmla="*/ 14 w 1033"/>
                    <a:gd name="T39" fmla="*/ 695 h 1583"/>
                    <a:gd name="T40" fmla="*/ 27 w 1033"/>
                    <a:gd name="T41" fmla="*/ 356 h 1583"/>
                    <a:gd name="T42" fmla="*/ 20 w 1033"/>
                    <a:gd name="T43" fmla="*/ 224 h 1583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033"/>
                    <a:gd name="T67" fmla="*/ 0 h 1583"/>
                    <a:gd name="T68" fmla="*/ 1033 w 1033"/>
                    <a:gd name="T69" fmla="*/ 1583 h 1583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033" h="1583">
                      <a:moveTo>
                        <a:pt x="20" y="224"/>
                      </a:moveTo>
                      <a:cubicBezTo>
                        <a:pt x="108" y="0"/>
                        <a:pt x="231" y="23"/>
                        <a:pt x="341" y="0"/>
                      </a:cubicBezTo>
                      <a:cubicBezTo>
                        <a:pt x="396" y="6"/>
                        <a:pt x="451" y="6"/>
                        <a:pt x="506" y="16"/>
                      </a:cubicBezTo>
                      <a:cubicBezTo>
                        <a:pt x="532" y="22"/>
                        <a:pt x="581" y="48"/>
                        <a:pt x="581" y="48"/>
                      </a:cubicBezTo>
                      <a:cubicBezTo>
                        <a:pt x="614" y="87"/>
                        <a:pt x="668" y="147"/>
                        <a:pt x="708" y="178"/>
                      </a:cubicBezTo>
                      <a:cubicBezTo>
                        <a:pt x="801" y="248"/>
                        <a:pt x="687" y="130"/>
                        <a:pt x="783" y="226"/>
                      </a:cubicBezTo>
                      <a:cubicBezTo>
                        <a:pt x="837" y="281"/>
                        <a:pt x="848" y="373"/>
                        <a:pt x="896" y="437"/>
                      </a:cubicBezTo>
                      <a:cubicBezTo>
                        <a:pt x="914" y="507"/>
                        <a:pt x="949" y="564"/>
                        <a:pt x="972" y="631"/>
                      </a:cubicBezTo>
                      <a:cubicBezTo>
                        <a:pt x="982" y="663"/>
                        <a:pt x="989" y="697"/>
                        <a:pt x="997" y="729"/>
                      </a:cubicBezTo>
                      <a:cubicBezTo>
                        <a:pt x="1002" y="745"/>
                        <a:pt x="1010" y="777"/>
                        <a:pt x="1010" y="777"/>
                      </a:cubicBezTo>
                      <a:cubicBezTo>
                        <a:pt x="1028" y="984"/>
                        <a:pt x="1033" y="982"/>
                        <a:pt x="1004" y="1240"/>
                      </a:cubicBezTo>
                      <a:cubicBezTo>
                        <a:pt x="1001" y="1262"/>
                        <a:pt x="983" y="1302"/>
                        <a:pt x="972" y="1320"/>
                      </a:cubicBezTo>
                      <a:cubicBezTo>
                        <a:pt x="853" y="1504"/>
                        <a:pt x="908" y="1480"/>
                        <a:pt x="700" y="1544"/>
                      </a:cubicBezTo>
                      <a:cubicBezTo>
                        <a:pt x="641" y="1537"/>
                        <a:pt x="529" y="1583"/>
                        <a:pt x="481" y="1538"/>
                      </a:cubicBezTo>
                      <a:cubicBezTo>
                        <a:pt x="457" y="1514"/>
                        <a:pt x="446" y="1466"/>
                        <a:pt x="417" y="1458"/>
                      </a:cubicBezTo>
                      <a:cubicBezTo>
                        <a:pt x="368" y="1442"/>
                        <a:pt x="335" y="1428"/>
                        <a:pt x="292" y="1392"/>
                      </a:cubicBezTo>
                      <a:cubicBezTo>
                        <a:pt x="247" y="1306"/>
                        <a:pt x="189" y="1233"/>
                        <a:pt x="141" y="1150"/>
                      </a:cubicBezTo>
                      <a:cubicBezTo>
                        <a:pt x="132" y="1115"/>
                        <a:pt x="111" y="1087"/>
                        <a:pt x="102" y="1052"/>
                      </a:cubicBezTo>
                      <a:cubicBezTo>
                        <a:pt x="81" y="969"/>
                        <a:pt x="83" y="873"/>
                        <a:pt x="52" y="793"/>
                      </a:cubicBezTo>
                      <a:cubicBezTo>
                        <a:pt x="0" y="659"/>
                        <a:pt x="50" y="828"/>
                        <a:pt x="14" y="695"/>
                      </a:cubicBezTo>
                      <a:cubicBezTo>
                        <a:pt x="18" y="582"/>
                        <a:pt x="20" y="469"/>
                        <a:pt x="27" y="356"/>
                      </a:cubicBezTo>
                      <a:cubicBezTo>
                        <a:pt x="29" y="321"/>
                        <a:pt x="55" y="224"/>
                        <a:pt x="20" y="224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104" y="2989"/>
                  <a:ext cx="157" cy="14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Object 13"/>
                  <p:cNvSpPr txBox="1"/>
                  <p:nvPr/>
                </p:nvSpPr>
                <p:spPr bwMode="auto">
                  <a:xfrm>
                    <a:off x="2261" y="2922"/>
                    <a:ext cx="176" cy="29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Object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261" y="2922"/>
                    <a:ext cx="176" cy="2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348" t="-15385" r="-19565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54"/>
            <p:cNvGrpSpPr>
              <a:grpSpLocks/>
            </p:cNvGrpSpPr>
            <p:nvPr/>
          </p:nvGrpSpPr>
          <p:grpSpPr bwMode="auto">
            <a:xfrm>
              <a:off x="5780808" y="2019842"/>
              <a:ext cx="633413" cy="533400"/>
              <a:chOff x="417" y="1968"/>
              <a:chExt cx="399" cy="336"/>
            </a:xfrm>
          </p:grpSpPr>
          <p:sp>
            <p:nvSpPr>
              <p:cNvPr id="57" name="AutoShape 53"/>
              <p:cNvSpPr>
                <a:spLocks noChangeArrowheads="1"/>
              </p:cNvSpPr>
              <p:nvPr/>
            </p:nvSpPr>
            <p:spPr bwMode="auto">
              <a:xfrm>
                <a:off x="432" y="1968"/>
                <a:ext cx="384" cy="336"/>
              </a:xfrm>
              <a:prstGeom prst="wedgeRectCallout">
                <a:avLst>
                  <a:gd name="adj1" fmla="val 110940"/>
                  <a:gd name="adj2" fmla="val 114583"/>
                </a:avLst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rgbClr val="990099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800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Object 12"/>
                  <p:cNvSpPr txBox="1"/>
                  <p:nvPr/>
                </p:nvSpPr>
                <p:spPr bwMode="auto">
                  <a:xfrm>
                    <a:off x="417" y="1975"/>
                    <a:ext cx="357" cy="3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7" y="1975"/>
                    <a:ext cx="357" cy="31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60"/>
            <p:cNvGrpSpPr>
              <a:grpSpLocks/>
            </p:cNvGrpSpPr>
            <p:nvPr/>
          </p:nvGrpSpPr>
          <p:grpSpPr bwMode="auto">
            <a:xfrm>
              <a:off x="7150821" y="2294509"/>
              <a:ext cx="595313" cy="639768"/>
              <a:chOff x="1280" y="2141"/>
              <a:chExt cx="375" cy="4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Object 11"/>
                  <p:cNvSpPr txBox="1"/>
                  <p:nvPr/>
                </p:nvSpPr>
                <p:spPr bwMode="auto">
                  <a:xfrm>
                    <a:off x="1379" y="2141"/>
                    <a:ext cx="276" cy="30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Object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79" y="2141"/>
                    <a:ext cx="276" cy="30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6944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Line 36"/>
              <p:cNvSpPr>
                <a:spLocks noChangeShapeType="1"/>
              </p:cNvSpPr>
              <p:nvPr/>
            </p:nvSpPr>
            <p:spPr bwMode="auto">
              <a:xfrm>
                <a:off x="1280" y="2326"/>
                <a:ext cx="71" cy="218"/>
              </a:xfrm>
              <a:prstGeom prst="line">
                <a:avLst/>
              </a:prstGeom>
              <a:noFill/>
              <a:ln w="38100">
                <a:solidFill>
                  <a:srgbClr val="CC00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" name="Freeform 41"/>
            <p:cNvSpPr>
              <a:spLocks/>
            </p:cNvSpPr>
            <p:nvPr/>
          </p:nvSpPr>
          <p:spPr bwMode="auto">
            <a:xfrm>
              <a:off x="6023695" y="2940592"/>
              <a:ext cx="1214438" cy="161925"/>
            </a:xfrm>
            <a:custGeom>
              <a:avLst/>
              <a:gdLst>
                <a:gd name="T0" fmla="*/ 0 w 768"/>
                <a:gd name="T1" fmla="*/ 82 h 82"/>
                <a:gd name="T2" fmla="*/ 768 w 768"/>
                <a:gd name="T3" fmla="*/ 0 h 82"/>
                <a:gd name="T4" fmla="*/ 0 60000 65536"/>
                <a:gd name="T5" fmla="*/ 0 60000 65536"/>
                <a:gd name="T6" fmla="*/ 0 w 768"/>
                <a:gd name="T7" fmla="*/ 0 h 82"/>
                <a:gd name="T8" fmla="*/ 768 w 768"/>
                <a:gd name="T9" fmla="*/ 82 h 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8" h="82">
                  <a:moveTo>
                    <a:pt x="0" y="82"/>
                  </a:moveTo>
                  <a:lnTo>
                    <a:pt x="768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66"/>
            <p:cNvGrpSpPr>
              <a:grpSpLocks/>
            </p:cNvGrpSpPr>
            <p:nvPr/>
          </p:nvGrpSpPr>
          <p:grpSpPr bwMode="auto">
            <a:xfrm>
              <a:off x="6007820" y="1972316"/>
              <a:ext cx="2740026" cy="1477963"/>
              <a:chOff x="560" y="1944"/>
              <a:chExt cx="1726" cy="931"/>
            </a:xfrm>
          </p:grpSpPr>
          <p:sp>
            <p:nvSpPr>
              <p:cNvPr id="51" name="Line 33"/>
              <p:cNvSpPr>
                <a:spLocks noChangeShapeType="1"/>
              </p:cNvSpPr>
              <p:nvPr/>
            </p:nvSpPr>
            <p:spPr bwMode="auto">
              <a:xfrm flipV="1">
                <a:off x="560" y="1944"/>
                <a:ext cx="1579" cy="699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2" name="Group 64"/>
              <p:cNvGrpSpPr>
                <a:grpSpLocks/>
              </p:cNvGrpSpPr>
              <p:nvPr/>
            </p:nvGrpSpPr>
            <p:grpSpPr bwMode="auto">
              <a:xfrm>
                <a:off x="560" y="2421"/>
                <a:ext cx="1726" cy="454"/>
                <a:chOff x="560" y="2421"/>
                <a:chExt cx="1726" cy="454"/>
              </a:xfrm>
            </p:grpSpPr>
            <p:sp>
              <p:nvSpPr>
                <p:cNvPr id="53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560" y="2421"/>
                  <a:ext cx="1726" cy="233"/>
                </a:xfrm>
                <a:prstGeom prst="line">
                  <a:avLst/>
                </a:prstGeom>
                <a:noFill/>
                <a:ln w="28575">
                  <a:solidFill>
                    <a:srgbClr val="008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Object 9"/>
                    <p:cNvSpPr txBox="1"/>
                    <p:nvPr/>
                  </p:nvSpPr>
                  <p:spPr bwMode="auto">
                    <a:xfrm>
                      <a:off x="1747" y="2470"/>
                      <a:ext cx="303" cy="4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Object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747" y="2470"/>
                      <a:ext cx="303" cy="40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  <a:ex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8" name="Group 73"/>
            <p:cNvGrpSpPr>
              <a:grpSpLocks/>
            </p:cNvGrpSpPr>
            <p:nvPr/>
          </p:nvGrpSpPr>
          <p:grpSpPr bwMode="auto">
            <a:xfrm>
              <a:off x="8017810" y="1972803"/>
              <a:ext cx="730255" cy="762000"/>
              <a:chOff x="1790" y="2022"/>
              <a:chExt cx="460" cy="480"/>
            </a:xfrm>
          </p:grpSpPr>
          <p:sp>
            <p:nvSpPr>
              <p:cNvPr id="49" name="Freeform 35"/>
              <p:cNvSpPr>
                <a:spLocks/>
              </p:cNvSpPr>
              <p:nvPr/>
            </p:nvSpPr>
            <p:spPr bwMode="auto">
              <a:xfrm>
                <a:off x="2094" y="2022"/>
                <a:ext cx="156" cy="480"/>
              </a:xfrm>
              <a:custGeom>
                <a:avLst/>
                <a:gdLst>
                  <a:gd name="T0" fmla="*/ 156 w 156"/>
                  <a:gd name="T1" fmla="*/ 480 h 480"/>
                  <a:gd name="T2" fmla="*/ 0 w 156"/>
                  <a:gd name="T3" fmla="*/ 0 h 480"/>
                  <a:gd name="T4" fmla="*/ 0 60000 65536"/>
                  <a:gd name="T5" fmla="*/ 0 60000 65536"/>
                  <a:gd name="T6" fmla="*/ 0 w 156"/>
                  <a:gd name="T7" fmla="*/ 0 h 480"/>
                  <a:gd name="T8" fmla="*/ 156 w 156"/>
                  <a:gd name="T9" fmla="*/ 480 h 4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6" h="480">
                    <a:moveTo>
                      <a:pt x="156" y="48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CC00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Object 8"/>
                  <p:cNvSpPr txBox="1"/>
                  <p:nvPr/>
                </p:nvSpPr>
                <p:spPr bwMode="auto">
                  <a:xfrm>
                    <a:off x="1790" y="2109"/>
                    <a:ext cx="326" cy="3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90" y="2109"/>
                    <a:ext cx="326" cy="35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58"/>
            <p:cNvGrpSpPr>
              <a:grpSpLocks/>
            </p:cNvGrpSpPr>
            <p:nvPr/>
          </p:nvGrpSpPr>
          <p:grpSpPr bwMode="auto">
            <a:xfrm>
              <a:off x="6509695" y="1387872"/>
              <a:ext cx="650649" cy="1216169"/>
              <a:chOff x="918" y="1541"/>
              <a:chExt cx="368" cy="795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 flipH="1" flipV="1">
                <a:off x="1152" y="1728"/>
                <a:ext cx="134" cy="60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bject 7"/>
                  <p:cNvSpPr txBox="1"/>
                  <p:nvPr/>
                </p:nvSpPr>
                <p:spPr bwMode="auto">
                  <a:xfrm>
                    <a:off x="918" y="1541"/>
                    <a:ext cx="294" cy="37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918" y="1541"/>
                    <a:ext cx="294" cy="37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75"/>
            <p:cNvGrpSpPr>
              <a:grpSpLocks/>
            </p:cNvGrpSpPr>
            <p:nvPr/>
          </p:nvGrpSpPr>
          <p:grpSpPr bwMode="auto">
            <a:xfrm>
              <a:off x="8428954" y="1237793"/>
              <a:ext cx="447675" cy="1500188"/>
              <a:chOff x="2049" y="1559"/>
              <a:chExt cx="282" cy="945"/>
            </a:xfrm>
          </p:grpSpPr>
          <p:sp>
            <p:nvSpPr>
              <p:cNvPr id="45" name="Freeform 37"/>
              <p:cNvSpPr>
                <a:spLocks/>
              </p:cNvSpPr>
              <p:nvPr/>
            </p:nvSpPr>
            <p:spPr bwMode="auto">
              <a:xfrm>
                <a:off x="2248" y="1860"/>
                <a:ext cx="2" cy="644"/>
              </a:xfrm>
              <a:custGeom>
                <a:avLst/>
                <a:gdLst>
                  <a:gd name="T0" fmla="*/ 0 w 2"/>
                  <a:gd name="T1" fmla="*/ 644 h 644"/>
                  <a:gd name="T2" fmla="*/ 2 w 2"/>
                  <a:gd name="T3" fmla="*/ 0 h 644"/>
                  <a:gd name="T4" fmla="*/ 0 60000 65536"/>
                  <a:gd name="T5" fmla="*/ 0 60000 65536"/>
                  <a:gd name="T6" fmla="*/ 0 w 2"/>
                  <a:gd name="T7" fmla="*/ 0 h 644"/>
                  <a:gd name="T8" fmla="*/ 2 w 2"/>
                  <a:gd name="T9" fmla="*/ 644 h 6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644">
                    <a:moveTo>
                      <a:pt x="0" y="644"/>
                    </a:moveTo>
                    <a:lnTo>
                      <a:pt x="2" y="0"/>
                    </a:ln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Object 6"/>
                  <p:cNvSpPr txBox="1"/>
                  <p:nvPr/>
                </p:nvSpPr>
                <p:spPr bwMode="auto">
                  <a:xfrm>
                    <a:off x="2049" y="1559"/>
                    <a:ext cx="282" cy="3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049" y="1559"/>
                    <a:ext cx="282" cy="33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65"/>
            <p:cNvGrpSpPr>
              <a:grpSpLocks/>
            </p:cNvGrpSpPr>
            <p:nvPr/>
          </p:nvGrpSpPr>
          <p:grpSpPr bwMode="auto">
            <a:xfrm>
              <a:off x="5957020" y="876842"/>
              <a:ext cx="2819400" cy="3429000"/>
              <a:chOff x="528" y="1248"/>
              <a:chExt cx="1776" cy="2160"/>
            </a:xfrm>
          </p:grpSpPr>
          <p:sp>
            <p:nvSpPr>
              <p:cNvPr id="43" name="Line 47"/>
              <p:cNvSpPr>
                <a:spLocks noChangeShapeType="1"/>
              </p:cNvSpPr>
              <p:nvPr/>
            </p:nvSpPr>
            <p:spPr bwMode="auto">
              <a:xfrm flipV="1">
                <a:off x="576" y="1248"/>
                <a:ext cx="1200" cy="1344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Line 48"/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1776" cy="768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10"/>
                <p:cNvSpPr txBox="1"/>
                <p:nvPr/>
              </p:nvSpPr>
              <p:spPr bwMode="auto">
                <a:xfrm>
                  <a:off x="6648377" y="2008931"/>
                  <a:ext cx="444500" cy="739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48377" y="2008931"/>
                  <a:ext cx="444500" cy="739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 Box 11">
            <a:hlinkClick r:id="rId12" action="ppaction://hlinksldjump"/>
            <a:extLst>
              <a:ext uri="{FF2B5EF4-FFF2-40B4-BE49-F238E27FC236}">
                <a16:creationId xmlns:a16="http://schemas.microsoft.com/office/drawing/2014/main" id="{89442C38-0C66-4363-A24E-EFDF55668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Object 13">
                <a:extLst>
                  <a:ext uri="{FF2B5EF4-FFF2-40B4-BE49-F238E27FC236}">
                    <a16:creationId xmlns:a16="http://schemas.microsoft.com/office/drawing/2014/main" id="{BE3F7692-DBCF-4732-BF7B-204477898C35}"/>
                  </a:ext>
                </a:extLst>
              </p:cNvPr>
              <p:cNvSpPr txBox="1"/>
              <p:nvPr/>
            </p:nvSpPr>
            <p:spPr>
              <a:xfrm>
                <a:off x="622112" y="4815365"/>
                <a:ext cx="6927853" cy="11461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3" name="Object 13">
                <a:extLst>
                  <a:ext uri="{FF2B5EF4-FFF2-40B4-BE49-F238E27FC236}">
                    <a16:creationId xmlns:a16="http://schemas.microsoft.com/office/drawing/2014/main" id="{BE3F7692-DBCF-4732-BF7B-204477898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12" y="4815365"/>
                <a:ext cx="6927853" cy="11461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bject 14">
                <a:extLst>
                  <a:ext uri="{FF2B5EF4-FFF2-40B4-BE49-F238E27FC236}">
                    <a16:creationId xmlns:a16="http://schemas.microsoft.com/office/drawing/2014/main" id="{A01A8EB4-78B4-41F7-87D6-E66F81DD2A45}"/>
                  </a:ext>
                </a:extLst>
              </p:cNvPr>
              <p:cNvSpPr txBox="1"/>
              <p:nvPr/>
            </p:nvSpPr>
            <p:spPr>
              <a:xfrm>
                <a:off x="1595776" y="5970725"/>
                <a:ext cx="5028280" cy="6223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4" name="Object 14">
                <a:extLst>
                  <a:ext uri="{FF2B5EF4-FFF2-40B4-BE49-F238E27FC236}">
                    <a16:creationId xmlns:a16="http://schemas.microsoft.com/office/drawing/2014/main" id="{A01A8EB4-78B4-41F7-87D6-E66F81DD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76" y="5970725"/>
                <a:ext cx="5028280" cy="622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Object 15">
                <a:extLst>
                  <a:ext uri="{FF2B5EF4-FFF2-40B4-BE49-F238E27FC236}">
                    <a16:creationId xmlns:a16="http://schemas.microsoft.com/office/drawing/2014/main" id="{642AB8F6-3AC8-4D90-8518-B67567F8CAD6}"/>
                  </a:ext>
                </a:extLst>
              </p:cNvPr>
              <p:cNvSpPr txBox="1"/>
              <p:nvPr/>
            </p:nvSpPr>
            <p:spPr>
              <a:xfrm>
                <a:off x="7451790" y="5302130"/>
                <a:ext cx="3016968" cy="8651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05" name="Object 15">
                <a:extLst>
                  <a:ext uri="{FF2B5EF4-FFF2-40B4-BE49-F238E27FC236}">
                    <a16:creationId xmlns:a16="http://schemas.microsoft.com/office/drawing/2014/main" id="{642AB8F6-3AC8-4D90-8518-B67567F8C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790" y="5302130"/>
                <a:ext cx="3016968" cy="865188"/>
              </a:xfrm>
              <a:prstGeom prst="rect">
                <a:avLst/>
              </a:prstGeom>
              <a:blipFill>
                <a:blip r:embed="rId15"/>
                <a:stretch>
                  <a:fillRect b="-633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Object 17">
                <a:extLst>
                  <a:ext uri="{FF2B5EF4-FFF2-40B4-BE49-F238E27FC236}">
                    <a16:creationId xmlns:a16="http://schemas.microsoft.com/office/drawing/2014/main" id="{24699EB2-4003-4800-AD1C-1251CA955CA1}"/>
                  </a:ext>
                </a:extLst>
              </p:cNvPr>
              <p:cNvSpPr txBox="1"/>
              <p:nvPr/>
            </p:nvSpPr>
            <p:spPr>
              <a:xfrm>
                <a:off x="447485" y="2355910"/>
                <a:ext cx="5922197" cy="12684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Object 17">
                <a:extLst>
                  <a:ext uri="{FF2B5EF4-FFF2-40B4-BE49-F238E27FC236}">
                    <a16:creationId xmlns:a16="http://schemas.microsoft.com/office/drawing/2014/main" id="{24699EB2-4003-4800-AD1C-1251CA955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85" y="2355910"/>
                <a:ext cx="5922197" cy="12684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1C135546-9721-4932-AA05-A47082100B29}"/>
                  </a:ext>
                </a:extLst>
              </p:cNvPr>
              <p:cNvSpPr/>
              <p:nvPr/>
            </p:nvSpPr>
            <p:spPr>
              <a:xfrm>
                <a:off x="1595776" y="3842854"/>
                <a:ext cx="4439742" cy="720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𝐵𝑑𝑟</m:t>
                      </m:r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𝐵𝑟𝑑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1C135546-9721-4932-AA05-A47082100B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76" y="3842854"/>
                <a:ext cx="4439742" cy="7204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24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3" grpId="0"/>
      <p:bldP spid="104" grpId="0"/>
      <p:bldP spid="105" grpId="0"/>
      <p:bldP spid="106" grpId="0"/>
      <p:bldP spid="1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>
            <a:hlinkClick r:id="rId2" action="ppaction://hlinksldjump"/>
            <a:extLst>
              <a:ext uri="{FF2B5EF4-FFF2-40B4-BE49-F238E27FC236}">
                <a16:creationId xmlns:a16="http://schemas.microsoft.com/office/drawing/2014/main" id="{1885BA61-AE6D-44A3-971D-A67010A6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p:grpSp>
        <p:nvGrpSpPr>
          <p:cNvPr id="10" name="Group 78">
            <a:extLst>
              <a:ext uri="{FF2B5EF4-FFF2-40B4-BE49-F238E27FC236}">
                <a16:creationId xmlns:a16="http://schemas.microsoft.com/office/drawing/2014/main" id="{3FFA85DB-78D9-42CD-A704-86E1DE537E4A}"/>
              </a:ext>
            </a:extLst>
          </p:cNvPr>
          <p:cNvGrpSpPr>
            <a:grpSpLocks/>
          </p:cNvGrpSpPr>
          <p:nvPr/>
        </p:nvGrpSpPr>
        <p:grpSpPr bwMode="auto">
          <a:xfrm>
            <a:off x="1828151" y="1099786"/>
            <a:ext cx="2424034" cy="2468914"/>
            <a:chOff x="323" y="1362"/>
            <a:chExt cx="1896" cy="1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ED0A549-4F9A-4C84-B182-5015D278D1D1}"/>
                    </a:ext>
                  </a:extLst>
                </p:cNvPr>
                <p:cNvSpPr txBox="1"/>
                <p:nvPr/>
              </p:nvSpPr>
              <p:spPr bwMode="auto">
                <a:xfrm>
                  <a:off x="323" y="1806"/>
                  <a:ext cx="258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ED0A549-4F9A-4C84-B182-5015D278D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" y="1806"/>
                  <a:ext cx="258" cy="379"/>
                </a:xfrm>
                <a:prstGeom prst="rect">
                  <a:avLst/>
                </a:prstGeom>
                <a:blipFill>
                  <a:blip r:embed="rId3"/>
                  <a:stretch>
                    <a:fillRect l="-5556" r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3501BC2A-00C0-420E-8C28-A3EA7E50A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" y="1589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53">
              <a:extLst>
                <a:ext uri="{FF2B5EF4-FFF2-40B4-BE49-F238E27FC236}">
                  <a16:creationId xmlns:a16="http://schemas.microsoft.com/office/drawing/2014/main" id="{07B6F362-7A98-4705-A4E2-4C607CB7F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1475"/>
              <a:ext cx="52" cy="1706"/>
              <a:chOff x="672" y="1056"/>
              <a:chExt cx="49" cy="1440"/>
            </a:xfrm>
          </p:grpSpPr>
          <p:sp>
            <p:nvSpPr>
              <p:cNvPr id="33" name="AutoShape 9">
                <a:extLst>
                  <a:ext uri="{FF2B5EF4-FFF2-40B4-BE49-F238E27FC236}">
                    <a16:creationId xmlns:a16="http://schemas.microsoft.com/office/drawing/2014/main" id="{6AF06CFB-1297-4055-A613-C7854F110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" y="1200"/>
                <a:ext cx="46" cy="1108"/>
              </a:xfrm>
              <a:prstGeom prst="can">
                <a:avLst>
                  <a:gd name="adj" fmla="val 120435"/>
                </a:avLst>
              </a:prstGeom>
              <a:gradFill rotWithShape="0">
                <a:gsLst>
                  <a:gs pos="0">
                    <a:srgbClr val="6B6A6A"/>
                  </a:gs>
                  <a:gs pos="50000">
                    <a:srgbClr val="E8E6E4"/>
                  </a:gs>
                  <a:gs pos="100000">
                    <a:srgbClr val="6B6A6A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Line 42">
                <a:extLst>
                  <a:ext uri="{FF2B5EF4-FFF2-40B4-BE49-F238E27FC236}">
                    <a16:creationId xmlns:a16="http://schemas.microsoft.com/office/drawing/2014/main" id="{9F5470D9-1356-4E86-BB94-AF25C7EA0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2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44">
                <a:extLst>
                  <a:ext uri="{FF2B5EF4-FFF2-40B4-BE49-F238E27FC236}">
                    <a16:creationId xmlns:a16="http://schemas.microsoft.com/office/drawing/2014/main" id="{1F326868-E69E-44D7-BFEC-AE374E27C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45">
                <a:extLst>
                  <a:ext uri="{FF2B5EF4-FFF2-40B4-BE49-F238E27FC236}">
                    <a16:creationId xmlns:a16="http://schemas.microsoft.com/office/drawing/2014/main" id="{2D9A298B-B19C-4E65-92E0-C5E5E81F2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0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Line 46">
                <a:extLst>
                  <a:ext uri="{FF2B5EF4-FFF2-40B4-BE49-F238E27FC236}">
                    <a16:creationId xmlns:a16="http://schemas.microsoft.com/office/drawing/2014/main" id="{D941D328-5CF7-4BD5-85A4-ECDE708C6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0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AutoShape 59">
              <a:extLst>
                <a:ext uri="{FF2B5EF4-FFF2-40B4-BE49-F238E27FC236}">
                  <a16:creationId xmlns:a16="http://schemas.microsoft.com/office/drawing/2014/main" id="{86C33268-E208-4A97-AC6C-2EF68922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2481"/>
              <a:ext cx="49" cy="472"/>
            </a:xfrm>
            <a:prstGeom prst="can">
              <a:avLst>
                <a:gd name="adj" fmla="val 85757"/>
              </a:avLst>
            </a:pr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5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60">
              <a:extLst>
                <a:ext uri="{FF2B5EF4-FFF2-40B4-BE49-F238E27FC236}">
                  <a16:creationId xmlns:a16="http://schemas.microsoft.com/office/drawing/2014/main" id="{BA8A0082-30EB-46A9-8E6B-4795D70DC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61">
              <a:extLst>
                <a:ext uri="{FF2B5EF4-FFF2-40B4-BE49-F238E27FC236}">
                  <a16:creationId xmlns:a16="http://schemas.microsoft.com/office/drawing/2014/main" id="{AA51CE87-C995-495C-9E97-D28249753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6">
                  <a:extLst>
                    <a:ext uri="{FF2B5EF4-FFF2-40B4-BE49-F238E27FC236}">
                      <a16:creationId xmlns:a16="http://schemas.microsoft.com/office/drawing/2014/main" id="{8A19362E-85AD-4BD0-9610-EDBDB34624F6}"/>
                    </a:ext>
                  </a:extLst>
                </p:cNvPr>
                <p:cNvSpPr txBox="1"/>
                <p:nvPr/>
              </p:nvSpPr>
              <p:spPr bwMode="auto">
                <a:xfrm>
                  <a:off x="1062" y="1636"/>
                  <a:ext cx="254" cy="3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bject 6">
                  <a:extLst>
                    <a:ext uri="{FF2B5EF4-FFF2-40B4-BE49-F238E27FC236}">
                      <a16:creationId xmlns:a16="http://schemas.microsoft.com/office/drawing/2014/main" id="{8A19362E-85AD-4BD0-9610-EDBDB3462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" y="1636"/>
                  <a:ext cx="254" cy="377"/>
                </a:xfrm>
                <a:prstGeom prst="rect">
                  <a:avLst/>
                </a:prstGeom>
                <a:blipFill>
                  <a:blip r:embed="rId4"/>
                  <a:stretch>
                    <a:fillRect l="-5660"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Line 40">
              <a:extLst>
                <a:ext uri="{FF2B5EF4-FFF2-40B4-BE49-F238E27FC236}">
                  <a16:creationId xmlns:a16="http://schemas.microsoft.com/office/drawing/2014/main" id="{E5C12603-206D-470A-91FE-DF61AFBC6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8" y="1532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57">
              <a:extLst>
                <a:ext uri="{FF2B5EF4-FFF2-40B4-BE49-F238E27FC236}">
                  <a16:creationId xmlns:a16="http://schemas.microsoft.com/office/drawing/2014/main" id="{6B26F36C-8CCF-415A-BD1A-D3858356C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58">
              <a:extLst>
                <a:ext uri="{FF2B5EF4-FFF2-40B4-BE49-F238E27FC236}">
                  <a16:creationId xmlns:a16="http://schemas.microsoft.com/office/drawing/2014/main" id="{918995D2-F4BC-4F92-995F-0228651D5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AutoShape 5">
              <a:extLst>
                <a:ext uri="{FF2B5EF4-FFF2-40B4-BE49-F238E27FC236}">
                  <a16:creationId xmlns:a16="http://schemas.microsoft.com/office/drawing/2014/main" id="{937F226A-9D9D-4E70-8C2E-A32DF782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2499"/>
              <a:ext cx="51" cy="454"/>
            </a:xfrm>
            <a:prstGeom prst="can">
              <a:avLst>
                <a:gd name="adj" fmla="val 79252"/>
              </a:avLst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49">
              <a:extLst>
                <a:ext uri="{FF2B5EF4-FFF2-40B4-BE49-F238E27FC236}">
                  <a16:creationId xmlns:a16="http://schemas.microsoft.com/office/drawing/2014/main" id="{7E564CD0-857E-4811-B105-BF7055A0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9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50">
              <a:extLst>
                <a:ext uri="{FF2B5EF4-FFF2-40B4-BE49-F238E27FC236}">
                  <a16:creationId xmlns:a16="http://schemas.microsoft.com/office/drawing/2014/main" id="{78BEB3A8-568F-4E17-AF8E-82E8F5E16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51">
              <a:extLst>
                <a:ext uri="{FF2B5EF4-FFF2-40B4-BE49-F238E27FC236}">
                  <a16:creationId xmlns:a16="http://schemas.microsoft.com/office/drawing/2014/main" id="{9CA4902B-8837-4737-9CCF-5429EB542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9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52">
              <a:extLst>
                <a:ext uri="{FF2B5EF4-FFF2-40B4-BE49-F238E27FC236}">
                  <a16:creationId xmlns:a16="http://schemas.microsoft.com/office/drawing/2014/main" id="{CAA99886-4485-4195-9765-84FBA1CD6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7">
                  <a:extLst>
                    <a:ext uri="{FF2B5EF4-FFF2-40B4-BE49-F238E27FC236}">
                      <a16:creationId xmlns:a16="http://schemas.microsoft.com/office/drawing/2014/main" id="{7FB3DC70-4176-48A1-9930-CA28B26A5498}"/>
                    </a:ext>
                  </a:extLst>
                </p:cNvPr>
                <p:cNvSpPr txBox="1"/>
                <p:nvPr/>
              </p:nvSpPr>
              <p:spPr bwMode="auto">
                <a:xfrm>
                  <a:off x="1925" y="1589"/>
                  <a:ext cx="255" cy="3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Object 7">
                  <a:extLst>
                    <a:ext uri="{FF2B5EF4-FFF2-40B4-BE49-F238E27FC236}">
                      <a16:creationId xmlns:a16="http://schemas.microsoft.com/office/drawing/2014/main" id="{7FB3DC70-4176-48A1-9930-CA28B26A54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5" y="1589"/>
                  <a:ext cx="255" cy="383"/>
                </a:xfrm>
                <a:prstGeom prst="rect">
                  <a:avLst/>
                </a:prstGeom>
                <a:blipFill>
                  <a:blip r:embed="rId5"/>
                  <a:stretch>
                    <a:fillRect l="-5660"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Line 41">
              <a:extLst>
                <a:ext uri="{FF2B5EF4-FFF2-40B4-BE49-F238E27FC236}">
                  <a16:creationId xmlns:a16="http://schemas.microsoft.com/office/drawing/2014/main" id="{E950D4D7-9E75-43B4-8F90-FEFD35D84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3" y="1589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8" name="Group 63">
              <a:extLst>
                <a:ext uri="{FF2B5EF4-FFF2-40B4-BE49-F238E27FC236}">
                  <a16:creationId xmlns:a16="http://schemas.microsoft.com/office/drawing/2014/main" id="{068E0A60-B97A-4D7F-8D36-0ED494F119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" y="2016"/>
              <a:ext cx="1369" cy="525"/>
              <a:chOff x="858" y="1695"/>
              <a:chExt cx="1280" cy="443"/>
            </a:xfrm>
          </p:grpSpPr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80991C5F-AE5A-456E-ADF1-41A6F11A9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" y="1695"/>
                <a:ext cx="1280" cy="443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66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16">
                <a:extLst>
                  <a:ext uri="{FF2B5EF4-FFF2-40B4-BE49-F238E27FC236}">
                    <a16:creationId xmlns:a16="http://schemas.microsoft.com/office/drawing/2014/main" id="{CFF0CFAF-E945-4994-860D-C49EA75D6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34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AutoShape 8">
              <a:extLst>
                <a:ext uri="{FF2B5EF4-FFF2-40B4-BE49-F238E27FC236}">
                  <a16:creationId xmlns:a16="http://schemas.microsoft.com/office/drawing/2014/main" id="{0EB0B046-0341-44FC-ACF5-D4B3F5215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1589"/>
              <a:ext cx="49" cy="734"/>
            </a:xfrm>
            <a:prstGeom prst="can">
              <a:avLst>
                <a:gd name="adj" fmla="val 133360"/>
              </a:avLst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AutoShape 54">
              <a:extLst>
                <a:ext uri="{FF2B5EF4-FFF2-40B4-BE49-F238E27FC236}">
                  <a16:creationId xmlns:a16="http://schemas.microsoft.com/office/drawing/2014/main" id="{DAE5B105-3626-471C-9D74-650E36022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1589"/>
              <a:ext cx="49" cy="734"/>
            </a:xfrm>
            <a:prstGeom prst="can">
              <a:avLst>
                <a:gd name="adj" fmla="val 133360"/>
              </a:avLst>
            </a:pr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5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2">
                <a:extLst>
                  <a:ext uri="{FF2B5EF4-FFF2-40B4-BE49-F238E27FC236}">
                    <a16:creationId xmlns:a16="http://schemas.microsoft.com/office/drawing/2014/main" id="{60164DBD-092C-4163-8C74-6CF207360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2185" y="710228"/>
                <a:ext cx="5917355" cy="2588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多电流情况</a:t>
                </a: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800" b="0" i="0" u="none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 eaLnBrk="1" hangingPunct="1">
                  <a:lnSpc>
                    <a:spcPct val="13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→</m:t>
                      </m:r>
                      <m:nary>
                        <m:naryPr>
                          <m:chr m:val="∮"/>
                          <m:ctrlP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0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0" i="0" u="none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 Box 2">
                <a:extLst>
                  <a:ext uri="{FF2B5EF4-FFF2-40B4-BE49-F238E27FC236}">
                    <a16:creationId xmlns:a16="http://schemas.microsoft.com/office/drawing/2014/main" id="{60164DBD-092C-4163-8C74-6CF207360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2185" y="710228"/>
                <a:ext cx="5917355" cy="2588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AE6925F9-D92C-42FF-83B2-05ADECB0EE28}"/>
              </a:ext>
            </a:extLst>
          </p:cNvPr>
          <p:cNvSpPr/>
          <p:nvPr/>
        </p:nvSpPr>
        <p:spPr>
          <a:xfrm>
            <a:off x="1016228" y="3912684"/>
            <a:ext cx="12835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以上结果对</a:t>
            </a:r>
            <a:r>
              <a:rPr lang="zh-CN" altLang="en-US" sz="2800" dirty="0">
                <a:solidFill>
                  <a:srgbClr val="0066FF"/>
                </a:solidFill>
                <a:latin typeface="Times New Roman" panose="02020603050405020304" pitchFamily="18" charset="0"/>
              </a:rPr>
              <a:t>任意</a:t>
            </a:r>
            <a:r>
              <a:rPr lang="zh-CN" altLang="en-US" sz="2800" dirty="0">
                <a:latin typeface="Times New Roman" panose="02020603050405020304" pitchFamily="18" charset="0"/>
              </a:rPr>
              <a:t>形状的闭合电流（或伸向无限远的电流）均成立</a:t>
            </a:r>
            <a:endParaRPr lang="en-US" sz="28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BB414E-EEDA-4A72-8C96-EF11E075997E}"/>
              </a:ext>
            </a:extLst>
          </p:cNvPr>
          <p:cNvSpPr/>
          <p:nvPr/>
        </p:nvSpPr>
        <p:spPr>
          <a:xfrm>
            <a:off x="4545868" y="3297377"/>
            <a:ext cx="6048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i="1" dirty="0"/>
              <a:t>I</a:t>
            </a:r>
            <a:r>
              <a:rPr lang="zh-CN" altLang="en-US" sz="2800" i="1" dirty="0"/>
              <a:t> </a:t>
            </a:r>
            <a:r>
              <a:rPr lang="zh-CN" altLang="en-US" sz="2800" dirty="0"/>
              <a:t>与</a:t>
            </a:r>
            <a:r>
              <a:rPr lang="en-US" altLang="zh-CN" sz="2800" i="1" dirty="0"/>
              <a:t>L</a:t>
            </a:r>
            <a:r>
              <a:rPr lang="zh-CN" altLang="en-US" sz="2800" dirty="0"/>
              <a:t>成</a:t>
            </a:r>
            <a:r>
              <a:rPr lang="zh-CN" altLang="en-US" sz="2800" dirty="0">
                <a:solidFill>
                  <a:srgbClr val="CC0000"/>
                </a:solidFill>
              </a:rPr>
              <a:t>右</a:t>
            </a:r>
            <a:r>
              <a:rPr lang="zh-CN" altLang="en-US" sz="2800" dirty="0"/>
              <a:t>螺旋时，</a:t>
            </a:r>
            <a:r>
              <a:rPr lang="en-US" altLang="zh-CN" sz="2800" i="1" dirty="0"/>
              <a:t>I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CC0000"/>
                </a:solidFill>
              </a:rPr>
              <a:t>正</a:t>
            </a:r>
            <a:r>
              <a:rPr lang="zh-CN" altLang="en-US" sz="2800" dirty="0"/>
              <a:t>；</a:t>
            </a:r>
            <a:r>
              <a:rPr lang="zh-CN" altLang="en-US" sz="2800" dirty="0">
                <a:solidFill>
                  <a:srgbClr val="CC0000"/>
                </a:solidFill>
              </a:rPr>
              <a:t>反</a:t>
            </a:r>
            <a:r>
              <a:rPr lang="zh-CN" altLang="en-US" sz="2800" dirty="0"/>
              <a:t>之为</a:t>
            </a:r>
            <a:r>
              <a:rPr lang="zh-CN" altLang="en-US" sz="2800" dirty="0">
                <a:solidFill>
                  <a:srgbClr val="0066FF"/>
                </a:solidFill>
              </a:rPr>
              <a:t>负</a:t>
            </a:r>
            <a:r>
              <a:rPr lang="zh-CN" altLang="en-US" sz="2800" dirty="0">
                <a:solidFill>
                  <a:srgbClr val="0000FF"/>
                </a:solidFill>
              </a:rPr>
              <a:t>。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3">
                <a:extLst>
                  <a:ext uri="{FF2B5EF4-FFF2-40B4-BE49-F238E27FC236}">
                    <a16:creationId xmlns:a16="http://schemas.microsoft.com/office/drawing/2014/main" id="{693A9F0A-B2DF-BE5F-6EED-0D4B762D12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5081" y="4466888"/>
                <a:ext cx="8733606" cy="2618381"/>
              </a:xfrm>
            </p:spPr>
            <p:txBody>
              <a:bodyPr>
                <a:noAutofit/>
              </a:bodyPr>
              <a:lstStyle/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在恒定电流的磁场中，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的环流等于</a:t>
                </a:r>
                <a14:m>
                  <m:oMath xmlns:m="http://schemas.openxmlformats.org/officeDocument/2006/math">
                    <m:r>
                      <a:rPr kumimoji="1" lang="zh-CN" altLang="en-US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</m:t>
                    </m:r>
                    <m:r>
                      <a:rPr kumimoji="1" lang="en-US" altLang="zh-CN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𝟎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  <a:sym typeface="Symbol" panose="05050102010706020507" pitchFamily="18" charset="2"/>
                  </a:rPr>
                  <a:t>乘以闭合回路所包围的电流强度的代数和</a:t>
                </a:r>
                <a:endParaRPr kumimoji="1" lang="en-US" altLang="zh-CN" i="1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内容占位符 3">
                <a:extLst>
                  <a:ext uri="{FF2B5EF4-FFF2-40B4-BE49-F238E27FC236}">
                    <a16:creationId xmlns:a16="http://schemas.microsoft.com/office/drawing/2014/main" id="{693A9F0A-B2DF-BE5F-6EED-0D4B762D12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5081" y="4466888"/>
                <a:ext cx="8733606" cy="2618381"/>
              </a:xfrm>
              <a:blipFill>
                <a:blip r:embed="rId7"/>
                <a:stretch>
                  <a:fillRect l="-1465" r="-1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397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" grpId="0"/>
      <p:bldP spid="47" grpId="0"/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1255547" y="1071176"/>
                <a:ext cx="8834240" cy="261838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5547" y="1071176"/>
                <a:ext cx="8834240" cy="26183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1">
            <a:hlinkClick r:id="rId3" action="ppaction://hlinksldjump"/>
            <a:extLst>
              <a:ext uri="{FF2B5EF4-FFF2-40B4-BE49-F238E27FC236}">
                <a16:creationId xmlns:a16="http://schemas.microsoft.com/office/drawing/2014/main" id="{1885BA61-AE6D-44A3-971D-A67010A6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CB2B370-B8FE-4F07-95F2-842E5877C4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2"/>
          <a:stretch/>
        </p:blipFill>
        <p:spPr>
          <a:xfrm rot="10800000">
            <a:off x="809626" y="4276514"/>
            <a:ext cx="6172681" cy="2153667"/>
          </a:xfrm>
          <a:prstGeom prst="rect">
            <a:avLst/>
          </a:prstGeom>
        </p:spPr>
      </p:pic>
      <p:sp>
        <p:nvSpPr>
          <p:cNvPr id="2" name="Text Box 29">
            <a:extLst>
              <a:ext uri="{FF2B5EF4-FFF2-40B4-BE49-F238E27FC236}">
                <a16:creationId xmlns:a16="http://schemas.microsoft.com/office/drawing/2014/main" id="{7A879641-3162-19A9-F91D-9FCEBC07816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9626" y="2775584"/>
            <a:ext cx="5025117" cy="109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hangingPunct="0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dirty="0">
                <a:latin typeface="+mn-lt"/>
                <a:ea typeface="+mn-ea"/>
              </a:rPr>
              <a:t>- </a:t>
            </a:r>
            <a:r>
              <a:rPr kumimoji="1" lang="zh-CN" altLang="en-US" sz="2800" dirty="0">
                <a:latin typeface="+mn-lt"/>
                <a:ea typeface="+mn-ea"/>
              </a:rPr>
              <a:t>该定理仅适用于闭合恒定电流的磁场</a:t>
            </a:r>
            <a:r>
              <a:rPr kumimoji="1" lang="en-US" altLang="zh-CN" sz="2800" dirty="0">
                <a:latin typeface="+mn-lt"/>
                <a:ea typeface="+mn-ea"/>
              </a:rPr>
              <a:t>,</a:t>
            </a:r>
            <a:r>
              <a:rPr kumimoji="1" lang="zh-CN" altLang="en-US" sz="2800" dirty="0">
                <a:latin typeface="+mn-lt"/>
                <a:ea typeface="+mn-ea"/>
              </a:rPr>
              <a:t>电流回路与环路铰链 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A16BD84-F1FE-A72A-391C-242D76D94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927" y="2737881"/>
            <a:ext cx="4060788" cy="116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</a:pPr>
            <a:r>
              <a:rPr kumimoji="1" lang="en-US" altLang="zh-CN" sz="2800" dirty="0">
                <a:latin typeface="+mn-lt"/>
                <a:ea typeface="+mn-ea"/>
              </a:rPr>
              <a:t>- </a:t>
            </a:r>
            <a:r>
              <a:rPr kumimoji="1" lang="zh-CN" altLang="en-US" sz="2800" dirty="0">
                <a:latin typeface="+mn-lt"/>
                <a:ea typeface="+mn-ea"/>
              </a:rPr>
              <a:t>环路上各点的磁场为所有电流的贡献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  <p:sp>
        <p:nvSpPr>
          <p:cNvPr id="5" name="Text Box 53">
            <a:extLst>
              <a:ext uri="{FF2B5EF4-FFF2-40B4-BE49-F238E27FC236}">
                <a16:creationId xmlns:a16="http://schemas.microsoft.com/office/drawing/2014/main" id="{770E6193-2DD9-E2DC-761A-D874C1E8044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724811" y="4660789"/>
            <a:ext cx="6427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dirty="0">
                <a:latin typeface="+mn-lt"/>
                <a:ea typeface="+mn-ea"/>
              </a:rPr>
              <a:t>- </a:t>
            </a:r>
            <a:r>
              <a:rPr kumimoji="1" lang="zh-CN" altLang="en-US" sz="2800" dirty="0">
                <a:latin typeface="+mn-lt"/>
                <a:ea typeface="+mn-ea"/>
              </a:rPr>
              <a:t>磁场是非保守场</a:t>
            </a:r>
            <a:r>
              <a:rPr kumimoji="1" lang="en-US" altLang="zh-CN" sz="2800" dirty="0">
                <a:latin typeface="+mn-lt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92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" grpId="1"/>
      <p:bldP spid="3" grpId="0"/>
      <p:bldP spid="5" grpId="0" build="p" autoUpdateAnimBg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/>
          <p:cNvGrpSpPr/>
          <p:nvPr/>
        </p:nvGrpSpPr>
        <p:grpSpPr>
          <a:xfrm>
            <a:off x="8458200" y="847725"/>
            <a:ext cx="762000" cy="3048000"/>
            <a:chOff x="4272" y="528"/>
            <a:chExt cx="480" cy="1920"/>
          </a:xfrm>
        </p:grpSpPr>
        <p:grpSp>
          <p:nvGrpSpPr>
            <p:cNvPr id="46143" name="Group 3"/>
            <p:cNvGrpSpPr/>
            <p:nvPr/>
          </p:nvGrpSpPr>
          <p:grpSpPr>
            <a:xfrm>
              <a:off x="4272" y="528"/>
              <a:ext cx="480" cy="1920"/>
              <a:chOff x="960" y="576"/>
              <a:chExt cx="480" cy="1920"/>
            </a:xfrm>
          </p:grpSpPr>
          <p:sp>
            <p:nvSpPr>
              <p:cNvPr id="46150" name="Line 4"/>
              <p:cNvSpPr/>
              <p:nvPr/>
            </p:nvSpPr>
            <p:spPr>
              <a:xfrm>
                <a:off x="1200" y="1440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6151" name="Line 5"/>
              <p:cNvSpPr/>
              <p:nvPr/>
            </p:nvSpPr>
            <p:spPr>
              <a:xfrm>
                <a:off x="1200" y="2304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152" name="AutoShape 6"/>
              <p:cNvSpPr/>
              <p:nvPr/>
            </p:nvSpPr>
            <p:spPr>
              <a:xfrm>
                <a:off x="960" y="768"/>
                <a:ext cx="480" cy="1536"/>
              </a:xfrm>
              <a:prstGeom prst="can">
                <a:avLst>
                  <a:gd name="adj" fmla="val 40000"/>
                </a:avLst>
              </a:prstGeom>
              <a:gradFill rotWithShape="0">
                <a:gsLst>
                  <a:gs pos="0">
                    <a:srgbClr val="728E72"/>
                  </a:gs>
                  <a:gs pos="50000">
                    <a:srgbClr val="CCFFCC"/>
                  </a:gs>
                  <a:gs pos="100000">
                    <a:srgbClr val="728E72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53" name="Line 7"/>
              <p:cNvSpPr/>
              <p:nvPr/>
            </p:nvSpPr>
            <p:spPr>
              <a:xfrm flipV="1">
                <a:off x="1200" y="864"/>
                <a:ext cx="0" cy="144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6154" name="Line 8"/>
              <p:cNvSpPr/>
              <p:nvPr/>
            </p:nvSpPr>
            <p:spPr>
              <a:xfrm>
                <a:off x="1200" y="576"/>
                <a:ext cx="0" cy="28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155" name="Line 9"/>
              <p:cNvSpPr/>
              <p:nvPr/>
            </p:nvSpPr>
            <p:spPr>
              <a:xfrm>
                <a:off x="1200" y="1104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D60093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156" name="Line 10"/>
              <p:cNvSpPr/>
              <p:nvPr/>
            </p:nvSpPr>
            <p:spPr>
              <a:xfrm>
                <a:off x="960" y="864"/>
                <a:ext cx="0" cy="67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6157" name="Line 11"/>
              <p:cNvSpPr/>
              <p:nvPr/>
            </p:nvSpPr>
            <p:spPr>
              <a:xfrm>
                <a:off x="1440" y="864"/>
                <a:ext cx="0" cy="67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graphicFrame>
            <p:nvGraphicFramePr>
              <p:cNvPr id="46159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6785752"/>
                  </p:ext>
                </p:extLst>
              </p:nvPr>
            </p:nvGraphicFramePr>
            <p:xfrm>
              <a:off x="1008" y="576"/>
              <a:ext cx="156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6" r:id="rId3" imgW="165100" imgH="228600" progId="Equation.3">
                      <p:embed/>
                    </p:oleObj>
                  </mc:Choice>
                  <mc:Fallback>
                    <p:oleObj r:id="rId3" imgW="165100" imgH="228600" progId="Equation.3">
                      <p:embed/>
                      <p:pic>
                        <p:nvPicPr>
                          <p:cNvPr id="46159" name="Object 1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08" y="576"/>
                            <a:ext cx="156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6145" name="Line 15"/>
            <p:cNvSpPr/>
            <p:nvPr/>
          </p:nvSpPr>
          <p:spPr>
            <a:xfrm>
              <a:off x="4512" y="1392"/>
              <a:ext cx="0" cy="86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46146" name="Line 16"/>
            <p:cNvSpPr/>
            <p:nvPr/>
          </p:nvSpPr>
          <p:spPr>
            <a:xfrm>
              <a:off x="4512" y="2208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64881" name="AutoShape 17"/>
            <p:cNvSpPr>
              <a:spLocks noChangeArrowheads="1"/>
            </p:cNvSpPr>
            <p:nvPr/>
          </p:nvSpPr>
          <p:spPr bwMode="auto">
            <a:xfrm>
              <a:off x="4272" y="720"/>
              <a:ext cx="480" cy="1536"/>
            </a:xfrm>
            <a:prstGeom prst="can">
              <a:avLst>
                <a:gd name="adj" fmla="val 40000"/>
              </a:avLst>
            </a:prstGeom>
            <a:gradFill rotWithShape="0">
              <a:gsLst>
                <a:gs pos="0">
                  <a:schemeClr val="bg1">
                    <a:gamma/>
                    <a:shade val="7607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7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8" name="Line 18"/>
            <p:cNvSpPr/>
            <p:nvPr/>
          </p:nvSpPr>
          <p:spPr>
            <a:xfrm flipV="1">
              <a:off x="4512" y="816"/>
              <a:ext cx="0" cy="14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46149" name="Line 19"/>
            <p:cNvSpPr/>
            <p:nvPr/>
          </p:nvSpPr>
          <p:spPr>
            <a:xfrm>
              <a:off x="4512" y="576"/>
              <a:ext cx="0" cy="2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46083" name="Text Box 20"/>
          <p:cNvSpPr txBox="1"/>
          <p:nvPr/>
        </p:nvSpPr>
        <p:spPr>
          <a:xfrm>
            <a:off x="1257300" y="676541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例无限长载流圆柱体的磁场</a:t>
            </a:r>
          </a:p>
        </p:txBody>
      </p:sp>
      <p:sp>
        <p:nvSpPr>
          <p:cNvPr id="164885" name="Text Box 21"/>
          <p:cNvSpPr txBox="1"/>
          <p:nvPr/>
        </p:nvSpPr>
        <p:spPr>
          <a:xfrm>
            <a:off x="1828800" y="1462088"/>
            <a:ext cx="3429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）对称性分析</a:t>
            </a:r>
          </a:p>
        </p:txBody>
      </p:sp>
      <p:sp>
        <p:nvSpPr>
          <p:cNvPr id="164886" name="Text Box 22"/>
          <p:cNvSpPr txBox="1"/>
          <p:nvPr/>
        </p:nvSpPr>
        <p:spPr>
          <a:xfrm>
            <a:off x="4876800" y="1462088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）选取回路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887" name="Object 23"/>
              <p:cNvSpPr txBox="1"/>
              <p:nvPr/>
            </p:nvSpPr>
            <p:spPr>
              <a:xfrm>
                <a:off x="2197100" y="2372784"/>
                <a:ext cx="1143000" cy="5302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488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100" y="2372784"/>
                <a:ext cx="1143000" cy="530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88" name="Object 24"/>
              <p:cNvSpPr txBox="1"/>
              <p:nvPr/>
            </p:nvSpPr>
            <p:spPr>
              <a:xfrm>
                <a:off x="1479153" y="3323697"/>
                <a:ext cx="2695575" cy="6826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fun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4888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153" y="3323697"/>
                <a:ext cx="2695575" cy="6826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89" name="Object 25"/>
              <p:cNvSpPr txBox="1"/>
              <p:nvPr/>
            </p:nvSpPr>
            <p:spPr>
              <a:xfrm>
                <a:off x="4593828" y="3139018"/>
                <a:ext cx="1752600" cy="11604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4889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828" y="3139018"/>
                <a:ext cx="1752600" cy="11604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90" name="Object 26"/>
              <p:cNvSpPr txBox="1"/>
              <p:nvPr/>
            </p:nvSpPr>
            <p:spPr>
              <a:xfrm>
                <a:off x="896938" y="4191000"/>
                <a:ext cx="6783387" cy="12192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nary>
                              <m:naryPr>
                                <m:chr m:val="∮"/>
                                <m:sup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/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acc>
                              </m:e>
                            </m:nary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</m:m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4890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38" y="4191000"/>
                <a:ext cx="6783387" cy="1219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91" name="Object 27"/>
              <p:cNvSpPr txBox="1"/>
              <p:nvPr/>
            </p:nvSpPr>
            <p:spPr>
              <a:xfrm>
                <a:off x="1412081" y="5568156"/>
                <a:ext cx="3429000" cy="12080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fun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489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081" y="5568156"/>
                <a:ext cx="3429000" cy="12080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92" name="Object 28"/>
              <p:cNvSpPr txBox="1"/>
              <p:nvPr/>
            </p:nvSpPr>
            <p:spPr>
              <a:xfrm>
                <a:off x="4869656" y="5504392"/>
                <a:ext cx="1905000" cy="11080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𝐼𝑟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4892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656" y="5504392"/>
                <a:ext cx="1905000" cy="11080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93" name="Object 29"/>
              <p:cNvSpPr txBox="1"/>
              <p:nvPr/>
            </p:nvSpPr>
            <p:spPr>
              <a:xfrm>
                <a:off x="4038600" y="2138363"/>
                <a:ext cx="2590800" cy="8604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89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138363"/>
                <a:ext cx="2590800" cy="860425"/>
              </a:xfrm>
              <a:prstGeom prst="rect">
                <a:avLst/>
              </a:prstGeom>
              <a:blipFill>
                <a:blip r:embed="rId11"/>
                <a:stretch>
                  <a:fillRect b="-709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0"/>
          <p:cNvGrpSpPr/>
          <p:nvPr/>
        </p:nvGrpSpPr>
        <p:grpSpPr>
          <a:xfrm>
            <a:off x="7848600" y="4343400"/>
            <a:ext cx="1676400" cy="1676400"/>
            <a:chOff x="3984" y="2544"/>
            <a:chExt cx="1056" cy="1056"/>
          </a:xfrm>
        </p:grpSpPr>
        <p:sp>
          <p:nvSpPr>
            <p:cNvPr id="46140" name="Oval 31"/>
            <p:cNvSpPr/>
            <p:nvPr/>
          </p:nvSpPr>
          <p:spPr>
            <a:xfrm>
              <a:off x="4272" y="2832"/>
              <a:ext cx="480" cy="480"/>
            </a:xfrm>
            <a:prstGeom prst="ellipse">
              <a:avLst/>
            </a:prstGeom>
            <a:solidFill>
              <a:srgbClr val="CBF4F5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ctr"/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fontAlgn="ctr"/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6141" name="Oval 32"/>
            <p:cNvSpPr/>
            <p:nvPr/>
          </p:nvSpPr>
          <p:spPr>
            <a:xfrm>
              <a:off x="3984" y="2544"/>
              <a:ext cx="1056" cy="1056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142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1736018"/>
                </p:ext>
              </p:extLst>
            </p:nvPr>
          </p:nvGraphicFramePr>
          <p:xfrm>
            <a:off x="4128" y="2928"/>
            <a:ext cx="19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r:id="rId12" imgW="165100" imgH="228600" progId="Equation.3">
                    <p:embed/>
                  </p:oleObj>
                </mc:Choice>
                <mc:Fallback>
                  <p:oleObj r:id="rId12" imgW="165100" imgH="228600" progId="Equation.3">
                    <p:embed/>
                    <p:pic>
                      <p:nvPicPr>
                        <p:cNvPr id="46142" name="Object 3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28" y="2928"/>
                          <a:ext cx="191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4"/>
          <p:cNvGrpSpPr/>
          <p:nvPr/>
        </p:nvGrpSpPr>
        <p:grpSpPr>
          <a:xfrm>
            <a:off x="8458200" y="4826000"/>
            <a:ext cx="1576388" cy="1117600"/>
            <a:chOff x="4368" y="2848"/>
            <a:chExt cx="993" cy="704"/>
          </a:xfrm>
        </p:grpSpPr>
        <p:graphicFrame>
          <p:nvGraphicFramePr>
            <p:cNvPr id="46132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0909344"/>
                </p:ext>
              </p:extLst>
            </p:nvPr>
          </p:nvGraphicFramePr>
          <p:xfrm>
            <a:off x="5040" y="2848"/>
            <a:ext cx="3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r:id="rId13" imgW="330200" imgH="279400" progId="Equation.3">
                    <p:embed/>
                  </p:oleObj>
                </mc:Choice>
                <mc:Fallback>
                  <p:oleObj r:id="rId13" imgW="330200" imgH="279400" progId="Equation.3">
                    <p:embed/>
                    <p:pic>
                      <p:nvPicPr>
                        <p:cNvPr id="46132" name="Object 3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40" y="2848"/>
                          <a:ext cx="32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133" name="Group 36"/>
            <p:cNvGrpSpPr/>
            <p:nvPr/>
          </p:nvGrpSpPr>
          <p:grpSpPr>
            <a:xfrm>
              <a:off x="4368" y="3072"/>
              <a:ext cx="768" cy="480"/>
              <a:chOff x="4368" y="3072"/>
              <a:chExt cx="768" cy="480"/>
            </a:xfrm>
          </p:grpSpPr>
          <p:sp>
            <p:nvSpPr>
              <p:cNvPr id="46134" name="Oval 37"/>
              <p:cNvSpPr/>
              <p:nvPr/>
            </p:nvSpPr>
            <p:spPr>
              <a:xfrm>
                <a:off x="4512" y="316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135" name="Group 38"/>
              <p:cNvGrpSpPr/>
              <p:nvPr/>
            </p:nvGrpSpPr>
            <p:grpSpPr>
              <a:xfrm>
                <a:off x="4368" y="3072"/>
                <a:ext cx="768" cy="480"/>
                <a:chOff x="4368" y="3072"/>
                <a:chExt cx="768" cy="480"/>
              </a:xfrm>
            </p:grpSpPr>
            <p:graphicFrame>
              <p:nvGraphicFramePr>
                <p:cNvPr id="46136" name="Object 3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59796330"/>
                    </p:ext>
                  </p:extLst>
                </p:nvPr>
              </p:nvGraphicFramePr>
              <p:xfrm>
                <a:off x="4368" y="3290"/>
                <a:ext cx="288" cy="2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59" r:id="rId15" imgW="279400" imgH="254000" progId="Equation.3">
                        <p:embed/>
                      </p:oleObj>
                    </mc:Choice>
                    <mc:Fallback>
                      <p:oleObj r:id="rId15" imgW="279400" imgH="254000" progId="Equation.3">
                        <p:embed/>
                        <p:pic>
                          <p:nvPicPr>
                            <p:cNvPr id="46136" name="Object 39"/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68" y="3290"/>
                              <a:ext cx="288" cy="26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6137" name="Group 40"/>
                <p:cNvGrpSpPr/>
                <p:nvPr/>
              </p:nvGrpSpPr>
              <p:grpSpPr>
                <a:xfrm>
                  <a:off x="4560" y="3072"/>
                  <a:ext cx="576" cy="432"/>
                  <a:chOff x="1104" y="3024"/>
                  <a:chExt cx="576" cy="432"/>
                </a:xfrm>
              </p:grpSpPr>
              <p:sp>
                <p:nvSpPr>
                  <p:cNvPr id="46138" name="Line 41"/>
                  <p:cNvSpPr/>
                  <p:nvPr/>
                </p:nvSpPr>
                <p:spPr>
                  <a:xfrm flipV="1">
                    <a:off x="1104" y="3024"/>
                    <a:ext cx="480" cy="96"/>
                  </a:xfrm>
                  <a:prstGeom prst="line">
                    <a:avLst/>
                  </a:prstGeom>
                  <a:ln w="25400" cap="flat" cmpd="sng">
                    <a:solidFill>
                      <a:srgbClr val="FF3399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  <p:sp>
                <p:nvSpPr>
                  <p:cNvPr id="46139" name="Line 42"/>
                  <p:cNvSpPr/>
                  <p:nvPr/>
                </p:nvSpPr>
                <p:spPr>
                  <a:xfrm>
                    <a:off x="1584" y="3024"/>
                    <a:ext cx="96" cy="432"/>
                  </a:xfrm>
                  <a:prstGeom prst="line">
                    <a:avLst/>
                  </a:prstGeom>
                  <a:ln w="31750" cap="flat" cmpd="sng">
                    <a:solidFill>
                      <a:srgbClr val="FF3399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</p:grpSp>
          </p:grpSp>
        </p:grpSp>
      </p:grpSp>
      <p:grpSp>
        <p:nvGrpSpPr>
          <p:cNvPr id="9" name="Group 43"/>
          <p:cNvGrpSpPr/>
          <p:nvPr/>
        </p:nvGrpSpPr>
        <p:grpSpPr>
          <a:xfrm>
            <a:off x="8686800" y="4953000"/>
            <a:ext cx="838200" cy="914400"/>
            <a:chOff x="1056" y="2880"/>
            <a:chExt cx="528" cy="576"/>
          </a:xfrm>
        </p:grpSpPr>
        <p:sp>
          <p:nvSpPr>
            <p:cNvPr id="46129" name="Oval 44"/>
            <p:cNvSpPr/>
            <p:nvPr/>
          </p:nvSpPr>
          <p:spPr>
            <a:xfrm>
              <a:off x="1056" y="2880"/>
              <a:ext cx="48" cy="48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6130" name="Line 45"/>
            <p:cNvSpPr/>
            <p:nvPr/>
          </p:nvSpPr>
          <p:spPr>
            <a:xfrm>
              <a:off x="1104" y="2928"/>
              <a:ext cx="480" cy="96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6131" name="Line 46"/>
            <p:cNvSpPr/>
            <p:nvPr/>
          </p:nvSpPr>
          <p:spPr>
            <a:xfrm flipH="1">
              <a:off x="1488" y="3024"/>
              <a:ext cx="96" cy="432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10" name="Group 47"/>
          <p:cNvGrpSpPr/>
          <p:nvPr/>
        </p:nvGrpSpPr>
        <p:grpSpPr>
          <a:xfrm>
            <a:off x="8458200" y="4814888"/>
            <a:ext cx="1066800" cy="1509712"/>
            <a:chOff x="4368" y="2841"/>
            <a:chExt cx="672" cy="951"/>
          </a:xfrm>
        </p:grpSpPr>
        <p:grpSp>
          <p:nvGrpSpPr>
            <p:cNvPr id="46123" name="Group 48"/>
            <p:cNvGrpSpPr/>
            <p:nvPr/>
          </p:nvGrpSpPr>
          <p:grpSpPr>
            <a:xfrm>
              <a:off x="4368" y="2928"/>
              <a:ext cx="672" cy="864"/>
              <a:chOff x="4368" y="2928"/>
              <a:chExt cx="672" cy="864"/>
            </a:xfrm>
          </p:grpSpPr>
          <p:sp>
            <p:nvSpPr>
              <p:cNvPr id="46125" name="Line 49"/>
              <p:cNvSpPr/>
              <p:nvPr/>
            </p:nvSpPr>
            <p:spPr>
              <a:xfrm>
                <a:off x="5040" y="3072"/>
                <a:ext cx="0" cy="72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med" len="med"/>
                <a:tailEnd type="none" w="sm" len="lg"/>
              </a:ln>
            </p:spPr>
          </p:sp>
          <p:grpSp>
            <p:nvGrpSpPr>
              <p:cNvPr id="46126" name="Group 50"/>
              <p:cNvGrpSpPr/>
              <p:nvPr/>
            </p:nvGrpSpPr>
            <p:grpSpPr>
              <a:xfrm>
                <a:off x="4368" y="2928"/>
                <a:ext cx="672" cy="288"/>
                <a:chOff x="4368" y="2928"/>
                <a:chExt cx="672" cy="288"/>
              </a:xfrm>
            </p:grpSpPr>
            <p:sp>
              <p:nvSpPr>
                <p:cNvPr id="46127" name="Line 51"/>
                <p:cNvSpPr/>
                <p:nvPr/>
              </p:nvSpPr>
              <p:spPr>
                <a:xfrm>
                  <a:off x="4512" y="3072"/>
                  <a:ext cx="528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dash"/>
                  <a:headEnd type="none" w="med" len="med"/>
                  <a:tailEnd type="none" w="sm" len="lg"/>
                </a:ln>
              </p:spPr>
            </p:sp>
            <p:sp>
              <p:nvSpPr>
                <p:cNvPr id="46128" name="Oval 52"/>
                <p:cNvSpPr/>
                <p:nvPr/>
              </p:nvSpPr>
              <p:spPr>
                <a:xfrm>
                  <a:off x="4368" y="2928"/>
                  <a:ext cx="288" cy="288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CC6600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6124" name="Text Box 53"/>
            <p:cNvSpPr txBox="1"/>
            <p:nvPr/>
          </p:nvSpPr>
          <p:spPr>
            <a:xfrm>
              <a:off x="4426" y="2841"/>
              <a:ext cx="1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fontAlgn="ctr"/>
              <a:r>
                <a:rPr lang="en-US" altLang="zh-CN" sz="2800" dirty="0"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13" name="Group 54"/>
          <p:cNvGrpSpPr/>
          <p:nvPr/>
        </p:nvGrpSpPr>
        <p:grpSpPr>
          <a:xfrm>
            <a:off x="9131301" y="5162550"/>
            <a:ext cx="422275" cy="1466850"/>
            <a:chOff x="4792" y="3060"/>
            <a:chExt cx="266" cy="924"/>
          </a:xfrm>
        </p:grpSpPr>
        <p:graphicFrame>
          <p:nvGraphicFramePr>
            <p:cNvPr id="46121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7627520"/>
                </p:ext>
              </p:extLst>
            </p:nvPr>
          </p:nvGraphicFramePr>
          <p:xfrm>
            <a:off x="4792" y="3648"/>
            <a:ext cx="26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" r:id="rId17" imgW="152400" imgH="190500" progId="Equation.3">
                    <p:embed/>
                  </p:oleObj>
                </mc:Choice>
                <mc:Fallback>
                  <p:oleObj r:id="rId17" imgW="152400" imgH="190500" progId="Equation.3">
                    <p:embed/>
                    <p:pic>
                      <p:nvPicPr>
                        <p:cNvPr id="46121" name="Object 5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92" y="3648"/>
                          <a:ext cx="26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22" name="Freeform 56"/>
            <p:cNvSpPr/>
            <p:nvPr/>
          </p:nvSpPr>
          <p:spPr>
            <a:xfrm>
              <a:off x="5038" y="3060"/>
              <a:ext cx="1" cy="642"/>
            </a:xfrm>
            <a:custGeom>
              <a:avLst/>
              <a:gdLst>
                <a:gd name="txL" fmla="*/ 0 w 1"/>
                <a:gd name="txT" fmla="*/ 0 h 642"/>
                <a:gd name="txR" fmla="*/ 1 w 1"/>
                <a:gd name="txB" fmla="*/ 642 h 642"/>
              </a:gdLst>
              <a:ahLst/>
              <a:cxnLst>
                <a:cxn ang="0">
                  <a:pos x="0" y="0"/>
                </a:cxn>
                <a:cxn ang="0">
                  <a:pos x="0" y="642"/>
                </a:cxn>
              </a:cxnLst>
              <a:rect l="txL" t="txT" r="txR" b="txB"/>
              <a:pathLst>
                <a:path w="1" h="642">
                  <a:moveTo>
                    <a:pt x="0" y="0"/>
                  </a:moveTo>
                  <a:lnTo>
                    <a:pt x="0" y="64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7"/>
          <p:cNvGrpSpPr/>
          <p:nvPr/>
        </p:nvGrpSpPr>
        <p:grpSpPr>
          <a:xfrm>
            <a:off x="7543800" y="923925"/>
            <a:ext cx="2209800" cy="1905000"/>
            <a:chOff x="3696" y="528"/>
            <a:chExt cx="1392" cy="1200"/>
          </a:xfrm>
        </p:grpSpPr>
        <p:grpSp>
          <p:nvGrpSpPr>
            <p:cNvPr id="46102" name="Group 58"/>
            <p:cNvGrpSpPr/>
            <p:nvPr/>
          </p:nvGrpSpPr>
          <p:grpSpPr>
            <a:xfrm>
              <a:off x="3696" y="528"/>
              <a:ext cx="1392" cy="1200"/>
              <a:chOff x="3696" y="528"/>
              <a:chExt cx="1392" cy="1200"/>
            </a:xfrm>
          </p:grpSpPr>
          <p:sp>
            <p:nvSpPr>
              <p:cNvPr id="46104" name="Line 59"/>
              <p:cNvSpPr/>
              <p:nvPr/>
            </p:nvSpPr>
            <p:spPr>
              <a:xfrm>
                <a:off x="4512" y="576"/>
                <a:ext cx="0" cy="28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105" name="Line 60"/>
              <p:cNvSpPr/>
              <p:nvPr/>
            </p:nvSpPr>
            <p:spPr>
              <a:xfrm>
                <a:off x="4512" y="1104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D60093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106" name="Line 61"/>
              <p:cNvSpPr/>
              <p:nvPr/>
            </p:nvSpPr>
            <p:spPr>
              <a:xfrm>
                <a:off x="4272" y="864"/>
                <a:ext cx="0" cy="67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6107" name="Line 62"/>
              <p:cNvSpPr/>
              <p:nvPr/>
            </p:nvSpPr>
            <p:spPr>
              <a:xfrm>
                <a:off x="4752" y="864"/>
                <a:ext cx="0" cy="67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graphicFrame>
            <p:nvGraphicFramePr>
              <p:cNvPr id="46108" name="Object 6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5596596"/>
                  </p:ext>
                </p:extLst>
              </p:nvPr>
            </p:nvGraphicFramePr>
            <p:xfrm>
              <a:off x="4752" y="960"/>
              <a:ext cx="22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1" r:id="rId19" imgW="215900" imgH="228600" progId="Equation.3">
                      <p:embed/>
                    </p:oleObj>
                  </mc:Choice>
                  <mc:Fallback>
                    <p:oleObj r:id="rId19" imgW="215900" imgH="228600" progId="Equation.3">
                      <p:embed/>
                      <p:pic>
                        <p:nvPicPr>
                          <p:cNvPr id="46108" name="Object 63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52" y="960"/>
                            <a:ext cx="227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109" name="Object 6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87605893"/>
                  </p:ext>
                </p:extLst>
              </p:nvPr>
            </p:nvGraphicFramePr>
            <p:xfrm>
              <a:off x="3696" y="1248"/>
              <a:ext cx="220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2" r:id="rId21" imgW="190500" imgH="228600" progId="Equation.3">
                      <p:embed/>
                    </p:oleObj>
                  </mc:Choice>
                  <mc:Fallback>
                    <p:oleObj r:id="rId21" imgW="190500" imgH="228600" progId="Equation.3">
                      <p:embed/>
                      <p:pic>
                        <p:nvPicPr>
                          <p:cNvPr id="46109" name="Object 64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696" y="1248"/>
                            <a:ext cx="220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10" name="Oval 65"/>
              <p:cNvSpPr/>
              <p:nvPr/>
            </p:nvSpPr>
            <p:spPr>
              <a:xfrm>
                <a:off x="3936" y="1056"/>
                <a:ext cx="1152" cy="672"/>
              </a:xfrm>
              <a:prstGeom prst="ellipse">
                <a:avLst/>
              </a:prstGeom>
              <a:solidFill>
                <a:srgbClr val="FFCCFF">
                  <a:alpha val="50195"/>
                </a:srgbClr>
              </a:solidFill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6111" name="Object 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6808215"/>
                  </p:ext>
                </p:extLst>
              </p:nvPr>
            </p:nvGraphicFramePr>
            <p:xfrm>
              <a:off x="4704" y="1392"/>
              <a:ext cx="208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3" r:id="rId23" imgW="114300" imgH="127000" progId="Equation.3">
                      <p:embed/>
                    </p:oleObj>
                  </mc:Choice>
                  <mc:Fallback>
                    <p:oleObj r:id="rId23" imgW="114300" imgH="127000" progId="Equation.3">
                      <p:embed/>
                      <p:pic>
                        <p:nvPicPr>
                          <p:cNvPr id="46111" name="Object 66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704" y="1392"/>
                            <a:ext cx="208" cy="23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12" name="Line 67"/>
              <p:cNvSpPr/>
              <p:nvPr/>
            </p:nvSpPr>
            <p:spPr>
              <a:xfrm>
                <a:off x="4512" y="1344"/>
                <a:ext cx="576" cy="9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113" name="Line 68"/>
              <p:cNvSpPr/>
              <p:nvPr/>
            </p:nvSpPr>
            <p:spPr>
              <a:xfrm flipV="1">
                <a:off x="3936" y="1344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64933" name="AutoShape 69"/>
              <p:cNvSpPr>
                <a:spLocks noChangeArrowheads="1"/>
              </p:cNvSpPr>
              <p:nvPr/>
            </p:nvSpPr>
            <p:spPr bwMode="auto">
              <a:xfrm>
                <a:off x="4272" y="672"/>
                <a:ext cx="480" cy="816"/>
              </a:xfrm>
              <a:prstGeom prst="can">
                <a:avLst>
                  <a:gd name="adj" fmla="val 42500"/>
                </a:avLst>
              </a:prstGeom>
              <a:gradFill rotWithShape="0">
                <a:gsLst>
                  <a:gs pos="0">
                    <a:schemeClr val="bg1">
                      <a:gamma/>
                      <a:shade val="76078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76078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b="1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5" name="Line 70"/>
              <p:cNvSpPr/>
              <p:nvPr/>
            </p:nvSpPr>
            <p:spPr>
              <a:xfrm flipV="1">
                <a:off x="4272" y="768"/>
                <a:ext cx="0" cy="62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116" name="Oval 71"/>
              <p:cNvSpPr/>
              <p:nvPr/>
            </p:nvSpPr>
            <p:spPr>
              <a:xfrm>
                <a:off x="4272" y="672"/>
                <a:ext cx="480" cy="192"/>
              </a:xfrm>
              <a:prstGeom prst="ellipse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17" name="Line 72"/>
              <p:cNvSpPr/>
              <p:nvPr/>
            </p:nvSpPr>
            <p:spPr>
              <a:xfrm flipV="1">
                <a:off x="4512" y="864"/>
                <a:ext cx="0" cy="62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6118" name="Line 73"/>
              <p:cNvSpPr/>
              <p:nvPr/>
            </p:nvSpPr>
            <p:spPr>
              <a:xfrm>
                <a:off x="4512" y="1104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D60093"/>
                </a:solidFill>
                <a:prstDash val="solid"/>
                <a:headEnd type="none" w="med" len="med"/>
                <a:tailEnd type="triangle" w="sm" len="lg"/>
              </a:ln>
            </p:spPr>
          </p:sp>
          <p:graphicFrame>
            <p:nvGraphicFramePr>
              <p:cNvPr id="46119" name="Object 7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6434554"/>
                  </p:ext>
                </p:extLst>
              </p:nvPr>
            </p:nvGraphicFramePr>
            <p:xfrm>
              <a:off x="4752" y="960"/>
              <a:ext cx="22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4" r:id="rId25" imgW="215900" imgH="228600" progId="Equation.3">
                      <p:embed/>
                    </p:oleObj>
                  </mc:Choice>
                  <mc:Fallback>
                    <p:oleObj r:id="rId25" imgW="215900" imgH="228600" progId="Equation.3">
                      <p:embed/>
                      <p:pic>
                        <p:nvPicPr>
                          <p:cNvPr id="46119" name="Object 74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52" y="960"/>
                            <a:ext cx="227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20" name="Line 75"/>
              <p:cNvSpPr/>
              <p:nvPr/>
            </p:nvSpPr>
            <p:spPr>
              <a:xfrm>
                <a:off x="4510" y="528"/>
                <a:ext cx="0" cy="28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</p:grpSp>
        <p:sp>
          <p:nvSpPr>
            <p:cNvPr id="46103" name="Freeform 76"/>
            <p:cNvSpPr/>
            <p:nvPr/>
          </p:nvSpPr>
          <p:spPr>
            <a:xfrm>
              <a:off x="4518" y="1344"/>
              <a:ext cx="234" cy="36"/>
            </a:xfrm>
            <a:custGeom>
              <a:avLst/>
              <a:gdLst>
                <a:gd name="txL" fmla="*/ 0 w 234"/>
                <a:gd name="txT" fmla="*/ 0 h 36"/>
                <a:gd name="txR" fmla="*/ 234 w 234"/>
                <a:gd name="txB" fmla="*/ 36 h 36"/>
              </a:gdLst>
              <a:ahLst/>
              <a:cxnLst>
                <a:cxn ang="0">
                  <a:pos x="234" y="36"/>
                </a:cxn>
                <a:cxn ang="0">
                  <a:pos x="0" y="0"/>
                </a:cxn>
              </a:cxnLst>
              <a:rect l="txL" t="txT" r="txR" b="txB"/>
              <a:pathLst>
                <a:path w="234" h="36">
                  <a:moveTo>
                    <a:pt x="234" y="3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77"/>
          <p:cNvGrpSpPr/>
          <p:nvPr/>
        </p:nvGrpSpPr>
        <p:grpSpPr>
          <a:xfrm>
            <a:off x="9366250" y="2366964"/>
            <a:ext cx="609600" cy="936625"/>
            <a:chOff x="4848" y="1454"/>
            <a:chExt cx="384" cy="590"/>
          </a:xfrm>
        </p:grpSpPr>
        <p:sp>
          <p:nvSpPr>
            <p:cNvPr id="46100" name="Freeform 78"/>
            <p:cNvSpPr/>
            <p:nvPr/>
          </p:nvSpPr>
          <p:spPr>
            <a:xfrm>
              <a:off x="4848" y="1454"/>
              <a:ext cx="235" cy="454"/>
            </a:xfrm>
            <a:custGeom>
              <a:avLst/>
              <a:gdLst>
                <a:gd name="txL" fmla="*/ 0 w 235"/>
                <a:gd name="txT" fmla="*/ 0 h 454"/>
                <a:gd name="txR" fmla="*/ 235 w 235"/>
                <a:gd name="txB" fmla="*/ 454 h 454"/>
              </a:gdLst>
              <a:ahLst/>
              <a:cxnLst>
                <a:cxn ang="0">
                  <a:pos x="235" y="0"/>
                </a:cxn>
                <a:cxn ang="0">
                  <a:pos x="0" y="454"/>
                </a:cxn>
              </a:cxnLst>
              <a:rect l="txL" t="txT" r="txR" b="txB"/>
              <a:pathLst>
                <a:path w="235" h="454">
                  <a:moveTo>
                    <a:pt x="235" y="0"/>
                  </a:moveTo>
                  <a:lnTo>
                    <a:pt x="0" y="454"/>
                  </a:ln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6101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3435508"/>
                </p:ext>
              </p:extLst>
            </p:nvPr>
          </p:nvGraphicFramePr>
          <p:xfrm>
            <a:off x="4896" y="1680"/>
            <a:ext cx="336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r:id="rId26" imgW="152400" imgH="190500" progId="Equation.3">
                    <p:embed/>
                  </p:oleObj>
                </mc:Choice>
                <mc:Fallback>
                  <p:oleObj r:id="rId26" imgW="152400" imgH="190500" progId="Equation.3">
                    <p:embed/>
                    <p:pic>
                      <p:nvPicPr>
                        <p:cNvPr id="46101" name="Object 7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896" y="1680"/>
                          <a:ext cx="336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5118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5" grpId="0"/>
      <p:bldP spid="164886" grpId="0"/>
      <p:bldP spid="164887" grpId="0"/>
      <p:bldP spid="164888" grpId="0"/>
      <p:bldP spid="164889" grpId="0"/>
      <p:bldP spid="164890" grpId="0"/>
      <p:bldP spid="164891" grpId="0"/>
      <p:bldP spid="164892" grpId="0"/>
      <p:bldP spid="1648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8902" y="1455688"/>
            <a:ext cx="4257675" cy="2182813"/>
            <a:chOff x="1089" y="881"/>
            <a:chExt cx="2682" cy="1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5" name="Object 3"/>
                <p:cNvSpPr txBox="1"/>
                <p:nvPr/>
              </p:nvSpPr>
              <p:spPr>
                <a:xfrm>
                  <a:off x="1089" y="1056"/>
                  <a:ext cx="1242" cy="3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7135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" y="1056"/>
                  <a:ext cx="1242" cy="3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6" name="Object 4"/>
                <p:cNvSpPr txBox="1"/>
                <p:nvPr/>
              </p:nvSpPr>
              <p:spPr>
                <a:xfrm>
                  <a:off x="1181" y="1584"/>
                  <a:ext cx="785" cy="37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713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" y="1584"/>
                  <a:ext cx="785" cy="3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8" name="Object 6"/>
                <p:cNvSpPr txBox="1"/>
                <p:nvPr/>
              </p:nvSpPr>
              <p:spPr>
                <a:xfrm>
                  <a:off x="2341" y="881"/>
                  <a:ext cx="1430" cy="77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𝐼𝑟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713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" y="881"/>
                  <a:ext cx="1430" cy="7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9" name="Object 7"/>
                <p:cNvSpPr txBox="1"/>
                <p:nvPr/>
              </p:nvSpPr>
              <p:spPr>
                <a:xfrm>
                  <a:off x="2354" y="1482"/>
                  <a:ext cx="1338" cy="77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unc>
                              <m:func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fName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func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713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" y="1482"/>
                  <a:ext cx="1338" cy="77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/>
          <p:nvPr/>
        </p:nvGrpSpPr>
        <p:grpSpPr>
          <a:xfrm>
            <a:off x="3048000" y="3725779"/>
            <a:ext cx="6248400" cy="2454442"/>
            <a:chOff x="960" y="2208"/>
            <a:chExt cx="3936" cy="1632"/>
          </a:xfrm>
        </p:grpSpPr>
        <p:grpSp>
          <p:nvGrpSpPr>
            <p:cNvPr id="47113" name="Group 10"/>
            <p:cNvGrpSpPr/>
            <p:nvPr/>
          </p:nvGrpSpPr>
          <p:grpSpPr>
            <a:xfrm>
              <a:off x="960" y="2208"/>
              <a:ext cx="816" cy="1632"/>
              <a:chOff x="960" y="2208"/>
              <a:chExt cx="816" cy="1632"/>
            </a:xfrm>
          </p:grpSpPr>
          <p:sp>
            <p:nvSpPr>
              <p:cNvPr id="165899" name="AutoShape 11"/>
              <p:cNvSpPr>
                <a:spLocks noChangeArrowheads="1"/>
              </p:cNvSpPr>
              <p:nvPr/>
            </p:nvSpPr>
            <p:spPr bwMode="auto">
              <a:xfrm>
                <a:off x="960" y="2465"/>
                <a:ext cx="768" cy="1375"/>
              </a:xfrm>
              <a:prstGeom prst="can">
                <a:avLst>
                  <a:gd name="adj" fmla="val 28073"/>
                </a:avLst>
              </a:prstGeom>
              <a:gradFill rotWithShape="0">
                <a:gsLst>
                  <a:gs pos="0">
                    <a:schemeClr val="bg1">
                      <a:gamma/>
                      <a:shade val="66275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6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b="1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30" name="Line 12"/>
              <p:cNvSpPr/>
              <p:nvPr/>
            </p:nvSpPr>
            <p:spPr>
              <a:xfrm>
                <a:off x="1344" y="2259"/>
                <a:ext cx="0" cy="357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7131" name="Line 13"/>
              <p:cNvSpPr/>
              <p:nvPr/>
            </p:nvSpPr>
            <p:spPr>
              <a:xfrm>
                <a:off x="1344" y="2616"/>
                <a:ext cx="0" cy="12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7132" name="Line 14"/>
              <p:cNvSpPr/>
              <p:nvPr/>
            </p:nvSpPr>
            <p:spPr>
              <a:xfrm>
                <a:off x="1344" y="3126"/>
                <a:ext cx="384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dash"/>
                <a:headEnd type="none" w="med" len="med"/>
                <a:tailEnd type="triangle" w="sm" len="lg"/>
              </a:ln>
            </p:spPr>
          </p:sp>
          <p:graphicFrame>
            <p:nvGraphicFramePr>
              <p:cNvPr id="4713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0205121"/>
                  </p:ext>
                </p:extLst>
              </p:nvPr>
            </p:nvGraphicFramePr>
            <p:xfrm>
              <a:off x="1392" y="3168"/>
              <a:ext cx="384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" r:id="rId7" imgW="215900" imgH="228600" progId="Equation.3">
                      <p:embed/>
                    </p:oleObj>
                  </mc:Choice>
                  <mc:Fallback>
                    <p:oleObj r:id="rId7" imgW="215900" imgH="228600" progId="Equation.3">
                      <p:embed/>
                      <p:pic>
                        <p:nvPicPr>
                          <p:cNvPr id="47133" name="Object 1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92" y="3168"/>
                            <a:ext cx="384" cy="27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4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2262946"/>
                  </p:ext>
                </p:extLst>
              </p:nvPr>
            </p:nvGraphicFramePr>
            <p:xfrm>
              <a:off x="1037" y="2208"/>
              <a:ext cx="277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9" r:id="rId9" imgW="165100" imgH="228600" progId="Equation.3">
                      <p:embed/>
                    </p:oleObj>
                  </mc:Choice>
                  <mc:Fallback>
                    <p:oleObj r:id="rId9" imgW="165100" imgH="228600" progId="Equation.3">
                      <p:embed/>
                      <p:pic>
                        <p:nvPicPr>
                          <p:cNvPr id="47134" name="Object 16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037" y="2208"/>
                            <a:ext cx="277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116" name="Group 21"/>
            <p:cNvGrpSpPr/>
            <p:nvPr/>
          </p:nvGrpSpPr>
          <p:grpSpPr>
            <a:xfrm>
              <a:off x="2640" y="2359"/>
              <a:ext cx="2256" cy="1385"/>
              <a:chOff x="1200" y="624"/>
              <a:chExt cx="1776" cy="1200"/>
            </a:xfrm>
          </p:grpSpPr>
          <p:sp>
            <p:nvSpPr>
              <p:cNvPr id="47117" name="Line 22"/>
              <p:cNvSpPr/>
              <p:nvPr/>
            </p:nvSpPr>
            <p:spPr>
              <a:xfrm>
                <a:off x="1200" y="1584"/>
                <a:ext cx="177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7118" name="Line 23"/>
              <p:cNvSpPr/>
              <p:nvPr/>
            </p:nvSpPr>
            <p:spPr>
              <a:xfrm flipV="1">
                <a:off x="1872" y="624"/>
                <a:ext cx="0" cy="96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7119" name="Line 24"/>
              <p:cNvSpPr/>
              <p:nvPr/>
            </p:nvSpPr>
            <p:spPr>
              <a:xfrm>
                <a:off x="2112" y="960"/>
                <a:ext cx="0" cy="62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7120" name="Line 25"/>
              <p:cNvSpPr/>
              <p:nvPr/>
            </p:nvSpPr>
            <p:spPr>
              <a:xfrm flipH="1">
                <a:off x="1872" y="968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7121" name="Arc 26"/>
              <p:cNvSpPr/>
              <p:nvPr/>
            </p:nvSpPr>
            <p:spPr>
              <a:xfrm flipH="1" flipV="1">
                <a:off x="2102" y="816"/>
                <a:ext cx="826" cy="624"/>
              </a:xfrm>
              <a:custGeom>
                <a:avLst/>
                <a:gdLst>
                  <a:gd name="txL" fmla="*/ 0 w 21079"/>
                  <a:gd name="txT" fmla="*/ 0 h 21541"/>
                  <a:gd name="txR" fmla="*/ 21079 w 21079"/>
                  <a:gd name="txB" fmla="*/ 21541 h 2154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079" h="21541" fill="none">
                    <a:moveTo>
                      <a:pt x="1600" y="0"/>
                    </a:moveTo>
                    <a:cubicBezTo>
                      <a:pt x="11090" y="705"/>
                      <a:pt x="19000" y="7538"/>
                      <a:pt x="21078" y="16824"/>
                    </a:cubicBezTo>
                  </a:path>
                  <a:path w="21079" h="21541" stroke="0">
                    <a:moveTo>
                      <a:pt x="1600" y="0"/>
                    </a:moveTo>
                    <a:cubicBezTo>
                      <a:pt x="11090" y="705"/>
                      <a:pt x="19000" y="7538"/>
                      <a:pt x="21078" y="16824"/>
                    </a:cubicBezTo>
                    <a:lnTo>
                      <a:pt x="0" y="21541"/>
                    </a:lnTo>
                    <a:lnTo>
                      <a:pt x="160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7122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98693306"/>
                  </p:ext>
                </p:extLst>
              </p:nvPr>
            </p:nvGraphicFramePr>
            <p:xfrm>
              <a:off x="1920" y="624"/>
              <a:ext cx="22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0" r:id="rId11" imgW="215900" imgH="228600" progId="Equation.3">
                      <p:embed/>
                    </p:oleObj>
                  </mc:Choice>
                  <mc:Fallback>
                    <p:oleObj r:id="rId11" imgW="215900" imgH="228600" progId="Equation.3">
                      <p:embed/>
                      <p:pic>
                        <p:nvPicPr>
                          <p:cNvPr id="47122" name="Object 27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920" y="624"/>
                            <a:ext cx="227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23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8313516"/>
                  </p:ext>
                </p:extLst>
              </p:nvPr>
            </p:nvGraphicFramePr>
            <p:xfrm>
              <a:off x="2016" y="1584"/>
              <a:ext cx="22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1" r:id="rId13" imgW="215900" imgH="228600" progId="Equation.3">
                      <p:embed/>
                    </p:oleObj>
                  </mc:Choice>
                  <mc:Fallback>
                    <p:oleObj r:id="rId13" imgW="215900" imgH="228600" progId="Equation.3">
                      <p:embed/>
                      <p:pic>
                        <p:nvPicPr>
                          <p:cNvPr id="47123" name="Object 28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016" y="1584"/>
                            <a:ext cx="228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24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3444565"/>
                  </p:ext>
                </p:extLst>
              </p:nvPr>
            </p:nvGraphicFramePr>
            <p:xfrm>
              <a:off x="1713" y="1584"/>
              <a:ext cx="20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2" r:id="rId14" imgW="165100" imgH="190500" progId="Equation.3">
                      <p:embed/>
                    </p:oleObj>
                  </mc:Choice>
                  <mc:Fallback>
                    <p:oleObj r:id="rId14" imgW="165100" imgH="190500" progId="Equation.3">
                      <p:embed/>
                      <p:pic>
                        <p:nvPicPr>
                          <p:cNvPr id="47124" name="Object 29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713" y="1584"/>
                            <a:ext cx="209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25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8581410"/>
                  </p:ext>
                </p:extLst>
              </p:nvPr>
            </p:nvGraphicFramePr>
            <p:xfrm>
              <a:off x="2695" y="1584"/>
              <a:ext cx="20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" r:id="rId16" imgW="152400" imgH="177800" progId="Equation.3">
                      <p:embed/>
                    </p:oleObj>
                  </mc:Choice>
                  <mc:Fallback>
                    <p:oleObj r:id="rId16" imgW="152400" imgH="177800" progId="Equation.3">
                      <p:embed/>
                      <p:pic>
                        <p:nvPicPr>
                          <p:cNvPr id="47125" name="Object 30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695" y="1584"/>
                            <a:ext cx="206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26" name="Line 31"/>
              <p:cNvSpPr/>
              <p:nvPr/>
            </p:nvSpPr>
            <p:spPr>
              <a:xfrm flipV="1">
                <a:off x="1872" y="960"/>
                <a:ext cx="240" cy="62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</p:grpSp>
      <p:grpSp>
        <p:nvGrpSpPr>
          <p:cNvPr id="47108" name="Group 32"/>
          <p:cNvGrpSpPr/>
          <p:nvPr/>
        </p:nvGrpSpPr>
        <p:grpSpPr>
          <a:xfrm>
            <a:off x="6470792" y="2071383"/>
            <a:ext cx="4648200" cy="519112"/>
            <a:chOff x="912" y="489"/>
            <a:chExt cx="2928" cy="327"/>
          </a:xfrm>
        </p:grpSpPr>
        <p:sp>
          <p:nvSpPr>
            <p:cNvPr id="47109" name="Text Box 33"/>
            <p:cNvSpPr txBox="1"/>
            <p:nvPr/>
          </p:nvSpPr>
          <p:spPr>
            <a:xfrm>
              <a:off x="912" y="489"/>
              <a:ext cx="29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的方向与  成右螺旋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10" name="Object 34"/>
                <p:cNvSpPr txBox="1"/>
                <p:nvPr/>
              </p:nvSpPr>
              <p:spPr>
                <a:xfrm>
                  <a:off x="959" y="489"/>
                  <a:ext cx="229" cy="32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47110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" y="489"/>
                  <a:ext cx="229" cy="32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11" name="Object 35"/>
                <p:cNvSpPr txBox="1"/>
                <p:nvPr/>
              </p:nvSpPr>
              <p:spPr>
                <a:xfrm>
                  <a:off x="2066" y="495"/>
                  <a:ext cx="188" cy="25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7111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6" y="495"/>
                  <a:ext cx="188" cy="25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20">
                <a:extLst>
                  <a:ext uri="{FF2B5EF4-FFF2-40B4-BE49-F238E27FC236}">
                    <a16:creationId xmlns:a16="http://schemas.microsoft.com/office/drawing/2014/main" id="{32527F7D-BE0C-41FF-A15C-796492419862}"/>
                  </a:ext>
                </a:extLst>
              </p:cNvPr>
              <p:cNvSpPr txBox="1"/>
              <p:nvPr/>
            </p:nvSpPr>
            <p:spPr>
              <a:xfrm>
                <a:off x="5818352" y="4023013"/>
                <a:ext cx="1308200" cy="1154624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Object 20">
                <a:extLst>
                  <a:ext uri="{FF2B5EF4-FFF2-40B4-BE49-F238E27FC236}">
                    <a16:creationId xmlns:a16="http://schemas.microsoft.com/office/drawing/2014/main" id="{32527F7D-BE0C-41FF-A15C-796492419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352" y="4023013"/>
                <a:ext cx="1308200" cy="115462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20">
            <a:extLst>
              <a:ext uri="{FF2B5EF4-FFF2-40B4-BE49-F238E27FC236}">
                <a16:creationId xmlns:a16="http://schemas.microsoft.com/office/drawing/2014/main" id="{470C4E85-488C-12E5-D10B-7CA752DE52E7}"/>
              </a:ext>
            </a:extLst>
          </p:cNvPr>
          <p:cNvSpPr txBox="1"/>
          <p:nvPr/>
        </p:nvSpPr>
        <p:spPr>
          <a:xfrm>
            <a:off x="1257300" y="676541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例：无限长载流圆柱体的磁场</a:t>
            </a:r>
          </a:p>
        </p:txBody>
      </p:sp>
    </p:spTree>
    <p:extLst>
      <p:ext uri="{BB962C8B-B14F-4D97-AF65-F5344CB8AC3E}">
        <p14:creationId xmlns:p14="http://schemas.microsoft.com/office/powerpoint/2010/main" val="138805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914" name="Object 2"/>
              <p:cNvSpPr txBox="1"/>
              <p:nvPr/>
            </p:nvSpPr>
            <p:spPr>
              <a:xfrm>
                <a:off x="6742906" y="4900149"/>
                <a:ext cx="1143000" cy="527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691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906" y="4900149"/>
                <a:ext cx="1143000" cy="527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31" name="Text Box 3"/>
          <p:cNvSpPr txBox="1"/>
          <p:nvPr/>
        </p:nvSpPr>
        <p:spPr>
          <a:xfrm>
            <a:off x="2209800" y="762001"/>
            <a:ext cx="571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</a:rPr>
              <a:t>无限长载流圆柱面的磁场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916" name="Object 4"/>
              <p:cNvSpPr txBox="1"/>
              <p:nvPr/>
            </p:nvSpPr>
            <p:spPr>
              <a:xfrm>
                <a:off x="6639492" y="5715330"/>
                <a:ext cx="1830388" cy="11001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691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492" y="5715330"/>
                <a:ext cx="1830388" cy="1100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/>
          <p:nvPr/>
        </p:nvGrpSpPr>
        <p:grpSpPr>
          <a:xfrm>
            <a:off x="2129370" y="5728288"/>
            <a:ext cx="4139422" cy="762000"/>
            <a:chOff x="2742" y="3008"/>
            <a:chExt cx="2732" cy="5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5" name="Object 6"/>
                <p:cNvSpPr txBox="1"/>
                <p:nvPr/>
              </p:nvSpPr>
              <p:spPr>
                <a:xfrm>
                  <a:off x="3794" y="3008"/>
                  <a:ext cx="1680" cy="56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∮"/>
                            <m:supHide m:val="on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/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func>
                                  <m:func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fName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func>
                              </m:e>
                            </m:acc>
                          </m:e>
                        </m:nary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175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" y="3008"/>
                  <a:ext cx="1680" cy="562"/>
                </a:xfrm>
                <a:prstGeom prst="rect">
                  <a:avLst/>
                </a:prstGeom>
                <a:blipFill>
                  <a:blip r:embed="rId5"/>
                  <a:stretch>
                    <a:fillRect b="-20800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6" name="Object 7"/>
                <p:cNvSpPr txBox="1"/>
                <p:nvPr/>
              </p:nvSpPr>
              <p:spPr>
                <a:xfrm>
                  <a:off x="2742" y="3125"/>
                  <a:ext cx="1119" cy="34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176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" y="3125"/>
                  <a:ext cx="1119" cy="34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/>
          <p:nvPr/>
        </p:nvGrpSpPr>
        <p:grpSpPr>
          <a:xfrm>
            <a:off x="2005603" y="4691452"/>
            <a:ext cx="4279115" cy="838200"/>
            <a:chOff x="2514" y="2107"/>
            <a:chExt cx="2858" cy="5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3" name="Object 9"/>
                <p:cNvSpPr txBox="1"/>
                <p:nvPr/>
              </p:nvSpPr>
              <p:spPr>
                <a:xfrm>
                  <a:off x="2514" y="2225"/>
                  <a:ext cx="1409" cy="32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17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" y="2225"/>
                  <a:ext cx="1409" cy="3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74" name="Object 10"/>
                <p:cNvSpPr txBox="1"/>
                <p:nvPr/>
              </p:nvSpPr>
              <p:spPr>
                <a:xfrm>
                  <a:off x="3988" y="2107"/>
                  <a:ext cx="1384" cy="56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∮"/>
                            <m:supHide m:val="on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/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func>
                                  <m:func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fName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func>
                              </m:e>
                            </m:acc>
                          </m:e>
                        </m:nary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17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8" y="2107"/>
                  <a:ext cx="1384" cy="562"/>
                </a:xfrm>
                <a:prstGeom prst="rect">
                  <a:avLst/>
                </a:prstGeom>
                <a:blipFill>
                  <a:blip r:embed="rId8"/>
                  <a:stretch>
                    <a:fillRect b="-1021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135" name="Group 11"/>
          <p:cNvGrpSpPr/>
          <p:nvPr/>
        </p:nvGrpSpPr>
        <p:grpSpPr>
          <a:xfrm>
            <a:off x="3562350" y="1473200"/>
            <a:ext cx="1200150" cy="3009900"/>
            <a:chOff x="1236" y="976"/>
            <a:chExt cx="756" cy="1896"/>
          </a:xfrm>
        </p:grpSpPr>
        <p:sp>
          <p:nvSpPr>
            <p:cNvPr id="166925" name="AutoShape 13"/>
            <p:cNvSpPr>
              <a:spLocks noChangeArrowheads="1"/>
            </p:cNvSpPr>
            <p:nvPr/>
          </p:nvSpPr>
          <p:spPr bwMode="auto">
            <a:xfrm>
              <a:off x="1236" y="1199"/>
              <a:ext cx="756" cy="1394"/>
            </a:xfrm>
            <a:prstGeom prst="can">
              <a:avLst>
                <a:gd name="adj" fmla="val 40105"/>
              </a:avLst>
            </a:prstGeom>
            <a:gradFill rotWithShape="0">
              <a:gsLst>
                <a:gs pos="0">
                  <a:schemeClr val="bg1">
                    <a:gamma/>
                    <a:shade val="65882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65882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65" name="Line 14"/>
            <p:cNvSpPr/>
            <p:nvPr/>
          </p:nvSpPr>
          <p:spPr>
            <a:xfrm>
              <a:off x="1589" y="976"/>
              <a:ext cx="0" cy="184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48166" name="Line 15"/>
            <p:cNvSpPr/>
            <p:nvPr/>
          </p:nvSpPr>
          <p:spPr>
            <a:xfrm>
              <a:off x="1589" y="1980"/>
              <a:ext cx="403" cy="0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dash"/>
              <a:headEnd type="none" w="sm" len="lg"/>
              <a:tailEnd type="triangle" w="sm" len="lg"/>
            </a:ln>
          </p:spPr>
        </p:sp>
        <p:sp>
          <p:nvSpPr>
            <p:cNvPr id="48167" name="Line 16"/>
            <p:cNvSpPr/>
            <p:nvPr/>
          </p:nvSpPr>
          <p:spPr>
            <a:xfrm>
              <a:off x="1589" y="2593"/>
              <a:ext cx="0" cy="27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8168" name="Line 17"/>
            <p:cNvSpPr/>
            <p:nvPr/>
          </p:nvSpPr>
          <p:spPr>
            <a:xfrm>
              <a:off x="1589" y="976"/>
              <a:ext cx="0" cy="33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</p:sp>
        <p:graphicFrame>
          <p:nvGraphicFramePr>
            <p:cNvPr id="4816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3318540"/>
                </p:ext>
              </p:extLst>
            </p:nvPr>
          </p:nvGraphicFramePr>
          <p:xfrm>
            <a:off x="1639" y="1757"/>
            <a:ext cx="191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r:id="rId9" imgW="215900" imgH="228600" progId="Equation.3">
                    <p:embed/>
                  </p:oleObj>
                </mc:Choice>
                <mc:Fallback>
                  <p:oleObj r:id="rId9" imgW="215900" imgH="228600" progId="Equation.3">
                    <p:embed/>
                    <p:pic>
                      <p:nvPicPr>
                        <p:cNvPr id="48169" name="Object 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39" y="1757"/>
                          <a:ext cx="191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170" name="Group 19"/>
            <p:cNvGrpSpPr/>
            <p:nvPr/>
          </p:nvGrpSpPr>
          <p:grpSpPr>
            <a:xfrm>
              <a:off x="1236" y="1757"/>
              <a:ext cx="165" cy="390"/>
              <a:chOff x="480" y="3120"/>
              <a:chExt cx="157" cy="336"/>
            </a:xfrm>
          </p:grpSpPr>
          <p:sp>
            <p:nvSpPr>
              <p:cNvPr id="48171" name="Line 20"/>
              <p:cNvSpPr/>
              <p:nvPr/>
            </p:nvSpPr>
            <p:spPr>
              <a:xfrm>
                <a:off x="637" y="3120"/>
                <a:ext cx="0" cy="33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triangle" w="sm" len="lg"/>
                <a:tailEnd type="none" w="sm" len="lg"/>
              </a:ln>
            </p:spPr>
          </p:sp>
          <p:graphicFrame>
            <p:nvGraphicFramePr>
              <p:cNvPr id="48172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0691412"/>
                  </p:ext>
                </p:extLst>
              </p:nvPr>
            </p:nvGraphicFramePr>
            <p:xfrm>
              <a:off x="480" y="3192"/>
              <a:ext cx="15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5" r:id="rId11" imgW="165100" imgH="228600" progId="Equation.3">
                      <p:embed/>
                    </p:oleObj>
                  </mc:Choice>
                  <mc:Fallback>
                    <p:oleObj r:id="rId11" imgW="165100" imgH="228600" progId="Equation.3">
                      <p:embed/>
                      <p:pic>
                        <p:nvPicPr>
                          <p:cNvPr id="48172" name="Object 21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80" y="3192"/>
                            <a:ext cx="15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22"/>
          <p:cNvGrpSpPr/>
          <p:nvPr/>
        </p:nvGrpSpPr>
        <p:grpSpPr>
          <a:xfrm>
            <a:off x="3482975" y="1489076"/>
            <a:ext cx="1358900" cy="796925"/>
            <a:chOff x="432" y="2448"/>
            <a:chExt cx="816" cy="432"/>
          </a:xfrm>
        </p:grpSpPr>
        <p:graphicFrame>
          <p:nvGraphicFramePr>
            <p:cNvPr id="4815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8578589"/>
                </p:ext>
              </p:extLst>
            </p:nvPr>
          </p:nvGraphicFramePr>
          <p:xfrm>
            <a:off x="432" y="2448"/>
            <a:ext cx="21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r:id="rId13" imgW="228600" imgH="317500" progId="Equation.3">
                    <p:embed/>
                  </p:oleObj>
                </mc:Choice>
                <mc:Fallback>
                  <p:oleObj r:id="rId13" imgW="228600" imgH="317500" progId="Equation.3">
                    <p:embed/>
                    <p:pic>
                      <p:nvPicPr>
                        <p:cNvPr id="48158" name="Object 2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2" y="2448"/>
                          <a:ext cx="21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9" name="Line 24"/>
            <p:cNvSpPr/>
            <p:nvPr/>
          </p:nvSpPr>
          <p:spPr>
            <a:xfrm>
              <a:off x="816" y="2736"/>
              <a:ext cx="288" cy="48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48160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1639669"/>
                </p:ext>
              </p:extLst>
            </p:nvPr>
          </p:nvGraphicFramePr>
          <p:xfrm>
            <a:off x="1083" y="2688"/>
            <a:ext cx="16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r:id="rId15" imgW="152400" imgH="177800" progId="Equation.3">
                    <p:embed/>
                  </p:oleObj>
                </mc:Choice>
                <mc:Fallback>
                  <p:oleObj r:id="rId15" imgW="152400" imgH="177800" progId="Equation.3">
                    <p:embed/>
                    <p:pic>
                      <p:nvPicPr>
                        <p:cNvPr id="48160" name="Object 2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83" y="2688"/>
                          <a:ext cx="165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1" name="Oval 26"/>
            <p:cNvSpPr/>
            <p:nvPr/>
          </p:nvSpPr>
          <p:spPr>
            <a:xfrm>
              <a:off x="576" y="2688"/>
              <a:ext cx="528" cy="144"/>
            </a:xfrm>
            <a:prstGeom prst="ellipse">
              <a:avLst/>
            </a:prstGeom>
            <a:noFill/>
            <a:ln w="28575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8162" name="Line 27"/>
            <p:cNvSpPr/>
            <p:nvPr/>
          </p:nvSpPr>
          <p:spPr>
            <a:xfrm>
              <a:off x="822" y="2826"/>
              <a:ext cx="4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sm" len="lg"/>
              <a:tailEnd type="triangle" w="sm" len="lg"/>
            </a:ln>
          </p:spPr>
        </p:sp>
      </p:grpSp>
      <p:grpSp>
        <p:nvGrpSpPr>
          <p:cNvPr id="7" name="Group 28"/>
          <p:cNvGrpSpPr/>
          <p:nvPr/>
        </p:nvGrpSpPr>
        <p:grpSpPr>
          <a:xfrm>
            <a:off x="3082925" y="2646364"/>
            <a:ext cx="2109788" cy="1239837"/>
            <a:chOff x="934" y="1701"/>
            <a:chExt cx="1329" cy="781"/>
          </a:xfrm>
        </p:grpSpPr>
        <p:graphicFrame>
          <p:nvGraphicFramePr>
            <p:cNvPr id="4815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1957411"/>
                </p:ext>
              </p:extLst>
            </p:nvPr>
          </p:nvGraphicFramePr>
          <p:xfrm>
            <a:off x="1337" y="2173"/>
            <a:ext cx="24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r:id="rId17" imgW="254000" imgH="317500" progId="Equation.3">
                    <p:embed/>
                  </p:oleObj>
                </mc:Choice>
                <mc:Fallback>
                  <p:oleObj r:id="rId17" imgW="254000" imgH="317500" progId="Equation.3">
                    <p:embed/>
                    <p:pic>
                      <p:nvPicPr>
                        <p:cNvPr id="48152" name="Object 2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37" y="2173"/>
                          <a:ext cx="247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3" name="Line 30"/>
            <p:cNvSpPr/>
            <p:nvPr/>
          </p:nvSpPr>
          <p:spPr>
            <a:xfrm>
              <a:off x="1592" y="1980"/>
              <a:ext cx="400" cy="167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48154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032631"/>
                </p:ext>
              </p:extLst>
            </p:nvPr>
          </p:nvGraphicFramePr>
          <p:xfrm>
            <a:off x="1977" y="2147"/>
            <a:ext cx="217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r:id="rId19" imgW="152400" imgH="177800" progId="Equation.3">
                    <p:embed/>
                  </p:oleObj>
                </mc:Choice>
                <mc:Fallback>
                  <p:oleObj r:id="rId19" imgW="152400" imgH="177800" progId="Equation.3">
                    <p:embed/>
                    <p:pic>
                      <p:nvPicPr>
                        <p:cNvPr id="48154" name="Object 3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77" y="2147"/>
                          <a:ext cx="217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5" name="Oval 32"/>
            <p:cNvSpPr/>
            <p:nvPr/>
          </p:nvSpPr>
          <p:spPr>
            <a:xfrm>
              <a:off x="937" y="1701"/>
              <a:ext cx="1310" cy="502"/>
            </a:xfrm>
            <a:prstGeom prst="ellipse">
              <a:avLst/>
            </a:prstGeom>
            <a:noFill/>
            <a:ln w="2540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8156" name="Freeform 33"/>
            <p:cNvSpPr/>
            <p:nvPr/>
          </p:nvSpPr>
          <p:spPr>
            <a:xfrm>
              <a:off x="934" y="1739"/>
              <a:ext cx="1329" cy="464"/>
            </a:xfrm>
            <a:custGeom>
              <a:avLst/>
              <a:gdLst>
                <a:gd name="txL" fmla="*/ 0 w 1266"/>
                <a:gd name="txT" fmla="*/ 0 h 399"/>
                <a:gd name="txR" fmla="*/ 1266 w 1266"/>
                <a:gd name="txB" fmla="*/ 399 h 399"/>
              </a:gdLst>
              <a:ahLst/>
              <a:cxnLst>
                <a:cxn ang="0">
                  <a:pos x="346" y="0"/>
                </a:cxn>
                <a:cxn ang="0">
                  <a:pos x="124" y="88"/>
                </a:cxn>
                <a:cxn ang="0">
                  <a:pos x="14" y="240"/>
                </a:cxn>
                <a:cxn ang="0">
                  <a:pos x="49" y="390"/>
                </a:cxn>
                <a:cxn ang="0">
                  <a:pos x="235" y="541"/>
                </a:cxn>
                <a:cxn ang="0">
                  <a:pos x="568" y="616"/>
                </a:cxn>
                <a:cxn ang="0">
                  <a:pos x="971" y="608"/>
                </a:cxn>
                <a:cxn ang="0">
                  <a:pos x="1175" y="551"/>
                </a:cxn>
                <a:cxn ang="0">
                  <a:pos x="1175" y="547"/>
                </a:cxn>
                <a:cxn ang="0">
                  <a:pos x="1346" y="476"/>
                </a:cxn>
                <a:cxn ang="0">
                  <a:pos x="1358" y="464"/>
                </a:cxn>
                <a:cxn ang="0">
                  <a:pos x="1419" y="388"/>
                </a:cxn>
                <a:cxn ang="0">
                  <a:pos x="1452" y="288"/>
                </a:cxn>
                <a:cxn ang="0">
                  <a:pos x="1457" y="257"/>
                </a:cxn>
                <a:cxn ang="0">
                  <a:pos x="1400" y="164"/>
                </a:cxn>
                <a:cxn ang="0">
                  <a:pos x="1342" y="106"/>
                </a:cxn>
                <a:cxn ang="0">
                  <a:pos x="1179" y="12"/>
                </a:cxn>
              </a:cxnLst>
              <a:rect l="txL" t="txT" r="txR" b="txB"/>
              <a:pathLst>
                <a:path w="1266" h="399">
                  <a:moveTo>
                    <a:pt x="299" y="0"/>
                  </a:moveTo>
                  <a:cubicBezTo>
                    <a:pt x="267" y="9"/>
                    <a:pt x="155" y="31"/>
                    <a:pt x="107" y="56"/>
                  </a:cubicBezTo>
                  <a:cubicBezTo>
                    <a:pt x="59" y="81"/>
                    <a:pt x="22" y="120"/>
                    <a:pt x="11" y="152"/>
                  </a:cubicBezTo>
                  <a:cubicBezTo>
                    <a:pt x="0" y="184"/>
                    <a:pt x="11" y="216"/>
                    <a:pt x="43" y="248"/>
                  </a:cubicBezTo>
                  <a:cubicBezTo>
                    <a:pt x="75" y="280"/>
                    <a:pt x="128" y="320"/>
                    <a:pt x="203" y="344"/>
                  </a:cubicBezTo>
                  <a:cubicBezTo>
                    <a:pt x="278" y="368"/>
                    <a:pt x="385" y="385"/>
                    <a:pt x="491" y="392"/>
                  </a:cubicBezTo>
                  <a:cubicBezTo>
                    <a:pt x="597" y="399"/>
                    <a:pt x="752" y="394"/>
                    <a:pt x="839" y="387"/>
                  </a:cubicBezTo>
                  <a:cubicBezTo>
                    <a:pt x="926" y="380"/>
                    <a:pt x="986" y="358"/>
                    <a:pt x="1015" y="351"/>
                  </a:cubicBezTo>
                  <a:cubicBezTo>
                    <a:pt x="1044" y="344"/>
                    <a:pt x="990" y="355"/>
                    <a:pt x="1015" y="347"/>
                  </a:cubicBezTo>
                  <a:cubicBezTo>
                    <a:pt x="1040" y="339"/>
                    <a:pt x="1136" y="312"/>
                    <a:pt x="1163" y="303"/>
                  </a:cubicBezTo>
                  <a:cubicBezTo>
                    <a:pt x="1190" y="294"/>
                    <a:pt x="1164" y="304"/>
                    <a:pt x="1175" y="295"/>
                  </a:cubicBezTo>
                  <a:cubicBezTo>
                    <a:pt x="1186" y="286"/>
                    <a:pt x="1214" y="266"/>
                    <a:pt x="1227" y="247"/>
                  </a:cubicBezTo>
                  <a:cubicBezTo>
                    <a:pt x="1240" y="228"/>
                    <a:pt x="1250" y="197"/>
                    <a:pt x="1255" y="183"/>
                  </a:cubicBezTo>
                  <a:cubicBezTo>
                    <a:pt x="1260" y="169"/>
                    <a:pt x="1266" y="176"/>
                    <a:pt x="1259" y="163"/>
                  </a:cubicBezTo>
                  <a:cubicBezTo>
                    <a:pt x="1252" y="150"/>
                    <a:pt x="1228" y="120"/>
                    <a:pt x="1211" y="104"/>
                  </a:cubicBezTo>
                  <a:cubicBezTo>
                    <a:pt x="1194" y="88"/>
                    <a:pt x="1191" y="83"/>
                    <a:pt x="1159" y="67"/>
                  </a:cubicBezTo>
                  <a:cubicBezTo>
                    <a:pt x="1127" y="51"/>
                    <a:pt x="1048" y="20"/>
                    <a:pt x="1019" y="8"/>
                  </a:cubicBezTo>
                </a:path>
              </a:pathLst>
            </a:custGeom>
            <a:noFill/>
            <a:ln w="317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8157" name="Line 34"/>
            <p:cNvSpPr/>
            <p:nvPr/>
          </p:nvSpPr>
          <p:spPr>
            <a:xfrm flipV="1">
              <a:off x="1542" y="2187"/>
              <a:ext cx="151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</p:grpSp>
      <p:grpSp>
        <p:nvGrpSpPr>
          <p:cNvPr id="8" name="Group 35"/>
          <p:cNvGrpSpPr/>
          <p:nvPr/>
        </p:nvGrpSpPr>
        <p:grpSpPr>
          <a:xfrm>
            <a:off x="6781800" y="1981200"/>
            <a:ext cx="2590800" cy="2057400"/>
            <a:chOff x="1536" y="2736"/>
            <a:chExt cx="1632" cy="1296"/>
          </a:xfrm>
        </p:grpSpPr>
        <p:sp>
          <p:nvSpPr>
            <p:cNvPr id="48140" name="Line 36"/>
            <p:cNvSpPr/>
            <p:nvPr/>
          </p:nvSpPr>
          <p:spPr>
            <a:xfrm>
              <a:off x="1536" y="3759"/>
              <a:ext cx="16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8141" name="Line 37"/>
            <p:cNvSpPr/>
            <p:nvPr/>
          </p:nvSpPr>
          <p:spPr>
            <a:xfrm flipV="1">
              <a:off x="2204" y="2736"/>
              <a:ext cx="4" cy="102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8142" name="Line 38"/>
            <p:cNvSpPr/>
            <p:nvPr/>
          </p:nvSpPr>
          <p:spPr>
            <a:xfrm>
              <a:off x="2544" y="3168"/>
              <a:ext cx="0" cy="60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48143" name="Line 39"/>
            <p:cNvSpPr/>
            <p:nvPr/>
          </p:nvSpPr>
          <p:spPr>
            <a:xfrm flipH="1">
              <a:off x="2204" y="3155"/>
              <a:ext cx="352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48144" name="Arc 40"/>
            <p:cNvSpPr/>
            <p:nvPr/>
          </p:nvSpPr>
          <p:spPr>
            <a:xfrm flipH="1" flipV="1">
              <a:off x="2544" y="2976"/>
              <a:ext cx="624" cy="624"/>
            </a:xfrm>
            <a:custGeom>
              <a:avLst/>
              <a:gdLst>
                <a:gd name="txL" fmla="*/ 0 w 20835"/>
                <a:gd name="txT" fmla="*/ 0 h 21541"/>
                <a:gd name="txR" fmla="*/ 20835 w 20835"/>
                <a:gd name="txB" fmla="*/ 21541 h 2154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835" h="21541" fill="none">
                  <a:moveTo>
                    <a:pt x="1600" y="0"/>
                  </a:moveTo>
                  <a:cubicBezTo>
                    <a:pt x="10718" y="678"/>
                    <a:pt x="18422" y="7023"/>
                    <a:pt x="20834" y="15842"/>
                  </a:cubicBezTo>
                </a:path>
                <a:path w="20835" h="21541" stroke="0">
                  <a:moveTo>
                    <a:pt x="1600" y="0"/>
                  </a:moveTo>
                  <a:cubicBezTo>
                    <a:pt x="10718" y="678"/>
                    <a:pt x="18422" y="7023"/>
                    <a:pt x="20834" y="15842"/>
                  </a:cubicBezTo>
                  <a:lnTo>
                    <a:pt x="0" y="21541"/>
                  </a:lnTo>
                  <a:lnTo>
                    <a:pt x="160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8145" name="Line 41"/>
            <p:cNvSpPr/>
            <p:nvPr/>
          </p:nvSpPr>
          <p:spPr>
            <a:xfrm>
              <a:off x="2204" y="3759"/>
              <a:ext cx="35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48146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6708088"/>
                </p:ext>
              </p:extLst>
            </p:nvPr>
          </p:nvGraphicFramePr>
          <p:xfrm>
            <a:off x="2256" y="2736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r:id="rId20" imgW="215900" imgH="228600" progId="Equation.3">
                    <p:embed/>
                  </p:oleObj>
                </mc:Choice>
                <mc:Fallback>
                  <p:oleObj r:id="rId20" imgW="215900" imgH="228600" progId="Equation.3">
                    <p:embed/>
                    <p:pic>
                      <p:nvPicPr>
                        <p:cNvPr id="48146" name="Object 4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256" y="2736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416155"/>
                </p:ext>
              </p:extLst>
            </p:nvPr>
          </p:nvGraphicFramePr>
          <p:xfrm>
            <a:off x="2448" y="3744"/>
            <a:ext cx="2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r:id="rId22" imgW="215900" imgH="228600" progId="Equation.3">
                    <p:embed/>
                  </p:oleObj>
                </mc:Choice>
                <mc:Fallback>
                  <p:oleObj r:id="rId22" imgW="215900" imgH="228600" progId="Equation.3">
                    <p:embed/>
                    <p:pic>
                      <p:nvPicPr>
                        <p:cNvPr id="48147" name="Object 4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48" y="3744"/>
                          <a:ext cx="22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8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368059"/>
                </p:ext>
              </p:extLst>
            </p:nvPr>
          </p:nvGraphicFramePr>
          <p:xfrm>
            <a:off x="2064" y="3744"/>
            <a:ext cx="20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r:id="rId23" imgW="165100" imgH="190500" progId="Equation.3">
                    <p:embed/>
                  </p:oleObj>
                </mc:Choice>
                <mc:Fallback>
                  <p:oleObj r:id="rId23" imgW="165100" imgH="190500" progId="Equation.3">
                    <p:embed/>
                    <p:pic>
                      <p:nvPicPr>
                        <p:cNvPr id="48148" name="Object 4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064" y="3744"/>
                          <a:ext cx="20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9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853813"/>
                </p:ext>
              </p:extLst>
            </p:nvPr>
          </p:nvGraphicFramePr>
          <p:xfrm>
            <a:off x="2928" y="3792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r:id="rId25" imgW="152400" imgH="177800" progId="Equation.3">
                    <p:embed/>
                  </p:oleObj>
                </mc:Choice>
                <mc:Fallback>
                  <p:oleObj r:id="rId25" imgW="152400" imgH="177800" progId="Equation.3">
                    <p:embed/>
                    <p:pic>
                      <p:nvPicPr>
                        <p:cNvPr id="48149" name="Object 4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28" y="3792"/>
                          <a:ext cx="20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bject 20">
                <a:extLst>
                  <a:ext uri="{FF2B5EF4-FFF2-40B4-BE49-F238E27FC236}">
                    <a16:creationId xmlns:a16="http://schemas.microsoft.com/office/drawing/2014/main" id="{FF5BEF04-F349-4EC2-B4BD-66CEC077CBE2}"/>
                  </a:ext>
                </a:extLst>
              </p:cNvPr>
              <p:cNvSpPr txBox="1"/>
              <p:nvPr/>
            </p:nvSpPr>
            <p:spPr>
              <a:xfrm>
                <a:off x="6781800" y="2318570"/>
                <a:ext cx="1308200" cy="1154624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Object 20">
                <a:extLst>
                  <a:ext uri="{FF2B5EF4-FFF2-40B4-BE49-F238E27FC236}">
                    <a16:creationId xmlns:a16="http://schemas.microsoft.com/office/drawing/2014/main" id="{FF5BEF04-F349-4EC2-B4BD-66CEC077C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318570"/>
                <a:ext cx="1308200" cy="115462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/>
      <p:bldP spid="166916" grpId="0"/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9907" name="Object 3">
                <a:extLst>
                  <a:ext uri="{FF2B5EF4-FFF2-40B4-BE49-F238E27FC236}">
                    <a16:creationId xmlns:a16="http://schemas.microsoft.com/office/drawing/2014/main" id="{7228AA29-A74B-412B-9A10-BAF57DC94086}"/>
                  </a:ext>
                </a:extLst>
              </p:cNvPr>
              <p:cNvSpPr txBox="1"/>
              <p:nvPr/>
            </p:nvSpPr>
            <p:spPr bwMode="auto">
              <a:xfrm>
                <a:off x="1761333" y="1176916"/>
                <a:ext cx="420687" cy="385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9907" name="Object 3">
                <a:extLst>
                  <a:ext uri="{FF2B5EF4-FFF2-40B4-BE49-F238E27FC236}">
                    <a16:creationId xmlns:a16="http://schemas.microsoft.com/office/drawing/2014/main" id="{7228AA29-A74B-412B-9A10-BAF57DC94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1333" y="1176916"/>
                <a:ext cx="420687" cy="385763"/>
              </a:xfrm>
              <a:prstGeom prst="rect">
                <a:avLst/>
              </a:prstGeom>
              <a:blipFill>
                <a:blip r:embed="rId3"/>
                <a:stretch>
                  <a:fillRect b="-31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909" name="Object 5">
                <a:extLst>
                  <a:ext uri="{FF2B5EF4-FFF2-40B4-BE49-F238E27FC236}">
                    <a16:creationId xmlns:a16="http://schemas.microsoft.com/office/drawing/2014/main" id="{CCAF3E0B-088C-4968-B266-E7993068E26E}"/>
                  </a:ext>
                </a:extLst>
              </p:cNvPr>
              <p:cNvSpPr txBox="1"/>
              <p:nvPr/>
            </p:nvSpPr>
            <p:spPr bwMode="auto">
              <a:xfrm>
                <a:off x="4264422" y="994359"/>
                <a:ext cx="1335088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9909" name="Object 5">
                <a:extLst>
                  <a:ext uri="{FF2B5EF4-FFF2-40B4-BE49-F238E27FC236}">
                    <a16:creationId xmlns:a16="http://schemas.microsoft.com/office/drawing/2014/main" id="{CCAF3E0B-088C-4968-B266-E7993068E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4422" y="994359"/>
                <a:ext cx="1335088" cy="1066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911" name="Object 7">
                <a:extLst>
                  <a:ext uri="{FF2B5EF4-FFF2-40B4-BE49-F238E27FC236}">
                    <a16:creationId xmlns:a16="http://schemas.microsoft.com/office/drawing/2014/main" id="{8AE65D94-AE0E-46C3-81FD-29DC78944B04}"/>
                  </a:ext>
                </a:extLst>
              </p:cNvPr>
              <p:cNvSpPr txBox="1"/>
              <p:nvPr/>
            </p:nvSpPr>
            <p:spPr bwMode="auto">
              <a:xfrm>
                <a:off x="1460501" y="6102740"/>
                <a:ext cx="3022600" cy="561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9911" name="Object 7">
                <a:extLst>
                  <a:ext uri="{FF2B5EF4-FFF2-40B4-BE49-F238E27FC236}">
                    <a16:creationId xmlns:a16="http://schemas.microsoft.com/office/drawing/2014/main" id="{8AE65D94-AE0E-46C3-81FD-29DC78944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0501" y="6102740"/>
                <a:ext cx="3022600" cy="561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912" name="Object 8">
                <a:extLst>
                  <a:ext uri="{FF2B5EF4-FFF2-40B4-BE49-F238E27FC236}">
                    <a16:creationId xmlns:a16="http://schemas.microsoft.com/office/drawing/2014/main" id="{82F40B9F-EE63-493D-8768-77986C35F1B7}"/>
                  </a:ext>
                </a:extLst>
              </p:cNvPr>
              <p:cNvSpPr txBox="1"/>
              <p:nvPr/>
            </p:nvSpPr>
            <p:spPr bwMode="auto">
              <a:xfrm>
                <a:off x="5067301" y="5763419"/>
                <a:ext cx="1512887" cy="10112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79912" name="Object 8">
                <a:extLst>
                  <a:ext uri="{FF2B5EF4-FFF2-40B4-BE49-F238E27FC236}">
                    <a16:creationId xmlns:a16="http://schemas.microsoft.com/office/drawing/2014/main" id="{82F40B9F-EE63-493D-8768-77986C35F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7301" y="5763419"/>
                <a:ext cx="1512887" cy="10112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976" name="组合 1">
            <a:extLst>
              <a:ext uri="{FF2B5EF4-FFF2-40B4-BE49-F238E27FC236}">
                <a16:creationId xmlns:a16="http://schemas.microsoft.com/office/drawing/2014/main" id="{99B88B7A-F669-49F4-8C72-96F1A30AE46C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1060450"/>
            <a:ext cx="4014788" cy="1195388"/>
            <a:chOff x="4953000" y="1060450"/>
            <a:chExt cx="4014788" cy="1195388"/>
          </a:xfrm>
        </p:grpSpPr>
        <p:grpSp>
          <p:nvGrpSpPr>
            <p:cNvPr id="84040" name="Group 71">
              <a:extLst>
                <a:ext uri="{FF2B5EF4-FFF2-40B4-BE49-F238E27FC236}">
                  <a16:creationId xmlns:a16="http://schemas.microsoft.com/office/drawing/2014/main" id="{056F5637-F91B-4AB5-B2FC-38B47595B3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8363" y="1773238"/>
              <a:ext cx="1087437" cy="411162"/>
              <a:chOff x="4547" y="1493"/>
              <a:chExt cx="685" cy="259"/>
            </a:xfrm>
          </p:grpSpPr>
          <p:sp>
            <p:nvSpPr>
              <p:cNvPr id="84058" name="Line 53">
                <a:extLst>
                  <a:ext uri="{FF2B5EF4-FFF2-40B4-BE49-F238E27FC236}">
                    <a16:creationId xmlns:a16="http://schemas.microsoft.com/office/drawing/2014/main" id="{B906EF56-8610-4AB5-89D8-8D4132D51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511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059" name="Object 54">
                    <a:extLst>
                      <a:ext uri="{FF2B5EF4-FFF2-40B4-BE49-F238E27FC236}">
                        <a16:creationId xmlns:a16="http://schemas.microsoft.com/office/drawing/2014/main" id="{93F5BE3B-6274-4293-8F1A-1AAF651DABB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47" y="1493"/>
                    <a:ext cx="411" cy="25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4059" name="Object 54">
                    <a:extLst>
                      <a:ext uri="{FF2B5EF4-FFF2-40B4-BE49-F238E27FC236}">
                        <a16:creationId xmlns:a16="http://schemas.microsoft.com/office/drawing/2014/main" id="{93F5BE3B-6274-4293-8F1A-1AAF651DAB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47" y="1493"/>
                    <a:ext cx="411" cy="25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955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4041" name="Group 70">
              <a:extLst>
                <a:ext uri="{FF2B5EF4-FFF2-40B4-BE49-F238E27FC236}">
                  <a16:creationId xmlns:a16="http://schemas.microsoft.com/office/drawing/2014/main" id="{69F771B6-8133-4335-A56D-AA50644EE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3000" y="1060450"/>
              <a:ext cx="777875" cy="542925"/>
              <a:chOff x="4738" y="211"/>
              <a:chExt cx="490" cy="3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056" name="Object 55">
                    <a:extLst>
                      <a:ext uri="{FF2B5EF4-FFF2-40B4-BE49-F238E27FC236}">
                        <a16:creationId xmlns:a16="http://schemas.microsoft.com/office/drawing/2014/main" id="{A7C62069-8BF2-4DC8-A0BE-9E76DE75A2D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738" y="211"/>
                    <a:ext cx="298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4056" name="Object 55">
                    <a:extLst>
                      <a:ext uri="{FF2B5EF4-FFF2-40B4-BE49-F238E27FC236}">
                        <a16:creationId xmlns:a16="http://schemas.microsoft.com/office/drawing/2014/main" id="{A7C62069-8BF2-4DC8-A0BE-9E76DE75A2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738" y="211"/>
                    <a:ext cx="298" cy="22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64" r="-5128" b="-23729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057" name="AutoShape 56">
                <a:extLst>
                  <a:ext uri="{FF2B5EF4-FFF2-40B4-BE49-F238E27FC236}">
                    <a16:creationId xmlns:a16="http://schemas.microsoft.com/office/drawing/2014/main" id="{FF1246F7-D965-4B3D-90B4-CCCD6D288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83134">
                <a:off x="4981" y="306"/>
                <a:ext cx="61" cy="433"/>
              </a:xfrm>
              <a:prstGeom prst="downArrow">
                <a:avLst>
                  <a:gd name="adj1" fmla="val 50000"/>
                  <a:gd name="adj2" fmla="val 177459"/>
                </a:avLst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84042" name="Group 69">
              <a:extLst>
                <a:ext uri="{FF2B5EF4-FFF2-40B4-BE49-F238E27FC236}">
                  <a16:creationId xmlns:a16="http://schemas.microsoft.com/office/drawing/2014/main" id="{7691CD4F-1A23-43DB-A8D3-8EC571794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3000" y="1341438"/>
              <a:ext cx="4014788" cy="914400"/>
              <a:chOff x="3120" y="813"/>
              <a:chExt cx="2529" cy="576"/>
            </a:xfrm>
          </p:grpSpPr>
          <p:sp>
            <p:nvSpPr>
              <p:cNvPr id="84043" name="Rectangle 45">
                <a:extLst>
                  <a:ext uri="{FF2B5EF4-FFF2-40B4-BE49-F238E27FC236}">
                    <a16:creationId xmlns:a16="http://schemas.microsoft.com/office/drawing/2014/main" id="{2618728C-32FB-4E5F-84E4-536509306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341"/>
                <a:ext cx="2064" cy="48"/>
              </a:xfrm>
              <a:prstGeom prst="rect">
                <a:avLst/>
              </a:prstGeom>
              <a:solidFill>
                <a:srgbClr val="C7C7C7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4044" name="Line 46">
                <a:extLst>
                  <a:ext uri="{FF2B5EF4-FFF2-40B4-BE49-F238E27FC236}">
                    <a16:creationId xmlns:a16="http://schemas.microsoft.com/office/drawing/2014/main" id="{3B6B6D8C-61A2-4D5F-90BF-769A1DE4C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813"/>
                <a:ext cx="720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45" name="Line 47">
                <a:extLst>
                  <a:ext uri="{FF2B5EF4-FFF2-40B4-BE49-F238E27FC236}">
                    <a16:creationId xmlns:a16="http://schemas.microsoft.com/office/drawing/2014/main" id="{2FEDE401-AB21-4DB4-8C61-D0420FA64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4" y="948"/>
                <a:ext cx="463" cy="4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46" name="Line 48">
                <a:extLst>
                  <a:ext uri="{FF2B5EF4-FFF2-40B4-BE49-F238E27FC236}">
                    <a16:creationId xmlns:a16="http://schemas.microsoft.com/office/drawing/2014/main" id="{6D7EFD17-47F5-4321-979C-5ADD0240C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861"/>
                <a:ext cx="48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47" name="Line 49">
                <a:extLst>
                  <a:ext uri="{FF2B5EF4-FFF2-40B4-BE49-F238E27FC236}">
                    <a16:creationId xmlns:a16="http://schemas.microsoft.com/office/drawing/2014/main" id="{05E0F39A-9592-4674-A17A-D4BF7EFD9C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861"/>
                <a:ext cx="48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48" name="Line 50">
                <a:extLst>
                  <a:ext uri="{FF2B5EF4-FFF2-40B4-BE49-F238E27FC236}">
                    <a16:creationId xmlns:a16="http://schemas.microsoft.com/office/drawing/2014/main" id="{3DD3771B-FC60-464E-A082-31DF19A8C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96" y="861"/>
                <a:ext cx="48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49" name="Line 51">
                <a:extLst>
                  <a:ext uri="{FF2B5EF4-FFF2-40B4-BE49-F238E27FC236}">
                    <a16:creationId xmlns:a16="http://schemas.microsoft.com/office/drawing/2014/main" id="{DB066BA9-FB03-4F32-9E99-03A62E567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2" y="861"/>
                <a:ext cx="48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050" name="Object 52">
                    <a:extLst>
                      <a:ext uri="{FF2B5EF4-FFF2-40B4-BE49-F238E27FC236}">
                        <a16:creationId xmlns:a16="http://schemas.microsoft.com/office/drawing/2014/main" id="{E46CA16A-2839-4576-8D70-F82A604CB43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305" y="889"/>
                    <a:ext cx="238" cy="21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4050" name="Object 52">
                    <a:extLst>
                      <a:ext uri="{FF2B5EF4-FFF2-40B4-BE49-F238E27FC236}">
                        <a16:creationId xmlns:a16="http://schemas.microsoft.com/office/drawing/2014/main" id="{E46CA16A-2839-4576-8D70-F82A604CB4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05" y="889"/>
                    <a:ext cx="238" cy="21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228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051" name="Line 57">
                <a:extLst>
                  <a:ext uri="{FF2B5EF4-FFF2-40B4-BE49-F238E27FC236}">
                    <a16:creationId xmlns:a16="http://schemas.microsoft.com/office/drawing/2014/main" id="{1BBCBCF0-1BCB-4B71-A9BE-DD42193E6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5" y="893"/>
                <a:ext cx="463" cy="4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52" name="Line 58">
                <a:extLst>
                  <a:ext uri="{FF2B5EF4-FFF2-40B4-BE49-F238E27FC236}">
                    <a16:creationId xmlns:a16="http://schemas.microsoft.com/office/drawing/2014/main" id="{FF4689F8-DB43-44EC-9E0E-41721D38B7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6" y="903"/>
                <a:ext cx="463" cy="441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53" name="Line 59">
                <a:extLst>
                  <a:ext uri="{FF2B5EF4-FFF2-40B4-BE49-F238E27FC236}">
                    <a16:creationId xmlns:a16="http://schemas.microsoft.com/office/drawing/2014/main" id="{9065E30A-CC21-4F84-ACBD-FABA99E5D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6" y="921"/>
                <a:ext cx="463" cy="441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54" name="Line 60">
                <a:extLst>
                  <a:ext uri="{FF2B5EF4-FFF2-40B4-BE49-F238E27FC236}">
                    <a16:creationId xmlns:a16="http://schemas.microsoft.com/office/drawing/2014/main" id="{58BCB7EE-A66D-4F7A-96C7-A85D7B689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6" y="930"/>
                <a:ext cx="463" cy="441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84055" name="Line 61">
                <a:extLst>
                  <a:ext uri="{FF2B5EF4-FFF2-40B4-BE49-F238E27FC236}">
                    <a16:creationId xmlns:a16="http://schemas.microsoft.com/office/drawing/2014/main" id="{4F699F46-0A40-4BAF-894E-74AAE0A9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6" y="920"/>
                <a:ext cx="463" cy="441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9966" name="Object 62">
                <a:extLst>
                  <a:ext uri="{FF2B5EF4-FFF2-40B4-BE49-F238E27FC236}">
                    <a16:creationId xmlns:a16="http://schemas.microsoft.com/office/drawing/2014/main" id="{05EB5E5B-15D1-4D54-A79C-F87C20F8F2DA}"/>
                  </a:ext>
                </a:extLst>
              </p:cNvPr>
              <p:cNvSpPr txBox="1"/>
              <p:nvPr/>
            </p:nvSpPr>
            <p:spPr bwMode="auto">
              <a:xfrm>
                <a:off x="1523207" y="5314945"/>
                <a:ext cx="2965451" cy="5540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9966" name="Object 62">
                <a:extLst>
                  <a:ext uri="{FF2B5EF4-FFF2-40B4-BE49-F238E27FC236}">
                    <a16:creationId xmlns:a16="http://schemas.microsoft.com/office/drawing/2014/main" id="{05EB5E5B-15D1-4D54-A79C-F87C20F8F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3207" y="5314945"/>
                <a:ext cx="2965451" cy="5540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8" name="Text Box 63">
            <a:extLst>
              <a:ext uri="{FF2B5EF4-FFF2-40B4-BE49-F238E27FC236}">
                <a16:creationId xmlns:a16="http://schemas.microsoft.com/office/drawing/2014/main" id="{CA5011C4-4EFA-44DD-8680-B02D53B5F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19" y="474272"/>
            <a:ext cx="57881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无限大平面电流的磁场</a:t>
            </a:r>
          </a:p>
        </p:txBody>
      </p:sp>
      <p:sp>
        <p:nvSpPr>
          <p:cNvPr id="379968" name="Text Box 64">
            <a:extLst>
              <a:ext uri="{FF2B5EF4-FFF2-40B4-BE49-F238E27FC236}">
                <a16:creationId xmlns:a16="http://schemas.microsoft.com/office/drawing/2014/main" id="{A7B6F083-4103-4DBB-92E5-916C347E0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2170" y="1199544"/>
            <a:ext cx="2303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ea typeface="华文楷体" panose="02010600040101010101" pitchFamily="2" charset="-122"/>
              </a:rPr>
              <a:t>面电流密度</a:t>
            </a:r>
          </a:p>
        </p:txBody>
      </p:sp>
      <p:grpSp>
        <p:nvGrpSpPr>
          <p:cNvPr id="379976" name="Group 72">
            <a:extLst>
              <a:ext uri="{FF2B5EF4-FFF2-40B4-BE49-F238E27FC236}">
                <a16:creationId xmlns:a16="http://schemas.microsoft.com/office/drawing/2014/main" id="{0D2217E1-B0C5-4C58-B6C3-9B5CE7E61B82}"/>
              </a:ext>
            </a:extLst>
          </p:cNvPr>
          <p:cNvGrpSpPr>
            <a:grpSpLocks/>
          </p:cNvGrpSpPr>
          <p:nvPr/>
        </p:nvGrpSpPr>
        <p:grpSpPr bwMode="auto">
          <a:xfrm>
            <a:off x="7158831" y="4854575"/>
            <a:ext cx="3276600" cy="1885950"/>
            <a:chOff x="3552" y="2690"/>
            <a:chExt cx="2064" cy="1188"/>
          </a:xfrm>
        </p:grpSpPr>
        <p:sp>
          <p:nvSpPr>
            <p:cNvPr id="84026" name="Rectangle 73">
              <a:extLst>
                <a:ext uri="{FF2B5EF4-FFF2-40B4-BE49-F238E27FC236}">
                  <a16:creationId xmlns:a16="http://schemas.microsoft.com/office/drawing/2014/main" id="{D9192A6D-9319-49D4-8999-4E3244B65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928"/>
              <a:ext cx="1296" cy="672"/>
            </a:xfrm>
            <a:prstGeom prst="rect">
              <a:avLst/>
            </a:prstGeom>
            <a:noFill/>
            <a:ln w="381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84027" name="Rectangle 74">
              <a:extLst>
                <a:ext uri="{FF2B5EF4-FFF2-40B4-BE49-F238E27FC236}">
                  <a16:creationId xmlns:a16="http://schemas.microsoft.com/office/drawing/2014/main" id="{6EE32158-BA1A-46AD-B556-2CA1300FB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264"/>
              <a:ext cx="2064" cy="48"/>
            </a:xfrm>
            <a:prstGeom prst="rect">
              <a:avLst/>
            </a:prstGeom>
            <a:solidFill>
              <a:srgbClr val="C7C7C7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84028" name="Text Box 75">
              <a:extLst>
                <a:ext uri="{FF2B5EF4-FFF2-40B4-BE49-F238E27FC236}">
                  <a16:creationId xmlns:a16="http://schemas.microsoft.com/office/drawing/2014/main" id="{FBE1A450-3B52-4457-869A-86BE39E42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8" y="3484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a</a:t>
              </a:r>
            </a:p>
          </p:txBody>
        </p:sp>
        <p:sp>
          <p:nvSpPr>
            <p:cNvPr id="84029" name="Text Box 76">
              <a:extLst>
                <a:ext uri="{FF2B5EF4-FFF2-40B4-BE49-F238E27FC236}">
                  <a16:creationId xmlns:a16="http://schemas.microsoft.com/office/drawing/2014/main" id="{72AC0D18-7CEF-403D-B150-00C14D467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4" y="3474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b</a:t>
              </a:r>
            </a:p>
          </p:txBody>
        </p:sp>
        <p:sp>
          <p:nvSpPr>
            <p:cNvPr id="84030" name="Text Box 77">
              <a:extLst>
                <a:ext uri="{FF2B5EF4-FFF2-40B4-BE49-F238E27FC236}">
                  <a16:creationId xmlns:a16="http://schemas.microsoft.com/office/drawing/2014/main" id="{2542E2AC-1837-4FDE-909C-E0034DDB3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1" y="2690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c</a:t>
              </a:r>
            </a:p>
          </p:txBody>
        </p:sp>
        <p:sp>
          <p:nvSpPr>
            <p:cNvPr id="84031" name="Text Box 78">
              <a:extLst>
                <a:ext uri="{FF2B5EF4-FFF2-40B4-BE49-F238E27FC236}">
                  <a16:creationId xmlns:a16="http://schemas.microsoft.com/office/drawing/2014/main" id="{19E4723C-2A4B-4680-BDAD-A918A08E4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6" y="271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032" name="Object 79">
                  <a:extLst>
                    <a:ext uri="{FF2B5EF4-FFF2-40B4-BE49-F238E27FC236}">
                      <a16:creationId xmlns:a16="http://schemas.microsoft.com/office/drawing/2014/main" id="{BB227364-7E3E-4070-9309-6E3CB6C2026B}"/>
                    </a:ext>
                  </a:extLst>
                </p:cNvPr>
                <p:cNvSpPr txBox="1"/>
                <p:nvPr/>
              </p:nvSpPr>
              <p:spPr bwMode="auto">
                <a:xfrm>
                  <a:off x="4624" y="3590"/>
                  <a:ext cx="18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84032" name="Object 79">
                  <a:extLst>
                    <a:ext uri="{FF2B5EF4-FFF2-40B4-BE49-F238E27FC236}">
                      <a16:creationId xmlns:a16="http://schemas.microsoft.com/office/drawing/2014/main" id="{BB227364-7E3E-4070-9309-6E3CB6C20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4" y="3590"/>
                  <a:ext cx="185" cy="288"/>
                </a:xfrm>
                <a:prstGeom prst="rect">
                  <a:avLst/>
                </a:prstGeom>
                <a:blipFill>
                  <a:blip r:embed="rId11"/>
                  <a:stretch>
                    <a:fillRect l="-4167" r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033" name="Object 80">
                  <a:extLst>
                    <a:ext uri="{FF2B5EF4-FFF2-40B4-BE49-F238E27FC236}">
                      <a16:creationId xmlns:a16="http://schemas.microsoft.com/office/drawing/2014/main" id="{D6F774F3-3927-499A-9131-5A59F843E6DA}"/>
                    </a:ext>
                  </a:extLst>
                </p:cNvPr>
                <p:cNvSpPr txBox="1"/>
                <p:nvPr/>
              </p:nvSpPr>
              <p:spPr bwMode="auto">
                <a:xfrm>
                  <a:off x="5184" y="2976"/>
                  <a:ext cx="18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4033" name="Object 80">
                  <a:extLst>
                    <a:ext uri="{FF2B5EF4-FFF2-40B4-BE49-F238E27FC236}">
                      <a16:creationId xmlns:a16="http://schemas.microsoft.com/office/drawing/2014/main" id="{D6F774F3-3927-499A-9131-5A59F843E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4" y="2976"/>
                  <a:ext cx="185" cy="288"/>
                </a:xfrm>
                <a:prstGeom prst="rect">
                  <a:avLst/>
                </a:prstGeom>
                <a:blipFill>
                  <a:blip r:embed="rId12"/>
                  <a:stretch>
                    <a:fillRect l="-2041" r="-2653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034" name="Object 81">
                  <a:extLst>
                    <a:ext uri="{FF2B5EF4-FFF2-40B4-BE49-F238E27FC236}">
                      <a16:creationId xmlns:a16="http://schemas.microsoft.com/office/drawing/2014/main" id="{7C039CF5-F243-409A-A959-8384A1D43483}"/>
                    </a:ext>
                  </a:extLst>
                </p:cNvPr>
                <p:cNvSpPr txBox="1"/>
                <p:nvPr/>
              </p:nvSpPr>
              <p:spPr bwMode="auto">
                <a:xfrm>
                  <a:off x="4068" y="3312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84034" name="Object 81">
                  <a:extLst>
                    <a:ext uri="{FF2B5EF4-FFF2-40B4-BE49-F238E27FC236}">
                      <a16:creationId xmlns:a16="http://schemas.microsoft.com/office/drawing/2014/main" id="{7C039CF5-F243-409A-A959-8384A1D43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8" y="3312"/>
                  <a:ext cx="233" cy="2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035" name="Object 82">
                  <a:extLst>
                    <a:ext uri="{FF2B5EF4-FFF2-40B4-BE49-F238E27FC236}">
                      <a16:creationId xmlns:a16="http://schemas.microsoft.com/office/drawing/2014/main" id="{C8830CE2-65C1-43DE-BDB9-B4E15D9A3480}"/>
                    </a:ext>
                  </a:extLst>
                </p:cNvPr>
                <p:cNvSpPr txBox="1"/>
                <p:nvPr/>
              </p:nvSpPr>
              <p:spPr bwMode="auto">
                <a:xfrm>
                  <a:off x="4692" y="290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4035" name="Object 82">
                  <a:extLst>
                    <a:ext uri="{FF2B5EF4-FFF2-40B4-BE49-F238E27FC236}">
                      <a16:creationId xmlns:a16="http://schemas.microsoft.com/office/drawing/2014/main" id="{C8830CE2-65C1-43DE-BDB9-B4E15D9A3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92" y="2904"/>
                  <a:ext cx="233" cy="28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036" name="Line 83">
              <a:extLst>
                <a:ext uri="{FF2B5EF4-FFF2-40B4-BE49-F238E27FC236}">
                  <a16:creationId xmlns:a16="http://schemas.microsoft.com/office/drawing/2014/main" id="{90C442FF-7246-466F-9C1E-8F053EB49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" y="3072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84037" name="Line 84">
              <a:extLst>
                <a:ext uri="{FF2B5EF4-FFF2-40B4-BE49-F238E27FC236}">
                  <a16:creationId xmlns:a16="http://schemas.microsoft.com/office/drawing/2014/main" id="{A75A7A12-6DF3-41F3-BF11-44DBDA9DA4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34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84038" name="Line 85">
              <a:extLst>
                <a:ext uri="{FF2B5EF4-FFF2-40B4-BE49-F238E27FC236}">
                  <a16:creationId xmlns:a16="http://schemas.microsoft.com/office/drawing/2014/main" id="{31F4A34B-800E-4DE2-B531-C75EB9C22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1" y="3603"/>
              <a:ext cx="22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84039" name="Line 86">
              <a:extLst>
                <a:ext uri="{FF2B5EF4-FFF2-40B4-BE49-F238E27FC236}">
                  <a16:creationId xmlns:a16="http://schemas.microsoft.com/office/drawing/2014/main" id="{E1CEF132-390A-4923-A730-D9122C076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7" y="2931"/>
              <a:ext cx="22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0011" name="Object 107">
                <a:extLst>
                  <a:ext uri="{FF2B5EF4-FFF2-40B4-BE49-F238E27FC236}">
                    <a16:creationId xmlns:a16="http://schemas.microsoft.com/office/drawing/2014/main" id="{295010A7-25BD-45BE-9DA4-2D62264B2E03}"/>
                  </a:ext>
                </a:extLst>
              </p:cNvPr>
              <p:cNvSpPr txBox="1"/>
              <p:nvPr/>
            </p:nvSpPr>
            <p:spPr bwMode="auto">
              <a:xfrm>
                <a:off x="1313657" y="1935170"/>
                <a:ext cx="4392613" cy="858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0011" name="Object 107">
                <a:extLst>
                  <a:ext uri="{FF2B5EF4-FFF2-40B4-BE49-F238E27FC236}">
                    <a16:creationId xmlns:a16="http://schemas.microsoft.com/office/drawing/2014/main" id="{295010A7-25BD-45BE-9DA4-2D62264B2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3657" y="1935170"/>
                <a:ext cx="4392613" cy="858838"/>
              </a:xfrm>
              <a:prstGeom prst="rect">
                <a:avLst/>
              </a:prstGeom>
              <a:blipFill>
                <a:blip r:embed="rId15"/>
                <a:stretch>
                  <a:fillRect r="-5964" b="-184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012" name="Object 108">
                <a:extLst>
                  <a:ext uri="{FF2B5EF4-FFF2-40B4-BE49-F238E27FC236}">
                    <a16:creationId xmlns:a16="http://schemas.microsoft.com/office/drawing/2014/main" id="{2ED2EEB3-1CD7-46A4-A7DA-C763026BFA7F}"/>
                  </a:ext>
                </a:extLst>
              </p:cNvPr>
              <p:cNvSpPr txBox="1"/>
              <p:nvPr/>
            </p:nvSpPr>
            <p:spPr bwMode="auto">
              <a:xfrm>
                <a:off x="2285206" y="3057520"/>
                <a:ext cx="3262313" cy="857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0012" name="Object 108">
                <a:extLst>
                  <a:ext uri="{FF2B5EF4-FFF2-40B4-BE49-F238E27FC236}">
                    <a16:creationId xmlns:a16="http://schemas.microsoft.com/office/drawing/2014/main" id="{2ED2EEB3-1CD7-46A4-A7DA-C763026BF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5206" y="3057520"/>
                <a:ext cx="3262313" cy="857250"/>
              </a:xfrm>
              <a:prstGeom prst="rect">
                <a:avLst/>
              </a:prstGeom>
              <a:blipFill>
                <a:blip r:embed="rId16"/>
                <a:stretch>
                  <a:fillRect r="-5794" b="-18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013" name="Object 109">
                <a:extLst>
                  <a:ext uri="{FF2B5EF4-FFF2-40B4-BE49-F238E27FC236}">
                    <a16:creationId xmlns:a16="http://schemas.microsoft.com/office/drawing/2014/main" id="{C30B282A-23A2-4A48-A8C1-2EDE2329C693}"/>
                  </a:ext>
                </a:extLst>
              </p:cNvPr>
              <p:cNvSpPr txBox="1"/>
              <p:nvPr/>
            </p:nvSpPr>
            <p:spPr bwMode="auto">
              <a:xfrm>
                <a:off x="2075656" y="4178282"/>
                <a:ext cx="3294063" cy="857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0013" name="Object 109">
                <a:extLst>
                  <a:ext uri="{FF2B5EF4-FFF2-40B4-BE49-F238E27FC236}">
                    <a16:creationId xmlns:a16="http://schemas.microsoft.com/office/drawing/2014/main" id="{C30B282A-23A2-4A48-A8C1-2EDE2329C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5656" y="4178282"/>
                <a:ext cx="3294063" cy="857250"/>
              </a:xfrm>
              <a:prstGeom prst="rect">
                <a:avLst/>
              </a:prstGeom>
              <a:blipFill>
                <a:blip r:embed="rId17"/>
                <a:stretch>
                  <a:fillRect r="-5545" b="-184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F6EFBD52-EA95-4D11-B0A6-499828B5BB5F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2414588"/>
            <a:ext cx="3276600" cy="2530475"/>
            <a:chOff x="5562600" y="2195513"/>
            <a:chExt cx="3276600" cy="2530475"/>
          </a:xfrm>
        </p:grpSpPr>
        <p:grpSp>
          <p:nvGrpSpPr>
            <p:cNvPr id="83989" name="Group 143">
              <a:extLst>
                <a:ext uri="{FF2B5EF4-FFF2-40B4-BE49-F238E27FC236}">
                  <a16:creationId xmlns:a16="http://schemas.microsoft.com/office/drawing/2014/main" id="{4B8A2395-2668-436C-BB32-5364A2B6F1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8301" y="3562350"/>
              <a:ext cx="1338263" cy="960438"/>
              <a:chOff x="4232" y="2244"/>
              <a:chExt cx="843" cy="605"/>
            </a:xfrm>
          </p:grpSpPr>
          <p:grpSp>
            <p:nvGrpSpPr>
              <p:cNvPr id="84020" name="Group 142">
                <a:extLst>
                  <a:ext uri="{FF2B5EF4-FFF2-40B4-BE49-F238E27FC236}">
                    <a16:creationId xmlns:a16="http://schemas.microsoft.com/office/drawing/2014/main" id="{0CA280F0-E70A-4732-934B-EEF3F69150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32" y="2244"/>
                <a:ext cx="843" cy="384"/>
                <a:chOff x="4232" y="2244"/>
                <a:chExt cx="843" cy="384"/>
              </a:xfrm>
            </p:grpSpPr>
            <p:sp>
              <p:nvSpPr>
                <p:cNvPr id="84022" name="Oval 91">
                  <a:extLst>
                    <a:ext uri="{FF2B5EF4-FFF2-40B4-BE49-F238E27FC236}">
                      <a16:creationId xmlns:a16="http://schemas.microsoft.com/office/drawing/2014/main" id="{21D2DF81-60D6-4C25-A63C-421EA93BC5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5" y="2580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400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4023" name="Line 94">
                  <a:extLst>
                    <a:ext uri="{FF2B5EF4-FFF2-40B4-BE49-F238E27FC236}">
                      <a16:creationId xmlns:a16="http://schemas.microsoft.com/office/drawing/2014/main" id="{4E868057-515F-4CBD-B131-2FACE6FD3B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33" y="2606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84024" name="Line 97">
                  <a:extLst>
                    <a:ext uri="{FF2B5EF4-FFF2-40B4-BE49-F238E27FC236}">
                      <a16:creationId xmlns:a16="http://schemas.microsoft.com/office/drawing/2014/main" id="{ED7EDB9B-F62B-4984-A747-084660C4F0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122438">
                  <a:off x="4232" y="2244"/>
                  <a:ext cx="373" cy="361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84025" name="Line 98">
                  <a:extLst>
                    <a:ext uri="{FF2B5EF4-FFF2-40B4-BE49-F238E27FC236}">
                      <a16:creationId xmlns:a16="http://schemas.microsoft.com/office/drawing/2014/main" id="{C098D7EC-B734-411D-9838-A62FF2DD3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1457386" flipV="1">
                  <a:off x="4622" y="2244"/>
                  <a:ext cx="453" cy="363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021" name="Object 100">
                    <a:extLst>
                      <a:ext uri="{FF2B5EF4-FFF2-40B4-BE49-F238E27FC236}">
                        <a16:creationId xmlns:a16="http://schemas.microsoft.com/office/drawing/2014/main" id="{C225DAE5-C1CB-475F-A5A3-A5DD103FDDA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775" y="2607"/>
                    <a:ext cx="300" cy="24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4021" name="Object 100">
                    <a:extLst>
                      <a:ext uri="{FF2B5EF4-FFF2-40B4-BE49-F238E27FC236}">
                        <a16:creationId xmlns:a16="http://schemas.microsoft.com/office/drawing/2014/main" id="{C225DAE5-C1CB-475F-A5A3-A5DD103FDD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775" y="2607"/>
                    <a:ext cx="300" cy="24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16667" b="-158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990" name="Group 141">
              <a:extLst>
                <a:ext uri="{FF2B5EF4-FFF2-40B4-BE49-F238E27FC236}">
                  <a16:creationId xmlns:a16="http://schemas.microsoft.com/office/drawing/2014/main" id="{278827B0-B31B-4B54-BAD8-8DD3E9782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5703" y="2195513"/>
              <a:ext cx="1100138" cy="1089026"/>
              <a:chOff x="3928" y="1383"/>
              <a:chExt cx="693" cy="6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011" name="Object 99">
                    <a:extLst>
                      <a:ext uri="{FF2B5EF4-FFF2-40B4-BE49-F238E27FC236}">
                        <a16:creationId xmlns:a16="http://schemas.microsoft.com/office/drawing/2014/main" id="{F3886AC7-5464-476F-8634-284D696923B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928" y="1685"/>
                    <a:ext cx="258" cy="2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4011" name="Object 99">
                    <a:extLst>
                      <a:ext uri="{FF2B5EF4-FFF2-40B4-BE49-F238E27FC236}">
                        <a16:creationId xmlns:a16="http://schemas.microsoft.com/office/drawing/2014/main" id="{F3886AC7-5464-476F-8634-284D696923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928" y="1685"/>
                    <a:ext cx="258" cy="2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17910" b="-158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012" name="Line 102">
                <a:extLst>
                  <a:ext uri="{FF2B5EF4-FFF2-40B4-BE49-F238E27FC236}">
                    <a16:creationId xmlns:a16="http://schemas.microsoft.com/office/drawing/2014/main" id="{9A58ADC1-0D96-46AA-B791-FC3B39D7B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370495" flipH="1" flipV="1">
                <a:off x="4459" y="1642"/>
                <a:ext cx="14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 sz="2400"/>
              </a:p>
            </p:txBody>
          </p:sp>
          <p:sp>
            <p:nvSpPr>
              <p:cNvPr id="84013" name="Line 103">
                <a:extLst>
                  <a:ext uri="{FF2B5EF4-FFF2-40B4-BE49-F238E27FC236}">
                    <a16:creationId xmlns:a16="http://schemas.microsoft.com/office/drawing/2014/main" id="{FDDE613F-2DB8-41B8-8A2E-3B5AF28D2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07" y="1659"/>
                <a:ext cx="142" cy="18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 sz="2400"/>
              </a:p>
            </p:txBody>
          </p:sp>
          <p:sp>
            <p:nvSpPr>
              <p:cNvPr id="84014" name="Line 104">
                <a:extLst>
                  <a:ext uri="{FF2B5EF4-FFF2-40B4-BE49-F238E27FC236}">
                    <a16:creationId xmlns:a16="http://schemas.microsoft.com/office/drawing/2014/main" id="{44C550DA-0548-48FD-A539-263FF849AB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31383">
                <a:off x="4326" y="1852"/>
                <a:ext cx="128" cy="217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015" name="Object 106">
                    <a:extLst>
                      <a:ext uri="{FF2B5EF4-FFF2-40B4-BE49-F238E27FC236}">
                        <a16:creationId xmlns:a16="http://schemas.microsoft.com/office/drawing/2014/main" id="{F3344D4A-8DF4-40D0-ADAC-1439AB866D9E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034" y="1383"/>
                    <a:ext cx="27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/>
                  </a:p>
                </p:txBody>
              </p:sp>
            </mc:Choice>
            <mc:Fallback xmlns="">
              <p:sp>
                <p:nvSpPr>
                  <p:cNvPr id="84015" name="Object 106">
                    <a:extLst>
                      <a:ext uri="{FF2B5EF4-FFF2-40B4-BE49-F238E27FC236}">
                        <a16:creationId xmlns:a16="http://schemas.microsoft.com/office/drawing/2014/main" id="{F3344D4A-8DF4-40D0-ADAC-1439AB866D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34" y="1383"/>
                    <a:ext cx="276" cy="25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31944" b="-13846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016" name="Line 125">
                <a:extLst>
                  <a:ext uri="{FF2B5EF4-FFF2-40B4-BE49-F238E27FC236}">
                    <a16:creationId xmlns:a16="http://schemas.microsoft.com/office/drawing/2014/main" id="{AC1BDDA9-F3B0-432A-A226-555679E31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1" y="1616"/>
                <a:ext cx="0" cy="2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17" name="Line 140">
                <a:extLst>
                  <a:ext uri="{FF2B5EF4-FFF2-40B4-BE49-F238E27FC236}">
                    <a16:creationId xmlns:a16="http://schemas.microsoft.com/office/drawing/2014/main" id="{1DD66C9B-FD2B-4EB4-8338-AB37E3A80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96" y="1852"/>
                <a:ext cx="31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18" name="Line 129">
                <a:extLst>
                  <a:ext uri="{FF2B5EF4-FFF2-40B4-BE49-F238E27FC236}">
                    <a16:creationId xmlns:a16="http://schemas.microsoft.com/office/drawing/2014/main" id="{F903FC84-A16D-4B33-A0BA-13B37A2D6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7" y="1643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19" name="Line 137">
                <a:extLst>
                  <a:ext uri="{FF2B5EF4-FFF2-40B4-BE49-F238E27FC236}">
                    <a16:creationId xmlns:a16="http://schemas.microsoft.com/office/drawing/2014/main" id="{568EC3B9-D64C-491D-97BD-245D02BB9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9" y="1652"/>
                <a:ext cx="0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 sz="2400"/>
              </a:p>
            </p:txBody>
          </p:sp>
        </p:grpSp>
        <p:grpSp>
          <p:nvGrpSpPr>
            <p:cNvPr id="83991" name="Group 139">
              <a:extLst>
                <a:ext uri="{FF2B5EF4-FFF2-40B4-BE49-F238E27FC236}">
                  <a16:creationId xmlns:a16="http://schemas.microsoft.com/office/drawing/2014/main" id="{B5B75D25-8D2B-40EB-B6E8-051AF7EE7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349500"/>
              <a:ext cx="3276600" cy="2376488"/>
              <a:chOff x="3504" y="1480"/>
              <a:chExt cx="2064" cy="1497"/>
            </a:xfrm>
          </p:grpSpPr>
          <p:sp>
            <p:nvSpPr>
              <p:cNvPr id="83992" name="Rectangle 88">
                <a:extLst>
                  <a:ext uri="{FF2B5EF4-FFF2-40B4-BE49-F238E27FC236}">
                    <a16:creationId xmlns:a16="http://schemas.microsoft.com/office/drawing/2014/main" id="{AFA78DBE-FB63-4641-96A4-C37F41AB5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218"/>
                <a:ext cx="2064" cy="48"/>
              </a:xfrm>
              <a:prstGeom prst="rect">
                <a:avLst/>
              </a:prstGeom>
              <a:solidFill>
                <a:srgbClr val="C7C7C7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3993" name="Rectangle 89">
                <a:extLst>
                  <a:ext uri="{FF2B5EF4-FFF2-40B4-BE49-F238E27FC236}">
                    <a16:creationId xmlns:a16="http://schemas.microsoft.com/office/drawing/2014/main" id="{B3562655-EA3C-44BD-A6CC-AFA56C609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218"/>
                <a:ext cx="96" cy="48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3994" name="Rectangle 90">
                <a:extLst>
                  <a:ext uri="{FF2B5EF4-FFF2-40B4-BE49-F238E27FC236}">
                    <a16:creationId xmlns:a16="http://schemas.microsoft.com/office/drawing/2014/main" id="{7279E1C8-63A3-467B-A0C7-D815B0BC17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9" y="2218"/>
                <a:ext cx="96" cy="48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3995" name="Oval 92">
                <a:extLst>
                  <a:ext uri="{FF2B5EF4-FFF2-40B4-BE49-F238E27FC236}">
                    <a16:creationId xmlns:a16="http://schemas.microsoft.com/office/drawing/2014/main" id="{EB269F4E-8F45-437D-8367-634E67180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183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3996" name="Line 95">
                <a:extLst>
                  <a:ext uri="{FF2B5EF4-FFF2-40B4-BE49-F238E27FC236}">
                    <a16:creationId xmlns:a16="http://schemas.microsoft.com/office/drawing/2014/main" id="{883ED489-3AA6-4F30-AB17-E16294C4C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882"/>
                <a:ext cx="384" cy="336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3997" name="Line 96">
                <a:extLst>
                  <a:ext uri="{FF2B5EF4-FFF2-40B4-BE49-F238E27FC236}">
                    <a16:creationId xmlns:a16="http://schemas.microsoft.com/office/drawing/2014/main" id="{3E6C8420-6D72-43AA-8E6D-BFE0919A0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41" y="1862"/>
                <a:ext cx="387" cy="346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3998" name="Line 101">
                <a:extLst>
                  <a:ext uri="{FF2B5EF4-FFF2-40B4-BE49-F238E27FC236}">
                    <a16:creationId xmlns:a16="http://schemas.microsoft.com/office/drawing/2014/main" id="{CD4AE9AF-52C6-4FEE-84B7-4174AC083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2" y="1850"/>
                <a:ext cx="182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999" name="Object 105">
                    <a:extLst>
                      <a:ext uri="{FF2B5EF4-FFF2-40B4-BE49-F238E27FC236}">
                        <a16:creationId xmlns:a16="http://schemas.microsoft.com/office/drawing/2014/main" id="{C5127C8D-8832-445C-AB6E-A30A52A31EC7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213" y="1993"/>
                    <a:ext cx="27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3999" name="Object 105">
                    <a:extLst>
                      <a:ext uri="{FF2B5EF4-FFF2-40B4-BE49-F238E27FC236}">
                        <a16:creationId xmlns:a16="http://schemas.microsoft.com/office/drawing/2014/main" id="{C5127C8D-8832-445C-AB6E-A30A52A31E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13" y="1993"/>
                    <a:ext cx="276" cy="24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33333" b="-13846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000" name="Oval 114">
                <a:extLst>
                  <a:ext uri="{FF2B5EF4-FFF2-40B4-BE49-F238E27FC236}">
                    <a16:creationId xmlns:a16="http://schemas.microsoft.com/office/drawing/2014/main" id="{D21A1F0D-B69D-4C65-B0CB-3585060CE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1" y="2161"/>
                <a:ext cx="136" cy="409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4001" name="Oval 115">
                <a:extLst>
                  <a:ext uri="{FF2B5EF4-FFF2-40B4-BE49-F238E27FC236}">
                    <a16:creationId xmlns:a16="http://schemas.microsoft.com/office/drawing/2014/main" id="{A96AD31E-FCFA-4B1A-B4AD-1D4B0B36B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68" y="2158"/>
                <a:ext cx="44" cy="40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4002" name="Oval 118">
                <a:extLst>
                  <a:ext uri="{FF2B5EF4-FFF2-40B4-BE49-F238E27FC236}">
                    <a16:creationId xmlns:a16="http://schemas.microsoft.com/office/drawing/2014/main" id="{B439C1BB-4727-4291-8A14-5938DFF47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8" y="2158"/>
                <a:ext cx="136" cy="409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4003" name="Oval 119">
                <a:extLst>
                  <a:ext uri="{FF2B5EF4-FFF2-40B4-BE49-F238E27FC236}">
                    <a16:creationId xmlns:a16="http://schemas.microsoft.com/office/drawing/2014/main" id="{2AC074D9-7150-4C99-907D-FE2488952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075" y="2155"/>
                <a:ext cx="44" cy="409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84004" name="Line 122">
                <a:extLst>
                  <a:ext uri="{FF2B5EF4-FFF2-40B4-BE49-F238E27FC236}">
                    <a16:creationId xmlns:a16="http://schemas.microsoft.com/office/drawing/2014/main" id="{5F031BD1-610C-448F-9EBB-39A2D206A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3" y="1480"/>
                <a:ext cx="0" cy="14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05" name="Line 124">
                <a:extLst>
                  <a:ext uri="{FF2B5EF4-FFF2-40B4-BE49-F238E27FC236}">
                    <a16:creationId xmlns:a16="http://schemas.microsoft.com/office/drawing/2014/main" id="{29BB8274-4FFF-45F5-BD0D-0C7B974D0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8" y="1851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06" name="Line 126">
                <a:extLst>
                  <a:ext uri="{FF2B5EF4-FFF2-40B4-BE49-F238E27FC236}">
                    <a16:creationId xmlns:a16="http://schemas.microsoft.com/office/drawing/2014/main" id="{75998904-825D-449B-804B-0095872AB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2" y="1851"/>
                <a:ext cx="0" cy="2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07" name="Line 128">
                <a:extLst>
                  <a:ext uri="{FF2B5EF4-FFF2-40B4-BE49-F238E27FC236}">
                    <a16:creationId xmlns:a16="http://schemas.microsoft.com/office/drawing/2014/main" id="{5D8961CD-3EEF-4723-996D-A3E887DA8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7" y="2069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08" name="Arc 133">
                <a:extLst>
                  <a:ext uri="{FF2B5EF4-FFF2-40B4-BE49-F238E27FC236}">
                    <a16:creationId xmlns:a16="http://schemas.microsoft.com/office/drawing/2014/main" id="{1C7AC9C7-1855-441A-AE92-9B1A17037DCB}"/>
                  </a:ext>
                </a:extLst>
              </p:cNvPr>
              <p:cNvSpPr>
                <a:spLocks/>
              </p:cNvSpPr>
              <p:nvPr/>
            </p:nvSpPr>
            <p:spPr bwMode="auto">
              <a:xfrm rot="19725271" flipH="1">
                <a:off x="4531" y="1752"/>
                <a:ext cx="50" cy="291"/>
              </a:xfrm>
              <a:custGeom>
                <a:avLst/>
                <a:gdLst>
                  <a:gd name="T0" fmla="*/ 0 w 22302"/>
                  <a:gd name="T1" fmla="*/ 0 h 21600"/>
                  <a:gd name="T2" fmla="*/ 50 w 22302"/>
                  <a:gd name="T3" fmla="*/ 91 h 21600"/>
                  <a:gd name="T4" fmla="*/ 2 w 22302"/>
                  <a:gd name="T5" fmla="*/ 9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302" h="21600" fill="none" extrusionOk="0">
                    <a:moveTo>
                      <a:pt x="0" y="11"/>
                    </a:moveTo>
                    <a:cubicBezTo>
                      <a:pt x="233" y="3"/>
                      <a:pt x="467" y="-1"/>
                      <a:pt x="702" y="0"/>
                    </a:cubicBezTo>
                    <a:cubicBezTo>
                      <a:pt x="12631" y="0"/>
                      <a:pt x="22302" y="9670"/>
                      <a:pt x="22302" y="21600"/>
                    </a:cubicBezTo>
                  </a:path>
                  <a:path w="22302" h="21600" stroke="0" extrusionOk="0">
                    <a:moveTo>
                      <a:pt x="0" y="11"/>
                    </a:moveTo>
                    <a:cubicBezTo>
                      <a:pt x="233" y="3"/>
                      <a:pt x="467" y="-1"/>
                      <a:pt x="702" y="0"/>
                    </a:cubicBezTo>
                    <a:cubicBezTo>
                      <a:pt x="12631" y="0"/>
                      <a:pt x="22302" y="9670"/>
                      <a:pt x="22302" y="21600"/>
                    </a:cubicBezTo>
                    <a:lnTo>
                      <a:pt x="702" y="21600"/>
                    </a:lnTo>
                    <a:lnTo>
                      <a:pt x="0" y="11"/>
                    </a:lnTo>
                    <a:close/>
                  </a:path>
                </a:pathLst>
              </a:cu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09" name="Arc 135">
                <a:extLst>
                  <a:ext uri="{FF2B5EF4-FFF2-40B4-BE49-F238E27FC236}">
                    <a16:creationId xmlns:a16="http://schemas.microsoft.com/office/drawing/2014/main" id="{6FC93337-B903-4BD9-8E9D-6BE59CA4D33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613" y="1794"/>
                <a:ext cx="116" cy="291"/>
              </a:xfrm>
              <a:custGeom>
                <a:avLst/>
                <a:gdLst>
                  <a:gd name="T0" fmla="*/ 0 w 21600"/>
                  <a:gd name="T1" fmla="*/ 0 h 21600"/>
                  <a:gd name="T2" fmla="*/ 90 w 21600"/>
                  <a:gd name="T3" fmla="*/ 46 h 21600"/>
                  <a:gd name="T4" fmla="*/ 0 w 21600"/>
                  <a:gd name="T5" fmla="*/ 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 sz="2400"/>
              </a:p>
            </p:txBody>
          </p:sp>
          <p:sp>
            <p:nvSpPr>
              <p:cNvPr id="84010" name="Line 138">
                <a:extLst>
                  <a:ext uri="{FF2B5EF4-FFF2-40B4-BE49-F238E27FC236}">
                    <a16:creationId xmlns:a16="http://schemas.microsoft.com/office/drawing/2014/main" id="{FD6E081D-DC25-4DA1-9722-45D05C01A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9" y="1842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4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11" grpId="0"/>
      <p:bldP spid="379912" grpId="0"/>
      <p:bldP spid="379966" grpId="0"/>
      <p:bldP spid="380011" grpId="0"/>
      <p:bldP spid="380012" grpId="0"/>
      <p:bldP spid="3800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内容占位符 10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858" y="1857980"/>
            <a:ext cx="2410182" cy="2300628"/>
          </a:xfrm>
        </p:spPr>
      </p:pic>
      <p:pic>
        <p:nvPicPr>
          <p:cNvPr id="52229" name="Picture 15" descr="C:\My Documents\XXX8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09"/>
          <a:stretch/>
        </p:blipFill>
        <p:spPr bwMode="auto">
          <a:xfrm>
            <a:off x="1762045" y="1133901"/>
            <a:ext cx="3855459" cy="1761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63">
            <a:extLst>
              <a:ext uri="{FF2B5EF4-FFF2-40B4-BE49-F238E27FC236}">
                <a16:creationId xmlns:a16="http://schemas.microsoft.com/office/drawing/2014/main" id="{49EEA384-7E3E-4E6B-BED6-3D6A73214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5" y="402077"/>
            <a:ext cx="58726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通电螺绕环的磁场分布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808EB5A-D055-49F4-A66A-C3B74498A90B}"/>
                  </a:ext>
                </a:extLst>
              </p:cNvPr>
              <p:cNvSpPr/>
              <p:nvPr/>
            </p:nvSpPr>
            <p:spPr>
              <a:xfrm>
                <a:off x="6820085" y="983585"/>
                <a:ext cx="4379725" cy="6594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对称性分析：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线为同心圆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808EB5A-D055-49F4-A66A-C3B74498A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085" y="983585"/>
                <a:ext cx="4379725" cy="659411"/>
              </a:xfrm>
              <a:prstGeom prst="rect">
                <a:avLst/>
              </a:prstGeom>
              <a:blipFill>
                <a:blip r:embed="rId4"/>
                <a:stretch>
                  <a:fillRect l="-2925" r="-1393" b="-24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2D9DB42-EF6D-4772-9239-1EE40BB03AA6}"/>
              </a:ext>
            </a:extLst>
          </p:cNvPr>
          <p:cNvSpPr/>
          <p:nvPr/>
        </p:nvSpPr>
        <p:spPr>
          <a:xfrm>
            <a:off x="1119287" y="4261330"/>
            <a:ext cx="3416320" cy="6124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选同心圆闭合回路：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E094BF5-0A0A-44A5-861E-DBE9D5E2A44B}"/>
                  </a:ext>
                </a:extLst>
              </p:cNvPr>
              <p:cNvSpPr/>
              <p:nvPr/>
            </p:nvSpPr>
            <p:spPr>
              <a:xfrm>
                <a:off x="1277287" y="4505300"/>
                <a:ext cx="1919436" cy="14005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28600" lvl="0" indent="-228600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E094BF5-0A0A-44A5-861E-DBE9D5E2A4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287" y="4505300"/>
                <a:ext cx="1919436" cy="1400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85F55AB-BB2A-47D2-B11F-EB55E8277D55}"/>
                  </a:ext>
                </a:extLst>
              </p:cNvPr>
              <p:cNvSpPr/>
              <p:nvPr/>
            </p:nvSpPr>
            <p:spPr>
              <a:xfrm>
                <a:off x="2570590" y="5794388"/>
                <a:ext cx="1830566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𝑁𝐼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85F55AB-BB2A-47D2-B11F-EB55E8277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590" y="5794388"/>
                <a:ext cx="1830566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048DD8CA-69F3-426E-BD0B-FCCA05A39128}"/>
              </a:ext>
            </a:extLst>
          </p:cNvPr>
          <p:cNvSpPr txBox="1"/>
          <p:nvPr/>
        </p:nvSpPr>
        <p:spPr>
          <a:xfrm>
            <a:off x="1494512" y="3008294"/>
            <a:ext cx="4720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环管轴线半径为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，环上均匀密绕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匝线圈，通有电流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F7C9774-F971-441B-8927-FF40036802E9}"/>
                  </a:ext>
                </a:extLst>
              </p:cNvPr>
              <p:cNvSpPr/>
              <p:nvPr/>
            </p:nvSpPr>
            <p:spPr>
              <a:xfrm>
                <a:off x="2928896" y="5113233"/>
                <a:ext cx="14706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kumimoji="1"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𝑟𝐵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F7C9774-F971-441B-8927-FF40036802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896" y="5113233"/>
                <a:ext cx="147065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118580D-D3AD-426A-96C5-CC022893F4DB}"/>
                  </a:ext>
                </a:extLst>
              </p:cNvPr>
              <p:cNvSpPr/>
              <p:nvPr/>
            </p:nvSpPr>
            <p:spPr>
              <a:xfrm>
                <a:off x="4217315" y="5072486"/>
                <a:ext cx="147110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𝑁𝐼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118580D-D3AD-426A-96C5-CC022893F4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315" y="5072486"/>
                <a:ext cx="147110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E5D30F1-E560-4727-A442-843C7FAC0A83}"/>
                  </a:ext>
                </a:extLst>
              </p:cNvPr>
              <p:cNvSpPr/>
              <p:nvPr/>
            </p:nvSpPr>
            <p:spPr>
              <a:xfrm>
                <a:off x="6820086" y="5074800"/>
                <a:ext cx="4379725" cy="11690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𝑟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时，有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𝑛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type m:val="lin"/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𝑁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𝜋</m:t>
                        </m:r>
                        <m:r>
                          <a:rPr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𝑛𝐼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E5D30F1-E560-4727-A442-843C7FAC0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086" y="5074800"/>
                <a:ext cx="4379725" cy="1169038"/>
              </a:xfrm>
              <a:prstGeom prst="rect">
                <a:avLst/>
              </a:prstGeom>
              <a:blipFill>
                <a:blip r:embed="rId9"/>
                <a:stretch>
                  <a:fillRect l="-6964" r="-6825" b="-1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22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13" grpId="0"/>
      <p:bldP spid="14" grpId="0"/>
      <p:bldP spid="16" grpId="0"/>
      <p:bldP spid="19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9"/>
              <p:cNvSpPr>
                <a:spLocks noChangeArrowheads="1"/>
              </p:cNvSpPr>
              <p:nvPr/>
            </p:nvSpPr>
            <p:spPr bwMode="auto">
              <a:xfrm>
                <a:off x="6268294" y="3214925"/>
                <a:ext cx="5547690" cy="6747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外部磁感强度趋于零 ，即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altLang="zh-CN" sz="2800" b="1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18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8294" y="3214925"/>
                <a:ext cx="5547690" cy="674736"/>
              </a:xfrm>
              <a:prstGeom prst="rect">
                <a:avLst/>
              </a:prstGeom>
              <a:blipFill>
                <a:blip r:embed="rId2"/>
                <a:stretch>
                  <a:fillRect l="-2198" b="-243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63">
            <a:extLst>
              <a:ext uri="{FF2B5EF4-FFF2-40B4-BE49-F238E27FC236}">
                <a16:creationId xmlns:a16="http://schemas.microsoft.com/office/drawing/2014/main" id="{9BCA0433-B163-4137-855A-736E9DD9E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49413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通电螺绕环的磁场分布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7FB089B3-B876-47ED-AA8E-7F17D1885DEC}"/>
                  </a:ext>
                </a:extLst>
              </p:cNvPr>
              <p:cNvSpPr txBox="1"/>
              <p:nvPr/>
            </p:nvSpPr>
            <p:spPr bwMode="auto">
              <a:xfrm>
                <a:off x="765185" y="3957849"/>
                <a:ext cx="8703304" cy="920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7FB089B3-B876-47ED-AA8E-7F17D1885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185" y="3957849"/>
                <a:ext cx="8703304" cy="920750"/>
              </a:xfrm>
              <a:prstGeom prst="rect">
                <a:avLst/>
              </a:prstGeom>
              <a:blipFill>
                <a:blip r:embed="rId3"/>
                <a:stretch>
                  <a:fillRect b="-105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5ED2E475-7129-4C9A-93CF-EE01F737E998}"/>
                  </a:ext>
                </a:extLst>
              </p:cNvPr>
              <p:cNvSpPr txBox="1"/>
              <p:nvPr/>
            </p:nvSpPr>
            <p:spPr bwMode="auto">
              <a:xfrm>
                <a:off x="5343759" y="5371379"/>
                <a:ext cx="2205037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5ED2E475-7129-4C9A-93CF-EE01F737E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3759" y="5371379"/>
                <a:ext cx="2205037" cy="939800"/>
              </a:xfrm>
              <a:prstGeom prst="rect">
                <a:avLst/>
              </a:prstGeom>
              <a:blipFill>
                <a:blip r:embed="rId4"/>
                <a:stretch>
                  <a:fillRect b="-77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A917AB02-4CD5-4C56-A268-841350893B92}"/>
                  </a:ext>
                </a:extLst>
              </p:cNvPr>
              <p:cNvSpPr txBox="1"/>
              <p:nvPr/>
            </p:nvSpPr>
            <p:spPr bwMode="auto">
              <a:xfrm>
                <a:off x="974384" y="5459991"/>
                <a:ext cx="3951287" cy="925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A917AB02-4CD5-4C56-A268-841350893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4384" y="5459991"/>
                <a:ext cx="3951287" cy="925512"/>
              </a:xfrm>
              <a:prstGeom prst="rect">
                <a:avLst/>
              </a:prstGeom>
              <a:blipFill>
                <a:blip r:embed="rId5"/>
                <a:stretch>
                  <a:fillRect b="-529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5" descr="f30_19">
            <a:extLst>
              <a:ext uri="{FF2B5EF4-FFF2-40B4-BE49-F238E27FC236}">
                <a16:creationId xmlns:a16="http://schemas.microsoft.com/office/drawing/2014/main" id="{FA3FD3BA-495E-49F8-A081-38A085B8C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069" y="741506"/>
            <a:ext cx="5113338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F7AC7A14-0976-4DE9-8EBE-C0160054161D}"/>
                  </a:ext>
                </a:extLst>
              </p:cNvPr>
              <p:cNvSpPr txBox="1"/>
              <p:nvPr/>
            </p:nvSpPr>
            <p:spPr bwMode="auto">
              <a:xfrm>
                <a:off x="8299714" y="5101933"/>
                <a:ext cx="3244850" cy="947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F7AC7A14-0976-4DE9-8EBE-C01600541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9714" y="5101933"/>
                <a:ext cx="3244850" cy="947738"/>
              </a:xfrm>
              <a:prstGeom prst="rect">
                <a:avLst/>
              </a:prstGeom>
              <a:blipFill>
                <a:blip r:embed="rId7"/>
                <a:stretch>
                  <a:fillRect b="-70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453FA433-E756-4676-BBC0-EB448BE0C882}"/>
                  </a:ext>
                </a:extLst>
              </p:cNvPr>
              <p:cNvSpPr txBox="1"/>
              <p:nvPr/>
            </p:nvSpPr>
            <p:spPr bwMode="auto">
              <a:xfrm>
                <a:off x="9688777" y="6273005"/>
                <a:ext cx="1281113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453FA433-E756-4676-BBC0-EB448BE0C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88777" y="6273005"/>
                <a:ext cx="1281113" cy="520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Solenoid - Javatpoint">
            <a:extLst>
              <a:ext uri="{FF2B5EF4-FFF2-40B4-BE49-F238E27FC236}">
                <a16:creationId xmlns:a16="http://schemas.microsoft.com/office/drawing/2014/main" id="{9FCBEA2E-34BE-4B4B-BC9B-5BED65975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16"/>
          <a:stretch/>
        </p:blipFill>
        <p:spPr bwMode="auto">
          <a:xfrm>
            <a:off x="1440096" y="1176904"/>
            <a:ext cx="3903663" cy="208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07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7" grpId="0"/>
      <p:bldP spid="10" grpId="0"/>
      <p:bldP spid="11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9"/>
              <p:cNvSpPr>
                <a:spLocks noChangeArrowheads="1"/>
              </p:cNvSpPr>
              <p:nvPr/>
            </p:nvSpPr>
            <p:spPr bwMode="auto">
              <a:xfrm>
                <a:off x="6268294" y="3214925"/>
                <a:ext cx="5547690" cy="6747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外部磁感强度趋于零 ，即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altLang="zh-CN" sz="2800" b="1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18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8294" y="3214925"/>
                <a:ext cx="5547690" cy="674736"/>
              </a:xfrm>
              <a:prstGeom prst="rect">
                <a:avLst/>
              </a:prstGeom>
              <a:blipFill>
                <a:blip r:embed="rId2"/>
                <a:stretch>
                  <a:fillRect l="-2198" b="-243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63">
            <a:extLst>
              <a:ext uri="{FF2B5EF4-FFF2-40B4-BE49-F238E27FC236}">
                <a16:creationId xmlns:a16="http://schemas.microsoft.com/office/drawing/2014/main" id="{9BCA0433-B163-4137-855A-736E9DD9E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49413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通电螺绕环的磁场分布</a:t>
            </a:r>
          </a:p>
        </p:txBody>
      </p:sp>
      <p:pic>
        <p:nvPicPr>
          <p:cNvPr id="12" name="Picture 5" descr="f30_19">
            <a:extLst>
              <a:ext uri="{FF2B5EF4-FFF2-40B4-BE49-F238E27FC236}">
                <a16:creationId xmlns:a16="http://schemas.microsoft.com/office/drawing/2014/main" id="{FA3FD3BA-495E-49F8-A081-38A085B8C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069" y="741506"/>
            <a:ext cx="5113338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F7AC7A14-0976-4DE9-8EBE-C0160054161D}"/>
                  </a:ext>
                </a:extLst>
              </p:cNvPr>
              <p:cNvSpPr txBox="1"/>
              <p:nvPr/>
            </p:nvSpPr>
            <p:spPr bwMode="auto">
              <a:xfrm>
                <a:off x="1213114" y="4136733"/>
                <a:ext cx="3244850" cy="947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F7AC7A14-0976-4DE9-8EBE-C01600541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3114" y="4136733"/>
                <a:ext cx="3244850" cy="947738"/>
              </a:xfrm>
              <a:prstGeom prst="rect">
                <a:avLst/>
              </a:prstGeom>
              <a:blipFill>
                <a:blip r:embed="rId4"/>
                <a:stretch>
                  <a:fillRect b="-70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453FA433-E756-4676-BBC0-EB448BE0C882}"/>
                  </a:ext>
                </a:extLst>
              </p:cNvPr>
              <p:cNvSpPr txBox="1"/>
              <p:nvPr/>
            </p:nvSpPr>
            <p:spPr bwMode="auto">
              <a:xfrm>
                <a:off x="4354777" y="4427272"/>
                <a:ext cx="1281113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453FA433-E756-4676-BBC0-EB448BE0C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4777" y="4427272"/>
                <a:ext cx="1281113" cy="520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Solenoid - Javatpoint">
            <a:extLst>
              <a:ext uri="{FF2B5EF4-FFF2-40B4-BE49-F238E27FC236}">
                <a16:creationId xmlns:a16="http://schemas.microsoft.com/office/drawing/2014/main" id="{9FCBEA2E-34BE-4B4B-BC9B-5BED65975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16"/>
          <a:stretch/>
        </p:blipFill>
        <p:spPr bwMode="auto">
          <a:xfrm>
            <a:off x="1440096" y="1176904"/>
            <a:ext cx="3903663" cy="208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E3B47EB4-39BA-4DF4-A63A-AA7A63C23B11}"/>
                  </a:ext>
                </a:extLst>
              </p:cNvPr>
              <p:cNvSpPr txBox="1"/>
              <p:nvPr/>
            </p:nvSpPr>
            <p:spPr bwMode="auto">
              <a:xfrm>
                <a:off x="7599627" y="4483677"/>
                <a:ext cx="2774950" cy="673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E3B47EB4-39BA-4DF4-A63A-AA7A63C2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9627" y="4483677"/>
                <a:ext cx="2774950" cy="673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5A407C71-02BE-45F0-A9A7-8310D19576DA}"/>
                  </a:ext>
                </a:extLst>
              </p:cNvPr>
              <p:cNvSpPr txBox="1"/>
              <p:nvPr/>
            </p:nvSpPr>
            <p:spPr bwMode="auto">
              <a:xfrm>
                <a:off x="4830377" y="4366538"/>
                <a:ext cx="3062287" cy="869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5A407C71-02BE-45F0-A9A7-8310D1957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0377" y="4366538"/>
                <a:ext cx="3062287" cy="8699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2FB62088-EF72-4C4A-ABF1-35872C8429E2}"/>
                  </a:ext>
                </a:extLst>
              </p:cNvPr>
              <p:cNvSpPr txBox="1"/>
              <p:nvPr/>
            </p:nvSpPr>
            <p:spPr bwMode="auto">
              <a:xfrm>
                <a:off x="2632872" y="5736364"/>
                <a:ext cx="2967037" cy="666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2FB62088-EF72-4C4A-ABF1-35872C842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2872" y="5736364"/>
                <a:ext cx="2967037" cy="6667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150C3EEB-3476-4308-A04E-0E685B3A9191}"/>
                  </a:ext>
                </a:extLst>
              </p:cNvPr>
              <p:cNvSpPr txBox="1"/>
              <p:nvPr/>
            </p:nvSpPr>
            <p:spPr bwMode="auto">
              <a:xfrm>
                <a:off x="6587065" y="5736364"/>
                <a:ext cx="1751012" cy="657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i="1" dirty="0"/>
                  <a:t>I</a:t>
                </a:r>
              </a:p>
            </p:txBody>
          </p:sp>
        </mc:Choice>
        <mc:Fallback xmlns="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150C3EEB-3476-4308-A04E-0E685B3A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7065" y="5736364"/>
                <a:ext cx="1751012" cy="657225"/>
              </a:xfrm>
              <a:prstGeom prst="rect">
                <a:avLst/>
              </a:prstGeom>
              <a:blipFill>
                <a:blip r:embed="rId10"/>
                <a:stretch>
                  <a:fillRect t="-9259" b="-46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90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72">
            <a:extLst>
              <a:ext uri="{FF2B5EF4-FFF2-40B4-BE49-F238E27FC236}">
                <a16:creationId xmlns:a16="http://schemas.microsoft.com/office/drawing/2014/main" id="{9D3646B3-C6D1-4507-9114-C477D3AD6FA7}"/>
              </a:ext>
            </a:extLst>
          </p:cNvPr>
          <p:cNvGrpSpPr>
            <a:grpSpLocks/>
          </p:cNvGrpSpPr>
          <p:nvPr/>
        </p:nvGrpSpPr>
        <p:grpSpPr bwMode="auto">
          <a:xfrm>
            <a:off x="6210776" y="2152334"/>
            <a:ext cx="4038600" cy="2801939"/>
            <a:chOff x="0" y="1344"/>
            <a:chExt cx="2544" cy="1765"/>
          </a:xfrm>
        </p:grpSpPr>
        <p:sp>
          <p:nvSpPr>
            <p:cNvPr id="12" name="Line 73">
              <a:extLst>
                <a:ext uri="{FF2B5EF4-FFF2-40B4-BE49-F238E27FC236}">
                  <a16:creationId xmlns:a16="http://schemas.microsoft.com/office/drawing/2014/main" id="{424AD2E6-F502-44FB-A6A3-04B15C05CD1C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392" y="1536"/>
              <a:ext cx="0" cy="38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" name="Line 74">
              <a:extLst>
                <a:ext uri="{FF2B5EF4-FFF2-40B4-BE49-F238E27FC236}">
                  <a16:creationId xmlns:a16="http://schemas.microsoft.com/office/drawing/2014/main" id="{31666597-1E59-464B-A4D7-57438C4B917A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584" y="1536"/>
              <a:ext cx="0" cy="38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" name="Line 75">
              <a:extLst>
                <a:ext uri="{FF2B5EF4-FFF2-40B4-BE49-F238E27FC236}">
                  <a16:creationId xmlns:a16="http://schemas.microsoft.com/office/drawing/2014/main" id="{D9F59676-813F-4920-90A2-FA164C04D2F9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>
              <a:off x="384" y="1728"/>
              <a:ext cx="1008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" name="Line 76">
              <a:extLst>
                <a:ext uri="{FF2B5EF4-FFF2-40B4-BE49-F238E27FC236}">
                  <a16:creationId xmlns:a16="http://schemas.microsoft.com/office/drawing/2014/main" id="{2A2F06BC-97CB-46D7-ADF0-367B31133BAB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1728"/>
              <a:ext cx="0" cy="336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6" name="Line 77">
              <a:extLst>
                <a:ext uri="{FF2B5EF4-FFF2-40B4-BE49-F238E27FC236}">
                  <a16:creationId xmlns:a16="http://schemas.microsoft.com/office/drawing/2014/main" id="{9A9ACFDF-800E-4FFB-A208-7486C2F581D8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2640"/>
              <a:ext cx="624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7" name="Line 78">
              <a:extLst>
                <a:ext uri="{FF2B5EF4-FFF2-40B4-BE49-F238E27FC236}">
                  <a16:creationId xmlns:a16="http://schemas.microsoft.com/office/drawing/2014/main" id="{6828078E-6CD8-4C51-8695-1AEA9A965552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008" y="2448"/>
              <a:ext cx="0" cy="38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8" name="Line 79">
              <a:extLst>
                <a:ext uri="{FF2B5EF4-FFF2-40B4-BE49-F238E27FC236}">
                  <a16:creationId xmlns:a16="http://schemas.microsoft.com/office/drawing/2014/main" id="{0C123CFE-840A-42E5-9E5A-79AEEB484CB0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104" y="2544"/>
              <a:ext cx="0" cy="192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" name="Line 80">
              <a:extLst>
                <a:ext uri="{FF2B5EF4-FFF2-40B4-BE49-F238E27FC236}">
                  <a16:creationId xmlns:a16="http://schemas.microsoft.com/office/drawing/2014/main" id="{FAA8E471-656C-4A04-A1B3-6344F656666A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104" y="2640"/>
              <a:ext cx="672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0" name="Rectangle 81">
              <a:extLst>
                <a:ext uri="{FF2B5EF4-FFF2-40B4-BE49-F238E27FC236}">
                  <a16:creationId xmlns:a16="http://schemas.microsoft.com/office/drawing/2014/main" id="{925F8944-1E89-41E1-B728-BA1CADC30DCD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1776" y="2592"/>
              <a:ext cx="384" cy="9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kumimoji="1" lang="zh-CN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21" name="Line 82">
              <a:extLst>
                <a:ext uri="{FF2B5EF4-FFF2-40B4-BE49-F238E27FC236}">
                  <a16:creationId xmlns:a16="http://schemas.microsoft.com/office/drawing/2014/main" id="{2545CEE8-AA71-4B26-AA7F-5717797ABB58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2160" y="2640"/>
              <a:ext cx="384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" name="Line 83">
              <a:extLst>
                <a:ext uri="{FF2B5EF4-FFF2-40B4-BE49-F238E27FC236}">
                  <a16:creationId xmlns:a16="http://schemas.microsoft.com/office/drawing/2014/main" id="{6891453E-DABB-4972-9998-22427B68CA2C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2544" y="1728"/>
              <a:ext cx="0" cy="912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3" name="Line 84">
              <a:extLst>
                <a:ext uri="{FF2B5EF4-FFF2-40B4-BE49-F238E27FC236}">
                  <a16:creationId xmlns:a16="http://schemas.microsoft.com/office/drawing/2014/main" id="{B39F0C58-7322-4528-94DE-25BB85908506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>
              <a:off x="1584" y="1728"/>
              <a:ext cx="96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4" name="Line 85">
              <a:extLst>
                <a:ext uri="{FF2B5EF4-FFF2-40B4-BE49-F238E27FC236}">
                  <a16:creationId xmlns:a16="http://schemas.microsoft.com/office/drawing/2014/main" id="{116D6762-2964-4889-859D-A86136D50DCF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2304"/>
              <a:ext cx="0" cy="336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" name="Line 86">
              <a:extLst>
                <a:ext uri="{FF2B5EF4-FFF2-40B4-BE49-F238E27FC236}">
                  <a16:creationId xmlns:a16="http://schemas.microsoft.com/office/drawing/2014/main" id="{A110411D-227B-4A17-89AE-06CECE8E03A4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 flipV="1">
              <a:off x="192" y="2016"/>
              <a:ext cx="192" cy="288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6" name="Arc 87">
              <a:extLst>
                <a:ext uri="{FF2B5EF4-FFF2-40B4-BE49-F238E27FC236}">
                  <a16:creationId xmlns:a16="http://schemas.microsoft.com/office/drawing/2014/main" id="{53859224-C3A3-4929-B9EC-E6F583E9DD67}"/>
                </a:ext>
              </a:extLst>
            </p:cNvPr>
            <p:cNvSpPr>
              <a:spLocks/>
            </p:cNvSpPr>
            <p:nvPr/>
          </p:nvSpPr>
          <p:spPr bwMode="black">
            <a:xfrm flipH="1">
              <a:off x="96" y="1920"/>
              <a:ext cx="196" cy="144"/>
            </a:xfrm>
            <a:custGeom>
              <a:avLst/>
              <a:gdLst>
                <a:gd name="T0" fmla="*/ 0 w 29354"/>
                <a:gd name="T1" fmla="*/ 0 h 21600"/>
                <a:gd name="T2" fmla="*/ 0 w 29354"/>
                <a:gd name="T3" fmla="*/ 0 h 21600"/>
                <a:gd name="T4" fmla="*/ 0 w 29354"/>
                <a:gd name="T5" fmla="*/ 0 h 21600"/>
                <a:gd name="T6" fmla="*/ 0 60000 65536"/>
                <a:gd name="T7" fmla="*/ 0 60000 65536"/>
                <a:gd name="T8" fmla="*/ 0 60000 65536"/>
                <a:gd name="T9" fmla="*/ 0 w 29354"/>
                <a:gd name="T10" fmla="*/ 0 h 21600"/>
                <a:gd name="T11" fmla="*/ 29354 w 2935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54" h="21600" fill="none" extrusionOk="0">
                  <a:moveTo>
                    <a:pt x="-1" y="1439"/>
                  </a:moveTo>
                  <a:cubicBezTo>
                    <a:pt x="2474" y="488"/>
                    <a:pt x="5102" y="-1"/>
                    <a:pt x="7754" y="0"/>
                  </a:cubicBezTo>
                  <a:cubicBezTo>
                    <a:pt x="19683" y="0"/>
                    <a:pt x="29354" y="9670"/>
                    <a:pt x="29354" y="21600"/>
                  </a:cubicBezTo>
                </a:path>
                <a:path w="29354" h="21600" stroke="0" extrusionOk="0">
                  <a:moveTo>
                    <a:pt x="-1" y="1439"/>
                  </a:moveTo>
                  <a:cubicBezTo>
                    <a:pt x="2474" y="488"/>
                    <a:pt x="5102" y="-1"/>
                    <a:pt x="7754" y="0"/>
                  </a:cubicBezTo>
                  <a:cubicBezTo>
                    <a:pt x="19683" y="0"/>
                    <a:pt x="29354" y="9670"/>
                    <a:pt x="29354" y="21600"/>
                  </a:cubicBezTo>
                  <a:lnTo>
                    <a:pt x="7754" y="21600"/>
                  </a:lnTo>
                  <a:close/>
                </a:path>
              </a:pathLst>
            </a:custGeom>
            <a:noFill/>
            <a:ln w="38100">
              <a:solidFill>
                <a:srgbClr val="0066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27" name="Text Box 88">
              <a:extLst>
                <a:ext uri="{FF2B5EF4-FFF2-40B4-BE49-F238E27FC236}">
                  <a16:creationId xmlns:a16="http://schemas.microsoft.com/office/drawing/2014/main" id="{ABBE46AB-ACEF-4CAD-9E89-D852A4217A11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0" y="2016"/>
              <a:ext cx="4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8" name="Text Box 89">
              <a:extLst>
                <a:ext uri="{FF2B5EF4-FFF2-40B4-BE49-F238E27FC236}">
                  <a16:creationId xmlns:a16="http://schemas.microsoft.com/office/drawing/2014/main" id="{D31D1346-B5F9-4F2B-9D8F-B97E148C4CF8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824" y="2640"/>
              <a:ext cx="4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9" name="Text Box 90">
              <a:extLst>
                <a:ext uri="{FF2B5EF4-FFF2-40B4-BE49-F238E27FC236}">
                  <a16:creationId xmlns:a16="http://schemas.microsoft.com/office/drawing/2014/main" id="{D19A7CAE-B49B-4DFB-8A75-38795267D8F6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960" y="2799"/>
              <a:ext cx="48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kumimoji="1" lang="en-US" altLang="zh-CN" sz="260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91">
              <a:extLst>
                <a:ext uri="{FF2B5EF4-FFF2-40B4-BE49-F238E27FC236}">
                  <a16:creationId xmlns:a16="http://schemas.microsoft.com/office/drawing/2014/main" id="{53349F9E-8BAC-4CFC-9B8B-6DE99342A52A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584" y="1344"/>
              <a:ext cx="4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" name="Line 92">
              <a:extLst>
                <a:ext uri="{FF2B5EF4-FFF2-40B4-BE49-F238E27FC236}">
                  <a16:creationId xmlns:a16="http://schemas.microsoft.com/office/drawing/2014/main" id="{9E8FC70F-1E62-49E3-BCC7-1C9FFFA3A701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1728"/>
              <a:ext cx="24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2" name="Text Box 93">
              <a:extLst>
                <a:ext uri="{FF2B5EF4-FFF2-40B4-BE49-F238E27FC236}">
                  <a16:creationId xmlns:a16="http://schemas.microsoft.com/office/drawing/2014/main" id="{996C9D7A-A693-4156-8DE2-2C67A0590EF3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384" y="1344"/>
              <a:ext cx="4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33" name="Group 66">
            <a:extLst>
              <a:ext uri="{FF2B5EF4-FFF2-40B4-BE49-F238E27FC236}">
                <a16:creationId xmlns:a16="http://schemas.microsoft.com/office/drawing/2014/main" id="{90B22CE7-D7C3-4F1A-B8C7-9D2716498C0C}"/>
              </a:ext>
            </a:extLst>
          </p:cNvPr>
          <p:cNvGrpSpPr>
            <a:grpSpLocks/>
          </p:cNvGrpSpPr>
          <p:nvPr/>
        </p:nvGrpSpPr>
        <p:grpSpPr bwMode="auto">
          <a:xfrm>
            <a:off x="7658576" y="1390333"/>
            <a:ext cx="1752600" cy="2298700"/>
            <a:chOff x="912" y="864"/>
            <a:chExt cx="1104" cy="1448"/>
          </a:xfrm>
        </p:grpSpPr>
        <p:grpSp>
          <p:nvGrpSpPr>
            <p:cNvPr id="34" name="Group 67">
              <a:extLst>
                <a:ext uri="{FF2B5EF4-FFF2-40B4-BE49-F238E27FC236}">
                  <a16:creationId xmlns:a16="http://schemas.microsoft.com/office/drawing/2014/main" id="{98CD218C-F9F3-429A-99E0-7F910194A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104"/>
              <a:ext cx="576" cy="1208"/>
              <a:chOff x="1152" y="1344"/>
              <a:chExt cx="576" cy="1208"/>
            </a:xfrm>
          </p:grpSpPr>
          <p:sp>
            <p:nvSpPr>
              <p:cNvPr id="37" name="Freeform 68">
                <a:extLst>
                  <a:ext uri="{FF2B5EF4-FFF2-40B4-BE49-F238E27FC236}">
                    <a16:creationId xmlns:a16="http://schemas.microsoft.com/office/drawing/2014/main" id="{A23C210B-C819-463E-B712-5156FA04F772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1152" y="1344"/>
                <a:ext cx="576" cy="680"/>
              </a:xfrm>
              <a:custGeom>
                <a:avLst/>
                <a:gdLst>
                  <a:gd name="T0" fmla="*/ 0 w 576"/>
                  <a:gd name="T1" fmla="*/ 409 h 536"/>
                  <a:gd name="T2" fmla="*/ 480 w 576"/>
                  <a:gd name="T3" fmla="*/ 114 h 536"/>
                  <a:gd name="T4" fmla="*/ 576 w 576"/>
                  <a:gd name="T5" fmla="*/ 1095 h 536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536"/>
                  <a:gd name="T11" fmla="*/ 576 w 576"/>
                  <a:gd name="T12" fmla="*/ 536 h 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536">
                    <a:moveTo>
                      <a:pt x="0" y="200"/>
                    </a:moveTo>
                    <a:cubicBezTo>
                      <a:pt x="192" y="100"/>
                      <a:pt x="384" y="0"/>
                      <a:pt x="480" y="56"/>
                    </a:cubicBezTo>
                    <a:cubicBezTo>
                      <a:pt x="576" y="112"/>
                      <a:pt x="576" y="324"/>
                      <a:pt x="576" y="536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endParaRPr kumimoji="1" lang="zh-CN" altLang="zh-CN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Freeform 69">
                <a:extLst>
                  <a:ext uri="{FF2B5EF4-FFF2-40B4-BE49-F238E27FC236}">
                    <a16:creationId xmlns:a16="http://schemas.microsoft.com/office/drawing/2014/main" id="{BB972F8B-4D9B-4CD4-B443-2F9DC8BCA32A}"/>
                  </a:ext>
                </a:extLst>
              </p:cNvPr>
              <p:cNvSpPr>
                <a:spLocks/>
              </p:cNvSpPr>
              <p:nvPr/>
            </p:nvSpPr>
            <p:spPr bwMode="black">
              <a:xfrm flipV="1">
                <a:off x="1152" y="2016"/>
                <a:ext cx="576" cy="536"/>
              </a:xfrm>
              <a:custGeom>
                <a:avLst/>
                <a:gdLst>
                  <a:gd name="T0" fmla="*/ 0 w 576"/>
                  <a:gd name="T1" fmla="*/ 200 h 536"/>
                  <a:gd name="T2" fmla="*/ 480 w 576"/>
                  <a:gd name="T3" fmla="*/ 56 h 536"/>
                  <a:gd name="T4" fmla="*/ 576 w 576"/>
                  <a:gd name="T5" fmla="*/ 536 h 536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536"/>
                  <a:gd name="T11" fmla="*/ 576 w 576"/>
                  <a:gd name="T12" fmla="*/ 536 h 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536">
                    <a:moveTo>
                      <a:pt x="0" y="200"/>
                    </a:moveTo>
                    <a:cubicBezTo>
                      <a:pt x="192" y="100"/>
                      <a:pt x="384" y="0"/>
                      <a:pt x="480" y="56"/>
                    </a:cubicBezTo>
                    <a:cubicBezTo>
                      <a:pt x="576" y="112"/>
                      <a:pt x="576" y="324"/>
                      <a:pt x="576" y="536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>
                <a:lvl1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endParaRPr kumimoji="1" lang="zh-CN" altLang="zh-CN" sz="240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35" name="Text Box 70">
              <a:extLst>
                <a:ext uri="{FF2B5EF4-FFF2-40B4-BE49-F238E27FC236}">
                  <a16:creationId xmlns:a16="http://schemas.microsoft.com/office/drawing/2014/main" id="{F2E46F9D-99D2-41C7-B044-4C849D609F67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488" y="864"/>
              <a:ext cx="52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" name="Line 71">
              <a:extLst>
                <a:ext uri="{FF2B5EF4-FFF2-40B4-BE49-F238E27FC236}">
                  <a16:creationId xmlns:a16="http://schemas.microsoft.com/office/drawing/2014/main" id="{58CF8B7E-B0D8-4FC9-8EA4-D3C37AAF4D9E}"/>
                </a:ext>
              </a:extLst>
            </p:cNvPr>
            <p:cNvSpPr>
              <a:spLocks noChangeShapeType="1"/>
            </p:cNvSpPr>
            <p:nvPr/>
          </p:nvSpPr>
          <p:spPr bwMode="black">
            <a:xfrm flipV="1">
              <a:off x="1344" y="1104"/>
              <a:ext cx="144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9" name="Group 94">
            <a:extLst>
              <a:ext uri="{FF2B5EF4-FFF2-40B4-BE49-F238E27FC236}">
                <a16:creationId xmlns:a16="http://schemas.microsoft.com/office/drawing/2014/main" id="{8B1BFEE7-84A4-44EC-9B65-63DEA112386F}"/>
              </a:ext>
            </a:extLst>
          </p:cNvPr>
          <p:cNvGrpSpPr>
            <a:grpSpLocks/>
          </p:cNvGrpSpPr>
          <p:nvPr/>
        </p:nvGrpSpPr>
        <p:grpSpPr bwMode="auto">
          <a:xfrm>
            <a:off x="7125176" y="1390334"/>
            <a:ext cx="1295400" cy="1971675"/>
            <a:chOff x="576" y="864"/>
            <a:chExt cx="816" cy="1242"/>
          </a:xfrm>
        </p:grpSpPr>
        <p:sp>
          <p:nvSpPr>
            <p:cNvPr id="40" name="Text Box 95">
              <a:extLst>
                <a:ext uri="{FF2B5EF4-FFF2-40B4-BE49-F238E27FC236}">
                  <a16:creationId xmlns:a16="http://schemas.microsoft.com/office/drawing/2014/main" id="{F0966C7D-EFC4-4A9F-B48E-AC0077C04D5D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576" y="864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1" name="Line 96">
              <a:extLst>
                <a:ext uri="{FF2B5EF4-FFF2-40B4-BE49-F238E27FC236}">
                  <a16:creationId xmlns:a16="http://schemas.microsoft.com/office/drawing/2014/main" id="{F0147E13-E7F7-46AF-AAED-70487EAC196D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720" y="1248"/>
              <a:ext cx="192" cy="336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2" name="Arc 97">
              <a:extLst>
                <a:ext uri="{FF2B5EF4-FFF2-40B4-BE49-F238E27FC236}">
                  <a16:creationId xmlns:a16="http://schemas.microsoft.com/office/drawing/2014/main" id="{C4B5CA9F-5C05-4879-8773-085B521AF5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816" y="1344"/>
              <a:ext cx="197" cy="762"/>
            </a:xfrm>
            <a:custGeom>
              <a:avLst/>
              <a:gdLst>
                <a:gd name="T0" fmla="*/ 0 w 43123"/>
                <a:gd name="T1" fmla="*/ 0 h 43200"/>
                <a:gd name="T2" fmla="*/ 0 w 43123"/>
                <a:gd name="T3" fmla="*/ 0 h 43200"/>
                <a:gd name="T4" fmla="*/ 0 w 43123"/>
                <a:gd name="T5" fmla="*/ 0 h 43200"/>
                <a:gd name="T6" fmla="*/ 0 60000 65536"/>
                <a:gd name="T7" fmla="*/ 0 60000 65536"/>
                <a:gd name="T8" fmla="*/ 0 60000 65536"/>
                <a:gd name="T9" fmla="*/ 0 w 43123"/>
                <a:gd name="T10" fmla="*/ 0 h 43200"/>
                <a:gd name="T11" fmla="*/ 43123 w 4312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23" h="43200" fill="none" extrusionOk="0">
                  <a:moveTo>
                    <a:pt x="141" y="18536"/>
                  </a:moveTo>
                  <a:cubicBezTo>
                    <a:pt x="1665" y="7899"/>
                    <a:pt x="10777" y="-1"/>
                    <a:pt x="21523" y="0"/>
                  </a:cubicBezTo>
                  <a:cubicBezTo>
                    <a:pt x="33452" y="0"/>
                    <a:pt x="43123" y="9670"/>
                    <a:pt x="43123" y="21600"/>
                  </a:cubicBezTo>
                  <a:cubicBezTo>
                    <a:pt x="43123" y="33529"/>
                    <a:pt x="33452" y="43200"/>
                    <a:pt x="21523" y="43200"/>
                  </a:cubicBezTo>
                  <a:cubicBezTo>
                    <a:pt x="10301" y="43200"/>
                    <a:pt x="948" y="34606"/>
                    <a:pt x="0" y="23424"/>
                  </a:cubicBezTo>
                </a:path>
                <a:path w="43123" h="43200" stroke="0" extrusionOk="0">
                  <a:moveTo>
                    <a:pt x="141" y="18536"/>
                  </a:moveTo>
                  <a:cubicBezTo>
                    <a:pt x="1665" y="7899"/>
                    <a:pt x="10777" y="-1"/>
                    <a:pt x="21523" y="0"/>
                  </a:cubicBezTo>
                  <a:cubicBezTo>
                    <a:pt x="33452" y="0"/>
                    <a:pt x="43123" y="9670"/>
                    <a:pt x="43123" y="21600"/>
                  </a:cubicBezTo>
                  <a:cubicBezTo>
                    <a:pt x="43123" y="33529"/>
                    <a:pt x="33452" y="43200"/>
                    <a:pt x="21523" y="43200"/>
                  </a:cubicBezTo>
                  <a:cubicBezTo>
                    <a:pt x="10301" y="43200"/>
                    <a:pt x="948" y="34606"/>
                    <a:pt x="0" y="23424"/>
                  </a:cubicBezTo>
                  <a:lnTo>
                    <a:pt x="21523" y="2160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43" name="Line 98">
              <a:extLst>
                <a:ext uri="{FF2B5EF4-FFF2-40B4-BE49-F238E27FC236}">
                  <a16:creationId xmlns:a16="http://schemas.microsoft.com/office/drawing/2014/main" id="{43F25DCE-19E0-4EA9-B32A-85941E6F778E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984" y="1506"/>
              <a:ext cx="24" cy="15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4" name="Text Box 99">
              <a:extLst>
                <a:ext uri="{FF2B5EF4-FFF2-40B4-BE49-F238E27FC236}">
                  <a16:creationId xmlns:a16="http://schemas.microsoft.com/office/drawing/2014/main" id="{041799CF-83AB-4B74-96BE-84B9FC7DA63E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008" y="1296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45" name="Text Box 64">
            <a:extLst>
              <a:ext uri="{FF2B5EF4-FFF2-40B4-BE49-F238E27FC236}">
                <a16:creationId xmlns:a16="http://schemas.microsoft.com/office/drawing/2014/main" id="{8542366B-996E-4E82-9552-A93F9ECB230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895339" y="4915873"/>
            <a:ext cx="48005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zh-CN" altLang="en-US" sz="2800" dirty="0">
                <a:latin typeface="+mn-lt"/>
                <a:ea typeface="+mj-ea"/>
              </a:rPr>
              <a:t>电容器充电时</a:t>
            </a:r>
            <a:r>
              <a:rPr kumimoji="1" lang="en-US" altLang="zh-CN" sz="2800" dirty="0">
                <a:latin typeface="+mn-lt"/>
                <a:ea typeface="+mj-ea"/>
              </a:rPr>
              <a:t>,</a:t>
            </a:r>
            <a:r>
              <a:rPr kumimoji="1" lang="zh-CN" altLang="en-US" sz="2800" dirty="0">
                <a:latin typeface="+mn-lt"/>
                <a:ea typeface="+mj-ea"/>
              </a:rPr>
              <a:t>电流非闭合：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54">
                <a:extLst>
                  <a:ext uri="{FF2B5EF4-FFF2-40B4-BE49-F238E27FC236}">
                    <a16:creationId xmlns:a16="http://schemas.microsoft.com/office/drawing/2014/main" id="{D1D12E8C-966E-4B48-AAA9-F03E261D9ED8}"/>
                  </a:ext>
                </a:extLst>
              </p:cNvPr>
              <p:cNvSpPr txBox="1"/>
              <p:nvPr/>
            </p:nvSpPr>
            <p:spPr bwMode="auto">
              <a:xfrm>
                <a:off x="7506176" y="5626760"/>
                <a:ext cx="2755900" cy="1055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𝐶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𝐵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=?</m:t>
                          </m:r>
                        </m:e>
                      </m:nary>
                    </m:oMath>
                  </m:oMathPara>
                </a14:m>
                <a:endParaRPr lang="zh-CN" altLang="en-US" sz="2800" dirty="0">
                  <a:ea typeface="+mj-ea"/>
                </a:endParaRPr>
              </a:p>
            </p:txBody>
          </p:sp>
        </mc:Choice>
        <mc:Fallback xmlns="">
          <p:sp>
            <p:nvSpPr>
              <p:cNvPr id="46" name="Object 54">
                <a:extLst>
                  <a:ext uri="{FF2B5EF4-FFF2-40B4-BE49-F238E27FC236}">
                    <a16:creationId xmlns:a16="http://schemas.microsoft.com/office/drawing/2014/main" id="{D1D12E8C-966E-4B48-AAA9-F03E261D9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06176" y="5626760"/>
                <a:ext cx="2755900" cy="1055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内容占位符 3">
                <a:extLst>
                  <a:ext uri="{FF2B5EF4-FFF2-40B4-BE49-F238E27FC236}">
                    <a16:creationId xmlns:a16="http://schemas.microsoft.com/office/drawing/2014/main" id="{AA89AFA7-8EE5-4E44-B650-4E1D96889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7956" y="2053317"/>
                <a:ext cx="5141084" cy="2618381"/>
              </a:xfrm>
            </p:spPr>
            <p:txBody>
              <a:bodyPr>
                <a:noAutofit/>
              </a:bodyPr>
              <a:lstStyle/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在恒定电流的磁场中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:</a:t>
                </a:r>
              </a:p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:endParaRPr kumimoji="1" lang="en-US" altLang="zh-CN" i="1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8" name="内容占位符 3">
                <a:extLst>
                  <a:ext uri="{FF2B5EF4-FFF2-40B4-BE49-F238E27FC236}">
                    <a16:creationId xmlns:a16="http://schemas.microsoft.com/office/drawing/2014/main" id="{AA89AFA7-8EE5-4E44-B650-4E1D96889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7956" y="2053317"/>
                <a:ext cx="5141084" cy="2618381"/>
              </a:xfrm>
              <a:blipFill>
                <a:blip r:embed="rId3"/>
                <a:stretch>
                  <a:fillRect l="-2372" t="-1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Box 63">
            <a:extLst>
              <a:ext uri="{FF2B5EF4-FFF2-40B4-BE49-F238E27FC236}">
                <a16:creationId xmlns:a16="http://schemas.microsoft.com/office/drawing/2014/main" id="{DE7E2223-4A2E-49B5-809A-5EE58DB13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5750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与变化电场相联系的磁场</a:t>
            </a:r>
          </a:p>
        </p:txBody>
      </p:sp>
    </p:spTree>
    <p:extLst>
      <p:ext uri="{BB962C8B-B14F-4D97-AF65-F5344CB8AC3E}">
        <p14:creationId xmlns:p14="http://schemas.microsoft.com/office/powerpoint/2010/main" val="28794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6" grpId="0"/>
      <p:bldP spid="4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0E37803-F93C-4913-8293-63D170A3EEBB}"/>
              </a:ext>
            </a:extLst>
          </p:cNvPr>
          <p:cNvSpPr/>
          <p:nvPr/>
        </p:nvSpPr>
        <p:spPr>
          <a:xfrm>
            <a:off x="1569582" y="1357709"/>
            <a:ext cx="8922327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8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1861</a:t>
            </a:r>
            <a:r>
              <a:rPr kumimoji="1" lang="zh-CN" altLang="en-US" sz="28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年，麦克斯韦假设电场的变化与磁场相联系</a:t>
            </a:r>
            <a:endParaRPr lang="en-US" altLang="zh-CN" sz="280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4FAD16E-23CF-4C50-83C5-470BE41F6EAE}"/>
                  </a:ext>
                </a:extLst>
              </p:cNvPr>
              <p:cNvSpPr/>
              <p:nvPr/>
            </p:nvSpPr>
            <p:spPr>
              <a:xfrm>
                <a:off x="4257448" y="3103972"/>
                <a:ext cx="3321743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𝜺</m:t>
                          </m:r>
                        </m:e>
                        <m:sub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ctrlPr>
                            <a:rPr kumimoji="1"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𝒅𝒕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15"/>
                            </m:rPr>
                            <a:rPr kumimoji="1"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4FAD16E-23CF-4C50-83C5-470BE41F6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448" y="3103972"/>
                <a:ext cx="3321743" cy="1222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4A27F1D-EB76-465E-822E-5E4389573B74}"/>
                  </a:ext>
                </a:extLst>
              </p:cNvPr>
              <p:cNvSpPr/>
              <p:nvPr/>
            </p:nvSpPr>
            <p:spPr>
              <a:xfrm>
                <a:off x="1411788" y="3078021"/>
                <a:ext cx="3062505" cy="1098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kumimoji="1"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r>
                            <a:rPr kumimoji="1"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4A27F1D-EB76-465E-822E-5E4389573B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88" y="3078021"/>
                <a:ext cx="3062505" cy="1098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8043CB26-9A3B-41BC-ABF1-B179343AD160}"/>
              </a:ext>
            </a:extLst>
          </p:cNvPr>
          <p:cNvSpPr/>
          <p:nvPr/>
        </p:nvSpPr>
        <p:spPr>
          <a:xfrm>
            <a:off x="2711273" y="2210611"/>
            <a:ext cx="2339102" cy="6735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1C1C1C"/>
                </a:solidFill>
                <a:latin typeface="华文楷体" panose="02010600040101010101" pitchFamily="2" charset="-122"/>
              </a:rPr>
              <a:t>无电流有电场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D2AF32-0937-4621-BACC-507ADD70B38B}"/>
              </a:ext>
            </a:extLst>
          </p:cNvPr>
          <p:cNvSpPr txBox="1"/>
          <p:nvPr/>
        </p:nvSpPr>
        <p:spPr>
          <a:xfrm>
            <a:off x="3533732" y="5768843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变化的电场产生磁场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4D8894E-BF8D-457F-9DCD-9A4F8FE763CB}"/>
                  </a:ext>
                </a:extLst>
              </p:cNvPr>
              <p:cNvSpPr/>
              <p:nvPr/>
            </p:nvSpPr>
            <p:spPr>
              <a:xfrm>
                <a:off x="4331913" y="4352437"/>
                <a:ext cx="3301288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𝜺</m:t>
                          </m:r>
                        </m:e>
                        <m:sub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kumimoji="1"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m:rPr>
                              <m:brk m:alnAt="15"/>
                            </m:rPr>
                            <a:rPr kumimoji="1"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4D8894E-BF8D-457F-9DCD-9A4F8FE76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913" y="4352437"/>
                <a:ext cx="3301288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63">
            <a:extLst>
              <a:ext uri="{FF2B5EF4-FFF2-40B4-BE49-F238E27FC236}">
                <a16:creationId xmlns:a16="http://schemas.microsoft.com/office/drawing/2014/main" id="{06C25290-DAD1-426B-A7AD-C0540FB19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5750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与变化电场相联系的磁场</a:t>
            </a:r>
          </a:p>
        </p:txBody>
      </p:sp>
      <p:grpSp>
        <p:nvGrpSpPr>
          <p:cNvPr id="16" name="Group 72">
            <a:extLst>
              <a:ext uri="{FF2B5EF4-FFF2-40B4-BE49-F238E27FC236}">
                <a16:creationId xmlns:a16="http://schemas.microsoft.com/office/drawing/2014/main" id="{EEA01F88-0512-4AB1-AF35-A4BFAA15A8C3}"/>
              </a:ext>
            </a:extLst>
          </p:cNvPr>
          <p:cNvGrpSpPr>
            <a:grpSpLocks/>
          </p:cNvGrpSpPr>
          <p:nvPr/>
        </p:nvGrpSpPr>
        <p:grpSpPr bwMode="auto">
          <a:xfrm>
            <a:off x="7968456" y="2884129"/>
            <a:ext cx="4038600" cy="2801939"/>
            <a:chOff x="0" y="1344"/>
            <a:chExt cx="2544" cy="1765"/>
          </a:xfrm>
        </p:grpSpPr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1A616A5D-8AB8-4965-8831-7EAD1E52E64E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392" y="1536"/>
              <a:ext cx="0" cy="38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8" name="Line 74">
              <a:extLst>
                <a:ext uri="{FF2B5EF4-FFF2-40B4-BE49-F238E27FC236}">
                  <a16:creationId xmlns:a16="http://schemas.microsoft.com/office/drawing/2014/main" id="{ACF5B0D3-6010-4A3D-9B2F-0E776080DEE9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584" y="1536"/>
              <a:ext cx="0" cy="38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" name="Line 75">
              <a:extLst>
                <a:ext uri="{FF2B5EF4-FFF2-40B4-BE49-F238E27FC236}">
                  <a16:creationId xmlns:a16="http://schemas.microsoft.com/office/drawing/2014/main" id="{51D9D9FC-B17B-4655-BB27-A7E96E60B96C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>
              <a:off x="384" y="1728"/>
              <a:ext cx="1008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0" name="Line 76">
              <a:extLst>
                <a:ext uri="{FF2B5EF4-FFF2-40B4-BE49-F238E27FC236}">
                  <a16:creationId xmlns:a16="http://schemas.microsoft.com/office/drawing/2014/main" id="{C3250104-F924-4CCB-8D33-BA495435A6E8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1728"/>
              <a:ext cx="0" cy="336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1" name="Line 77">
              <a:extLst>
                <a:ext uri="{FF2B5EF4-FFF2-40B4-BE49-F238E27FC236}">
                  <a16:creationId xmlns:a16="http://schemas.microsoft.com/office/drawing/2014/main" id="{614A660D-1906-4EFD-B27C-F208F61A1574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2640"/>
              <a:ext cx="624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" name="Line 78">
              <a:extLst>
                <a:ext uri="{FF2B5EF4-FFF2-40B4-BE49-F238E27FC236}">
                  <a16:creationId xmlns:a16="http://schemas.microsoft.com/office/drawing/2014/main" id="{2DA113DD-9EFF-4B33-AC0C-B18B14EFB550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008" y="2448"/>
              <a:ext cx="0" cy="38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3" name="Line 79">
              <a:extLst>
                <a:ext uri="{FF2B5EF4-FFF2-40B4-BE49-F238E27FC236}">
                  <a16:creationId xmlns:a16="http://schemas.microsoft.com/office/drawing/2014/main" id="{139A2BD8-9A36-40B7-94F3-228C102825DE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104" y="2544"/>
              <a:ext cx="0" cy="192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4" name="Line 80">
              <a:extLst>
                <a:ext uri="{FF2B5EF4-FFF2-40B4-BE49-F238E27FC236}">
                  <a16:creationId xmlns:a16="http://schemas.microsoft.com/office/drawing/2014/main" id="{3C822718-C99F-4739-B56D-FF8A5D766928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1104" y="2640"/>
              <a:ext cx="672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" name="Rectangle 81">
              <a:extLst>
                <a:ext uri="{FF2B5EF4-FFF2-40B4-BE49-F238E27FC236}">
                  <a16:creationId xmlns:a16="http://schemas.microsoft.com/office/drawing/2014/main" id="{64AFE9EB-65B2-4258-BC2B-0088466191B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1776" y="2592"/>
              <a:ext cx="384" cy="9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kumimoji="1" lang="zh-CN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26" name="Line 82">
              <a:extLst>
                <a:ext uri="{FF2B5EF4-FFF2-40B4-BE49-F238E27FC236}">
                  <a16:creationId xmlns:a16="http://schemas.microsoft.com/office/drawing/2014/main" id="{4A2D4D23-5D7C-4460-B9B7-6232E061FA5B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2160" y="2640"/>
              <a:ext cx="384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7" name="Line 83">
              <a:extLst>
                <a:ext uri="{FF2B5EF4-FFF2-40B4-BE49-F238E27FC236}">
                  <a16:creationId xmlns:a16="http://schemas.microsoft.com/office/drawing/2014/main" id="{CFB52AF6-5AD2-4308-B374-750C72531662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2544" y="1728"/>
              <a:ext cx="0" cy="912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8" name="Line 84">
              <a:extLst>
                <a:ext uri="{FF2B5EF4-FFF2-40B4-BE49-F238E27FC236}">
                  <a16:creationId xmlns:a16="http://schemas.microsoft.com/office/drawing/2014/main" id="{09FB1905-68A2-43E4-8405-F8AF2F68C95A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>
              <a:off x="1584" y="1728"/>
              <a:ext cx="96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9" name="Line 85">
              <a:extLst>
                <a:ext uri="{FF2B5EF4-FFF2-40B4-BE49-F238E27FC236}">
                  <a16:creationId xmlns:a16="http://schemas.microsoft.com/office/drawing/2014/main" id="{A79EC81E-A807-4172-90A9-4EA506093868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2304"/>
              <a:ext cx="0" cy="336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0" name="Line 86">
              <a:extLst>
                <a:ext uri="{FF2B5EF4-FFF2-40B4-BE49-F238E27FC236}">
                  <a16:creationId xmlns:a16="http://schemas.microsoft.com/office/drawing/2014/main" id="{5E07E435-F392-4BF6-BB26-AB54DEC047B6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 flipV="1">
              <a:off x="192" y="2016"/>
              <a:ext cx="192" cy="288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1" name="Arc 87">
              <a:extLst>
                <a:ext uri="{FF2B5EF4-FFF2-40B4-BE49-F238E27FC236}">
                  <a16:creationId xmlns:a16="http://schemas.microsoft.com/office/drawing/2014/main" id="{E3DEFD7F-687F-4846-8CB0-C799D5F3C04A}"/>
                </a:ext>
              </a:extLst>
            </p:cNvPr>
            <p:cNvSpPr>
              <a:spLocks/>
            </p:cNvSpPr>
            <p:nvPr/>
          </p:nvSpPr>
          <p:spPr bwMode="black">
            <a:xfrm flipH="1">
              <a:off x="96" y="1920"/>
              <a:ext cx="196" cy="144"/>
            </a:xfrm>
            <a:custGeom>
              <a:avLst/>
              <a:gdLst>
                <a:gd name="T0" fmla="*/ 0 w 29354"/>
                <a:gd name="T1" fmla="*/ 0 h 21600"/>
                <a:gd name="T2" fmla="*/ 0 w 29354"/>
                <a:gd name="T3" fmla="*/ 0 h 21600"/>
                <a:gd name="T4" fmla="*/ 0 w 29354"/>
                <a:gd name="T5" fmla="*/ 0 h 21600"/>
                <a:gd name="T6" fmla="*/ 0 60000 65536"/>
                <a:gd name="T7" fmla="*/ 0 60000 65536"/>
                <a:gd name="T8" fmla="*/ 0 60000 65536"/>
                <a:gd name="T9" fmla="*/ 0 w 29354"/>
                <a:gd name="T10" fmla="*/ 0 h 21600"/>
                <a:gd name="T11" fmla="*/ 29354 w 2935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54" h="21600" fill="none" extrusionOk="0">
                  <a:moveTo>
                    <a:pt x="-1" y="1439"/>
                  </a:moveTo>
                  <a:cubicBezTo>
                    <a:pt x="2474" y="488"/>
                    <a:pt x="5102" y="-1"/>
                    <a:pt x="7754" y="0"/>
                  </a:cubicBezTo>
                  <a:cubicBezTo>
                    <a:pt x="19683" y="0"/>
                    <a:pt x="29354" y="9670"/>
                    <a:pt x="29354" y="21600"/>
                  </a:cubicBezTo>
                </a:path>
                <a:path w="29354" h="21600" stroke="0" extrusionOk="0">
                  <a:moveTo>
                    <a:pt x="-1" y="1439"/>
                  </a:moveTo>
                  <a:cubicBezTo>
                    <a:pt x="2474" y="488"/>
                    <a:pt x="5102" y="-1"/>
                    <a:pt x="7754" y="0"/>
                  </a:cubicBezTo>
                  <a:cubicBezTo>
                    <a:pt x="19683" y="0"/>
                    <a:pt x="29354" y="9670"/>
                    <a:pt x="29354" y="21600"/>
                  </a:cubicBezTo>
                  <a:lnTo>
                    <a:pt x="7754" y="21600"/>
                  </a:lnTo>
                  <a:close/>
                </a:path>
              </a:pathLst>
            </a:custGeom>
            <a:noFill/>
            <a:ln w="38100">
              <a:solidFill>
                <a:srgbClr val="0066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32" name="Text Box 88">
              <a:extLst>
                <a:ext uri="{FF2B5EF4-FFF2-40B4-BE49-F238E27FC236}">
                  <a16:creationId xmlns:a16="http://schemas.microsoft.com/office/drawing/2014/main" id="{D1C74B66-A5CF-4AB4-8766-0B6FF6E290C7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0" y="2016"/>
              <a:ext cx="4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33" name="Text Box 89">
              <a:extLst>
                <a:ext uri="{FF2B5EF4-FFF2-40B4-BE49-F238E27FC236}">
                  <a16:creationId xmlns:a16="http://schemas.microsoft.com/office/drawing/2014/main" id="{EF622885-58BD-4A02-8E69-060A66AA6982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824" y="2640"/>
              <a:ext cx="4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4" name="Text Box 90">
              <a:extLst>
                <a:ext uri="{FF2B5EF4-FFF2-40B4-BE49-F238E27FC236}">
                  <a16:creationId xmlns:a16="http://schemas.microsoft.com/office/drawing/2014/main" id="{DFC92CEF-7248-4B60-8856-0DE47B174702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960" y="2799"/>
              <a:ext cx="48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kumimoji="1" lang="en-US" altLang="zh-CN" sz="2600" dirty="0"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91">
              <a:extLst>
                <a:ext uri="{FF2B5EF4-FFF2-40B4-BE49-F238E27FC236}">
                  <a16:creationId xmlns:a16="http://schemas.microsoft.com/office/drawing/2014/main" id="{04B84368-BE38-49DB-8536-7076F0334B75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584" y="1344"/>
              <a:ext cx="4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6" name="Line 92">
              <a:extLst>
                <a:ext uri="{FF2B5EF4-FFF2-40B4-BE49-F238E27FC236}">
                  <a16:creationId xmlns:a16="http://schemas.microsoft.com/office/drawing/2014/main" id="{A21F351E-5CCF-4E99-8928-1CD3A779A9B4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" y="1728"/>
              <a:ext cx="24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7" name="Text Box 93">
              <a:extLst>
                <a:ext uri="{FF2B5EF4-FFF2-40B4-BE49-F238E27FC236}">
                  <a16:creationId xmlns:a16="http://schemas.microsoft.com/office/drawing/2014/main" id="{D7DDD9A5-AD46-4641-A36C-B41B1E584AB9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384" y="1344"/>
              <a:ext cx="4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38" name="Group 66">
            <a:extLst>
              <a:ext uri="{FF2B5EF4-FFF2-40B4-BE49-F238E27FC236}">
                <a16:creationId xmlns:a16="http://schemas.microsoft.com/office/drawing/2014/main" id="{082FF64B-A4D1-4277-A928-26E8A573305A}"/>
              </a:ext>
            </a:extLst>
          </p:cNvPr>
          <p:cNvGrpSpPr>
            <a:grpSpLocks/>
          </p:cNvGrpSpPr>
          <p:nvPr/>
        </p:nvGrpSpPr>
        <p:grpSpPr bwMode="auto">
          <a:xfrm>
            <a:off x="9416256" y="2122128"/>
            <a:ext cx="1752600" cy="2298700"/>
            <a:chOff x="912" y="864"/>
            <a:chExt cx="1104" cy="1448"/>
          </a:xfrm>
        </p:grpSpPr>
        <p:grpSp>
          <p:nvGrpSpPr>
            <p:cNvPr id="39" name="Group 67">
              <a:extLst>
                <a:ext uri="{FF2B5EF4-FFF2-40B4-BE49-F238E27FC236}">
                  <a16:creationId xmlns:a16="http://schemas.microsoft.com/office/drawing/2014/main" id="{977F9DCC-3A5C-4F09-BA06-53E84D5B96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104"/>
              <a:ext cx="576" cy="1208"/>
              <a:chOff x="1152" y="1344"/>
              <a:chExt cx="576" cy="1208"/>
            </a:xfrm>
          </p:grpSpPr>
          <p:sp>
            <p:nvSpPr>
              <p:cNvPr id="42" name="Freeform 68">
                <a:extLst>
                  <a:ext uri="{FF2B5EF4-FFF2-40B4-BE49-F238E27FC236}">
                    <a16:creationId xmlns:a16="http://schemas.microsoft.com/office/drawing/2014/main" id="{495C80EA-64C8-46CE-AFB8-494BBA5495BC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1152" y="1344"/>
                <a:ext cx="576" cy="680"/>
              </a:xfrm>
              <a:custGeom>
                <a:avLst/>
                <a:gdLst>
                  <a:gd name="T0" fmla="*/ 0 w 576"/>
                  <a:gd name="T1" fmla="*/ 409 h 536"/>
                  <a:gd name="T2" fmla="*/ 480 w 576"/>
                  <a:gd name="T3" fmla="*/ 114 h 536"/>
                  <a:gd name="T4" fmla="*/ 576 w 576"/>
                  <a:gd name="T5" fmla="*/ 1095 h 536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536"/>
                  <a:gd name="T11" fmla="*/ 576 w 576"/>
                  <a:gd name="T12" fmla="*/ 536 h 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536">
                    <a:moveTo>
                      <a:pt x="0" y="200"/>
                    </a:moveTo>
                    <a:cubicBezTo>
                      <a:pt x="192" y="100"/>
                      <a:pt x="384" y="0"/>
                      <a:pt x="480" y="56"/>
                    </a:cubicBezTo>
                    <a:cubicBezTo>
                      <a:pt x="576" y="112"/>
                      <a:pt x="576" y="324"/>
                      <a:pt x="576" y="536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endParaRPr kumimoji="1" lang="zh-CN" altLang="zh-CN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43" name="Freeform 69">
                <a:extLst>
                  <a:ext uri="{FF2B5EF4-FFF2-40B4-BE49-F238E27FC236}">
                    <a16:creationId xmlns:a16="http://schemas.microsoft.com/office/drawing/2014/main" id="{02E24775-56ED-467B-A539-85215857C640}"/>
                  </a:ext>
                </a:extLst>
              </p:cNvPr>
              <p:cNvSpPr>
                <a:spLocks/>
              </p:cNvSpPr>
              <p:nvPr/>
            </p:nvSpPr>
            <p:spPr bwMode="black">
              <a:xfrm flipV="1">
                <a:off x="1152" y="2016"/>
                <a:ext cx="576" cy="536"/>
              </a:xfrm>
              <a:custGeom>
                <a:avLst/>
                <a:gdLst>
                  <a:gd name="T0" fmla="*/ 0 w 576"/>
                  <a:gd name="T1" fmla="*/ 200 h 536"/>
                  <a:gd name="T2" fmla="*/ 480 w 576"/>
                  <a:gd name="T3" fmla="*/ 56 h 536"/>
                  <a:gd name="T4" fmla="*/ 576 w 576"/>
                  <a:gd name="T5" fmla="*/ 536 h 536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536"/>
                  <a:gd name="T11" fmla="*/ 576 w 576"/>
                  <a:gd name="T12" fmla="*/ 536 h 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536">
                    <a:moveTo>
                      <a:pt x="0" y="200"/>
                    </a:moveTo>
                    <a:cubicBezTo>
                      <a:pt x="192" y="100"/>
                      <a:pt x="384" y="0"/>
                      <a:pt x="480" y="56"/>
                    </a:cubicBezTo>
                    <a:cubicBezTo>
                      <a:pt x="576" y="112"/>
                      <a:pt x="576" y="324"/>
                      <a:pt x="576" y="536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>
                <a:lvl1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endParaRPr kumimoji="1" lang="zh-CN" altLang="zh-CN" sz="240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40" name="Text Box 70">
              <a:extLst>
                <a:ext uri="{FF2B5EF4-FFF2-40B4-BE49-F238E27FC236}">
                  <a16:creationId xmlns:a16="http://schemas.microsoft.com/office/drawing/2014/main" id="{8D69BC10-29B2-4D86-A71A-C39E3FD2D2E3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488" y="864"/>
              <a:ext cx="52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Line 71">
              <a:extLst>
                <a:ext uri="{FF2B5EF4-FFF2-40B4-BE49-F238E27FC236}">
                  <a16:creationId xmlns:a16="http://schemas.microsoft.com/office/drawing/2014/main" id="{D5408B95-2E55-4304-B04D-B8DDB4D93059}"/>
                </a:ext>
              </a:extLst>
            </p:cNvPr>
            <p:cNvSpPr>
              <a:spLocks noChangeShapeType="1"/>
            </p:cNvSpPr>
            <p:nvPr/>
          </p:nvSpPr>
          <p:spPr bwMode="black">
            <a:xfrm flipV="1">
              <a:off x="1344" y="1104"/>
              <a:ext cx="144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44" name="Group 94">
            <a:extLst>
              <a:ext uri="{FF2B5EF4-FFF2-40B4-BE49-F238E27FC236}">
                <a16:creationId xmlns:a16="http://schemas.microsoft.com/office/drawing/2014/main" id="{C2713040-44E7-462A-ADDA-56A1EF74CC96}"/>
              </a:ext>
            </a:extLst>
          </p:cNvPr>
          <p:cNvGrpSpPr>
            <a:grpSpLocks/>
          </p:cNvGrpSpPr>
          <p:nvPr/>
        </p:nvGrpSpPr>
        <p:grpSpPr bwMode="auto">
          <a:xfrm>
            <a:off x="8882856" y="2122129"/>
            <a:ext cx="1295400" cy="1971675"/>
            <a:chOff x="576" y="864"/>
            <a:chExt cx="816" cy="1242"/>
          </a:xfrm>
        </p:grpSpPr>
        <p:sp>
          <p:nvSpPr>
            <p:cNvPr id="45" name="Text Box 95">
              <a:extLst>
                <a:ext uri="{FF2B5EF4-FFF2-40B4-BE49-F238E27FC236}">
                  <a16:creationId xmlns:a16="http://schemas.microsoft.com/office/drawing/2014/main" id="{542BF569-E4A6-4446-A566-1C5FF7F9DA8B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576" y="864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Line 96">
              <a:extLst>
                <a:ext uri="{FF2B5EF4-FFF2-40B4-BE49-F238E27FC236}">
                  <a16:creationId xmlns:a16="http://schemas.microsoft.com/office/drawing/2014/main" id="{860048DA-DD80-4339-84F5-B6350682027D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720" y="1248"/>
              <a:ext cx="192" cy="336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7" name="Arc 97">
              <a:extLst>
                <a:ext uri="{FF2B5EF4-FFF2-40B4-BE49-F238E27FC236}">
                  <a16:creationId xmlns:a16="http://schemas.microsoft.com/office/drawing/2014/main" id="{86B8CCB0-311B-441B-A930-21A666817B3A}"/>
                </a:ext>
              </a:extLst>
            </p:cNvPr>
            <p:cNvSpPr>
              <a:spLocks/>
            </p:cNvSpPr>
            <p:nvPr/>
          </p:nvSpPr>
          <p:spPr bwMode="black">
            <a:xfrm>
              <a:off x="816" y="1344"/>
              <a:ext cx="197" cy="762"/>
            </a:xfrm>
            <a:custGeom>
              <a:avLst/>
              <a:gdLst>
                <a:gd name="T0" fmla="*/ 0 w 43123"/>
                <a:gd name="T1" fmla="*/ 0 h 43200"/>
                <a:gd name="T2" fmla="*/ 0 w 43123"/>
                <a:gd name="T3" fmla="*/ 0 h 43200"/>
                <a:gd name="T4" fmla="*/ 0 w 43123"/>
                <a:gd name="T5" fmla="*/ 0 h 43200"/>
                <a:gd name="T6" fmla="*/ 0 60000 65536"/>
                <a:gd name="T7" fmla="*/ 0 60000 65536"/>
                <a:gd name="T8" fmla="*/ 0 60000 65536"/>
                <a:gd name="T9" fmla="*/ 0 w 43123"/>
                <a:gd name="T10" fmla="*/ 0 h 43200"/>
                <a:gd name="T11" fmla="*/ 43123 w 4312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23" h="43200" fill="none" extrusionOk="0">
                  <a:moveTo>
                    <a:pt x="141" y="18536"/>
                  </a:moveTo>
                  <a:cubicBezTo>
                    <a:pt x="1665" y="7899"/>
                    <a:pt x="10777" y="-1"/>
                    <a:pt x="21523" y="0"/>
                  </a:cubicBezTo>
                  <a:cubicBezTo>
                    <a:pt x="33452" y="0"/>
                    <a:pt x="43123" y="9670"/>
                    <a:pt x="43123" y="21600"/>
                  </a:cubicBezTo>
                  <a:cubicBezTo>
                    <a:pt x="43123" y="33529"/>
                    <a:pt x="33452" y="43200"/>
                    <a:pt x="21523" y="43200"/>
                  </a:cubicBezTo>
                  <a:cubicBezTo>
                    <a:pt x="10301" y="43200"/>
                    <a:pt x="948" y="34606"/>
                    <a:pt x="0" y="23424"/>
                  </a:cubicBezTo>
                </a:path>
                <a:path w="43123" h="43200" stroke="0" extrusionOk="0">
                  <a:moveTo>
                    <a:pt x="141" y="18536"/>
                  </a:moveTo>
                  <a:cubicBezTo>
                    <a:pt x="1665" y="7899"/>
                    <a:pt x="10777" y="-1"/>
                    <a:pt x="21523" y="0"/>
                  </a:cubicBezTo>
                  <a:cubicBezTo>
                    <a:pt x="33452" y="0"/>
                    <a:pt x="43123" y="9670"/>
                    <a:pt x="43123" y="21600"/>
                  </a:cubicBezTo>
                  <a:cubicBezTo>
                    <a:pt x="43123" y="33529"/>
                    <a:pt x="33452" y="43200"/>
                    <a:pt x="21523" y="43200"/>
                  </a:cubicBezTo>
                  <a:cubicBezTo>
                    <a:pt x="10301" y="43200"/>
                    <a:pt x="948" y="34606"/>
                    <a:pt x="0" y="23424"/>
                  </a:cubicBezTo>
                  <a:lnTo>
                    <a:pt x="21523" y="2160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48" name="Line 98">
              <a:extLst>
                <a:ext uri="{FF2B5EF4-FFF2-40B4-BE49-F238E27FC236}">
                  <a16:creationId xmlns:a16="http://schemas.microsoft.com/office/drawing/2014/main" id="{10C5BA88-BBA4-4C55-8C26-E519860A5C39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984" y="1506"/>
              <a:ext cx="24" cy="15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9" name="Text Box 99">
              <a:extLst>
                <a:ext uri="{FF2B5EF4-FFF2-40B4-BE49-F238E27FC236}">
                  <a16:creationId xmlns:a16="http://schemas.microsoft.com/office/drawing/2014/main" id="{D29325A1-F387-48FE-B907-C4F664A7C6C7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008" y="1296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8AD0850-AF8C-4F1C-960A-08399F88F90D}"/>
                  </a:ext>
                </a:extLst>
              </p:cNvPr>
              <p:cNvSpPr/>
              <p:nvPr/>
            </p:nvSpPr>
            <p:spPr>
              <a:xfrm>
                <a:off x="1064674" y="1243622"/>
                <a:ext cx="57323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Cambria Math" panose="020405030504060302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同时存在传导电流（</a:t>
                </a:r>
                <a:r>
                  <a:rPr kumimoji="1" lang="en-US" altLang="zh-CN" sz="2800" dirty="0">
                    <a:solidFill>
                      <a:srgbClr val="0066FF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）时，有</a:t>
                </a:r>
                <a:endParaRPr kumimoji="1" lang="en-US" altLang="zh-CN" sz="2800" dirty="0">
                  <a:latin typeface="Cambria Math" panose="020405030504060302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8AD0850-AF8C-4F1C-960A-08399F88F9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74" y="1243622"/>
                <a:ext cx="5732366" cy="523220"/>
              </a:xfrm>
              <a:prstGeom prst="rect">
                <a:avLst/>
              </a:prstGeom>
              <a:blipFill>
                <a:blip r:embed="rId2"/>
                <a:stretch>
                  <a:fillRect l="-2234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E9B29B1-F7E6-4348-AE21-04AA3B01AD19}"/>
                  </a:ext>
                </a:extLst>
              </p:cNvPr>
              <p:cNvSpPr/>
              <p:nvPr/>
            </p:nvSpPr>
            <p:spPr>
              <a:xfrm>
                <a:off x="528430" y="2032275"/>
                <a:ext cx="6096000" cy="147950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nary>
                            <m:naryPr>
                              <m:chr m:val="∬"/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</m:acc>
                              <m:r>
                                <m:rPr>
                                  <m:brk m:alnAt="15"/>
                                </m:rP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</m:nary>
                        </m:e>
                      </m:d>
                    </m:oMath>
                  </m:oMathPara>
                </a14:m>
                <a:endParaRPr kumimoji="1" lang="en-US" altLang="zh-CN" sz="2800" dirty="0">
                  <a:solidFill>
                    <a:srgbClr val="0066FF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E9B29B1-F7E6-4348-AE21-04AA3B01A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30" y="2032275"/>
                <a:ext cx="6096000" cy="14795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4AF0CFE-FA14-49F9-BDFD-6361030EF072}"/>
                  </a:ext>
                </a:extLst>
              </p:cNvPr>
              <p:cNvSpPr/>
              <p:nvPr/>
            </p:nvSpPr>
            <p:spPr>
              <a:xfrm>
                <a:off x="6421120" y="2230855"/>
                <a:ext cx="4215641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4AF0CFE-FA14-49F9-BDFD-6361030EF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120" y="2230855"/>
                <a:ext cx="4215641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B11B6A3-5AC6-459A-83DA-A1F59AA829BC}"/>
                  </a:ext>
                </a:extLst>
              </p:cNvPr>
              <p:cNvSpPr/>
              <p:nvPr/>
            </p:nvSpPr>
            <p:spPr>
              <a:xfrm>
                <a:off x="2615030" y="3808978"/>
                <a:ext cx="1857945" cy="721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1" i="1" dirty="0">
                    <a:solidFill>
                      <a:srgbClr val="FF0000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kumimoji="1" lang="en-US" altLang="zh-CN" sz="2800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𝒅</m:t>
                    </m:r>
                    <m:r>
                      <a:rPr kumimoji="1" lang="en-US" altLang="zh-C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f>
                      <m:fPr>
                        <m:ctrlPr>
                          <a:rPr kumimoji="1"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kumimoji="1"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kumimoji="1"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B11B6A3-5AC6-459A-83DA-A1F59AA82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030" y="3808978"/>
                <a:ext cx="1857945" cy="721159"/>
              </a:xfrm>
              <a:prstGeom prst="rect">
                <a:avLst/>
              </a:prstGeom>
              <a:blipFill>
                <a:blip r:embed="rId5"/>
                <a:stretch>
                  <a:fillRect l="-6885" b="-9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A7C42D7E-3779-4CCF-8F8D-DD76A35B14FD}"/>
              </a:ext>
            </a:extLst>
          </p:cNvPr>
          <p:cNvSpPr/>
          <p:nvPr/>
        </p:nvSpPr>
        <p:spPr>
          <a:xfrm>
            <a:off x="909320" y="3882091"/>
            <a:ext cx="2067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位移电流</a:t>
            </a:r>
            <a:endParaRPr kumimoji="1" lang="en-US" altLang="zh-CN" sz="28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53E155-EBDE-4485-AEE0-A27191E545AE}"/>
                  </a:ext>
                </a:extLst>
              </p:cNvPr>
              <p:cNvSpPr/>
              <p:nvPr/>
            </p:nvSpPr>
            <p:spPr>
              <a:xfrm>
                <a:off x="4459324" y="3599867"/>
                <a:ext cx="2852897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53E155-EBDE-4485-AEE0-A27191E54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24" y="3599867"/>
                <a:ext cx="2852897" cy="1222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94A3A44-FAEC-4D6C-97B0-C72F26101A5F}"/>
                  </a:ext>
                </a:extLst>
              </p:cNvPr>
              <p:cNvSpPr/>
              <p:nvPr/>
            </p:nvSpPr>
            <p:spPr>
              <a:xfrm>
                <a:off x="7754565" y="3567791"/>
                <a:ext cx="1892441" cy="10104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94A3A44-FAEC-4D6C-97B0-C72F26101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565" y="3567791"/>
                <a:ext cx="1892441" cy="10104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A2FA7DA-985E-49ED-8530-378049F4E348}"/>
                  </a:ext>
                </a:extLst>
              </p:cNvPr>
              <p:cNvSpPr/>
              <p:nvPr/>
            </p:nvSpPr>
            <p:spPr>
              <a:xfrm>
                <a:off x="2683291" y="4537783"/>
                <a:ext cx="8058424" cy="16215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</m:acc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kumimoji="1" lang="en-US" altLang="zh-CN" sz="2800" dirty="0">
                  <a:solidFill>
                    <a:srgbClr val="0066FF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A2FA7DA-985E-49ED-8530-378049F4E3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291" y="4537783"/>
                <a:ext cx="8058424" cy="16215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54B2F89C-6AC2-4C8E-A3C7-6DF5A238EEC5}"/>
              </a:ext>
            </a:extLst>
          </p:cNvPr>
          <p:cNvSpPr/>
          <p:nvPr/>
        </p:nvSpPr>
        <p:spPr>
          <a:xfrm>
            <a:off x="1489296" y="5182703"/>
            <a:ext cx="14870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全电流</a:t>
            </a:r>
            <a:endParaRPr kumimoji="1" lang="en-US" altLang="zh-CN" sz="28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03A60D9-628A-4ECF-8693-E41E382931C1}"/>
                  </a:ext>
                </a:extLst>
              </p:cNvPr>
              <p:cNvSpPr/>
              <p:nvPr/>
            </p:nvSpPr>
            <p:spPr>
              <a:xfrm>
                <a:off x="2778062" y="6004177"/>
                <a:ext cx="2591159" cy="715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kumimoji="1" lang="zh-CN" altLang="en-US" sz="28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acc>
                      </m:e>
                    </m:nary>
                    <m:r>
                      <a:rPr kumimoji="1" lang="en-US" altLang="zh-CN" sz="2800" b="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kumimoji="1" lang="en-US" altLang="zh-CN" sz="2800" b="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acc>
                    <m:r>
                      <a:rPr kumimoji="1" lang="en-US" altLang="zh-CN" sz="2800" b="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0066FF"/>
                    </a:solidFill>
                  </a:rPr>
                  <a:t>I</a:t>
                </a:r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03A60D9-628A-4ECF-8693-E41E38293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062" y="6004177"/>
                <a:ext cx="2591159" cy="715004"/>
              </a:xfrm>
              <a:prstGeom prst="rect">
                <a:avLst/>
              </a:prstGeom>
              <a:blipFill>
                <a:blip r:embed="rId9"/>
                <a:stretch>
                  <a:fillRect r="-235" b="-1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63">
            <a:extLst>
              <a:ext uri="{FF2B5EF4-FFF2-40B4-BE49-F238E27FC236}">
                <a16:creationId xmlns:a16="http://schemas.microsoft.com/office/drawing/2014/main" id="{5B2F66EE-E821-455B-B784-E3C43DAF0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5750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普遍的安培环路定理</a:t>
            </a:r>
          </a:p>
        </p:txBody>
      </p:sp>
    </p:spTree>
    <p:extLst>
      <p:ext uri="{BB962C8B-B14F-4D97-AF65-F5344CB8AC3E}">
        <p14:creationId xmlns:p14="http://schemas.microsoft.com/office/powerpoint/2010/main" val="149838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506430" y="951395"/>
                <a:ext cx="8765309" cy="48819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kumimoji="1" lang="en-US" altLang="zh-CN" sz="2800" b="1" dirty="0">
                  <a:solidFill>
                    <a:srgbClr val="0000FF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sz="2800" b="1" dirty="0">
                    <a:latin typeface="Cambria Math" panose="020405030504060302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对封闭曲面</a:t>
                </a:r>
                <a:endParaRPr kumimoji="1" lang="en-US" altLang="zh-CN" sz="2800" b="1" dirty="0">
                  <a:latin typeface="Cambria Math" panose="020405030504060302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𝑰</m:t>
                      </m:r>
                      <m:r>
                        <a:rPr kumimoji="1"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𝒅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8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800" b="1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𝑬</m:t>
                                  </m:r>
                                </m:e>
                              </m:acc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𝒅𝒕</m:t>
                              </m:r>
                            </m:den>
                          </m:f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15"/>
                            </m:rPr>
                            <a:rPr kumimoji="1"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m:rPr>
                              <m:brk m:alnAt="15"/>
                            </m:rPr>
                            <a:rPr kumimoji="1"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𝒅𝒕</m:t>
                          </m:r>
                        </m:den>
                      </m:f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15"/>
                            </m:rPr>
                            <a:rPr kumimoji="1"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kumimoji="1" lang="en-US" altLang="zh-CN" sz="2800" b="1" dirty="0">
                  <a:solidFill>
                    <a:srgbClr val="0066FF"/>
                  </a:solidFill>
                  <a:latin typeface="Cambria Math" panose="020405030504060302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𝒊𝒏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𝒅𝒕</m:t>
                          </m:r>
                        </m:den>
                      </m:f>
                      <m:r>
                        <a:rPr kumimoji="1"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𝒊𝒏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𝒅𝒕</m:t>
                          </m:r>
                        </m:den>
                      </m:f>
                      <m:r>
                        <a:rPr kumimoji="1"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kumimoji="1" lang="en-US" altLang="zh-CN" sz="2800" b="1" dirty="0">
                  <a:solidFill>
                    <a:srgbClr val="0066FF"/>
                  </a:solidFill>
                  <a:latin typeface="Cambria Math" panose="020405030504060302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 algn="ctr">
                  <a:lnSpc>
                    <a:spcPct val="130000"/>
                  </a:lnSpc>
                </a:pPr>
                <a:endParaRPr kumimoji="1" lang="en-US" altLang="zh-CN" sz="2800" b="1" dirty="0">
                  <a:solidFill>
                    <a:srgbClr val="FF0000"/>
                  </a:solidFill>
                  <a:latin typeface="Cambria Math" panose="020405030504060302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 algn="ctr">
                  <a:lnSpc>
                    <a:spcPct val="130000"/>
                  </a:lnSpc>
                </a:pPr>
                <a:r>
                  <a:rPr kumimoji="1" lang="zh-CN" alt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全电流是连续的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430" y="951395"/>
                <a:ext cx="8765309" cy="4881977"/>
              </a:xfrm>
              <a:prstGeom prst="rect">
                <a:avLst/>
              </a:prstGeom>
              <a:blipFill>
                <a:blip r:embed="rId2"/>
                <a:stretch>
                  <a:fillRect l="-1391" b="-2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63">
            <a:extLst>
              <a:ext uri="{FF2B5EF4-FFF2-40B4-BE49-F238E27FC236}">
                <a16:creationId xmlns:a16="http://schemas.microsoft.com/office/drawing/2014/main" id="{D85AE643-4C21-4ADB-8EA1-59D43F8B6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5750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普遍的安培环路定理</a:t>
            </a:r>
          </a:p>
        </p:txBody>
      </p:sp>
    </p:spTree>
    <p:extLst>
      <p:ext uri="{BB962C8B-B14F-4D97-AF65-F5344CB8AC3E}">
        <p14:creationId xmlns:p14="http://schemas.microsoft.com/office/powerpoint/2010/main" val="197950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www.askamathematician.com/wp-content/uploads/2010/11/wires.jpg">
            <a:extLst>
              <a:ext uri="{FF2B5EF4-FFF2-40B4-BE49-F238E27FC236}">
                <a16:creationId xmlns:a16="http://schemas.microsoft.com/office/drawing/2014/main" id="{81578D48-7779-4247-9A0F-0FBCAB3C8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834" y="1141166"/>
            <a:ext cx="6267657" cy="55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63">
            <a:extLst>
              <a:ext uri="{FF2B5EF4-FFF2-40B4-BE49-F238E27FC236}">
                <a16:creationId xmlns:a16="http://schemas.microsoft.com/office/drawing/2014/main" id="{D0002A1D-24A4-473B-9C96-6A6A88DCE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68208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电场和磁场的相对性和统一性*</a:t>
            </a:r>
          </a:p>
        </p:txBody>
      </p:sp>
    </p:spTree>
    <p:extLst>
      <p:ext uri="{BB962C8B-B14F-4D97-AF65-F5344CB8AC3E}">
        <p14:creationId xmlns:p14="http://schemas.microsoft.com/office/powerpoint/2010/main" val="408741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6" descr="https://www.e-magnetica.pl/_media/relativistic_effects_with_current_magnetica.png">
            <a:extLst>
              <a:ext uri="{FF2B5EF4-FFF2-40B4-BE49-F238E27FC236}">
                <a16:creationId xmlns:a16="http://schemas.microsoft.com/office/drawing/2014/main" id="{01A1398D-84FA-4234-8769-63F13DC42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23"/>
          <a:stretch/>
        </p:blipFill>
        <p:spPr bwMode="auto">
          <a:xfrm>
            <a:off x="669517" y="1305962"/>
            <a:ext cx="4843637" cy="19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s://www.e-magnetica.pl/_media/relativistic_effects_with_current_magnetica.png">
            <a:extLst>
              <a:ext uri="{FF2B5EF4-FFF2-40B4-BE49-F238E27FC236}">
                <a16:creationId xmlns:a16="http://schemas.microsoft.com/office/drawing/2014/main" id="{1C3D94A3-410A-413B-92A6-A896B4698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94" b="129"/>
          <a:stretch/>
        </p:blipFill>
        <p:spPr bwMode="auto">
          <a:xfrm>
            <a:off x="6213972" y="1191269"/>
            <a:ext cx="4843637" cy="19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3710C36-D0A9-41FE-861F-01192B5C4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27" y="3643726"/>
            <a:ext cx="2200275" cy="7143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0EC302B-507A-48AA-B1C4-1BAD8923B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211" y="3642692"/>
            <a:ext cx="2286000" cy="7905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67262B2-3E98-4799-9732-8C29D6A3F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192" y="4696653"/>
            <a:ext cx="1819275" cy="914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9DF8A7F-4F1C-4126-8935-EE0683ABA8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53"/>
          <a:stretch/>
        </p:blipFill>
        <p:spPr>
          <a:xfrm>
            <a:off x="6464024" y="3469883"/>
            <a:ext cx="2888145" cy="10096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B4A6A5C-4448-4E54-9A3D-B3676EDFE29F}"/>
              </a:ext>
            </a:extLst>
          </p:cNvPr>
          <p:cNvSpPr/>
          <p:nvPr/>
        </p:nvSpPr>
        <p:spPr>
          <a:xfrm>
            <a:off x="8812144" y="3469883"/>
            <a:ext cx="574812" cy="9235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733EE6-FC33-4DFE-9823-F4F03ED55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5066123"/>
            <a:ext cx="5457825" cy="904875"/>
          </a:xfrm>
          <a:prstGeom prst="rect">
            <a:avLst/>
          </a:prstGeom>
        </p:spPr>
      </p:pic>
      <p:sp>
        <p:nvSpPr>
          <p:cNvPr id="11" name="Text Box 63">
            <a:extLst>
              <a:ext uri="{FF2B5EF4-FFF2-40B4-BE49-F238E27FC236}">
                <a16:creationId xmlns:a16="http://schemas.microsoft.com/office/drawing/2014/main" id="{6F7813A7-A83D-45DC-A67E-DEB7C98FD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68208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电场和磁场的相对性和统一性*</a:t>
            </a:r>
          </a:p>
        </p:txBody>
      </p:sp>
    </p:spTree>
    <p:extLst>
      <p:ext uri="{BB962C8B-B14F-4D97-AF65-F5344CB8AC3E}">
        <p14:creationId xmlns:p14="http://schemas.microsoft.com/office/powerpoint/2010/main" val="77763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64" y="3887954"/>
            <a:ext cx="7500872" cy="16426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446" y="1366162"/>
            <a:ext cx="7815111" cy="233286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835488" y="5765892"/>
            <a:ext cx="8432800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电场和磁场构成了一个统一的实体</a:t>
            </a:r>
            <a:r>
              <a:rPr kumimoji="1" lang="en-US" altLang="zh-CN" sz="2800" b="1" dirty="0">
                <a:solidFill>
                  <a:srgbClr val="0000FF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 dirty="0">
                <a:solidFill>
                  <a:srgbClr val="0000FF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电磁场</a:t>
            </a:r>
          </a:p>
        </p:txBody>
      </p:sp>
      <p:sp>
        <p:nvSpPr>
          <p:cNvPr id="7" name="Text Box 63">
            <a:extLst>
              <a:ext uri="{FF2B5EF4-FFF2-40B4-BE49-F238E27FC236}">
                <a16:creationId xmlns:a16="http://schemas.microsoft.com/office/drawing/2014/main" id="{13AC8CBC-E1DF-4BB8-A2E1-9A0D9D658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5" y="548265"/>
            <a:ext cx="68208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电场和磁场的相对性和统一性*</a:t>
            </a:r>
          </a:p>
        </p:txBody>
      </p:sp>
    </p:spTree>
    <p:extLst>
      <p:ext uri="{BB962C8B-B14F-4D97-AF65-F5344CB8AC3E}">
        <p14:creationId xmlns:p14="http://schemas.microsoft.com/office/powerpoint/2010/main" val="132914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EE6B56-DBAD-4460-85C8-B9D868FF6142}"/>
              </a:ext>
            </a:extLst>
          </p:cNvPr>
          <p:cNvSpPr/>
          <p:nvPr/>
        </p:nvSpPr>
        <p:spPr>
          <a:xfrm>
            <a:off x="2391265" y="2363801"/>
            <a:ext cx="74687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作业 ：课后习题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17.1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17.5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17.8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17.16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FC185-3475-403F-A50E-0427321BF6DE}"/>
              </a:ext>
            </a:extLst>
          </p:cNvPr>
          <p:cNvSpPr/>
          <p:nvPr/>
        </p:nvSpPr>
        <p:spPr>
          <a:xfrm>
            <a:off x="2348143" y="3617037"/>
            <a:ext cx="62376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截止时间： 下周二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4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月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30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日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：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2C3808-6E71-4E6A-87FA-57F580F6CF94}"/>
              </a:ext>
            </a:extLst>
          </p:cNvPr>
          <p:cNvSpPr/>
          <p:nvPr/>
        </p:nvSpPr>
        <p:spPr>
          <a:xfrm>
            <a:off x="1856931" y="4766251"/>
            <a:ext cx="85972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月</a:t>
            </a:r>
            <a:r>
              <a:rPr lang="en-US" altLang="zh-CN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28</a:t>
            </a:r>
            <a:r>
              <a:rPr lang="zh-CN" alt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（星期日）按照</a:t>
            </a:r>
            <a:r>
              <a:rPr lang="en-US" altLang="zh-CN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月</a:t>
            </a:r>
            <a:r>
              <a:rPr lang="en-US" altLang="zh-CN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（星期四）课表上课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5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13972</TotalTime>
  <Words>969</Words>
  <Application>Microsoft Office PowerPoint</Application>
  <PresentationFormat>宽屏</PresentationFormat>
  <Paragraphs>217</Paragraphs>
  <Slides>23</Slides>
  <Notes>4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华文楷体</vt:lpstr>
      <vt:lpstr>宋体</vt:lpstr>
      <vt:lpstr>Arial</vt:lpstr>
      <vt:lpstr>Calibri</vt:lpstr>
      <vt:lpstr>Cambria Math</vt:lpstr>
      <vt:lpstr>Times New Roman</vt:lpstr>
      <vt:lpstr>Wingdings</vt:lpstr>
      <vt:lpstr>Office 主题​​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li</cp:lastModifiedBy>
  <cp:revision>202</cp:revision>
  <dcterms:created xsi:type="dcterms:W3CDTF">2021-10-10T03:42:04Z</dcterms:created>
  <dcterms:modified xsi:type="dcterms:W3CDTF">2024-04-23T05:53:49Z</dcterms:modified>
</cp:coreProperties>
</file>