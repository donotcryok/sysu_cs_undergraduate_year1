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20.xml" ContentType="application/vnd.openxmlformats-officedocument.presentationml.tags+xml"/>
  <Override PartName="/ppt/tags/tag30.xml" ContentType="application/vnd.openxmlformats-officedocument.presentationml.tags+xml"/>
  <Override PartName="/ppt/tags/tag40.xml" ContentType="application/vnd.openxmlformats-officedocument.presentationml.tags+xml"/>
  <Override PartName="/ppt/tags/tag50.xml" ContentType="application/vnd.openxmlformats-officedocument.presentationml.tags+xml"/>
  <Override PartName="/ppt/tags/tag6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1300" r:id="rId2"/>
    <p:sldId id="390" r:id="rId3"/>
    <p:sldId id="981" r:id="rId4"/>
    <p:sldId id="935" r:id="rId5"/>
    <p:sldId id="1284" r:id="rId6"/>
    <p:sldId id="1315" r:id="rId7"/>
    <p:sldId id="942" r:id="rId8"/>
    <p:sldId id="1281" r:id="rId9"/>
    <p:sldId id="1318" r:id="rId10"/>
    <p:sldId id="401" r:id="rId11"/>
    <p:sldId id="946" r:id="rId12"/>
    <p:sldId id="971" r:id="rId13"/>
    <p:sldId id="964" r:id="rId14"/>
    <p:sldId id="1289" r:id="rId15"/>
    <p:sldId id="948" r:id="rId16"/>
    <p:sldId id="1291" r:id="rId17"/>
    <p:sldId id="1293" r:id="rId18"/>
    <p:sldId id="950" r:id="rId19"/>
    <p:sldId id="951" r:id="rId20"/>
    <p:sldId id="1295" r:id="rId21"/>
    <p:sldId id="1296" r:id="rId22"/>
    <p:sldId id="1297" r:id="rId23"/>
    <p:sldId id="1298" r:id="rId24"/>
    <p:sldId id="956" r:id="rId25"/>
    <p:sldId id="302" r:id="rId26"/>
    <p:sldId id="303" r:id="rId27"/>
    <p:sldId id="304" r:id="rId28"/>
    <p:sldId id="1285" r:id="rId29"/>
    <p:sldId id="959" r:id="rId30"/>
    <p:sldId id="1317" r:id="rId31"/>
    <p:sldId id="131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8" autoAdjust="0"/>
    <p:restoredTop sz="94660"/>
  </p:normalViewPr>
  <p:slideViewPr>
    <p:cSldViewPr snapToGrid="0">
      <p:cViewPr varScale="1">
        <p:scale>
          <a:sx n="163" d="100"/>
          <a:sy n="163" d="100"/>
        </p:scale>
        <p:origin x="228"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5" Type="http://schemas.openxmlformats.org/officeDocument/2006/relationships/image" Target="../media/image38.wmf"/><Relationship Id="rId4" Type="http://schemas.openxmlformats.org/officeDocument/2006/relationships/image" Target="../media/image37.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41.wmf"/><Relationship Id="rId7" Type="http://schemas.openxmlformats.org/officeDocument/2006/relationships/image" Target="../media/image37.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image" Target="../media/image48.emf"/><Relationship Id="rId4" Type="http://schemas.openxmlformats.org/officeDocument/2006/relationships/image" Target="../media/image5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9DC8F-7E6E-4C86-AFD2-2FE7F1BB79EA}" type="datetimeFigureOut">
              <a:rPr lang="en-US" smtClean="0"/>
              <a:t>4/30/2024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5F1264-27F5-4021-A6C2-F2408707AE78}" type="slidenum">
              <a:rPr lang="en-US" smtClean="0"/>
              <a:t>‹#›</a:t>
            </a:fld>
            <a:endParaRPr lang="en-US"/>
          </a:p>
        </p:txBody>
      </p:sp>
    </p:spTree>
    <p:extLst>
      <p:ext uri="{BB962C8B-B14F-4D97-AF65-F5344CB8AC3E}">
        <p14:creationId xmlns:p14="http://schemas.microsoft.com/office/powerpoint/2010/main" val="1896871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华文楷体" panose="02010600040101010101" pitchFamily="2" charset="-122"/>
        <a:cs typeface="+mn-cs"/>
      </a:defRPr>
    </a:lvl1pPr>
    <a:lvl2pPr marL="457200" algn="l" defTabSz="914400" rtl="0" eaLnBrk="1" latinLnBrk="0" hangingPunct="1">
      <a:defRPr sz="1200" kern="1200">
        <a:solidFill>
          <a:schemeClr val="tx1"/>
        </a:solidFill>
        <a:latin typeface="+mn-lt"/>
        <a:ea typeface="华文楷体" panose="02010600040101010101" pitchFamily="2" charset="-122"/>
        <a:cs typeface="+mn-cs"/>
      </a:defRPr>
    </a:lvl2pPr>
    <a:lvl3pPr marL="914400" algn="l" defTabSz="914400" rtl="0" eaLnBrk="1" latinLnBrk="0" hangingPunct="1">
      <a:defRPr sz="1200" kern="1200">
        <a:solidFill>
          <a:schemeClr val="tx1"/>
        </a:solidFill>
        <a:latin typeface="+mn-lt"/>
        <a:ea typeface="华文楷体" panose="02010600040101010101" pitchFamily="2" charset="-122"/>
        <a:cs typeface="+mn-cs"/>
      </a:defRPr>
    </a:lvl3pPr>
    <a:lvl4pPr marL="1371600" algn="l" defTabSz="914400" rtl="0" eaLnBrk="1" latinLnBrk="0" hangingPunct="1">
      <a:defRPr sz="1200" kern="1200">
        <a:solidFill>
          <a:schemeClr val="tx1"/>
        </a:solidFill>
        <a:latin typeface="+mn-lt"/>
        <a:ea typeface="华文楷体" panose="02010600040101010101" pitchFamily="2" charset="-122"/>
        <a:cs typeface="+mn-cs"/>
      </a:defRPr>
    </a:lvl4pPr>
    <a:lvl5pPr marL="1828800" algn="l" defTabSz="914400" rtl="0" eaLnBrk="1" latinLnBrk="0" hangingPunct="1">
      <a:defRPr sz="1200" kern="1200">
        <a:solidFill>
          <a:schemeClr val="tx1"/>
        </a:solidFill>
        <a:latin typeface="+mn-lt"/>
        <a:ea typeface="华文楷体" panose="0201060004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F9372-3186-49D2-BE14-0F2C2664DD5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05DD0190-32C5-4A23-A679-9158527C42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40720DE7-EC50-4261-83A2-7A1C564339C6}"/>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5" name="页脚占位符 4">
            <a:extLst>
              <a:ext uri="{FF2B5EF4-FFF2-40B4-BE49-F238E27FC236}">
                <a16:creationId xmlns:a16="http://schemas.microsoft.com/office/drawing/2014/main" id="{3381791F-D5D8-4441-A509-22FD7FBDF8FB}"/>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663E3BF8-181F-4F11-9F53-FD1AC33CF8FD}"/>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2092545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07ACBE-5096-4CBF-9597-4518D8F479B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94AF6E69-C5FD-4D8F-BBE9-A30A1DED7ED0}"/>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A71CD208-620C-4935-A3F2-1512713A0036}"/>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5" name="页脚占位符 4">
            <a:extLst>
              <a:ext uri="{FF2B5EF4-FFF2-40B4-BE49-F238E27FC236}">
                <a16:creationId xmlns:a16="http://schemas.microsoft.com/office/drawing/2014/main" id="{D16FEA9E-3B66-46FC-AFD7-598CDB31C34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390EC5F-9549-4C7C-8972-6DD06461835E}"/>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1399606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2608F6-A982-4F8A-B888-47419D36A3B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042824-92E4-4518-92F2-A9EC9A35C4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2CA972EB-3B2D-419F-AE65-D86FB3444302}"/>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5" name="页脚占位符 4">
            <a:extLst>
              <a:ext uri="{FF2B5EF4-FFF2-40B4-BE49-F238E27FC236}">
                <a16:creationId xmlns:a16="http://schemas.microsoft.com/office/drawing/2014/main" id="{26D91898-82F3-4255-A8F3-088DEBAAFA6C}"/>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3F42DA89-36C9-4F20-A733-EF67D9E88B01}"/>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1138231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1E200-362B-4BA1-AEC5-8C055D16A42B}"/>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84F7B3EF-2134-4727-88A1-171F20F2F721}"/>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2F90DCB7-B15E-4A5F-979F-F80D90613132}"/>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615BC6BE-7250-48F0-8445-719E873227E1}"/>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6" name="页脚占位符 5">
            <a:extLst>
              <a:ext uri="{FF2B5EF4-FFF2-40B4-BE49-F238E27FC236}">
                <a16:creationId xmlns:a16="http://schemas.microsoft.com/office/drawing/2014/main" id="{94FFF620-0C79-4A21-99AB-766A1435E0FF}"/>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2E178A5E-55AB-4860-A4C0-D4801E8530CB}"/>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3231938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6E9C8-5B53-4B2F-AB78-78B0ED46A92F}"/>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1379C18E-6370-4EE3-B5D3-766B963191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FF2C69E3-AA9E-460C-A6FE-ACA904BF3E2F}"/>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D68C27AE-A656-4AE3-BE93-17FB1D3A70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75E8AF52-2F56-48B7-BAA5-22982EB23EF6}"/>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CAC1B7CD-C77D-41F3-B061-E8925EB31D0E}"/>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8" name="页脚占位符 7">
            <a:extLst>
              <a:ext uri="{FF2B5EF4-FFF2-40B4-BE49-F238E27FC236}">
                <a16:creationId xmlns:a16="http://schemas.microsoft.com/office/drawing/2014/main" id="{7E0A0C25-B5E3-457D-86A8-FB234BAF72AB}"/>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891558B5-C5B9-468B-91D0-6C07F944437C}"/>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1447531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A559C4-2E06-4F50-8397-82E23170A219}"/>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54DE4228-F2DF-44BD-91E7-288F0A35D379}"/>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4" name="页脚占位符 3">
            <a:extLst>
              <a:ext uri="{FF2B5EF4-FFF2-40B4-BE49-F238E27FC236}">
                <a16:creationId xmlns:a16="http://schemas.microsoft.com/office/drawing/2014/main" id="{307DA846-1818-46CA-8059-A5D81EA6A0D9}"/>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9A092C00-581C-4997-BA62-335933DCC7DA}"/>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2079258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7174687-FA5B-4962-A8D1-8162F98F6B6C}"/>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3" name="页脚占位符 2">
            <a:extLst>
              <a:ext uri="{FF2B5EF4-FFF2-40B4-BE49-F238E27FC236}">
                <a16:creationId xmlns:a16="http://schemas.microsoft.com/office/drawing/2014/main" id="{DC0FD31E-63D3-42BC-90FA-90F525EDD566}"/>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B89AE7DC-2839-4F53-821A-FAD567E03480}"/>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1274253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9A577C-00A9-4C2C-84D9-027A0DFE978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7AC97CA0-10D3-4D6E-B58E-1A074CC37F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E0C778BC-2386-42FA-8349-C4378EA0AF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4346933-85D0-4632-8624-D593E16D56F1}"/>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6" name="页脚占位符 5">
            <a:extLst>
              <a:ext uri="{FF2B5EF4-FFF2-40B4-BE49-F238E27FC236}">
                <a16:creationId xmlns:a16="http://schemas.microsoft.com/office/drawing/2014/main" id="{52F85808-B7CF-4F23-BA45-A498E38CD81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D6F7176D-FF1A-4A99-9D1F-14FBCA8DBBFA}"/>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718932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23ACCA-02D7-4C51-B0CE-3624A873949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0C5821B6-FFD4-4FAA-95CC-E99188962A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D12421ED-DDE6-4F65-A769-07FBA83152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CAF6AAF-8665-4C6A-B97E-4ACE74AD49D3}"/>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6" name="页脚占位符 5">
            <a:extLst>
              <a:ext uri="{FF2B5EF4-FFF2-40B4-BE49-F238E27FC236}">
                <a16:creationId xmlns:a16="http://schemas.microsoft.com/office/drawing/2014/main" id="{D8EDC923-6B04-4840-B38D-21C572C86B8D}"/>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2215CF2A-C5FA-4FAE-B3DE-752AC8A1636E}"/>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1045959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68D44E-4CED-4B30-8881-96B2BB6CA3CA}"/>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C6F75B3E-7FA6-493D-B22F-E3CADE4EC63B}"/>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B57E4E1F-0E74-4D98-9188-1D6A34D5BAA4}"/>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5" name="页脚占位符 4">
            <a:extLst>
              <a:ext uri="{FF2B5EF4-FFF2-40B4-BE49-F238E27FC236}">
                <a16:creationId xmlns:a16="http://schemas.microsoft.com/office/drawing/2014/main" id="{311A9BB7-15F6-4768-AAFC-3DC6B7FB5EB9}"/>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6CD937BF-79AA-4183-843E-0BA1E1993E8D}"/>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4017542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D6E7BDF-9716-40BF-9281-B043DC609A8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84C84A71-1A7D-4474-8164-92B5DC233ED7}"/>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8D2BC74E-AEE3-449C-9B3B-643608EDB881}"/>
              </a:ext>
            </a:extLst>
          </p:cNvPr>
          <p:cNvSpPr>
            <a:spLocks noGrp="1"/>
          </p:cNvSpPr>
          <p:nvPr>
            <p:ph type="dt" sz="half" idx="10"/>
          </p:nvPr>
        </p:nvSpPr>
        <p:spPr/>
        <p:txBody>
          <a:bodyPr/>
          <a:lstStyle/>
          <a:p>
            <a:fld id="{ED5BEF70-6723-4DF9-B7F5-82CA1ED1A29A}" type="datetimeFigureOut">
              <a:rPr lang="en-US" smtClean="0"/>
              <a:t>4/30/2024</a:t>
            </a:fld>
            <a:endParaRPr lang="en-US"/>
          </a:p>
        </p:txBody>
      </p:sp>
      <p:sp>
        <p:nvSpPr>
          <p:cNvPr id="5" name="页脚占位符 4">
            <a:extLst>
              <a:ext uri="{FF2B5EF4-FFF2-40B4-BE49-F238E27FC236}">
                <a16:creationId xmlns:a16="http://schemas.microsoft.com/office/drawing/2014/main" id="{3EBB5688-D438-42DC-A276-C8215FF13502}"/>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073682BB-5C1A-43BD-95BE-587CCC0B1A6D}"/>
              </a:ext>
            </a:extLst>
          </p:cNvPr>
          <p:cNvSpPr>
            <a:spLocks noGrp="1"/>
          </p:cNvSpPr>
          <p:nvPr>
            <p:ph type="sldNum" sz="quarter" idx="12"/>
          </p:nvPr>
        </p:nvSpPr>
        <p:spPr/>
        <p:txBody>
          <a:bodyPr/>
          <a:lstStyle/>
          <a:p>
            <a:fld id="{8B6C8F7F-5684-4C5E-8C56-E17787921C8F}" type="slidenum">
              <a:rPr lang="en-US" smtClean="0"/>
              <a:t>‹#›</a:t>
            </a:fld>
            <a:endParaRPr lang="en-US"/>
          </a:p>
        </p:txBody>
      </p:sp>
    </p:spTree>
    <p:extLst>
      <p:ext uri="{BB962C8B-B14F-4D97-AF65-F5344CB8AC3E}">
        <p14:creationId xmlns:p14="http://schemas.microsoft.com/office/powerpoint/2010/main" val="808402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E2BFC8-DCA8-4B51-86E2-14A569BF47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3A48A60C-B56D-4E5B-B99B-E5CA33CD89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78425342-48A6-46C9-9307-FB2D8290BE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5BEF70-6723-4DF9-B7F5-82CA1ED1A29A}" type="datetimeFigureOut">
              <a:rPr lang="en-US" smtClean="0"/>
              <a:t>4/30/2024</a:t>
            </a:fld>
            <a:endParaRPr lang="en-US"/>
          </a:p>
        </p:txBody>
      </p:sp>
      <p:sp>
        <p:nvSpPr>
          <p:cNvPr id="5" name="页脚占位符 4">
            <a:extLst>
              <a:ext uri="{FF2B5EF4-FFF2-40B4-BE49-F238E27FC236}">
                <a16:creationId xmlns:a16="http://schemas.microsoft.com/office/drawing/2014/main" id="{ED01B266-A39D-49B8-830D-9DA9F4169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B7E6119-DBB6-48BC-86F1-2FE709E5E0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6C8F7F-5684-4C5E-8C56-E17787921C8F}" type="slidenum">
              <a:rPr lang="en-US" smtClean="0"/>
              <a:t>‹#›</a:t>
            </a:fld>
            <a:endParaRPr lang="en-US"/>
          </a:p>
        </p:txBody>
      </p:sp>
    </p:spTree>
    <p:extLst>
      <p:ext uri="{BB962C8B-B14F-4D97-AF65-F5344CB8AC3E}">
        <p14:creationId xmlns:p14="http://schemas.microsoft.com/office/powerpoint/2010/main" val="1742643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png"/><Relationship Id="rId7" Type="http://schemas.openxmlformats.org/officeDocument/2006/relationships/image" Target="../media/image610.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22.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image" Target="../media/image10.w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oleObject" Target="../embeddings/oleObject6.bin"/><Relationship Id="rId4" Type="http://schemas.openxmlformats.org/officeDocument/2006/relationships/image" Target="../media/image7.wmf"/><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9.png"/><Relationship Id="rId7" Type="http://schemas.openxmlformats.org/officeDocument/2006/relationships/image" Target="../media/image140.png"/><Relationship Id="rId2" Type="http://schemas.openxmlformats.org/officeDocument/2006/relationships/image" Target="../media/image151.png"/><Relationship Id="rId1" Type="http://schemas.openxmlformats.org/officeDocument/2006/relationships/slideLayout" Target="../slideLayouts/slideLayout7.xml"/><Relationship Id="rId6" Type="http://schemas.openxmlformats.org/officeDocument/2006/relationships/image" Target="../media/image130.png"/><Relationship Id="rId5" Type="http://schemas.openxmlformats.org/officeDocument/2006/relationships/image" Target="../media/image12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361.png"/><Relationship Id="rId3" Type="http://schemas.openxmlformats.org/officeDocument/2006/relationships/image" Target="../media/image170.png"/><Relationship Id="rId7" Type="http://schemas.openxmlformats.org/officeDocument/2006/relationships/image" Target="../media/image11.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9.bin"/><Relationship Id="rId5" Type="http://schemas.openxmlformats.org/officeDocument/2006/relationships/image" Target="../media/image191.png"/><Relationship Id="rId10" Type="http://schemas.openxmlformats.org/officeDocument/2006/relationships/image" Target="../media/image321.png"/><Relationship Id="rId4" Type="http://schemas.openxmlformats.org/officeDocument/2006/relationships/image" Target="../media/image180.png"/><Relationship Id="rId9" Type="http://schemas.openxmlformats.org/officeDocument/2006/relationships/image" Target="../media/image371.png"/></Relationships>
</file>

<file path=ppt/slides/_rels/slide8.xml.rels><?xml version="1.0" encoding="UTF-8" standalone="yes"?>
<Relationships xmlns="http://schemas.openxmlformats.org/package/2006/relationships"><Relationship Id="rId51" Type="http://schemas.openxmlformats.org/officeDocument/2006/relationships/image" Target="../media/image25.png"/><Relationship Id="rId3" Type="http://schemas.openxmlformats.org/officeDocument/2006/relationships/image" Target="../media/image18.png"/><Relationship Id="rId47" Type="http://schemas.openxmlformats.org/officeDocument/2006/relationships/image" Target="../media/image21.png"/><Relationship Id="rId50" Type="http://schemas.openxmlformats.org/officeDocument/2006/relationships/image" Target="../media/image24.png"/><Relationship Id="rId46"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 Id="rId45" Type="http://schemas.openxmlformats.org/officeDocument/2006/relationships/image" Target="../media/image19.png"/><Relationship Id="rId5" Type="http://schemas.openxmlformats.org/officeDocument/2006/relationships/image" Target="../media/image381.png"/><Relationship Id="rId49" Type="http://schemas.openxmlformats.org/officeDocument/2006/relationships/image" Target="../media/image23.png"/><Relationship Id="rId44" Type="http://schemas.openxmlformats.org/officeDocument/2006/relationships/image" Target="../media/image420.png"/><Relationship Id="rId4" Type="http://schemas.openxmlformats.org/officeDocument/2006/relationships/image" Target="../media/image351.png"/><Relationship Id="rId48"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481.png"/></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61.png"/><Relationship Id="rId3" Type="http://schemas.openxmlformats.org/officeDocument/2006/relationships/image" Target="../media/image511.png"/><Relationship Id="rId7" Type="http://schemas.openxmlformats.org/officeDocument/2006/relationships/image" Target="../media/image55.png"/><Relationship Id="rId2" Type="http://schemas.openxmlformats.org/officeDocument/2006/relationships/image" Target="../media/image501.png"/><Relationship Id="rId1" Type="http://schemas.openxmlformats.org/officeDocument/2006/relationships/slideLayout" Target="../slideLayouts/slideLayout7.xml"/><Relationship Id="rId6" Type="http://schemas.openxmlformats.org/officeDocument/2006/relationships/image" Target="../media/image541.png"/><Relationship Id="rId5" Type="http://schemas.openxmlformats.org/officeDocument/2006/relationships/image" Target="../media/image531.png"/><Relationship Id="rId10" Type="http://schemas.openxmlformats.org/officeDocument/2006/relationships/image" Target="../media/image58.png"/><Relationship Id="rId4" Type="http://schemas.openxmlformats.org/officeDocument/2006/relationships/image" Target="../media/image521.png"/><Relationship Id="rId9" Type="http://schemas.openxmlformats.org/officeDocument/2006/relationships/image" Target="../media/image57.png"/></Relationships>
</file>

<file path=ppt/slides/_rels/slide1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26" Type="http://schemas.openxmlformats.org/officeDocument/2006/relationships/image" Target="../media/image250.png"/><Relationship Id="rId3" Type="http://schemas.openxmlformats.org/officeDocument/2006/relationships/tags" Target="../tags/tag3.xml"/><Relationship Id="rId21" Type="http://schemas.openxmlformats.org/officeDocument/2006/relationships/tags" Target="../tags/tag30.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50.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220.png"/><Relationship Id="rId29" Type="http://schemas.openxmlformats.org/officeDocument/2006/relationships/image" Target="../media/image27.tmp"/><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240.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40.xml"/><Relationship Id="rId28" Type="http://schemas.openxmlformats.org/officeDocument/2006/relationships/image" Target="../media/image260.png"/><Relationship Id="rId10" Type="http://schemas.openxmlformats.org/officeDocument/2006/relationships/tags" Target="../tags/tag10.xml"/><Relationship Id="rId19" Type="http://schemas.openxmlformats.org/officeDocument/2006/relationships/tags" Target="../tags/tag2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230.png"/><Relationship Id="rId27" Type="http://schemas.openxmlformats.org/officeDocument/2006/relationships/tags" Target="../tags/tag60.xml"/></Relationships>
</file>

<file path=ppt/slides/_rels/slide13.xml.rels><?xml version="1.0" encoding="UTF-8" standalone="yes"?>
<Relationships xmlns="http://schemas.openxmlformats.org/package/2006/relationships"><Relationship Id="rId8" Type="http://schemas.openxmlformats.org/officeDocument/2006/relationships/image" Target="../media/image650.png"/><Relationship Id="rId3" Type="http://schemas.openxmlformats.org/officeDocument/2006/relationships/image" Target="../media/image28.jpg"/><Relationship Id="rId7" Type="http://schemas.openxmlformats.org/officeDocument/2006/relationships/image" Target="../media/image34.png"/><Relationship Id="rId2" Type="http://schemas.openxmlformats.org/officeDocument/2006/relationships/image" Target="../media/image591.png"/><Relationship Id="rId1" Type="http://schemas.openxmlformats.org/officeDocument/2006/relationships/slideLayout" Target="../slideLayouts/slideLayout2.xml"/><Relationship Id="rId6" Type="http://schemas.openxmlformats.org/officeDocument/2006/relationships/image" Target="../media/image630.png"/><Relationship Id="rId5" Type="http://schemas.openxmlformats.org/officeDocument/2006/relationships/image" Target="../media/image620.png"/><Relationship Id="rId10" Type="http://schemas.openxmlformats.org/officeDocument/2006/relationships/image" Target="../media/image35.png"/><Relationship Id="rId4" Type="http://schemas.openxmlformats.org/officeDocument/2006/relationships/image" Target="../media/image611.png"/><Relationship Id="rId9" Type="http://schemas.openxmlformats.org/officeDocument/2006/relationships/image" Target="../media/image660.png"/></Relationships>
</file>

<file path=ppt/slides/_rels/slide14.xml.rels><?xml version="1.0" encoding="UTF-8" standalone="yes"?>
<Relationships xmlns="http://schemas.openxmlformats.org/package/2006/relationships"><Relationship Id="rId8" Type="http://schemas.openxmlformats.org/officeDocument/2006/relationships/image" Target="../media/image711.png"/><Relationship Id="rId3" Type="http://schemas.openxmlformats.org/officeDocument/2006/relationships/image" Target="../media/image28.jpg"/><Relationship Id="rId7" Type="http://schemas.openxmlformats.org/officeDocument/2006/relationships/image" Target="../media/image701.png"/><Relationship Id="rId2" Type="http://schemas.openxmlformats.org/officeDocument/2006/relationships/image" Target="../media/image591.png"/><Relationship Id="rId1" Type="http://schemas.openxmlformats.org/officeDocument/2006/relationships/slideLayout" Target="../slideLayouts/slideLayout2.xml"/><Relationship Id="rId6" Type="http://schemas.openxmlformats.org/officeDocument/2006/relationships/image" Target="../media/image691.png"/><Relationship Id="rId5" Type="http://schemas.openxmlformats.org/officeDocument/2006/relationships/image" Target="../media/image681.png"/><Relationship Id="rId4" Type="http://schemas.openxmlformats.org/officeDocument/2006/relationships/image" Target="../media/image671.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720.png"/><Relationship Id="rId1" Type="http://schemas.openxmlformats.org/officeDocument/2006/relationships/slideLayout" Target="../slideLayouts/slideLayout7.xml"/><Relationship Id="rId4" Type="http://schemas.openxmlformats.org/officeDocument/2006/relationships/image" Target="../media/image740.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78.png"/><Relationship Id="rId2" Type="http://schemas.openxmlformats.org/officeDocument/2006/relationships/image" Target="../media/image720.png"/><Relationship Id="rId1" Type="http://schemas.openxmlformats.org/officeDocument/2006/relationships/slideLayout" Target="../slideLayouts/slideLayout7.xml"/><Relationship Id="rId6" Type="http://schemas.openxmlformats.org/officeDocument/2006/relationships/image" Target="../media/image770.png"/><Relationship Id="rId5" Type="http://schemas.openxmlformats.org/officeDocument/2006/relationships/image" Target="../media/image760.png"/><Relationship Id="rId4" Type="http://schemas.openxmlformats.org/officeDocument/2006/relationships/image" Target="../media/image750.png"/></Relationships>
</file>

<file path=ppt/slides/_rels/slide17.xml.rels><?xml version="1.0" encoding="UTF-8" standalone="yes"?>
<Relationships xmlns="http://schemas.openxmlformats.org/package/2006/relationships"><Relationship Id="rId3" Type="http://schemas.openxmlformats.org/officeDocument/2006/relationships/image" Target="../media/image79.png"/><Relationship Id="rId1" Type="http://schemas.openxmlformats.org/officeDocument/2006/relationships/slideLayout" Target="../slideLayouts/slideLayout7.xml"/><Relationship Id="rId5" Type="http://schemas.openxmlformats.org/officeDocument/2006/relationships/image" Target="../media/image81.png"/><Relationship Id="rId4" Type="http://schemas.openxmlformats.org/officeDocument/2006/relationships/image" Target="../media/image8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87.png"/><Relationship Id="rId7" Type="http://schemas.openxmlformats.org/officeDocument/2006/relationships/image" Target="../media/image86.pn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0.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92.png"/><Relationship Id="rId5" Type="http://schemas.openxmlformats.org/officeDocument/2006/relationships/image" Target="../media/image91.pn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s>
</file>

<file path=ppt/slides/_rels/slide21.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89.png"/><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9" Type="http://schemas.openxmlformats.org/officeDocument/2006/relationships/image" Target="../media/image9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38.wmf"/><Relationship Id="rId3" Type="http://schemas.openxmlformats.org/officeDocument/2006/relationships/image" Target="NULL"/><Relationship Id="rId7" Type="http://schemas.openxmlformats.org/officeDocument/2006/relationships/image" Target="../media/image35.wmf"/><Relationship Id="rId12"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1.bin"/><Relationship Id="rId11" Type="http://schemas.openxmlformats.org/officeDocument/2006/relationships/image" Target="../media/image37.wmf"/><Relationship Id="rId5" Type="http://schemas.openxmlformats.org/officeDocument/2006/relationships/image" Target="../media/image34.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36.wmf"/></Relationships>
</file>

<file path=ppt/slides/_rels/slide26.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20.bin"/><Relationship Id="rId18" Type="http://schemas.openxmlformats.org/officeDocument/2006/relationships/image" Target="../media/image36.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43.wmf"/><Relationship Id="rId17" Type="http://schemas.openxmlformats.org/officeDocument/2006/relationships/oleObject" Target="../embeddings/oleObject22.bin"/><Relationship Id="rId2" Type="http://schemas.openxmlformats.org/officeDocument/2006/relationships/slideLayout" Target="../slideLayouts/slideLayout7.xml"/><Relationship Id="rId16" Type="http://schemas.openxmlformats.org/officeDocument/2006/relationships/image" Target="../media/image37.wmf"/><Relationship Id="rId1" Type="http://schemas.openxmlformats.org/officeDocument/2006/relationships/vmlDrawing" Target="../drawings/vmlDrawing5.vml"/><Relationship Id="rId6" Type="http://schemas.openxmlformats.org/officeDocument/2006/relationships/image" Target="../media/image40.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18.bin"/><Relationship Id="rId14" Type="http://schemas.openxmlformats.org/officeDocument/2006/relationships/image" Target="../media/image44.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47.emf"/><Relationship Id="rId3" Type="http://schemas.openxmlformats.org/officeDocument/2006/relationships/oleObject" Target="../embeddings/oleObject23.bin"/><Relationship Id="rId7" Type="http://schemas.openxmlformats.org/officeDocument/2006/relationships/image" Target="../media/image113.png"/><Relationship Id="rId12" Type="http://schemas.openxmlformats.org/officeDocument/2006/relationships/oleObject" Target="../embeddings/oleObject25.bin"/><Relationship Id="rId2" Type="http://schemas.openxmlformats.org/officeDocument/2006/relationships/slideLayout" Target="../slideLayouts/slideLayout7.xml"/><Relationship Id="rId16" Type="http://schemas.openxmlformats.org/officeDocument/2006/relationships/image" Target="../media/image116.png"/><Relationship Id="rId1" Type="http://schemas.openxmlformats.org/officeDocument/2006/relationships/vmlDrawing" Target="../drawings/vmlDrawing6.vml"/><Relationship Id="rId6" Type="http://schemas.openxmlformats.org/officeDocument/2006/relationships/image" Target="../media/image112.png"/><Relationship Id="rId11" Type="http://schemas.openxmlformats.org/officeDocument/2006/relationships/image" Target="../media/image46.emf"/><Relationship Id="rId5" Type="http://schemas.openxmlformats.org/officeDocument/2006/relationships/image" Target="../media/image111.png"/><Relationship Id="rId15" Type="http://schemas.openxmlformats.org/officeDocument/2006/relationships/image" Target="../media/image47.emf"/><Relationship Id="rId10" Type="http://schemas.openxmlformats.org/officeDocument/2006/relationships/oleObject" Target="../embeddings/oleObject24.bin"/><Relationship Id="rId4" Type="http://schemas.openxmlformats.org/officeDocument/2006/relationships/image" Target="../media/image45.wmf"/><Relationship Id="rId9" Type="http://schemas.openxmlformats.org/officeDocument/2006/relationships/image" Target="../media/image46.emf"/><Relationship Id="rId14" Type="http://schemas.openxmlformats.org/officeDocument/2006/relationships/oleObject" Target="../embeddings/oleObject25.bin"/></Relationships>
</file>

<file path=ppt/slides/_rels/slide28.xml.rels><?xml version="1.0" encoding="UTF-8" standalone="yes"?>
<Relationships xmlns="http://schemas.openxmlformats.org/package/2006/relationships"><Relationship Id="rId8" Type="http://schemas.openxmlformats.org/officeDocument/2006/relationships/image" Target="../media/image48.emf"/><Relationship Id="rId13" Type="http://schemas.openxmlformats.org/officeDocument/2006/relationships/oleObject" Target="../embeddings/oleObject29.bin"/><Relationship Id="rId3" Type="http://schemas.openxmlformats.org/officeDocument/2006/relationships/image" Target="../media/image117.png"/><Relationship Id="rId7" Type="http://schemas.openxmlformats.org/officeDocument/2006/relationships/oleObject" Target="../embeddings/oleObject26.bin"/><Relationship Id="rId12" Type="http://schemas.openxmlformats.org/officeDocument/2006/relationships/image" Target="../media/image50.e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20.png"/><Relationship Id="rId11" Type="http://schemas.openxmlformats.org/officeDocument/2006/relationships/oleObject" Target="../embeddings/oleObject28.bin"/><Relationship Id="rId5" Type="http://schemas.openxmlformats.org/officeDocument/2006/relationships/image" Target="../media/image119.png"/><Relationship Id="rId10" Type="http://schemas.openxmlformats.org/officeDocument/2006/relationships/image" Target="../media/image49.emf"/><Relationship Id="rId4" Type="http://schemas.openxmlformats.org/officeDocument/2006/relationships/image" Target="../media/image118.png"/><Relationship Id="rId9" Type="http://schemas.openxmlformats.org/officeDocument/2006/relationships/oleObject" Target="../embeddings/oleObject27.bin"/><Relationship Id="rId14" Type="http://schemas.openxmlformats.org/officeDocument/2006/relationships/image" Target="../media/image51.wmf"/></Relationships>
</file>

<file path=ppt/slides/_rels/slide29.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52.wmf"/><Relationship Id="rId4" Type="http://schemas.openxmlformats.org/officeDocument/2006/relationships/oleObject" Target="../embeddings/oleObject30.bin"/></Relationships>
</file>

<file path=ppt/slides/_rels/slide30.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53.jpg"/><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4.wmf"/><Relationship Id="rId5" Type="http://schemas.openxmlformats.org/officeDocument/2006/relationships/oleObject" Target="../embeddings/oleObject31.bin"/><Relationship Id="rId10" Type="http://schemas.openxmlformats.org/officeDocument/2006/relationships/image" Target="../media/image56.wmf"/><Relationship Id="rId4" Type="http://schemas.openxmlformats.org/officeDocument/2006/relationships/image" Target="../media/image61.png"/><Relationship Id="rId9" Type="http://schemas.openxmlformats.org/officeDocument/2006/relationships/oleObject" Target="../embeddings/oleObject33.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8C2B31D-6590-4FF5-8A1D-E5BDA6006C25}"/>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
        <p:nvSpPr>
          <p:cNvPr id="5" name="Text Box 13">
            <a:extLst>
              <a:ext uri="{FF2B5EF4-FFF2-40B4-BE49-F238E27FC236}">
                <a16:creationId xmlns:a16="http://schemas.microsoft.com/office/drawing/2014/main" id="{AFA0A3EB-F728-4376-B314-3CBC41359D0B}"/>
              </a:ext>
            </a:extLst>
          </p:cNvPr>
          <p:cNvSpPr txBox="1">
            <a:spLocks noChangeArrowheads="1"/>
          </p:cNvSpPr>
          <p:nvPr/>
        </p:nvSpPr>
        <p:spPr bwMode="auto">
          <a:xfrm>
            <a:off x="3037841" y="211325"/>
            <a:ext cx="594772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19</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 章     磁场中的磁介质</a:t>
            </a:r>
            <a:endPar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
        <p:nvSpPr>
          <p:cNvPr id="25" name="Rectangle 16">
            <a:hlinkClick r:id="" action="ppaction://noaction"/>
            <a:extLst>
              <a:ext uri="{FF2B5EF4-FFF2-40B4-BE49-F238E27FC236}">
                <a16:creationId xmlns:a16="http://schemas.microsoft.com/office/drawing/2014/main" id="{A0014B31-1C4D-4F7E-80C8-CA7A195F6E13}"/>
              </a:ext>
            </a:extLst>
          </p:cNvPr>
          <p:cNvSpPr>
            <a:spLocks noChangeArrowheads="1"/>
          </p:cNvSpPr>
          <p:nvPr/>
        </p:nvSpPr>
        <p:spPr bwMode="auto">
          <a:xfrm>
            <a:off x="5851471" y="1684710"/>
            <a:ext cx="523199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1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磁介质对磁场的影响</a:t>
            </a:r>
          </a:p>
        </p:txBody>
      </p:sp>
      <p:sp>
        <p:nvSpPr>
          <p:cNvPr id="27" name="Text Box 18">
            <a:hlinkClick r:id="" action="ppaction://noaction"/>
            <a:extLst>
              <a:ext uri="{FF2B5EF4-FFF2-40B4-BE49-F238E27FC236}">
                <a16:creationId xmlns:a16="http://schemas.microsoft.com/office/drawing/2014/main" id="{48306CEC-1F29-4EDE-9B28-0F8312ACF28D}"/>
              </a:ext>
            </a:extLst>
          </p:cNvPr>
          <p:cNvSpPr txBox="1">
            <a:spLocks noChangeArrowheads="1"/>
          </p:cNvSpPr>
          <p:nvPr/>
        </p:nvSpPr>
        <p:spPr bwMode="auto">
          <a:xfrm>
            <a:off x="5851472" y="2980110"/>
            <a:ext cx="55388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3 </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磁介质的磁化</a:t>
            </a:r>
          </a:p>
        </p:txBody>
      </p:sp>
      <p:sp>
        <p:nvSpPr>
          <p:cNvPr id="28" name="Text Box 19">
            <a:hlinkClick r:id="" action="ppaction://noaction"/>
            <a:extLst>
              <a:ext uri="{FF2B5EF4-FFF2-40B4-BE49-F238E27FC236}">
                <a16:creationId xmlns:a16="http://schemas.microsoft.com/office/drawing/2014/main" id="{ECF120C4-50E2-4E26-B5D3-6D094BEFC2F5}"/>
              </a:ext>
            </a:extLst>
          </p:cNvPr>
          <p:cNvSpPr txBox="1">
            <a:spLocks noChangeArrowheads="1"/>
          </p:cNvSpPr>
          <p:nvPr/>
        </p:nvSpPr>
        <p:spPr bwMode="auto">
          <a:xfrm>
            <a:off x="5850471" y="3629396"/>
            <a:ext cx="31021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4  H</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的环路定理</a:t>
            </a:r>
          </a:p>
        </p:txBody>
      </p:sp>
      <p:sp>
        <p:nvSpPr>
          <p:cNvPr id="32" name="Rectangle 16">
            <a:hlinkClick r:id="" action="ppaction://noaction"/>
            <a:extLst>
              <a:ext uri="{FF2B5EF4-FFF2-40B4-BE49-F238E27FC236}">
                <a16:creationId xmlns:a16="http://schemas.microsoft.com/office/drawing/2014/main" id="{690E4B17-0680-49D8-B393-01C57F5D0C97}"/>
              </a:ext>
            </a:extLst>
          </p:cNvPr>
          <p:cNvSpPr>
            <a:spLocks noChangeArrowheads="1"/>
          </p:cNvSpPr>
          <p:nvPr/>
        </p:nvSpPr>
        <p:spPr bwMode="auto">
          <a:xfrm>
            <a:off x="5851473" y="2332410"/>
            <a:ext cx="6154243"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2 </a:t>
            </a:r>
            <a:r>
              <a:rPr lang="zh-CN" altLang="en-US" sz="3200" b="1" dirty="0">
                <a:solidFill>
                  <a:schemeClr val="tx1"/>
                </a:solidFill>
                <a:latin typeface="Arial" panose="020B0604020202020204" pitchFamily="34" charset="0"/>
                <a:ea typeface="华文楷体" panose="02010600040101010101" pitchFamily="2" charset="-122"/>
                <a:cs typeface="Arial" panose="020B0604020202020204" pitchFamily="34" charset="0"/>
              </a:rPr>
              <a:t>原子的磁矩</a:t>
            </a:r>
          </a:p>
        </p:txBody>
      </p:sp>
      <p:sp>
        <p:nvSpPr>
          <p:cNvPr id="35" name="Rectangle 20">
            <a:hlinkClick r:id="" action="ppaction://noaction"/>
            <a:extLst>
              <a:ext uri="{FF2B5EF4-FFF2-40B4-BE49-F238E27FC236}">
                <a16:creationId xmlns:a16="http://schemas.microsoft.com/office/drawing/2014/main" id="{0264BFE7-0025-4536-83F4-1ECBBD36DCC6}"/>
              </a:ext>
            </a:extLst>
          </p:cNvPr>
          <p:cNvSpPr>
            <a:spLocks noChangeArrowheads="1"/>
          </p:cNvSpPr>
          <p:nvPr/>
        </p:nvSpPr>
        <p:spPr bwMode="auto">
          <a:xfrm>
            <a:off x="5850471" y="4293200"/>
            <a:ext cx="628348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5 </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铁磁质</a:t>
            </a:r>
          </a:p>
        </p:txBody>
      </p:sp>
      <p:pic>
        <p:nvPicPr>
          <p:cNvPr id="5122" name="Picture 2" descr="选购硬盘驱动器的专业建议- Buying Guides DirectIndustry">
            <a:extLst>
              <a:ext uri="{FF2B5EF4-FFF2-40B4-BE49-F238E27FC236}">
                <a16:creationId xmlns:a16="http://schemas.microsoft.com/office/drawing/2014/main" id="{94660713-231E-4F0C-95A6-D2535C5FA5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49" y="1213160"/>
            <a:ext cx="2779463" cy="2121802"/>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Photoshop 模板：火车票与列车水牌- 紫遥· Life">
            <a:extLst>
              <a:ext uri="{FF2B5EF4-FFF2-40B4-BE49-F238E27FC236}">
                <a16:creationId xmlns:a16="http://schemas.microsoft.com/office/drawing/2014/main" id="{D604AB45-FD29-44A5-9396-AED45BD2F5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07" t="7278" r="9679" b="7549"/>
          <a:stretch/>
        </p:blipFill>
        <p:spPr bwMode="auto">
          <a:xfrm>
            <a:off x="990872" y="3664318"/>
            <a:ext cx="3881807" cy="2417168"/>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电力变压器的温升及损耗_新闻中心_电力变压器厂">
            <a:extLst>
              <a:ext uri="{FF2B5EF4-FFF2-40B4-BE49-F238E27FC236}">
                <a16:creationId xmlns:a16="http://schemas.microsoft.com/office/drawing/2014/main" id="{C945E57C-4450-44B4-BF21-73C2AA2DD5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58" r="8740"/>
          <a:stretch/>
        </p:blipFill>
        <p:spPr bwMode="auto">
          <a:xfrm>
            <a:off x="2899955" y="1209227"/>
            <a:ext cx="2315239" cy="212180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0">
            <a:hlinkClick r:id="" action="ppaction://noaction"/>
            <a:extLst>
              <a:ext uri="{FF2B5EF4-FFF2-40B4-BE49-F238E27FC236}">
                <a16:creationId xmlns:a16="http://schemas.microsoft.com/office/drawing/2014/main" id="{89CD147C-A317-D8D6-EEF7-8A06E570A94C}"/>
              </a:ext>
            </a:extLst>
          </p:cNvPr>
          <p:cNvSpPr>
            <a:spLocks noChangeArrowheads="1"/>
          </p:cNvSpPr>
          <p:nvPr/>
        </p:nvSpPr>
        <p:spPr bwMode="auto">
          <a:xfrm>
            <a:off x="5850471" y="4924153"/>
            <a:ext cx="6283480"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6 </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简单磁路</a:t>
            </a:r>
          </a:p>
        </p:txBody>
      </p:sp>
    </p:spTree>
    <p:extLst>
      <p:ext uri="{BB962C8B-B14F-4D97-AF65-F5344CB8AC3E}">
        <p14:creationId xmlns:p14="http://schemas.microsoft.com/office/powerpoint/2010/main" val="81330772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Line 7"/>
          <p:cNvSpPr/>
          <p:nvPr/>
        </p:nvSpPr>
        <p:spPr>
          <a:xfrm flipH="1" flipV="1">
            <a:off x="7937705" y="3440482"/>
            <a:ext cx="533400" cy="457200"/>
          </a:xfrm>
          <a:prstGeom prst="line">
            <a:avLst/>
          </a:prstGeom>
          <a:ln w="38100">
            <a:noFill/>
          </a:ln>
        </p:spPr>
      </p:sp>
      <p:sp>
        <p:nvSpPr>
          <p:cNvPr id="13316" name="Text Box 30"/>
          <p:cNvSpPr txBox="1"/>
          <p:nvPr/>
        </p:nvSpPr>
        <p:spPr>
          <a:xfrm>
            <a:off x="4678569" y="4313798"/>
            <a:ext cx="184731" cy="523220"/>
          </a:xfrm>
          <a:prstGeom prst="rect">
            <a:avLst/>
          </a:prstGeom>
          <a:noFill/>
          <a:ln w="9525">
            <a:noFill/>
          </a:ln>
        </p:spPr>
        <p:txBody>
          <a:bodyPr wrap="none">
            <a:spAutoFit/>
          </a:bodyPr>
          <a:lstStyle/>
          <a:p>
            <a:endParaRPr lang="zh-CN" altLang="zh-CN" sz="28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92897" name="Object 33"/>
              <p:cNvSpPr txBox="1"/>
              <p:nvPr/>
            </p:nvSpPr>
            <p:spPr>
              <a:xfrm>
                <a:off x="1354634" y="3017550"/>
                <a:ext cx="3416300" cy="7508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𝜇</m:t>
                          </m:r>
                        </m:e>
                        <m:sub>
                          <m:r>
                            <a:rPr lang="en-US" sz="2800" b="0" i="1" smtClean="0">
                              <a:solidFill>
                                <a:srgbClr val="000000"/>
                              </a:solidFill>
                              <a:latin typeface="Cambria Math" panose="02040503050406030204" pitchFamily="18" charset="0"/>
                            </a:rPr>
                            <m:t>𝑟</m:t>
                          </m:r>
                        </m:sub>
                      </m:sSub>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e>
                        <m:sub>
                          <m:r>
                            <a:rPr lang="en-US" sz="2800" b="0" i="1" smtClean="0">
                              <a:solidFill>
                                <a:srgbClr val="000000"/>
                              </a:solidFill>
                              <a:latin typeface="Cambria Math" panose="02040503050406030204" pitchFamily="18" charset="0"/>
                            </a:rPr>
                            <m:t>0</m:t>
                          </m:r>
                        </m:sub>
                      </m:sSub>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e>
                        <m:sub>
                          <m:r>
                            <a:rPr lang="en-US" sz="2800" b="0" i="1" smtClean="0">
                              <a:solidFill>
                                <a:srgbClr val="000000"/>
                              </a:solidFill>
                              <a:latin typeface="Cambria Math" panose="02040503050406030204" pitchFamily="18" charset="0"/>
                            </a:rPr>
                            <m:t>0</m:t>
                          </m:r>
                        </m:sub>
                      </m:sSub>
                      <m:r>
                        <a:rPr lang="en-US" sz="2800" b="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e>
                        <m:sup>
                          <m:r>
                            <a:rPr lang="en-US" sz="2800" b="0" i="1" smtClean="0">
                              <a:solidFill>
                                <a:srgbClr val="000000"/>
                              </a:solidFill>
                              <a:latin typeface="Cambria Math" panose="02040503050406030204" pitchFamily="18" charset="0"/>
                            </a:rPr>
                            <m:t>′</m:t>
                          </m:r>
                        </m:sup>
                      </m:sSup>
                    </m:oMath>
                  </m:oMathPara>
                </a14:m>
                <a:endParaRPr lang="en-US" sz="2800" dirty="0"/>
              </a:p>
            </p:txBody>
          </p:sp>
        </mc:Choice>
        <mc:Fallback xmlns="">
          <p:sp>
            <p:nvSpPr>
              <p:cNvPr id="292897" name="Object 33"/>
              <p:cNvSpPr txBox="1">
                <a:spLocks noRot="1" noChangeAspect="1" noMove="1" noResize="1" noEditPoints="1" noAdjustHandles="1" noChangeArrowheads="1" noChangeShapeType="1" noTextEdit="1"/>
              </p:cNvSpPr>
              <p:nvPr/>
            </p:nvSpPr>
            <p:spPr>
              <a:xfrm>
                <a:off x="1354634" y="3017550"/>
                <a:ext cx="3416300" cy="750888"/>
              </a:xfrm>
              <a:prstGeom prst="rect">
                <a:avLst/>
              </a:prstGeom>
              <a:blipFill>
                <a:blip r:embed="rId2"/>
                <a:stretch>
                  <a:fillRect/>
                </a:stretch>
              </a:blipFill>
              <a:ln w="38100">
                <a:noFill/>
                <a:miter/>
              </a:ln>
            </p:spPr>
            <p:txBody>
              <a:bodyPr/>
              <a:lstStyle/>
              <a:p>
                <a:r>
                  <a:rPr lang="en-US">
                    <a:noFill/>
                  </a:rPr>
                  <a:t> </a:t>
                </a:r>
              </a:p>
            </p:txBody>
          </p:sp>
        </mc:Fallback>
      </mc:AlternateContent>
      <p:pic>
        <p:nvPicPr>
          <p:cNvPr id="292898" name="Picture 34" descr="1"/>
          <p:cNvPicPr>
            <a:picLocks noChangeAspect="1"/>
          </p:cNvPicPr>
          <p:nvPr/>
        </p:nvPicPr>
        <p:blipFill>
          <a:blip r:embed="rId3"/>
          <a:stretch>
            <a:fillRect/>
          </a:stretch>
        </p:blipFill>
        <p:spPr>
          <a:xfrm>
            <a:off x="7889755" y="1120740"/>
            <a:ext cx="3716292" cy="1914624"/>
          </a:xfrm>
          <a:prstGeom prst="rect">
            <a:avLst/>
          </a:prstGeom>
          <a:noFill/>
          <a:ln w="9525">
            <a:noFill/>
          </a:ln>
        </p:spPr>
      </p:pic>
      <p:grpSp>
        <p:nvGrpSpPr>
          <p:cNvPr id="2" name="Group 37"/>
          <p:cNvGrpSpPr/>
          <p:nvPr/>
        </p:nvGrpSpPr>
        <p:grpSpPr>
          <a:xfrm>
            <a:off x="4940506" y="2954721"/>
            <a:ext cx="2517777" cy="612775"/>
            <a:chOff x="1474" y="3612"/>
            <a:chExt cx="1586" cy="386"/>
          </a:xfrm>
        </p:grpSpPr>
        <mc:AlternateContent xmlns:mc="http://schemas.openxmlformats.org/markup-compatibility/2006" xmlns:a14="http://schemas.microsoft.com/office/drawing/2010/main">
          <mc:Choice Requires="a14">
            <p:sp>
              <p:nvSpPr>
                <p:cNvPr id="13322" name="Object 35"/>
                <p:cNvSpPr txBox="1"/>
                <p:nvPr/>
              </p:nvSpPr>
              <p:spPr>
                <a:xfrm>
                  <a:off x="1474" y="3612"/>
                  <a:ext cx="341" cy="38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𝜇</m:t>
                            </m:r>
                          </m:e>
                          <m:sub>
                            <m:r>
                              <a:rPr lang="en-US" sz="2800" b="0" i="1" smtClean="0">
                                <a:solidFill>
                                  <a:srgbClr val="000000"/>
                                </a:solidFill>
                                <a:latin typeface="Cambria Math" panose="02040503050406030204" pitchFamily="18" charset="0"/>
                              </a:rPr>
                              <m:t>𝑟</m:t>
                            </m:r>
                          </m:sub>
                        </m:sSub>
                      </m:oMath>
                    </m:oMathPara>
                  </a14:m>
                  <a:endParaRPr lang="en-US" sz="2800" dirty="0"/>
                </a:p>
              </p:txBody>
            </p:sp>
          </mc:Choice>
          <mc:Fallback xmlns="">
            <p:sp>
              <p:nvSpPr>
                <p:cNvPr id="13322" name="Object 35"/>
                <p:cNvSpPr txBox="1">
                  <a:spLocks noRot="1" noChangeAspect="1" noMove="1" noResize="1" noEditPoints="1" noAdjustHandles="1" noChangeArrowheads="1" noChangeShapeType="1" noTextEdit="1"/>
                </p:cNvSpPr>
                <p:nvPr/>
              </p:nvSpPr>
              <p:spPr>
                <a:xfrm>
                  <a:off x="1474" y="3612"/>
                  <a:ext cx="341" cy="386"/>
                </a:xfrm>
                <a:prstGeom prst="rect">
                  <a:avLst/>
                </a:prstGeom>
                <a:blipFill>
                  <a:blip r:embed="rId5"/>
                  <a:stretch>
                    <a:fillRect/>
                  </a:stretch>
                </a:blipFill>
                <a:ln w="38100">
                  <a:noFill/>
                  <a:miter/>
                </a:ln>
              </p:spPr>
              <p:txBody>
                <a:bodyPr/>
                <a:lstStyle/>
                <a:p>
                  <a:r>
                    <a:rPr lang="zh-CN" altLang="en-US">
                      <a:noFill/>
                    </a:rPr>
                    <a:t> </a:t>
                  </a:r>
                </a:p>
              </p:txBody>
            </p:sp>
          </mc:Fallback>
        </mc:AlternateContent>
        <p:sp>
          <p:nvSpPr>
            <p:cNvPr id="13323" name="Text Box 36"/>
            <p:cNvSpPr txBox="1"/>
            <p:nvPr/>
          </p:nvSpPr>
          <p:spPr>
            <a:xfrm>
              <a:off x="1813" y="3649"/>
              <a:ext cx="1247" cy="330"/>
            </a:xfrm>
            <a:prstGeom prst="rect">
              <a:avLst/>
            </a:prstGeom>
            <a:noFill/>
            <a:ln w="9525">
              <a:noFill/>
            </a:ln>
          </p:spPr>
          <p:txBody>
            <a:bodyPr wrap="none">
              <a:spAutoFit/>
            </a:bodyPr>
            <a:lstStyle/>
            <a:p>
              <a:r>
                <a:rPr lang="zh-CN" altLang="en-US" sz="2800" dirty="0">
                  <a:latin typeface="Times New Roman" panose="02020603050405020304" pitchFamily="18" charset="0"/>
                </a:rPr>
                <a:t>相对磁导率</a:t>
              </a:r>
            </a:p>
          </p:txBody>
        </p:sp>
      </p:grpSp>
      <mc:AlternateContent xmlns:mc="http://schemas.openxmlformats.org/markup-compatibility/2006" xmlns:a14="http://schemas.microsoft.com/office/drawing/2010/main">
        <mc:Choice Requires="a14">
          <p:sp>
            <p:nvSpPr>
              <p:cNvPr id="4" name="Object 18">
                <a:extLst>
                  <a:ext uri="{FF2B5EF4-FFF2-40B4-BE49-F238E27FC236}">
                    <a16:creationId xmlns:a16="http://schemas.microsoft.com/office/drawing/2014/main" id="{2769A2CA-3F57-1A70-9FDC-D4CFBCF49EF6}"/>
                  </a:ext>
                </a:extLst>
              </p:cNvPr>
              <p:cNvSpPr txBox="1"/>
              <p:nvPr/>
            </p:nvSpPr>
            <p:spPr>
              <a:xfrm>
                <a:off x="5543170" y="3768438"/>
                <a:ext cx="2136775" cy="685800"/>
              </a:xfrm>
              <a:prstGeom prst="rect">
                <a:avLst/>
              </a:prstGeom>
              <a:noFill/>
              <a:ln w="25400" cap="flat" cmpd="sng">
                <a:solidFill>
                  <a:schemeClr val="bg1"/>
                </a:solidFill>
                <a:prstDash val="solid"/>
                <a:miter/>
                <a:headEnd type="none" w="med" len="med"/>
                <a:tailEnd type="none" w="med" len="med"/>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𝜒</m:t>
                          </m:r>
                        </m:e>
                        <m:sub>
                          <m:r>
                            <a:rPr lang="en-US" sz="2800" b="0" i="1" smtClean="0">
                              <a:solidFill>
                                <a:srgbClr val="000000"/>
                              </a:solidFill>
                              <a:latin typeface="Cambria Math" panose="02040503050406030204" pitchFamily="18" charset="0"/>
                            </a:rPr>
                            <m:t>𝑚</m:t>
                          </m:r>
                        </m:sub>
                      </m:sSub>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𝜇</m:t>
                          </m:r>
                        </m:e>
                        <m:sub>
                          <m:r>
                            <a:rPr lang="en-US" sz="2800" b="0" i="1" smtClean="0">
                              <a:solidFill>
                                <a:srgbClr val="000000"/>
                              </a:solidFill>
                              <a:latin typeface="Cambria Math" panose="02040503050406030204" pitchFamily="18" charset="0"/>
                            </a:rPr>
                            <m:t>𝑟</m:t>
                          </m:r>
                        </m:sub>
                      </m:sSub>
                      <m:r>
                        <a:rPr lang="en-US" sz="2800" b="0" i="1" smtClean="0">
                          <a:solidFill>
                            <a:srgbClr val="000000"/>
                          </a:solidFill>
                          <a:latin typeface="Cambria Math" panose="02040503050406030204" pitchFamily="18" charset="0"/>
                        </a:rPr>
                        <m:t>−1</m:t>
                      </m:r>
                    </m:oMath>
                  </m:oMathPara>
                </a14:m>
                <a:endParaRPr lang="en-US" sz="2800"/>
              </a:p>
            </p:txBody>
          </p:sp>
        </mc:Choice>
        <mc:Fallback xmlns="">
          <p:sp>
            <p:nvSpPr>
              <p:cNvPr id="4" name="Object 18">
                <a:extLst>
                  <a:ext uri="{FF2B5EF4-FFF2-40B4-BE49-F238E27FC236}">
                    <a16:creationId xmlns:a16="http://schemas.microsoft.com/office/drawing/2014/main" id="{2769A2CA-3F57-1A70-9FDC-D4CFBCF49EF6}"/>
                  </a:ext>
                </a:extLst>
              </p:cNvPr>
              <p:cNvSpPr txBox="1">
                <a:spLocks noRot="1" noChangeAspect="1" noMove="1" noResize="1" noEditPoints="1" noAdjustHandles="1" noChangeArrowheads="1" noChangeShapeType="1" noTextEdit="1"/>
              </p:cNvSpPr>
              <p:nvPr/>
            </p:nvSpPr>
            <p:spPr>
              <a:xfrm>
                <a:off x="5543170" y="3768438"/>
                <a:ext cx="2136775" cy="685800"/>
              </a:xfrm>
              <a:prstGeom prst="rect">
                <a:avLst/>
              </a:prstGeom>
              <a:blipFill>
                <a:blip r:embed="rId6"/>
                <a:stretch>
                  <a:fillRect/>
                </a:stretch>
              </a:blipFill>
              <a:ln w="25400" cap="flat" cmpd="sng">
                <a:solidFill>
                  <a:schemeClr val="bg1"/>
                </a:solidFill>
                <a:prstDash val="solid"/>
                <a:miter/>
                <a:headEnd type="none" w="med" len="med"/>
                <a:tailEnd type="none" w="med" len="med"/>
              </a:ln>
            </p:spPr>
            <p:txBody>
              <a:bodyPr/>
              <a:lstStyle/>
              <a:p>
                <a:r>
                  <a:rPr lang="en-US">
                    <a:noFill/>
                  </a:rPr>
                  <a:t> </a:t>
                </a:r>
              </a:p>
            </p:txBody>
          </p:sp>
        </mc:Fallback>
      </mc:AlternateContent>
      <p:sp>
        <p:nvSpPr>
          <p:cNvPr id="6" name="文本框 5">
            <a:extLst>
              <a:ext uri="{FF2B5EF4-FFF2-40B4-BE49-F238E27FC236}">
                <a16:creationId xmlns:a16="http://schemas.microsoft.com/office/drawing/2014/main" id="{A6F6526B-3526-F4C2-6B36-55D1470C4070}"/>
              </a:ext>
            </a:extLst>
          </p:cNvPr>
          <p:cNvSpPr txBox="1"/>
          <p:nvPr/>
        </p:nvSpPr>
        <p:spPr>
          <a:xfrm>
            <a:off x="4324965" y="3854928"/>
            <a:ext cx="6096000" cy="523220"/>
          </a:xfrm>
          <a:prstGeom prst="rect">
            <a:avLst/>
          </a:prstGeom>
          <a:noFill/>
        </p:spPr>
        <p:txBody>
          <a:bodyPr wrap="square">
            <a:spAutoFit/>
          </a:bodyPr>
          <a:lstStyle/>
          <a:p>
            <a:r>
              <a:rPr lang="zh-CN" altLang="en-US" sz="2800" dirty="0"/>
              <a:t>磁化率</a:t>
            </a:r>
          </a:p>
        </p:txBody>
      </p:sp>
      <p:grpSp>
        <p:nvGrpSpPr>
          <p:cNvPr id="19" name="Group 16">
            <a:extLst>
              <a:ext uri="{FF2B5EF4-FFF2-40B4-BE49-F238E27FC236}">
                <a16:creationId xmlns:a16="http://schemas.microsoft.com/office/drawing/2014/main" id="{D983CC3B-260D-48C0-9E9D-72D97F9BDF06}"/>
              </a:ext>
            </a:extLst>
          </p:cNvPr>
          <p:cNvGrpSpPr/>
          <p:nvPr/>
        </p:nvGrpSpPr>
        <p:grpSpPr>
          <a:xfrm>
            <a:off x="4599676" y="4835686"/>
            <a:ext cx="2955925" cy="825500"/>
            <a:chOff x="171" y="2563"/>
            <a:chExt cx="1862" cy="520"/>
          </a:xfrm>
        </p:grpSpPr>
        <mc:AlternateContent xmlns:mc="http://schemas.openxmlformats.org/markup-compatibility/2006" xmlns:a14="http://schemas.microsoft.com/office/drawing/2010/main">
          <mc:Choice Requires="a14">
            <p:sp>
              <p:nvSpPr>
                <p:cNvPr id="22" name="Object 19">
                  <a:extLst>
                    <a:ext uri="{FF2B5EF4-FFF2-40B4-BE49-F238E27FC236}">
                      <a16:creationId xmlns:a16="http://schemas.microsoft.com/office/drawing/2014/main" id="{ADD982E6-36E6-4279-9AD5-1A9D67D315F2}"/>
                    </a:ext>
                  </a:extLst>
                </p:cNvPr>
                <p:cNvSpPr txBox="1"/>
                <p:nvPr/>
              </p:nvSpPr>
              <p:spPr>
                <a:xfrm>
                  <a:off x="1073" y="2563"/>
                  <a:ext cx="960" cy="52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r>
                          <a:rPr lang="en-US" sz="2800" b="0" i="1" smtClean="0">
                            <a:solidFill>
                              <a:srgbClr val="000000"/>
                            </a:solidFill>
                            <a:latin typeface="Cambria Math" panose="02040503050406030204" pitchFamily="18" charset="0"/>
                          </a:rPr>
                          <m:t>&lt;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e>
                          <m:sub>
                            <m:r>
                              <a:rPr lang="en-US" sz="2800" b="0" i="1" smtClean="0">
                                <a:solidFill>
                                  <a:srgbClr val="000000"/>
                                </a:solidFill>
                                <a:latin typeface="Cambria Math" panose="02040503050406030204" pitchFamily="18" charset="0"/>
                              </a:rPr>
                              <m:t>0</m:t>
                            </m:r>
                          </m:sub>
                        </m:sSub>
                      </m:oMath>
                    </m:oMathPara>
                  </a14:m>
                  <a:endParaRPr lang="en-US" sz="2800" dirty="0"/>
                </a:p>
              </p:txBody>
            </p:sp>
          </mc:Choice>
          <mc:Fallback xmlns="">
            <p:sp>
              <p:nvSpPr>
                <p:cNvPr id="22" name="Object 19">
                  <a:extLst>
                    <a:ext uri="{FF2B5EF4-FFF2-40B4-BE49-F238E27FC236}">
                      <a16:creationId xmlns:a16="http://schemas.microsoft.com/office/drawing/2014/main" id="{ADD982E6-36E6-4279-9AD5-1A9D67D315F2}"/>
                    </a:ext>
                  </a:extLst>
                </p:cNvPr>
                <p:cNvSpPr txBox="1">
                  <a:spLocks noRot="1" noChangeAspect="1" noMove="1" noResize="1" noEditPoints="1" noAdjustHandles="1" noChangeArrowheads="1" noChangeShapeType="1" noTextEdit="1"/>
                </p:cNvSpPr>
                <p:nvPr/>
              </p:nvSpPr>
              <p:spPr>
                <a:xfrm>
                  <a:off x="1073" y="2563"/>
                  <a:ext cx="960" cy="520"/>
                </a:xfrm>
                <a:prstGeom prst="rect">
                  <a:avLst/>
                </a:prstGeom>
                <a:blipFill>
                  <a:blip r:embed="rId7"/>
                  <a:stretch>
                    <a:fillRect/>
                  </a:stretch>
                </a:blipFill>
                <a:ln w="38100">
                  <a:noFill/>
                  <a:miter/>
                </a:ln>
              </p:spPr>
              <p:txBody>
                <a:bodyPr/>
                <a:lstStyle/>
                <a:p>
                  <a:r>
                    <a:rPr lang="en-US">
                      <a:noFill/>
                    </a:rPr>
                    <a:t> </a:t>
                  </a:r>
                </a:p>
              </p:txBody>
            </p:sp>
          </mc:Fallback>
        </mc:AlternateContent>
        <p:sp>
          <p:nvSpPr>
            <p:cNvPr id="23" name="Rectangle 20">
              <a:extLst>
                <a:ext uri="{FF2B5EF4-FFF2-40B4-BE49-F238E27FC236}">
                  <a16:creationId xmlns:a16="http://schemas.microsoft.com/office/drawing/2014/main" id="{ABB2304B-DD88-420B-AB8F-14218E58F6E2}"/>
                </a:ext>
              </a:extLst>
            </p:cNvPr>
            <p:cNvSpPr/>
            <p:nvPr/>
          </p:nvSpPr>
          <p:spPr>
            <a:xfrm>
              <a:off x="171" y="2566"/>
              <a:ext cx="1034" cy="327"/>
            </a:xfrm>
            <a:prstGeom prst="rect">
              <a:avLst/>
            </a:prstGeom>
            <a:noFill/>
            <a:ln w="9525">
              <a:noFill/>
            </a:ln>
          </p:spPr>
          <p:txBody>
            <a:bodyPr>
              <a:spAutoFit/>
            </a:bodyPr>
            <a:lstStyle/>
            <a:p>
              <a:r>
                <a:rPr lang="zh-CN" altLang="en-US" sz="2800" dirty="0">
                  <a:solidFill>
                    <a:srgbClr val="0000FF"/>
                  </a:solidFill>
                  <a:latin typeface="Times New Roman" panose="02020603050405020304" pitchFamily="18" charset="0"/>
                </a:rPr>
                <a:t>抗</a:t>
              </a:r>
              <a:r>
                <a:rPr lang="zh-CN" altLang="en-US" sz="2800" dirty="0">
                  <a:latin typeface="Times New Roman" panose="02020603050405020304" pitchFamily="18" charset="0"/>
                </a:rPr>
                <a:t>磁质</a:t>
              </a:r>
              <a:endParaRPr lang="zh-CN" altLang="en-US" sz="2800" dirty="0">
                <a:solidFill>
                  <a:srgbClr val="3333CC"/>
                </a:solidFill>
                <a:latin typeface="Times New Roman" panose="02020603050405020304" pitchFamily="18" charset="0"/>
              </a:endParaRPr>
            </a:p>
          </p:txBody>
        </p:sp>
      </p:grpSp>
      <p:grpSp>
        <p:nvGrpSpPr>
          <p:cNvPr id="24" name="Group 21">
            <a:extLst>
              <a:ext uri="{FF2B5EF4-FFF2-40B4-BE49-F238E27FC236}">
                <a16:creationId xmlns:a16="http://schemas.microsoft.com/office/drawing/2014/main" id="{597FE7FF-293C-40A5-B547-1BFDDB599101}"/>
              </a:ext>
            </a:extLst>
          </p:cNvPr>
          <p:cNvGrpSpPr/>
          <p:nvPr/>
        </p:nvGrpSpPr>
        <p:grpSpPr>
          <a:xfrm>
            <a:off x="7832076" y="4759896"/>
            <a:ext cx="3632200" cy="762000"/>
            <a:chOff x="672" y="3453"/>
            <a:chExt cx="1968" cy="443"/>
          </a:xfrm>
        </p:grpSpPr>
        <mc:AlternateContent xmlns:mc="http://schemas.openxmlformats.org/markup-compatibility/2006" xmlns:a14="http://schemas.microsoft.com/office/drawing/2010/main">
          <mc:Choice Requires="a14">
            <p:sp>
              <p:nvSpPr>
                <p:cNvPr id="25" name="Object 22">
                  <a:extLst>
                    <a:ext uri="{FF2B5EF4-FFF2-40B4-BE49-F238E27FC236}">
                      <a16:creationId xmlns:a16="http://schemas.microsoft.com/office/drawing/2014/main" id="{2B7AE6FE-EE72-473C-89FD-82D2CBB91C0C}"/>
                    </a:ext>
                  </a:extLst>
                </p:cNvPr>
                <p:cNvSpPr txBox="1"/>
                <p:nvPr/>
              </p:nvSpPr>
              <p:spPr>
                <a:xfrm>
                  <a:off x="1460" y="3453"/>
                  <a:ext cx="864" cy="44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r>
                          <a:rPr lang="en-US" sz="2800" b="0" i="1" smtClean="0">
                            <a:solidFill>
                              <a:srgbClr val="000000"/>
                            </a:solidFill>
                            <a:latin typeface="Cambria Math" panose="02040503050406030204" pitchFamily="18" charset="0"/>
                          </a:rPr>
                          <m:t>&gt;&gt;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e>
                          <m:sub>
                            <m:r>
                              <a:rPr lang="en-US" sz="2800" b="0" i="1" smtClean="0">
                                <a:solidFill>
                                  <a:srgbClr val="000000"/>
                                </a:solidFill>
                                <a:latin typeface="Cambria Math" panose="02040503050406030204" pitchFamily="18" charset="0"/>
                              </a:rPr>
                              <m:t>0</m:t>
                            </m:r>
                          </m:sub>
                        </m:sSub>
                      </m:oMath>
                    </m:oMathPara>
                  </a14:m>
                  <a:endParaRPr lang="en-US" sz="2800" dirty="0"/>
                </a:p>
              </p:txBody>
            </p:sp>
          </mc:Choice>
          <mc:Fallback xmlns="">
            <p:sp>
              <p:nvSpPr>
                <p:cNvPr id="25" name="Object 22">
                  <a:extLst>
                    <a:ext uri="{FF2B5EF4-FFF2-40B4-BE49-F238E27FC236}">
                      <a16:creationId xmlns:a16="http://schemas.microsoft.com/office/drawing/2014/main" id="{2B7AE6FE-EE72-473C-89FD-82D2CBB91C0C}"/>
                    </a:ext>
                  </a:extLst>
                </p:cNvPr>
                <p:cNvSpPr txBox="1">
                  <a:spLocks noRot="1" noChangeAspect="1" noMove="1" noResize="1" noEditPoints="1" noAdjustHandles="1" noChangeArrowheads="1" noChangeShapeType="1" noTextEdit="1"/>
                </p:cNvSpPr>
                <p:nvPr/>
              </p:nvSpPr>
              <p:spPr>
                <a:xfrm>
                  <a:off x="1460" y="3453"/>
                  <a:ext cx="864" cy="443"/>
                </a:xfrm>
                <a:prstGeom prst="rect">
                  <a:avLst/>
                </a:prstGeom>
                <a:blipFill>
                  <a:blip r:embed="rId8"/>
                  <a:stretch>
                    <a:fillRect/>
                  </a:stretch>
                </a:blipFill>
                <a:ln w="38100">
                  <a:noFill/>
                  <a:miter/>
                </a:ln>
              </p:spPr>
              <p:txBody>
                <a:bodyPr/>
                <a:lstStyle/>
                <a:p>
                  <a:r>
                    <a:rPr lang="zh-CN" altLang="en-US">
                      <a:noFill/>
                    </a:rPr>
                    <a:t> </a:t>
                  </a:r>
                </a:p>
              </p:txBody>
            </p:sp>
          </mc:Fallback>
        </mc:AlternateContent>
        <p:sp>
          <p:nvSpPr>
            <p:cNvPr id="26" name="Rectangle 23">
              <a:extLst>
                <a:ext uri="{FF2B5EF4-FFF2-40B4-BE49-F238E27FC236}">
                  <a16:creationId xmlns:a16="http://schemas.microsoft.com/office/drawing/2014/main" id="{A2189AB7-2EA8-4BA0-8079-E2A224D452DC}"/>
                </a:ext>
              </a:extLst>
            </p:cNvPr>
            <p:cNvSpPr/>
            <p:nvPr/>
          </p:nvSpPr>
          <p:spPr>
            <a:xfrm>
              <a:off x="672" y="3504"/>
              <a:ext cx="1968" cy="302"/>
            </a:xfrm>
            <a:prstGeom prst="rect">
              <a:avLst/>
            </a:prstGeom>
            <a:noFill/>
            <a:ln w="9525">
              <a:noFill/>
            </a:ln>
          </p:spPr>
          <p:txBody>
            <a:bodyPr>
              <a:spAutoFit/>
            </a:bodyPr>
            <a:lstStyle/>
            <a:p>
              <a:r>
                <a:rPr lang="zh-CN" altLang="en-US" sz="2800" dirty="0">
                  <a:solidFill>
                    <a:srgbClr val="CC3300"/>
                  </a:solidFill>
                  <a:latin typeface="Times New Roman" panose="02020603050405020304" pitchFamily="18" charset="0"/>
                </a:rPr>
                <a:t>铁</a:t>
              </a:r>
              <a:r>
                <a:rPr lang="zh-CN" altLang="en-US" sz="2800" dirty="0">
                  <a:latin typeface="Times New Roman" panose="02020603050405020304" pitchFamily="18" charset="0"/>
                </a:rPr>
                <a:t>磁质</a:t>
              </a:r>
              <a:endParaRPr lang="zh-CN" altLang="en-US" sz="2800" dirty="0">
                <a:solidFill>
                  <a:srgbClr val="A50021"/>
                </a:solidFill>
                <a:latin typeface="Times New Roman" panose="02020603050405020304" pitchFamily="18" charset="0"/>
              </a:endParaRPr>
            </a:p>
          </p:txBody>
        </p:sp>
      </p:grpSp>
      <p:sp>
        <p:nvSpPr>
          <p:cNvPr id="32" name="Text Box 17">
            <a:extLst>
              <a:ext uri="{FF2B5EF4-FFF2-40B4-BE49-F238E27FC236}">
                <a16:creationId xmlns:a16="http://schemas.microsoft.com/office/drawing/2014/main" id="{46167D69-B21C-4C6C-9711-BBE5B7536620}"/>
              </a:ext>
            </a:extLst>
          </p:cNvPr>
          <p:cNvSpPr txBox="1"/>
          <p:nvPr/>
        </p:nvSpPr>
        <p:spPr>
          <a:xfrm>
            <a:off x="1350871" y="4875458"/>
            <a:ext cx="2251075" cy="519113"/>
          </a:xfrm>
          <a:prstGeom prst="rect">
            <a:avLst/>
          </a:prstGeom>
          <a:noFill/>
          <a:ln w="9525">
            <a:noFill/>
          </a:ln>
        </p:spPr>
        <p:txBody>
          <a:bodyPr>
            <a:spAutoFit/>
          </a:bodyPr>
          <a:lstStyle/>
          <a:p>
            <a:pPr>
              <a:spcBef>
                <a:spcPct val="50000"/>
              </a:spcBef>
            </a:pPr>
            <a:r>
              <a:rPr lang="zh-CN" altLang="en-US" sz="2800" dirty="0">
                <a:latin typeface="Times New Roman" panose="02020603050405020304" pitchFamily="18" charset="0"/>
              </a:rPr>
              <a:t>顺磁质 </a:t>
            </a:r>
            <a:endParaRPr lang="zh-CN" altLang="en-US" sz="2800" dirty="0">
              <a:solidFill>
                <a:srgbClr val="A50021"/>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3" name="Object 18">
                <a:extLst>
                  <a:ext uri="{FF2B5EF4-FFF2-40B4-BE49-F238E27FC236}">
                    <a16:creationId xmlns:a16="http://schemas.microsoft.com/office/drawing/2014/main" id="{C04EF5FF-797A-40CD-9598-A245C2CEC444}"/>
                  </a:ext>
                </a:extLst>
              </p:cNvPr>
              <p:cNvSpPr txBox="1"/>
              <p:nvPr/>
            </p:nvSpPr>
            <p:spPr>
              <a:xfrm>
                <a:off x="2662858" y="4831335"/>
                <a:ext cx="1524000" cy="82550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r>
                        <a:rPr lang="en-US" sz="2800" b="0" i="1" smtClean="0">
                          <a:solidFill>
                            <a:srgbClr val="000000"/>
                          </a:solidFill>
                          <a:latin typeface="Cambria Math" panose="02040503050406030204" pitchFamily="18" charset="0"/>
                        </a:rPr>
                        <m:t>&gt;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e>
                        <m:sub>
                          <m:r>
                            <a:rPr lang="en-US" sz="2800" b="0" i="1" smtClean="0">
                              <a:solidFill>
                                <a:srgbClr val="000000"/>
                              </a:solidFill>
                              <a:latin typeface="Cambria Math" panose="02040503050406030204" pitchFamily="18" charset="0"/>
                            </a:rPr>
                            <m:t>0</m:t>
                          </m:r>
                        </m:sub>
                      </m:sSub>
                    </m:oMath>
                  </m:oMathPara>
                </a14:m>
                <a:endParaRPr lang="en-US" sz="2800" dirty="0"/>
              </a:p>
            </p:txBody>
          </p:sp>
        </mc:Choice>
        <mc:Fallback xmlns="">
          <p:sp>
            <p:nvSpPr>
              <p:cNvPr id="33" name="Object 18">
                <a:extLst>
                  <a:ext uri="{FF2B5EF4-FFF2-40B4-BE49-F238E27FC236}">
                    <a16:creationId xmlns:a16="http://schemas.microsoft.com/office/drawing/2014/main" id="{C04EF5FF-797A-40CD-9598-A245C2CEC444}"/>
                  </a:ext>
                </a:extLst>
              </p:cNvPr>
              <p:cNvSpPr txBox="1">
                <a:spLocks noRot="1" noChangeAspect="1" noMove="1" noResize="1" noEditPoints="1" noAdjustHandles="1" noChangeArrowheads="1" noChangeShapeType="1" noTextEdit="1"/>
              </p:cNvSpPr>
              <p:nvPr/>
            </p:nvSpPr>
            <p:spPr>
              <a:xfrm>
                <a:off x="2662858" y="4831335"/>
                <a:ext cx="1524000" cy="825500"/>
              </a:xfrm>
              <a:prstGeom prst="rect">
                <a:avLst/>
              </a:prstGeom>
              <a:blipFill>
                <a:blip r:embed="rId9"/>
                <a:stretch>
                  <a:fillRect/>
                </a:stretch>
              </a:blipFill>
              <a:ln w="38100">
                <a:noFill/>
                <a:miter/>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3202760-E268-9335-F984-90B64A6D83E2}"/>
              </a:ext>
            </a:extLst>
          </p:cNvPr>
          <p:cNvSpPr>
            <a:spLocks noChangeArrowheads="1"/>
          </p:cNvSpPr>
          <p:nvPr/>
        </p:nvSpPr>
        <p:spPr bwMode="auto">
          <a:xfrm>
            <a:off x="816588" y="772427"/>
            <a:ext cx="436199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dirty="0">
                <a:solidFill>
                  <a:srgbClr val="0066FF"/>
                </a:solidFill>
                <a:ea typeface="华文楷体" panose="02010600040101010101" pitchFamily="2" charset="-122"/>
              </a:rPr>
              <a:t>磁介质</a:t>
            </a:r>
            <a:endParaRPr lang="zh-CN" altLang="en-US" sz="3200" dirty="0">
              <a:solidFill>
                <a:srgbClr val="0066FF"/>
              </a:solidFill>
              <a:latin typeface="华文楷体" panose="02010600040101010101" pitchFamily="2" charset="-122"/>
              <a:ea typeface="华文楷体" panose="02010600040101010101" pitchFamily="2" charset="-122"/>
            </a:endParaRPr>
          </a:p>
        </p:txBody>
      </p:sp>
      <p:sp>
        <p:nvSpPr>
          <p:cNvPr id="27" name="文本框 26">
            <a:extLst>
              <a:ext uri="{FF2B5EF4-FFF2-40B4-BE49-F238E27FC236}">
                <a16:creationId xmlns:a16="http://schemas.microsoft.com/office/drawing/2014/main" id="{E7FFAB9D-1EC2-45C7-A810-3A7EE167F5FF}"/>
              </a:ext>
            </a:extLst>
          </p:cNvPr>
          <p:cNvSpPr txBox="1"/>
          <p:nvPr/>
        </p:nvSpPr>
        <p:spPr>
          <a:xfrm>
            <a:off x="2117969" y="1772291"/>
            <a:ext cx="4852610" cy="523220"/>
          </a:xfrm>
          <a:prstGeom prst="rect">
            <a:avLst/>
          </a:prstGeom>
          <a:noFill/>
        </p:spPr>
        <p:txBody>
          <a:bodyPr wrap="none" rtlCol="0">
            <a:spAutoFit/>
          </a:bodyPr>
          <a:lstStyle/>
          <a:p>
            <a:r>
              <a:rPr lang="zh-CN" altLang="en-US" sz="2800" dirty="0"/>
              <a:t>能和磁场发生相互作用的物质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28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133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P spid="292897" grpId="0"/>
      <p:bldP spid="4" grpId="0" animBg="1"/>
      <p:bldP spid="6" grpId="0"/>
      <p:bldP spid="32" grpId="0"/>
      <p:bldP spid="3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71B962DD-FC36-4F91-A5DD-B3C7B5F302AA}"/>
              </a:ext>
            </a:extLst>
          </p:cNvPr>
          <p:cNvSpPr>
            <a:spLocks noChangeArrowheads="1"/>
          </p:cNvSpPr>
          <p:nvPr/>
        </p:nvSpPr>
        <p:spPr bwMode="auto">
          <a:xfrm>
            <a:off x="804862" y="451218"/>
            <a:ext cx="436199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dirty="0">
                <a:solidFill>
                  <a:srgbClr val="0066FF"/>
                </a:solidFill>
                <a:ea typeface="华文楷体" panose="02010600040101010101" pitchFamily="2" charset="-122"/>
              </a:rPr>
              <a:t>磁介质的</a:t>
            </a:r>
            <a:r>
              <a:rPr lang="zh-CN" altLang="en-US" sz="3200" dirty="0">
                <a:solidFill>
                  <a:srgbClr val="0066FF"/>
                </a:solidFill>
                <a:latin typeface="华文楷体" panose="02010600040101010101" pitchFamily="2" charset="-122"/>
                <a:ea typeface="华文楷体" panose="02010600040101010101" pitchFamily="2" charset="-122"/>
              </a:rPr>
              <a:t>微观结构</a:t>
            </a:r>
          </a:p>
        </p:txBody>
      </p:sp>
      <p:sp>
        <p:nvSpPr>
          <p:cNvPr id="11280" name="Text Box 16">
            <a:extLst>
              <a:ext uri="{FF2B5EF4-FFF2-40B4-BE49-F238E27FC236}">
                <a16:creationId xmlns:a16="http://schemas.microsoft.com/office/drawing/2014/main" id="{D2700CAC-4B16-432B-9672-E70A423B8D87}"/>
              </a:ext>
            </a:extLst>
          </p:cNvPr>
          <p:cNvSpPr txBox="1">
            <a:spLocks noChangeArrowheads="1"/>
          </p:cNvSpPr>
          <p:nvPr/>
        </p:nvSpPr>
        <p:spPr bwMode="auto">
          <a:xfrm>
            <a:off x="1732628" y="2252459"/>
            <a:ext cx="872674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latin typeface="华文楷体" panose="02010600040101010101" pitchFamily="2" charset="-122"/>
                <a:ea typeface="华文楷体" panose="02010600040101010101" pitchFamily="2" charset="-122"/>
              </a:rPr>
              <a:t>原子磁矩 </a:t>
            </a: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核磁矩 </a:t>
            </a:r>
            <a:r>
              <a:rPr lang="en-US" altLang="zh-CN" dirty="0">
                <a:latin typeface="华文楷体" panose="02010600040101010101" pitchFamily="2" charset="-122"/>
                <a:ea typeface="华文楷体" panose="02010600040101010101" pitchFamily="2" charset="-122"/>
              </a:rPr>
              <a:t>+ </a:t>
            </a:r>
            <a:r>
              <a:rPr lang="zh-CN" altLang="en-US" dirty="0">
                <a:solidFill>
                  <a:srgbClr val="FF0000"/>
                </a:solidFill>
                <a:latin typeface="华文楷体" panose="02010600040101010101" pitchFamily="2" charset="-122"/>
                <a:ea typeface="华文楷体" panose="02010600040101010101" pitchFamily="2" charset="-122"/>
              </a:rPr>
              <a:t>电子轨道磁矩</a:t>
            </a:r>
            <a:r>
              <a:rPr lang="en-US" altLang="zh-CN" dirty="0">
                <a:solidFill>
                  <a:srgbClr val="FF0000"/>
                </a:solidFill>
                <a:latin typeface="华文楷体" panose="02010600040101010101" pitchFamily="2" charset="-122"/>
                <a:ea typeface="华文楷体" panose="02010600040101010101" pitchFamily="2" charset="-122"/>
              </a:rPr>
              <a:t>+ </a:t>
            </a:r>
            <a:r>
              <a:rPr lang="zh-CN" altLang="en-US" dirty="0">
                <a:solidFill>
                  <a:srgbClr val="FF0000"/>
                </a:solidFill>
                <a:latin typeface="华文楷体" panose="02010600040101010101" pitchFamily="2" charset="-122"/>
                <a:ea typeface="华文楷体" panose="02010600040101010101" pitchFamily="2" charset="-122"/>
              </a:rPr>
              <a:t>电子自旋磁矩</a:t>
            </a:r>
          </a:p>
        </p:txBody>
      </p:sp>
      <p:sp>
        <p:nvSpPr>
          <p:cNvPr id="11281" name="Text Box 17">
            <a:extLst>
              <a:ext uri="{FF2B5EF4-FFF2-40B4-BE49-F238E27FC236}">
                <a16:creationId xmlns:a16="http://schemas.microsoft.com/office/drawing/2014/main" id="{42CE8389-6F42-4D50-987F-7B10D8C581DD}"/>
              </a:ext>
            </a:extLst>
          </p:cNvPr>
          <p:cNvSpPr txBox="1">
            <a:spLocks noChangeArrowheads="1"/>
          </p:cNvSpPr>
          <p:nvPr/>
        </p:nvSpPr>
        <p:spPr bwMode="auto">
          <a:xfrm>
            <a:off x="1787462" y="1238249"/>
            <a:ext cx="4206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ea typeface="华文楷体" panose="02010600040101010101" pitchFamily="2" charset="-122"/>
              </a:rPr>
              <a:t>实验发现粒子一般有磁矩</a:t>
            </a:r>
          </a:p>
        </p:txBody>
      </p:sp>
      <p:sp>
        <p:nvSpPr>
          <p:cNvPr id="6" name="Text Box 1027">
            <a:extLst>
              <a:ext uri="{FF2B5EF4-FFF2-40B4-BE49-F238E27FC236}">
                <a16:creationId xmlns:a16="http://schemas.microsoft.com/office/drawing/2014/main" id="{71AFD887-FA9F-4385-B2AA-EA373E50DA0A}"/>
              </a:ext>
            </a:extLst>
          </p:cNvPr>
          <p:cNvSpPr txBox="1">
            <a:spLocks noChangeArrowheads="1"/>
          </p:cNvSpPr>
          <p:nvPr/>
        </p:nvSpPr>
        <p:spPr bwMode="auto">
          <a:xfrm>
            <a:off x="1408430" y="3181034"/>
            <a:ext cx="3124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0" dirty="0">
                <a:ea typeface="华文楷体" panose="02010600040101010101" pitchFamily="2" charset="-122"/>
              </a:rPr>
              <a:t>电子轨道磁矩</a:t>
            </a:r>
          </a:p>
        </p:txBody>
      </p:sp>
      <p:sp>
        <p:nvSpPr>
          <p:cNvPr id="7" name="Text Box 1028">
            <a:extLst>
              <a:ext uri="{FF2B5EF4-FFF2-40B4-BE49-F238E27FC236}">
                <a16:creationId xmlns:a16="http://schemas.microsoft.com/office/drawing/2014/main" id="{3A307712-90DF-439B-B76D-37653D83D087}"/>
              </a:ext>
            </a:extLst>
          </p:cNvPr>
          <p:cNvSpPr txBox="1">
            <a:spLocks noChangeArrowheads="1"/>
          </p:cNvSpPr>
          <p:nvPr/>
        </p:nvSpPr>
        <p:spPr bwMode="auto">
          <a:xfrm>
            <a:off x="1408430" y="4000184"/>
            <a:ext cx="3124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0" dirty="0">
                <a:ea typeface="华文楷体" panose="02010600040101010101" pitchFamily="2" charset="-122"/>
              </a:rPr>
              <a:t>电子自旋磁矩</a:t>
            </a:r>
          </a:p>
        </p:txBody>
      </p:sp>
      <p:sp>
        <p:nvSpPr>
          <p:cNvPr id="8" name="Text Box 1029">
            <a:extLst>
              <a:ext uri="{FF2B5EF4-FFF2-40B4-BE49-F238E27FC236}">
                <a16:creationId xmlns:a16="http://schemas.microsoft.com/office/drawing/2014/main" id="{915B6754-9BA1-4C2A-9C97-5E679B84E596}"/>
              </a:ext>
            </a:extLst>
          </p:cNvPr>
          <p:cNvSpPr txBox="1">
            <a:spLocks noChangeArrowheads="1"/>
          </p:cNvSpPr>
          <p:nvPr/>
        </p:nvSpPr>
        <p:spPr bwMode="auto">
          <a:xfrm>
            <a:off x="1408430" y="4781234"/>
            <a:ext cx="3124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0" dirty="0">
                <a:ea typeface="华文楷体" panose="02010600040101010101" pitchFamily="2" charset="-122"/>
              </a:rPr>
              <a:t>原子核的磁矩</a:t>
            </a:r>
          </a:p>
        </p:txBody>
      </p:sp>
      <p:sp>
        <p:nvSpPr>
          <p:cNvPr id="9" name="AutoShape 1030">
            <a:extLst>
              <a:ext uri="{FF2B5EF4-FFF2-40B4-BE49-F238E27FC236}">
                <a16:creationId xmlns:a16="http://schemas.microsoft.com/office/drawing/2014/main" id="{C308FDD7-8D53-4E9D-B372-DAECD02667F3}"/>
              </a:ext>
            </a:extLst>
          </p:cNvPr>
          <p:cNvSpPr>
            <a:spLocks/>
          </p:cNvSpPr>
          <p:nvPr/>
        </p:nvSpPr>
        <p:spPr bwMode="auto">
          <a:xfrm>
            <a:off x="4075430" y="3504883"/>
            <a:ext cx="152400" cy="1524000"/>
          </a:xfrm>
          <a:prstGeom prst="rightBrace">
            <a:avLst>
              <a:gd name="adj1" fmla="val 83333"/>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dirty="0">
              <a:ea typeface="华文楷体" panose="02010600040101010101" pitchFamily="2" charset="-122"/>
            </a:endParaRPr>
          </a:p>
        </p:txBody>
      </p:sp>
      <p:sp>
        <p:nvSpPr>
          <p:cNvPr id="10" name="Text Box 1045">
            <a:extLst>
              <a:ext uri="{FF2B5EF4-FFF2-40B4-BE49-F238E27FC236}">
                <a16:creationId xmlns:a16="http://schemas.microsoft.com/office/drawing/2014/main" id="{8B1EF376-EF93-4A85-A767-4819175C1C04}"/>
              </a:ext>
            </a:extLst>
          </p:cNvPr>
          <p:cNvSpPr txBox="1">
            <a:spLocks noChangeArrowheads="1"/>
          </p:cNvSpPr>
          <p:nvPr/>
        </p:nvSpPr>
        <p:spPr bwMode="auto">
          <a:xfrm>
            <a:off x="7733031" y="4019234"/>
            <a:ext cx="23542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0" dirty="0">
                <a:ea typeface="华文楷体" panose="02010600040101010101" pitchFamily="2" charset="-122"/>
              </a:rPr>
              <a:t>分子电流 </a:t>
            </a:r>
            <a:r>
              <a:rPr lang="en-US" altLang="zh-CN" sz="3200" b="0" i="1" dirty="0" err="1">
                <a:ea typeface="华文楷体" panose="02010600040101010101" pitchFamily="2" charset="-122"/>
              </a:rPr>
              <a:t>i</a:t>
            </a:r>
            <a:r>
              <a:rPr lang="zh-CN" altLang="en-US" sz="3200" b="0" baseline="-25000" dirty="0">
                <a:ea typeface="华文楷体" panose="02010600040101010101" pitchFamily="2" charset="-122"/>
              </a:rPr>
              <a:t>分</a:t>
            </a:r>
          </a:p>
        </p:txBody>
      </p:sp>
      <p:grpSp>
        <p:nvGrpSpPr>
          <p:cNvPr id="11" name="Group 1046">
            <a:extLst>
              <a:ext uri="{FF2B5EF4-FFF2-40B4-BE49-F238E27FC236}">
                <a16:creationId xmlns:a16="http://schemas.microsoft.com/office/drawing/2014/main" id="{D1F88EBF-15FE-41E4-A923-ADCE1A242523}"/>
              </a:ext>
            </a:extLst>
          </p:cNvPr>
          <p:cNvGrpSpPr>
            <a:grpSpLocks/>
          </p:cNvGrpSpPr>
          <p:nvPr/>
        </p:nvGrpSpPr>
        <p:grpSpPr bwMode="auto">
          <a:xfrm>
            <a:off x="4227830" y="4000184"/>
            <a:ext cx="3124200" cy="579437"/>
            <a:chOff x="2880" y="2400"/>
            <a:chExt cx="1968" cy="365"/>
          </a:xfrm>
        </p:grpSpPr>
        <p:sp>
          <p:nvSpPr>
            <p:cNvPr id="12" name="Text Box 1047">
              <a:extLst>
                <a:ext uri="{FF2B5EF4-FFF2-40B4-BE49-F238E27FC236}">
                  <a16:creationId xmlns:a16="http://schemas.microsoft.com/office/drawing/2014/main" id="{10B2E884-AC3B-4337-8A36-4F15B74CAFDF}"/>
                </a:ext>
              </a:extLst>
            </p:cNvPr>
            <p:cNvSpPr txBox="1">
              <a:spLocks noChangeArrowheads="1"/>
            </p:cNvSpPr>
            <p:nvPr/>
          </p:nvSpPr>
          <p:spPr bwMode="auto">
            <a:xfrm>
              <a:off x="2880" y="2400"/>
              <a:ext cx="196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0" dirty="0">
                  <a:ea typeface="华文楷体" panose="02010600040101010101" pitchFamily="2" charset="-122"/>
                </a:rPr>
                <a:t>分子磁矩 </a:t>
              </a:r>
              <a:r>
                <a:rPr lang="en-US" altLang="zh-CN" sz="3200" b="0" i="1" dirty="0">
                  <a:ea typeface="华文楷体" panose="02010600040101010101" pitchFamily="2" charset="-122"/>
                </a:rPr>
                <a:t>m</a:t>
              </a:r>
              <a:r>
                <a:rPr lang="zh-CN" altLang="en-US" sz="3200" b="0" baseline="-25000" dirty="0">
                  <a:ea typeface="华文楷体" panose="02010600040101010101" pitchFamily="2" charset="-122"/>
                </a:rPr>
                <a:t>分</a:t>
              </a:r>
              <a:endParaRPr lang="zh-CN" altLang="en-US" sz="3200" b="0" dirty="0">
                <a:ea typeface="华文楷体" panose="02010600040101010101" pitchFamily="2" charset="-122"/>
              </a:endParaRPr>
            </a:p>
          </p:txBody>
        </p:sp>
        <p:sp>
          <p:nvSpPr>
            <p:cNvPr id="13" name="Line 1048">
              <a:extLst>
                <a:ext uri="{FF2B5EF4-FFF2-40B4-BE49-F238E27FC236}">
                  <a16:creationId xmlns:a16="http://schemas.microsoft.com/office/drawing/2014/main" id="{A0070939-1581-43A4-99F7-75F8831D019F}"/>
                </a:ext>
              </a:extLst>
            </p:cNvPr>
            <p:cNvSpPr>
              <a:spLocks noChangeShapeType="1"/>
            </p:cNvSpPr>
            <p:nvPr/>
          </p:nvSpPr>
          <p:spPr bwMode="auto">
            <a:xfrm>
              <a:off x="4056" y="2496"/>
              <a:ext cx="192"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4" name="Group 1049">
            <a:extLst>
              <a:ext uri="{FF2B5EF4-FFF2-40B4-BE49-F238E27FC236}">
                <a16:creationId xmlns:a16="http://schemas.microsoft.com/office/drawing/2014/main" id="{B87DC408-0928-4272-80C0-875EBDB75A42}"/>
              </a:ext>
            </a:extLst>
          </p:cNvPr>
          <p:cNvGrpSpPr>
            <a:grpSpLocks/>
          </p:cNvGrpSpPr>
          <p:nvPr/>
        </p:nvGrpSpPr>
        <p:grpSpPr bwMode="auto">
          <a:xfrm>
            <a:off x="6685280" y="3847783"/>
            <a:ext cx="1162050" cy="514350"/>
            <a:chOff x="3576" y="1452"/>
            <a:chExt cx="732" cy="324"/>
          </a:xfrm>
        </p:grpSpPr>
        <p:sp>
          <p:nvSpPr>
            <p:cNvPr id="15" name="Line 1050">
              <a:extLst>
                <a:ext uri="{FF2B5EF4-FFF2-40B4-BE49-F238E27FC236}">
                  <a16:creationId xmlns:a16="http://schemas.microsoft.com/office/drawing/2014/main" id="{C2ADB5B8-1D42-49CC-8DA3-EB160C909CBD}"/>
                </a:ext>
              </a:extLst>
            </p:cNvPr>
            <p:cNvSpPr>
              <a:spLocks noChangeShapeType="1"/>
            </p:cNvSpPr>
            <p:nvPr/>
          </p:nvSpPr>
          <p:spPr bwMode="auto">
            <a:xfrm>
              <a:off x="3636" y="1776"/>
              <a:ext cx="672" cy="0"/>
            </a:xfrm>
            <a:prstGeom prst="line">
              <a:avLst/>
            </a:prstGeom>
            <a:noFill/>
            <a:ln w="5715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600"/>
            </a:p>
          </p:txBody>
        </p:sp>
        <p:sp>
          <p:nvSpPr>
            <p:cNvPr id="16" name="Text Box 1051">
              <a:extLst>
                <a:ext uri="{FF2B5EF4-FFF2-40B4-BE49-F238E27FC236}">
                  <a16:creationId xmlns:a16="http://schemas.microsoft.com/office/drawing/2014/main" id="{1385DEAE-2967-4871-ACA7-E62D20F267FE}"/>
                </a:ext>
              </a:extLst>
            </p:cNvPr>
            <p:cNvSpPr txBox="1">
              <a:spLocks noChangeArrowheads="1"/>
            </p:cNvSpPr>
            <p:nvPr/>
          </p:nvSpPr>
          <p:spPr bwMode="auto">
            <a:xfrm>
              <a:off x="3576" y="1452"/>
              <a:ext cx="624"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600" b="0" dirty="0">
                  <a:ea typeface="华文楷体" panose="02010600040101010101" pitchFamily="2" charset="-122"/>
                </a:rPr>
                <a:t>等效</a:t>
              </a:r>
            </a:p>
          </p:txBody>
        </p:sp>
      </p:grpSp>
      <p:grpSp>
        <p:nvGrpSpPr>
          <p:cNvPr id="17" name="Group 47">
            <a:extLst>
              <a:ext uri="{FF2B5EF4-FFF2-40B4-BE49-F238E27FC236}">
                <a16:creationId xmlns:a16="http://schemas.microsoft.com/office/drawing/2014/main" id="{E2A5C5A9-2137-42A9-B18E-8195F6A8E0D8}"/>
              </a:ext>
            </a:extLst>
          </p:cNvPr>
          <p:cNvGrpSpPr>
            <a:grpSpLocks/>
          </p:cNvGrpSpPr>
          <p:nvPr/>
        </p:nvGrpSpPr>
        <p:grpSpPr bwMode="auto">
          <a:xfrm>
            <a:off x="10071418" y="4000184"/>
            <a:ext cx="1952625" cy="1931987"/>
            <a:chOff x="3783" y="2691"/>
            <a:chExt cx="1230" cy="1217"/>
          </a:xfrm>
        </p:grpSpPr>
        <p:sp>
          <p:nvSpPr>
            <p:cNvPr id="18" name="Oval 12">
              <a:extLst>
                <a:ext uri="{FF2B5EF4-FFF2-40B4-BE49-F238E27FC236}">
                  <a16:creationId xmlns:a16="http://schemas.microsoft.com/office/drawing/2014/main" id="{736D1008-B7FC-4450-BBDB-1577982BF731}"/>
                </a:ext>
              </a:extLst>
            </p:cNvPr>
            <p:cNvSpPr>
              <a:spLocks noChangeArrowheads="1"/>
            </p:cNvSpPr>
            <p:nvPr/>
          </p:nvSpPr>
          <p:spPr bwMode="auto">
            <a:xfrm rot="2113889">
              <a:off x="3783" y="3019"/>
              <a:ext cx="1073" cy="353"/>
            </a:xfrm>
            <a:prstGeom prst="ellipse">
              <a:avLst/>
            </a:prstGeom>
            <a:gradFill rotWithShape="0">
              <a:gsLst>
                <a:gs pos="0">
                  <a:srgbClr val="FFFFFF">
                    <a:gamma/>
                    <a:shade val="42745"/>
                    <a:invGamma/>
                  </a:srgbClr>
                </a:gs>
                <a:gs pos="100000">
                  <a:srgbClr val="FFFFFF"/>
                </a:gs>
              </a:gsLst>
              <a:lin ang="0" scaled="1"/>
            </a:gradFill>
            <a:ln w="38100">
              <a:solidFill>
                <a:srgbClr val="FF0033"/>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3200"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9" name="Line 14">
              <a:extLst>
                <a:ext uri="{FF2B5EF4-FFF2-40B4-BE49-F238E27FC236}">
                  <a16:creationId xmlns:a16="http://schemas.microsoft.com/office/drawing/2014/main" id="{AE831D86-D941-444C-8B43-D545904D0C00}"/>
                </a:ext>
              </a:extLst>
            </p:cNvPr>
            <p:cNvSpPr>
              <a:spLocks noChangeShapeType="1"/>
            </p:cNvSpPr>
            <p:nvPr/>
          </p:nvSpPr>
          <p:spPr bwMode="auto">
            <a:xfrm flipV="1">
              <a:off x="4348" y="2693"/>
              <a:ext cx="402" cy="496"/>
            </a:xfrm>
            <a:prstGeom prst="line">
              <a:avLst/>
            </a:prstGeom>
            <a:noFill/>
            <a:ln w="38100">
              <a:solidFill>
                <a:srgbClr val="FF00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3200"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20" name="Object 15">
              <a:extLst>
                <a:ext uri="{FF2B5EF4-FFF2-40B4-BE49-F238E27FC236}">
                  <a16:creationId xmlns:a16="http://schemas.microsoft.com/office/drawing/2014/main" id="{56E19E1E-C8F2-4DEF-A88B-12A412FF7CA2}"/>
                </a:ext>
              </a:extLst>
            </p:cNvPr>
            <p:cNvGraphicFramePr>
              <a:graphicFrameLocks noChangeAspect="1"/>
            </p:cNvGraphicFramePr>
            <p:nvPr/>
          </p:nvGraphicFramePr>
          <p:xfrm>
            <a:off x="4823" y="2691"/>
            <a:ext cx="190" cy="279"/>
          </p:xfrm>
          <a:graphic>
            <a:graphicData uri="http://schemas.openxmlformats.org/presentationml/2006/ole">
              <mc:AlternateContent xmlns:mc="http://schemas.openxmlformats.org/markup-compatibility/2006">
                <mc:Choice xmlns:v="urn:schemas-microsoft-com:vml" Requires="v">
                  <p:oleObj spid="_x0000_s11290" name="公式" r:id="rId3" imgW="190440" imgH="279360" progId="Equation.3">
                    <p:embed/>
                  </p:oleObj>
                </mc:Choice>
                <mc:Fallback>
                  <p:oleObj name="公式" r:id="rId3" imgW="190440" imgH="279360" progId="Equation.3">
                    <p:embed/>
                    <p:pic>
                      <p:nvPicPr>
                        <p:cNvPr id="33" name="Object 15">
                          <a:extLst>
                            <a:ext uri="{FF2B5EF4-FFF2-40B4-BE49-F238E27FC236}">
                              <a16:creationId xmlns:a16="http://schemas.microsoft.com/office/drawing/2014/main" id="{9AFC772B-5CEB-42A9-8F85-9618CEB026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3" y="2691"/>
                          <a:ext cx="190"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Text Box 16">
              <a:extLst>
                <a:ext uri="{FF2B5EF4-FFF2-40B4-BE49-F238E27FC236}">
                  <a16:creationId xmlns:a16="http://schemas.microsoft.com/office/drawing/2014/main" id="{345D957D-BA74-43E0-87D9-09DF74A1A4E8}"/>
                </a:ext>
              </a:extLst>
            </p:cNvPr>
            <p:cNvSpPr txBox="1">
              <a:spLocks noChangeArrowheads="1"/>
            </p:cNvSpPr>
            <p:nvPr/>
          </p:nvSpPr>
          <p:spPr bwMode="auto">
            <a:xfrm>
              <a:off x="3797" y="3202"/>
              <a:ext cx="452"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0" fontAlgn="base" hangingPunct="0">
                <a:spcBef>
                  <a:spcPct val="50000"/>
                </a:spcBef>
                <a:spcAft>
                  <a:spcPct val="0"/>
                </a:spcAft>
              </a:pPr>
              <a:r>
                <a:rPr lang="en-US" altLang="zh-CN" sz="3200" i="1" dirty="0">
                  <a:solidFill>
                    <a:srgbClr val="FF0033"/>
                  </a:solidFill>
                  <a:ea typeface="华文楷体" panose="02010600040101010101" pitchFamily="2" charset="-122"/>
                  <a:cs typeface="Times New Roman" panose="02020603050405020304" pitchFamily="18" charset="0"/>
                </a:rPr>
                <a:t>I</a:t>
              </a:r>
              <a:endParaRPr lang="en-US" altLang="zh-CN" sz="3200" dirty="0">
                <a:solidFill>
                  <a:srgbClr val="0000CC"/>
                </a:solidFill>
                <a:ea typeface="华文楷体" panose="02010600040101010101" pitchFamily="2" charset="-122"/>
                <a:cs typeface="Times New Roman" panose="02020603050405020304" pitchFamily="18" charset="0"/>
              </a:endParaRPr>
            </a:p>
          </p:txBody>
        </p:sp>
        <p:graphicFrame>
          <p:nvGraphicFramePr>
            <p:cNvPr id="22" name="Object 22">
              <a:extLst>
                <a:ext uri="{FF2B5EF4-FFF2-40B4-BE49-F238E27FC236}">
                  <a16:creationId xmlns:a16="http://schemas.microsoft.com/office/drawing/2014/main" id="{18A5B033-6A8C-4865-A577-095A0F1520D6}"/>
                </a:ext>
              </a:extLst>
            </p:cNvPr>
            <p:cNvGraphicFramePr>
              <a:graphicFrameLocks noChangeAspect="1"/>
            </p:cNvGraphicFramePr>
            <p:nvPr/>
          </p:nvGraphicFramePr>
          <p:xfrm>
            <a:off x="3804" y="3534"/>
            <a:ext cx="1018" cy="374"/>
          </p:xfrm>
          <a:graphic>
            <a:graphicData uri="http://schemas.openxmlformats.org/presentationml/2006/ole">
              <mc:AlternateContent xmlns:mc="http://schemas.openxmlformats.org/markup-compatibility/2006">
                <mc:Choice xmlns:v="urn:schemas-microsoft-com:vml" Requires="v">
                  <p:oleObj spid="_x0000_s11291" name="公式" r:id="rId5" imgW="583920" imgH="215640" progId="Equation.3">
                    <p:embed/>
                  </p:oleObj>
                </mc:Choice>
                <mc:Fallback>
                  <p:oleObj name="公式" r:id="rId5" imgW="583920" imgH="215640" progId="Equation.3">
                    <p:embed/>
                    <p:pic>
                      <p:nvPicPr>
                        <p:cNvPr id="35" name="Object 22">
                          <a:extLst>
                            <a:ext uri="{FF2B5EF4-FFF2-40B4-BE49-F238E27FC236}">
                              <a16:creationId xmlns:a16="http://schemas.microsoft.com/office/drawing/2014/main" id="{8412E609-4927-4755-846B-0CDC1E07A2FC}"/>
                            </a:ext>
                          </a:extLst>
                        </p:cNvPr>
                        <p:cNvPicPr>
                          <a:picLocks noChangeAspect="1" noChangeArrowheads="1"/>
                        </p:cNvPicPr>
                        <p:nvPr/>
                      </p:nvPicPr>
                      <p:blipFill>
                        <a:blip r:embed="rId6"/>
                        <a:srcRect/>
                        <a:stretch>
                          <a:fillRect/>
                        </a:stretch>
                      </p:blipFill>
                      <p:spPr bwMode="auto">
                        <a:xfrm>
                          <a:off x="3804" y="3534"/>
                          <a:ext cx="1018" cy="3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Line 36">
              <a:extLst>
                <a:ext uri="{FF2B5EF4-FFF2-40B4-BE49-F238E27FC236}">
                  <a16:creationId xmlns:a16="http://schemas.microsoft.com/office/drawing/2014/main" id="{FAC91540-74EA-47CF-9060-A24E4FCB0544}"/>
                </a:ext>
              </a:extLst>
            </p:cNvPr>
            <p:cNvSpPr>
              <a:spLocks noChangeShapeType="1"/>
            </p:cNvSpPr>
            <p:nvPr/>
          </p:nvSpPr>
          <p:spPr bwMode="auto">
            <a:xfrm>
              <a:off x="3921" y="3071"/>
              <a:ext cx="84" cy="84"/>
            </a:xfrm>
            <a:prstGeom prst="line">
              <a:avLst/>
            </a:prstGeom>
            <a:noFill/>
            <a:ln w="381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3200" dirty="0">
                <a:solidFill>
                  <a:srgbClr val="0000CC"/>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352734297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0" grpId="0"/>
      <p:bldP spid="6" grpId="0" autoUpdateAnimBg="0"/>
      <p:bldP spid="7" grpId="0" autoUpdateAnimBg="0"/>
      <p:bldP spid="8" grpId="0" autoUpdateAnimBg="0"/>
      <p:bldP spid="9" grpId="0" animBg="1"/>
      <p:bldP spid="10"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82" name="Rectangle 14"/>
          <p:cNvSpPr>
            <a:spLocks noChangeArrowheads="1"/>
          </p:cNvSpPr>
          <p:nvPr/>
        </p:nvSpPr>
        <p:spPr bwMode="auto">
          <a:xfrm>
            <a:off x="498465" y="1164594"/>
            <a:ext cx="5444264" cy="492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fontAlgn="base" hangingPunct="0">
              <a:spcBef>
                <a:spcPct val="0"/>
              </a:spcBef>
              <a:spcAft>
                <a:spcPct val="0"/>
              </a:spcAft>
            </a:pPr>
            <a:r>
              <a:rPr lang="en-US" altLang="zh-CN" sz="2600" dirty="0">
                <a:solidFill>
                  <a:srgbClr val="FF0000"/>
                </a:solidFill>
                <a:ea typeface="华文楷体" panose="02010600040101010101" pitchFamily="2" charset="-122"/>
              </a:rPr>
              <a:t>- </a:t>
            </a:r>
            <a:r>
              <a:rPr lang="zh-CN" altLang="en-US" sz="2600" dirty="0">
                <a:solidFill>
                  <a:srgbClr val="FF0000"/>
                </a:solidFill>
                <a:ea typeface="华文楷体" panose="02010600040101010101" pitchFamily="2" charset="-122"/>
              </a:rPr>
              <a:t>顺磁介质</a:t>
            </a:r>
          </a:p>
        </p:txBody>
      </p:sp>
      <p:sp>
        <p:nvSpPr>
          <p:cNvPr id="109640" name="Rectangle 72"/>
          <p:cNvSpPr>
            <a:spLocks noChangeArrowheads="1"/>
          </p:cNvSpPr>
          <p:nvPr/>
        </p:nvSpPr>
        <p:spPr bwMode="auto">
          <a:xfrm>
            <a:off x="760796" y="1834488"/>
            <a:ext cx="357058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fontAlgn="base" hangingPunct="0">
              <a:spcBef>
                <a:spcPct val="0"/>
              </a:spcBef>
              <a:spcAft>
                <a:spcPct val="0"/>
              </a:spcAft>
              <a:buFont typeface="Monotype Sorts" pitchFamily="2" charset="2"/>
              <a:buNone/>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原子具有固有磁矩</a:t>
            </a:r>
          </a:p>
        </p:txBody>
      </p:sp>
      <p:sp>
        <p:nvSpPr>
          <p:cNvPr id="109641" name="Rectangle 73"/>
          <p:cNvSpPr>
            <a:spLocks noChangeArrowheads="1"/>
          </p:cNvSpPr>
          <p:nvPr/>
        </p:nvSpPr>
        <p:spPr bwMode="auto">
          <a:xfrm>
            <a:off x="742439" y="2400019"/>
            <a:ext cx="480328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fontAlgn="base" hangingPunct="0">
              <a:spcBef>
                <a:spcPct val="0"/>
              </a:spcBef>
              <a:spcAft>
                <a:spcPct val="0"/>
              </a:spcAft>
              <a:buFont typeface="Monotype Sorts" pitchFamily="2" charset="2"/>
              <a:buNone/>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固有磁矩趋向外磁场方向</a:t>
            </a:r>
          </a:p>
        </p:txBody>
      </p:sp>
      <p:sp>
        <p:nvSpPr>
          <p:cNvPr id="109642" name="Text Box 74"/>
          <p:cNvSpPr txBox="1">
            <a:spLocks noChangeArrowheads="1"/>
          </p:cNvSpPr>
          <p:nvPr/>
        </p:nvSpPr>
        <p:spPr bwMode="auto">
          <a:xfrm>
            <a:off x="373994" y="5307602"/>
            <a:ext cx="697066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00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fontAlgn="base" hangingPunct="0">
              <a:spcBef>
                <a:spcPct val="50000"/>
              </a:spcBef>
              <a:spcAft>
                <a:spcPct val="0"/>
              </a:spcAft>
              <a:buFont typeface="Monotype Sorts" pitchFamily="2" charset="2"/>
              <a:buNone/>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表面出现束缚</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磁化</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电流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加强磁场</a:t>
            </a:r>
          </a:p>
        </p:txBody>
      </p:sp>
      <p:grpSp>
        <p:nvGrpSpPr>
          <p:cNvPr id="109645" name="Group 77"/>
          <p:cNvGrpSpPr>
            <a:grpSpLocks/>
          </p:cNvGrpSpPr>
          <p:nvPr/>
        </p:nvGrpSpPr>
        <p:grpSpPr bwMode="auto">
          <a:xfrm>
            <a:off x="1358636" y="3157593"/>
            <a:ext cx="2009775" cy="1943100"/>
            <a:chOff x="744" y="2478"/>
            <a:chExt cx="1266" cy="1224"/>
          </a:xfrm>
        </p:grpSpPr>
        <p:grpSp>
          <p:nvGrpSpPr>
            <p:cNvPr id="109646" name="Group 78"/>
            <p:cNvGrpSpPr>
              <a:grpSpLocks/>
            </p:cNvGrpSpPr>
            <p:nvPr/>
          </p:nvGrpSpPr>
          <p:grpSpPr bwMode="auto">
            <a:xfrm>
              <a:off x="744" y="2478"/>
              <a:ext cx="558" cy="1206"/>
              <a:chOff x="618" y="438"/>
              <a:chExt cx="558" cy="1206"/>
            </a:xfrm>
          </p:grpSpPr>
          <p:grpSp>
            <p:nvGrpSpPr>
              <p:cNvPr id="109647" name="Group 79"/>
              <p:cNvGrpSpPr>
                <a:grpSpLocks/>
              </p:cNvGrpSpPr>
              <p:nvPr/>
            </p:nvGrpSpPr>
            <p:grpSpPr bwMode="auto">
              <a:xfrm>
                <a:off x="618" y="474"/>
                <a:ext cx="528" cy="1104"/>
                <a:chOff x="1656" y="822"/>
                <a:chExt cx="528" cy="1104"/>
              </a:xfrm>
            </p:grpSpPr>
            <p:sp>
              <p:nvSpPr>
                <p:cNvPr id="109648" name="Oval 80"/>
                <p:cNvSpPr>
                  <a:spLocks noChangeArrowheads="1"/>
                </p:cNvSpPr>
                <p:nvPr/>
              </p:nvSpPr>
              <p:spPr bwMode="auto">
                <a:xfrm>
                  <a:off x="1656" y="822"/>
                  <a:ext cx="528" cy="1104"/>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49" name="Line 81"/>
                <p:cNvSpPr>
                  <a:spLocks noChangeShapeType="1"/>
                </p:cNvSpPr>
                <p:nvPr/>
              </p:nvSpPr>
              <p:spPr bwMode="auto">
                <a:xfrm>
                  <a:off x="1656" y="1332"/>
                  <a:ext cx="0" cy="72"/>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109650" name="Rectangle 82"/>
              <p:cNvSpPr>
                <a:spLocks noChangeArrowheads="1"/>
              </p:cNvSpPr>
              <p:nvPr/>
            </p:nvSpPr>
            <p:spPr bwMode="auto">
              <a:xfrm>
                <a:off x="876" y="438"/>
                <a:ext cx="300" cy="120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09651" name="Group 83"/>
            <p:cNvGrpSpPr>
              <a:grpSpLocks/>
            </p:cNvGrpSpPr>
            <p:nvPr/>
          </p:nvGrpSpPr>
          <p:grpSpPr bwMode="auto">
            <a:xfrm>
              <a:off x="1080" y="2484"/>
              <a:ext cx="930" cy="1218"/>
              <a:chOff x="2040" y="2304"/>
              <a:chExt cx="930" cy="1218"/>
            </a:xfrm>
          </p:grpSpPr>
          <p:grpSp>
            <p:nvGrpSpPr>
              <p:cNvPr id="109652" name="Group 84"/>
              <p:cNvGrpSpPr>
                <a:grpSpLocks/>
              </p:cNvGrpSpPr>
              <p:nvPr/>
            </p:nvGrpSpPr>
            <p:grpSpPr bwMode="auto">
              <a:xfrm>
                <a:off x="2040" y="2304"/>
                <a:ext cx="558" cy="1206"/>
                <a:chOff x="618" y="438"/>
                <a:chExt cx="558" cy="1206"/>
              </a:xfrm>
            </p:grpSpPr>
            <p:grpSp>
              <p:nvGrpSpPr>
                <p:cNvPr id="109653" name="Group 85"/>
                <p:cNvGrpSpPr>
                  <a:grpSpLocks/>
                </p:cNvGrpSpPr>
                <p:nvPr/>
              </p:nvGrpSpPr>
              <p:grpSpPr bwMode="auto">
                <a:xfrm>
                  <a:off x="618" y="474"/>
                  <a:ext cx="528" cy="1104"/>
                  <a:chOff x="1656" y="822"/>
                  <a:chExt cx="528" cy="1104"/>
                </a:xfrm>
              </p:grpSpPr>
              <p:sp>
                <p:nvSpPr>
                  <p:cNvPr id="109654" name="Oval 86"/>
                  <p:cNvSpPr>
                    <a:spLocks noChangeArrowheads="1"/>
                  </p:cNvSpPr>
                  <p:nvPr/>
                </p:nvSpPr>
                <p:spPr bwMode="auto">
                  <a:xfrm>
                    <a:off x="1656" y="822"/>
                    <a:ext cx="528" cy="1104"/>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55" name="Line 87"/>
                  <p:cNvSpPr>
                    <a:spLocks noChangeShapeType="1"/>
                  </p:cNvSpPr>
                  <p:nvPr/>
                </p:nvSpPr>
                <p:spPr bwMode="auto">
                  <a:xfrm>
                    <a:off x="1656" y="1332"/>
                    <a:ext cx="0" cy="72"/>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109656" name="Rectangle 88"/>
                <p:cNvSpPr>
                  <a:spLocks noChangeArrowheads="1"/>
                </p:cNvSpPr>
                <p:nvPr/>
              </p:nvSpPr>
              <p:spPr bwMode="auto">
                <a:xfrm>
                  <a:off x="876" y="438"/>
                  <a:ext cx="300" cy="120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09657" name="Group 89"/>
              <p:cNvGrpSpPr>
                <a:grpSpLocks/>
              </p:cNvGrpSpPr>
              <p:nvPr/>
            </p:nvGrpSpPr>
            <p:grpSpPr bwMode="auto">
              <a:xfrm>
                <a:off x="2412" y="2316"/>
                <a:ext cx="558" cy="1206"/>
                <a:chOff x="618" y="438"/>
                <a:chExt cx="558" cy="1206"/>
              </a:xfrm>
            </p:grpSpPr>
            <p:grpSp>
              <p:nvGrpSpPr>
                <p:cNvPr id="109658" name="Group 90"/>
                <p:cNvGrpSpPr>
                  <a:grpSpLocks/>
                </p:cNvGrpSpPr>
                <p:nvPr/>
              </p:nvGrpSpPr>
              <p:grpSpPr bwMode="auto">
                <a:xfrm>
                  <a:off x="618" y="474"/>
                  <a:ext cx="528" cy="1104"/>
                  <a:chOff x="1656" y="822"/>
                  <a:chExt cx="528" cy="1104"/>
                </a:xfrm>
              </p:grpSpPr>
              <p:sp>
                <p:nvSpPr>
                  <p:cNvPr id="109659" name="Oval 91"/>
                  <p:cNvSpPr>
                    <a:spLocks noChangeArrowheads="1"/>
                  </p:cNvSpPr>
                  <p:nvPr/>
                </p:nvSpPr>
                <p:spPr bwMode="auto">
                  <a:xfrm>
                    <a:off x="1656" y="822"/>
                    <a:ext cx="528" cy="1104"/>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60" name="Line 92"/>
                  <p:cNvSpPr>
                    <a:spLocks noChangeShapeType="1"/>
                  </p:cNvSpPr>
                  <p:nvPr/>
                </p:nvSpPr>
                <p:spPr bwMode="auto">
                  <a:xfrm>
                    <a:off x="1656" y="1332"/>
                    <a:ext cx="0" cy="72"/>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109661" name="Rectangle 93"/>
                <p:cNvSpPr>
                  <a:spLocks noChangeArrowheads="1"/>
                </p:cNvSpPr>
                <p:nvPr/>
              </p:nvSpPr>
              <p:spPr bwMode="auto">
                <a:xfrm>
                  <a:off x="876" y="438"/>
                  <a:ext cx="300" cy="120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aphicFrame>
            <p:nvGraphicFramePr>
              <p:cNvPr id="109662" name="Object 94"/>
              <p:cNvGraphicFramePr>
                <a:graphicFrameLocks noChangeAspect="1"/>
              </p:cNvGraphicFramePr>
              <p:nvPr/>
            </p:nvGraphicFramePr>
            <p:xfrm>
              <a:off x="2452" y="2720"/>
              <a:ext cx="284" cy="386"/>
            </p:xfrm>
            <a:graphic>
              <a:graphicData uri="http://schemas.openxmlformats.org/presentationml/2006/ole">
                <mc:AlternateContent xmlns:mc="http://schemas.openxmlformats.org/markup-compatibility/2006">
                  <mc:Choice xmlns:v="urn:schemas-microsoft-com:vml" Requires="v">
                    <p:oleObj spid="_x0000_s12362" name="公式" r:id="rId3" imgW="177480" imgH="241200" progId="Equation.3">
                      <p:embed/>
                    </p:oleObj>
                  </mc:Choice>
                  <mc:Fallback>
                    <p:oleObj name="公式" r:id="rId3" imgW="177480" imgH="241200" progId="Equation.3">
                      <p:embed/>
                      <p:pic>
                        <p:nvPicPr>
                          <p:cNvPr id="109662" name="Object 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2" y="2720"/>
                            <a:ext cx="284" cy="3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109663" name="AutoShape 95"/>
          <p:cNvSpPr>
            <a:spLocks noChangeArrowheads="1"/>
          </p:cNvSpPr>
          <p:nvPr/>
        </p:nvSpPr>
        <p:spPr bwMode="auto">
          <a:xfrm rot="5400000">
            <a:off x="1577710" y="2490843"/>
            <a:ext cx="1771650" cy="3219450"/>
          </a:xfrm>
          <a:prstGeom prst="can">
            <a:avLst>
              <a:gd name="adj" fmla="val 45430"/>
            </a:avLst>
          </a:prstGeom>
          <a:noFill/>
          <a:ln w="38100">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109700" name="Group 132"/>
          <p:cNvGrpSpPr>
            <a:grpSpLocks/>
          </p:cNvGrpSpPr>
          <p:nvPr/>
        </p:nvGrpSpPr>
        <p:grpSpPr bwMode="auto">
          <a:xfrm>
            <a:off x="4952735" y="4138669"/>
            <a:ext cx="636588" cy="611187"/>
            <a:chOff x="4220" y="2928"/>
            <a:chExt cx="401" cy="385"/>
          </a:xfrm>
        </p:grpSpPr>
        <p:sp>
          <p:nvSpPr>
            <p:cNvPr id="109665" name="Line 97"/>
            <p:cNvSpPr>
              <a:spLocks noChangeShapeType="1"/>
            </p:cNvSpPr>
            <p:nvPr/>
          </p:nvSpPr>
          <p:spPr bwMode="auto">
            <a:xfrm flipV="1">
              <a:off x="4260" y="2928"/>
              <a:ext cx="344" cy="5"/>
            </a:xfrm>
            <a:prstGeom prst="line">
              <a:avLst/>
            </a:prstGeom>
            <a:noFill/>
            <a:ln w="38100">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09666" name="Object 98"/>
            <p:cNvGraphicFramePr>
              <a:graphicFrameLocks noChangeAspect="1"/>
            </p:cNvGraphicFramePr>
            <p:nvPr/>
          </p:nvGraphicFramePr>
          <p:xfrm>
            <a:off x="4220" y="2993"/>
            <a:ext cx="401" cy="320"/>
          </p:xfrm>
          <a:graphic>
            <a:graphicData uri="http://schemas.openxmlformats.org/presentationml/2006/ole">
              <mc:AlternateContent xmlns:mc="http://schemas.openxmlformats.org/markup-compatibility/2006">
                <mc:Choice xmlns:v="urn:schemas-microsoft-com:vml" Requires="v">
                  <p:oleObj spid="_x0000_s12363" name="公式" r:id="rId5" imgW="253800" imgH="203040" progId="Equation.3">
                    <p:embed/>
                  </p:oleObj>
                </mc:Choice>
                <mc:Fallback>
                  <p:oleObj name="公式" r:id="rId5" imgW="253800" imgH="203040" progId="Equation.3">
                    <p:embed/>
                    <p:pic>
                      <p:nvPicPr>
                        <p:cNvPr id="109666" name="Object 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0" y="2993"/>
                          <a:ext cx="401"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9667" name="Group 99"/>
          <p:cNvGrpSpPr>
            <a:grpSpLocks/>
          </p:cNvGrpSpPr>
          <p:nvPr/>
        </p:nvGrpSpPr>
        <p:grpSpPr bwMode="auto">
          <a:xfrm rot="20240949">
            <a:off x="3692260" y="4195818"/>
            <a:ext cx="457200" cy="438150"/>
            <a:chOff x="2112" y="2652"/>
            <a:chExt cx="288" cy="276"/>
          </a:xfrm>
        </p:grpSpPr>
        <p:sp>
          <p:nvSpPr>
            <p:cNvPr id="109668" name="Oval 100"/>
            <p:cNvSpPr>
              <a:spLocks noChangeArrowheads="1"/>
            </p:cNvSpPr>
            <p:nvPr/>
          </p:nvSpPr>
          <p:spPr bwMode="auto">
            <a:xfrm>
              <a:off x="2112" y="2652"/>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69" name="Line 101"/>
            <p:cNvSpPr>
              <a:spLocks noChangeShapeType="1"/>
            </p:cNvSpPr>
            <p:nvPr/>
          </p:nvSpPr>
          <p:spPr bwMode="auto">
            <a:xfrm>
              <a:off x="2112" y="2760"/>
              <a:ext cx="6" cy="72"/>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70" name="Line 102"/>
            <p:cNvSpPr>
              <a:spLocks noChangeShapeType="1"/>
            </p:cNvSpPr>
            <p:nvPr/>
          </p:nvSpPr>
          <p:spPr bwMode="auto">
            <a:xfrm>
              <a:off x="2214" y="2790"/>
              <a:ext cx="186" cy="12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09671" name="Group 103"/>
          <p:cNvGrpSpPr>
            <a:grpSpLocks/>
          </p:cNvGrpSpPr>
          <p:nvPr/>
        </p:nvGrpSpPr>
        <p:grpSpPr bwMode="auto">
          <a:xfrm rot="19012533">
            <a:off x="3711310" y="3595743"/>
            <a:ext cx="457200" cy="438150"/>
            <a:chOff x="2112" y="2652"/>
            <a:chExt cx="288" cy="276"/>
          </a:xfrm>
        </p:grpSpPr>
        <p:sp>
          <p:nvSpPr>
            <p:cNvPr id="109672" name="Oval 104"/>
            <p:cNvSpPr>
              <a:spLocks noChangeArrowheads="1"/>
            </p:cNvSpPr>
            <p:nvPr/>
          </p:nvSpPr>
          <p:spPr bwMode="auto">
            <a:xfrm>
              <a:off x="2112" y="2652"/>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73" name="Line 105"/>
            <p:cNvSpPr>
              <a:spLocks noChangeShapeType="1"/>
            </p:cNvSpPr>
            <p:nvPr/>
          </p:nvSpPr>
          <p:spPr bwMode="auto">
            <a:xfrm>
              <a:off x="2112" y="2760"/>
              <a:ext cx="6" cy="72"/>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74" name="Line 106"/>
            <p:cNvSpPr>
              <a:spLocks noChangeShapeType="1"/>
            </p:cNvSpPr>
            <p:nvPr/>
          </p:nvSpPr>
          <p:spPr bwMode="auto">
            <a:xfrm>
              <a:off x="2214" y="2790"/>
              <a:ext cx="186" cy="12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09675" name="Group 107"/>
          <p:cNvGrpSpPr>
            <a:grpSpLocks/>
          </p:cNvGrpSpPr>
          <p:nvPr/>
        </p:nvGrpSpPr>
        <p:grpSpPr bwMode="auto">
          <a:xfrm rot="20497203">
            <a:off x="3501760" y="3186168"/>
            <a:ext cx="457200" cy="438150"/>
            <a:chOff x="2112" y="2652"/>
            <a:chExt cx="288" cy="276"/>
          </a:xfrm>
        </p:grpSpPr>
        <p:sp>
          <p:nvSpPr>
            <p:cNvPr id="109676" name="Oval 108"/>
            <p:cNvSpPr>
              <a:spLocks noChangeArrowheads="1"/>
            </p:cNvSpPr>
            <p:nvPr/>
          </p:nvSpPr>
          <p:spPr bwMode="auto">
            <a:xfrm>
              <a:off x="2112" y="2652"/>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77" name="Line 109"/>
            <p:cNvSpPr>
              <a:spLocks noChangeShapeType="1"/>
            </p:cNvSpPr>
            <p:nvPr/>
          </p:nvSpPr>
          <p:spPr bwMode="auto">
            <a:xfrm>
              <a:off x="2112" y="2760"/>
              <a:ext cx="6" cy="72"/>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78" name="Line 110"/>
            <p:cNvSpPr>
              <a:spLocks noChangeShapeType="1"/>
            </p:cNvSpPr>
            <p:nvPr/>
          </p:nvSpPr>
          <p:spPr bwMode="auto">
            <a:xfrm>
              <a:off x="2214" y="2790"/>
              <a:ext cx="186" cy="12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09679" name="Group 111"/>
          <p:cNvGrpSpPr>
            <a:grpSpLocks/>
          </p:cNvGrpSpPr>
          <p:nvPr/>
        </p:nvGrpSpPr>
        <p:grpSpPr bwMode="auto">
          <a:xfrm rot="19691545">
            <a:off x="3301735" y="3605268"/>
            <a:ext cx="457200" cy="438150"/>
            <a:chOff x="2112" y="2652"/>
            <a:chExt cx="288" cy="276"/>
          </a:xfrm>
        </p:grpSpPr>
        <p:sp>
          <p:nvSpPr>
            <p:cNvPr id="109680" name="Oval 112"/>
            <p:cNvSpPr>
              <a:spLocks noChangeArrowheads="1"/>
            </p:cNvSpPr>
            <p:nvPr/>
          </p:nvSpPr>
          <p:spPr bwMode="auto">
            <a:xfrm>
              <a:off x="2112" y="2652"/>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81" name="Line 113"/>
            <p:cNvSpPr>
              <a:spLocks noChangeShapeType="1"/>
            </p:cNvSpPr>
            <p:nvPr/>
          </p:nvSpPr>
          <p:spPr bwMode="auto">
            <a:xfrm>
              <a:off x="2112" y="2760"/>
              <a:ext cx="6" cy="72"/>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82" name="Line 114"/>
            <p:cNvSpPr>
              <a:spLocks noChangeShapeType="1"/>
            </p:cNvSpPr>
            <p:nvPr/>
          </p:nvSpPr>
          <p:spPr bwMode="auto">
            <a:xfrm>
              <a:off x="2214" y="2790"/>
              <a:ext cx="186" cy="12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09683" name="Group 115"/>
          <p:cNvGrpSpPr>
            <a:grpSpLocks/>
          </p:cNvGrpSpPr>
          <p:nvPr/>
        </p:nvGrpSpPr>
        <p:grpSpPr bwMode="auto">
          <a:xfrm rot="18814212">
            <a:off x="3282685" y="3986268"/>
            <a:ext cx="457200" cy="438150"/>
            <a:chOff x="2112" y="2652"/>
            <a:chExt cx="288" cy="276"/>
          </a:xfrm>
        </p:grpSpPr>
        <p:sp>
          <p:nvSpPr>
            <p:cNvPr id="109684" name="Oval 116"/>
            <p:cNvSpPr>
              <a:spLocks noChangeArrowheads="1"/>
            </p:cNvSpPr>
            <p:nvPr/>
          </p:nvSpPr>
          <p:spPr bwMode="auto">
            <a:xfrm>
              <a:off x="2112" y="2652"/>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85" name="Line 117"/>
            <p:cNvSpPr>
              <a:spLocks noChangeShapeType="1"/>
            </p:cNvSpPr>
            <p:nvPr/>
          </p:nvSpPr>
          <p:spPr bwMode="auto">
            <a:xfrm>
              <a:off x="2112" y="2760"/>
              <a:ext cx="6" cy="72"/>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86" name="Line 118"/>
            <p:cNvSpPr>
              <a:spLocks noChangeShapeType="1"/>
            </p:cNvSpPr>
            <p:nvPr/>
          </p:nvSpPr>
          <p:spPr bwMode="auto">
            <a:xfrm>
              <a:off x="2214" y="2790"/>
              <a:ext cx="186" cy="12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09687" name="Group 119"/>
          <p:cNvGrpSpPr>
            <a:grpSpLocks/>
          </p:cNvGrpSpPr>
          <p:nvPr/>
        </p:nvGrpSpPr>
        <p:grpSpPr bwMode="auto">
          <a:xfrm rot="20072785">
            <a:off x="3416035" y="4510143"/>
            <a:ext cx="457200" cy="438150"/>
            <a:chOff x="2112" y="2652"/>
            <a:chExt cx="288" cy="276"/>
          </a:xfrm>
        </p:grpSpPr>
        <p:sp>
          <p:nvSpPr>
            <p:cNvPr id="109688" name="Oval 120"/>
            <p:cNvSpPr>
              <a:spLocks noChangeArrowheads="1"/>
            </p:cNvSpPr>
            <p:nvPr/>
          </p:nvSpPr>
          <p:spPr bwMode="auto">
            <a:xfrm>
              <a:off x="2112" y="2652"/>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89" name="Line 121"/>
            <p:cNvSpPr>
              <a:spLocks noChangeShapeType="1"/>
            </p:cNvSpPr>
            <p:nvPr/>
          </p:nvSpPr>
          <p:spPr bwMode="auto">
            <a:xfrm>
              <a:off x="2112" y="2760"/>
              <a:ext cx="6" cy="72"/>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9690" name="Line 122"/>
            <p:cNvSpPr>
              <a:spLocks noChangeShapeType="1"/>
            </p:cNvSpPr>
            <p:nvPr/>
          </p:nvSpPr>
          <p:spPr bwMode="auto">
            <a:xfrm>
              <a:off x="2214" y="2790"/>
              <a:ext cx="186" cy="12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09699" name="Group 131"/>
          <p:cNvGrpSpPr>
            <a:grpSpLocks/>
          </p:cNvGrpSpPr>
          <p:nvPr/>
        </p:nvGrpSpPr>
        <p:grpSpPr bwMode="auto">
          <a:xfrm>
            <a:off x="3816085" y="4138669"/>
            <a:ext cx="1066800" cy="752475"/>
            <a:chOff x="3504" y="2928"/>
            <a:chExt cx="672" cy="474"/>
          </a:xfrm>
        </p:grpSpPr>
        <p:sp>
          <p:nvSpPr>
            <p:cNvPr id="109692" name="Line 124"/>
            <p:cNvSpPr>
              <a:spLocks noChangeShapeType="1"/>
            </p:cNvSpPr>
            <p:nvPr/>
          </p:nvSpPr>
          <p:spPr bwMode="auto">
            <a:xfrm>
              <a:off x="3504" y="2928"/>
              <a:ext cx="672" cy="3"/>
            </a:xfrm>
            <a:prstGeom prst="line">
              <a:avLst/>
            </a:prstGeom>
            <a:noFill/>
            <a:ln w="38100">
              <a:solidFill>
                <a:schemeClr val="accent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09693" name="Object 125"/>
            <p:cNvGraphicFramePr>
              <a:graphicFrameLocks noChangeAspect="1"/>
            </p:cNvGraphicFramePr>
            <p:nvPr/>
          </p:nvGraphicFramePr>
          <p:xfrm>
            <a:off x="3720" y="3001"/>
            <a:ext cx="321" cy="401"/>
          </p:xfrm>
          <a:graphic>
            <a:graphicData uri="http://schemas.openxmlformats.org/presentationml/2006/ole">
              <mc:AlternateContent xmlns:mc="http://schemas.openxmlformats.org/markup-compatibility/2006">
                <mc:Choice xmlns:v="urn:schemas-microsoft-com:vml" Requires="v">
                  <p:oleObj spid="_x0000_s12364" name="公式" r:id="rId7" imgW="203040" imgH="253800" progId="Equation.3">
                    <p:embed/>
                  </p:oleObj>
                </mc:Choice>
                <mc:Fallback>
                  <p:oleObj name="公式" r:id="rId7" imgW="203040" imgH="253800" progId="Equation.3">
                    <p:embed/>
                    <p:pic>
                      <p:nvPicPr>
                        <p:cNvPr id="109693" name="Object 1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0" y="3001"/>
                          <a:ext cx="321"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mc:AlternateContent xmlns:mc="http://schemas.openxmlformats.org/markup-compatibility/2006" xmlns:a14="http://schemas.microsoft.com/office/drawing/2010/main">
        <mc:Choice Requires="a14">
          <p:sp>
            <p:nvSpPr>
              <p:cNvPr id="60" name="Rectangle 1029">
                <a:extLst>
                  <a:ext uri="{FF2B5EF4-FFF2-40B4-BE49-F238E27FC236}">
                    <a16:creationId xmlns:a16="http://schemas.microsoft.com/office/drawing/2014/main" id="{F46FDF95-43AA-4F72-9CD9-16832DE83D11}"/>
                  </a:ext>
                </a:extLst>
              </p:cNvPr>
              <p:cNvSpPr>
                <a:spLocks noChangeArrowheads="1"/>
              </p:cNvSpPr>
              <p:nvPr/>
            </p:nvSpPr>
            <p:spPr bwMode="auto">
              <a:xfrm>
                <a:off x="6304237" y="2312923"/>
                <a:ext cx="5130679" cy="125329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square">
                <a:spAutoFit/>
              </a:bodyPr>
              <a:lstStyle/>
              <a:p>
                <a:pPr algn="just" eaLnBrk="0" fontAlgn="base" hangingPunct="0">
                  <a:spcBef>
                    <a:spcPct val="0"/>
                  </a:spcBef>
                  <a:spcAft>
                    <a:spcPct val="0"/>
                  </a:spcAft>
                  <a:buFont typeface="Monotype Sorts" pitchFamily="2" charset="2"/>
                  <a:buNone/>
                </a:pPr>
                <a:r>
                  <a:rPr lang="zh-CN" altLang="en-US" sz="2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电子磁矩在外磁场力矩作用下进动</a:t>
                </a:r>
                <a:r>
                  <a:rPr lang="en-US" altLang="zh-CN" sz="2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产生和外磁场反向的感生磁矩 </a:t>
                </a:r>
                <a14:m>
                  <m:oMath xmlns:m="http://schemas.openxmlformats.org/officeDocument/2006/math">
                    <m:sSub>
                      <m:sSubPr>
                        <m:ctrlPr>
                          <a:rPr lang="en-US" altLang="zh-CN" sz="2400" b="1" i="1" smtClean="0">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lang="en-US" altLang="zh-CN" sz="24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US" altLang="zh-CN" sz="24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𝒎</m:t>
                            </m:r>
                          </m:e>
                        </m:acc>
                      </m:e>
                      <m:sub>
                        <m:r>
                          <a:rPr lang="zh-CN" altLang="en-US" sz="2400" b="1" i="1">
                            <a:solidFill>
                              <a:srgbClr val="FF0000"/>
                            </a:solidFill>
                            <a:latin typeface="Cambria Math" panose="02040503050406030204" pitchFamily="18" charset="0"/>
                            <a:ea typeface="华文新魏" panose="02010800040101010101" pitchFamily="2" charset="-122"/>
                            <a:cs typeface="Times New Roman" panose="02020603050405020304" pitchFamily="18" charset="0"/>
                          </a:rPr>
                          <m:t>分子</m:t>
                        </m:r>
                      </m:sub>
                    </m:sSub>
                  </m:oMath>
                </a14:m>
                <a:endParaRPr lang="zh-CN" altLang="en-US" sz="24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0" name="Rectangle 1029">
                <a:extLst>
                  <a:ext uri="{FF2B5EF4-FFF2-40B4-BE49-F238E27FC236}">
                    <a16:creationId xmlns:a16="http://schemas.microsoft.com/office/drawing/2014/main" id="{F46FDF95-43AA-4F72-9CD9-16832DE83D11}"/>
                  </a:ext>
                </a:extLst>
              </p:cNvPr>
              <p:cNvSpPr>
                <a:spLocks noRot="1" noChangeAspect="1" noMove="1" noResize="1" noEditPoints="1" noAdjustHandles="1" noChangeArrowheads="1" noChangeShapeType="1" noTextEdit="1"/>
              </p:cNvSpPr>
              <p:nvPr/>
            </p:nvSpPr>
            <p:spPr bwMode="auto">
              <a:xfrm>
                <a:off x="6304237" y="2312923"/>
                <a:ext cx="5130679" cy="1253292"/>
              </a:xfrm>
              <a:prstGeom prst="rect">
                <a:avLst/>
              </a:prstGeom>
              <a:blipFill>
                <a:blip r:embed="rId9"/>
                <a:stretch>
                  <a:fillRect l="-1781" t="-4369" r="-1781" b="-5825"/>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noFill/>
                  </a:rPr>
                  <a:t> </a:t>
                </a:r>
              </a:p>
            </p:txBody>
          </p:sp>
        </mc:Fallback>
      </mc:AlternateContent>
      <p:sp>
        <p:nvSpPr>
          <p:cNvPr id="61" name="Rectangle 1034">
            <a:extLst>
              <a:ext uri="{FF2B5EF4-FFF2-40B4-BE49-F238E27FC236}">
                <a16:creationId xmlns:a16="http://schemas.microsoft.com/office/drawing/2014/main" id="{A3846EAD-7F6A-46E9-B2F6-FD8C1E70BE14}"/>
              </a:ext>
            </a:extLst>
          </p:cNvPr>
          <p:cNvSpPr>
            <a:spLocks noChangeArrowheads="1"/>
          </p:cNvSpPr>
          <p:nvPr/>
        </p:nvSpPr>
        <p:spPr bwMode="auto">
          <a:xfrm>
            <a:off x="6293687" y="1457320"/>
            <a:ext cx="5005501"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eaLnBrk="0" fontAlgn="base" hangingPunct="0">
              <a:spcBef>
                <a:spcPct val="0"/>
              </a:spcBef>
              <a:spcAft>
                <a:spcPct val="0"/>
              </a:spcAft>
              <a:buFont typeface="Monotype Sorts" pitchFamily="2" charset="2"/>
              <a:buNone/>
            </a:pP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分子固有磁矩</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电子轨道、自旋磁矩的矢量和）为零</a:t>
            </a:r>
          </a:p>
        </p:txBody>
      </p:sp>
      <p:sp>
        <p:nvSpPr>
          <p:cNvPr id="62" name="Text Box 1134">
            <a:extLst>
              <a:ext uri="{FF2B5EF4-FFF2-40B4-BE49-F238E27FC236}">
                <a16:creationId xmlns:a16="http://schemas.microsoft.com/office/drawing/2014/main" id="{9B08F42C-CEF0-40D3-A4F8-905329999B53}"/>
              </a:ext>
            </a:extLst>
          </p:cNvPr>
          <p:cNvSpPr txBox="1">
            <a:spLocks noChangeArrowheads="1"/>
          </p:cNvSpPr>
          <p:nvPr/>
        </p:nvSpPr>
        <p:spPr bwMode="auto">
          <a:xfrm>
            <a:off x="6527994" y="5910268"/>
            <a:ext cx="698341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fontAlgn="base" hangingPunct="0">
              <a:spcBef>
                <a:spcPct val="50000"/>
              </a:spcBef>
              <a:spcAft>
                <a:spcPct val="0"/>
              </a:spcAft>
              <a:buFont typeface="Monotype Sorts" pitchFamily="2" charset="2"/>
              <a:buNone/>
            </a:pPr>
            <a:r>
              <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出现反向的表面</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束缚电流</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减弱磁场</a:t>
            </a:r>
          </a:p>
        </p:txBody>
      </p:sp>
      <p:grpSp>
        <p:nvGrpSpPr>
          <p:cNvPr id="63" name="Group 1156">
            <a:extLst>
              <a:ext uri="{FF2B5EF4-FFF2-40B4-BE49-F238E27FC236}">
                <a16:creationId xmlns:a16="http://schemas.microsoft.com/office/drawing/2014/main" id="{478C05B0-9143-418D-968F-3CC0300A8E28}"/>
              </a:ext>
            </a:extLst>
          </p:cNvPr>
          <p:cNvGrpSpPr>
            <a:grpSpLocks/>
          </p:cNvGrpSpPr>
          <p:nvPr/>
        </p:nvGrpSpPr>
        <p:grpSpPr bwMode="auto">
          <a:xfrm>
            <a:off x="6906892" y="3586452"/>
            <a:ext cx="2143125" cy="1933575"/>
            <a:chOff x="2880" y="336"/>
            <a:chExt cx="1350" cy="1218"/>
          </a:xfrm>
        </p:grpSpPr>
        <p:sp>
          <p:nvSpPr>
            <p:cNvPr id="64" name="Oval 1157">
              <a:extLst>
                <a:ext uri="{FF2B5EF4-FFF2-40B4-BE49-F238E27FC236}">
                  <a16:creationId xmlns:a16="http://schemas.microsoft.com/office/drawing/2014/main" id="{08B78D91-FDD2-4221-AB2E-1FA9CE2340FB}"/>
                </a:ext>
              </a:extLst>
            </p:cNvPr>
            <p:cNvSpPr>
              <a:spLocks noChangeArrowheads="1"/>
            </p:cNvSpPr>
            <p:nvPr/>
          </p:nvSpPr>
          <p:spPr bwMode="auto">
            <a:xfrm>
              <a:off x="2880" y="372"/>
              <a:ext cx="528" cy="1104"/>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5" name="Line 1158">
              <a:extLst>
                <a:ext uri="{FF2B5EF4-FFF2-40B4-BE49-F238E27FC236}">
                  <a16:creationId xmlns:a16="http://schemas.microsoft.com/office/drawing/2014/main" id="{743A2568-AC88-445E-8FF4-BF9F5E69EC20}"/>
                </a:ext>
              </a:extLst>
            </p:cNvPr>
            <p:cNvSpPr>
              <a:spLocks noChangeShapeType="1"/>
            </p:cNvSpPr>
            <p:nvPr/>
          </p:nvSpPr>
          <p:spPr bwMode="auto">
            <a:xfrm flipV="1">
              <a:off x="2880" y="894"/>
              <a:ext cx="0" cy="72"/>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6" name="Rectangle 1159">
              <a:extLst>
                <a:ext uri="{FF2B5EF4-FFF2-40B4-BE49-F238E27FC236}">
                  <a16:creationId xmlns:a16="http://schemas.microsoft.com/office/drawing/2014/main" id="{078BC0F5-06A8-4028-8C45-4D4EBED6EBC2}"/>
                </a:ext>
              </a:extLst>
            </p:cNvPr>
            <p:cNvSpPr>
              <a:spLocks noChangeArrowheads="1"/>
            </p:cNvSpPr>
            <p:nvPr/>
          </p:nvSpPr>
          <p:spPr bwMode="auto">
            <a:xfrm>
              <a:off x="3138" y="336"/>
              <a:ext cx="300" cy="120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7" name="Oval 1160">
              <a:extLst>
                <a:ext uri="{FF2B5EF4-FFF2-40B4-BE49-F238E27FC236}">
                  <a16:creationId xmlns:a16="http://schemas.microsoft.com/office/drawing/2014/main" id="{FDB4EEE5-DEF8-415E-8EC1-91CAC53F0131}"/>
                </a:ext>
              </a:extLst>
            </p:cNvPr>
            <p:cNvSpPr>
              <a:spLocks noChangeArrowheads="1"/>
            </p:cNvSpPr>
            <p:nvPr/>
          </p:nvSpPr>
          <p:spPr bwMode="auto">
            <a:xfrm>
              <a:off x="3252" y="384"/>
              <a:ext cx="528" cy="1104"/>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8" name="Line 1161">
              <a:extLst>
                <a:ext uri="{FF2B5EF4-FFF2-40B4-BE49-F238E27FC236}">
                  <a16:creationId xmlns:a16="http://schemas.microsoft.com/office/drawing/2014/main" id="{7AE84EFC-BB29-4699-B0A3-8C876C0D8689}"/>
                </a:ext>
              </a:extLst>
            </p:cNvPr>
            <p:cNvSpPr>
              <a:spLocks noChangeShapeType="1"/>
            </p:cNvSpPr>
            <p:nvPr/>
          </p:nvSpPr>
          <p:spPr bwMode="auto">
            <a:xfrm flipV="1">
              <a:off x="3252" y="894"/>
              <a:ext cx="0" cy="72"/>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9" name="Rectangle 1162">
              <a:extLst>
                <a:ext uri="{FF2B5EF4-FFF2-40B4-BE49-F238E27FC236}">
                  <a16:creationId xmlns:a16="http://schemas.microsoft.com/office/drawing/2014/main" id="{3ECD2323-648F-4C3B-AF82-A0FEBA138414}"/>
                </a:ext>
              </a:extLst>
            </p:cNvPr>
            <p:cNvSpPr>
              <a:spLocks noChangeArrowheads="1"/>
            </p:cNvSpPr>
            <p:nvPr/>
          </p:nvSpPr>
          <p:spPr bwMode="auto">
            <a:xfrm>
              <a:off x="3510" y="348"/>
              <a:ext cx="300" cy="120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0" name="Oval 1163">
              <a:extLst>
                <a:ext uri="{FF2B5EF4-FFF2-40B4-BE49-F238E27FC236}">
                  <a16:creationId xmlns:a16="http://schemas.microsoft.com/office/drawing/2014/main" id="{AFE4C240-4B7E-4BD7-877B-B136C2DCB9B1}"/>
                </a:ext>
              </a:extLst>
            </p:cNvPr>
            <p:cNvSpPr>
              <a:spLocks noChangeArrowheads="1"/>
            </p:cNvSpPr>
            <p:nvPr/>
          </p:nvSpPr>
          <p:spPr bwMode="auto">
            <a:xfrm>
              <a:off x="3636" y="378"/>
              <a:ext cx="528" cy="1104"/>
            </a:xfrm>
            <a:prstGeom prst="ellipse">
              <a:avLst/>
            </a:prstGeom>
            <a:noFill/>
            <a:ln w="9525">
              <a:solidFill>
                <a:srgbClr val="FF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1" name="Line 1164">
              <a:extLst>
                <a:ext uri="{FF2B5EF4-FFF2-40B4-BE49-F238E27FC236}">
                  <a16:creationId xmlns:a16="http://schemas.microsoft.com/office/drawing/2014/main" id="{BC0447D7-F43B-4DEF-AA85-650F85020C82}"/>
                </a:ext>
              </a:extLst>
            </p:cNvPr>
            <p:cNvSpPr>
              <a:spLocks noChangeShapeType="1"/>
            </p:cNvSpPr>
            <p:nvPr/>
          </p:nvSpPr>
          <p:spPr bwMode="auto">
            <a:xfrm flipV="1">
              <a:off x="3636" y="888"/>
              <a:ext cx="0" cy="72"/>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72" name="Object 1165">
              <a:extLst>
                <a:ext uri="{FF2B5EF4-FFF2-40B4-BE49-F238E27FC236}">
                  <a16:creationId xmlns:a16="http://schemas.microsoft.com/office/drawing/2014/main" id="{2B65E830-C044-4491-B993-C61E6754246D}"/>
                </a:ext>
              </a:extLst>
            </p:cNvPr>
            <p:cNvGraphicFramePr>
              <a:graphicFrameLocks noChangeAspect="1"/>
            </p:cNvGraphicFramePr>
            <p:nvPr/>
          </p:nvGraphicFramePr>
          <p:xfrm>
            <a:off x="3712" y="716"/>
            <a:ext cx="284" cy="386"/>
          </p:xfrm>
          <a:graphic>
            <a:graphicData uri="http://schemas.openxmlformats.org/presentationml/2006/ole">
              <mc:AlternateContent xmlns:mc="http://schemas.openxmlformats.org/markup-compatibility/2006">
                <mc:Choice xmlns:v="urn:schemas-microsoft-com:vml" Requires="v">
                  <p:oleObj spid="_x0000_s12365" name="公式" r:id="rId10" imgW="177480" imgH="241200" progId="Equation.3">
                    <p:embed/>
                  </p:oleObj>
                </mc:Choice>
                <mc:Fallback>
                  <p:oleObj name="公式" r:id="rId10" imgW="177480" imgH="241200" progId="Equation.3">
                    <p:embed/>
                    <p:pic>
                      <p:nvPicPr>
                        <p:cNvPr id="72" name="Object 1165">
                          <a:extLst>
                            <a:ext uri="{FF2B5EF4-FFF2-40B4-BE49-F238E27FC236}">
                              <a16:creationId xmlns:a16="http://schemas.microsoft.com/office/drawing/2014/main" id="{2B65E830-C044-4491-B993-C61E675424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2" y="716"/>
                          <a:ext cx="284" cy="3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 name="Rectangle 1166">
              <a:extLst>
                <a:ext uri="{FF2B5EF4-FFF2-40B4-BE49-F238E27FC236}">
                  <a16:creationId xmlns:a16="http://schemas.microsoft.com/office/drawing/2014/main" id="{5CCE8B57-6074-492D-A271-3312E831C5C8}"/>
                </a:ext>
              </a:extLst>
            </p:cNvPr>
            <p:cNvSpPr>
              <a:spLocks noChangeArrowheads="1"/>
            </p:cNvSpPr>
            <p:nvPr/>
          </p:nvSpPr>
          <p:spPr bwMode="auto">
            <a:xfrm>
              <a:off x="3930" y="348"/>
              <a:ext cx="300" cy="1206"/>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74" name="AutoShape 1168">
            <a:extLst>
              <a:ext uri="{FF2B5EF4-FFF2-40B4-BE49-F238E27FC236}">
                <a16:creationId xmlns:a16="http://schemas.microsoft.com/office/drawing/2014/main" id="{F71337D0-B476-4508-A880-4F7342B494C8}"/>
              </a:ext>
            </a:extLst>
          </p:cNvPr>
          <p:cNvSpPr>
            <a:spLocks noChangeArrowheads="1"/>
          </p:cNvSpPr>
          <p:nvPr/>
        </p:nvSpPr>
        <p:spPr bwMode="auto">
          <a:xfrm rot="5400000">
            <a:off x="7164066" y="2929226"/>
            <a:ext cx="1771650" cy="3219450"/>
          </a:xfrm>
          <a:prstGeom prst="can">
            <a:avLst>
              <a:gd name="adj" fmla="val 45430"/>
            </a:avLst>
          </a:prstGeom>
          <a:noFill/>
          <a:ln w="38100">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75" name="Group 1169">
            <a:extLst>
              <a:ext uri="{FF2B5EF4-FFF2-40B4-BE49-F238E27FC236}">
                <a16:creationId xmlns:a16="http://schemas.microsoft.com/office/drawing/2014/main" id="{91796CB6-E781-43DB-B091-49F378DD2DB3}"/>
              </a:ext>
            </a:extLst>
          </p:cNvPr>
          <p:cNvGrpSpPr>
            <a:grpSpLocks/>
          </p:cNvGrpSpPr>
          <p:nvPr/>
        </p:nvGrpSpPr>
        <p:grpSpPr bwMode="auto">
          <a:xfrm>
            <a:off x="9307191" y="4519901"/>
            <a:ext cx="1219200" cy="719138"/>
            <a:chOff x="3756" y="1212"/>
            <a:chExt cx="768" cy="453"/>
          </a:xfrm>
        </p:grpSpPr>
        <p:sp>
          <p:nvSpPr>
            <p:cNvPr id="76" name="Line 1170">
              <a:extLst>
                <a:ext uri="{FF2B5EF4-FFF2-40B4-BE49-F238E27FC236}">
                  <a16:creationId xmlns:a16="http://schemas.microsoft.com/office/drawing/2014/main" id="{A8AB3402-1175-44FF-9CE5-ADE82EB68EBD}"/>
                </a:ext>
              </a:extLst>
            </p:cNvPr>
            <p:cNvSpPr>
              <a:spLocks noChangeShapeType="1"/>
            </p:cNvSpPr>
            <p:nvPr/>
          </p:nvSpPr>
          <p:spPr bwMode="auto">
            <a:xfrm>
              <a:off x="3756" y="1212"/>
              <a:ext cx="768"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77" name="Object 1171">
              <a:extLst>
                <a:ext uri="{FF2B5EF4-FFF2-40B4-BE49-F238E27FC236}">
                  <a16:creationId xmlns:a16="http://schemas.microsoft.com/office/drawing/2014/main" id="{628C6E7B-ACCA-462E-8CE1-14529BE2DC8B}"/>
                </a:ext>
              </a:extLst>
            </p:cNvPr>
            <p:cNvGraphicFramePr>
              <a:graphicFrameLocks noChangeAspect="1"/>
            </p:cNvGraphicFramePr>
            <p:nvPr/>
          </p:nvGraphicFramePr>
          <p:xfrm>
            <a:off x="4030" y="1225"/>
            <a:ext cx="351" cy="440"/>
          </p:xfrm>
          <a:graphic>
            <a:graphicData uri="http://schemas.openxmlformats.org/presentationml/2006/ole">
              <mc:AlternateContent xmlns:mc="http://schemas.openxmlformats.org/markup-compatibility/2006">
                <mc:Choice xmlns:v="urn:schemas-microsoft-com:vml" Requires="v">
                  <p:oleObj spid="_x0000_s12366" name="公式" r:id="rId11" imgW="203040" imgH="253800" progId="Equation.3">
                    <p:embed/>
                  </p:oleObj>
                </mc:Choice>
                <mc:Fallback>
                  <p:oleObj name="公式" r:id="rId11" imgW="203040" imgH="253800" progId="Equation.3">
                    <p:embed/>
                    <p:pic>
                      <p:nvPicPr>
                        <p:cNvPr id="77" name="Object 1171">
                          <a:extLst>
                            <a:ext uri="{FF2B5EF4-FFF2-40B4-BE49-F238E27FC236}">
                              <a16:creationId xmlns:a16="http://schemas.microsoft.com/office/drawing/2014/main" id="{628C6E7B-ACCA-462E-8CE1-14529BE2DC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0" y="1225"/>
                          <a:ext cx="351" cy="4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8" name="Group 1172">
            <a:extLst>
              <a:ext uri="{FF2B5EF4-FFF2-40B4-BE49-F238E27FC236}">
                <a16:creationId xmlns:a16="http://schemas.microsoft.com/office/drawing/2014/main" id="{39EE7D51-6EE7-4331-9537-9DA141F018C9}"/>
              </a:ext>
            </a:extLst>
          </p:cNvPr>
          <p:cNvGrpSpPr>
            <a:grpSpLocks/>
          </p:cNvGrpSpPr>
          <p:nvPr/>
        </p:nvGrpSpPr>
        <p:grpSpPr bwMode="auto">
          <a:xfrm>
            <a:off x="8842055" y="3661064"/>
            <a:ext cx="541337" cy="438150"/>
            <a:chOff x="3805" y="1877"/>
            <a:chExt cx="341" cy="276"/>
          </a:xfrm>
        </p:grpSpPr>
        <p:sp>
          <p:nvSpPr>
            <p:cNvPr id="79" name="Line 1173">
              <a:extLst>
                <a:ext uri="{FF2B5EF4-FFF2-40B4-BE49-F238E27FC236}">
                  <a16:creationId xmlns:a16="http://schemas.microsoft.com/office/drawing/2014/main" id="{9E437392-9527-4D4C-8B14-FFD199D6E755}"/>
                </a:ext>
              </a:extLst>
            </p:cNvPr>
            <p:cNvSpPr>
              <a:spLocks noChangeShapeType="1"/>
            </p:cNvSpPr>
            <p:nvPr/>
          </p:nvSpPr>
          <p:spPr bwMode="auto">
            <a:xfrm rot="409920" flipH="1">
              <a:off x="3805" y="1997"/>
              <a:ext cx="227" cy="3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0" name="Oval 1174">
              <a:extLst>
                <a:ext uri="{FF2B5EF4-FFF2-40B4-BE49-F238E27FC236}">
                  <a16:creationId xmlns:a16="http://schemas.microsoft.com/office/drawing/2014/main" id="{545300DE-E9E2-4471-A45B-19BD1A875D76}"/>
                </a:ext>
              </a:extLst>
            </p:cNvPr>
            <p:cNvSpPr>
              <a:spLocks noChangeArrowheads="1"/>
            </p:cNvSpPr>
            <p:nvPr/>
          </p:nvSpPr>
          <p:spPr bwMode="auto">
            <a:xfrm rot="-409920">
              <a:off x="3954" y="1877"/>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1" name="Line 1175">
              <a:extLst>
                <a:ext uri="{FF2B5EF4-FFF2-40B4-BE49-F238E27FC236}">
                  <a16:creationId xmlns:a16="http://schemas.microsoft.com/office/drawing/2014/main" id="{FD81296B-64E0-48AE-951A-8CE1F72D9318}"/>
                </a:ext>
              </a:extLst>
            </p:cNvPr>
            <p:cNvSpPr>
              <a:spLocks noChangeShapeType="1"/>
            </p:cNvSpPr>
            <p:nvPr/>
          </p:nvSpPr>
          <p:spPr bwMode="auto">
            <a:xfrm rot="21190080" flipH="1">
              <a:off x="4141" y="1991"/>
              <a:ext cx="5" cy="7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82" name="Group 1176">
            <a:extLst>
              <a:ext uri="{FF2B5EF4-FFF2-40B4-BE49-F238E27FC236}">
                <a16:creationId xmlns:a16="http://schemas.microsoft.com/office/drawing/2014/main" id="{1CE41A72-B484-4EFE-99D6-F5665EDE3A8F}"/>
              </a:ext>
            </a:extLst>
          </p:cNvPr>
          <p:cNvGrpSpPr>
            <a:grpSpLocks/>
          </p:cNvGrpSpPr>
          <p:nvPr/>
        </p:nvGrpSpPr>
        <p:grpSpPr bwMode="auto">
          <a:xfrm>
            <a:off x="8594405" y="4061114"/>
            <a:ext cx="541337" cy="438150"/>
            <a:chOff x="3805" y="1877"/>
            <a:chExt cx="341" cy="276"/>
          </a:xfrm>
        </p:grpSpPr>
        <p:sp>
          <p:nvSpPr>
            <p:cNvPr id="83" name="Line 1177">
              <a:extLst>
                <a:ext uri="{FF2B5EF4-FFF2-40B4-BE49-F238E27FC236}">
                  <a16:creationId xmlns:a16="http://schemas.microsoft.com/office/drawing/2014/main" id="{A068EFFE-6E94-4FE4-B76B-7161493B5AD5}"/>
                </a:ext>
              </a:extLst>
            </p:cNvPr>
            <p:cNvSpPr>
              <a:spLocks noChangeShapeType="1"/>
            </p:cNvSpPr>
            <p:nvPr/>
          </p:nvSpPr>
          <p:spPr bwMode="auto">
            <a:xfrm rot="409920" flipH="1">
              <a:off x="3805" y="1997"/>
              <a:ext cx="227" cy="3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4" name="Oval 1178">
              <a:extLst>
                <a:ext uri="{FF2B5EF4-FFF2-40B4-BE49-F238E27FC236}">
                  <a16:creationId xmlns:a16="http://schemas.microsoft.com/office/drawing/2014/main" id="{3314E1C3-69F7-4F5F-A0C4-9A5CFC01C029}"/>
                </a:ext>
              </a:extLst>
            </p:cNvPr>
            <p:cNvSpPr>
              <a:spLocks noChangeArrowheads="1"/>
            </p:cNvSpPr>
            <p:nvPr/>
          </p:nvSpPr>
          <p:spPr bwMode="auto">
            <a:xfrm rot="-409920">
              <a:off x="3954" y="1877"/>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5" name="Line 1179">
              <a:extLst>
                <a:ext uri="{FF2B5EF4-FFF2-40B4-BE49-F238E27FC236}">
                  <a16:creationId xmlns:a16="http://schemas.microsoft.com/office/drawing/2014/main" id="{552D352E-B07A-44F2-A434-B14BFC8FC3E7}"/>
                </a:ext>
              </a:extLst>
            </p:cNvPr>
            <p:cNvSpPr>
              <a:spLocks noChangeShapeType="1"/>
            </p:cNvSpPr>
            <p:nvPr/>
          </p:nvSpPr>
          <p:spPr bwMode="auto">
            <a:xfrm rot="21190080" flipH="1">
              <a:off x="4141" y="1991"/>
              <a:ext cx="5" cy="7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86" name="Group 1180">
            <a:extLst>
              <a:ext uri="{FF2B5EF4-FFF2-40B4-BE49-F238E27FC236}">
                <a16:creationId xmlns:a16="http://schemas.microsoft.com/office/drawing/2014/main" id="{75655DCE-2304-44B6-B3CD-BDEFEA4BAFD3}"/>
              </a:ext>
            </a:extLst>
          </p:cNvPr>
          <p:cNvGrpSpPr>
            <a:grpSpLocks/>
          </p:cNvGrpSpPr>
          <p:nvPr/>
        </p:nvGrpSpPr>
        <p:grpSpPr bwMode="auto">
          <a:xfrm>
            <a:off x="8584880" y="4527839"/>
            <a:ext cx="541337" cy="438150"/>
            <a:chOff x="3805" y="1877"/>
            <a:chExt cx="341" cy="276"/>
          </a:xfrm>
        </p:grpSpPr>
        <p:sp>
          <p:nvSpPr>
            <p:cNvPr id="87" name="Line 1181">
              <a:extLst>
                <a:ext uri="{FF2B5EF4-FFF2-40B4-BE49-F238E27FC236}">
                  <a16:creationId xmlns:a16="http://schemas.microsoft.com/office/drawing/2014/main" id="{3C77F66C-5878-44D0-8993-87251FC4BACA}"/>
                </a:ext>
              </a:extLst>
            </p:cNvPr>
            <p:cNvSpPr>
              <a:spLocks noChangeShapeType="1"/>
            </p:cNvSpPr>
            <p:nvPr/>
          </p:nvSpPr>
          <p:spPr bwMode="auto">
            <a:xfrm rot="409920" flipH="1">
              <a:off x="3805" y="1997"/>
              <a:ext cx="227" cy="3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8" name="Oval 1182">
              <a:extLst>
                <a:ext uri="{FF2B5EF4-FFF2-40B4-BE49-F238E27FC236}">
                  <a16:creationId xmlns:a16="http://schemas.microsoft.com/office/drawing/2014/main" id="{72FC16BD-54B5-41F7-BD18-B6B8F08B970E}"/>
                </a:ext>
              </a:extLst>
            </p:cNvPr>
            <p:cNvSpPr>
              <a:spLocks noChangeArrowheads="1"/>
            </p:cNvSpPr>
            <p:nvPr/>
          </p:nvSpPr>
          <p:spPr bwMode="auto">
            <a:xfrm rot="-409920">
              <a:off x="3954" y="1877"/>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9" name="Line 1183">
              <a:extLst>
                <a:ext uri="{FF2B5EF4-FFF2-40B4-BE49-F238E27FC236}">
                  <a16:creationId xmlns:a16="http://schemas.microsoft.com/office/drawing/2014/main" id="{391CB6D1-369D-4275-9817-FAD179C8037D}"/>
                </a:ext>
              </a:extLst>
            </p:cNvPr>
            <p:cNvSpPr>
              <a:spLocks noChangeShapeType="1"/>
            </p:cNvSpPr>
            <p:nvPr/>
          </p:nvSpPr>
          <p:spPr bwMode="auto">
            <a:xfrm rot="21190080" flipH="1">
              <a:off x="4141" y="1991"/>
              <a:ext cx="5" cy="7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0" name="Group 1184">
            <a:extLst>
              <a:ext uri="{FF2B5EF4-FFF2-40B4-BE49-F238E27FC236}">
                <a16:creationId xmlns:a16="http://schemas.microsoft.com/office/drawing/2014/main" id="{D01EC614-9B98-454A-A1A0-829CC83081D2}"/>
              </a:ext>
            </a:extLst>
          </p:cNvPr>
          <p:cNvGrpSpPr>
            <a:grpSpLocks/>
          </p:cNvGrpSpPr>
          <p:nvPr/>
        </p:nvGrpSpPr>
        <p:grpSpPr bwMode="auto">
          <a:xfrm>
            <a:off x="8813480" y="4965989"/>
            <a:ext cx="541337" cy="438150"/>
            <a:chOff x="3805" y="1877"/>
            <a:chExt cx="341" cy="276"/>
          </a:xfrm>
        </p:grpSpPr>
        <p:sp>
          <p:nvSpPr>
            <p:cNvPr id="91" name="Line 1185">
              <a:extLst>
                <a:ext uri="{FF2B5EF4-FFF2-40B4-BE49-F238E27FC236}">
                  <a16:creationId xmlns:a16="http://schemas.microsoft.com/office/drawing/2014/main" id="{FCF04104-AECC-4152-A095-E557A916A3AA}"/>
                </a:ext>
              </a:extLst>
            </p:cNvPr>
            <p:cNvSpPr>
              <a:spLocks noChangeShapeType="1"/>
            </p:cNvSpPr>
            <p:nvPr/>
          </p:nvSpPr>
          <p:spPr bwMode="auto">
            <a:xfrm rot="409920" flipH="1">
              <a:off x="3805" y="1997"/>
              <a:ext cx="227" cy="3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2" name="Oval 1186">
              <a:extLst>
                <a:ext uri="{FF2B5EF4-FFF2-40B4-BE49-F238E27FC236}">
                  <a16:creationId xmlns:a16="http://schemas.microsoft.com/office/drawing/2014/main" id="{BC16B128-8792-43BD-B890-A7AC4F3FF863}"/>
                </a:ext>
              </a:extLst>
            </p:cNvPr>
            <p:cNvSpPr>
              <a:spLocks noChangeArrowheads="1"/>
            </p:cNvSpPr>
            <p:nvPr/>
          </p:nvSpPr>
          <p:spPr bwMode="auto">
            <a:xfrm rot="-409920">
              <a:off x="3954" y="1877"/>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3" name="Line 1187">
              <a:extLst>
                <a:ext uri="{FF2B5EF4-FFF2-40B4-BE49-F238E27FC236}">
                  <a16:creationId xmlns:a16="http://schemas.microsoft.com/office/drawing/2014/main" id="{3631D65A-5262-4A8C-AD5E-2623AB03FC8A}"/>
                </a:ext>
              </a:extLst>
            </p:cNvPr>
            <p:cNvSpPr>
              <a:spLocks noChangeShapeType="1"/>
            </p:cNvSpPr>
            <p:nvPr/>
          </p:nvSpPr>
          <p:spPr bwMode="auto">
            <a:xfrm rot="21190080" flipH="1">
              <a:off x="4141" y="1991"/>
              <a:ext cx="5" cy="7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4" name="Group 1188">
            <a:extLst>
              <a:ext uri="{FF2B5EF4-FFF2-40B4-BE49-F238E27FC236}">
                <a16:creationId xmlns:a16="http://schemas.microsoft.com/office/drawing/2014/main" id="{7CD9C673-0F9F-42E6-920A-82630C04BB87}"/>
              </a:ext>
            </a:extLst>
          </p:cNvPr>
          <p:cNvGrpSpPr>
            <a:grpSpLocks/>
          </p:cNvGrpSpPr>
          <p:nvPr/>
        </p:nvGrpSpPr>
        <p:grpSpPr bwMode="auto">
          <a:xfrm>
            <a:off x="9061130" y="4032539"/>
            <a:ext cx="541337" cy="438150"/>
            <a:chOff x="3805" y="1877"/>
            <a:chExt cx="341" cy="276"/>
          </a:xfrm>
        </p:grpSpPr>
        <p:sp>
          <p:nvSpPr>
            <p:cNvPr id="95" name="Line 1189">
              <a:extLst>
                <a:ext uri="{FF2B5EF4-FFF2-40B4-BE49-F238E27FC236}">
                  <a16:creationId xmlns:a16="http://schemas.microsoft.com/office/drawing/2014/main" id="{015B561C-90C8-4133-99CC-5E389D095435}"/>
                </a:ext>
              </a:extLst>
            </p:cNvPr>
            <p:cNvSpPr>
              <a:spLocks noChangeShapeType="1"/>
            </p:cNvSpPr>
            <p:nvPr/>
          </p:nvSpPr>
          <p:spPr bwMode="auto">
            <a:xfrm rot="409920" flipH="1">
              <a:off x="3805" y="1997"/>
              <a:ext cx="227" cy="3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6" name="Oval 1190">
              <a:extLst>
                <a:ext uri="{FF2B5EF4-FFF2-40B4-BE49-F238E27FC236}">
                  <a16:creationId xmlns:a16="http://schemas.microsoft.com/office/drawing/2014/main" id="{4786F062-3E7E-4E61-A96C-28BA2079BA80}"/>
                </a:ext>
              </a:extLst>
            </p:cNvPr>
            <p:cNvSpPr>
              <a:spLocks noChangeArrowheads="1"/>
            </p:cNvSpPr>
            <p:nvPr/>
          </p:nvSpPr>
          <p:spPr bwMode="auto">
            <a:xfrm rot="-409920">
              <a:off x="3954" y="1877"/>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97" name="Line 1191">
              <a:extLst>
                <a:ext uri="{FF2B5EF4-FFF2-40B4-BE49-F238E27FC236}">
                  <a16:creationId xmlns:a16="http://schemas.microsoft.com/office/drawing/2014/main" id="{6B1A1F13-3950-44BB-BFBF-6FA6315C70BE}"/>
                </a:ext>
              </a:extLst>
            </p:cNvPr>
            <p:cNvSpPr>
              <a:spLocks noChangeShapeType="1"/>
            </p:cNvSpPr>
            <p:nvPr/>
          </p:nvSpPr>
          <p:spPr bwMode="auto">
            <a:xfrm rot="21190080" flipH="1">
              <a:off x="4141" y="1991"/>
              <a:ext cx="5" cy="7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98" name="Group 1192">
            <a:extLst>
              <a:ext uri="{FF2B5EF4-FFF2-40B4-BE49-F238E27FC236}">
                <a16:creationId xmlns:a16="http://schemas.microsoft.com/office/drawing/2014/main" id="{F0444879-9B74-412B-B959-6AEF167404A3}"/>
              </a:ext>
            </a:extLst>
          </p:cNvPr>
          <p:cNvGrpSpPr>
            <a:grpSpLocks/>
          </p:cNvGrpSpPr>
          <p:nvPr/>
        </p:nvGrpSpPr>
        <p:grpSpPr bwMode="auto">
          <a:xfrm>
            <a:off x="9070655" y="4575464"/>
            <a:ext cx="541337" cy="438150"/>
            <a:chOff x="3805" y="1877"/>
            <a:chExt cx="341" cy="276"/>
          </a:xfrm>
        </p:grpSpPr>
        <p:sp>
          <p:nvSpPr>
            <p:cNvPr id="99" name="Line 1193">
              <a:extLst>
                <a:ext uri="{FF2B5EF4-FFF2-40B4-BE49-F238E27FC236}">
                  <a16:creationId xmlns:a16="http://schemas.microsoft.com/office/drawing/2014/main" id="{FAD52A91-1927-47EA-BC29-B0FB44F0318B}"/>
                </a:ext>
              </a:extLst>
            </p:cNvPr>
            <p:cNvSpPr>
              <a:spLocks noChangeShapeType="1"/>
            </p:cNvSpPr>
            <p:nvPr/>
          </p:nvSpPr>
          <p:spPr bwMode="auto">
            <a:xfrm rot="409920" flipH="1">
              <a:off x="3805" y="1997"/>
              <a:ext cx="227" cy="3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0" name="Oval 1194">
              <a:extLst>
                <a:ext uri="{FF2B5EF4-FFF2-40B4-BE49-F238E27FC236}">
                  <a16:creationId xmlns:a16="http://schemas.microsoft.com/office/drawing/2014/main" id="{1CC75156-8594-4DA8-B353-09679C7AA939}"/>
                </a:ext>
              </a:extLst>
            </p:cNvPr>
            <p:cNvSpPr>
              <a:spLocks noChangeArrowheads="1"/>
            </p:cNvSpPr>
            <p:nvPr/>
          </p:nvSpPr>
          <p:spPr bwMode="auto">
            <a:xfrm rot="-409920">
              <a:off x="3954" y="1877"/>
              <a:ext cx="192" cy="276"/>
            </a:xfrm>
            <a:prstGeom prst="ellipse">
              <a:avLst/>
            </a:prstGeom>
            <a:gradFill rotWithShape="0">
              <a:gsLst>
                <a:gs pos="0">
                  <a:srgbClr val="DDDDDD">
                    <a:gamma/>
                    <a:shade val="46275"/>
                    <a:invGamma/>
                  </a:srgbClr>
                </a:gs>
                <a:gs pos="50000">
                  <a:srgbClr val="DDDDDD"/>
                </a:gs>
                <a:gs pos="100000">
                  <a:srgbClr val="DDDDDD">
                    <a:gamma/>
                    <a:shade val="46275"/>
                    <a:invGamma/>
                  </a:srgbClr>
                </a:gs>
              </a:gsLst>
              <a:lin ang="2700000" scaled="1"/>
            </a:gradFill>
            <a:ln w="19050">
              <a:solidFill>
                <a:schemeClr val="accent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01" name="Line 1195">
              <a:extLst>
                <a:ext uri="{FF2B5EF4-FFF2-40B4-BE49-F238E27FC236}">
                  <a16:creationId xmlns:a16="http://schemas.microsoft.com/office/drawing/2014/main" id="{82938C3B-2294-4022-8280-74A290183DA9}"/>
                </a:ext>
              </a:extLst>
            </p:cNvPr>
            <p:cNvSpPr>
              <a:spLocks noChangeShapeType="1"/>
            </p:cNvSpPr>
            <p:nvPr/>
          </p:nvSpPr>
          <p:spPr bwMode="auto">
            <a:xfrm rot="21190080" flipH="1">
              <a:off x="4141" y="1991"/>
              <a:ext cx="5" cy="7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02" name="Group 1196">
            <a:extLst>
              <a:ext uri="{FF2B5EF4-FFF2-40B4-BE49-F238E27FC236}">
                <a16:creationId xmlns:a16="http://schemas.microsoft.com/office/drawing/2014/main" id="{08682A28-178C-4BE9-BE04-1DAC770D9114}"/>
              </a:ext>
            </a:extLst>
          </p:cNvPr>
          <p:cNvGrpSpPr>
            <a:grpSpLocks/>
          </p:cNvGrpSpPr>
          <p:nvPr/>
        </p:nvGrpSpPr>
        <p:grpSpPr bwMode="auto">
          <a:xfrm>
            <a:off x="10635929" y="4538951"/>
            <a:ext cx="950912" cy="522288"/>
            <a:chOff x="4761" y="2880"/>
            <a:chExt cx="599" cy="329"/>
          </a:xfrm>
        </p:grpSpPr>
        <p:graphicFrame>
          <p:nvGraphicFramePr>
            <p:cNvPr id="103" name="Object 1197">
              <a:extLst>
                <a:ext uri="{FF2B5EF4-FFF2-40B4-BE49-F238E27FC236}">
                  <a16:creationId xmlns:a16="http://schemas.microsoft.com/office/drawing/2014/main" id="{37F61D8A-D076-4DC7-ADE3-4731BD890B48}"/>
                </a:ext>
              </a:extLst>
            </p:cNvPr>
            <p:cNvGraphicFramePr>
              <a:graphicFrameLocks noChangeAspect="1"/>
            </p:cNvGraphicFramePr>
            <p:nvPr/>
          </p:nvGraphicFramePr>
          <p:xfrm>
            <a:off x="4761" y="2882"/>
            <a:ext cx="599" cy="327"/>
          </p:xfrm>
          <a:graphic>
            <a:graphicData uri="http://schemas.openxmlformats.org/presentationml/2006/ole">
              <mc:AlternateContent xmlns:mc="http://schemas.openxmlformats.org/markup-compatibility/2006">
                <mc:Choice xmlns:v="urn:schemas-microsoft-com:vml" Requires="v">
                  <p:oleObj spid="_x0000_s12367" name="公式" r:id="rId12" imgW="368280" imgH="203040" progId="Equation.3">
                    <p:embed/>
                  </p:oleObj>
                </mc:Choice>
                <mc:Fallback>
                  <p:oleObj name="公式" r:id="rId12" imgW="368280" imgH="203040" progId="Equation.3">
                    <p:embed/>
                    <p:pic>
                      <p:nvPicPr>
                        <p:cNvPr id="103" name="Object 1197">
                          <a:extLst>
                            <a:ext uri="{FF2B5EF4-FFF2-40B4-BE49-F238E27FC236}">
                              <a16:creationId xmlns:a16="http://schemas.microsoft.com/office/drawing/2014/main" id="{37F61D8A-D076-4DC7-ADE3-4731BD890B4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61" y="2882"/>
                          <a:ext cx="59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 name="Line 1198">
              <a:extLst>
                <a:ext uri="{FF2B5EF4-FFF2-40B4-BE49-F238E27FC236}">
                  <a16:creationId xmlns:a16="http://schemas.microsoft.com/office/drawing/2014/main" id="{ACEB626A-2792-4CD7-B9A9-47FBB71F1121}"/>
                </a:ext>
              </a:extLst>
            </p:cNvPr>
            <p:cNvSpPr>
              <a:spLocks noChangeShapeType="1"/>
            </p:cNvSpPr>
            <p:nvPr/>
          </p:nvSpPr>
          <p:spPr bwMode="auto">
            <a:xfrm flipH="1">
              <a:off x="4800" y="2880"/>
              <a:ext cx="228" cy="0"/>
            </a:xfrm>
            <a:prstGeom prst="line">
              <a:avLst/>
            </a:prstGeom>
            <a:noFill/>
            <a:ln w="38100">
              <a:solidFill>
                <a:srgbClr val="FF00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0" fontAlgn="base" hangingPunct="0">
                <a:spcBef>
                  <a:spcPct val="0"/>
                </a:spcBef>
                <a:spcAft>
                  <a:spcPct val="0"/>
                </a:spcAft>
                <a:buFont typeface="Monotype Sorts" pitchFamily="2" charset="2"/>
                <a:buChar char="m"/>
              </a:pPr>
              <a:endParaRPr kumimoji="1" lang="zh-CN" altLang="en-US"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105" name="Rectangle 4">
            <a:extLst>
              <a:ext uri="{FF2B5EF4-FFF2-40B4-BE49-F238E27FC236}">
                <a16:creationId xmlns:a16="http://schemas.microsoft.com/office/drawing/2014/main" id="{5BB233D2-DAA0-400C-ABF4-7B4B1A96B870}"/>
              </a:ext>
            </a:extLst>
          </p:cNvPr>
          <p:cNvSpPr>
            <a:spLocks noChangeArrowheads="1"/>
          </p:cNvSpPr>
          <p:nvPr/>
        </p:nvSpPr>
        <p:spPr bwMode="auto">
          <a:xfrm>
            <a:off x="2901686" y="6091703"/>
            <a:ext cx="354444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eaLnBrk="0" fontAlgn="base" hangingPunct="0">
              <a:spcBef>
                <a:spcPct val="0"/>
              </a:spcBef>
              <a:spcAft>
                <a:spcPct val="0"/>
              </a:spcAft>
              <a:buFont typeface="Monotype Sorts" pitchFamily="2" charset="2"/>
              <a:buNone/>
            </a:pPr>
            <a:r>
              <a:rPr lang="zh-CN" altLang="en-US"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感生磁矩 </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&lt;&lt; </a:t>
            </a:r>
            <a:r>
              <a:rPr lang="zh-CN" altLang="en-US"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固有磁矩</a:t>
            </a:r>
          </a:p>
        </p:txBody>
      </p:sp>
      <p:sp>
        <p:nvSpPr>
          <p:cNvPr id="106" name="Text Box 7">
            <a:extLst>
              <a:ext uri="{FF2B5EF4-FFF2-40B4-BE49-F238E27FC236}">
                <a16:creationId xmlns:a16="http://schemas.microsoft.com/office/drawing/2014/main" id="{D697A230-EEBE-41CC-9E06-04DAB6C42D6F}"/>
              </a:ext>
            </a:extLst>
          </p:cNvPr>
          <p:cNvSpPr txBox="1">
            <a:spLocks noChangeArrowheads="1"/>
          </p:cNvSpPr>
          <p:nvPr/>
        </p:nvSpPr>
        <p:spPr bwMode="auto">
          <a:xfrm>
            <a:off x="147160" y="6082881"/>
            <a:ext cx="432795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fontAlgn="base" hangingPunct="0">
              <a:spcBef>
                <a:spcPct val="50000"/>
              </a:spcBef>
              <a:spcAft>
                <a:spcPct val="0"/>
              </a:spcAft>
              <a:buFont typeface="Monotype Sorts" pitchFamily="2" charset="2"/>
              <a:buNone/>
            </a:pPr>
            <a:r>
              <a:rPr lang="zh-CN" altLang="en-US"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顺磁介质也有抗磁性</a:t>
            </a:r>
          </a:p>
        </p:txBody>
      </p:sp>
      <p:sp>
        <p:nvSpPr>
          <p:cNvPr id="108" name="Rectangle 14">
            <a:extLst>
              <a:ext uri="{FF2B5EF4-FFF2-40B4-BE49-F238E27FC236}">
                <a16:creationId xmlns:a16="http://schemas.microsoft.com/office/drawing/2014/main" id="{E530211C-70DB-4DE3-80CC-FF0109562D3B}"/>
              </a:ext>
            </a:extLst>
          </p:cNvPr>
          <p:cNvSpPr>
            <a:spLocks noChangeArrowheads="1"/>
          </p:cNvSpPr>
          <p:nvPr/>
        </p:nvSpPr>
        <p:spPr bwMode="auto">
          <a:xfrm>
            <a:off x="6440166" y="790669"/>
            <a:ext cx="5444264" cy="492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0" fontAlgn="base" hangingPunct="0">
              <a:spcBef>
                <a:spcPct val="0"/>
              </a:spcBef>
              <a:spcAft>
                <a:spcPct val="0"/>
              </a:spcAft>
            </a:pPr>
            <a:r>
              <a:rPr lang="en-US" altLang="zh-CN" sz="2600" dirty="0">
                <a:solidFill>
                  <a:srgbClr val="FF0000"/>
                </a:solidFill>
                <a:ea typeface="华文楷体" panose="02010600040101010101" pitchFamily="2" charset="-122"/>
              </a:rPr>
              <a:t>- </a:t>
            </a:r>
            <a:r>
              <a:rPr lang="zh-CN" altLang="en-US" sz="2600" dirty="0">
                <a:solidFill>
                  <a:srgbClr val="FF0000"/>
                </a:solidFill>
                <a:ea typeface="华文楷体" panose="02010600040101010101" pitchFamily="2" charset="-122"/>
              </a:rPr>
              <a:t>抗磁介质</a:t>
            </a:r>
          </a:p>
        </p:txBody>
      </p:sp>
      <p:sp>
        <p:nvSpPr>
          <p:cNvPr id="109" name="Rectangle 2">
            <a:extLst>
              <a:ext uri="{FF2B5EF4-FFF2-40B4-BE49-F238E27FC236}">
                <a16:creationId xmlns:a16="http://schemas.microsoft.com/office/drawing/2014/main" id="{B9BA3570-CE34-4F27-AD37-C89E6C7AB11D}"/>
              </a:ext>
            </a:extLst>
          </p:cNvPr>
          <p:cNvSpPr>
            <a:spLocks noChangeArrowheads="1"/>
          </p:cNvSpPr>
          <p:nvPr/>
        </p:nvSpPr>
        <p:spPr bwMode="auto">
          <a:xfrm>
            <a:off x="804862" y="451218"/>
            <a:ext cx="4361990"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dirty="0">
                <a:solidFill>
                  <a:srgbClr val="0066FF"/>
                </a:solidFill>
                <a:ea typeface="华文楷体" panose="02010600040101010101" pitchFamily="2" charset="-122"/>
              </a:rPr>
              <a:t>磁介质的磁化</a:t>
            </a:r>
          </a:p>
        </p:txBody>
      </p:sp>
    </p:spTree>
    <p:extLst>
      <p:ext uri="{BB962C8B-B14F-4D97-AF65-F5344CB8AC3E}">
        <p14:creationId xmlns:p14="http://schemas.microsoft.com/office/powerpoint/2010/main" val="30701519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95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6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64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966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09699"/>
                                        </p:tgtEl>
                                        <p:attrNameLst>
                                          <p:attrName>style.visibility</p:attrName>
                                        </p:attrNameLst>
                                      </p:cBhvr>
                                      <p:to>
                                        <p:strVal val="visible"/>
                                      </p:to>
                                    </p:set>
                                    <p:animEffect transition="in" filter="wipe(left)">
                                      <p:cBhvr>
                                        <p:cTn id="23" dur="500"/>
                                        <p:tgtEl>
                                          <p:spTgt spid="109699"/>
                                        </p:tgtEl>
                                      </p:cBhvr>
                                    </p:animEffect>
                                  </p:childTnLst>
                                </p:cTn>
                              </p:par>
                            </p:childTnLst>
                          </p:cTn>
                        </p:par>
                        <p:par>
                          <p:cTn id="24" fill="hold" nodeType="afterGroup">
                            <p:stCondLst>
                              <p:cond delay="500"/>
                            </p:stCondLst>
                            <p:childTnLst>
                              <p:par>
                                <p:cTn id="25" presetID="22" presetClass="entr" presetSubtype="8" fill="hold" nodeType="afterEffect">
                                  <p:stCondLst>
                                    <p:cond delay="0"/>
                                  </p:stCondLst>
                                  <p:childTnLst>
                                    <p:set>
                                      <p:cBhvr>
                                        <p:cTn id="26" dur="1" fill="hold">
                                          <p:stCondLst>
                                            <p:cond delay="0"/>
                                          </p:stCondLst>
                                        </p:cTn>
                                        <p:tgtEl>
                                          <p:spTgt spid="109675"/>
                                        </p:tgtEl>
                                        <p:attrNameLst>
                                          <p:attrName>style.visibility</p:attrName>
                                        </p:attrNameLst>
                                      </p:cBhvr>
                                      <p:to>
                                        <p:strVal val="visible"/>
                                      </p:to>
                                    </p:set>
                                    <p:animEffect transition="in" filter="wipe(left)">
                                      <p:cBhvr>
                                        <p:cTn id="27" dur="500"/>
                                        <p:tgtEl>
                                          <p:spTgt spid="109675"/>
                                        </p:tgtEl>
                                      </p:cBhvr>
                                    </p:animEffect>
                                  </p:childTnLst>
                                </p:cTn>
                              </p:par>
                            </p:childTnLst>
                          </p:cTn>
                        </p:par>
                        <p:par>
                          <p:cTn id="28" fill="hold" nodeType="afterGroup">
                            <p:stCondLst>
                              <p:cond delay="1000"/>
                            </p:stCondLst>
                            <p:childTnLst>
                              <p:par>
                                <p:cTn id="29" presetID="22" presetClass="entr" presetSubtype="8" fill="hold" nodeType="afterEffect">
                                  <p:stCondLst>
                                    <p:cond delay="0"/>
                                  </p:stCondLst>
                                  <p:childTnLst>
                                    <p:set>
                                      <p:cBhvr>
                                        <p:cTn id="30" dur="1" fill="hold">
                                          <p:stCondLst>
                                            <p:cond delay="0"/>
                                          </p:stCondLst>
                                        </p:cTn>
                                        <p:tgtEl>
                                          <p:spTgt spid="109671"/>
                                        </p:tgtEl>
                                        <p:attrNameLst>
                                          <p:attrName>style.visibility</p:attrName>
                                        </p:attrNameLst>
                                      </p:cBhvr>
                                      <p:to>
                                        <p:strVal val="visible"/>
                                      </p:to>
                                    </p:set>
                                    <p:animEffect transition="in" filter="wipe(left)">
                                      <p:cBhvr>
                                        <p:cTn id="31" dur="500"/>
                                        <p:tgtEl>
                                          <p:spTgt spid="109671"/>
                                        </p:tgtEl>
                                      </p:cBhvr>
                                    </p:animEffect>
                                  </p:childTnLst>
                                </p:cTn>
                              </p:par>
                            </p:childTnLst>
                          </p:cTn>
                        </p:par>
                        <p:par>
                          <p:cTn id="32" fill="hold" nodeType="afterGroup">
                            <p:stCondLst>
                              <p:cond delay="1500"/>
                            </p:stCondLst>
                            <p:childTnLst>
                              <p:par>
                                <p:cTn id="33" presetID="22" presetClass="entr" presetSubtype="8" fill="hold" nodeType="afterEffect">
                                  <p:stCondLst>
                                    <p:cond delay="0"/>
                                  </p:stCondLst>
                                  <p:childTnLst>
                                    <p:set>
                                      <p:cBhvr>
                                        <p:cTn id="34" dur="1" fill="hold">
                                          <p:stCondLst>
                                            <p:cond delay="0"/>
                                          </p:stCondLst>
                                        </p:cTn>
                                        <p:tgtEl>
                                          <p:spTgt spid="109679"/>
                                        </p:tgtEl>
                                        <p:attrNameLst>
                                          <p:attrName>style.visibility</p:attrName>
                                        </p:attrNameLst>
                                      </p:cBhvr>
                                      <p:to>
                                        <p:strVal val="visible"/>
                                      </p:to>
                                    </p:set>
                                    <p:animEffect transition="in" filter="wipe(left)">
                                      <p:cBhvr>
                                        <p:cTn id="35" dur="500"/>
                                        <p:tgtEl>
                                          <p:spTgt spid="109679"/>
                                        </p:tgtEl>
                                      </p:cBhvr>
                                    </p:animEffect>
                                  </p:childTnLst>
                                </p:cTn>
                              </p:par>
                            </p:childTnLst>
                          </p:cTn>
                        </p:par>
                        <p:par>
                          <p:cTn id="36" fill="hold" nodeType="afterGroup">
                            <p:stCondLst>
                              <p:cond delay="2000"/>
                            </p:stCondLst>
                            <p:childTnLst>
                              <p:par>
                                <p:cTn id="37" presetID="22" presetClass="entr" presetSubtype="8" fill="hold" nodeType="afterEffect">
                                  <p:stCondLst>
                                    <p:cond delay="0"/>
                                  </p:stCondLst>
                                  <p:childTnLst>
                                    <p:set>
                                      <p:cBhvr>
                                        <p:cTn id="38" dur="1" fill="hold">
                                          <p:stCondLst>
                                            <p:cond delay="0"/>
                                          </p:stCondLst>
                                        </p:cTn>
                                        <p:tgtEl>
                                          <p:spTgt spid="109667"/>
                                        </p:tgtEl>
                                        <p:attrNameLst>
                                          <p:attrName>style.visibility</p:attrName>
                                        </p:attrNameLst>
                                      </p:cBhvr>
                                      <p:to>
                                        <p:strVal val="visible"/>
                                      </p:to>
                                    </p:set>
                                    <p:animEffect transition="in" filter="wipe(left)">
                                      <p:cBhvr>
                                        <p:cTn id="39" dur="500"/>
                                        <p:tgtEl>
                                          <p:spTgt spid="109667"/>
                                        </p:tgtEl>
                                      </p:cBhvr>
                                    </p:animEffect>
                                  </p:childTnLst>
                                </p:cTn>
                              </p:par>
                            </p:childTnLst>
                          </p:cTn>
                        </p:par>
                        <p:par>
                          <p:cTn id="40" fill="hold" nodeType="afterGroup">
                            <p:stCondLst>
                              <p:cond delay="2500"/>
                            </p:stCondLst>
                            <p:childTnLst>
                              <p:par>
                                <p:cTn id="41" presetID="22" presetClass="entr" presetSubtype="8" fill="hold" nodeType="afterEffect">
                                  <p:stCondLst>
                                    <p:cond delay="0"/>
                                  </p:stCondLst>
                                  <p:childTnLst>
                                    <p:set>
                                      <p:cBhvr>
                                        <p:cTn id="42" dur="1" fill="hold">
                                          <p:stCondLst>
                                            <p:cond delay="0"/>
                                          </p:stCondLst>
                                        </p:cTn>
                                        <p:tgtEl>
                                          <p:spTgt spid="109683"/>
                                        </p:tgtEl>
                                        <p:attrNameLst>
                                          <p:attrName>style.visibility</p:attrName>
                                        </p:attrNameLst>
                                      </p:cBhvr>
                                      <p:to>
                                        <p:strVal val="visible"/>
                                      </p:to>
                                    </p:set>
                                    <p:animEffect transition="in" filter="wipe(left)">
                                      <p:cBhvr>
                                        <p:cTn id="43" dur="500"/>
                                        <p:tgtEl>
                                          <p:spTgt spid="109683"/>
                                        </p:tgtEl>
                                      </p:cBhvr>
                                    </p:animEffect>
                                  </p:childTnLst>
                                </p:cTn>
                              </p:par>
                            </p:childTnLst>
                          </p:cTn>
                        </p:par>
                        <p:par>
                          <p:cTn id="44" fill="hold" nodeType="afterGroup">
                            <p:stCondLst>
                              <p:cond delay="3000"/>
                            </p:stCondLst>
                            <p:childTnLst>
                              <p:par>
                                <p:cTn id="45" presetID="22" presetClass="entr" presetSubtype="8" fill="hold" nodeType="afterEffect">
                                  <p:stCondLst>
                                    <p:cond delay="0"/>
                                  </p:stCondLst>
                                  <p:childTnLst>
                                    <p:set>
                                      <p:cBhvr>
                                        <p:cTn id="46" dur="1" fill="hold">
                                          <p:stCondLst>
                                            <p:cond delay="0"/>
                                          </p:stCondLst>
                                        </p:cTn>
                                        <p:tgtEl>
                                          <p:spTgt spid="109687"/>
                                        </p:tgtEl>
                                        <p:attrNameLst>
                                          <p:attrName>style.visibility</p:attrName>
                                        </p:attrNameLst>
                                      </p:cBhvr>
                                      <p:to>
                                        <p:strVal val="visible"/>
                                      </p:to>
                                    </p:set>
                                    <p:animEffect transition="in" filter="wipe(left)">
                                      <p:cBhvr>
                                        <p:cTn id="47" dur="500"/>
                                        <p:tgtEl>
                                          <p:spTgt spid="10968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09642"/>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1" fill="hold" nodeType="clickEffect">
                                  <p:stCondLst>
                                    <p:cond delay="0"/>
                                  </p:stCondLst>
                                  <p:childTnLst>
                                    <p:set>
                                      <p:cBhvr>
                                        <p:cTn id="55" dur="1" fill="hold">
                                          <p:stCondLst>
                                            <p:cond delay="0"/>
                                          </p:stCondLst>
                                        </p:cTn>
                                        <p:tgtEl>
                                          <p:spTgt spid="109645"/>
                                        </p:tgtEl>
                                        <p:attrNameLst>
                                          <p:attrName>style.visibility</p:attrName>
                                        </p:attrNameLst>
                                      </p:cBhvr>
                                      <p:to>
                                        <p:strVal val="visible"/>
                                      </p:to>
                                    </p:set>
                                    <p:animEffect transition="in" filter="wipe(up)">
                                      <p:cBhvr>
                                        <p:cTn id="56" dur="500"/>
                                        <p:tgtEl>
                                          <p:spTgt spid="10964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09700"/>
                                        </p:tgtEl>
                                        <p:attrNameLst>
                                          <p:attrName>style.visibility</p:attrName>
                                        </p:attrNameLst>
                                      </p:cBhvr>
                                      <p:to>
                                        <p:strVal val="visible"/>
                                      </p:to>
                                    </p:set>
                                    <p:animEffect transition="in" filter="wipe(left)">
                                      <p:cBhvr>
                                        <p:cTn id="61" dur="500"/>
                                        <p:tgtEl>
                                          <p:spTgt spid="109700"/>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0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6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60"/>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499"/>
                                          </p:stCondLst>
                                        </p:cTn>
                                        <p:tgtEl>
                                          <p:spTgt spid="74"/>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75"/>
                                        </p:tgtEl>
                                        <p:attrNameLst>
                                          <p:attrName>style.visibility</p:attrName>
                                        </p:attrNameLst>
                                      </p:cBhvr>
                                      <p:to>
                                        <p:strVal val="visible"/>
                                      </p:to>
                                    </p:set>
                                    <p:animEffect transition="in" filter="wipe(left)">
                                      <p:cBhvr>
                                        <p:cTn id="82" dur="500"/>
                                        <p:tgtEl>
                                          <p:spTgt spid="75"/>
                                        </p:tgtEl>
                                      </p:cBhvr>
                                    </p:animEffect>
                                  </p:childTnLst>
                                </p:cTn>
                              </p:par>
                            </p:childTnLst>
                          </p:cTn>
                        </p:par>
                        <p:par>
                          <p:cTn id="83" fill="hold">
                            <p:stCondLst>
                              <p:cond delay="500"/>
                            </p:stCondLst>
                            <p:childTnLst>
                              <p:par>
                                <p:cTn id="84" presetID="22" presetClass="entr" presetSubtype="2" fill="hold" nodeType="afterEffect">
                                  <p:stCondLst>
                                    <p:cond delay="0"/>
                                  </p:stCondLst>
                                  <p:childTnLst>
                                    <p:set>
                                      <p:cBhvr>
                                        <p:cTn id="85" dur="1" fill="hold">
                                          <p:stCondLst>
                                            <p:cond delay="0"/>
                                          </p:stCondLst>
                                        </p:cTn>
                                        <p:tgtEl>
                                          <p:spTgt spid="78"/>
                                        </p:tgtEl>
                                        <p:attrNameLst>
                                          <p:attrName>style.visibility</p:attrName>
                                        </p:attrNameLst>
                                      </p:cBhvr>
                                      <p:to>
                                        <p:strVal val="visible"/>
                                      </p:to>
                                    </p:set>
                                    <p:animEffect transition="in" filter="wipe(right)">
                                      <p:cBhvr>
                                        <p:cTn id="86" dur="500"/>
                                        <p:tgtEl>
                                          <p:spTgt spid="78"/>
                                        </p:tgtEl>
                                      </p:cBhvr>
                                    </p:animEffect>
                                  </p:childTnLst>
                                </p:cTn>
                              </p:par>
                            </p:childTnLst>
                          </p:cTn>
                        </p:par>
                        <p:par>
                          <p:cTn id="87" fill="hold">
                            <p:stCondLst>
                              <p:cond delay="1000"/>
                            </p:stCondLst>
                            <p:childTnLst>
                              <p:par>
                                <p:cTn id="88" presetID="22" presetClass="entr" presetSubtype="2" fill="hold" nodeType="afterEffect">
                                  <p:stCondLst>
                                    <p:cond delay="0"/>
                                  </p:stCondLst>
                                  <p:childTnLst>
                                    <p:set>
                                      <p:cBhvr>
                                        <p:cTn id="89" dur="1" fill="hold">
                                          <p:stCondLst>
                                            <p:cond delay="0"/>
                                          </p:stCondLst>
                                        </p:cTn>
                                        <p:tgtEl>
                                          <p:spTgt spid="82"/>
                                        </p:tgtEl>
                                        <p:attrNameLst>
                                          <p:attrName>style.visibility</p:attrName>
                                        </p:attrNameLst>
                                      </p:cBhvr>
                                      <p:to>
                                        <p:strVal val="visible"/>
                                      </p:to>
                                    </p:set>
                                    <p:animEffect transition="in" filter="wipe(right)">
                                      <p:cBhvr>
                                        <p:cTn id="90" dur="500"/>
                                        <p:tgtEl>
                                          <p:spTgt spid="82"/>
                                        </p:tgtEl>
                                      </p:cBhvr>
                                    </p:animEffect>
                                  </p:childTnLst>
                                </p:cTn>
                              </p:par>
                            </p:childTnLst>
                          </p:cTn>
                        </p:par>
                        <p:par>
                          <p:cTn id="91" fill="hold">
                            <p:stCondLst>
                              <p:cond delay="1500"/>
                            </p:stCondLst>
                            <p:childTnLst>
                              <p:par>
                                <p:cTn id="92" presetID="22" presetClass="entr" presetSubtype="2" fill="hold" nodeType="afterEffect">
                                  <p:stCondLst>
                                    <p:cond delay="0"/>
                                  </p:stCondLst>
                                  <p:childTnLst>
                                    <p:set>
                                      <p:cBhvr>
                                        <p:cTn id="93" dur="1" fill="hold">
                                          <p:stCondLst>
                                            <p:cond delay="0"/>
                                          </p:stCondLst>
                                        </p:cTn>
                                        <p:tgtEl>
                                          <p:spTgt spid="94"/>
                                        </p:tgtEl>
                                        <p:attrNameLst>
                                          <p:attrName>style.visibility</p:attrName>
                                        </p:attrNameLst>
                                      </p:cBhvr>
                                      <p:to>
                                        <p:strVal val="visible"/>
                                      </p:to>
                                    </p:set>
                                    <p:animEffect transition="in" filter="wipe(right)">
                                      <p:cBhvr>
                                        <p:cTn id="94" dur="500"/>
                                        <p:tgtEl>
                                          <p:spTgt spid="94"/>
                                        </p:tgtEl>
                                      </p:cBhvr>
                                    </p:animEffect>
                                  </p:childTnLst>
                                </p:cTn>
                              </p:par>
                            </p:childTnLst>
                          </p:cTn>
                        </p:par>
                        <p:par>
                          <p:cTn id="95" fill="hold">
                            <p:stCondLst>
                              <p:cond delay="2000"/>
                            </p:stCondLst>
                            <p:childTnLst>
                              <p:par>
                                <p:cTn id="96" presetID="22" presetClass="entr" presetSubtype="2" fill="hold" nodeType="afterEffect">
                                  <p:stCondLst>
                                    <p:cond delay="0"/>
                                  </p:stCondLst>
                                  <p:childTnLst>
                                    <p:set>
                                      <p:cBhvr>
                                        <p:cTn id="97" dur="1" fill="hold">
                                          <p:stCondLst>
                                            <p:cond delay="0"/>
                                          </p:stCondLst>
                                        </p:cTn>
                                        <p:tgtEl>
                                          <p:spTgt spid="86"/>
                                        </p:tgtEl>
                                        <p:attrNameLst>
                                          <p:attrName>style.visibility</p:attrName>
                                        </p:attrNameLst>
                                      </p:cBhvr>
                                      <p:to>
                                        <p:strVal val="visible"/>
                                      </p:to>
                                    </p:set>
                                    <p:animEffect transition="in" filter="wipe(right)">
                                      <p:cBhvr>
                                        <p:cTn id="98" dur="500"/>
                                        <p:tgtEl>
                                          <p:spTgt spid="86"/>
                                        </p:tgtEl>
                                      </p:cBhvr>
                                    </p:animEffect>
                                  </p:childTnLst>
                                </p:cTn>
                              </p:par>
                            </p:childTnLst>
                          </p:cTn>
                        </p:par>
                        <p:par>
                          <p:cTn id="99" fill="hold">
                            <p:stCondLst>
                              <p:cond delay="2500"/>
                            </p:stCondLst>
                            <p:childTnLst>
                              <p:par>
                                <p:cTn id="100" presetID="22" presetClass="entr" presetSubtype="2" fill="hold" nodeType="afterEffect">
                                  <p:stCondLst>
                                    <p:cond delay="0"/>
                                  </p:stCondLst>
                                  <p:childTnLst>
                                    <p:set>
                                      <p:cBhvr>
                                        <p:cTn id="101" dur="1" fill="hold">
                                          <p:stCondLst>
                                            <p:cond delay="0"/>
                                          </p:stCondLst>
                                        </p:cTn>
                                        <p:tgtEl>
                                          <p:spTgt spid="98"/>
                                        </p:tgtEl>
                                        <p:attrNameLst>
                                          <p:attrName>style.visibility</p:attrName>
                                        </p:attrNameLst>
                                      </p:cBhvr>
                                      <p:to>
                                        <p:strVal val="visible"/>
                                      </p:to>
                                    </p:set>
                                    <p:animEffect transition="in" filter="wipe(right)">
                                      <p:cBhvr>
                                        <p:cTn id="102" dur="500"/>
                                        <p:tgtEl>
                                          <p:spTgt spid="98"/>
                                        </p:tgtEl>
                                      </p:cBhvr>
                                    </p:animEffect>
                                  </p:childTnLst>
                                </p:cTn>
                              </p:par>
                            </p:childTnLst>
                          </p:cTn>
                        </p:par>
                        <p:par>
                          <p:cTn id="103" fill="hold">
                            <p:stCondLst>
                              <p:cond delay="3000"/>
                            </p:stCondLst>
                            <p:childTnLst>
                              <p:par>
                                <p:cTn id="104" presetID="22" presetClass="entr" presetSubtype="2" fill="hold" nodeType="afterEffect">
                                  <p:stCondLst>
                                    <p:cond delay="0"/>
                                  </p:stCondLst>
                                  <p:childTnLst>
                                    <p:set>
                                      <p:cBhvr>
                                        <p:cTn id="105" dur="1" fill="hold">
                                          <p:stCondLst>
                                            <p:cond delay="0"/>
                                          </p:stCondLst>
                                        </p:cTn>
                                        <p:tgtEl>
                                          <p:spTgt spid="90"/>
                                        </p:tgtEl>
                                        <p:attrNameLst>
                                          <p:attrName>style.visibility</p:attrName>
                                        </p:attrNameLst>
                                      </p:cBhvr>
                                      <p:to>
                                        <p:strVal val="visible"/>
                                      </p:to>
                                    </p:set>
                                    <p:animEffect transition="in" filter="wipe(right)">
                                      <p:cBhvr>
                                        <p:cTn id="106" dur="500"/>
                                        <p:tgtEl>
                                          <p:spTgt spid="90"/>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6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nodeType="clickEffect">
                                  <p:stCondLst>
                                    <p:cond delay="0"/>
                                  </p:stCondLst>
                                  <p:childTnLst>
                                    <p:set>
                                      <p:cBhvr>
                                        <p:cTn id="114" dur="1" fill="hold">
                                          <p:stCondLst>
                                            <p:cond delay="0"/>
                                          </p:stCondLst>
                                        </p:cTn>
                                        <p:tgtEl>
                                          <p:spTgt spid="63"/>
                                        </p:tgtEl>
                                        <p:attrNameLst>
                                          <p:attrName>style.visibility</p:attrName>
                                        </p:attrNameLst>
                                      </p:cBhvr>
                                      <p:to>
                                        <p:strVal val="visible"/>
                                      </p:to>
                                    </p:set>
                                    <p:animEffect transition="in" filter="wipe(down)">
                                      <p:cBhvr>
                                        <p:cTn id="115" dur="500"/>
                                        <p:tgtEl>
                                          <p:spTgt spid="63"/>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nodeType="clickEffect">
                                  <p:stCondLst>
                                    <p:cond delay="0"/>
                                  </p:stCondLst>
                                  <p:childTnLst>
                                    <p:set>
                                      <p:cBhvr>
                                        <p:cTn id="119" dur="1" fill="hold">
                                          <p:stCondLst>
                                            <p:cond delay="0"/>
                                          </p:stCondLst>
                                        </p:cTn>
                                        <p:tgtEl>
                                          <p:spTgt spid="102"/>
                                        </p:tgtEl>
                                        <p:attrNameLst>
                                          <p:attrName>style.visibility</p:attrName>
                                        </p:attrNameLst>
                                      </p:cBhvr>
                                      <p:to>
                                        <p:strVal val="visible"/>
                                      </p:to>
                                    </p:set>
                                    <p:animEffect transition="in" filter="wipe(left)">
                                      <p:cBhvr>
                                        <p:cTn id="120" dur="500"/>
                                        <p:tgtEl>
                                          <p:spTgt spid="102"/>
                                        </p:tgtEl>
                                      </p:cBhvr>
                                    </p:animEffect>
                                  </p:childTnLst>
                                </p:cTn>
                              </p:par>
                            </p:childTnLst>
                          </p:cTn>
                        </p:par>
                        <p:par>
                          <p:cTn id="121" fill="hold">
                            <p:stCondLst>
                              <p:cond delay="500"/>
                            </p:stCondLst>
                            <p:childTnLst>
                              <p:par>
                                <p:cTn id="122" presetID="1" presetClass="entr" presetSubtype="0" fill="hold" grpId="0" nodeType="afterEffect">
                                  <p:stCondLst>
                                    <p:cond delay="0"/>
                                  </p:stCondLst>
                                  <p:childTnLst>
                                    <p:set>
                                      <p:cBhvr>
                                        <p:cTn id="123" dur="1" fill="hold">
                                          <p:stCondLst>
                                            <p:cond delay="0"/>
                                          </p:stCondLst>
                                        </p:cTn>
                                        <p:tgtEl>
                                          <p:spTgt spid="106"/>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82" grpId="0" autoUpdateAnimBg="0"/>
      <p:bldP spid="109640" grpId="0" autoUpdateAnimBg="0"/>
      <p:bldP spid="109641" grpId="0" autoUpdateAnimBg="0"/>
      <p:bldP spid="109642" grpId="0" autoUpdateAnimBg="0"/>
      <p:bldP spid="109663" grpId="0" animBg="1"/>
      <p:bldP spid="60" grpId="0" autoUpdateAnimBg="0"/>
      <p:bldP spid="61" grpId="0" autoUpdateAnimBg="0"/>
      <p:bldP spid="62" grpId="0" autoUpdateAnimBg="0"/>
      <p:bldP spid="74" grpId="0" animBg="1"/>
      <p:bldP spid="105" grpId="0" autoUpdateAnimBg="0"/>
      <p:bldP spid="106" grpId="0" autoUpdateAnimBg="0"/>
      <p:bldP spid="10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44197ADF-3687-4FB8-BE28-3D6F31E01C4B}"/>
              </a:ext>
            </a:extLst>
          </p:cNvPr>
          <p:cNvSpPr txBox="1"/>
          <p:nvPr/>
        </p:nvSpPr>
        <p:spPr>
          <a:xfrm>
            <a:off x="889000" y="593180"/>
            <a:ext cx="6096000" cy="584775"/>
          </a:xfrm>
          <a:prstGeom prst="rect">
            <a:avLst/>
          </a:prstGeom>
          <a:noFill/>
        </p:spPr>
        <p:txBody>
          <a:bodyPr wrap="square">
            <a:spAutoFit/>
          </a:bodyPr>
          <a:lstStyle/>
          <a:p>
            <a:pPr marL="457200" indent="-457200">
              <a:buFont typeface="Wingdings" panose="05000000000000000000" pitchFamily="2" charset="2"/>
              <a:buChar char="q"/>
            </a:pPr>
            <a:r>
              <a:rPr kumimoji="1" lang="zh-CN" altLang="en-US" sz="3200" b="1" i="0" u="none" strike="noStrike" kern="0" cap="none" spc="0" normalizeH="0" baseline="0" noProof="0" dirty="0">
                <a:ln>
                  <a:noFill/>
                </a:ln>
                <a:solidFill>
                  <a:srgbClr val="0066FF"/>
                </a:solidFill>
                <a:effectLst/>
                <a:uLnTx/>
                <a:uFillTx/>
                <a:latin typeface="华文楷体" panose="02010600040101010101" pitchFamily="2" charset="-122"/>
                <a:ea typeface="华文楷体"/>
                <a:cs typeface="+mj-cs"/>
              </a:rPr>
              <a:t>磁介质的磁化</a:t>
            </a:r>
            <a:endParaRPr lang="zh-CN" altLang="en-US" sz="3200" b="1" dirty="0">
              <a:solidFill>
                <a:srgbClr val="0066FF"/>
              </a:solidFill>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12DBBD81-769D-44B4-A60F-4A0E3919FF04}"/>
                  </a:ext>
                </a:extLst>
              </p:cNvPr>
              <p:cNvSpPr txBox="1"/>
              <p:nvPr/>
            </p:nvSpPr>
            <p:spPr>
              <a:xfrm>
                <a:off x="1733071" y="2122524"/>
                <a:ext cx="6096000" cy="10100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zh-CN" altLang="en-US" sz="2800" i="1" kern="0" smtClean="0">
                              <a:solidFill>
                                <a:schemeClr val="tx1"/>
                              </a:solidFill>
                              <a:latin typeface="Cambria Math" panose="02040503050406030204" pitchFamily="18" charset="0"/>
                            </a:rPr>
                          </m:ctrlPr>
                        </m:accPr>
                        <m:e>
                          <m:r>
                            <a:rPr kumimoji="1" lang="en-US" altLang="zh-CN" sz="2800" i="1" kern="0">
                              <a:solidFill>
                                <a:schemeClr val="tx1"/>
                              </a:solidFill>
                              <a:latin typeface="Cambria Math" panose="02040503050406030204" pitchFamily="18" charset="0"/>
                            </a:rPr>
                            <m:t>𝑴</m:t>
                          </m:r>
                        </m:e>
                      </m:acc>
                      <m:r>
                        <a:rPr kumimoji="1" lang="en-US" altLang="zh-CN" sz="2800" i="1" kern="0">
                          <a:solidFill>
                            <a:schemeClr val="tx1"/>
                          </a:solidFill>
                          <a:latin typeface="Cambria Math" panose="02040503050406030204" pitchFamily="18" charset="0"/>
                        </a:rPr>
                        <m:t>=</m:t>
                      </m:r>
                      <m:f>
                        <m:fPr>
                          <m:ctrlPr>
                            <a:rPr kumimoji="1" lang="en-US" altLang="zh-CN" sz="2800" i="1" kern="0">
                              <a:solidFill>
                                <a:schemeClr val="tx1"/>
                              </a:solidFill>
                              <a:latin typeface="Cambria Math" panose="02040503050406030204" pitchFamily="18" charset="0"/>
                            </a:rPr>
                          </m:ctrlPr>
                        </m:fPr>
                        <m:num>
                          <m:nary>
                            <m:naryPr>
                              <m:chr m:val="∑"/>
                              <m:subHide m:val="on"/>
                              <m:supHide m:val="on"/>
                              <m:ctrlPr>
                                <a:rPr kumimoji="1" lang="en-US" altLang="zh-CN" sz="2800" i="1" kern="0">
                                  <a:solidFill>
                                    <a:schemeClr val="tx1"/>
                                  </a:solidFill>
                                  <a:latin typeface="Cambria Math" panose="02040503050406030204" pitchFamily="18" charset="0"/>
                                </a:rPr>
                              </m:ctrlPr>
                            </m:naryPr>
                            <m:sub/>
                            <m:sup/>
                            <m:e>
                              <m:sSub>
                                <m:sSubPr>
                                  <m:ctrlPr>
                                    <a:rPr kumimoji="1" lang="en-US" altLang="zh-CN" sz="2800" i="1" kern="0">
                                      <a:solidFill>
                                        <a:schemeClr val="tx1"/>
                                      </a:solidFill>
                                      <a:latin typeface="Cambria Math" panose="02040503050406030204" pitchFamily="18" charset="0"/>
                                    </a:rPr>
                                  </m:ctrlPr>
                                </m:sSubPr>
                                <m:e>
                                  <m:acc>
                                    <m:accPr>
                                      <m:chr m:val="⃗"/>
                                      <m:ctrlPr>
                                        <a:rPr kumimoji="1" lang="en-US" altLang="zh-CN" sz="2800" i="1" kern="0">
                                          <a:solidFill>
                                            <a:schemeClr val="tx1"/>
                                          </a:solidFill>
                                          <a:latin typeface="Cambria Math" panose="02040503050406030204" pitchFamily="18" charset="0"/>
                                        </a:rPr>
                                      </m:ctrlPr>
                                    </m:accPr>
                                    <m:e>
                                      <m:r>
                                        <a:rPr kumimoji="1" lang="en-US" altLang="zh-CN" sz="2800" i="1" kern="0">
                                          <a:solidFill>
                                            <a:schemeClr val="tx1"/>
                                          </a:solidFill>
                                          <a:latin typeface="Cambria Math" panose="02040503050406030204" pitchFamily="18" charset="0"/>
                                        </a:rPr>
                                        <m:t>𝒎</m:t>
                                      </m:r>
                                    </m:e>
                                  </m:acc>
                                </m:e>
                                <m:sub>
                                  <m:r>
                                    <a:rPr kumimoji="1" lang="zh-CN" altLang="en-US" sz="2800" i="1" kern="0">
                                      <a:solidFill>
                                        <a:schemeClr val="tx1"/>
                                      </a:solidFill>
                                      <a:latin typeface="Cambria Math" panose="02040503050406030204" pitchFamily="18" charset="0"/>
                                    </a:rPr>
                                    <m:t>分子</m:t>
                                  </m:r>
                                </m:sub>
                              </m:sSub>
                            </m:e>
                          </m:nary>
                          <m:r>
                            <a:rPr kumimoji="1" lang="en-US" altLang="zh-CN" sz="2800" i="1" kern="0">
                              <a:solidFill>
                                <a:schemeClr val="tx1"/>
                              </a:solidFill>
                              <a:latin typeface="Cambria Math" panose="02040503050406030204" pitchFamily="18" charset="0"/>
                            </a:rPr>
                            <m:t>+</m:t>
                          </m:r>
                          <m:nary>
                            <m:naryPr>
                              <m:chr m:val="∑"/>
                              <m:subHide m:val="on"/>
                              <m:supHide m:val="on"/>
                              <m:ctrlPr>
                                <a:rPr kumimoji="1" lang="en-US" altLang="zh-CN" sz="2800" i="1" kern="0">
                                  <a:solidFill>
                                    <a:schemeClr val="tx1"/>
                                  </a:solidFill>
                                  <a:latin typeface="Cambria Math" panose="02040503050406030204" pitchFamily="18" charset="0"/>
                                </a:rPr>
                              </m:ctrlPr>
                            </m:naryPr>
                            <m:sub/>
                            <m:sup/>
                            <m:e>
                              <m:sSub>
                                <m:sSubPr>
                                  <m:ctrlPr>
                                    <a:rPr kumimoji="1" lang="en-US" altLang="zh-CN" sz="2800" i="1" kern="0">
                                      <a:solidFill>
                                        <a:schemeClr val="tx1"/>
                                      </a:solidFill>
                                      <a:latin typeface="Cambria Math" panose="02040503050406030204" pitchFamily="18" charset="0"/>
                                    </a:rPr>
                                  </m:ctrlPr>
                                </m:sSubPr>
                                <m:e>
                                  <m:r>
                                    <a:rPr kumimoji="1" lang="en-US" altLang="zh-CN" sz="2800" i="1" kern="0">
                                      <a:solidFill>
                                        <a:schemeClr val="tx1"/>
                                      </a:solidFill>
                                      <a:latin typeface="Cambria Math" panose="02040503050406030204" pitchFamily="18" charset="0"/>
                                      <a:ea typeface="Cambria Math" panose="02040503050406030204" pitchFamily="18" charset="0"/>
                                    </a:rPr>
                                    <m:t>∆</m:t>
                                  </m:r>
                                  <m:acc>
                                    <m:accPr>
                                      <m:chr m:val="⃗"/>
                                      <m:ctrlPr>
                                        <a:rPr kumimoji="1" lang="en-US" altLang="zh-CN" sz="2800" i="1" kern="0">
                                          <a:solidFill>
                                            <a:schemeClr val="tx1"/>
                                          </a:solidFill>
                                          <a:latin typeface="Cambria Math" panose="02040503050406030204" pitchFamily="18" charset="0"/>
                                        </a:rPr>
                                      </m:ctrlPr>
                                    </m:accPr>
                                    <m:e>
                                      <m:r>
                                        <a:rPr kumimoji="1" lang="en-US" altLang="zh-CN" sz="2800" i="1" kern="0">
                                          <a:solidFill>
                                            <a:schemeClr val="tx1"/>
                                          </a:solidFill>
                                          <a:latin typeface="Cambria Math" panose="02040503050406030204" pitchFamily="18" charset="0"/>
                                        </a:rPr>
                                        <m:t>𝒎</m:t>
                                      </m:r>
                                    </m:e>
                                  </m:acc>
                                </m:e>
                                <m:sub>
                                  <m:r>
                                    <a:rPr kumimoji="1" lang="zh-CN" altLang="en-US" sz="2800" i="1" kern="0">
                                      <a:solidFill>
                                        <a:schemeClr val="tx1"/>
                                      </a:solidFill>
                                      <a:latin typeface="Cambria Math" panose="02040503050406030204" pitchFamily="18" charset="0"/>
                                    </a:rPr>
                                    <m:t>分子</m:t>
                                  </m:r>
                                </m:sub>
                              </m:sSub>
                            </m:e>
                          </m:nary>
                        </m:num>
                        <m:den>
                          <m:r>
                            <a:rPr kumimoji="1" lang="en-US" altLang="zh-CN" sz="2800" i="1" kern="0">
                              <a:solidFill>
                                <a:schemeClr val="tx1"/>
                              </a:solidFill>
                              <a:latin typeface="Cambria Math" panose="02040503050406030204" pitchFamily="18" charset="0"/>
                              <a:ea typeface="Cambria Math" panose="02040503050406030204" pitchFamily="18" charset="0"/>
                            </a:rPr>
                            <m:t>∆</m:t>
                          </m:r>
                          <m:r>
                            <a:rPr kumimoji="1" lang="en-US" altLang="zh-CN" sz="2800" i="1" kern="0">
                              <a:solidFill>
                                <a:schemeClr val="tx1"/>
                              </a:solidFill>
                              <a:latin typeface="Cambria Math" panose="02040503050406030204" pitchFamily="18" charset="0"/>
                              <a:ea typeface="Cambria Math" panose="02040503050406030204" pitchFamily="18" charset="0"/>
                            </a:rPr>
                            <m:t>𝑽</m:t>
                          </m:r>
                        </m:den>
                      </m:f>
                    </m:oMath>
                  </m:oMathPara>
                </a14:m>
                <a:endParaRPr lang="zh-CN" altLang="en-US" sz="2800" dirty="0"/>
              </a:p>
            </p:txBody>
          </p:sp>
        </mc:Choice>
        <mc:Fallback xmlns="">
          <p:sp>
            <p:nvSpPr>
              <p:cNvPr id="12" name="文本框 11">
                <a:extLst>
                  <a:ext uri="{FF2B5EF4-FFF2-40B4-BE49-F238E27FC236}">
                    <a16:creationId xmlns:a16="http://schemas.microsoft.com/office/drawing/2014/main" id="{12DBBD81-769D-44B4-A60F-4A0E3919FF04}"/>
                  </a:ext>
                </a:extLst>
              </p:cNvPr>
              <p:cNvSpPr txBox="1">
                <a:spLocks noRot="1" noChangeAspect="1" noMove="1" noResize="1" noEditPoints="1" noAdjustHandles="1" noChangeArrowheads="1" noChangeShapeType="1" noTextEdit="1"/>
              </p:cNvSpPr>
              <p:nvPr/>
            </p:nvSpPr>
            <p:spPr>
              <a:xfrm>
                <a:off x="1733071" y="2122524"/>
                <a:ext cx="6096000" cy="1010020"/>
              </a:xfrm>
              <a:prstGeom prst="rect">
                <a:avLst/>
              </a:prstGeom>
              <a:blipFill>
                <a:blip r:embed="rId2"/>
                <a:stretch>
                  <a:fillRect/>
                </a:stretch>
              </a:blipFill>
            </p:spPr>
            <p:txBody>
              <a:bodyPr/>
              <a:lstStyle/>
              <a:p>
                <a:r>
                  <a:rPr lang="en-US">
                    <a:noFill/>
                  </a:rPr>
                  <a:t> </a:t>
                </a:r>
              </a:p>
            </p:txBody>
          </p:sp>
        </mc:Fallback>
      </mc:AlternateContent>
      <p:sp>
        <p:nvSpPr>
          <p:cNvPr id="14" name="文本框 13">
            <a:extLst>
              <a:ext uri="{FF2B5EF4-FFF2-40B4-BE49-F238E27FC236}">
                <a16:creationId xmlns:a16="http://schemas.microsoft.com/office/drawing/2014/main" id="{775EE29D-DD60-4147-9BEC-C6C0CB50FE30}"/>
              </a:ext>
            </a:extLst>
          </p:cNvPr>
          <p:cNvSpPr txBox="1"/>
          <p:nvPr/>
        </p:nvSpPr>
        <p:spPr>
          <a:xfrm>
            <a:off x="605366" y="1308396"/>
            <a:ext cx="9002172" cy="612475"/>
          </a:xfrm>
          <a:prstGeom prst="rect">
            <a:avLst/>
          </a:prstGeom>
          <a:noFill/>
        </p:spPr>
        <p:txBody>
          <a:bodyPr wrap="square">
            <a:spAutoFit/>
          </a:bodyPr>
          <a:lstStyle/>
          <a:p>
            <a:pPr marL="285750" lvl="0" indent="-285750" fontAlgn="base">
              <a:lnSpc>
                <a:spcPct val="130000"/>
              </a:lnSpc>
              <a:spcBef>
                <a:spcPct val="50000"/>
              </a:spcBef>
              <a:spcAft>
                <a:spcPct val="0"/>
              </a:spcAft>
              <a:buClrTx/>
              <a:buSzTx/>
              <a:buFontTx/>
              <a:buChar char="-"/>
              <a:defRPr/>
            </a:pPr>
            <a:r>
              <a:rPr kumimoji="1" lang="zh-CN" altLang="en-US" sz="2800" kern="0" dirty="0">
                <a:solidFill>
                  <a:schemeClr val="tx1"/>
                </a:solidFill>
                <a:latin typeface="华文楷体" panose="02010600040101010101" pitchFamily="2" charset="-122"/>
              </a:rPr>
              <a:t>磁化强度：</a:t>
            </a:r>
            <a:endParaRPr kumimoji="1" lang="en-US" altLang="zh-CN" sz="2800" kern="0" dirty="0">
              <a:solidFill>
                <a:schemeClr val="tx1"/>
              </a:solidFill>
              <a:latin typeface="华文楷体" panose="02010600040101010101" pitchFamily="2" charset="-122"/>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856E7FB-E9F8-4A62-8F69-DEC829C5B475}"/>
                  </a:ext>
                </a:extLst>
              </p:cNvPr>
              <p:cNvSpPr txBox="1"/>
              <p:nvPr/>
            </p:nvSpPr>
            <p:spPr>
              <a:xfrm>
                <a:off x="6946796" y="2186195"/>
                <a:ext cx="971550" cy="9463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800" b="0" i="0" kern="0" smtClean="0">
                          <a:solidFill>
                            <a:schemeClr val="tx1"/>
                          </a:solidFill>
                          <a:latin typeface="Cambria Math" panose="02040503050406030204" pitchFamily="18" charset="0"/>
                          <a:ea typeface="Cambria Math" panose="02040503050406030204" pitchFamily="18" charset="0"/>
                        </a:rPr>
                        <m:t>=</m:t>
                      </m:r>
                      <m:f>
                        <m:fPr>
                          <m:ctrlPr>
                            <a:rPr kumimoji="1" lang="en-US" altLang="zh-CN" sz="2800" i="1" kern="0">
                              <a:latin typeface="Cambria Math" panose="02040503050406030204" pitchFamily="18" charset="0"/>
                            </a:rPr>
                          </m:ctrlPr>
                        </m:fPr>
                        <m:num>
                          <m:nary>
                            <m:naryPr>
                              <m:chr m:val="∑"/>
                              <m:subHide m:val="on"/>
                              <m:supHide m:val="on"/>
                              <m:ctrlPr>
                                <a:rPr kumimoji="1" lang="en-US" altLang="zh-CN" sz="2800" i="1" kern="0">
                                  <a:latin typeface="Cambria Math" panose="02040503050406030204" pitchFamily="18" charset="0"/>
                                </a:rPr>
                              </m:ctrlPr>
                            </m:naryPr>
                            <m:sub/>
                            <m:sup/>
                            <m:e>
                              <m:sSub>
                                <m:sSubPr>
                                  <m:ctrlPr>
                                    <a:rPr kumimoji="1" lang="en-US" altLang="zh-CN" sz="2800" i="1" kern="0">
                                      <a:latin typeface="Cambria Math" panose="02040503050406030204" pitchFamily="18" charset="0"/>
                                    </a:rPr>
                                  </m:ctrlPr>
                                </m:sSubPr>
                                <m:e>
                                  <m:acc>
                                    <m:accPr>
                                      <m:chr m:val="⃗"/>
                                      <m:ctrlPr>
                                        <a:rPr kumimoji="1" lang="en-US" altLang="zh-CN" sz="2800" i="1" kern="0">
                                          <a:latin typeface="Cambria Math" panose="02040503050406030204" pitchFamily="18" charset="0"/>
                                        </a:rPr>
                                      </m:ctrlPr>
                                    </m:accPr>
                                    <m:e>
                                      <m:r>
                                        <a:rPr kumimoji="1" lang="en-US" altLang="zh-CN" sz="2800" i="1" kern="0">
                                          <a:latin typeface="Cambria Math" panose="02040503050406030204" pitchFamily="18" charset="0"/>
                                        </a:rPr>
                                        <m:t>𝒎</m:t>
                                      </m:r>
                                    </m:e>
                                  </m:acc>
                                </m:e>
                                <m:sub>
                                  <m:r>
                                    <a:rPr kumimoji="1" lang="en-US" altLang="zh-CN" sz="2800" b="0" i="1" kern="0" smtClean="0">
                                      <a:latin typeface="Cambria Math" panose="02040503050406030204" pitchFamily="18" charset="0"/>
                                    </a:rPr>
                                    <m:t>𝑖</m:t>
                                  </m:r>
                                </m:sub>
                              </m:sSub>
                            </m:e>
                          </m:nary>
                        </m:num>
                        <m:den>
                          <m:r>
                            <a:rPr kumimoji="1" lang="en-US" altLang="zh-CN" sz="2800" i="1" kern="0">
                              <a:latin typeface="Cambria Math" panose="02040503050406030204" pitchFamily="18" charset="0"/>
                              <a:ea typeface="Cambria Math" panose="02040503050406030204" pitchFamily="18" charset="0"/>
                            </a:rPr>
                            <m:t>∆</m:t>
                          </m:r>
                          <m:r>
                            <a:rPr kumimoji="1" lang="en-US" altLang="zh-CN" sz="2800" i="1" kern="0">
                              <a:latin typeface="Cambria Math" panose="02040503050406030204" pitchFamily="18" charset="0"/>
                              <a:ea typeface="Cambria Math" panose="02040503050406030204" pitchFamily="18" charset="0"/>
                            </a:rPr>
                            <m:t>𝑽</m:t>
                          </m:r>
                        </m:den>
                      </m:f>
                    </m:oMath>
                  </m:oMathPara>
                </a14:m>
                <a:endParaRPr lang="zh-CN" altLang="en-US" sz="2800" dirty="0"/>
              </a:p>
            </p:txBody>
          </p:sp>
        </mc:Choice>
        <mc:Fallback xmlns="">
          <p:sp>
            <p:nvSpPr>
              <p:cNvPr id="16" name="文本框 15">
                <a:extLst>
                  <a:ext uri="{FF2B5EF4-FFF2-40B4-BE49-F238E27FC236}">
                    <a16:creationId xmlns:a16="http://schemas.microsoft.com/office/drawing/2014/main" id="{3856E7FB-E9F8-4A62-8F69-DEC829C5B475}"/>
                  </a:ext>
                </a:extLst>
              </p:cNvPr>
              <p:cNvSpPr txBox="1">
                <a:spLocks noRot="1" noChangeAspect="1" noMove="1" noResize="1" noEditPoints="1" noAdjustHandles="1" noChangeArrowheads="1" noChangeShapeType="1" noTextEdit="1"/>
              </p:cNvSpPr>
              <p:nvPr/>
            </p:nvSpPr>
            <p:spPr>
              <a:xfrm>
                <a:off x="6946796" y="2186195"/>
                <a:ext cx="971550" cy="946349"/>
              </a:xfrm>
              <a:prstGeom prst="rect">
                <a:avLst/>
              </a:prstGeom>
              <a:blipFill>
                <a:blip r:embed="rId3"/>
                <a:stretch>
                  <a:fillRect r="-251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文本框 118">
                <a:extLst>
                  <a:ext uri="{FF2B5EF4-FFF2-40B4-BE49-F238E27FC236}">
                    <a16:creationId xmlns:a16="http://schemas.microsoft.com/office/drawing/2014/main" id="{D701DBD0-ADF9-403E-88FB-5685C76F6E76}"/>
                  </a:ext>
                </a:extLst>
              </p:cNvPr>
              <p:cNvSpPr txBox="1"/>
              <p:nvPr/>
            </p:nvSpPr>
            <p:spPr>
              <a:xfrm>
                <a:off x="2616232" y="1283110"/>
                <a:ext cx="9379974" cy="610103"/>
              </a:xfrm>
              <a:prstGeom prst="rect">
                <a:avLst/>
              </a:prstGeom>
              <a:noFill/>
            </p:spPr>
            <p:txBody>
              <a:bodyPr wrap="square">
                <a:spAutoFit/>
              </a:bodyPr>
              <a:lstStyle/>
              <a:p>
                <a:pPr lvl="0" fontAlgn="base">
                  <a:lnSpc>
                    <a:spcPct val="130000"/>
                  </a:lnSpc>
                  <a:spcBef>
                    <a:spcPct val="50000"/>
                  </a:spcBef>
                  <a:spcAft>
                    <a:spcPct val="0"/>
                  </a:spcAft>
                  <a:buClrTx/>
                  <a:buSzTx/>
                  <a:defRPr/>
                </a:pPr>
                <a:r>
                  <a:rPr kumimoji="1" lang="zh-CN" altLang="en-US" sz="2800" kern="0" dirty="0">
                    <a:solidFill>
                      <a:schemeClr val="tx1"/>
                    </a:solidFill>
                    <a:latin typeface="华文楷体" panose="02010600040101010101" pitchFamily="2" charset="-122"/>
                  </a:rPr>
                  <a:t> 磁化介质内，单位体积内分子磁矩的矢量和。单位：</a:t>
                </a:r>
                <a14:m>
                  <m:oMath xmlns:m="http://schemas.openxmlformats.org/officeDocument/2006/math">
                    <m:f>
                      <m:fPr>
                        <m:type m:val="lin"/>
                        <m:ctrlPr>
                          <a:rPr kumimoji="1" lang="zh-CN" altLang="en-US" sz="2800" i="1" kern="0">
                            <a:solidFill>
                              <a:schemeClr val="tx1"/>
                            </a:solidFill>
                            <a:latin typeface="Cambria Math" panose="02040503050406030204" pitchFamily="18" charset="0"/>
                          </a:rPr>
                        </m:ctrlPr>
                      </m:fPr>
                      <m:num>
                        <m:r>
                          <a:rPr kumimoji="1" lang="en-US" altLang="zh-CN" sz="2800" kern="0">
                            <a:solidFill>
                              <a:schemeClr val="tx1"/>
                            </a:solidFill>
                            <a:latin typeface="Cambria Math" panose="02040503050406030204" pitchFamily="18" charset="0"/>
                          </a:rPr>
                          <m:t>𝐀</m:t>
                        </m:r>
                      </m:num>
                      <m:den>
                        <m:r>
                          <a:rPr kumimoji="1" lang="en-US" altLang="zh-CN" sz="2800" kern="0">
                            <a:solidFill>
                              <a:schemeClr val="tx1"/>
                            </a:solidFill>
                            <a:latin typeface="Cambria Math" panose="02040503050406030204" pitchFamily="18" charset="0"/>
                          </a:rPr>
                          <m:t>𝐦</m:t>
                        </m:r>
                      </m:den>
                    </m:f>
                  </m:oMath>
                </a14:m>
                <a:endParaRPr kumimoji="1" lang="en-US" altLang="zh-CN" sz="2800" kern="0" dirty="0">
                  <a:solidFill>
                    <a:schemeClr val="tx1"/>
                  </a:solidFill>
                  <a:latin typeface="华文楷体" panose="02010600040101010101" pitchFamily="2" charset="-122"/>
                </a:endParaRPr>
              </a:p>
            </p:txBody>
          </p:sp>
        </mc:Choice>
        <mc:Fallback xmlns="">
          <p:sp>
            <p:nvSpPr>
              <p:cNvPr id="119" name="文本框 118">
                <a:extLst>
                  <a:ext uri="{FF2B5EF4-FFF2-40B4-BE49-F238E27FC236}">
                    <a16:creationId xmlns:a16="http://schemas.microsoft.com/office/drawing/2014/main" id="{D701DBD0-ADF9-403E-88FB-5685C76F6E76}"/>
                  </a:ext>
                </a:extLst>
              </p:cNvPr>
              <p:cNvSpPr txBox="1">
                <a:spLocks noRot="1" noChangeAspect="1" noMove="1" noResize="1" noEditPoints="1" noAdjustHandles="1" noChangeArrowheads="1" noChangeShapeType="1" noTextEdit="1"/>
              </p:cNvSpPr>
              <p:nvPr/>
            </p:nvSpPr>
            <p:spPr>
              <a:xfrm>
                <a:off x="2616232" y="1283110"/>
                <a:ext cx="9379974" cy="610103"/>
              </a:xfrm>
              <a:prstGeom prst="rect">
                <a:avLst/>
              </a:prstGeom>
              <a:blipFill>
                <a:blip r:embed="rId4"/>
                <a:stretch>
                  <a:fillRect l="-325" b="-25743"/>
                </a:stretch>
              </a:blipFill>
            </p:spPr>
            <p:txBody>
              <a:bodyPr/>
              <a:lstStyle/>
              <a:p>
                <a:r>
                  <a:rPr lang="en-US">
                    <a:noFill/>
                  </a:rPr>
                  <a:t> </a:t>
                </a:r>
              </a:p>
            </p:txBody>
          </p:sp>
        </mc:Fallback>
      </mc:AlternateContent>
      <p:sp>
        <p:nvSpPr>
          <p:cNvPr id="120" name="Text Box 24">
            <a:extLst>
              <a:ext uri="{FF2B5EF4-FFF2-40B4-BE49-F238E27FC236}">
                <a16:creationId xmlns:a16="http://schemas.microsoft.com/office/drawing/2014/main" id="{10F2EDFF-CDE0-4861-AF53-848233BBD351}"/>
              </a:ext>
            </a:extLst>
          </p:cNvPr>
          <p:cNvSpPr txBox="1"/>
          <p:nvPr/>
        </p:nvSpPr>
        <p:spPr>
          <a:xfrm>
            <a:off x="1076607" y="3206998"/>
            <a:ext cx="8617485" cy="523220"/>
          </a:xfrm>
          <a:prstGeom prst="rect">
            <a:avLst/>
          </a:prstGeom>
          <a:noFill/>
          <a:ln w="9525">
            <a:noFill/>
          </a:ln>
        </p:spPr>
        <p:txBody>
          <a:bodyPr wrap="square">
            <a:spAutoFit/>
          </a:bodyPr>
          <a:lstStyle/>
          <a:p>
            <a:pPr>
              <a:spcBef>
                <a:spcPct val="50000"/>
              </a:spcBef>
            </a:pPr>
            <a:r>
              <a:rPr lang="en-US" altLang="zh-CN" sz="2800" dirty="0">
                <a:solidFill>
                  <a:schemeClr val="tx1"/>
                </a:solidFill>
                <a:sym typeface="Symbol" panose="05050102010706020507" pitchFamily="18" charset="2"/>
              </a:rPr>
              <a:t>-  </a:t>
            </a:r>
            <a:r>
              <a:rPr lang="en-US" altLang="zh-CN" sz="2800" i="1" dirty="0">
                <a:solidFill>
                  <a:schemeClr val="tx1"/>
                </a:solidFill>
                <a:sym typeface="Symbol" panose="05050102010706020507" pitchFamily="18" charset="2"/>
              </a:rPr>
              <a:t>V </a:t>
            </a:r>
            <a:r>
              <a:rPr lang="zh-CN" altLang="en-US" sz="2800" dirty="0">
                <a:solidFill>
                  <a:schemeClr val="tx1"/>
                </a:solidFill>
                <a:sym typeface="Symbol" panose="05050102010706020507" pitchFamily="18" charset="2"/>
              </a:rPr>
              <a:t>宏观小，但其中仍包含大量的磁介质分子</a:t>
            </a:r>
            <a:r>
              <a:rPr lang="zh-CN" altLang="en-US" sz="2800" dirty="0">
                <a:sym typeface="Symbol" panose="05050102010706020507" pitchFamily="18" charset="2"/>
              </a:rPr>
              <a:t>。</a:t>
            </a:r>
            <a:endParaRPr lang="en-US" altLang="zh-CN" sz="2800" dirty="0">
              <a:solidFill>
                <a:schemeClr val="tx1"/>
              </a:solidFill>
            </a:endParaRPr>
          </a:p>
        </p:txBody>
      </p:sp>
      <p:grpSp>
        <p:nvGrpSpPr>
          <p:cNvPr id="121" name="Group 25">
            <a:extLst>
              <a:ext uri="{FF2B5EF4-FFF2-40B4-BE49-F238E27FC236}">
                <a16:creationId xmlns:a16="http://schemas.microsoft.com/office/drawing/2014/main" id="{9F0D000D-67FE-4CF0-9C6D-265B7A4F9DC4}"/>
              </a:ext>
            </a:extLst>
          </p:cNvPr>
          <p:cNvGrpSpPr/>
          <p:nvPr/>
        </p:nvGrpSpPr>
        <p:grpSpPr>
          <a:xfrm>
            <a:off x="1044786" y="3861937"/>
            <a:ext cx="6370637" cy="519112"/>
            <a:chOff x="1162" y="3475"/>
            <a:chExt cx="4013" cy="327"/>
          </a:xfrm>
        </p:grpSpPr>
        <p:sp>
          <p:nvSpPr>
            <p:cNvPr id="122" name="Text Box 26">
              <a:extLst>
                <a:ext uri="{FF2B5EF4-FFF2-40B4-BE49-F238E27FC236}">
                  <a16:creationId xmlns:a16="http://schemas.microsoft.com/office/drawing/2014/main" id="{FA6C4269-23D8-4CDF-AE55-7B020944EDC7}"/>
                </a:ext>
              </a:extLst>
            </p:cNvPr>
            <p:cNvSpPr txBox="1"/>
            <p:nvPr/>
          </p:nvSpPr>
          <p:spPr>
            <a:xfrm>
              <a:off x="1162" y="3475"/>
              <a:ext cx="4013" cy="327"/>
            </a:xfrm>
            <a:prstGeom prst="rect">
              <a:avLst/>
            </a:prstGeom>
            <a:noFill/>
            <a:ln w="9525">
              <a:noFill/>
            </a:ln>
          </p:spPr>
          <p:txBody>
            <a:bodyPr>
              <a:spAutoFit/>
            </a:bodyPr>
            <a:lstStyle/>
            <a:p>
              <a:pPr>
                <a:spcBef>
                  <a:spcPct val="50000"/>
                </a:spcBef>
              </a:pPr>
              <a:r>
                <a:rPr lang="en-US" altLang="zh-CN" sz="2800" dirty="0">
                  <a:solidFill>
                    <a:schemeClr val="tx1"/>
                  </a:solidFill>
                </a:rPr>
                <a:t>-  </a:t>
              </a:r>
              <a:r>
                <a:rPr lang="zh-CN" altLang="en-US" sz="2800" dirty="0">
                  <a:solidFill>
                    <a:schemeClr val="tx1"/>
                  </a:solidFill>
                </a:rPr>
                <a:t>磁介质中各处</a:t>
              </a:r>
              <a:r>
                <a:rPr lang="en-US" altLang="zh-CN" sz="2800" i="1" dirty="0">
                  <a:solidFill>
                    <a:schemeClr val="tx1"/>
                  </a:solidFill>
                </a:rPr>
                <a:t>M </a:t>
              </a:r>
              <a:r>
                <a:rPr lang="zh-CN" altLang="en-US" sz="2800" dirty="0">
                  <a:solidFill>
                    <a:schemeClr val="tx1"/>
                  </a:solidFill>
                </a:rPr>
                <a:t>相同，称为均匀磁化</a:t>
              </a:r>
              <a:r>
                <a:rPr lang="zh-CN" altLang="en-US" sz="2800" dirty="0"/>
                <a:t>。</a:t>
              </a:r>
              <a:endParaRPr lang="en-US" altLang="zh-CN" sz="2800" dirty="0">
                <a:solidFill>
                  <a:schemeClr val="tx1"/>
                </a:solidFill>
              </a:endParaRPr>
            </a:p>
          </p:txBody>
        </p:sp>
        <p:sp>
          <p:nvSpPr>
            <p:cNvPr id="123" name="Line 27">
              <a:extLst>
                <a:ext uri="{FF2B5EF4-FFF2-40B4-BE49-F238E27FC236}">
                  <a16:creationId xmlns:a16="http://schemas.microsoft.com/office/drawing/2014/main" id="{D9DE558B-0538-4691-86C6-8C2F9C7124AF}"/>
                </a:ext>
              </a:extLst>
            </p:cNvPr>
            <p:cNvSpPr/>
            <p:nvPr/>
          </p:nvSpPr>
          <p:spPr>
            <a:xfrm>
              <a:off x="2786" y="3532"/>
              <a:ext cx="170" cy="0"/>
            </a:xfrm>
            <a:prstGeom prst="line">
              <a:avLst/>
            </a:prstGeom>
            <a:ln w="9525" cap="flat" cmpd="sng">
              <a:solidFill>
                <a:schemeClr val="tx1"/>
              </a:solidFill>
              <a:prstDash val="solid"/>
              <a:headEnd type="none" w="med" len="med"/>
              <a:tailEnd type="triangle" w="med" len="med"/>
            </a:ln>
          </p:spPr>
        </p:sp>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EBA3049-A1F1-465A-B4C4-2A2582351F3D}"/>
                  </a:ext>
                </a:extLst>
              </p:cNvPr>
              <p:cNvSpPr txBox="1"/>
              <p:nvPr/>
            </p:nvSpPr>
            <p:spPr>
              <a:xfrm>
                <a:off x="1078156" y="4552133"/>
                <a:ext cx="4614477" cy="576568"/>
              </a:xfrm>
              <a:prstGeom prst="rect">
                <a:avLst/>
              </a:prstGeom>
              <a:noFill/>
            </p:spPr>
            <p:txBody>
              <a:bodyPr wrap="square">
                <a:spAutoFit/>
              </a:bodyPr>
              <a:lstStyle/>
              <a:p>
                <a:pPr lvl="0" fontAlgn="base">
                  <a:lnSpc>
                    <a:spcPct val="120000"/>
                  </a:lnSpc>
                  <a:spcAft>
                    <a:spcPct val="0"/>
                  </a:spcAft>
                </a:pPr>
                <a:r>
                  <a:rPr kumimoji="1" lang="en-US" altLang="zh-CN" sz="2800" kern="0" dirty="0">
                    <a:solidFill>
                      <a:schemeClr val="tx1"/>
                    </a:solidFill>
                    <a:latin typeface="华文楷体" panose="02010600040101010101" pitchFamily="2" charset="-122"/>
                  </a:rPr>
                  <a:t>- </a:t>
                </a:r>
                <a:r>
                  <a:rPr kumimoji="1" lang="zh-CN" altLang="en-US" sz="2800" kern="0" dirty="0">
                    <a:solidFill>
                      <a:schemeClr val="tx1"/>
                    </a:solidFill>
                    <a:latin typeface="华文楷体" panose="02010600040101010101" pitchFamily="2" charset="-122"/>
                  </a:rPr>
                  <a:t>磁化电流</a:t>
                </a:r>
                <a14:m>
                  <m:oMath xmlns:m="http://schemas.openxmlformats.org/officeDocument/2006/math">
                    <m:r>
                      <a:rPr lang="en-US" altLang="zh-CN" sz="2800" i="1">
                        <a:solidFill>
                          <a:srgbClr val="0066FF"/>
                        </a:solidFill>
                        <a:latin typeface="Cambria Math" panose="02040503050406030204" pitchFamily="18" charset="0"/>
                      </a:rPr>
                      <m:t>𝐼</m:t>
                    </m:r>
                    <m:r>
                      <a:rPr lang="en-US" altLang="zh-CN" sz="2800" i="1">
                        <a:solidFill>
                          <a:srgbClr val="0066FF"/>
                        </a:solidFill>
                        <a:latin typeface="Cambria Math" panose="02040503050406030204" pitchFamily="18" charset="0"/>
                      </a:rPr>
                      <m:t>′ </m:t>
                    </m:r>
                  </m:oMath>
                </a14:m>
                <a:r>
                  <a:rPr kumimoji="1" lang="zh-CN" altLang="en-US" sz="2800" kern="0" dirty="0">
                    <a:solidFill>
                      <a:schemeClr val="tx1"/>
                    </a:solidFill>
                    <a:latin typeface="华文楷体" panose="02010600040101010101" pitchFamily="2" charset="-122"/>
                  </a:rPr>
                  <a:t>：</a:t>
                </a:r>
                <a:endParaRPr lang="zh-CN" altLang="en-US" sz="2800" dirty="0">
                  <a:solidFill>
                    <a:schemeClr val="tx1"/>
                  </a:solidFill>
                </a:endParaRPr>
              </a:p>
            </p:txBody>
          </p:sp>
        </mc:Choice>
        <mc:Fallback xmlns="">
          <p:sp>
            <p:nvSpPr>
              <p:cNvPr id="11" name="文本框 10">
                <a:extLst>
                  <a:ext uri="{FF2B5EF4-FFF2-40B4-BE49-F238E27FC236}">
                    <a16:creationId xmlns:a16="http://schemas.microsoft.com/office/drawing/2014/main" id="{AEBA3049-A1F1-465A-B4C4-2A2582351F3D}"/>
                  </a:ext>
                </a:extLst>
              </p:cNvPr>
              <p:cNvSpPr txBox="1">
                <a:spLocks noRot="1" noChangeAspect="1" noMove="1" noResize="1" noEditPoints="1" noAdjustHandles="1" noChangeArrowheads="1" noChangeShapeType="1" noTextEdit="1"/>
              </p:cNvSpPr>
              <p:nvPr/>
            </p:nvSpPr>
            <p:spPr>
              <a:xfrm>
                <a:off x="1078156" y="4552133"/>
                <a:ext cx="4614477" cy="576568"/>
              </a:xfrm>
              <a:prstGeom prst="rect">
                <a:avLst/>
              </a:prstGeom>
              <a:blipFill>
                <a:blip r:embed="rId5"/>
                <a:stretch>
                  <a:fillRect l="-2774" t="-2128" b="-29787"/>
                </a:stretch>
              </a:blipFill>
            </p:spPr>
            <p:txBody>
              <a:bodyPr/>
              <a:lstStyle/>
              <a:p>
                <a:r>
                  <a:rPr lang="en-US">
                    <a:noFill/>
                  </a:rPr>
                  <a:t> </a:t>
                </a:r>
              </a:p>
            </p:txBody>
          </p:sp>
        </mc:Fallback>
      </mc:AlternateContent>
      <p:grpSp>
        <p:nvGrpSpPr>
          <p:cNvPr id="13" name="组合 12">
            <a:extLst>
              <a:ext uri="{FF2B5EF4-FFF2-40B4-BE49-F238E27FC236}">
                <a16:creationId xmlns:a16="http://schemas.microsoft.com/office/drawing/2014/main" id="{71112494-EFED-4769-B9FC-3DFF2BFFC597}"/>
              </a:ext>
            </a:extLst>
          </p:cNvPr>
          <p:cNvGrpSpPr/>
          <p:nvPr/>
        </p:nvGrpSpPr>
        <p:grpSpPr>
          <a:xfrm>
            <a:off x="3423390" y="4571350"/>
            <a:ext cx="5891059" cy="2007080"/>
            <a:chOff x="257452" y="3949699"/>
            <a:chExt cx="8655729" cy="3092062"/>
          </a:xfrm>
        </p:grpSpPr>
        <p:grpSp>
          <p:nvGrpSpPr>
            <p:cNvPr id="15" name="组合 14">
              <a:extLst>
                <a:ext uri="{FF2B5EF4-FFF2-40B4-BE49-F238E27FC236}">
                  <a16:creationId xmlns:a16="http://schemas.microsoft.com/office/drawing/2014/main" id="{4FAAD8B3-3CCB-4AEB-BB03-A2CD66802223}"/>
                </a:ext>
              </a:extLst>
            </p:cNvPr>
            <p:cNvGrpSpPr/>
            <p:nvPr/>
          </p:nvGrpSpPr>
          <p:grpSpPr>
            <a:xfrm>
              <a:off x="755650" y="3949699"/>
              <a:ext cx="7521575" cy="2285999"/>
              <a:chOff x="755650" y="3949699"/>
              <a:chExt cx="7521575" cy="2285999"/>
            </a:xfrm>
          </p:grpSpPr>
          <p:grpSp>
            <p:nvGrpSpPr>
              <p:cNvPr id="18" name="Group 145">
                <a:extLst>
                  <a:ext uri="{FF2B5EF4-FFF2-40B4-BE49-F238E27FC236}">
                    <a16:creationId xmlns:a16="http://schemas.microsoft.com/office/drawing/2014/main" id="{ACB79547-AFE4-4278-8625-3897FAA37DFE}"/>
                  </a:ext>
                </a:extLst>
              </p:cNvPr>
              <p:cNvGrpSpPr>
                <a:grpSpLocks/>
              </p:cNvGrpSpPr>
              <p:nvPr/>
            </p:nvGrpSpPr>
            <p:grpSpPr bwMode="auto">
              <a:xfrm>
                <a:off x="5991225" y="3949699"/>
                <a:ext cx="2286000" cy="2285999"/>
                <a:chOff x="3696" y="384"/>
                <a:chExt cx="1440" cy="1440"/>
              </a:xfrm>
            </p:grpSpPr>
            <p:sp>
              <p:nvSpPr>
                <p:cNvPr id="124" name="Oval 146">
                  <a:extLst>
                    <a:ext uri="{FF2B5EF4-FFF2-40B4-BE49-F238E27FC236}">
                      <a16:creationId xmlns:a16="http://schemas.microsoft.com/office/drawing/2014/main" id="{E342F085-9FB7-4AA2-A766-AB616B477F3D}"/>
                    </a:ext>
                  </a:extLst>
                </p:cNvPr>
                <p:cNvSpPr>
                  <a:spLocks noChangeArrowheads="1"/>
                </p:cNvSpPr>
                <p:nvPr/>
              </p:nvSpPr>
              <p:spPr bwMode="auto">
                <a:xfrm>
                  <a:off x="3696" y="384"/>
                  <a:ext cx="1440" cy="1440"/>
                </a:xfrm>
                <a:prstGeom prst="ellipse">
                  <a:avLst/>
                </a:prstGeom>
                <a:gradFill rotWithShape="1">
                  <a:gsLst>
                    <a:gs pos="0">
                      <a:srgbClr val="FFFFFF"/>
                    </a:gs>
                    <a:gs pos="100000">
                      <a:srgbClr val="CCFFCC"/>
                    </a:gs>
                  </a:gsLst>
                  <a:path path="shape">
                    <a:fillToRect l="50000" t="50000" r="50000" b="50000"/>
                  </a:path>
                </a:gradFill>
                <a:ln w="38100">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125" name="Line 147" descr="小纸屑">
                  <a:extLst>
                    <a:ext uri="{FF2B5EF4-FFF2-40B4-BE49-F238E27FC236}">
                      <a16:creationId xmlns:a16="http://schemas.microsoft.com/office/drawing/2014/main" id="{D4B569DC-4B30-4DD8-AE43-85643732CC68}"/>
                    </a:ext>
                  </a:extLst>
                </p:cNvPr>
                <p:cNvSpPr>
                  <a:spLocks noChangeShapeType="1"/>
                </p:cNvSpPr>
                <p:nvPr/>
              </p:nvSpPr>
              <p:spPr bwMode="auto">
                <a:xfrm>
                  <a:off x="4368" y="384"/>
                  <a:ext cx="144" cy="0"/>
                </a:xfrm>
                <a:prstGeom prst="line">
                  <a:avLst/>
                </a:prstGeom>
                <a:noFill/>
                <a:ln w="38100">
                  <a:solidFill>
                    <a:srgbClr val="FF3300"/>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26" name="Line 148" descr="小纸屑">
                  <a:extLst>
                    <a:ext uri="{FF2B5EF4-FFF2-40B4-BE49-F238E27FC236}">
                      <a16:creationId xmlns:a16="http://schemas.microsoft.com/office/drawing/2014/main" id="{2242BA09-0FF0-48DA-A09E-45E49EB82822}"/>
                    </a:ext>
                  </a:extLst>
                </p:cNvPr>
                <p:cNvSpPr>
                  <a:spLocks noChangeShapeType="1"/>
                </p:cNvSpPr>
                <p:nvPr/>
              </p:nvSpPr>
              <p:spPr bwMode="auto">
                <a:xfrm rot="5400000">
                  <a:off x="5064" y="1080"/>
                  <a:ext cx="144" cy="0"/>
                </a:xfrm>
                <a:prstGeom prst="line">
                  <a:avLst/>
                </a:prstGeom>
                <a:noFill/>
                <a:ln w="38100">
                  <a:solidFill>
                    <a:srgbClr val="FF3300"/>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27" name="Line 149" descr="小纸屑">
                  <a:extLst>
                    <a:ext uri="{FF2B5EF4-FFF2-40B4-BE49-F238E27FC236}">
                      <a16:creationId xmlns:a16="http://schemas.microsoft.com/office/drawing/2014/main" id="{A591B71F-603E-42E4-B28A-70B06AFEB0AE}"/>
                    </a:ext>
                  </a:extLst>
                </p:cNvPr>
                <p:cNvSpPr>
                  <a:spLocks noChangeShapeType="1"/>
                </p:cNvSpPr>
                <p:nvPr/>
              </p:nvSpPr>
              <p:spPr bwMode="auto">
                <a:xfrm flipH="1">
                  <a:off x="4368" y="1824"/>
                  <a:ext cx="144" cy="0"/>
                </a:xfrm>
                <a:prstGeom prst="line">
                  <a:avLst/>
                </a:prstGeom>
                <a:noFill/>
                <a:ln w="38100">
                  <a:solidFill>
                    <a:srgbClr val="FF3300"/>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28" name="Line 150" descr="小纸屑">
                  <a:extLst>
                    <a:ext uri="{FF2B5EF4-FFF2-40B4-BE49-F238E27FC236}">
                      <a16:creationId xmlns:a16="http://schemas.microsoft.com/office/drawing/2014/main" id="{052E1AB0-A740-479E-9262-BF7DAFFC86EC}"/>
                    </a:ext>
                  </a:extLst>
                </p:cNvPr>
                <p:cNvSpPr>
                  <a:spLocks noChangeShapeType="1"/>
                </p:cNvSpPr>
                <p:nvPr/>
              </p:nvSpPr>
              <p:spPr bwMode="auto">
                <a:xfrm rot="-5400000">
                  <a:off x="3624" y="1128"/>
                  <a:ext cx="144" cy="0"/>
                </a:xfrm>
                <a:prstGeom prst="line">
                  <a:avLst/>
                </a:prstGeom>
                <a:noFill/>
                <a:ln w="38100">
                  <a:solidFill>
                    <a:srgbClr val="FF3300"/>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grpSp>
            <p:nvGrpSpPr>
              <p:cNvPr id="19" name="Group 152">
                <a:extLst>
                  <a:ext uri="{FF2B5EF4-FFF2-40B4-BE49-F238E27FC236}">
                    <a16:creationId xmlns:a16="http://schemas.microsoft.com/office/drawing/2014/main" id="{F80CBA2F-2B0D-4B7B-94BD-1B99499A83A5}"/>
                  </a:ext>
                </a:extLst>
              </p:cNvPr>
              <p:cNvGrpSpPr>
                <a:grpSpLocks/>
              </p:cNvGrpSpPr>
              <p:nvPr/>
            </p:nvGrpSpPr>
            <p:grpSpPr bwMode="auto">
              <a:xfrm>
                <a:off x="755650" y="4149725"/>
                <a:ext cx="4208463" cy="1905000"/>
                <a:chOff x="431" y="572"/>
                <a:chExt cx="2651" cy="1200"/>
              </a:xfrm>
            </p:grpSpPr>
            <p:grpSp>
              <p:nvGrpSpPr>
                <p:cNvPr id="49" name="Group 153">
                  <a:extLst>
                    <a:ext uri="{FF2B5EF4-FFF2-40B4-BE49-F238E27FC236}">
                      <a16:creationId xmlns:a16="http://schemas.microsoft.com/office/drawing/2014/main" id="{AA8FB646-9358-4821-A584-577DCEF997D5}"/>
                    </a:ext>
                  </a:extLst>
                </p:cNvPr>
                <p:cNvGrpSpPr>
                  <a:grpSpLocks/>
                </p:cNvGrpSpPr>
                <p:nvPr/>
              </p:nvGrpSpPr>
              <p:grpSpPr bwMode="auto">
                <a:xfrm>
                  <a:off x="431" y="572"/>
                  <a:ext cx="2651" cy="1200"/>
                  <a:chOff x="1499" y="957"/>
                  <a:chExt cx="2651" cy="1200"/>
                </a:xfrm>
              </p:grpSpPr>
              <p:grpSp>
                <p:nvGrpSpPr>
                  <p:cNvPr id="51" name="Group 154">
                    <a:extLst>
                      <a:ext uri="{FF2B5EF4-FFF2-40B4-BE49-F238E27FC236}">
                        <a16:creationId xmlns:a16="http://schemas.microsoft.com/office/drawing/2014/main" id="{CACCDDC6-5891-4627-A43A-6B810F416E31}"/>
                      </a:ext>
                    </a:extLst>
                  </p:cNvPr>
                  <p:cNvGrpSpPr>
                    <a:grpSpLocks/>
                  </p:cNvGrpSpPr>
                  <p:nvPr/>
                </p:nvGrpSpPr>
                <p:grpSpPr bwMode="auto">
                  <a:xfrm>
                    <a:off x="1499" y="957"/>
                    <a:ext cx="1992" cy="1200"/>
                    <a:chOff x="1344" y="2448"/>
                    <a:chExt cx="1992" cy="1200"/>
                  </a:xfrm>
                </p:grpSpPr>
                <p:sp>
                  <p:nvSpPr>
                    <p:cNvPr id="53" name="AutoShape 155">
                      <a:extLst>
                        <a:ext uri="{FF2B5EF4-FFF2-40B4-BE49-F238E27FC236}">
                          <a16:creationId xmlns:a16="http://schemas.microsoft.com/office/drawing/2014/main" id="{0E0ED72F-A013-45BC-9641-FAC3072DAEF2}"/>
                        </a:ext>
                      </a:extLst>
                    </p:cNvPr>
                    <p:cNvSpPr>
                      <a:spLocks noChangeArrowheads="1"/>
                    </p:cNvSpPr>
                    <p:nvPr/>
                  </p:nvSpPr>
                  <p:spPr bwMode="auto">
                    <a:xfrm rot="5400000">
                      <a:off x="1740" y="2052"/>
                      <a:ext cx="1200" cy="1992"/>
                    </a:xfrm>
                    <a:prstGeom prst="can">
                      <a:avLst>
                        <a:gd name="adj" fmla="val 41500"/>
                      </a:avLst>
                    </a:prstGeom>
                    <a:solidFill>
                      <a:srgbClr val="CCFFCC"/>
                    </a:solidFill>
                    <a:ln w="38100">
                      <a:solidFill>
                        <a:srgbClr val="FF99CC"/>
                      </a:solidFill>
                      <a:round/>
                      <a:headEnd/>
                      <a:tailEnd type="none" w="sm" len="lg"/>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grpSp>
                  <p:nvGrpSpPr>
                    <p:cNvPr id="54" name="Group 156">
                      <a:extLst>
                        <a:ext uri="{FF2B5EF4-FFF2-40B4-BE49-F238E27FC236}">
                          <a16:creationId xmlns:a16="http://schemas.microsoft.com/office/drawing/2014/main" id="{A04AC265-0047-40B2-9117-1B43290C146B}"/>
                        </a:ext>
                      </a:extLst>
                    </p:cNvPr>
                    <p:cNvGrpSpPr>
                      <a:grpSpLocks/>
                    </p:cNvGrpSpPr>
                    <p:nvPr/>
                  </p:nvGrpSpPr>
                  <p:grpSpPr bwMode="auto">
                    <a:xfrm>
                      <a:off x="1536" y="2496"/>
                      <a:ext cx="220" cy="1104"/>
                      <a:chOff x="1584" y="2496"/>
                      <a:chExt cx="220" cy="1104"/>
                    </a:xfrm>
                  </p:grpSpPr>
                  <p:grpSp>
                    <p:nvGrpSpPr>
                      <p:cNvPr id="110" name="Group 157">
                        <a:extLst>
                          <a:ext uri="{FF2B5EF4-FFF2-40B4-BE49-F238E27FC236}">
                            <a16:creationId xmlns:a16="http://schemas.microsoft.com/office/drawing/2014/main" id="{04CF911A-6515-4731-B1BB-4D03FC9C2D9A}"/>
                          </a:ext>
                        </a:extLst>
                      </p:cNvPr>
                      <p:cNvGrpSpPr>
                        <a:grpSpLocks/>
                      </p:cNvGrpSpPr>
                      <p:nvPr/>
                    </p:nvGrpSpPr>
                    <p:grpSpPr bwMode="auto">
                      <a:xfrm rot="3385634">
                        <a:off x="1563" y="2565"/>
                        <a:ext cx="310" cy="172"/>
                        <a:chOff x="2640" y="2736"/>
                        <a:chExt cx="432" cy="240"/>
                      </a:xfrm>
                    </p:grpSpPr>
                    <p:sp>
                      <p:nvSpPr>
                        <p:cNvPr id="117" name="Oval 158">
                          <a:extLst>
                            <a:ext uri="{FF2B5EF4-FFF2-40B4-BE49-F238E27FC236}">
                              <a16:creationId xmlns:a16="http://schemas.microsoft.com/office/drawing/2014/main" id="{C6A9D4D3-0EB2-4F03-8673-7F9B6959A6AC}"/>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118" name="Arc 159">
                          <a:extLst>
                            <a:ext uri="{FF2B5EF4-FFF2-40B4-BE49-F238E27FC236}">
                              <a16:creationId xmlns:a16="http://schemas.microsoft.com/office/drawing/2014/main" id="{3D70BED1-516D-40D1-9519-440858859C74}"/>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111" name="Group 160">
                        <a:extLst>
                          <a:ext uri="{FF2B5EF4-FFF2-40B4-BE49-F238E27FC236}">
                            <a16:creationId xmlns:a16="http://schemas.microsoft.com/office/drawing/2014/main" id="{6A7F5466-911F-4E82-BC85-D62FAB55C8B3}"/>
                          </a:ext>
                        </a:extLst>
                      </p:cNvPr>
                      <p:cNvGrpSpPr>
                        <a:grpSpLocks/>
                      </p:cNvGrpSpPr>
                      <p:nvPr/>
                    </p:nvGrpSpPr>
                    <p:grpSpPr bwMode="auto">
                      <a:xfrm rot="3385634">
                        <a:off x="1515" y="2949"/>
                        <a:ext cx="310" cy="172"/>
                        <a:chOff x="2640" y="2736"/>
                        <a:chExt cx="432" cy="240"/>
                      </a:xfrm>
                    </p:grpSpPr>
                    <p:sp>
                      <p:nvSpPr>
                        <p:cNvPr id="115" name="Oval 161">
                          <a:extLst>
                            <a:ext uri="{FF2B5EF4-FFF2-40B4-BE49-F238E27FC236}">
                              <a16:creationId xmlns:a16="http://schemas.microsoft.com/office/drawing/2014/main" id="{2FD51359-71B2-4C7E-851F-5ECC12BFCD72}"/>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116" name="Arc 162">
                          <a:extLst>
                            <a:ext uri="{FF2B5EF4-FFF2-40B4-BE49-F238E27FC236}">
                              <a16:creationId xmlns:a16="http://schemas.microsoft.com/office/drawing/2014/main" id="{3419141A-EA0C-452B-AC69-A3ABD42E62B9}"/>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112" name="Group 163">
                        <a:extLst>
                          <a:ext uri="{FF2B5EF4-FFF2-40B4-BE49-F238E27FC236}">
                            <a16:creationId xmlns:a16="http://schemas.microsoft.com/office/drawing/2014/main" id="{4C10C225-218F-4118-AED7-FCFDA7506160}"/>
                          </a:ext>
                        </a:extLst>
                      </p:cNvPr>
                      <p:cNvGrpSpPr>
                        <a:grpSpLocks/>
                      </p:cNvGrpSpPr>
                      <p:nvPr/>
                    </p:nvGrpSpPr>
                    <p:grpSpPr bwMode="auto">
                      <a:xfrm rot="3385634">
                        <a:off x="1515" y="3359"/>
                        <a:ext cx="310" cy="172"/>
                        <a:chOff x="2640" y="2736"/>
                        <a:chExt cx="432" cy="240"/>
                      </a:xfrm>
                    </p:grpSpPr>
                    <p:sp>
                      <p:nvSpPr>
                        <p:cNvPr id="113" name="Oval 164">
                          <a:extLst>
                            <a:ext uri="{FF2B5EF4-FFF2-40B4-BE49-F238E27FC236}">
                              <a16:creationId xmlns:a16="http://schemas.microsoft.com/office/drawing/2014/main" id="{97768EB4-03FD-47A5-A8B3-AA4D41900B0C}"/>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114" name="Arc 165">
                          <a:extLst>
                            <a:ext uri="{FF2B5EF4-FFF2-40B4-BE49-F238E27FC236}">
                              <a16:creationId xmlns:a16="http://schemas.microsoft.com/office/drawing/2014/main" id="{70623CF6-9701-4F81-A14F-64FE9D0A8F1E}"/>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grpSp>
                  <p:nvGrpSpPr>
                    <p:cNvPr id="55" name="Group 166">
                      <a:extLst>
                        <a:ext uri="{FF2B5EF4-FFF2-40B4-BE49-F238E27FC236}">
                          <a16:creationId xmlns:a16="http://schemas.microsoft.com/office/drawing/2014/main" id="{0B48D39A-4DA7-4067-96C0-0D6F13542250}"/>
                        </a:ext>
                      </a:extLst>
                    </p:cNvPr>
                    <p:cNvGrpSpPr>
                      <a:grpSpLocks/>
                    </p:cNvGrpSpPr>
                    <p:nvPr/>
                  </p:nvGrpSpPr>
                  <p:grpSpPr bwMode="auto">
                    <a:xfrm>
                      <a:off x="1796" y="2496"/>
                      <a:ext cx="220" cy="1104"/>
                      <a:chOff x="1584" y="2496"/>
                      <a:chExt cx="220" cy="1104"/>
                    </a:xfrm>
                  </p:grpSpPr>
                  <p:grpSp>
                    <p:nvGrpSpPr>
                      <p:cNvPr id="101" name="Group 167">
                        <a:extLst>
                          <a:ext uri="{FF2B5EF4-FFF2-40B4-BE49-F238E27FC236}">
                            <a16:creationId xmlns:a16="http://schemas.microsoft.com/office/drawing/2014/main" id="{F2C0CB64-09C7-4904-8164-260A98B42D2C}"/>
                          </a:ext>
                        </a:extLst>
                      </p:cNvPr>
                      <p:cNvGrpSpPr>
                        <a:grpSpLocks/>
                      </p:cNvGrpSpPr>
                      <p:nvPr/>
                    </p:nvGrpSpPr>
                    <p:grpSpPr bwMode="auto">
                      <a:xfrm rot="3385634">
                        <a:off x="1563" y="2565"/>
                        <a:ext cx="310" cy="172"/>
                        <a:chOff x="2640" y="2736"/>
                        <a:chExt cx="432" cy="240"/>
                      </a:xfrm>
                    </p:grpSpPr>
                    <p:sp>
                      <p:nvSpPr>
                        <p:cNvPr id="108" name="Oval 168">
                          <a:extLst>
                            <a:ext uri="{FF2B5EF4-FFF2-40B4-BE49-F238E27FC236}">
                              <a16:creationId xmlns:a16="http://schemas.microsoft.com/office/drawing/2014/main" id="{D1E721AC-9E83-4E7F-B304-8F1032D3EF95}"/>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109" name="Arc 169">
                          <a:extLst>
                            <a:ext uri="{FF2B5EF4-FFF2-40B4-BE49-F238E27FC236}">
                              <a16:creationId xmlns:a16="http://schemas.microsoft.com/office/drawing/2014/main" id="{E219DD28-91BD-4215-B888-37EA999F05E2}"/>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102" name="Group 170">
                        <a:extLst>
                          <a:ext uri="{FF2B5EF4-FFF2-40B4-BE49-F238E27FC236}">
                            <a16:creationId xmlns:a16="http://schemas.microsoft.com/office/drawing/2014/main" id="{5ECE6C67-4FAB-4199-9B53-A8F199FED6A9}"/>
                          </a:ext>
                        </a:extLst>
                      </p:cNvPr>
                      <p:cNvGrpSpPr>
                        <a:grpSpLocks/>
                      </p:cNvGrpSpPr>
                      <p:nvPr/>
                    </p:nvGrpSpPr>
                    <p:grpSpPr bwMode="auto">
                      <a:xfrm rot="3385634">
                        <a:off x="1515" y="2949"/>
                        <a:ext cx="310" cy="172"/>
                        <a:chOff x="2640" y="2736"/>
                        <a:chExt cx="432" cy="240"/>
                      </a:xfrm>
                    </p:grpSpPr>
                    <p:sp>
                      <p:nvSpPr>
                        <p:cNvPr id="106" name="Oval 171">
                          <a:extLst>
                            <a:ext uri="{FF2B5EF4-FFF2-40B4-BE49-F238E27FC236}">
                              <a16:creationId xmlns:a16="http://schemas.microsoft.com/office/drawing/2014/main" id="{BFDD0FB2-A3B8-494E-9408-3D1FEBD40003}"/>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107" name="Arc 172">
                          <a:extLst>
                            <a:ext uri="{FF2B5EF4-FFF2-40B4-BE49-F238E27FC236}">
                              <a16:creationId xmlns:a16="http://schemas.microsoft.com/office/drawing/2014/main" id="{6F040154-5441-4621-989B-7F80DBE7D101}"/>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103" name="Group 173">
                        <a:extLst>
                          <a:ext uri="{FF2B5EF4-FFF2-40B4-BE49-F238E27FC236}">
                            <a16:creationId xmlns:a16="http://schemas.microsoft.com/office/drawing/2014/main" id="{92161BC0-2400-462A-8589-EA1260DC9BE8}"/>
                          </a:ext>
                        </a:extLst>
                      </p:cNvPr>
                      <p:cNvGrpSpPr>
                        <a:grpSpLocks/>
                      </p:cNvGrpSpPr>
                      <p:nvPr/>
                    </p:nvGrpSpPr>
                    <p:grpSpPr bwMode="auto">
                      <a:xfrm rot="3385634">
                        <a:off x="1515" y="3359"/>
                        <a:ext cx="310" cy="172"/>
                        <a:chOff x="2640" y="2736"/>
                        <a:chExt cx="432" cy="240"/>
                      </a:xfrm>
                    </p:grpSpPr>
                    <p:sp>
                      <p:nvSpPr>
                        <p:cNvPr id="104" name="Oval 174">
                          <a:extLst>
                            <a:ext uri="{FF2B5EF4-FFF2-40B4-BE49-F238E27FC236}">
                              <a16:creationId xmlns:a16="http://schemas.microsoft.com/office/drawing/2014/main" id="{935E0417-1424-4A43-88C5-70E8D995B74D}"/>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105" name="Arc 175">
                          <a:extLst>
                            <a:ext uri="{FF2B5EF4-FFF2-40B4-BE49-F238E27FC236}">
                              <a16:creationId xmlns:a16="http://schemas.microsoft.com/office/drawing/2014/main" id="{06A22904-4AA5-4879-A10A-E24A7EFC78EA}"/>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grpSp>
                  <p:nvGrpSpPr>
                    <p:cNvPr id="56" name="Group 176">
                      <a:extLst>
                        <a:ext uri="{FF2B5EF4-FFF2-40B4-BE49-F238E27FC236}">
                          <a16:creationId xmlns:a16="http://schemas.microsoft.com/office/drawing/2014/main" id="{872B1C98-50D8-4E9E-9E9E-D1B7AF8EC3FF}"/>
                        </a:ext>
                      </a:extLst>
                    </p:cNvPr>
                    <p:cNvGrpSpPr>
                      <a:grpSpLocks/>
                    </p:cNvGrpSpPr>
                    <p:nvPr/>
                  </p:nvGrpSpPr>
                  <p:grpSpPr bwMode="auto">
                    <a:xfrm>
                      <a:off x="2036" y="2496"/>
                      <a:ext cx="220" cy="1104"/>
                      <a:chOff x="1584" y="2496"/>
                      <a:chExt cx="220" cy="1104"/>
                    </a:xfrm>
                  </p:grpSpPr>
                  <p:grpSp>
                    <p:nvGrpSpPr>
                      <p:cNvPr id="92" name="Group 177">
                        <a:extLst>
                          <a:ext uri="{FF2B5EF4-FFF2-40B4-BE49-F238E27FC236}">
                            <a16:creationId xmlns:a16="http://schemas.microsoft.com/office/drawing/2014/main" id="{6A8B9443-12CA-41A2-BE70-EF9E704CD0D4}"/>
                          </a:ext>
                        </a:extLst>
                      </p:cNvPr>
                      <p:cNvGrpSpPr>
                        <a:grpSpLocks/>
                      </p:cNvGrpSpPr>
                      <p:nvPr/>
                    </p:nvGrpSpPr>
                    <p:grpSpPr bwMode="auto">
                      <a:xfrm rot="3385634">
                        <a:off x="1563" y="2565"/>
                        <a:ext cx="310" cy="172"/>
                        <a:chOff x="2640" y="2736"/>
                        <a:chExt cx="432" cy="240"/>
                      </a:xfrm>
                    </p:grpSpPr>
                    <p:sp>
                      <p:nvSpPr>
                        <p:cNvPr id="99" name="Oval 178">
                          <a:extLst>
                            <a:ext uri="{FF2B5EF4-FFF2-40B4-BE49-F238E27FC236}">
                              <a16:creationId xmlns:a16="http://schemas.microsoft.com/office/drawing/2014/main" id="{C0070899-D11B-4751-A34D-83BBBED6E68B}"/>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100" name="Arc 179">
                          <a:extLst>
                            <a:ext uri="{FF2B5EF4-FFF2-40B4-BE49-F238E27FC236}">
                              <a16:creationId xmlns:a16="http://schemas.microsoft.com/office/drawing/2014/main" id="{A8D7ECCB-77A0-4787-B200-A1C2F561FAAA}"/>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93" name="Group 180">
                        <a:extLst>
                          <a:ext uri="{FF2B5EF4-FFF2-40B4-BE49-F238E27FC236}">
                            <a16:creationId xmlns:a16="http://schemas.microsoft.com/office/drawing/2014/main" id="{BBFC81D0-E7D1-40C4-81B7-BA0D217A5E82}"/>
                          </a:ext>
                        </a:extLst>
                      </p:cNvPr>
                      <p:cNvGrpSpPr>
                        <a:grpSpLocks/>
                      </p:cNvGrpSpPr>
                      <p:nvPr/>
                    </p:nvGrpSpPr>
                    <p:grpSpPr bwMode="auto">
                      <a:xfrm rot="3385634">
                        <a:off x="1515" y="2949"/>
                        <a:ext cx="310" cy="172"/>
                        <a:chOff x="2640" y="2736"/>
                        <a:chExt cx="432" cy="240"/>
                      </a:xfrm>
                    </p:grpSpPr>
                    <p:sp>
                      <p:nvSpPr>
                        <p:cNvPr id="97" name="Oval 181">
                          <a:extLst>
                            <a:ext uri="{FF2B5EF4-FFF2-40B4-BE49-F238E27FC236}">
                              <a16:creationId xmlns:a16="http://schemas.microsoft.com/office/drawing/2014/main" id="{555E7CA6-46EC-4C88-BBA5-6F0000C34219}"/>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98" name="Arc 182">
                          <a:extLst>
                            <a:ext uri="{FF2B5EF4-FFF2-40B4-BE49-F238E27FC236}">
                              <a16:creationId xmlns:a16="http://schemas.microsoft.com/office/drawing/2014/main" id="{C64AF596-4A32-4738-8FC3-AA9E3BB4A496}"/>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94" name="Group 183">
                        <a:extLst>
                          <a:ext uri="{FF2B5EF4-FFF2-40B4-BE49-F238E27FC236}">
                            <a16:creationId xmlns:a16="http://schemas.microsoft.com/office/drawing/2014/main" id="{68F21456-B351-411E-A903-5F107A4F945E}"/>
                          </a:ext>
                        </a:extLst>
                      </p:cNvPr>
                      <p:cNvGrpSpPr>
                        <a:grpSpLocks/>
                      </p:cNvGrpSpPr>
                      <p:nvPr/>
                    </p:nvGrpSpPr>
                    <p:grpSpPr bwMode="auto">
                      <a:xfrm rot="3385634">
                        <a:off x="1515" y="3359"/>
                        <a:ext cx="310" cy="172"/>
                        <a:chOff x="2640" y="2736"/>
                        <a:chExt cx="432" cy="240"/>
                      </a:xfrm>
                    </p:grpSpPr>
                    <p:sp>
                      <p:nvSpPr>
                        <p:cNvPr id="95" name="Oval 184">
                          <a:extLst>
                            <a:ext uri="{FF2B5EF4-FFF2-40B4-BE49-F238E27FC236}">
                              <a16:creationId xmlns:a16="http://schemas.microsoft.com/office/drawing/2014/main" id="{18634FAF-3A7E-482C-99B7-A6CCDE504DE7}"/>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96" name="Arc 185">
                          <a:extLst>
                            <a:ext uri="{FF2B5EF4-FFF2-40B4-BE49-F238E27FC236}">
                              <a16:creationId xmlns:a16="http://schemas.microsoft.com/office/drawing/2014/main" id="{ACC28686-D5A0-44EA-9B94-EF16285B0063}"/>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grpSp>
                  <p:nvGrpSpPr>
                    <p:cNvPr id="57" name="Group 186">
                      <a:extLst>
                        <a:ext uri="{FF2B5EF4-FFF2-40B4-BE49-F238E27FC236}">
                          <a16:creationId xmlns:a16="http://schemas.microsoft.com/office/drawing/2014/main" id="{C954AD0A-025F-4120-8F4C-8DB4C57BB940}"/>
                        </a:ext>
                      </a:extLst>
                    </p:cNvPr>
                    <p:cNvGrpSpPr>
                      <a:grpSpLocks/>
                    </p:cNvGrpSpPr>
                    <p:nvPr/>
                  </p:nvGrpSpPr>
                  <p:grpSpPr bwMode="auto">
                    <a:xfrm>
                      <a:off x="2276" y="2496"/>
                      <a:ext cx="220" cy="1104"/>
                      <a:chOff x="1584" y="2496"/>
                      <a:chExt cx="220" cy="1104"/>
                    </a:xfrm>
                  </p:grpSpPr>
                  <p:grpSp>
                    <p:nvGrpSpPr>
                      <p:cNvPr id="83" name="Group 187">
                        <a:extLst>
                          <a:ext uri="{FF2B5EF4-FFF2-40B4-BE49-F238E27FC236}">
                            <a16:creationId xmlns:a16="http://schemas.microsoft.com/office/drawing/2014/main" id="{312A02AC-C723-460A-939F-9176C02BB8E9}"/>
                          </a:ext>
                        </a:extLst>
                      </p:cNvPr>
                      <p:cNvGrpSpPr>
                        <a:grpSpLocks/>
                      </p:cNvGrpSpPr>
                      <p:nvPr/>
                    </p:nvGrpSpPr>
                    <p:grpSpPr bwMode="auto">
                      <a:xfrm rot="3385634">
                        <a:off x="1563" y="2565"/>
                        <a:ext cx="310" cy="172"/>
                        <a:chOff x="2640" y="2736"/>
                        <a:chExt cx="432" cy="240"/>
                      </a:xfrm>
                    </p:grpSpPr>
                    <p:sp>
                      <p:nvSpPr>
                        <p:cNvPr id="90" name="Oval 188">
                          <a:extLst>
                            <a:ext uri="{FF2B5EF4-FFF2-40B4-BE49-F238E27FC236}">
                              <a16:creationId xmlns:a16="http://schemas.microsoft.com/office/drawing/2014/main" id="{AE52A2C6-73AA-40B0-BDE0-5E2905B4FB16}"/>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91" name="Arc 189">
                          <a:extLst>
                            <a:ext uri="{FF2B5EF4-FFF2-40B4-BE49-F238E27FC236}">
                              <a16:creationId xmlns:a16="http://schemas.microsoft.com/office/drawing/2014/main" id="{8B2D8472-A828-44C6-99F5-73287CCE1043}"/>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84" name="Group 190">
                        <a:extLst>
                          <a:ext uri="{FF2B5EF4-FFF2-40B4-BE49-F238E27FC236}">
                            <a16:creationId xmlns:a16="http://schemas.microsoft.com/office/drawing/2014/main" id="{22810B81-5D05-4F4F-84E3-F4CAD76386C4}"/>
                          </a:ext>
                        </a:extLst>
                      </p:cNvPr>
                      <p:cNvGrpSpPr>
                        <a:grpSpLocks/>
                      </p:cNvGrpSpPr>
                      <p:nvPr/>
                    </p:nvGrpSpPr>
                    <p:grpSpPr bwMode="auto">
                      <a:xfrm rot="3385634">
                        <a:off x="1515" y="2949"/>
                        <a:ext cx="310" cy="172"/>
                        <a:chOff x="2640" y="2736"/>
                        <a:chExt cx="432" cy="240"/>
                      </a:xfrm>
                    </p:grpSpPr>
                    <p:sp>
                      <p:nvSpPr>
                        <p:cNvPr id="88" name="Oval 191">
                          <a:extLst>
                            <a:ext uri="{FF2B5EF4-FFF2-40B4-BE49-F238E27FC236}">
                              <a16:creationId xmlns:a16="http://schemas.microsoft.com/office/drawing/2014/main" id="{B3BCD060-F2F8-4F92-B0B0-6A5C0AF9B843}"/>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89" name="Arc 192">
                          <a:extLst>
                            <a:ext uri="{FF2B5EF4-FFF2-40B4-BE49-F238E27FC236}">
                              <a16:creationId xmlns:a16="http://schemas.microsoft.com/office/drawing/2014/main" id="{9CDDAED5-8D02-4067-A13E-654D04F99B75}"/>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85" name="Group 193">
                        <a:extLst>
                          <a:ext uri="{FF2B5EF4-FFF2-40B4-BE49-F238E27FC236}">
                            <a16:creationId xmlns:a16="http://schemas.microsoft.com/office/drawing/2014/main" id="{8792274B-D65E-4E9A-8CF6-D9D0B73BC300}"/>
                          </a:ext>
                        </a:extLst>
                      </p:cNvPr>
                      <p:cNvGrpSpPr>
                        <a:grpSpLocks/>
                      </p:cNvGrpSpPr>
                      <p:nvPr/>
                    </p:nvGrpSpPr>
                    <p:grpSpPr bwMode="auto">
                      <a:xfrm rot="3385634">
                        <a:off x="1515" y="3359"/>
                        <a:ext cx="310" cy="172"/>
                        <a:chOff x="2640" y="2736"/>
                        <a:chExt cx="432" cy="240"/>
                      </a:xfrm>
                    </p:grpSpPr>
                    <p:sp>
                      <p:nvSpPr>
                        <p:cNvPr id="86" name="Oval 194">
                          <a:extLst>
                            <a:ext uri="{FF2B5EF4-FFF2-40B4-BE49-F238E27FC236}">
                              <a16:creationId xmlns:a16="http://schemas.microsoft.com/office/drawing/2014/main" id="{63B0956C-439F-4F5F-B971-A611CE8AE09E}"/>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87" name="Arc 195">
                          <a:extLst>
                            <a:ext uri="{FF2B5EF4-FFF2-40B4-BE49-F238E27FC236}">
                              <a16:creationId xmlns:a16="http://schemas.microsoft.com/office/drawing/2014/main" id="{907960A5-CFFD-4EBB-BBBD-0F72DBF70E97}"/>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grpSp>
                  <p:nvGrpSpPr>
                    <p:cNvPr id="58" name="Group 196">
                      <a:extLst>
                        <a:ext uri="{FF2B5EF4-FFF2-40B4-BE49-F238E27FC236}">
                          <a16:creationId xmlns:a16="http://schemas.microsoft.com/office/drawing/2014/main" id="{5B359ABD-C325-4E34-B93E-AB47A4EF65F9}"/>
                        </a:ext>
                      </a:extLst>
                    </p:cNvPr>
                    <p:cNvGrpSpPr>
                      <a:grpSpLocks/>
                    </p:cNvGrpSpPr>
                    <p:nvPr/>
                  </p:nvGrpSpPr>
                  <p:grpSpPr bwMode="auto">
                    <a:xfrm>
                      <a:off x="2564" y="2544"/>
                      <a:ext cx="220" cy="1104"/>
                      <a:chOff x="1584" y="2496"/>
                      <a:chExt cx="220" cy="1104"/>
                    </a:xfrm>
                  </p:grpSpPr>
                  <p:grpSp>
                    <p:nvGrpSpPr>
                      <p:cNvPr id="74" name="Group 197">
                        <a:extLst>
                          <a:ext uri="{FF2B5EF4-FFF2-40B4-BE49-F238E27FC236}">
                            <a16:creationId xmlns:a16="http://schemas.microsoft.com/office/drawing/2014/main" id="{4BFF40B3-C5FE-48B1-8581-19C8EC588E8D}"/>
                          </a:ext>
                        </a:extLst>
                      </p:cNvPr>
                      <p:cNvGrpSpPr>
                        <a:grpSpLocks/>
                      </p:cNvGrpSpPr>
                      <p:nvPr/>
                    </p:nvGrpSpPr>
                    <p:grpSpPr bwMode="auto">
                      <a:xfrm rot="3385634">
                        <a:off x="1563" y="2565"/>
                        <a:ext cx="310" cy="172"/>
                        <a:chOff x="2640" y="2736"/>
                        <a:chExt cx="432" cy="240"/>
                      </a:xfrm>
                    </p:grpSpPr>
                    <p:sp>
                      <p:nvSpPr>
                        <p:cNvPr id="81" name="Oval 198">
                          <a:extLst>
                            <a:ext uri="{FF2B5EF4-FFF2-40B4-BE49-F238E27FC236}">
                              <a16:creationId xmlns:a16="http://schemas.microsoft.com/office/drawing/2014/main" id="{42A57624-1BCB-42BD-AF2B-0AD5790E4B1E}"/>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82" name="Arc 199">
                          <a:extLst>
                            <a:ext uri="{FF2B5EF4-FFF2-40B4-BE49-F238E27FC236}">
                              <a16:creationId xmlns:a16="http://schemas.microsoft.com/office/drawing/2014/main" id="{BB720A0C-2673-43D3-8D5F-193164492492}"/>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75" name="Group 200">
                        <a:extLst>
                          <a:ext uri="{FF2B5EF4-FFF2-40B4-BE49-F238E27FC236}">
                            <a16:creationId xmlns:a16="http://schemas.microsoft.com/office/drawing/2014/main" id="{895669A0-2872-4AF0-89AD-3A5BC2F9D330}"/>
                          </a:ext>
                        </a:extLst>
                      </p:cNvPr>
                      <p:cNvGrpSpPr>
                        <a:grpSpLocks/>
                      </p:cNvGrpSpPr>
                      <p:nvPr/>
                    </p:nvGrpSpPr>
                    <p:grpSpPr bwMode="auto">
                      <a:xfrm rot="3385634">
                        <a:off x="1515" y="2949"/>
                        <a:ext cx="310" cy="172"/>
                        <a:chOff x="2640" y="2736"/>
                        <a:chExt cx="432" cy="240"/>
                      </a:xfrm>
                    </p:grpSpPr>
                    <p:sp>
                      <p:nvSpPr>
                        <p:cNvPr id="79" name="Oval 201">
                          <a:extLst>
                            <a:ext uri="{FF2B5EF4-FFF2-40B4-BE49-F238E27FC236}">
                              <a16:creationId xmlns:a16="http://schemas.microsoft.com/office/drawing/2014/main" id="{CB4C2334-4947-4B0B-8A46-E7921ECFCE51}"/>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80" name="Arc 202">
                          <a:extLst>
                            <a:ext uri="{FF2B5EF4-FFF2-40B4-BE49-F238E27FC236}">
                              <a16:creationId xmlns:a16="http://schemas.microsoft.com/office/drawing/2014/main" id="{B7CBA7A0-8108-42B9-A0BB-DEB555F9F687}"/>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76" name="Group 203">
                        <a:extLst>
                          <a:ext uri="{FF2B5EF4-FFF2-40B4-BE49-F238E27FC236}">
                            <a16:creationId xmlns:a16="http://schemas.microsoft.com/office/drawing/2014/main" id="{53194895-63C9-437A-8488-7AA395E0CF6A}"/>
                          </a:ext>
                        </a:extLst>
                      </p:cNvPr>
                      <p:cNvGrpSpPr>
                        <a:grpSpLocks/>
                      </p:cNvGrpSpPr>
                      <p:nvPr/>
                    </p:nvGrpSpPr>
                    <p:grpSpPr bwMode="auto">
                      <a:xfrm rot="3385634">
                        <a:off x="1515" y="3359"/>
                        <a:ext cx="310" cy="172"/>
                        <a:chOff x="2640" y="2736"/>
                        <a:chExt cx="432" cy="240"/>
                      </a:xfrm>
                    </p:grpSpPr>
                    <p:sp>
                      <p:nvSpPr>
                        <p:cNvPr id="77" name="Oval 204">
                          <a:extLst>
                            <a:ext uri="{FF2B5EF4-FFF2-40B4-BE49-F238E27FC236}">
                              <a16:creationId xmlns:a16="http://schemas.microsoft.com/office/drawing/2014/main" id="{1CD55837-CB83-4977-93BB-19AFC4A2553B}"/>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78" name="Arc 205">
                          <a:extLst>
                            <a:ext uri="{FF2B5EF4-FFF2-40B4-BE49-F238E27FC236}">
                              <a16:creationId xmlns:a16="http://schemas.microsoft.com/office/drawing/2014/main" id="{84DFE651-E0CF-4C10-8335-B28DB61C7C25}"/>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grpSp>
                  <p:nvGrpSpPr>
                    <p:cNvPr id="59" name="Group 206">
                      <a:extLst>
                        <a:ext uri="{FF2B5EF4-FFF2-40B4-BE49-F238E27FC236}">
                          <a16:creationId xmlns:a16="http://schemas.microsoft.com/office/drawing/2014/main" id="{DE9CA607-B088-44D9-B6DA-96A1F32C91BD}"/>
                        </a:ext>
                      </a:extLst>
                    </p:cNvPr>
                    <p:cNvGrpSpPr>
                      <a:grpSpLocks/>
                    </p:cNvGrpSpPr>
                    <p:nvPr/>
                  </p:nvGrpSpPr>
                  <p:grpSpPr bwMode="auto">
                    <a:xfrm rot="3385634">
                      <a:off x="2907" y="2565"/>
                      <a:ext cx="310" cy="172"/>
                      <a:chOff x="2640" y="2736"/>
                      <a:chExt cx="432" cy="240"/>
                    </a:xfrm>
                  </p:grpSpPr>
                  <p:sp>
                    <p:nvSpPr>
                      <p:cNvPr id="72" name="Oval 207">
                        <a:extLst>
                          <a:ext uri="{FF2B5EF4-FFF2-40B4-BE49-F238E27FC236}">
                            <a16:creationId xmlns:a16="http://schemas.microsoft.com/office/drawing/2014/main" id="{8FCBDC66-56A6-420B-9389-A73E76596BC5}"/>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73" name="Arc 208">
                        <a:extLst>
                          <a:ext uri="{FF2B5EF4-FFF2-40B4-BE49-F238E27FC236}">
                            <a16:creationId xmlns:a16="http://schemas.microsoft.com/office/drawing/2014/main" id="{694169AB-8B9E-4494-977D-CED2EB3A4A37}"/>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60" name="Group 209">
                      <a:extLst>
                        <a:ext uri="{FF2B5EF4-FFF2-40B4-BE49-F238E27FC236}">
                          <a16:creationId xmlns:a16="http://schemas.microsoft.com/office/drawing/2014/main" id="{E11D8B5D-F936-4C39-A988-0E4EB0C244AF}"/>
                        </a:ext>
                      </a:extLst>
                    </p:cNvPr>
                    <p:cNvGrpSpPr>
                      <a:grpSpLocks/>
                    </p:cNvGrpSpPr>
                    <p:nvPr/>
                  </p:nvGrpSpPr>
                  <p:grpSpPr bwMode="auto">
                    <a:xfrm rot="3385634">
                      <a:off x="2831" y="2949"/>
                      <a:ext cx="310" cy="172"/>
                      <a:chOff x="2640" y="2736"/>
                      <a:chExt cx="432" cy="240"/>
                    </a:xfrm>
                  </p:grpSpPr>
                  <p:sp>
                    <p:nvSpPr>
                      <p:cNvPr id="70" name="Oval 210">
                        <a:extLst>
                          <a:ext uri="{FF2B5EF4-FFF2-40B4-BE49-F238E27FC236}">
                            <a16:creationId xmlns:a16="http://schemas.microsoft.com/office/drawing/2014/main" id="{0E16B697-2B60-49C6-A8F7-EC60CBBCC5B4}"/>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71" name="Arc 211">
                        <a:extLst>
                          <a:ext uri="{FF2B5EF4-FFF2-40B4-BE49-F238E27FC236}">
                            <a16:creationId xmlns:a16="http://schemas.microsoft.com/office/drawing/2014/main" id="{EE333730-D566-4C8F-BFAA-A7D9536526DC}"/>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61" name="Group 212">
                      <a:extLst>
                        <a:ext uri="{FF2B5EF4-FFF2-40B4-BE49-F238E27FC236}">
                          <a16:creationId xmlns:a16="http://schemas.microsoft.com/office/drawing/2014/main" id="{5439B8F7-A279-476B-A2F1-9F28FEF2EAA7}"/>
                        </a:ext>
                      </a:extLst>
                    </p:cNvPr>
                    <p:cNvGrpSpPr>
                      <a:grpSpLocks/>
                    </p:cNvGrpSpPr>
                    <p:nvPr/>
                  </p:nvGrpSpPr>
                  <p:grpSpPr bwMode="auto">
                    <a:xfrm rot="3385634">
                      <a:off x="2879" y="3311"/>
                      <a:ext cx="310" cy="172"/>
                      <a:chOff x="2640" y="2736"/>
                      <a:chExt cx="432" cy="240"/>
                    </a:xfrm>
                  </p:grpSpPr>
                  <p:sp>
                    <p:nvSpPr>
                      <p:cNvPr id="68" name="Oval 213">
                        <a:extLst>
                          <a:ext uri="{FF2B5EF4-FFF2-40B4-BE49-F238E27FC236}">
                            <a16:creationId xmlns:a16="http://schemas.microsoft.com/office/drawing/2014/main" id="{6DD97682-0EA2-4077-9017-AAC3DFDED2D0}"/>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69" name="Arc 214">
                        <a:extLst>
                          <a:ext uri="{FF2B5EF4-FFF2-40B4-BE49-F238E27FC236}">
                            <a16:creationId xmlns:a16="http://schemas.microsoft.com/office/drawing/2014/main" id="{7E55C0CC-1D93-4B08-9E9E-2ADF2670C02B}"/>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62" name="Group 215">
                      <a:extLst>
                        <a:ext uri="{FF2B5EF4-FFF2-40B4-BE49-F238E27FC236}">
                          <a16:creationId xmlns:a16="http://schemas.microsoft.com/office/drawing/2014/main" id="{31C983D1-03DB-453F-9DEC-745480BD20DC}"/>
                        </a:ext>
                      </a:extLst>
                    </p:cNvPr>
                    <p:cNvGrpSpPr>
                      <a:grpSpLocks/>
                    </p:cNvGrpSpPr>
                    <p:nvPr/>
                  </p:nvGrpSpPr>
                  <p:grpSpPr bwMode="auto">
                    <a:xfrm rot="3385634">
                      <a:off x="3071" y="3167"/>
                      <a:ext cx="310" cy="172"/>
                      <a:chOff x="2640" y="2736"/>
                      <a:chExt cx="432" cy="240"/>
                    </a:xfrm>
                  </p:grpSpPr>
                  <p:sp>
                    <p:nvSpPr>
                      <p:cNvPr id="66" name="Oval 216">
                        <a:extLst>
                          <a:ext uri="{FF2B5EF4-FFF2-40B4-BE49-F238E27FC236}">
                            <a16:creationId xmlns:a16="http://schemas.microsoft.com/office/drawing/2014/main" id="{1CB6D423-1A17-409F-9A26-C0F16E6734FD}"/>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67" name="Arc 217">
                        <a:extLst>
                          <a:ext uri="{FF2B5EF4-FFF2-40B4-BE49-F238E27FC236}">
                            <a16:creationId xmlns:a16="http://schemas.microsoft.com/office/drawing/2014/main" id="{64B52CA3-022B-48C5-A932-8B90E890DF3A}"/>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nvGrpSpPr>
                    <p:cNvPr id="63" name="Group 218">
                      <a:extLst>
                        <a:ext uri="{FF2B5EF4-FFF2-40B4-BE49-F238E27FC236}">
                          <a16:creationId xmlns:a16="http://schemas.microsoft.com/office/drawing/2014/main" id="{E2E2CD3F-DC42-4F1B-8424-898C7597BF2B}"/>
                        </a:ext>
                      </a:extLst>
                    </p:cNvPr>
                    <p:cNvGrpSpPr>
                      <a:grpSpLocks/>
                    </p:cNvGrpSpPr>
                    <p:nvPr/>
                  </p:nvGrpSpPr>
                  <p:grpSpPr bwMode="auto">
                    <a:xfrm rot="3385634">
                      <a:off x="3071" y="2783"/>
                      <a:ext cx="310" cy="172"/>
                      <a:chOff x="2640" y="2736"/>
                      <a:chExt cx="432" cy="240"/>
                    </a:xfrm>
                  </p:grpSpPr>
                  <p:sp>
                    <p:nvSpPr>
                      <p:cNvPr id="64" name="Oval 219">
                        <a:extLst>
                          <a:ext uri="{FF2B5EF4-FFF2-40B4-BE49-F238E27FC236}">
                            <a16:creationId xmlns:a16="http://schemas.microsoft.com/office/drawing/2014/main" id="{329A8C39-F695-49C5-94CA-E92C01DC127A}"/>
                          </a:ext>
                        </a:extLst>
                      </p:cNvPr>
                      <p:cNvSpPr>
                        <a:spLocks noChangeArrowheads="1"/>
                      </p:cNvSpPr>
                      <p:nvPr/>
                    </p:nvSpPr>
                    <p:spPr bwMode="auto">
                      <a:xfrm rot="2062820">
                        <a:off x="2640" y="2736"/>
                        <a:ext cx="432" cy="24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65" name="Arc 220">
                        <a:extLst>
                          <a:ext uri="{FF2B5EF4-FFF2-40B4-BE49-F238E27FC236}">
                            <a16:creationId xmlns:a16="http://schemas.microsoft.com/office/drawing/2014/main" id="{AD9A904C-3515-4C07-A714-262DAD0FB128}"/>
                          </a:ext>
                        </a:extLst>
                      </p:cNvPr>
                      <p:cNvSpPr>
                        <a:spLocks/>
                      </p:cNvSpPr>
                      <p:nvPr/>
                    </p:nvSpPr>
                    <p:spPr bwMode="auto">
                      <a:xfrm rot="2670867">
                        <a:off x="2688" y="2928"/>
                        <a:ext cx="93" cy="48"/>
                      </a:xfrm>
                      <a:custGeom>
                        <a:avLst/>
                        <a:gdLst>
                          <a:gd name="T0" fmla="*/ 0 w 3213"/>
                          <a:gd name="T1" fmla="*/ 0 h 21600"/>
                          <a:gd name="T2" fmla="*/ 0 w 3213"/>
                          <a:gd name="T3" fmla="*/ 0 h 21600"/>
                          <a:gd name="T4" fmla="*/ 0 w 3213"/>
                          <a:gd name="T5" fmla="*/ 0 h 21600"/>
                          <a:gd name="T6" fmla="*/ 0 60000 65536"/>
                          <a:gd name="T7" fmla="*/ 0 60000 65536"/>
                          <a:gd name="T8" fmla="*/ 0 60000 65536"/>
                          <a:gd name="T9" fmla="*/ 0 w 3213"/>
                          <a:gd name="T10" fmla="*/ 0 h 21600"/>
                          <a:gd name="T11" fmla="*/ 3213 w 3213"/>
                          <a:gd name="T12" fmla="*/ 21600 h 21600"/>
                        </a:gdLst>
                        <a:ahLst/>
                        <a:cxnLst>
                          <a:cxn ang="T6">
                            <a:pos x="T0" y="T1"/>
                          </a:cxn>
                          <a:cxn ang="T7">
                            <a:pos x="T2" y="T3"/>
                          </a:cxn>
                          <a:cxn ang="T8">
                            <a:pos x="T4" y="T5"/>
                          </a:cxn>
                        </a:cxnLst>
                        <a:rect l="T9" t="T10" r="T11" b="T12"/>
                        <a:pathLst>
                          <a:path w="3213" h="21600" fill="none" extrusionOk="0">
                            <a:moveTo>
                              <a:pt x="-1" y="0"/>
                            </a:moveTo>
                            <a:cubicBezTo>
                              <a:pt x="1075" y="0"/>
                              <a:pt x="2149" y="80"/>
                              <a:pt x="3212" y="240"/>
                            </a:cubicBezTo>
                          </a:path>
                          <a:path w="3213" h="21600" stroke="0" extrusionOk="0">
                            <a:moveTo>
                              <a:pt x="-1" y="0"/>
                            </a:moveTo>
                            <a:cubicBezTo>
                              <a:pt x="1075" y="0"/>
                              <a:pt x="2149" y="80"/>
                              <a:pt x="3212" y="240"/>
                            </a:cubicBezTo>
                            <a:lnTo>
                              <a:pt x="0" y="21600"/>
                            </a:lnTo>
                            <a:lnTo>
                              <a:pt x="-1" y="0"/>
                            </a:lnTo>
                            <a:close/>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grpSp>
              </p:grpSp>
              <p:sp>
                <p:nvSpPr>
                  <p:cNvPr id="52" name="Line 221">
                    <a:extLst>
                      <a:ext uri="{FF2B5EF4-FFF2-40B4-BE49-F238E27FC236}">
                        <a16:creationId xmlns:a16="http://schemas.microsoft.com/office/drawing/2014/main" id="{3F598451-84A1-4D20-A5DC-0A6B8A8B97AA}"/>
                      </a:ext>
                    </a:extLst>
                  </p:cNvPr>
                  <p:cNvSpPr>
                    <a:spLocks noChangeShapeType="1"/>
                  </p:cNvSpPr>
                  <p:nvPr/>
                </p:nvSpPr>
                <p:spPr bwMode="auto">
                  <a:xfrm>
                    <a:off x="3275" y="1570"/>
                    <a:ext cx="875" cy="0"/>
                  </a:xfrm>
                  <a:prstGeom prst="line">
                    <a:avLst/>
                  </a:prstGeom>
                  <a:noFill/>
                  <a:ln w="3810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800"/>
                  </a:p>
                </p:txBody>
              </p:sp>
            </p:grpSp>
            <mc:AlternateContent xmlns:mc="http://schemas.openxmlformats.org/markup-compatibility/2006" xmlns:a14="http://schemas.microsoft.com/office/drawing/2010/main">
              <mc:Choice Requires="a14">
                <p:sp>
                  <p:nvSpPr>
                    <p:cNvPr id="50" name="Object 2">
                      <a:extLst>
                        <a:ext uri="{FF2B5EF4-FFF2-40B4-BE49-F238E27FC236}">
                          <a16:creationId xmlns:a16="http://schemas.microsoft.com/office/drawing/2014/main" id="{6DA57EED-0D3A-40F6-AFC8-D1FF338096A0}"/>
                        </a:ext>
                      </a:extLst>
                    </p:cNvPr>
                    <p:cNvSpPr txBox="1"/>
                    <p:nvPr/>
                  </p:nvSpPr>
                  <p:spPr bwMode="auto">
                    <a:xfrm>
                      <a:off x="2744" y="1253"/>
                      <a:ext cx="184" cy="245"/>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acc>
                              <m:accPr>
                                <m:chr m:val="⃗"/>
                                <m:ctrlPr>
                                  <a:rPr lang="en-US" sz="2600" i="1">
                                    <a:solidFill>
                                      <a:srgbClr val="000000"/>
                                    </a:solidFill>
                                    <a:latin typeface="Cambria Math" panose="02040503050406030204" pitchFamily="18" charset="0"/>
                                  </a:rPr>
                                </m:ctrlPr>
                              </m:accPr>
                              <m:e>
                                <m:r>
                                  <a:rPr lang="en-US" sz="2600" i="1">
                                    <a:solidFill>
                                      <a:srgbClr val="000000"/>
                                    </a:solidFill>
                                    <a:latin typeface="Cambria Math" panose="02040503050406030204" pitchFamily="18" charset="0"/>
                                  </a:rPr>
                                  <m:t>𝐵</m:t>
                                </m:r>
                              </m:e>
                            </m:acc>
                          </m:oMath>
                        </m:oMathPara>
                      </a14:m>
                      <a:endParaRPr lang="en-US" sz="2600"/>
                    </a:p>
                  </p:txBody>
                </p:sp>
              </mc:Choice>
              <mc:Fallback xmlns="">
                <p:sp>
                  <p:nvSpPr>
                    <p:cNvPr id="165" name="Object 2">
                      <a:extLst>
                        <a:ext uri="{FF2B5EF4-FFF2-40B4-BE49-F238E27FC236}">
                          <a16:creationId xmlns:a16="http://schemas.microsoft.com/office/drawing/2014/main" id="{61E3A9B0-9AB3-4AD7-B931-4040B5F0DAFF}"/>
                        </a:ext>
                      </a:extLst>
                    </p:cNvPr>
                    <p:cNvSpPr txBox="1">
                      <a:spLocks noRot="1" noChangeAspect="1" noMove="1" noResize="1" noEditPoints="1" noAdjustHandles="1" noChangeArrowheads="1" noChangeShapeType="1" noTextEdit="1"/>
                    </p:cNvSpPr>
                    <p:nvPr/>
                  </p:nvSpPr>
                  <p:spPr bwMode="auto">
                    <a:xfrm>
                      <a:off x="2744" y="1253"/>
                      <a:ext cx="184" cy="245"/>
                    </a:xfrm>
                    <a:prstGeom prst="rect">
                      <a:avLst/>
                    </a:prstGeom>
                    <a:blipFill>
                      <a:blip r:embed="rId6"/>
                      <a:stretch>
                        <a:fillRect r="-59375" b="-61905"/>
                      </a:stretch>
                    </a:blipFill>
                    <a:ln>
                      <a:noFill/>
                    </a:ln>
                    <a:extLst/>
                  </p:spPr>
                  <p:txBody>
                    <a:bodyPr/>
                    <a:lstStyle/>
                    <a:p>
                      <a:r>
                        <a:rPr lang="en-US">
                          <a:noFill/>
                        </a:rPr>
                        <a:t> </a:t>
                      </a:r>
                    </a:p>
                  </p:txBody>
                </p:sp>
              </mc:Fallback>
            </mc:AlternateContent>
          </p:grpSp>
          <p:grpSp>
            <p:nvGrpSpPr>
              <p:cNvPr id="20" name="Group 223">
                <a:extLst>
                  <a:ext uri="{FF2B5EF4-FFF2-40B4-BE49-F238E27FC236}">
                    <a16:creationId xmlns:a16="http://schemas.microsoft.com/office/drawing/2014/main" id="{863352FA-6513-447A-BA0E-3A489C86D9EA}"/>
                  </a:ext>
                </a:extLst>
              </p:cNvPr>
              <p:cNvGrpSpPr>
                <a:grpSpLocks/>
              </p:cNvGrpSpPr>
              <p:nvPr/>
            </p:nvGrpSpPr>
            <p:grpSpPr bwMode="auto">
              <a:xfrm>
                <a:off x="6083300" y="4076700"/>
                <a:ext cx="2103438" cy="2001838"/>
                <a:chOff x="4186" y="944"/>
                <a:chExt cx="1325" cy="1261"/>
              </a:xfrm>
            </p:grpSpPr>
            <p:grpSp>
              <p:nvGrpSpPr>
                <p:cNvPr id="21" name="Group 224">
                  <a:extLst>
                    <a:ext uri="{FF2B5EF4-FFF2-40B4-BE49-F238E27FC236}">
                      <a16:creationId xmlns:a16="http://schemas.microsoft.com/office/drawing/2014/main" id="{730E3D70-DCF3-4050-877B-7220A829EE50}"/>
                    </a:ext>
                  </a:extLst>
                </p:cNvPr>
                <p:cNvGrpSpPr>
                  <a:grpSpLocks/>
                </p:cNvGrpSpPr>
                <p:nvPr/>
              </p:nvGrpSpPr>
              <p:grpSpPr bwMode="auto">
                <a:xfrm rot="-2094931">
                  <a:off x="4386" y="990"/>
                  <a:ext cx="408" cy="408"/>
                  <a:chOff x="4422" y="1071"/>
                  <a:chExt cx="363" cy="363"/>
                </a:xfrm>
              </p:grpSpPr>
              <p:sp>
                <p:nvSpPr>
                  <p:cNvPr id="46" name="Oval 225">
                    <a:extLst>
                      <a:ext uri="{FF2B5EF4-FFF2-40B4-BE49-F238E27FC236}">
                        <a16:creationId xmlns:a16="http://schemas.microsoft.com/office/drawing/2014/main" id="{CB406439-C224-47E7-AD98-61FE1A9A1986}"/>
                      </a:ext>
                    </a:extLst>
                  </p:cNvPr>
                  <p:cNvSpPr>
                    <a:spLocks noChangeArrowheads="1"/>
                  </p:cNvSpPr>
                  <p:nvPr/>
                </p:nvSpPr>
                <p:spPr bwMode="auto">
                  <a:xfrm>
                    <a:off x="4422" y="1071"/>
                    <a:ext cx="363" cy="36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47" name="Line 226">
                    <a:extLst>
                      <a:ext uri="{FF2B5EF4-FFF2-40B4-BE49-F238E27FC236}">
                        <a16:creationId xmlns:a16="http://schemas.microsoft.com/office/drawing/2014/main" id="{A43DA2C1-4FCE-4845-80E0-C7EBB08BC49D}"/>
                      </a:ext>
                    </a:extLst>
                  </p:cNvPr>
                  <p:cNvSpPr>
                    <a:spLocks noChangeShapeType="1"/>
                  </p:cNvSpPr>
                  <p:nvPr/>
                </p:nvSpPr>
                <p:spPr bwMode="auto">
                  <a:xfrm>
                    <a:off x="4558" y="1071"/>
                    <a:ext cx="91"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sp>
                <p:nvSpPr>
                  <p:cNvPr id="48" name="Line 227">
                    <a:extLst>
                      <a:ext uri="{FF2B5EF4-FFF2-40B4-BE49-F238E27FC236}">
                        <a16:creationId xmlns:a16="http://schemas.microsoft.com/office/drawing/2014/main" id="{F9F2D1B0-154C-43D4-9DD8-2C4F36C246FB}"/>
                      </a:ext>
                    </a:extLst>
                  </p:cNvPr>
                  <p:cNvSpPr>
                    <a:spLocks noChangeShapeType="1"/>
                  </p:cNvSpPr>
                  <p:nvPr/>
                </p:nvSpPr>
                <p:spPr bwMode="auto">
                  <a:xfrm flipH="1">
                    <a:off x="4576" y="1434"/>
                    <a:ext cx="90"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22" name="Group 228">
                  <a:extLst>
                    <a:ext uri="{FF2B5EF4-FFF2-40B4-BE49-F238E27FC236}">
                      <a16:creationId xmlns:a16="http://schemas.microsoft.com/office/drawing/2014/main" id="{DBD633A9-3EE6-4BAE-A3FF-26AFCF47564C}"/>
                    </a:ext>
                  </a:extLst>
                </p:cNvPr>
                <p:cNvGrpSpPr>
                  <a:grpSpLocks/>
                </p:cNvGrpSpPr>
                <p:nvPr/>
              </p:nvGrpSpPr>
              <p:grpSpPr bwMode="auto">
                <a:xfrm rot="-6095797">
                  <a:off x="4186" y="1407"/>
                  <a:ext cx="408" cy="408"/>
                  <a:chOff x="4422" y="1071"/>
                  <a:chExt cx="363" cy="363"/>
                </a:xfrm>
              </p:grpSpPr>
              <p:sp>
                <p:nvSpPr>
                  <p:cNvPr id="43" name="Oval 229">
                    <a:extLst>
                      <a:ext uri="{FF2B5EF4-FFF2-40B4-BE49-F238E27FC236}">
                        <a16:creationId xmlns:a16="http://schemas.microsoft.com/office/drawing/2014/main" id="{94207EA1-D702-4139-9EA5-7767C52BDC83}"/>
                      </a:ext>
                    </a:extLst>
                  </p:cNvPr>
                  <p:cNvSpPr>
                    <a:spLocks noChangeArrowheads="1"/>
                  </p:cNvSpPr>
                  <p:nvPr/>
                </p:nvSpPr>
                <p:spPr bwMode="auto">
                  <a:xfrm>
                    <a:off x="4422" y="1071"/>
                    <a:ext cx="363" cy="36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44" name="Line 230">
                    <a:extLst>
                      <a:ext uri="{FF2B5EF4-FFF2-40B4-BE49-F238E27FC236}">
                        <a16:creationId xmlns:a16="http://schemas.microsoft.com/office/drawing/2014/main" id="{B2CDB1C1-B7C9-4238-9E76-EF0ECFC8CCE2}"/>
                      </a:ext>
                    </a:extLst>
                  </p:cNvPr>
                  <p:cNvSpPr>
                    <a:spLocks noChangeShapeType="1"/>
                  </p:cNvSpPr>
                  <p:nvPr/>
                </p:nvSpPr>
                <p:spPr bwMode="auto">
                  <a:xfrm>
                    <a:off x="4558" y="1071"/>
                    <a:ext cx="91"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sp>
                <p:nvSpPr>
                  <p:cNvPr id="45" name="Line 231">
                    <a:extLst>
                      <a:ext uri="{FF2B5EF4-FFF2-40B4-BE49-F238E27FC236}">
                        <a16:creationId xmlns:a16="http://schemas.microsoft.com/office/drawing/2014/main" id="{9D1BD646-CEC7-4E0C-A148-6544AE00C931}"/>
                      </a:ext>
                    </a:extLst>
                  </p:cNvPr>
                  <p:cNvSpPr>
                    <a:spLocks noChangeShapeType="1"/>
                  </p:cNvSpPr>
                  <p:nvPr/>
                </p:nvSpPr>
                <p:spPr bwMode="auto">
                  <a:xfrm flipH="1">
                    <a:off x="4576" y="1434"/>
                    <a:ext cx="90"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23" name="Group 232">
                  <a:extLst>
                    <a:ext uri="{FF2B5EF4-FFF2-40B4-BE49-F238E27FC236}">
                      <a16:creationId xmlns:a16="http://schemas.microsoft.com/office/drawing/2014/main" id="{18DBB501-7D5E-40EB-8A21-BCCC69970F1F}"/>
                    </a:ext>
                  </a:extLst>
                </p:cNvPr>
                <p:cNvGrpSpPr>
                  <a:grpSpLocks/>
                </p:cNvGrpSpPr>
                <p:nvPr/>
              </p:nvGrpSpPr>
              <p:grpSpPr bwMode="auto">
                <a:xfrm rot="695818">
                  <a:off x="4839" y="944"/>
                  <a:ext cx="408" cy="408"/>
                  <a:chOff x="4422" y="1071"/>
                  <a:chExt cx="363" cy="363"/>
                </a:xfrm>
              </p:grpSpPr>
              <p:sp>
                <p:nvSpPr>
                  <p:cNvPr id="40" name="Oval 233">
                    <a:extLst>
                      <a:ext uri="{FF2B5EF4-FFF2-40B4-BE49-F238E27FC236}">
                        <a16:creationId xmlns:a16="http://schemas.microsoft.com/office/drawing/2014/main" id="{5D4C9A13-10F0-4A22-A862-DC52148A6AD6}"/>
                      </a:ext>
                    </a:extLst>
                  </p:cNvPr>
                  <p:cNvSpPr>
                    <a:spLocks noChangeArrowheads="1"/>
                  </p:cNvSpPr>
                  <p:nvPr/>
                </p:nvSpPr>
                <p:spPr bwMode="auto">
                  <a:xfrm>
                    <a:off x="4422" y="1071"/>
                    <a:ext cx="363" cy="36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41" name="Line 234">
                    <a:extLst>
                      <a:ext uri="{FF2B5EF4-FFF2-40B4-BE49-F238E27FC236}">
                        <a16:creationId xmlns:a16="http://schemas.microsoft.com/office/drawing/2014/main" id="{168094FA-B9D3-4F97-8523-46A42F090798}"/>
                      </a:ext>
                    </a:extLst>
                  </p:cNvPr>
                  <p:cNvSpPr>
                    <a:spLocks noChangeShapeType="1"/>
                  </p:cNvSpPr>
                  <p:nvPr/>
                </p:nvSpPr>
                <p:spPr bwMode="auto">
                  <a:xfrm>
                    <a:off x="4558" y="1071"/>
                    <a:ext cx="91"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sp>
                <p:nvSpPr>
                  <p:cNvPr id="42" name="Line 235">
                    <a:extLst>
                      <a:ext uri="{FF2B5EF4-FFF2-40B4-BE49-F238E27FC236}">
                        <a16:creationId xmlns:a16="http://schemas.microsoft.com/office/drawing/2014/main" id="{7A202BDA-E89A-4497-AB59-29F1E4EB8B36}"/>
                      </a:ext>
                    </a:extLst>
                  </p:cNvPr>
                  <p:cNvSpPr>
                    <a:spLocks noChangeShapeType="1"/>
                  </p:cNvSpPr>
                  <p:nvPr/>
                </p:nvSpPr>
                <p:spPr bwMode="auto">
                  <a:xfrm flipH="1">
                    <a:off x="4576" y="1434"/>
                    <a:ext cx="90"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24" name="Group 236">
                  <a:extLst>
                    <a:ext uri="{FF2B5EF4-FFF2-40B4-BE49-F238E27FC236}">
                      <a16:creationId xmlns:a16="http://schemas.microsoft.com/office/drawing/2014/main" id="{0C209B25-371B-444E-81BF-7FBC79FCE17F}"/>
                    </a:ext>
                  </a:extLst>
                </p:cNvPr>
                <p:cNvGrpSpPr>
                  <a:grpSpLocks/>
                </p:cNvGrpSpPr>
                <p:nvPr/>
              </p:nvGrpSpPr>
              <p:grpSpPr bwMode="auto">
                <a:xfrm rot="5400000">
                  <a:off x="5103" y="1343"/>
                  <a:ext cx="408" cy="408"/>
                  <a:chOff x="4422" y="1071"/>
                  <a:chExt cx="363" cy="363"/>
                </a:xfrm>
              </p:grpSpPr>
              <p:sp>
                <p:nvSpPr>
                  <p:cNvPr id="37" name="Oval 237">
                    <a:extLst>
                      <a:ext uri="{FF2B5EF4-FFF2-40B4-BE49-F238E27FC236}">
                        <a16:creationId xmlns:a16="http://schemas.microsoft.com/office/drawing/2014/main" id="{2E963F9A-B60A-40DD-BDCC-918FB72AA74C}"/>
                      </a:ext>
                    </a:extLst>
                  </p:cNvPr>
                  <p:cNvSpPr>
                    <a:spLocks noChangeArrowheads="1"/>
                  </p:cNvSpPr>
                  <p:nvPr/>
                </p:nvSpPr>
                <p:spPr bwMode="auto">
                  <a:xfrm>
                    <a:off x="4422" y="1071"/>
                    <a:ext cx="363" cy="36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8" name="Line 238">
                    <a:extLst>
                      <a:ext uri="{FF2B5EF4-FFF2-40B4-BE49-F238E27FC236}">
                        <a16:creationId xmlns:a16="http://schemas.microsoft.com/office/drawing/2014/main" id="{39342A1B-F9AD-4339-B903-03A6862E4F01}"/>
                      </a:ext>
                    </a:extLst>
                  </p:cNvPr>
                  <p:cNvSpPr>
                    <a:spLocks noChangeShapeType="1"/>
                  </p:cNvSpPr>
                  <p:nvPr/>
                </p:nvSpPr>
                <p:spPr bwMode="auto">
                  <a:xfrm>
                    <a:off x="4558" y="1071"/>
                    <a:ext cx="91"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sp>
                <p:nvSpPr>
                  <p:cNvPr id="39" name="Line 239">
                    <a:extLst>
                      <a:ext uri="{FF2B5EF4-FFF2-40B4-BE49-F238E27FC236}">
                        <a16:creationId xmlns:a16="http://schemas.microsoft.com/office/drawing/2014/main" id="{EFB10041-5FC7-4A14-9506-2751FAD09B40}"/>
                      </a:ext>
                    </a:extLst>
                  </p:cNvPr>
                  <p:cNvSpPr>
                    <a:spLocks noChangeShapeType="1"/>
                  </p:cNvSpPr>
                  <p:nvPr/>
                </p:nvSpPr>
                <p:spPr bwMode="auto">
                  <a:xfrm flipH="1">
                    <a:off x="4576" y="1434"/>
                    <a:ext cx="90"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25" name="Group 240">
                  <a:extLst>
                    <a:ext uri="{FF2B5EF4-FFF2-40B4-BE49-F238E27FC236}">
                      <a16:creationId xmlns:a16="http://schemas.microsoft.com/office/drawing/2014/main" id="{5072D086-7B99-4A5C-8C8C-BEF3D1A560C4}"/>
                    </a:ext>
                  </a:extLst>
                </p:cNvPr>
                <p:cNvGrpSpPr>
                  <a:grpSpLocks/>
                </p:cNvGrpSpPr>
                <p:nvPr/>
              </p:nvGrpSpPr>
              <p:grpSpPr bwMode="auto">
                <a:xfrm rot="-1250533">
                  <a:off x="4922" y="1752"/>
                  <a:ext cx="408" cy="408"/>
                  <a:chOff x="4422" y="1071"/>
                  <a:chExt cx="363" cy="363"/>
                </a:xfrm>
              </p:grpSpPr>
              <p:sp>
                <p:nvSpPr>
                  <p:cNvPr id="34" name="Oval 241">
                    <a:extLst>
                      <a:ext uri="{FF2B5EF4-FFF2-40B4-BE49-F238E27FC236}">
                        <a16:creationId xmlns:a16="http://schemas.microsoft.com/office/drawing/2014/main" id="{67C8F53E-0A9B-4120-A469-207A5444D1AE}"/>
                      </a:ext>
                    </a:extLst>
                  </p:cNvPr>
                  <p:cNvSpPr>
                    <a:spLocks noChangeArrowheads="1"/>
                  </p:cNvSpPr>
                  <p:nvPr/>
                </p:nvSpPr>
                <p:spPr bwMode="auto">
                  <a:xfrm>
                    <a:off x="4422" y="1071"/>
                    <a:ext cx="363" cy="36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5" name="Line 242">
                    <a:extLst>
                      <a:ext uri="{FF2B5EF4-FFF2-40B4-BE49-F238E27FC236}">
                        <a16:creationId xmlns:a16="http://schemas.microsoft.com/office/drawing/2014/main" id="{44C8E458-24B2-43FB-BBE2-5013AF7AF551}"/>
                      </a:ext>
                    </a:extLst>
                  </p:cNvPr>
                  <p:cNvSpPr>
                    <a:spLocks noChangeShapeType="1"/>
                  </p:cNvSpPr>
                  <p:nvPr/>
                </p:nvSpPr>
                <p:spPr bwMode="auto">
                  <a:xfrm>
                    <a:off x="4558" y="1071"/>
                    <a:ext cx="91"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sp>
                <p:nvSpPr>
                  <p:cNvPr id="36" name="Line 243">
                    <a:extLst>
                      <a:ext uri="{FF2B5EF4-FFF2-40B4-BE49-F238E27FC236}">
                        <a16:creationId xmlns:a16="http://schemas.microsoft.com/office/drawing/2014/main" id="{29BC318A-C7A5-4BDF-B586-2A2C9E02CF84}"/>
                      </a:ext>
                    </a:extLst>
                  </p:cNvPr>
                  <p:cNvSpPr>
                    <a:spLocks noChangeShapeType="1"/>
                  </p:cNvSpPr>
                  <p:nvPr/>
                </p:nvSpPr>
                <p:spPr bwMode="auto">
                  <a:xfrm flipH="1">
                    <a:off x="4576" y="1434"/>
                    <a:ext cx="90"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26" name="Group 244">
                  <a:extLst>
                    <a:ext uri="{FF2B5EF4-FFF2-40B4-BE49-F238E27FC236}">
                      <a16:creationId xmlns:a16="http://schemas.microsoft.com/office/drawing/2014/main" id="{738DA278-F73A-4A57-A714-79D63AC51C5E}"/>
                    </a:ext>
                  </a:extLst>
                </p:cNvPr>
                <p:cNvGrpSpPr>
                  <a:grpSpLocks/>
                </p:cNvGrpSpPr>
                <p:nvPr/>
              </p:nvGrpSpPr>
              <p:grpSpPr bwMode="auto">
                <a:xfrm rot="-914573">
                  <a:off x="4649" y="1344"/>
                  <a:ext cx="408" cy="408"/>
                  <a:chOff x="4422" y="1071"/>
                  <a:chExt cx="363" cy="363"/>
                </a:xfrm>
              </p:grpSpPr>
              <p:sp>
                <p:nvSpPr>
                  <p:cNvPr id="31" name="Oval 245">
                    <a:extLst>
                      <a:ext uri="{FF2B5EF4-FFF2-40B4-BE49-F238E27FC236}">
                        <a16:creationId xmlns:a16="http://schemas.microsoft.com/office/drawing/2014/main" id="{465DEBC9-8F90-4DB4-9091-42440239DF7D}"/>
                      </a:ext>
                    </a:extLst>
                  </p:cNvPr>
                  <p:cNvSpPr>
                    <a:spLocks noChangeArrowheads="1"/>
                  </p:cNvSpPr>
                  <p:nvPr/>
                </p:nvSpPr>
                <p:spPr bwMode="auto">
                  <a:xfrm>
                    <a:off x="4422" y="1071"/>
                    <a:ext cx="363" cy="36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2" name="Line 246">
                    <a:extLst>
                      <a:ext uri="{FF2B5EF4-FFF2-40B4-BE49-F238E27FC236}">
                        <a16:creationId xmlns:a16="http://schemas.microsoft.com/office/drawing/2014/main" id="{9FDE34DC-FCE6-4316-A023-542681ECE767}"/>
                      </a:ext>
                    </a:extLst>
                  </p:cNvPr>
                  <p:cNvSpPr>
                    <a:spLocks noChangeShapeType="1"/>
                  </p:cNvSpPr>
                  <p:nvPr/>
                </p:nvSpPr>
                <p:spPr bwMode="auto">
                  <a:xfrm>
                    <a:off x="4558" y="1071"/>
                    <a:ext cx="91"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sp>
                <p:nvSpPr>
                  <p:cNvPr id="33" name="Line 247">
                    <a:extLst>
                      <a:ext uri="{FF2B5EF4-FFF2-40B4-BE49-F238E27FC236}">
                        <a16:creationId xmlns:a16="http://schemas.microsoft.com/office/drawing/2014/main" id="{F02E9EAB-E2F7-4B2E-8D24-A8E1760E5453}"/>
                      </a:ext>
                    </a:extLst>
                  </p:cNvPr>
                  <p:cNvSpPr>
                    <a:spLocks noChangeShapeType="1"/>
                  </p:cNvSpPr>
                  <p:nvPr/>
                </p:nvSpPr>
                <p:spPr bwMode="auto">
                  <a:xfrm flipH="1">
                    <a:off x="4576" y="1434"/>
                    <a:ext cx="90"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27" name="Group 248">
                  <a:extLst>
                    <a:ext uri="{FF2B5EF4-FFF2-40B4-BE49-F238E27FC236}">
                      <a16:creationId xmlns:a16="http://schemas.microsoft.com/office/drawing/2014/main" id="{81B961A6-DC7F-455D-A611-82AEDB5A6423}"/>
                    </a:ext>
                  </a:extLst>
                </p:cNvPr>
                <p:cNvGrpSpPr>
                  <a:grpSpLocks/>
                </p:cNvGrpSpPr>
                <p:nvPr/>
              </p:nvGrpSpPr>
              <p:grpSpPr bwMode="auto">
                <a:xfrm rot="1331323">
                  <a:off x="4459" y="1797"/>
                  <a:ext cx="408" cy="408"/>
                  <a:chOff x="4422" y="1071"/>
                  <a:chExt cx="363" cy="363"/>
                </a:xfrm>
              </p:grpSpPr>
              <p:sp>
                <p:nvSpPr>
                  <p:cNvPr id="28" name="Oval 249">
                    <a:extLst>
                      <a:ext uri="{FF2B5EF4-FFF2-40B4-BE49-F238E27FC236}">
                        <a16:creationId xmlns:a16="http://schemas.microsoft.com/office/drawing/2014/main" id="{1CB6FAF0-0992-4F77-9F48-F105F85AF85E}"/>
                      </a:ext>
                    </a:extLst>
                  </p:cNvPr>
                  <p:cNvSpPr>
                    <a:spLocks noChangeArrowheads="1"/>
                  </p:cNvSpPr>
                  <p:nvPr/>
                </p:nvSpPr>
                <p:spPr bwMode="auto">
                  <a:xfrm>
                    <a:off x="4422" y="1071"/>
                    <a:ext cx="363" cy="363"/>
                  </a:xfrm>
                  <a:prstGeom prst="ellipse">
                    <a:avLst/>
                  </a:pr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29" name="Line 250">
                    <a:extLst>
                      <a:ext uri="{FF2B5EF4-FFF2-40B4-BE49-F238E27FC236}">
                        <a16:creationId xmlns:a16="http://schemas.microsoft.com/office/drawing/2014/main" id="{C4A98A9F-0B75-4EA7-8B79-85036DDAE430}"/>
                      </a:ext>
                    </a:extLst>
                  </p:cNvPr>
                  <p:cNvSpPr>
                    <a:spLocks noChangeShapeType="1"/>
                  </p:cNvSpPr>
                  <p:nvPr/>
                </p:nvSpPr>
                <p:spPr bwMode="auto">
                  <a:xfrm>
                    <a:off x="4558" y="1071"/>
                    <a:ext cx="91"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sp>
                <p:nvSpPr>
                  <p:cNvPr id="30" name="Line 251">
                    <a:extLst>
                      <a:ext uri="{FF2B5EF4-FFF2-40B4-BE49-F238E27FC236}">
                        <a16:creationId xmlns:a16="http://schemas.microsoft.com/office/drawing/2014/main" id="{58AB22FE-9455-4DBB-A5B2-50B508CB9482}"/>
                      </a:ext>
                    </a:extLst>
                  </p:cNvPr>
                  <p:cNvSpPr>
                    <a:spLocks noChangeShapeType="1"/>
                  </p:cNvSpPr>
                  <p:nvPr/>
                </p:nvSpPr>
                <p:spPr bwMode="auto">
                  <a:xfrm flipH="1">
                    <a:off x="4576" y="1434"/>
                    <a:ext cx="90" cy="0"/>
                  </a:xfrm>
                  <a:prstGeom prst="line">
                    <a:avLst/>
                  </a:prstGeom>
                  <a:noFill/>
                  <a:ln w="25400">
                    <a:solidFill>
                      <a:srgbClr val="FF990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sz="2800"/>
                  </a:p>
                </p:txBody>
              </p:sp>
            </p:grpSp>
          </p:grpSp>
        </p:grpSp>
        <p:sp>
          <p:nvSpPr>
            <p:cNvPr id="17" name="矩形 16">
              <a:extLst>
                <a:ext uri="{FF2B5EF4-FFF2-40B4-BE49-F238E27FC236}">
                  <a16:creationId xmlns:a16="http://schemas.microsoft.com/office/drawing/2014/main" id="{FF20FC36-5367-4E48-8E3B-1B8C125FDBDE}"/>
                </a:ext>
              </a:extLst>
            </p:cNvPr>
            <p:cNvSpPr/>
            <p:nvPr/>
          </p:nvSpPr>
          <p:spPr>
            <a:xfrm>
              <a:off x="257452" y="6235700"/>
              <a:ext cx="8655729" cy="806061"/>
            </a:xfrm>
            <a:prstGeom prst="rect">
              <a:avLst/>
            </a:prstGeom>
          </p:spPr>
          <p:txBody>
            <a:bodyPr wrap="square">
              <a:spAutoFit/>
            </a:bodyPr>
            <a:lstStyle/>
            <a:p>
              <a:pPr algn="ctr"/>
              <a:r>
                <a:rPr kumimoji="1" lang="zh-CN" altLang="en-US" sz="2800" dirty="0">
                  <a:latin typeface="华文楷体" panose="02010600040101010101" pitchFamily="2" charset="-122"/>
                  <a:ea typeface="华文楷体" panose="02010600040101010101" pitchFamily="2" charset="-122"/>
                  <a:cs typeface="Times New Roman" panose="02020603050405020304" pitchFamily="18" charset="0"/>
                </a:rPr>
                <a:t>均匀磁化的顺磁介质的分子电流</a:t>
              </a:r>
              <a:endParaRPr lang="zh-CN" altLang="en-US" sz="2800" dirty="0">
                <a:latin typeface="华文楷体" panose="02010600040101010101" pitchFamily="2" charset="-122"/>
                <a:ea typeface="华文楷体" panose="02010600040101010101" pitchFamily="2" charset="-122"/>
              </a:endParaRPr>
            </a:p>
          </p:txBody>
        </p:sp>
      </p:grpSp>
    </p:spTree>
    <p:extLst>
      <p:ext uri="{BB962C8B-B14F-4D97-AF65-F5344CB8AC3E}">
        <p14:creationId xmlns:p14="http://schemas.microsoft.com/office/powerpoint/2010/main" val="33615722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P spid="119" grpId="0"/>
      <p:bldP spid="1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3">
                <a:extLst>
                  <a:ext uri="{FF2B5EF4-FFF2-40B4-BE49-F238E27FC236}">
                    <a16:creationId xmlns:a16="http://schemas.microsoft.com/office/drawing/2014/main" id="{3A2C2A69-B165-3229-C35B-E8DC52175FA3}"/>
                  </a:ext>
                </a:extLst>
              </p:cNvPr>
              <p:cNvSpPr txBox="1">
                <a:spLocks/>
              </p:cNvSpPr>
              <p:nvPr/>
            </p:nvSpPr>
            <p:spPr>
              <a:xfrm>
                <a:off x="3983383" y="1355481"/>
                <a:ext cx="4736034" cy="202787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ct val="50000"/>
                  </a:spcBef>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ctrlPr>
                            <a:rPr kumimoji="1" lang="zh-CN" altLang="en-US" i="1" smtClean="0">
                              <a:solidFill>
                                <a:srgbClr val="0066FF"/>
                              </a:solidFill>
                              <a:latin typeface="Cambria Math" panose="02040503050406030204" pitchFamily="18" charset="0"/>
                            </a:rPr>
                          </m:ctrlPr>
                        </m:naryPr>
                        <m:sub>
                          <m:r>
                            <m:rPr>
                              <m:brk m:alnAt="23"/>
                            </m:rPr>
                            <a:rPr kumimoji="1" lang="en-US" altLang="zh-CN" i="1">
                              <a:solidFill>
                                <a:srgbClr val="0066FF"/>
                              </a:solidFill>
                              <a:latin typeface="Cambria Math" panose="02040503050406030204" pitchFamily="18" charset="0"/>
                            </a:rPr>
                            <m:t>𝒍</m:t>
                          </m:r>
                        </m:sub>
                        <m:sup/>
                        <m:e>
                          <m:acc>
                            <m:accPr>
                              <m:chr m:val="⃗"/>
                              <m:ctrlPr>
                                <a:rPr kumimoji="1" lang="en-US" altLang="zh-CN" i="1">
                                  <a:solidFill>
                                    <a:srgbClr val="0066FF"/>
                                  </a:solidFill>
                                  <a:latin typeface="Cambria Math" panose="02040503050406030204" pitchFamily="18" charset="0"/>
                                </a:rPr>
                              </m:ctrlPr>
                            </m:accPr>
                            <m:e>
                              <m:r>
                                <a:rPr kumimoji="1" lang="en-US" altLang="zh-CN" i="1">
                                  <a:solidFill>
                                    <a:srgbClr val="0066FF"/>
                                  </a:solidFill>
                                  <a:latin typeface="Cambria Math" panose="02040503050406030204" pitchFamily="18" charset="0"/>
                                </a:rPr>
                                <m:t>𝑩</m:t>
                              </m:r>
                            </m:e>
                          </m:acc>
                        </m:e>
                      </m:nary>
                      <m:r>
                        <a:rPr kumimoji="1" lang="en-US" altLang="zh-CN" i="1">
                          <a:solidFill>
                            <a:srgbClr val="0066FF"/>
                          </a:solidFill>
                          <a:latin typeface="Cambria Math" panose="02040503050406030204" pitchFamily="18" charset="0"/>
                          <a:ea typeface="Cambria Math" panose="02040503050406030204" pitchFamily="18" charset="0"/>
                        </a:rPr>
                        <m:t>∙</m:t>
                      </m:r>
                      <m:r>
                        <a:rPr kumimoji="1" lang="en-US" altLang="zh-CN" i="1">
                          <a:solidFill>
                            <a:srgbClr val="0066FF"/>
                          </a:solidFill>
                          <a:latin typeface="Cambria Math" panose="02040503050406030204" pitchFamily="18" charset="0"/>
                          <a:ea typeface="Cambria Math" panose="02040503050406030204" pitchFamily="18" charset="0"/>
                        </a:rPr>
                        <m:t>𝒅</m:t>
                      </m:r>
                      <m:acc>
                        <m:accPr>
                          <m:chr m:val="⃗"/>
                          <m:ctrlPr>
                            <a:rPr kumimoji="1" lang="en-US" altLang="zh-CN" i="1">
                              <a:solidFill>
                                <a:srgbClr val="0066FF"/>
                              </a:solidFill>
                              <a:latin typeface="Cambria Math" panose="02040503050406030204" pitchFamily="18" charset="0"/>
                              <a:ea typeface="Cambria Math" panose="02040503050406030204" pitchFamily="18" charset="0"/>
                            </a:rPr>
                          </m:ctrlPr>
                        </m:accPr>
                        <m:e>
                          <m:r>
                            <a:rPr kumimoji="1" lang="en-US" altLang="zh-CN" i="1">
                              <a:solidFill>
                                <a:srgbClr val="0066FF"/>
                              </a:solidFill>
                              <a:latin typeface="Cambria Math" panose="02040503050406030204" pitchFamily="18" charset="0"/>
                              <a:ea typeface="Cambria Math" panose="02040503050406030204" pitchFamily="18" charset="0"/>
                            </a:rPr>
                            <m:t>𝒍</m:t>
                          </m:r>
                        </m:e>
                      </m:acc>
                      <m:r>
                        <a:rPr kumimoji="1" lang="en-US" altLang="zh-CN" i="1">
                          <a:solidFill>
                            <a:srgbClr val="0066FF"/>
                          </a:solidFill>
                          <a:latin typeface="Cambria Math" panose="02040503050406030204" pitchFamily="18" charset="0"/>
                        </a:rPr>
                        <m:t>=</m:t>
                      </m:r>
                      <m:sSub>
                        <m:sSubPr>
                          <m:ctrlPr>
                            <a:rPr lang="en-US" i="1">
                              <a:solidFill>
                                <a:srgbClr val="0066FF"/>
                              </a:solidFill>
                              <a:latin typeface="Cambria Math" panose="02040503050406030204" pitchFamily="18" charset="0"/>
                            </a:rPr>
                          </m:ctrlPr>
                        </m:sSubPr>
                        <m:e>
                          <m:r>
                            <a:rPr lang="en-US" i="1">
                              <a:solidFill>
                                <a:srgbClr val="0066FF"/>
                              </a:solidFill>
                              <a:latin typeface="Cambria Math" panose="02040503050406030204" pitchFamily="18" charset="0"/>
                            </a:rPr>
                            <m:t>𝜇</m:t>
                          </m:r>
                        </m:e>
                        <m:sub>
                          <m:r>
                            <a:rPr lang="en-US" i="1">
                              <a:solidFill>
                                <a:srgbClr val="0066FF"/>
                              </a:solidFill>
                              <a:latin typeface="Cambria Math" panose="02040503050406030204" pitchFamily="18" charset="0"/>
                            </a:rPr>
                            <m:t>0</m:t>
                          </m:r>
                        </m:sub>
                      </m:sSub>
                      <m:nary>
                        <m:naryPr>
                          <m:chr m:val="∑"/>
                          <m:ctrlPr>
                            <a:rPr lang="en-US" i="1">
                              <a:solidFill>
                                <a:srgbClr val="0066FF"/>
                              </a:solidFill>
                              <a:latin typeface="Cambria Math" panose="02040503050406030204" pitchFamily="18" charset="0"/>
                            </a:rPr>
                          </m:ctrlPr>
                        </m:naryPr>
                        <m:sub>
                          <m:r>
                            <a:rPr lang="en-US" i="1">
                              <a:solidFill>
                                <a:srgbClr val="0066FF"/>
                              </a:solidFill>
                              <a:latin typeface="Cambria Math" panose="02040503050406030204" pitchFamily="18" charset="0"/>
                            </a:rPr>
                            <m:t>𝑖</m:t>
                          </m:r>
                          <m:r>
                            <a:rPr lang="en-US" i="1">
                              <a:solidFill>
                                <a:srgbClr val="0066FF"/>
                              </a:solidFill>
                              <a:latin typeface="Cambria Math" panose="02040503050406030204" pitchFamily="18" charset="0"/>
                            </a:rPr>
                            <m:t>=1</m:t>
                          </m:r>
                        </m:sub>
                        <m:sup>
                          <m:r>
                            <a:rPr lang="en-US" i="1">
                              <a:solidFill>
                                <a:srgbClr val="0066FF"/>
                              </a:solidFill>
                              <a:latin typeface="Cambria Math" panose="02040503050406030204" pitchFamily="18" charset="0"/>
                            </a:rPr>
                            <m:t>𝑛</m:t>
                          </m:r>
                        </m:sup>
                        <m:e>
                          <m:sSub>
                            <m:sSubPr>
                              <m:ctrlPr>
                                <a:rPr lang="en-US" i="1">
                                  <a:solidFill>
                                    <a:srgbClr val="0066FF"/>
                                  </a:solidFill>
                                  <a:latin typeface="Cambria Math" panose="02040503050406030204" pitchFamily="18" charset="0"/>
                                </a:rPr>
                              </m:ctrlPr>
                            </m:sSubPr>
                            <m:e>
                              <m:r>
                                <a:rPr lang="en-US" i="1">
                                  <a:solidFill>
                                    <a:srgbClr val="0066FF"/>
                                  </a:solidFill>
                                  <a:latin typeface="Cambria Math" panose="02040503050406030204" pitchFamily="18" charset="0"/>
                                </a:rPr>
                                <m:t>𝐼</m:t>
                              </m:r>
                            </m:e>
                            <m:sub>
                              <m:r>
                                <a:rPr lang="en-US" i="1">
                                  <a:solidFill>
                                    <a:srgbClr val="0066FF"/>
                                  </a:solidFill>
                                  <a:latin typeface="Cambria Math" panose="02040503050406030204" pitchFamily="18" charset="0"/>
                                </a:rPr>
                                <m:t>𝑖</m:t>
                              </m:r>
                            </m:sub>
                          </m:sSub>
                        </m:e>
                      </m:nary>
                    </m:oMath>
                  </m:oMathPara>
                </a14:m>
                <a:endParaRPr lang="zh-CN" altLang="en-US" dirty="0">
                  <a:solidFill>
                    <a:srgbClr val="0066FF"/>
                  </a:solidFill>
                </a:endParaRPr>
              </a:p>
            </p:txBody>
          </p:sp>
        </mc:Choice>
        <mc:Fallback xmlns="">
          <p:sp>
            <p:nvSpPr>
              <p:cNvPr id="2" name="内容占位符 3">
                <a:extLst>
                  <a:ext uri="{FF2B5EF4-FFF2-40B4-BE49-F238E27FC236}">
                    <a16:creationId xmlns:a16="http://schemas.microsoft.com/office/drawing/2014/main" id="{3A2C2A69-B165-3229-C35B-E8DC52175FA3}"/>
                  </a:ext>
                </a:extLst>
              </p:cNvPr>
              <p:cNvSpPr txBox="1">
                <a:spLocks noRot="1" noChangeAspect="1" noMove="1" noResize="1" noEditPoints="1" noAdjustHandles="1" noChangeArrowheads="1" noChangeShapeType="1" noTextEdit="1"/>
              </p:cNvSpPr>
              <p:nvPr/>
            </p:nvSpPr>
            <p:spPr>
              <a:xfrm>
                <a:off x="3983383" y="1355481"/>
                <a:ext cx="4736034" cy="2027874"/>
              </a:xfrm>
              <a:prstGeom prst="rect">
                <a:avLst/>
              </a:prstGeom>
              <a:blipFill>
                <a:blip r:embed="rId2"/>
                <a:stretch>
                  <a:fillRect/>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37B5A641-5615-338B-2C4C-05B30E07535F}"/>
              </a:ext>
            </a:extLst>
          </p:cNvPr>
          <p:cNvSpPr/>
          <p:nvPr/>
        </p:nvSpPr>
        <p:spPr>
          <a:xfrm>
            <a:off x="1385481" y="1800855"/>
            <a:ext cx="3057247" cy="608243"/>
          </a:xfrm>
          <a:prstGeom prst="rect">
            <a:avLst/>
          </a:prstGeom>
        </p:spPr>
        <p:txBody>
          <a:bodyPr wrap="none">
            <a:spAutoFit/>
          </a:bodyPr>
          <a:lstStyle/>
          <a:p>
            <a:pPr algn="just">
              <a:lnSpc>
                <a:spcPct val="110000"/>
              </a:lnSpc>
              <a:spcBef>
                <a:spcPct val="50000"/>
              </a:spcBef>
            </a:pPr>
            <a:r>
              <a:rPr kumimoji="1" lang="zh-CN" altLang="en-US" sz="3200" dirty="0">
                <a:solidFill>
                  <a:srgbClr val="000000"/>
                </a:solidFill>
                <a:latin typeface="华文楷体" panose="02010600040101010101" pitchFamily="2" charset="-122"/>
              </a:rPr>
              <a:t>恒定电流的磁场</a:t>
            </a:r>
            <a:endParaRPr kumimoji="1" lang="en-US" altLang="zh-CN" sz="3200" i="1" dirty="0">
              <a:solidFill>
                <a:srgbClr val="0066FF"/>
              </a:solidFill>
              <a:latin typeface="Cambria Math" panose="02040503050406030204" pitchFamily="18" charset="0"/>
            </a:endParaRPr>
          </a:p>
        </p:txBody>
      </p:sp>
      <p:grpSp>
        <p:nvGrpSpPr>
          <p:cNvPr id="4" name="组合 3">
            <a:extLst>
              <a:ext uri="{FF2B5EF4-FFF2-40B4-BE49-F238E27FC236}">
                <a16:creationId xmlns:a16="http://schemas.microsoft.com/office/drawing/2014/main" id="{91C238D4-E5EC-CD48-03FD-56D86840809B}"/>
              </a:ext>
            </a:extLst>
          </p:cNvPr>
          <p:cNvGrpSpPr/>
          <p:nvPr/>
        </p:nvGrpSpPr>
        <p:grpSpPr>
          <a:xfrm>
            <a:off x="-292622" y="3718769"/>
            <a:ext cx="6096000" cy="946349"/>
            <a:chOff x="1250738" y="2512231"/>
            <a:chExt cx="6096000" cy="946349"/>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6BF9EF8-DA68-45B5-47EA-F4F1CCEB0DD7}"/>
                    </a:ext>
                  </a:extLst>
                </p:cNvPr>
                <p:cNvSpPr txBox="1"/>
                <p:nvPr/>
              </p:nvSpPr>
              <p:spPr>
                <a:xfrm>
                  <a:off x="1250738" y="2724742"/>
                  <a:ext cx="6096000" cy="5754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zh-CN" altLang="en-US" sz="2800" i="1" kern="0" smtClean="0">
                                <a:solidFill>
                                  <a:schemeClr val="tx1"/>
                                </a:solidFill>
                                <a:latin typeface="Cambria Math" panose="02040503050406030204" pitchFamily="18" charset="0"/>
                              </a:rPr>
                            </m:ctrlPr>
                          </m:accPr>
                          <m:e>
                            <m:r>
                              <a:rPr kumimoji="1" lang="en-US" altLang="zh-CN" sz="2800" i="1" kern="0">
                                <a:solidFill>
                                  <a:schemeClr val="tx1"/>
                                </a:solidFill>
                                <a:latin typeface="Cambria Math" panose="02040503050406030204" pitchFamily="18" charset="0"/>
                              </a:rPr>
                              <m:t>𝑴</m:t>
                            </m:r>
                          </m:e>
                        </m:acc>
                      </m:oMath>
                    </m:oMathPara>
                  </a14:m>
                  <a:endParaRPr lang="zh-CN" altLang="en-US" sz="2800" dirty="0"/>
                </a:p>
              </p:txBody>
            </p:sp>
          </mc:Choice>
          <mc:Fallback xmlns="">
            <p:sp>
              <p:nvSpPr>
                <p:cNvPr id="12" name="文本框 11">
                  <a:extLst>
                    <a:ext uri="{FF2B5EF4-FFF2-40B4-BE49-F238E27FC236}">
                      <a16:creationId xmlns:a16="http://schemas.microsoft.com/office/drawing/2014/main" id="{12DBBD81-769D-44B4-A60F-4A0E3919FF04}"/>
                    </a:ext>
                  </a:extLst>
                </p:cNvPr>
                <p:cNvSpPr txBox="1">
                  <a:spLocks noRot="1" noChangeAspect="1" noMove="1" noResize="1" noEditPoints="1" noAdjustHandles="1" noChangeArrowheads="1" noChangeShapeType="1" noTextEdit="1"/>
                </p:cNvSpPr>
                <p:nvPr/>
              </p:nvSpPr>
              <p:spPr>
                <a:xfrm>
                  <a:off x="1250738" y="2724742"/>
                  <a:ext cx="6096000" cy="57547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60AB7E2-FF69-830E-09F9-4B17453A9A0E}"/>
                    </a:ext>
                  </a:extLst>
                </p:cNvPr>
                <p:cNvSpPr txBox="1"/>
                <p:nvPr/>
              </p:nvSpPr>
              <p:spPr>
                <a:xfrm>
                  <a:off x="4500909" y="2512231"/>
                  <a:ext cx="971550" cy="9463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800" b="0" i="0" kern="0" smtClean="0">
                            <a:solidFill>
                              <a:schemeClr val="tx1"/>
                            </a:solidFill>
                            <a:latin typeface="Cambria Math" panose="02040503050406030204" pitchFamily="18" charset="0"/>
                            <a:ea typeface="Cambria Math" panose="02040503050406030204" pitchFamily="18" charset="0"/>
                          </a:rPr>
                          <m:t>=</m:t>
                        </m:r>
                        <m:f>
                          <m:fPr>
                            <m:ctrlPr>
                              <a:rPr kumimoji="1" lang="en-US" altLang="zh-CN" sz="2800" i="1" kern="0">
                                <a:latin typeface="Cambria Math" panose="02040503050406030204" pitchFamily="18" charset="0"/>
                              </a:rPr>
                            </m:ctrlPr>
                          </m:fPr>
                          <m:num>
                            <m:nary>
                              <m:naryPr>
                                <m:chr m:val="∑"/>
                                <m:subHide m:val="on"/>
                                <m:supHide m:val="on"/>
                                <m:ctrlPr>
                                  <a:rPr kumimoji="1" lang="en-US" altLang="zh-CN" sz="2800" i="1" kern="0">
                                    <a:latin typeface="Cambria Math" panose="02040503050406030204" pitchFamily="18" charset="0"/>
                                  </a:rPr>
                                </m:ctrlPr>
                              </m:naryPr>
                              <m:sub/>
                              <m:sup/>
                              <m:e>
                                <m:sSub>
                                  <m:sSubPr>
                                    <m:ctrlPr>
                                      <a:rPr kumimoji="1" lang="en-US" altLang="zh-CN" sz="2800" i="1" kern="0">
                                        <a:latin typeface="Cambria Math" panose="02040503050406030204" pitchFamily="18" charset="0"/>
                                      </a:rPr>
                                    </m:ctrlPr>
                                  </m:sSubPr>
                                  <m:e>
                                    <m:acc>
                                      <m:accPr>
                                        <m:chr m:val="⃗"/>
                                        <m:ctrlPr>
                                          <a:rPr kumimoji="1" lang="en-US" altLang="zh-CN" sz="2800" i="1" kern="0">
                                            <a:latin typeface="Cambria Math" panose="02040503050406030204" pitchFamily="18" charset="0"/>
                                          </a:rPr>
                                        </m:ctrlPr>
                                      </m:accPr>
                                      <m:e>
                                        <m:r>
                                          <a:rPr kumimoji="1" lang="en-US" altLang="zh-CN" sz="2800" i="1" kern="0">
                                            <a:latin typeface="Cambria Math" panose="02040503050406030204" pitchFamily="18" charset="0"/>
                                          </a:rPr>
                                          <m:t>𝒎</m:t>
                                        </m:r>
                                      </m:e>
                                    </m:acc>
                                  </m:e>
                                  <m:sub>
                                    <m:r>
                                      <a:rPr kumimoji="1" lang="en-US" altLang="zh-CN" sz="2800" b="0" i="1" kern="0" smtClean="0">
                                        <a:latin typeface="Cambria Math" panose="02040503050406030204" pitchFamily="18" charset="0"/>
                                      </a:rPr>
                                      <m:t>𝑖</m:t>
                                    </m:r>
                                  </m:sub>
                                </m:sSub>
                              </m:e>
                            </m:nary>
                          </m:num>
                          <m:den>
                            <m:r>
                              <a:rPr kumimoji="1" lang="en-US" altLang="zh-CN" sz="2800" i="1" kern="0">
                                <a:latin typeface="Cambria Math" panose="02040503050406030204" pitchFamily="18" charset="0"/>
                                <a:ea typeface="Cambria Math" panose="02040503050406030204" pitchFamily="18" charset="0"/>
                              </a:rPr>
                              <m:t>∆</m:t>
                            </m:r>
                            <m:r>
                              <a:rPr kumimoji="1" lang="en-US" altLang="zh-CN" sz="2800" i="1" kern="0">
                                <a:latin typeface="Cambria Math" panose="02040503050406030204" pitchFamily="18" charset="0"/>
                                <a:ea typeface="Cambria Math" panose="02040503050406030204" pitchFamily="18" charset="0"/>
                              </a:rPr>
                              <m:t>𝑽</m:t>
                            </m:r>
                          </m:den>
                        </m:f>
                      </m:oMath>
                    </m:oMathPara>
                  </a14:m>
                  <a:endParaRPr lang="zh-CN" altLang="en-US" sz="2800" dirty="0"/>
                </a:p>
              </p:txBody>
            </p:sp>
          </mc:Choice>
          <mc:Fallback xmlns="">
            <p:sp>
              <p:nvSpPr>
                <p:cNvPr id="16" name="文本框 15">
                  <a:extLst>
                    <a:ext uri="{FF2B5EF4-FFF2-40B4-BE49-F238E27FC236}">
                      <a16:creationId xmlns:a16="http://schemas.microsoft.com/office/drawing/2014/main" id="{3856E7FB-E9F8-4A62-8F69-DEC829C5B475}"/>
                    </a:ext>
                  </a:extLst>
                </p:cNvPr>
                <p:cNvSpPr txBox="1">
                  <a:spLocks noRot="1" noChangeAspect="1" noMove="1" noResize="1" noEditPoints="1" noAdjustHandles="1" noChangeArrowheads="1" noChangeShapeType="1" noTextEdit="1"/>
                </p:cNvSpPr>
                <p:nvPr/>
              </p:nvSpPr>
              <p:spPr>
                <a:xfrm>
                  <a:off x="4500909" y="2512231"/>
                  <a:ext cx="971550" cy="946349"/>
                </a:xfrm>
                <a:prstGeom prst="rect">
                  <a:avLst/>
                </a:prstGeom>
                <a:blipFill>
                  <a:blip r:embed="rId4"/>
                  <a:stretch>
                    <a:fillRect r="-25000"/>
                  </a:stretch>
                </a:blipFill>
              </p:spPr>
              <p:txBody>
                <a:bodyPr/>
                <a:lstStyle/>
                <a:p>
                  <a:r>
                    <a:rPr lang="en-US">
                      <a:noFill/>
                    </a:rPr>
                    <a:t> </a:t>
                  </a:r>
                </a:p>
              </p:txBody>
            </p:sp>
          </mc:Fallback>
        </mc:AlternateContent>
      </p:grpSp>
      <p:grpSp>
        <p:nvGrpSpPr>
          <p:cNvPr id="7" name="Group 78">
            <a:extLst>
              <a:ext uri="{FF2B5EF4-FFF2-40B4-BE49-F238E27FC236}">
                <a16:creationId xmlns:a16="http://schemas.microsoft.com/office/drawing/2014/main" id="{1CD796B3-07AE-0A9F-46BF-365069967D89}"/>
              </a:ext>
            </a:extLst>
          </p:cNvPr>
          <p:cNvGrpSpPr>
            <a:grpSpLocks/>
          </p:cNvGrpSpPr>
          <p:nvPr/>
        </p:nvGrpSpPr>
        <p:grpSpPr bwMode="auto">
          <a:xfrm>
            <a:off x="8596956" y="1636681"/>
            <a:ext cx="2424037" cy="2471631"/>
            <a:chOff x="323" y="1362"/>
            <a:chExt cx="1896" cy="1821"/>
          </a:xfrm>
        </p:grpSpPr>
        <mc:AlternateContent xmlns:mc="http://schemas.openxmlformats.org/markup-compatibility/2006" xmlns:a14="http://schemas.microsoft.com/office/drawing/2010/main">
          <mc:Choice Requires="a14">
            <p:sp>
              <p:nvSpPr>
                <p:cNvPr id="8" name="Object 5">
                  <a:extLst>
                    <a:ext uri="{FF2B5EF4-FFF2-40B4-BE49-F238E27FC236}">
                      <a16:creationId xmlns:a16="http://schemas.microsoft.com/office/drawing/2014/main" id="{6ED0B244-1B1F-1B25-8A2B-66C634A2E6A4}"/>
                    </a:ext>
                  </a:extLst>
                </p:cNvPr>
                <p:cNvSpPr txBox="1"/>
                <p:nvPr/>
              </p:nvSpPr>
              <p:spPr bwMode="auto">
                <a:xfrm>
                  <a:off x="323" y="1806"/>
                  <a:ext cx="258" cy="379"/>
                </a:xfrm>
                <a:prstGeom prst="rect">
                  <a:avLst/>
                </a:prstGeom>
                <a:noFill/>
                <a:ln>
                  <a:noFill/>
                </a:ln>
                <a:effectLst/>
              </p:spPr>
              <p:txBody>
                <a:bodyPr>
                  <a:normAutofit fontScale="850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𝐼</m:t>
                            </m:r>
                          </m:e>
                          <m:sub>
                            <m:r>
                              <a:rPr lang="en-US" sz="2800" b="0" i="1">
                                <a:solidFill>
                                  <a:schemeClr val="tx1"/>
                                </a:solidFill>
                                <a:latin typeface="Cambria Math" panose="02040503050406030204" pitchFamily="18" charset="0"/>
                              </a:rPr>
                              <m:t>1</m:t>
                            </m:r>
                          </m:sub>
                        </m:sSub>
                      </m:oMath>
                    </m:oMathPara>
                  </a14:m>
                  <a:endParaRPr lang="en-US" sz="2800">
                    <a:solidFill>
                      <a:schemeClr val="tx1"/>
                    </a:solidFill>
                  </a:endParaRPr>
                </a:p>
              </p:txBody>
            </p:sp>
          </mc:Choice>
          <mc:Fallback xmlns="">
            <p:sp>
              <p:nvSpPr>
                <p:cNvPr id="11" name="Object 5">
                  <a:extLst>
                    <a:ext uri="{FF2B5EF4-FFF2-40B4-BE49-F238E27FC236}">
                      <a16:creationId xmlns:a16="http://schemas.microsoft.com/office/drawing/2014/main" id="{1ED0A549-4F9A-4C84-B182-5015D278D1D1}"/>
                    </a:ext>
                  </a:extLst>
                </p:cNvPr>
                <p:cNvSpPr txBox="1">
                  <a:spLocks noRot="1" noChangeAspect="1" noMove="1" noResize="1" noEditPoints="1" noAdjustHandles="1" noChangeArrowheads="1" noChangeShapeType="1" noTextEdit="1"/>
                </p:cNvSpPr>
                <p:nvPr/>
              </p:nvSpPr>
              <p:spPr bwMode="auto">
                <a:xfrm>
                  <a:off x="323" y="1806"/>
                  <a:ext cx="258" cy="379"/>
                </a:xfrm>
                <a:prstGeom prst="rect">
                  <a:avLst/>
                </a:prstGeom>
                <a:blipFill>
                  <a:blip r:embed="rId5"/>
                  <a:stretch>
                    <a:fillRect l="-5556" r="-16667"/>
                  </a:stretch>
                </a:blipFill>
                <a:ln>
                  <a:noFill/>
                </a:ln>
                <a:effectLst/>
              </p:spPr>
              <p:txBody>
                <a:bodyPr/>
                <a:lstStyle/>
                <a:p>
                  <a:r>
                    <a:rPr lang="zh-CN" altLang="en-US">
                      <a:noFill/>
                    </a:rPr>
                    <a:t> </a:t>
                  </a:r>
                </a:p>
              </p:txBody>
            </p:sp>
          </mc:Fallback>
        </mc:AlternateContent>
        <p:sp>
          <p:nvSpPr>
            <p:cNvPr id="9" name="Line 13">
              <a:extLst>
                <a:ext uri="{FF2B5EF4-FFF2-40B4-BE49-F238E27FC236}">
                  <a16:creationId xmlns:a16="http://schemas.microsoft.com/office/drawing/2014/main" id="{DB9C4AE9-0412-96D2-F636-9F6E46595C69}"/>
                </a:ext>
              </a:extLst>
            </p:cNvPr>
            <p:cNvSpPr>
              <a:spLocks noChangeShapeType="1"/>
            </p:cNvSpPr>
            <p:nvPr/>
          </p:nvSpPr>
          <p:spPr bwMode="auto">
            <a:xfrm flipV="1">
              <a:off x="548" y="1589"/>
              <a:ext cx="0" cy="398"/>
            </a:xfrm>
            <a:prstGeom prst="line">
              <a:avLst/>
            </a:prstGeom>
            <a:noFill/>
            <a:ln w="190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10" name="Group 53">
              <a:extLst>
                <a:ext uri="{FF2B5EF4-FFF2-40B4-BE49-F238E27FC236}">
                  <a16:creationId xmlns:a16="http://schemas.microsoft.com/office/drawing/2014/main" id="{FC14F34C-E979-B7B4-47A6-DF9F0D0BFBF3}"/>
                </a:ext>
              </a:extLst>
            </p:cNvPr>
            <p:cNvGrpSpPr>
              <a:grpSpLocks/>
            </p:cNvGrpSpPr>
            <p:nvPr/>
          </p:nvGrpSpPr>
          <p:grpSpPr bwMode="auto">
            <a:xfrm>
              <a:off x="651" y="1476"/>
              <a:ext cx="52" cy="1707"/>
              <a:chOff x="672" y="1056"/>
              <a:chExt cx="49" cy="1440"/>
            </a:xfrm>
          </p:grpSpPr>
          <p:sp>
            <p:nvSpPr>
              <p:cNvPr id="30" name="AutoShape 9">
                <a:extLst>
                  <a:ext uri="{FF2B5EF4-FFF2-40B4-BE49-F238E27FC236}">
                    <a16:creationId xmlns:a16="http://schemas.microsoft.com/office/drawing/2014/main" id="{6220FBF6-3326-5CB1-A9A7-0BFA132CBFE1}"/>
                  </a:ext>
                </a:extLst>
              </p:cNvPr>
              <p:cNvSpPr>
                <a:spLocks noChangeArrowheads="1"/>
              </p:cNvSpPr>
              <p:nvPr/>
            </p:nvSpPr>
            <p:spPr bwMode="auto">
              <a:xfrm>
                <a:off x="675" y="1200"/>
                <a:ext cx="46" cy="1108"/>
              </a:xfrm>
              <a:prstGeom prst="can">
                <a:avLst>
                  <a:gd name="adj" fmla="val 120435"/>
                </a:avLst>
              </a:prstGeom>
              <a:gradFill rotWithShape="0">
                <a:gsLst>
                  <a:gs pos="0">
                    <a:srgbClr val="6B6A6A"/>
                  </a:gs>
                  <a:gs pos="50000">
                    <a:srgbClr val="E8E6E4"/>
                  </a:gs>
                  <a:gs pos="100000">
                    <a:srgbClr val="6B6A6A"/>
                  </a:gs>
                </a:gsLst>
                <a:lin ang="0" scaled="1"/>
              </a:gradFill>
              <a:ln w="9525">
                <a:solidFill>
                  <a:schemeClr val="tx1"/>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spcBef>
                    <a:spcPct val="0"/>
                  </a:spcBef>
                  <a:buFontTx/>
                  <a:buNone/>
                </a:pPr>
                <a:endParaRPr lang="zh-CN" altLang="en-US" sz="2800" i="1" u="sng"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1" name="Line 42">
                <a:extLst>
                  <a:ext uri="{FF2B5EF4-FFF2-40B4-BE49-F238E27FC236}">
                    <a16:creationId xmlns:a16="http://schemas.microsoft.com/office/drawing/2014/main" id="{8BDB1D4A-A256-F947-CEE2-4BE5DB867694}"/>
                  </a:ext>
                </a:extLst>
              </p:cNvPr>
              <p:cNvSpPr>
                <a:spLocks noChangeShapeType="1"/>
              </p:cNvSpPr>
              <p:nvPr/>
            </p:nvSpPr>
            <p:spPr bwMode="auto">
              <a:xfrm>
                <a:off x="672" y="2256"/>
                <a:ext cx="0" cy="2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2" name="Line 44">
                <a:extLst>
                  <a:ext uri="{FF2B5EF4-FFF2-40B4-BE49-F238E27FC236}">
                    <a16:creationId xmlns:a16="http://schemas.microsoft.com/office/drawing/2014/main" id="{49365FAE-4A8F-600A-C336-1E62365D5AE4}"/>
                  </a:ext>
                </a:extLst>
              </p:cNvPr>
              <p:cNvSpPr>
                <a:spLocks noChangeShapeType="1"/>
              </p:cNvSpPr>
              <p:nvPr/>
            </p:nvSpPr>
            <p:spPr bwMode="auto">
              <a:xfrm>
                <a:off x="720" y="2256"/>
                <a:ext cx="0" cy="2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3" name="Line 45">
                <a:extLst>
                  <a:ext uri="{FF2B5EF4-FFF2-40B4-BE49-F238E27FC236}">
                    <a16:creationId xmlns:a16="http://schemas.microsoft.com/office/drawing/2014/main" id="{3E458247-1308-2EE6-5BEF-D37A898EC3E8}"/>
                  </a:ext>
                </a:extLst>
              </p:cNvPr>
              <p:cNvSpPr>
                <a:spLocks noChangeShapeType="1"/>
              </p:cNvSpPr>
              <p:nvPr/>
            </p:nvSpPr>
            <p:spPr bwMode="auto">
              <a:xfrm>
                <a:off x="672" y="1056"/>
                <a:ext cx="0" cy="2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4" name="Line 46">
                <a:extLst>
                  <a:ext uri="{FF2B5EF4-FFF2-40B4-BE49-F238E27FC236}">
                    <a16:creationId xmlns:a16="http://schemas.microsoft.com/office/drawing/2014/main" id="{231EC240-C874-353E-64A4-1A1BE5555CD3}"/>
                  </a:ext>
                </a:extLst>
              </p:cNvPr>
              <p:cNvSpPr>
                <a:spLocks noChangeShapeType="1"/>
              </p:cNvSpPr>
              <p:nvPr/>
            </p:nvSpPr>
            <p:spPr bwMode="auto">
              <a:xfrm>
                <a:off x="720" y="1056"/>
                <a:ext cx="0" cy="2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11" name="AutoShape 59">
              <a:extLst>
                <a:ext uri="{FF2B5EF4-FFF2-40B4-BE49-F238E27FC236}">
                  <a16:creationId xmlns:a16="http://schemas.microsoft.com/office/drawing/2014/main" id="{FAE4E74D-4595-907E-B6F1-13B2A62F74DF}"/>
                </a:ext>
              </a:extLst>
            </p:cNvPr>
            <p:cNvSpPr>
              <a:spLocks noChangeArrowheads="1"/>
            </p:cNvSpPr>
            <p:nvPr/>
          </p:nvSpPr>
          <p:spPr bwMode="auto">
            <a:xfrm>
              <a:off x="1422" y="2481"/>
              <a:ext cx="49" cy="472"/>
            </a:xfrm>
            <a:prstGeom prst="can">
              <a:avLst>
                <a:gd name="adj" fmla="val 85757"/>
              </a:avLst>
            </a:prstGeom>
            <a:gradFill rotWithShape="0">
              <a:gsLst>
                <a:gs pos="0">
                  <a:schemeClr val="bg2">
                    <a:gamma/>
                    <a:shade val="56078"/>
                    <a:invGamma/>
                  </a:schemeClr>
                </a:gs>
                <a:gs pos="50000">
                  <a:schemeClr val="bg2"/>
                </a:gs>
                <a:gs pos="100000">
                  <a:schemeClr val="bg2">
                    <a:gamma/>
                    <a:shade val="56078"/>
                    <a:invGamma/>
                  </a:schemeClr>
                </a:gs>
              </a:gsLst>
              <a:lin ang="0" scaled="1"/>
            </a:gradFill>
            <a:ln w="9525">
              <a:solidFill>
                <a:schemeClr val="tx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defRPr/>
              </a:pPr>
              <a:endParaRPr lang="zh-CN" altLang="en-US" sz="2800" b="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2" name="Line 60">
              <a:extLst>
                <a:ext uri="{FF2B5EF4-FFF2-40B4-BE49-F238E27FC236}">
                  <a16:creationId xmlns:a16="http://schemas.microsoft.com/office/drawing/2014/main" id="{B30ED59F-5262-A268-90BA-51E681D33623}"/>
                </a:ext>
              </a:extLst>
            </p:cNvPr>
            <p:cNvSpPr>
              <a:spLocks noChangeShapeType="1"/>
            </p:cNvSpPr>
            <p:nvPr/>
          </p:nvSpPr>
          <p:spPr bwMode="auto">
            <a:xfrm>
              <a:off x="1421" y="2896"/>
              <a:ext cx="0" cy="28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Line 61">
              <a:extLst>
                <a:ext uri="{FF2B5EF4-FFF2-40B4-BE49-F238E27FC236}">
                  <a16:creationId xmlns:a16="http://schemas.microsoft.com/office/drawing/2014/main" id="{0AF48B68-F838-ABED-6D1A-E63A7BA41E20}"/>
                </a:ext>
              </a:extLst>
            </p:cNvPr>
            <p:cNvSpPr>
              <a:spLocks noChangeShapeType="1"/>
            </p:cNvSpPr>
            <p:nvPr/>
          </p:nvSpPr>
          <p:spPr bwMode="auto">
            <a:xfrm>
              <a:off x="1472" y="2896"/>
              <a:ext cx="0" cy="28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Object 6">
                  <a:extLst>
                    <a:ext uri="{FF2B5EF4-FFF2-40B4-BE49-F238E27FC236}">
                      <a16:creationId xmlns:a16="http://schemas.microsoft.com/office/drawing/2014/main" id="{840E4EED-97BF-B12C-0C47-0C3E04D69BE5}"/>
                    </a:ext>
                  </a:extLst>
                </p:cNvPr>
                <p:cNvSpPr txBox="1"/>
                <p:nvPr/>
              </p:nvSpPr>
              <p:spPr bwMode="auto">
                <a:xfrm>
                  <a:off x="1062" y="1636"/>
                  <a:ext cx="254" cy="377"/>
                </a:xfrm>
                <a:prstGeom prst="rect">
                  <a:avLst/>
                </a:prstGeom>
                <a:noFill/>
                <a:ln>
                  <a:noFill/>
                </a:ln>
                <a:effectLst/>
              </p:spPr>
              <p:txBody>
                <a:bodyPr>
                  <a:normAutofit fontScale="850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𝐼</m:t>
                            </m:r>
                          </m:e>
                          <m:sub>
                            <m:r>
                              <a:rPr lang="en-US" sz="2800" b="0" i="1">
                                <a:solidFill>
                                  <a:schemeClr val="tx1"/>
                                </a:solidFill>
                                <a:latin typeface="Cambria Math" panose="02040503050406030204" pitchFamily="18" charset="0"/>
                              </a:rPr>
                              <m:t>2</m:t>
                            </m:r>
                          </m:sub>
                        </m:sSub>
                      </m:oMath>
                    </m:oMathPara>
                  </a14:m>
                  <a:endParaRPr lang="en-US" sz="2800">
                    <a:solidFill>
                      <a:schemeClr val="tx1"/>
                    </a:solidFill>
                  </a:endParaRPr>
                </a:p>
              </p:txBody>
            </p:sp>
          </mc:Choice>
          <mc:Fallback xmlns="">
            <p:sp>
              <p:nvSpPr>
                <p:cNvPr id="22" name="Object 6">
                  <a:extLst>
                    <a:ext uri="{FF2B5EF4-FFF2-40B4-BE49-F238E27FC236}">
                      <a16:creationId xmlns:a16="http://schemas.microsoft.com/office/drawing/2014/main" id="{8A19362E-85AD-4BD0-9610-EDBDB34624F6}"/>
                    </a:ext>
                  </a:extLst>
                </p:cNvPr>
                <p:cNvSpPr txBox="1">
                  <a:spLocks noRot="1" noChangeAspect="1" noMove="1" noResize="1" noEditPoints="1" noAdjustHandles="1" noChangeArrowheads="1" noChangeShapeType="1" noTextEdit="1"/>
                </p:cNvSpPr>
                <p:nvPr/>
              </p:nvSpPr>
              <p:spPr bwMode="auto">
                <a:xfrm>
                  <a:off x="1062" y="1636"/>
                  <a:ext cx="254" cy="377"/>
                </a:xfrm>
                <a:prstGeom prst="rect">
                  <a:avLst/>
                </a:prstGeom>
                <a:blipFill>
                  <a:blip r:embed="rId6"/>
                  <a:stretch>
                    <a:fillRect l="-5660" r="-20755"/>
                  </a:stretch>
                </a:blipFill>
                <a:ln>
                  <a:noFill/>
                </a:ln>
                <a:effectLst/>
              </p:spPr>
              <p:txBody>
                <a:bodyPr/>
                <a:lstStyle/>
                <a:p>
                  <a:r>
                    <a:rPr lang="zh-CN" altLang="en-US">
                      <a:noFill/>
                    </a:rPr>
                    <a:t> </a:t>
                  </a:r>
                </a:p>
              </p:txBody>
            </p:sp>
          </mc:Fallback>
        </mc:AlternateContent>
        <p:sp>
          <p:nvSpPr>
            <p:cNvPr id="15" name="Line 40">
              <a:extLst>
                <a:ext uri="{FF2B5EF4-FFF2-40B4-BE49-F238E27FC236}">
                  <a16:creationId xmlns:a16="http://schemas.microsoft.com/office/drawing/2014/main" id="{23141FED-DDB7-AC44-A7E0-8D6EB730DB2F}"/>
                </a:ext>
              </a:extLst>
            </p:cNvPr>
            <p:cNvSpPr>
              <a:spLocks noChangeShapeType="1"/>
            </p:cNvSpPr>
            <p:nvPr/>
          </p:nvSpPr>
          <p:spPr bwMode="auto">
            <a:xfrm flipV="1">
              <a:off x="1318" y="1532"/>
              <a:ext cx="0" cy="398"/>
            </a:xfrm>
            <a:prstGeom prst="line">
              <a:avLst/>
            </a:prstGeom>
            <a:noFill/>
            <a:ln w="190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6" name="Line 57">
              <a:extLst>
                <a:ext uri="{FF2B5EF4-FFF2-40B4-BE49-F238E27FC236}">
                  <a16:creationId xmlns:a16="http://schemas.microsoft.com/office/drawing/2014/main" id="{CC53644F-92C4-8F93-EC3A-1E6CDA4934DA}"/>
                </a:ext>
              </a:extLst>
            </p:cNvPr>
            <p:cNvSpPr>
              <a:spLocks noChangeShapeType="1"/>
            </p:cNvSpPr>
            <p:nvPr/>
          </p:nvSpPr>
          <p:spPr bwMode="auto">
            <a:xfrm>
              <a:off x="1421" y="1362"/>
              <a:ext cx="0" cy="2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Line 58">
              <a:extLst>
                <a:ext uri="{FF2B5EF4-FFF2-40B4-BE49-F238E27FC236}">
                  <a16:creationId xmlns:a16="http://schemas.microsoft.com/office/drawing/2014/main" id="{DA07E6DB-B1E1-8FFC-79E8-E6C77A8323EF}"/>
                </a:ext>
              </a:extLst>
            </p:cNvPr>
            <p:cNvSpPr>
              <a:spLocks noChangeShapeType="1"/>
            </p:cNvSpPr>
            <p:nvPr/>
          </p:nvSpPr>
          <p:spPr bwMode="auto">
            <a:xfrm>
              <a:off x="1472" y="1362"/>
              <a:ext cx="0" cy="2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8" name="AutoShape 5">
              <a:extLst>
                <a:ext uri="{FF2B5EF4-FFF2-40B4-BE49-F238E27FC236}">
                  <a16:creationId xmlns:a16="http://schemas.microsoft.com/office/drawing/2014/main" id="{833F1309-AB93-B0D1-937C-2B5C67DAC1E8}"/>
                </a:ext>
              </a:extLst>
            </p:cNvPr>
            <p:cNvSpPr>
              <a:spLocks noChangeArrowheads="1"/>
            </p:cNvSpPr>
            <p:nvPr/>
          </p:nvSpPr>
          <p:spPr bwMode="auto">
            <a:xfrm>
              <a:off x="1729" y="2499"/>
              <a:ext cx="51" cy="454"/>
            </a:xfrm>
            <a:prstGeom prst="can">
              <a:avLst>
                <a:gd name="adj" fmla="val 79252"/>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defRPr/>
              </a:pPr>
              <a:endParaRPr lang="zh-CN" altLang="en-US" sz="2800" b="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9" name="Line 49">
              <a:extLst>
                <a:ext uri="{FF2B5EF4-FFF2-40B4-BE49-F238E27FC236}">
                  <a16:creationId xmlns:a16="http://schemas.microsoft.com/office/drawing/2014/main" id="{796C5F9E-EC64-6EA1-3102-1533EBBFD1F4}"/>
                </a:ext>
              </a:extLst>
            </p:cNvPr>
            <p:cNvSpPr>
              <a:spLocks noChangeShapeType="1"/>
            </p:cNvSpPr>
            <p:nvPr/>
          </p:nvSpPr>
          <p:spPr bwMode="auto">
            <a:xfrm>
              <a:off x="1729" y="2896"/>
              <a:ext cx="0" cy="28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 name="Line 50">
              <a:extLst>
                <a:ext uri="{FF2B5EF4-FFF2-40B4-BE49-F238E27FC236}">
                  <a16:creationId xmlns:a16="http://schemas.microsoft.com/office/drawing/2014/main" id="{6C5D4E36-1BBF-A399-C275-DA2270860B83}"/>
                </a:ext>
              </a:extLst>
            </p:cNvPr>
            <p:cNvSpPr>
              <a:spLocks noChangeShapeType="1"/>
            </p:cNvSpPr>
            <p:nvPr/>
          </p:nvSpPr>
          <p:spPr bwMode="auto">
            <a:xfrm>
              <a:off x="1780" y="2896"/>
              <a:ext cx="0" cy="28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1" name="Line 51">
              <a:extLst>
                <a:ext uri="{FF2B5EF4-FFF2-40B4-BE49-F238E27FC236}">
                  <a16:creationId xmlns:a16="http://schemas.microsoft.com/office/drawing/2014/main" id="{F253980E-FDD2-6681-6B3D-C5D54532A68F}"/>
                </a:ext>
              </a:extLst>
            </p:cNvPr>
            <p:cNvSpPr>
              <a:spLocks noChangeShapeType="1"/>
            </p:cNvSpPr>
            <p:nvPr/>
          </p:nvSpPr>
          <p:spPr bwMode="auto">
            <a:xfrm>
              <a:off x="1729" y="1362"/>
              <a:ext cx="0" cy="2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2" name="Line 52">
              <a:extLst>
                <a:ext uri="{FF2B5EF4-FFF2-40B4-BE49-F238E27FC236}">
                  <a16:creationId xmlns:a16="http://schemas.microsoft.com/office/drawing/2014/main" id="{E1842BA6-3010-96D0-2A74-587DE8400325}"/>
                </a:ext>
              </a:extLst>
            </p:cNvPr>
            <p:cNvSpPr>
              <a:spLocks noChangeShapeType="1"/>
            </p:cNvSpPr>
            <p:nvPr/>
          </p:nvSpPr>
          <p:spPr bwMode="auto">
            <a:xfrm>
              <a:off x="1780" y="1362"/>
              <a:ext cx="0" cy="28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Object 7">
                  <a:extLst>
                    <a:ext uri="{FF2B5EF4-FFF2-40B4-BE49-F238E27FC236}">
                      <a16:creationId xmlns:a16="http://schemas.microsoft.com/office/drawing/2014/main" id="{C00739D8-1265-AB9A-031B-A4FEE773C17D}"/>
                    </a:ext>
                  </a:extLst>
                </p:cNvPr>
                <p:cNvSpPr txBox="1"/>
                <p:nvPr/>
              </p:nvSpPr>
              <p:spPr bwMode="auto">
                <a:xfrm>
                  <a:off x="1925" y="1589"/>
                  <a:ext cx="255" cy="383"/>
                </a:xfrm>
                <a:prstGeom prst="rect">
                  <a:avLst/>
                </a:prstGeom>
                <a:noFill/>
                <a:ln>
                  <a:noFill/>
                </a:ln>
                <a:effectLst/>
              </p:spPr>
              <p:txBody>
                <a:bodyPr>
                  <a:normAutofit fontScale="850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𝐼</m:t>
                            </m:r>
                          </m:e>
                          <m:sub>
                            <m:r>
                              <a:rPr lang="en-US" sz="2800" b="0" i="1">
                                <a:solidFill>
                                  <a:schemeClr val="tx1"/>
                                </a:solidFill>
                                <a:latin typeface="Cambria Math" panose="02040503050406030204" pitchFamily="18" charset="0"/>
                              </a:rPr>
                              <m:t>3</m:t>
                            </m:r>
                          </m:sub>
                        </m:sSub>
                      </m:oMath>
                    </m:oMathPara>
                  </a14:m>
                  <a:endParaRPr lang="en-US" sz="2800">
                    <a:solidFill>
                      <a:schemeClr val="tx1"/>
                    </a:solidFill>
                  </a:endParaRPr>
                </a:p>
              </p:txBody>
            </p:sp>
          </mc:Choice>
          <mc:Fallback xmlns="">
            <p:sp>
              <p:nvSpPr>
                <p:cNvPr id="31" name="Object 7">
                  <a:extLst>
                    <a:ext uri="{FF2B5EF4-FFF2-40B4-BE49-F238E27FC236}">
                      <a16:creationId xmlns:a16="http://schemas.microsoft.com/office/drawing/2014/main" id="{7FB3DC70-4176-48A1-9930-CA28B26A5498}"/>
                    </a:ext>
                  </a:extLst>
                </p:cNvPr>
                <p:cNvSpPr txBox="1">
                  <a:spLocks noRot="1" noChangeAspect="1" noMove="1" noResize="1" noEditPoints="1" noAdjustHandles="1" noChangeArrowheads="1" noChangeShapeType="1" noTextEdit="1"/>
                </p:cNvSpPr>
                <p:nvPr/>
              </p:nvSpPr>
              <p:spPr bwMode="auto">
                <a:xfrm>
                  <a:off x="1925" y="1589"/>
                  <a:ext cx="255" cy="383"/>
                </a:xfrm>
                <a:prstGeom prst="rect">
                  <a:avLst/>
                </a:prstGeom>
                <a:blipFill>
                  <a:blip r:embed="rId7"/>
                  <a:stretch>
                    <a:fillRect l="-5660" r="-20755"/>
                  </a:stretch>
                </a:blipFill>
                <a:ln>
                  <a:noFill/>
                </a:ln>
                <a:effectLst/>
              </p:spPr>
              <p:txBody>
                <a:bodyPr/>
                <a:lstStyle/>
                <a:p>
                  <a:r>
                    <a:rPr lang="zh-CN" altLang="en-US">
                      <a:noFill/>
                    </a:rPr>
                    <a:t> </a:t>
                  </a:r>
                </a:p>
              </p:txBody>
            </p:sp>
          </mc:Fallback>
        </mc:AlternateContent>
        <p:sp>
          <p:nvSpPr>
            <p:cNvPr id="24" name="Line 41">
              <a:extLst>
                <a:ext uri="{FF2B5EF4-FFF2-40B4-BE49-F238E27FC236}">
                  <a16:creationId xmlns:a16="http://schemas.microsoft.com/office/drawing/2014/main" id="{FBC1C1C6-5CDB-2310-C854-2998211CAABD}"/>
                </a:ext>
              </a:extLst>
            </p:cNvPr>
            <p:cNvSpPr>
              <a:spLocks noChangeShapeType="1"/>
            </p:cNvSpPr>
            <p:nvPr/>
          </p:nvSpPr>
          <p:spPr bwMode="auto">
            <a:xfrm>
              <a:off x="1883" y="1589"/>
              <a:ext cx="0" cy="398"/>
            </a:xfrm>
            <a:prstGeom prst="line">
              <a:avLst/>
            </a:prstGeom>
            <a:noFill/>
            <a:ln w="1905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25" name="Group 63">
              <a:extLst>
                <a:ext uri="{FF2B5EF4-FFF2-40B4-BE49-F238E27FC236}">
                  <a16:creationId xmlns:a16="http://schemas.microsoft.com/office/drawing/2014/main" id="{C3537B1D-CEEB-1880-16A0-1EB8A12D84CF}"/>
                </a:ext>
              </a:extLst>
            </p:cNvPr>
            <p:cNvGrpSpPr>
              <a:grpSpLocks/>
            </p:cNvGrpSpPr>
            <p:nvPr/>
          </p:nvGrpSpPr>
          <p:grpSpPr bwMode="auto">
            <a:xfrm>
              <a:off x="850" y="2016"/>
              <a:ext cx="1369" cy="525"/>
              <a:chOff x="858" y="1695"/>
              <a:chExt cx="1280" cy="443"/>
            </a:xfrm>
          </p:grpSpPr>
          <p:sp>
            <p:nvSpPr>
              <p:cNvPr id="28" name="Oval 6">
                <a:extLst>
                  <a:ext uri="{FF2B5EF4-FFF2-40B4-BE49-F238E27FC236}">
                    <a16:creationId xmlns:a16="http://schemas.microsoft.com/office/drawing/2014/main" id="{F784A63A-6A5B-6BAA-429C-BD624FC2BCDF}"/>
                  </a:ext>
                </a:extLst>
              </p:cNvPr>
              <p:cNvSpPr>
                <a:spLocks noChangeArrowheads="1"/>
              </p:cNvSpPr>
              <p:nvPr/>
            </p:nvSpPr>
            <p:spPr bwMode="auto">
              <a:xfrm>
                <a:off x="858" y="1695"/>
                <a:ext cx="1280" cy="443"/>
              </a:xfrm>
              <a:prstGeom prst="ellipse">
                <a:avLst/>
              </a:prstGeom>
              <a:solidFill>
                <a:schemeClr val="accent2"/>
              </a:solidFill>
              <a:ln w="38100">
                <a:solidFill>
                  <a:srgbClr val="6600CC"/>
                </a:solidFill>
                <a:round/>
                <a:headEnd/>
                <a:tailEnd/>
              </a:ln>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spcBef>
                    <a:spcPct val="0"/>
                  </a:spcBef>
                  <a:buFontTx/>
                  <a:buNone/>
                </a:pPr>
                <a:endParaRPr lang="zh-CN" altLang="en-US" sz="2800" i="1" u="sng"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9" name="Line 16">
                <a:extLst>
                  <a:ext uri="{FF2B5EF4-FFF2-40B4-BE49-F238E27FC236}">
                    <a16:creationId xmlns:a16="http://schemas.microsoft.com/office/drawing/2014/main" id="{5B14053D-E7D6-271E-28D1-D484F61843EC}"/>
                  </a:ext>
                </a:extLst>
              </p:cNvPr>
              <p:cNvSpPr>
                <a:spLocks noChangeShapeType="1"/>
              </p:cNvSpPr>
              <p:nvPr/>
            </p:nvSpPr>
            <p:spPr bwMode="auto">
              <a:xfrm>
                <a:off x="1536" y="2134"/>
                <a:ext cx="91" cy="0"/>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26" name="AutoShape 8">
              <a:extLst>
                <a:ext uri="{FF2B5EF4-FFF2-40B4-BE49-F238E27FC236}">
                  <a16:creationId xmlns:a16="http://schemas.microsoft.com/office/drawing/2014/main" id="{A593FD9D-6258-1876-E96D-1231B9BFC298}"/>
                </a:ext>
              </a:extLst>
            </p:cNvPr>
            <p:cNvSpPr>
              <a:spLocks noChangeArrowheads="1"/>
            </p:cNvSpPr>
            <p:nvPr/>
          </p:nvSpPr>
          <p:spPr bwMode="auto">
            <a:xfrm>
              <a:off x="1730" y="1589"/>
              <a:ext cx="49" cy="734"/>
            </a:xfrm>
            <a:prstGeom prst="can">
              <a:avLst>
                <a:gd name="adj" fmla="val 133360"/>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defRPr/>
              </a:pPr>
              <a:endParaRPr lang="zh-CN" altLang="en-US" sz="2800" b="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7" name="AutoShape 54">
              <a:extLst>
                <a:ext uri="{FF2B5EF4-FFF2-40B4-BE49-F238E27FC236}">
                  <a16:creationId xmlns:a16="http://schemas.microsoft.com/office/drawing/2014/main" id="{582049F0-4C0A-DC48-8D91-9FC35C68FCF3}"/>
                </a:ext>
              </a:extLst>
            </p:cNvPr>
            <p:cNvSpPr>
              <a:spLocks noChangeArrowheads="1"/>
            </p:cNvSpPr>
            <p:nvPr/>
          </p:nvSpPr>
          <p:spPr bwMode="auto">
            <a:xfrm>
              <a:off x="1422" y="1589"/>
              <a:ext cx="49" cy="734"/>
            </a:xfrm>
            <a:prstGeom prst="can">
              <a:avLst>
                <a:gd name="adj" fmla="val 133360"/>
              </a:avLst>
            </a:prstGeom>
            <a:gradFill rotWithShape="0">
              <a:gsLst>
                <a:gs pos="0">
                  <a:schemeClr val="bg2">
                    <a:gamma/>
                    <a:shade val="56078"/>
                    <a:invGamma/>
                  </a:schemeClr>
                </a:gs>
                <a:gs pos="50000">
                  <a:schemeClr val="bg2"/>
                </a:gs>
                <a:gs pos="100000">
                  <a:schemeClr val="bg2">
                    <a:gamma/>
                    <a:shade val="56078"/>
                    <a:invGamma/>
                  </a:schemeClr>
                </a:gs>
              </a:gsLst>
              <a:lin ang="0" scaled="1"/>
            </a:gradFill>
            <a:ln w="9525">
              <a:solidFill>
                <a:schemeClr val="tx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defRPr/>
              </a:pPr>
              <a:endParaRPr lang="zh-CN" altLang="en-US" sz="2800" b="0" dirty="0">
                <a:latin typeface="Times New Roman" panose="02020603050405020304" pitchFamily="18" charset="0"/>
                <a:ea typeface="华文楷体" panose="02010600040101010101" pitchFamily="2"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35" name="内容占位符 3">
                <a:extLst>
                  <a:ext uri="{FF2B5EF4-FFF2-40B4-BE49-F238E27FC236}">
                    <a16:creationId xmlns:a16="http://schemas.microsoft.com/office/drawing/2014/main" id="{6C0C0274-BBD0-3F40-DBFD-D57A688ADF81}"/>
                  </a:ext>
                </a:extLst>
              </p:cNvPr>
              <p:cNvSpPr txBox="1">
                <a:spLocks/>
              </p:cNvSpPr>
              <p:nvPr/>
            </p:nvSpPr>
            <p:spPr>
              <a:xfrm>
                <a:off x="4137490" y="3608062"/>
                <a:ext cx="4736034" cy="202787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10000"/>
                  </a:lnSpc>
                  <a:spcBef>
                    <a:spcPct val="50000"/>
                  </a:spcBef>
                  <a:buNone/>
                </a:pPr>
                <a14:m>
                  <m:oMathPara xmlns:m="http://schemas.openxmlformats.org/officeDocument/2006/math">
                    <m:oMathParaPr>
                      <m:jc m:val="centerGroup"/>
                    </m:oMathParaPr>
                    <m:oMath xmlns:m="http://schemas.openxmlformats.org/officeDocument/2006/math">
                      <m:nary>
                        <m:naryPr>
                          <m:chr m:val="∮"/>
                          <m:ctrlPr>
                            <a:rPr kumimoji="1" lang="zh-CN" altLang="en-US" i="1" smtClean="0">
                              <a:solidFill>
                                <a:srgbClr val="0066FF"/>
                              </a:solidFill>
                              <a:latin typeface="Cambria Math" panose="02040503050406030204" pitchFamily="18" charset="0"/>
                            </a:rPr>
                          </m:ctrlPr>
                        </m:naryPr>
                        <m:sub>
                          <m:r>
                            <m:rPr>
                              <m:brk m:alnAt="23"/>
                            </m:rPr>
                            <a:rPr kumimoji="1" lang="en-US" altLang="zh-CN" i="1">
                              <a:solidFill>
                                <a:srgbClr val="0066FF"/>
                              </a:solidFill>
                              <a:latin typeface="Cambria Math" panose="02040503050406030204" pitchFamily="18" charset="0"/>
                            </a:rPr>
                            <m:t>𝒍</m:t>
                          </m:r>
                        </m:sub>
                        <m:sup/>
                        <m:e>
                          <m:acc>
                            <m:accPr>
                              <m:chr m:val="⃗"/>
                              <m:ctrlPr>
                                <a:rPr kumimoji="1" lang="en-US" altLang="zh-CN" i="1">
                                  <a:solidFill>
                                    <a:srgbClr val="0066FF"/>
                                  </a:solidFill>
                                  <a:latin typeface="Cambria Math" panose="02040503050406030204" pitchFamily="18" charset="0"/>
                                </a:rPr>
                              </m:ctrlPr>
                            </m:accPr>
                            <m:e>
                              <m:r>
                                <m:rPr>
                                  <m:sty m:val="p"/>
                                </m:rPr>
                                <a:rPr kumimoji="1" lang="en-US" altLang="zh-CN" i="1">
                                  <a:solidFill>
                                    <a:srgbClr val="0066FF"/>
                                  </a:solidFill>
                                  <a:latin typeface="Cambria Math" panose="02040503050406030204" pitchFamily="18" charset="0"/>
                                </a:rPr>
                                <m:t>M</m:t>
                              </m:r>
                            </m:e>
                          </m:acc>
                        </m:e>
                      </m:nary>
                      <m:r>
                        <a:rPr kumimoji="1" lang="en-US" altLang="zh-CN" i="1">
                          <a:solidFill>
                            <a:srgbClr val="0066FF"/>
                          </a:solidFill>
                          <a:latin typeface="Cambria Math" panose="02040503050406030204" pitchFamily="18" charset="0"/>
                          <a:ea typeface="Cambria Math" panose="02040503050406030204" pitchFamily="18" charset="0"/>
                        </a:rPr>
                        <m:t>∙</m:t>
                      </m:r>
                      <m:r>
                        <a:rPr kumimoji="1" lang="en-US" altLang="zh-CN" i="1">
                          <a:solidFill>
                            <a:srgbClr val="0066FF"/>
                          </a:solidFill>
                          <a:latin typeface="Cambria Math" panose="02040503050406030204" pitchFamily="18" charset="0"/>
                          <a:ea typeface="Cambria Math" panose="02040503050406030204" pitchFamily="18" charset="0"/>
                        </a:rPr>
                        <m:t>𝒅</m:t>
                      </m:r>
                      <m:acc>
                        <m:accPr>
                          <m:chr m:val="⃗"/>
                          <m:ctrlPr>
                            <a:rPr kumimoji="1" lang="en-US" altLang="zh-CN" i="1">
                              <a:solidFill>
                                <a:srgbClr val="0066FF"/>
                              </a:solidFill>
                              <a:latin typeface="Cambria Math" panose="02040503050406030204" pitchFamily="18" charset="0"/>
                              <a:ea typeface="Cambria Math" panose="02040503050406030204" pitchFamily="18" charset="0"/>
                            </a:rPr>
                          </m:ctrlPr>
                        </m:accPr>
                        <m:e>
                          <m:r>
                            <a:rPr kumimoji="1" lang="en-US" altLang="zh-CN" i="1">
                              <a:solidFill>
                                <a:srgbClr val="0066FF"/>
                              </a:solidFill>
                              <a:latin typeface="Cambria Math" panose="02040503050406030204" pitchFamily="18" charset="0"/>
                              <a:ea typeface="Cambria Math" panose="02040503050406030204" pitchFamily="18" charset="0"/>
                            </a:rPr>
                            <m:t>𝒍</m:t>
                          </m:r>
                        </m:e>
                      </m:acc>
                      <m:r>
                        <a:rPr kumimoji="1" lang="en-US" altLang="zh-CN" b="0" i="1" smtClean="0">
                          <a:solidFill>
                            <a:srgbClr val="0066FF"/>
                          </a:solidFill>
                          <a:latin typeface="Cambria Math" panose="02040503050406030204" pitchFamily="18" charset="0"/>
                          <a:ea typeface="Cambria Math" panose="02040503050406030204" pitchFamily="18" charset="0"/>
                        </a:rPr>
                        <m:t> </m:t>
                      </m:r>
                      <m:r>
                        <a:rPr kumimoji="1" lang="en-US" altLang="zh-CN" i="1" smtClean="0">
                          <a:solidFill>
                            <a:srgbClr val="0066FF"/>
                          </a:solidFill>
                          <a:latin typeface="Cambria Math" panose="02040503050406030204" pitchFamily="18" charset="0"/>
                          <a:ea typeface="Cambria Math" panose="02040503050406030204" pitchFamily="18" charset="0"/>
                        </a:rPr>
                        <m:t>~</m:t>
                      </m:r>
                      <m:r>
                        <a:rPr lang="en-US" altLang="zh-CN" i="1" smtClean="0">
                          <a:solidFill>
                            <a:srgbClr val="0066FF"/>
                          </a:solidFill>
                          <a:latin typeface="Cambria Math" panose="02040503050406030204" pitchFamily="18" charset="0"/>
                        </a:rPr>
                        <m:t>𝐼</m:t>
                      </m:r>
                      <m:r>
                        <a:rPr lang="en-US" altLang="zh-CN" b="0" i="1" smtClean="0">
                          <a:solidFill>
                            <a:srgbClr val="0066FF"/>
                          </a:solidFill>
                          <a:latin typeface="Cambria Math" panose="02040503050406030204" pitchFamily="18" charset="0"/>
                        </a:rPr>
                        <m:t>′</m:t>
                      </m:r>
                    </m:oMath>
                  </m:oMathPara>
                </a14:m>
                <a:endParaRPr lang="zh-CN" altLang="en-US" dirty="0">
                  <a:solidFill>
                    <a:srgbClr val="0066FF"/>
                  </a:solidFill>
                </a:endParaRPr>
              </a:p>
            </p:txBody>
          </p:sp>
        </mc:Choice>
        <mc:Fallback xmlns="">
          <p:sp>
            <p:nvSpPr>
              <p:cNvPr id="35" name="内容占位符 3">
                <a:extLst>
                  <a:ext uri="{FF2B5EF4-FFF2-40B4-BE49-F238E27FC236}">
                    <a16:creationId xmlns:a16="http://schemas.microsoft.com/office/drawing/2014/main" id="{6C0C0274-BBD0-3F40-DBFD-D57A688ADF81}"/>
                  </a:ext>
                </a:extLst>
              </p:cNvPr>
              <p:cNvSpPr txBox="1">
                <a:spLocks noRot="1" noChangeAspect="1" noMove="1" noResize="1" noEditPoints="1" noAdjustHandles="1" noChangeArrowheads="1" noChangeShapeType="1" noTextEdit="1"/>
              </p:cNvSpPr>
              <p:nvPr/>
            </p:nvSpPr>
            <p:spPr>
              <a:xfrm>
                <a:off x="4137490" y="3608062"/>
                <a:ext cx="4736034" cy="2027874"/>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45864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719721" y="280249"/>
            <a:ext cx="4993638" cy="811388"/>
          </a:xfrm>
        </p:spPr>
        <p:txBody>
          <a:bodyPr>
            <a:normAutofit/>
          </a:bodyPr>
          <a:lstStyle/>
          <a:p>
            <a:pPr marL="457200" indent="-457200">
              <a:buFont typeface="Wingdings" panose="05000000000000000000" pitchFamily="2" charset="2"/>
              <a:buChar char="q"/>
            </a:pPr>
            <a:r>
              <a:rPr lang="zh-CN" altLang="en-US" sz="3200" b="1" dirty="0">
                <a:solidFill>
                  <a:srgbClr val="0066FF"/>
                </a:solidFill>
              </a:rPr>
              <a:t>磁化电流与磁化强度</a:t>
            </a:r>
          </a:p>
        </p:txBody>
      </p:sp>
      <p:sp>
        <p:nvSpPr>
          <p:cNvPr id="71" name="Text Box 2">
            <a:extLst>
              <a:ext uri="{FF2B5EF4-FFF2-40B4-BE49-F238E27FC236}">
                <a16:creationId xmlns:a16="http://schemas.microsoft.com/office/drawing/2014/main" id="{5EACC65E-42F0-4E5B-8BAE-2C1C8590AE9D}"/>
              </a:ext>
            </a:extLst>
          </p:cNvPr>
          <p:cNvSpPr txBox="1">
            <a:spLocks noChangeArrowheads="1"/>
          </p:cNvSpPr>
          <p:nvPr/>
        </p:nvSpPr>
        <p:spPr bwMode="auto">
          <a:xfrm>
            <a:off x="1249998" y="1240477"/>
            <a:ext cx="2686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solidFill>
                  <a:srgbClr val="0066FF"/>
                </a:solidFill>
                <a:latin typeface="+mn-ea"/>
                <a:ea typeface="+mn-ea"/>
              </a:rPr>
              <a:t> </a:t>
            </a:r>
            <a:r>
              <a:rPr lang="zh-CN" altLang="en-US" b="0" dirty="0">
                <a:solidFill>
                  <a:srgbClr val="0066FF"/>
                </a:solidFill>
                <a:latin typeface="+mn-ea"/>
                <a:ea typeface="+mn-ea"/>
              </a:rPr>
              <a:t>介质内：</a:t>
            </a:r>
          </a:p>
        </p:txBody>
      </p:sp>
      <p:sp>
        <p:nvSpPr>
          <p:cNvPr id="72" name="Text Box 3">
            <a:extLst>
              <a:ext uri="{FF2B5EF4-FFF2-40B4-BE49-F238E27FC236}">
                <a16:creationId xmlns:a16="http://schemas.microsoft.com/office/drawing/2014/main" id="{1FD2F1FE-654B-40CF-9041-D5CEE60CCA81}"/>
              </a:ext>
            </a:extLst>
          </p:cNvPr>
          <p:cNvSpPr txBox="1">
            <a:spLocks noChangeArrowheads="1"/>
          </p:cNvSpPr>
          <p:nvPr/>
        </p:nvSpPr>
        <p:spPr bwMode="auto">
          <a:xfrm>
            <a:off x="1539977" y="5845226"/>
            <a:ext cx="65913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0" dirty="0">
                <a:latin typeface="+mn-ea"/>
                <a:ea typeface="+mn-ea"/>
              </a:rPr>
              <a:t>穿过</a:t>
            </a:r>
            <a:r>
              <a:rPr lang="en-US" altLang="zh-CN" b="0" i="1" dirty="0">
                <a:latin typeface="+mn-ea"/>
                <a:ea typeface="+mn-ea"/>
              </a:rPr>
              <a:t>L</a:t>
            </a:r>
            <a:r>
              <a:rPr lang="zh-CN" altLang="en-US" b="0" dirty="0">
                <a:latin typeface="+mn-ea"/>
                <a:ea typeface="+mn-ea"/>
              </a:rPr>
              <a:t>所围曲面</a:t>
            </a:r>
            <a:r>
              <a:rPr lang="zh-CN" altLang="en-US" b="0" dirty="0">
                <a:latin typeface="+mn-ea"/>
                <a:ea typeface="+mn-ea"/>
                <a:sym typeface="Symbol" panose="05050102010706020507" pitchFamily="18" charset="2"/>
              </a:rPr>
              <a:t></a:t>
            </a:r>
            <a:r>
              <a:rPr lang="en-US" altLang="zh-CN" b="0" i="1" dirty="0">
                <a:latin typeface="+mn-ea"/>
                <a:ea typeface="+mn-ea"/>
              </a:rPr>
              <a:t>S </a:t>
            </a:r>
            <a:r>
              <a:rPr lang="zh-CN" altLang="en-US" b="0" dirty="0">
                <a:latin typeface="+mn-ea"/>
                <a:ea typeface="+mn-ea"/>
              </a:rPr>
              <a:t>的磁化电流</a:t>
            </a:r>
          </a:p>
        </p:txBody>
      </p:sp>
      <mc:AlternateContent xmlns:mc="http://schemas.openxmlformats.org/markup-compatibility/2006" xmlns:a14="http://schemas.microsoft.com/office/drawing/2010/main">
        <mc:Choice Requires="a14">
          <p:sp>
            <p:nvSpPr>
              <p:cNvPr id="73" name="Object 5">
                <a:extLst>
                  <a:ext uri="{FF2B5EF4-FFF2-40B4-BE49-F238E27FC236}">
                    <a16:creationId xmlns:a16="http://schemas.microsoft.com/office/drawing/2014/main" id="{F5EFEA80-3F86-4D02-B666-04C4978F99B9}"/>
                  </a:ext>
                </a:extLst>
              </p:cNvPr>
              <p:cNvSpPr txBox="1"/>
              <p:nvPr/>
            </p:nvSpPr>
            <p:spPr bwMode="auto">
              <a:xfrm>
                <a:off x="6721798" y="4928907"/>
                <a:ext cx="2901663" cy="44926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𝑀</m:t>
                      </m:r>
                      <m:r>
                        <a:rPr lang="en-US" sz="2800" i="1">
                          <a:solidFill>
                            <a:srgbClr val="000000"/>
                          </a:solidFill>
                          <a:latin typeface="Cambria Math" panose="02040503050406030204" pitchFamily="18" charset="0"/>
                        </a:rPr>
                        <m:t>⋅</m:t>
                      </m:r>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d</m:t>
                          </m:r>
                        </m:fName>
                        <m:e>
                          <m:r>
                            <a:rPr lang="en-US" sz="2800" i="1">
                              <a:solidFill>
                                <a:srgbClr val="000000"/>
                              </a:solidFill>
                              <a:latin typeface="Cambria Math" panose="02040503050406030204" pitchFamily="18" charset="0"/>
                            </a:rPr>
                            <m:t>𝑙</m:t>
                          </m:r>
                        </m:e>
                      </m:func>
                      <m:r>
                        <a:rPr lang="en-US" sz="2800" i="1">
                          <a:solidFill>
                            <a:srgbClr val="000000"/>
                          </a:solidFill>
                          <a:latin typeface="Cambria Math" panose="02040503050406030204" pitchFamily="18" charset="0"/>
                        </a:rPr>
                        <m:t>⋅</m:t>
                      </m:r>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cos</m:t>
                          </m:r>
                        </m:fName>
                        <m:e>
                          <m:r>
                            <a:rPr lang="en-US" sz="2800" i="1">
                              <a:solidFill>
                                <a:srgbClr val="000000"/>
                              </a:solidFill>
                              <a:latin typeface="Cambria Math" panose="02040503050406030204" pitchFamily="18" charset="0"/>
                            </a:rPr>
                            <m:t>𝜃</m:t>
                          </m:r>
                        </m:e>
                      </m:func>
                    </m:oMath>
                  </m:oMathPara>
                </a14:m>
                <a:endParaRPr lang="en-US" sz="2800" dirty="0"/>
              </a:p>
            </p:txBody>
          </p:sp>
        </mc:Choice>
        <mc:Fallback xmlns="">
          <p:sp>
            <p:nvSpPr>
              <p:cNvPr id="73" name="Object 5">
                <a:extLst>
                  <a:ext uri="{FF2B5EF4-FFF2-40B4-BE49-F238E27FC236}">
                    <a16:creationId xmlns:a16="http://schemas.microsoft.com/office/drawing/2014/main" id="{F5EFEA80-3F86-4D02-B666-04C4978F99B9}"/>
                  </a:ext>
                </a:extLst>
              </p:cNvPr>
              <p:cNvSpPr txBox="1">
                <a:spLocks noRot="1" noChangeAspect="1" noMove="1" noResize="1" noEditPoints="1" noAdjustHandles="1" noChangeArrowheads="1" noChangeShapeType="1" noTextEdit="1"/>
              </p:cNvSpPr>
              <p:nvPr/>
            </p:nvSpPr>
            <p:spPr bwMode="auto">
              <a:xfrm>
                <a:off x="6721798" y="4928907"/>
                <a:ext cx="2901663" cy="449262"/>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Object 6">
                <a:extLst>
                  <a:ext uri="{FF2B5EF4-FFF2-40B4-BE49-F238E27FC236}">
                    <a16:creationId xmlns:a16="http://schemas.microsoft.com/office/drawing/2014/main" id="{6210E898-89E8-484F-AFB0-D8B0B016CB73}"/>
                  </a:ext>
                </a:extLst>
              </p:cNvPr>
              <p:cNvSpPr txBox="1"/>
              <p:nvPr/>
            </p:nvSpPr>
            <p:spPr bwMode="auto">
              <a:xfrm>
                <a:off x="9274175" y="4874449"/>
                <a:ext cx="1832155" cy="52228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𝑀</m:t>
                          </m:r>
                        </m:e>
                      </m:acc>
                      <m:r>
                        <a:rPr lang="en-US" sz="2800" i="1">
                          <a:solidFill>
                            <a:srgbClr val="000000"/>
                          </a:solidFill>
                          <a:latin typeface="Cambria Math" panose="02040503050406030204" pitchFamily="18" charset="0"/>
                        </a:rPr>
                        <m:t>⋅</m:t>
                      </m:r>
                      <m:acc>
                        <m:accPr>
                          <m:chr m:val="⃗"/>
                          <m:ctrlPr>
                            <a:rPr lang="en-US" sz="2800" i="1">
                              <a:solidFill>
                                <a:srgbClr val="000000"/>
                              </a:solidFill>
                              <a:latin typeface="Cambria Math" panose="02040503050406030204" pitchFamily="18" charset="0"/>
                            </a:rPr>
                          </m:ctrlPr>
                        </m:accPr>
                        <m:e>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d</m:t>
                              </m:r>
                            </m:fName>
                            <m:e>
                              <m:r>
                                <a:rPr lang="en-US" sz="2800" i="1">
                                  <a:solidFill>
                                    <a:srgbClr val="000000"/>
                                  </a:solidFill>
                                  <a:latin typeface="Cambria Math" panose="02040503050406030204" pitchFamily="18" charset="0"/>
                                </a:rPr>
                                <m:t>𝑙</m:t>
                              </m:r>
                            </m:e>
                          </m:func>
                        </m:e>
                      </m:acc>
                    </m:oMath>
                  </m:oMathPara>
                </a14:m>
                <a:endParaRPr lang="en-US" sz="2800" dirty="0"/>
              </a:p>
            </p:txBody>
          </p:sp>
        </mc:Choice>
        <mc:Fallback xmlns="">
          <p:sp>
            <p:nvSpPr>
              <p:cNvPr id="74" name="Object 6">
                <a:extLst>
                  <a:ext uri="{FF2B5EF4-FFF2-40B4-BE49-F238E27FC236}">
                    <a16:creationId xmlns:a16="http://schemas.microsoft.com/office/drawing/2014/main" id="{6210E898-89E8-484F-AFB0-D8B0B016CB73}"/>
                  </a:ext>
                </a:extLst>
              </p:cNvPr>
              <p:cNvSpPr txBox="1">
                <a:spLocks noRot="1" noChangeAspect="1" noMove="1" noResize="1" noEditPoints="1" noAdjustHandles="1" noChangeArrowheads="1" noChangeShapeType="1" noTextEdit="1"/>
              </p:cNvSpPr>
              <p:nvPr/>
            </p:nvSpPr>
            <p:spPr bwMode="auto">
              <a:xfrm>
                <a:off x="9274175" y="4874449"/>
                <a:ext cx="1832155" cy="522288"/>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5" name="Object 7">
                <a:extLst>
                  <a:ext uri="{FF2B5EF4-FFF2-40B4-BE49-F238E27FC236}">
                    <a16:creationId xmlns:a16="http://schemas.microsoft.com/office/drawing/2014/main" id="{34CF6F3E-1341-4F93-8F5D-7D7AD32A4F9B}"/>
                  </a:ext>
                </a:extLst>
              </p:cNvPr>
              <p:cNvSpPr txBox="1"/>
              <p:nvPr/>
            </p:nvSpPr>
            <p:spPr bwMode="auto">
              <a:xfrm>
                <a:off x="6572939" y="5573743"/>
                <a:ext cx="3443134" cy="919162"/>
              </a:xfrm>
              <a:prstGeom prst="rect">
                <a:avLst/>
              </a:prstGeom>
              <a:noFill/>
              <a:ln w="38100">
                <a:no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nary>
                        <m:naryPr>
                          <m:chr m:val="∑"/>
                          <m:subHide m:val="on"/>
                          <m:supHide m:val="on"/>
                          <m:ctrlPr>
                            <a:rPr lang="zh-CN" altLang="en-US" sz="2800" i="1">
                              <a:solidFill>
                                <a:srgbClr val="000000"/>
                              </a:solidFill>
                              <a:latin typeface="Cambria Math" panose="02040503050406030204" pitchFamily="18" charset="0"/>
                            </a:rPr>
                          </m:ctrlPr>
                        </m:naryPr>
                        <m:sub/>
                        <m:sup/>
                        <m:e>
                          <m:sSup>
                            <m:sSupPr>
                              <m:ctrlPr>
                                <a:rPr lang="zh-CN" altLang="en-US" sz="2800" i="1">
                                  <a:solidFill>
                                    <a:srgbClr val="000000"/>
                                  </a:solidFill>
                                  <a:latin typeface="Cambria Math" panose="02040503050406030204" pitchFamily="18" charset="0"/>
                                </a:rPr>
                              </m:ctrlPr>
                            </m:sSupPr>
                            <m:e>
                              <m:r>
                                <a:rPr lang="zh-CN" altLang="en-US" sz="2800" b="0" i="1">
                                  <a:solidFill>
                                    <a:srgbClr val="000000"/>
                                  </a:solidFill>
                                  <a:latin typeface="Cambria Math" panose="02040503050406030204" pitchFamily="18" charset="0"/>
                                </a:rPr>
                                <m:t>𝐼</m:t>
                              </m:r>
                            </m:e>
                            <m:sup>
                              <m:r>
                                <a:rPr lang="zh-CN" altLang="en-US" sz="2800" b="0" i="1">
                                  <a:solidFill>
                                    <a:srgbClr val="000000"/>
                                  </a:solidFill>
                                  <a:latin typeface="Cambria Math" panose="02040503050406030204" pitchFamily="18" charset="0"/>
                                </a:rPr>
                                <m:t>′</m:t>
                              </m:r>
                            </m:sup>
                          </m:sSup>
                        </m:e>
                      </m:nary>
                      <m:r>
                        <a:rPr lang="zh-CN" altLang="en-US" sz="2800" b="0" i="1">
                          <a:solidFill>
                            <a:srgbClr val="000000"/>
                          </a:solidFill>
                          <a:latin typeface="Cambria Math" panose="02040503050406030204" pitchFamily="18" charset="0"/>
                        </a:rPr>
                        <m:t> =</m:t>
                      </m:r>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b="0" i="1">
                              <a:solidFill>
                                <a:srgbClr val="000000"/>
                              </a:solidFill>
                              <a:latin typeface="Cambria Math" panose="02040503050406030204" pitchFamily="18" charset="0"/>
                            </a:rPr>
                            <m:t>𝐿</m:t>
                          </m:r>
                        </m:sub>
                        <m:sup/>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𝑀</m:t>
                              </m:r>
                            </m:e>
                          </m:acc>
                          <m:r>
                            <a:rPr lang="zh-CN" altLang="en-US" sz="2800" b="0" i="1">
                              <a:solidFill>
                                <a:srgbClr val="000000"/>
                              </a:solidFill>
                              <a:latin typeface="Cambria Math" panose="02040503050406030204" pitchFamily="18" charset="0"/>
                            </a:rPr>
                            <m:t>⋅</m:t>
                          </m:r>
                          <m:acc>
                            <m:accPr>
                              <m:chr m:val="⃗"/>
                              <m:ctrlPr>
                                <a:rPr lang="zh-CN" altLang="en-US" sz="2800" i="1">
                                  <a:solidFill>
                                    <a:srgbClr val="000000"/>
                                  </a:solidFill>
                                  <a:latin typeface="Cambria Math" panose="02040503050406030204" pitchFamily="18" charset="0"/>
                                </a:rPr>
                              </m:ctrlPr>
                            </m:accPr>
                            <m:e>
                              <m:func>
                                <m:funcPr>
                                  <m:ctrlPr>
                                    <a:rPr lang="zh-CN" altLang="en-US" sz="2800" i="1">
                                      <a:solidFill>
                                        <a:srgbClr val="000000"/>
                                      </a:solidFill>
                                      <a:latin typeface="Cambria Math" panose="02040503050406030204" pitchFamily="18" charset="0"/>
                                    </a:rPr>
                                  </m:ctrlPr>
                                </m:funcPr>
                                <m:fName>
                                  <m:r>
                                    <m:rPr>
                                      <m:sty m:val="p"/>
                                    </m:rPr>
                                    <a:rPr lang="zh-CN" altLang="en-US" sz="2800" b="0" i="0">
                                      <a:solidFill>
                                        <a:srgbClr val="000000"/>
                                      </a:solidFill>
                                      <a:latin typeface="Cambria Math" panose="02040503050406030204" pitchFamily="18" charset="0"/>
                                    </a:rPr>
                                    <m:t>d</m:t>
                                  </m:r>
                                </m:fName>
                                <m:e>
                                  <m:r>
                                    <a:rPr lang="zh-CN" altLang="en-US" sz="2800" b="0" i="1">
                                      <a:solidFill>
                                        <a:srgbClr val="000000"/>
                                      </a:solidFill>
                                      <a:latin typeface="Cambria Math" panose="02040503050406030204" pitchFamily="18" charset="0"/>
                                    </a:rPr>
                                    <m:t>𝑙</m:t>
                                  </m:r>
                                </m:e>
                              </m:func>
                            </m:e>
                          </m:acc>
                        </m:e>
                      </m:nary>
                    </m:oMath>
                  </m:oMathPara>
                </a14:m>
                <a:endParaRPr lang="zh-CN" altLang="en-US" sz="2800" dirty="0">
                  <a:latin typeface="+mn-ea"/>
                </a:endParaRPr>
              </a:p>
            </p:txBody>
          </p:sp>
        </mc:Choice>
        <mc:Fallback xmlns="">
          <p:sp>
            <p:nvSpPr>
              <p:cNvPr id="75" name="Object 7">
                <a:extLst>
                  <a:ext uri="{FF2B5EF4-FFF2-40B4-BE49-F238E27FC236}">
                    <a16:creationId xmlns:a16="http://schemas.microsoft.com/office/drawing/2014/main" id="{34CF6F3E-1341-4F93-8F5D-7D7AD32A4F9B}"/>
                  </a:ext>
                </a:extLst>
              </p:cNvPr>
              <p:cNvSpPr txBox="1">
                <a:spLocks noRot="1" noChangeAspect="1" noMove="1" noResize="1" noEditPoints="1" noAdjustHandles="1" noChangeArrowheads="1" noChangeShapeType="1" noTextEdit="1"/>
              </p:cNvSpPr>
              <p:nvPr/>
            </p:nvSpPr>
            <p:spPr bwMode="auto">
              <a:xfrm>
                <a:off x="6572939" y="5573743"/>
                <a:ext cx="3443134" cy="919162"/>
              </a:xfrm>
              <a:prstGeom prst="rect">
                <a:avLst/>
              </a:prstGeom>
              <a:blipFill>
                <a:blip r:embed="rId5"/>
                <a:stretch>
                  <a:fillRect b="-26490"/>
                </a:stretch>
              </a:blipFill>
              <a:ln w="38100">
                <a:noFill/>
                <a:miter lim="800000"/>
                <a:headEnd/>
                <a:tailEnd/>
              </a:ln>
              <a:effectLst/>
            </p:spPr>
            <p:txBody>
              <a:bodyPr/>
              <a:lstStyle/>
              <a:p>
                <a:r>
                  <a:rPr lang="zh-CN" altLang="en-US">
                    <a:noFill/>
                  </a:rPr>
                  <a:t> </a:t>
                </a:r>
              </a:p>
            </p:txBody>
          </p:sp>
        </mc:Fallback>
      </mc:AlternateContent>
      <p:sp>
        <p:nvSpPr>
          <p:cNvPr id="76" name="Text Box 8">
            <a:extLst>
              <a:ext uri="{FF2B5EF4-FFF2-40B4-BE49-F238E27FC236}">
                <a16:creationId xmlns:a16="http://schemas.microsoft.com/office/drawing/2014/main" id="{2A4064C9-76F9-4ECB-AFC0-32368F6C1B98}"/>
              </a:ext>
            </a:extLst>
          </p:cNvPr>
          <p:cNvSpPr txBox="1">
            <a:spLocks noChangeArrowheads="1"/>
          </p:cNvSpPr>
          <p:nvPr/>
        </p:nvSpPr>
        <p:spPr bwMode="auto">
          <a:xfrm>
            <a:off x="4566816" y="4221193"/>
            <a:ext cx="48387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0" dirty="0">
                <a:latin typeface="+mn-ea"/>
                <a:ea typeface="+mn-ea"/>
              </a:rPr>
              <a:t>则套住 </a:t>
            </a:r>
            <a:r>
              <a:rPr lang="en-US" altLang="zh-CN" b="0" dirty="0">
                <a:latin typeface="+mn-ea"/>
                <a:ea typeface="+mn-ea"/>
              </a:rPr>
              <a:t>d</a:t>
            </a:r>
            <a:r>
              <a:rPr lang="en-US" altLang="zh-CN" b="0" i="1" dirty="0">
                <a:latin typeface="+mn-ea"/>
                <a:ea typeface="+mn-ea"/>
              </a:rPr>
              <a:t>l </a:t>
            </a:r>
            <a:r>
              <a:rPr lang="zh-CN" altLang="en-US" b="0" dirty="0">
                <a:latin typeface="+mn-ea"/>
                <a:ea typeface="+mn-ea"/>
              </a:rPr>
              <a:t>的分子电流：</a:t>
            </a:r>
          </a:p>
        </p:txBody>
      </p:sp>
      <p:grpSp>
        <p:nvGrpSpPr>
          <p:cNvPr id="77" name="Group 9">
            <a:extLst>
              <a:ext uri="{FF2B5EF4-FFF2-40B4-BE49-F238E27FC236}">
                <a16:creationId xmlns:a16="http://schemas.microsoft.com/office/drawing/2014/main" id="{18B364F6-AC93-4058-A53C-D550E05FE951}"/>
              </a:ext>
            </a:extLst>
          </p:cNvPr>
          <p:cNvGrpSpPr>
            <a:grpSpLocks/>
          </p:cNvGrpSpPr>
          <p:nvPr/>
        </p:nvGrpSpPr>
        <p:grpSpPr bwMode="auto">
          <a:xfrm>
            <a:off x="3645002" y="2004830"/>
            <a:ext cx="1371600" cy="1738312"/>
            <a:chOff x="1554" y="2691"/>
            <a:chExt cx="864" cy="1095"/>
          </a:xfrm>
        </p:grpSpPr>
        <p:sp>
          <p:nvSpPr>
            <p:cNvPr id="78" name="Freeform 10">
              <a:extLst>
                <a:ext uri="{FF2B5EF4-FFF2-40B4-BE49-F238E27FC236}">
                  <a16:creationId xmlns:a16="http://schemas.microsoft.com/office/drawing/2014/main" id="{A9AB3884-402B-4EC0-A69A-D68C1C0DE27B}"/>
                </a:ext>
              </a:extLst>
            </p:cNvPr>
            <p:cNvSpPr>
              <a:spLocks/>
            </p:cNvSpPr>
            <p:nvPr/>
          </p:nvSpPr>
          <p:spPr bwMode="auto">
            <a:xfrm rot="-1409106">
              <a:off x="1554" y="2691"/>
              <a:ext cx="864" cy="840"/>
            </a:xfrm>
            <a:custGeom>
              <a:avLst/>
              <a:gdLst>
                <a:gd name="T0" fmla="*/ 48 w 864"/>
                <a:gd name="T1" fmla="*/ 1275 h 728"/>
                <a:gd name="T2" fmla="*/ 336 w 864"/>
                <a:gd name="T3" fmla="*/ 119 h 728"/>
                <a:gd name="T4" fmla="*/ 720 w 864"/>
                <a:gd name="T5" fmla="*/ 572 h 728"/>
                <a:gd name="T6" fmla="*/ 816 w 864"/>
                <a:gd name="T7" fmla="*/ 2198 h 728"/>
                <a:gd name="T8" fmla="*/ 432 w 864"/>
                <a:gd name="T9" fmla="*/ 3363 h 728"/>
                <a:gd name="T10" fmla="*/ 192 w 864"/>
                <a:gd name="T11" fmla="*/ 3129 h 728"/>
                <a:gd name="T12" fmla="*/ 96 w 864"/>
                <a:gd name="T13" fmla="*/ 2435 h 728"/>
                <a:gd name="T14" fmla="*/ 48 w 864"/>
                <a:gd name="T15" fmla="*/ 1967 h 728"/>
                <a:gd name="T16" fmla="*/ 48 w 864"/>
                <a:gd name="T17" fmla="*/ 1275 h 7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64" h="728">
                  <a:moveTo>
                    <a:pt x="48" y="264"/>
                  </a:moveTo>
                  <a:cubicBezTo>
                    <a:pt x="96" y="200"/>
                    <a:pt x="224" y="48"/>
                    <a:pt x="336" y="24"/>
                  </a:cubicBezTo>
                  <a:cubicBezTo>
                    <a:pt x="448" y="0"/>
                    <a:pt x="640" y="48"/>
                    <a:pt x="720" y="120"/>
                  </a:cubicBezTo>
                  <a:cubicBezTo>
                    <a:pt x="800" y="192"/>
                    <a:pt x="864" y="360"/>
                    <a:pt x="816" y="456"/>
                  </a:cubicBezTo>
                  <a:cubicBezTo>
                    <a:pt x="768" y="552"/>
                    <a:pt x="536" y="664"/>
                    <a:pt x="432" y="696"/>
                  </a:cubicBezTo>
                  <a:cubicBezTo>
                    <a:pt x="328" y="728"/>
                    <a:pt x="248" y="680"/>
                    <a:pt x="192" y="648"/>
                  </a:cubicBezTo>
                  <a:cubicBezTo>
                    <a:pt x="136" y="616"/>
                    <a:pt x="120" y="544"/>
                    <a:pt x="96" y="504"/>
                  </a:cubicBezTo>
                  <a:cubicBezTo>
                    <a:pt x="72" y="464"/>
                    <a:pt x="56" y="448"/>
                    <a:pt x="48" y="408"/>
                  </a:cubicBezTo>
                  <a:cubicBezTo>
                    <a:pt x="40" y="368"/>
                    <a:pt x="0" y="328"/>
                    <a:pt x="48" y="264"/>
                  </a:cubicBezTo>
                  <a:close/>
                </a:path>
              </a:pathLst>
            </a:custGeom>
            <a:solidFill>
              <a:srgbClr val="FFFFFF"/>
            </a:solidFill>
            <a:ln w="28575" cap="flat" cmpd="sng">
              <a:solidFill>
                <a:srgbClr val="FF3300"/>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sp>
          <p:nvSpPr>
            <p:cNvPr id="79" name="Text Box 11">
              <a:extLst>
                <a:ext uri="{FF2B5EF4-FFF2-40B4-BE49-F238E27FC236}">
                  <a16:creationId xmlns:a16="http://schemas.microsoft.com/office/drawing/2014/main" id="{C321B914-AAA4-4149-A4F4-F8B099F4D349}"/>
                </a:ext>
              </a:extLst>
            </p:cNvPr>
            <p:cNvSpPr txBox="1">
              <a:spLocks noChangeArrowheads="1"/>
            </p:cNvSpPr>
            <p:nvPr/>
          </p:nvSpPr>
          <p:spPr bwMode="auto">
            <a:xfrm rot="-117748">
              <a:off x="1733" y="3459"/>
              <a:ext cx="48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a:solidFill>
                    <a:srgbClr val="FF3300"/>
                  </a:solidFill>
                  <a:latin typeface="+mn-ea"/>
                  <a:ea typeface="+mn-ea"/>
                </a:rPr>
                <a:t>L</a:t>
              </a:r>
            </a:p>
          </p:txBody>
        </p:sp>
        <p:sp>
          <p:nvSpPr>
            <p:cNvPr id="80" name="Line 12">
              <a:extLst>
                <a:ext uri="{FF2B5EF4-FFF2-40B4-BE49-F238E27FC236}">
                  <a16:creationId xmlns:a16="http://schemas.microsoft.com/office/drawing/2014/main" id="{107D7B10-430E-4021-A89B-0E3A10A807AD}"/>
                </a:ext>
              </a:extLst>
            </p:cNvPr>
            <p:cNvSpPr>
              <a:spLocks noChangeShapeType="1"/>
            </p:cNvSpPr>
            <p:nvPr/>
          </p:nvSpPr>
          <p:spPr bwMode="auto">
            <a:xfrm rot="83645">
              <a:off x="1680" y="3360"/>
              <a:ext cx="144" cy="108"/>
            </a:xfrm>
            <a:prstGeom prst="line">
              <a:avLst/>
            </a:prstGeom>
            <a:noFill/>
            <a:ln w="19050">
              <a:solidFill>
                <a:srgbClr val="FF3300"/>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grpSp>
        <p:nvGrpSpPr>
          <p:cNvPr id="81" name="Group 13">
            <a:extLst>
              <a:ext uri="{FF2B5EF4-FFF2-40B4-BE49-F238E27FC236}">
                <a16:creationId xmlns:a16="http://schemas.microsoft.com/office/drawing/2014/main" id="{D06B3EAD-1F7A-4A15-8E11-D008C2D55174}"/>
              </a:ext>
            </a:extLst>
          </p:cNvPr>
          <p:cNvGrpSpPr>
            <a:grpSpLocks/>
          </p:cNvGrpSpPr>
          <p:nvPr/>
        </p:nvGrpSpPr>
        <p:grpSpPr bwMode="auto">
          <a:xfrm>
            <a:off x="3954565" y="2701743"/>
            <a:ext cx="381000" cy="238125"/>
            <a:chOff x="1749" y="3130"/>
            <a:chExt cx="240" cy="150"/>
          </a:xfrm>
        </p:grpSpPr>
        <p:sp>
          <p:nvSpPr>
            <p:cNvPr id="82" name="Oval 14">
              <a:extLst>
                <a:ext uri="{FF2B5EF4-FFF2-40B4-BE49-F238E27FC236}">
                  <a16:creationId xmlns:a16="http://schemas.microsoft.com/office/drawing/2014/main" id="{CE1BB112-01BD-4706-A700-11D3F4769A17}"/>
                </a:ext>
              </a:extLst>
            </p:cNvPr>
            <p:cNvSpPr>
              <a:spLocks noChangeArrowheads="1"/>
            </p:cNvSpPr>
            <p:nvPr/>
          </p:nvSpPr>
          <p:spPr bwMode="auto">
            <a:xfrm rot="171442">
              <a:off x="1749" y="3130"/>
              <a:ext cx="240" cy="144"/>
            </a:xfrm>
            <a:prstGeom prst="ellipse">
              <a:avLst/>
            </a:pr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ea"/>
                <a:ea typeface="+mn-ea"/>
              </a:endParaRPr>
            </a:p>
          </p:txBody>
        </p:sp>
        <p:sp>
          <p:nvSpPr>
            <p:cNvPr id="83" name="Line 15">
              <a:extLst>
                <a:ext uri="{FF2B5EF4-FFF2-40B4-BE49-F238E27FC236}">
                  <a16:creationId xmlns:a16="http://schemas.microsoft.com/office/drawing/2014/main" id="{E7A7FA89-683C-4215-B17A-6F45AA6B53EA}"/>
                </a:ext>
              </a:extLst>
            </p:cNvPr>
            <p:cNvSpPr>
              <a:spLocks noChangeShapeType="1"/>
            </p:cNvSpPr>
            <p:nvPr/>
          </p:nvSpPr>
          <p:spPr bwMode="auto">
            <a:xfrm rot="877537">
              <a:off x="1780" y="3272"/>
              <a:ext cx="146" cy="8"/>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grpSp>
        <p:nvGrpSpPr>
          <p:cNvPr id="84" name="Group 16">
            <a:extLst>
              <a:ext uri="{FF2B5EF4-FFF2-40B4-BE49-F238E27FC236}">
                <a16:creationId xmlns:a16="http://schemas.microsoft.com/office/drawing/2014/main" id="{DAF7DD0E-16F2-4CC1-A204-DA04F7BF385B}"/>
              </a:ext>
            </a:extLst>
          </p:cNvPr>
          <p:cNvGrpSpPr>
            <a:grpSpLocks/>
          </p:cNvGrpSpPr>
          <p:nvPr/>
        </p:nvGrpSpPr>
        <p:grpSpPr bwMode="auto">
          <a:xfrm>
            <a:off x="4299052" y="2301692"/>
            <a:ext cx="381000" cy="292100"/>
            <a:chOff x="1966" y="2878"/>
            <a:chExt cx="240" cy="184"/>
          </a:xfrm>
        </p:grpSpPr>
        <p:sp>
          <p:nvSpPr>
            <p:cNvPr id="85" name="Oval 17">
              <a:extLst>
                <a:ext uri="{FF2B5EF4-FFF2-40B4-BE49-F238E27FC236}">
                  <a16:creationId xmlns:a16="http://schemas.microsoft.com/office/drawing/2014/main" id="{C05B9306-B776-43E1-AE49-6BC8A0335882}"/>
                </a:ext>
              </a:extLst>
            </p:cNvPr>
            <p:cNvSpPr>
              <a:spLocks noChangeArrowheads="1"/>
            </p:cNvSpPr>
            <p:nvPr/>
          </p:nvSpPr>
          <p:spPr bwMode="auto">
            <a:xfrm rot="-74165">
              <a:off x="1966" y="2878"/>
              <a:ext cx="240" cy="144"/>
            </a:xfrm>
            <a:prstGeom prst="ellipse">
              <a:avLst/>
            </a:pr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ea"/>
                <a:ea typeface="+mn-ea"/>
              </a:endParaRPr>
            </a:p>
          </p:txBody>
        </p:sp>
        <p:sp>
          <p:nvSpPr>
            <p:cNvPr id="86" name="Line 18">
              <a:extLst>
                <a:ext uri="{FF2B5EF4-FFF2-40B4-BE49-F238E27FC236}">
                  <a16:creationId xmlns:a16="http://schemas.microsoft.com/office/drawing/2014/main" id="{AEF73210-373E-4D68-922E-3C9EC0A02C5C}"/>
                </a:ext>
              </a:extLst>
            </p:cNvPr>
            <p:cNvSpPr>
              <a:spLocks noChangeShapeType="1"/>
            </p:cNvSpPr>
            <p:nvPr/>
          </p:nvSpPr>
          <p:spPr bwMode="auto">
            <a:xfrm rot="-1409106">
              <a:off x="1991" y="2970"/>
              <a:ext cx="116" cy="92"/>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grpSp>
        <p:nvGrpSpPr>
          <p:cNvPr id="87" name="Group 19">
            <a:extLst>
              <a:ext uri="{FF2B5EF4-FFF2-40B4-BE49-F238E27FC236}">
                <a16:creationId xmlns:a16="http://schemas.microsoft.com/office/drawing/2014/main" id="{7ABD773C-A5CB-497E-9E28-5CE2A22B1229}"/>
              </a:ext>
            </a:extLst>
          </p:cNvPr>
          <p:cNvGrpSpPr>
            <a:grpSpLocks/>
          </p:cNvGrpSpPr>
          <p:nvPr/>
        </p:nvGrpSpPr>
        <p:grpSpPr bwMode="auto">
          <a:xfrm>
            <a:off x="4835627" y="2762070"/>
            <a:ext cx="2438400" cy="539751"/>
            <a:chOff x="2400" y="1296"/>
            <a:chExt cx="1536" cy="340"/>
          </a:xfrm>
        </p:grpSpPr>
        <p:sp>
          <p:nvSpPr>
            <p:cNvPr id="88" name="Line 20">
              <a:extLst>
                <a:ext uri="{FF2B5EF4-FFF2-40B4-BE49-F238E27FC236}">
                  <a16:creationId xmlns:a16="http://schemas.microsoft.com/office/drawing/2014/main" id="{AFD1F39F-2496-4F46-9A36-B31C6D9C94C5}"/>
                </a:ext>
              </a:extLst>
            </p:cNvPr>
            <p:cNvSpPr>
              <a:spLocks noChangeShapeType="1"/>
            </p:cNvSpPr>
            <p:nvPr/>
          </p:nvSpPr>
          <p:spPr bwMode="auto">
            <a:xfrm flipV="1">
              <a:off x="2400" y="1296"/>
              <a:ext cx="1536" cy="10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sp>
          <p:nvSpPr>
            <p:cNvPr id="89" name="Text Box 21">
              <a:extLst>
                <a:ext uri="{FF2B5EF4-FFF2-40B4-BE49-F238E27FC236}">
                  <a16:creationId xmlns:a16="http://schemas.microsoft.com/office/drawing/2014/main" id="{DCBB775B-D495-49B2-B813-818FD1D081D4}"/>
                </a:ext>
              </a:extLst>
            </p:cNvPr>
            <p:cNvSpPr txBox="1">
              <a:spLocks noChangeArrowheads="1"/>
            </p:cNvSpPr>
            <p:nvPr/>
          </p:nvSpPr>
          <p:spPr bwMode="auto">
            <a:xfrm rot="21258756">
              <a:off x="2809" y="1306"/>
              <a:ext cx="76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b="0">
                  <a:latin typeface="+mn-ea"/>
                  <a:ea typeface="+mn-ea"/>
                </a:rPr>
                <a:t>放大</a:t>
              </a:r>
            </a:p>
          </p:txBody>
        </p:sp>
      </p:grpSp>
      <p:grpSp>
        <p:nvGrpSpPr>
          <p:cNvPr id="90" name="Group 22">
            <a:extLst>
              <a:ext uri="{FF2B5EF4-FFF2-40B4-BE49-F238E27FC236}">
                <a16:creationId xmlns:a16="http://schemas.microsoft.com/office/drawing/2014/main" id="{5F9F80D3-E716-4325-9C79-99F484A189FC}"/>
              </a:ext>
            </a:extLst>
          </p:cNvPr>
          <p:cNvGrpSpPr>
            <a:grpSpLocks/>
          </p:cNvGrpSpPr>
          <p:nvPr/>
        </p:nvGrpSpPr>
        <p:grpSpPr bwMode="auto">
          <a:xfrm rot="2201047">
            <a:off x="4613378" y="2816043"/>
            <a:ext cx="485775" cy="271463"/>
            <a:chOff x="2203" y="3181"/>
            <a:chExt cx="240" cy="196"/>
          </a:xfrm>
        </p:grpSpPr>
        <p:sp>
          <p:nvSpPr>
            <p:cNvPr id="91" name="Oval 23">
              <a:extLst>
                <a:ext uri="{FF2B5EF4-FFF2-40B4-BE49-F238E27FC236}">
                  <a16:creationId xmlns:a16="http://schemas.microsoft.com/office/drawing/2014/main" id="{C8386996-DAED-47F5-A94A-79C097B7E46D}"/>
                </a:ext>
              </a:extLst>
            </p:cNvPr>
            <p:cNvSpPr>
              <a:spLocks noChangeArrowheads="1"/>
            </p:cNvSpPr>
            <p:nvPr/>
          </p:nvSpPr>
          <p:spPr bwMode="auto">
            <a:xfrm rot="1519810">
              <a:off x="2203" y="3181"/>
              <a:ext cx="240" cy="144"/>
            </a:xfrm>
            <a:prstGeom prst="ellipse">
              <a:avLst/>
            </a:pr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ea"/>
                <a:ea typeface="+mn-ea"/>
              </a:endParaRPr>
            </a:p>
          </p:txBody>
        </p:sp>
        <p:sp>
          <p:nvSpPr>
            <p:cNvPr id="92" name="Line 24">
              <a:extLst>
                <a:ext uri="{FF2B5EF4-FFF2-40B4-BE49-F238E27FC236}">
                  <a16:creationId xmlns:a16="http://schemas.microsoft.com/office/drawing/2014/main" id="{96B1491D-8679-4055-861F-4455C82F3E0D}"/>
                </a:ext>
              </a:extLst>
            </p:cNvPr>
            <p:cNvSpPr>
              <a:spLocks noChangeShapeType="1"/>
            </p:cNvSpPr>
            <p:nvPr/>
          </p:nvSpPr>
          <p:spPr bwMode="auto">
            <a:xfrm rot="-1409106">
              <a:off x="2253" y="3281"/>
              <a:ext cx="144" cy="96"/>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grpSp>
        <p:nvGrpSpPr>
          <p:cNvPr id="93" name="Group 25">
            <a:extLst>
              <a:ext uri="{FF2B5EF4-FFF2-40B4-BE49-F238E27FC236}">
                <a16:creationId xmlns:a16="http://schemas.microsoft.com/office/drawing/2014/main" id="{781F8F09-35FD-42FF-ADCC-144B4BD3ED5C}"/>
              </a:ext>
            </a:extLst>
          </p:cNvPr>
          <p:cNvGrpSpPr>
            <a:grpSpLocks/>
          </p:cNvGrpSpPr>
          <p:nvPr/>
        </p:nvGrpSpPr>
        <p:grpSpPr bwMode="auto">
          <a:xfrm>
            <a:off x="4649891" y="2889067"/>
            <a:ext cx="574675" cy="909638"/>
            <a:chOff x="2194" y="3219"/>
            <a:chExt cx="362" cy="573"/>
          </a:xfrm>
        </p:grpSpPr>
        <p:sp>
          <p:nvSpPr>
            <p:cNvPr id="94" name="Line 26">
              <a:extLst>
                <a:ext uri="{FF2B5EF4-FFF2-40B4-BE49-F238E27FC236}">
                  <a16:creationId xmlns:a16="http://schemas.microsoft.com/office/drawing/2014/main" id="{9164D8C4-E6CA-4D93-8E6F-3CAB17B4424D}"/>
                </a:ext>
              </a:extLst>
            </p:cNvPr>
            <p:cNvSpPr>
              <a:spLocks noChangeShapeType="1"/>
            </p:cNvSpPr>
            <p:nvPr/>
          </p:nvSpPr>
          <p:spPr bwMode="auto">
            <a:xfrm rot="20190894" flipV="1">
              <a:off x="2194" y="3219"/>
              <a:ext cx="192" cy="96"/>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sp>
          <p:nvSpPr>
            <p:cNvPr id="95" name="Line 27">
              <a:extLst>
                <a:ext uri="{FF2B5EF4-FFF2-40B4-BE49-F238E27FC236}">
                  <a16:creationId xmlns:a16="http://schemas.microsoft.com/office/drawing/2014/main" id="{737DB1CE-1A85-462E-9809-1E982F57953C}"/>
                </a:ext>
              </a:extLst>
            </p:cNvPr>
            <p:cNvSpPr>
              <a:spLocks noChangeShapeType="1"/>
            </p:cNvSpPr>
            <p:nvPr/>
          </p:nvSpPr>
          <p:spPr bwMode="auto">
            <a:xfrm rot="-1409106">
              <a:off x="2206" y="3333"/>
              <a:ext cx="36" cy="7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aphicFrame>
          <p:nvGraphicFramePr>
            <p:cNvPr id="96" name="Object 28">
              <a:extLst>
                <a:ext uri="{FF2B5EF4-FFF2-40B4-BE49-F238E27FC236}">
                  <a16:creationId xmlns:a16="http://schemas.microsoft.com/office/drawing/2014/main" id="{D48DA23D-FDC3-4B4C-AC59-A236A15E4DB2}"/>
                </a:ext>
              </a:extLst>
            </p:cNvPr>
            <p:cNvGraphicFramePr>
              <a:graphicFrameLocks noChangeAspect="1"/>
            </p:cNvGraphicFramePr>
            <p:nvPr/>
          </p:nvGraphicFramePr>
          <p:xfrm>
            <a:off x="2244" y="3454"/>
            <a:ext cx="312" cy="338"/>
          </p:xfrm>
          <a:graphic>
            <a:graphicData uri="http://schemas.openxmlformats.org/presentationml/2006/ole">
              <mc:AlternateContent xmlns:mc="http://schemas.openxmlformats.org/markup-compatibility/2006">
                <mc:Choice xmlns:v="urn:schemas-microsoft-com:vml" Requires="v">
                  <p:oleObj spid="_x0000_s6165" name="公式" r:id="rId6" imgW="144791" imgH="129600" progId="Equation.3">
                    <p:embed/>
                  </p:oleObj>
                </mc:Choice>
                <mc:Fallback>
                  <p:oleObj name="公式" r:id="rId6" imgW="144791" imgH="129600" progId="Equation.3">
                    <p:embed/>
                    <p:pic>
                      <p:nvPicPr>
                        <p:cNvPr id="96" name="Object 28">
                          <a:extLst>
                            <a:ext uri="{FF2B5EF4-FFF2-40B4-BE49-F238E27FC236}">
                              <a16:creationId xmlns:a16="http://schemas.microsoft.com/office/drawing/2014/main" id="{D48DA23D-FDC3-4B4C-AC59-A236A15E4D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44" y="3454"/>
                          <a:ext cx="312" cy="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 name="Line 29">
              <a:extLst>
                <a:ext uri="{FF2B5EF4-FFF2-40B4-BE49-F238E27FC236}">
                  <a16:creationId xmlns:a16="http://schemas.microsoft.com/office/drawing/2014/main" id="{D3B04331-B6E3-4B6D-ADE3-4DA49B07AA3D}"/>
                </a:ext>
              </a:extLst>
            </p:cNvPr>
            <p:cNvSpPr>
              <a:spLocks noChangeShapeType="1"/>
            </p:cNvSpPr>
            <p:nvPr/>
          </p:nvSpPr>
          <p:spPr bwMode="auto">
            <a:xfrm>
              <a:off x="2280" y="3264"/>
              <a:ext cx="48" cy="28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grpSp>
        <p:nvGrpSpPr>
          <p:cNvPr id="98" name="Group 30">
            <a:extLst>
              <a:ext uri="{FF2B5EF4-FFF2-40B4-BE49-F238E27FC236}">
                <a16:creationId xmlns:a16="http://schemas.microsoft.com/office/drawing/2014/main" id="{3323CF83-B672-4A4C-BBBB-5C16E22EA7CF}"/>
              </a:ext>
            </a:extLst>
          </p:cNvPr>
          <p:cNvGrpSpPr>
            <a:grpSpLocks/>
          </p:cNvGrpSpPr>
          <p:nvPr/>
        </p:nvGrpSpPr>
        <p:grpSpPr bwMode="auto">
          <a:xfrm rot="1358313">
            <a:off x="6648125" y="2024433"/>
            <a:ext cx="1066800" cy="528638"/>
            <a:chOff x="3432" y="2499"/>
            <a:chExt cx="672" cy="333"/>
          </a:xfrm>
        </p:grpSpPr>
        <p:grpSp>
          <p:nvGrpSpPr>
            <p:cNvPr id="99" name="Group 31">
              <a:extLst>
                <a:ext uri="{FF2B5EF4-FFF2-40B4-BE49-F238E27FC236}">
                  <a16:creationId xmlns:a16="http://schemas.microsoft.com/office/drawing/2014/main" id="{14A80D67-AF49-439E-A605-FA766C654B55}"/>
                </a:ext>
              </a:extLst>
            </p:cNvPr>
            <p:cNvGrpSpPr>
              <a:grpSpLocks/>
            </p:cNvGrpSpPr>
            <p:nvPr/>
          </p:nvGrpSpPr>
          <p:grpSpPr bwMode="auto">
            <a:xfrm>
              <a:off x="3432" y="2499"/>
              <a:ext cx="672" cy="330"/>
              <a:chOff x="3360" y="2535"/>
              <a:chExt cx="672" cy="330"/>
            </a:xfrm>
          </p:grpSpPr>
          <p:sp>
            <p:nvSpPr>
              <p:cNvPr id="101" name="Oval 32" descr="浅色上对角线">
                <a:extLst>
                  <a:ext uri="{FF2B5EF4-FFF2-40B4-BE49-F238E27FC236}">
                    <a16:creationId xmlns:a16="http://schemas.microsoft.com/office/drawing/2014/main" id="{9DE282CF-8BDD-41C7-A5A5-5B493E8E2B8B}"/>
                  </a:ext>
                </a:extLst>
              </p:cNvPr>
              <p:cNvSpPr>
                <a:spLocks noChangeArrowheads="1"/>
              </p:cNvSpPr>
              <p:nvPr/>
            </p:nvSpPr>
            <p:spPr bwMode="auto">
              <a:xfrm rot="1540128">
                <a:off x="3360" y="2544"/>
                <a:ext cx="672" cy="288"/>
              </a:xfrm>
              <a:prstGeom prst="ellipse">
                <a:avLst/>
              </a:prstGeom>
              <a:noFill/>
              <a:ln w="19050">
                <a:solidFill>
                  <a:srgbClr val="000000"/>
                </a:solidFill>
                <a:round/>
                <a:headEnd/>
                <a:tailEnd/>
              </a:ln>
              <a:effectLst/>
              <a:extLst>
                <a:ext uri="{909E8E84-426E-40DD-AFC4-6F175D3DCCD1}">
                  <a14:hiddenFill xmlns:a14="http://schemas.microsoft.com/office/drawing/2010/main">
                    <a:pattFill prst="ltUpDiag">
                      <a:fgClr>
                        <a:srgbClr val="000000"/>
                      </a:fgClr>
                      <a:bgClr>
                        <a:srgbClr val="FFFFFF"/>
                      </a:bgClr>
                    </a:patt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ea"/>
                  <a:ea typeface="+mn-ea"/>
                </a:endParaRPr>
              </a:p>
            </p:txBody>
          </p:sp>
          <p:sp>
            <p:nvSpPr>
              <p:cNvPr id="102" name="Text Box 33">
                <a:extLst>
                  <a:ext uri="{FF2B5EF4-FFF2-40B4-BE49-F238E27FC236}">
                    <a16:creationId xmlns:a16="http://schemas.microsoft.com/office/drawing/2014/main" id="{16F755C9-0974-4927-AB0C-DCDC4DDED38C}"/>
                  </a:ext>
                </a:extLst>
              </p:cNvPr>
              <p:cNvSpPr txBox="1">
                <a:spLocks noChangeArrowheads="1"/>
              </p:cNvSpPr>
              <p:nvPr/>
            </p:nvSpPr>
            <p:spPr bwMode="auto">
              <a:xfrm>
                <a:off x="3564" y="2535"/>
                <a:ext cx="28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a:latin typeface="+mn-ea"/>
                    <a:ea typeface="+mn-ea"/>
                    <a:sym typeface="Symbol" panose="05050102010706020507" pitchFamily="18" charset="2"/>
                  </a:rPr>
                  <a:t></a:t>
                </a:r>
                <a:endParaRPr lang="en-US" altLang="zh-CN" b="0">
                  <a:latin typeface="+mn-ea"/>
                  <a:ea typeface="+mn-ea"/>
                </a:endParaRPr>
              </a:p>
            </p:txBody>
          </p:sp>
        </p:grpSp>
        <p:sp>
          <p:nvSpPr>
            <p:cNvPr id="100" name="Line 34">
              <a:extLst>
                <a:ext uri="{FF2B5EF4-FFF2-40B4-BE49-F238E27FC236}">
                  <a16:creationId xmlns:a16="http://schemas.microsoft.com/office/drawing/2014/main" id="{B752B04B-6C40-466A-BE7E-B3F1E89B73E0}"/>
                </a:ext>
              </a:extLst>
            </p:cNvPr>
            <p:cNvSpPr>
              <a:spLocks noChangeShapeType="1"/>
            </p:cNvSpPr>
            <p:nvPr/>
          </p:nvSpPr>
          <p:spPr bwMode="auto">
            <a:xfrm>
              <a:off x="3696" y="2784"/>
              <a:ext cx="144" cy="48"/>
            </a:xfrm>
            <a:prstGeom prst="line">
              <a:avLst/>
            </a:prstGeom>
            <a:noFill/>
            <a:ln w="19050">
              <a:solidFill>
                <a:srgbClr val="0000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grpSp>
        <p:nvGrpSpPr>
          <p:cNvPr id="103" name="Group 35">
            <a:extLst>
              <a:ext uri="{FF2B5EF4-FFF2-40B4-BE49-F238E27FC236}">
                <a16:creationId xmlns:a16="http://schemas.microsoft.com/office/drawing/2014/main" id="{C9BE5395-2936-4451-81B1-F670EBE1FCAA}"/>
              </a:ext>
            </a:extLst>
          </p:cNvPr>
          <p:cNvGrpSpPr>
            <a:grpSpLocks/>
          </p:cNvGrpSpPr>
          <p:nvPr/>
        </p:nvGrpSpPr>
        <p:grpSpPr bwMode="auto">
          <a:xfrm>
            <a:off x="7788377" y="1314267"/>
            <a:ext cx="762000" cy="628650"/>
            <a:chOff x="4056" y="2052"/>
            <a:chExt cx="480" cy="396"/>
          </a:xfrm>
        </p:grpSpPr>
        <p:sp>
          <p:nvSpPr>
            <p:cNvPr id="104" name="Freeform 36">
              <a:extLst>
                <a:ext uri="{FF2B5EF4-FFF2-40B4-BE49-F238E27FC236}">
                  <a16:creationId xmlns:a16="http://schemas.microsoft.com/office/drawing/2014/main" id="{5CA3B8D3-F622-449E-B882-6BBEDFD5E486}"/>
                </a:ext>
              </a:extLst>
            </p:cNvPr>
            <p:cNvSpPr>
              <a:spLocks/>
            </p:cNvSpPr>
            <p:nvPr/>
          </p:nvSpPr>
          <p:spPr bwMode="auto">
            <a:xfrm rot="745978">
              <a:off x="4092" y="2296"/>
              <a:ext cx="288" cy="152"/>
            </a:xfrm>
            <a:custGeom>
              <a:avLst/>
              <a:gdLst>
                <a:gd name="T0" fmla="*/ 0 w 288"/>
                <a:gd name="T1" fmla="*/ 8 h 152"/>
                <a:gd name="T2" fmla="*/ 96 w 288"/>
                <a:gd name="T3" fmla="*/ 8 h 152"/>
                <a:gd name="T4" fmla="*/ 192 w 288"/>
                <a:gd name="T5" fmla="*/ 56 h 152"/>
                <a:gd name="T6" fmla="*/ 288 w 288"/>
                <a:gd name="T7" fmla="*/ 152 h 1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152">
                  <a:moveTo>
                    <a:pt x="0" y="8"/>
                  </a:moveTo>
                  <a:cubicBezTo>
                    <a:pt x="32" y="4"/>
                    <a:pt x="64" y="0"/>
                    <a:pt x="96" y="8"/>
                  </a:cubicBezTo>
                  <a:cubicBezTo>
                    <a:pt x="128" y="16"/>
                    <a:pt x="160" y="32"/>
                    <a:pt x="192" y="56"/>
                  </a:cubicBezTo>
                  <a:cubicBezTo>
                    <a:pt x="224" y="80"/>
                    <a:pt x="256" y="116"/>
                    <a:pt x="288" y="152"/>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sp>
          <p:nvSpPr>
            <p:cNvPr id="105" name="Text Box 37">
              <a:extLst>
                <a:ext uri="{FF2B5EF4-FFF2-40B4-BE49-F238E27FC236}">
                  <a16:creationId xmlns:a16="http://schemas.microsoft.com/office/drawing/2014/main" id="{97B6B034-0024-40EF-A7BC-275EAD438E54}"/>
                </a:ext>
              </a:extLst>
            </p:cNvPr>
            <p:cNvSpPr txBox="1">
              <a:spLocks noChangeArrowheads="1"/>
            </p:cNvSpPr>
            <p:nvPr/>
          </p:nvSpPr>
          <p:spPr bwMode="auto">
            <a:xfrm>
              <a:off x="4056" y="2052"/>
              <a:ext cx="48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dirty="0">
                  <a:latin typeface="+mn-ea"/>
                  <a:ea typeface="+mn-ea"/>
                  <a:sym typeface="Symbol" panose="05050102010706020507" pitchFamily="18" charset="2"/>
                </a:rPr>
                <a:t></a:t>
              </a:r>
              <a:endParaRPr lang="en-US" altLang="zh-CN" b="0" i="1" dirty="0">
                <a:latin typeface="+mn-ea"/>
                <a:ea typeface="+mn-ea"/>
              </a:endParaRPr>
            </a:p>
          </p:txBody>
        </p:sp>
      </p:grpSp>
      <p:grpSp>
        <p:nvGrpSpPr>
          <p:cNvPr id="106" name="Group 38">
            <a:extLst>
              <a:ext uri="{FF2B5EF4-FFF2-40B4-BE49-F238E27FC236}">
                <a16:creationId xmlns:a16="http://schemas.microsoft.com/office/drawing/2014/main" id="{3C8D8773-D508-4213-BA77-B639CB0E16AC}"/>
              </a:ext>
            </a:extLst>
          </p:cNvPr>
          <p:cNvGrpSpPr>
            <a:grpSpLocks/>
          </p:cNvGrpSpPr>
          <p:nvPr/>
        </p:nvGrpSpPr>
        <p:grpSpPr bwMode="auto">
          <a:xfrm>
            <a:off x="7004153" y="2919233"/>
            <a:ext cx="1346200" cy="1109663"/>
            <a:chOff x="3538" y="3111"/>
            <a:chExt cx="848" cy="699"/>
          </a:xfrm>
        </p:grpSpPr>
        <p:grpSp>
          <p:nvGrpSpPr>
            <p:cNvPr id="107" name="Group 39">
              <a:extLst>
                <a:ext uri="{FF2B5EF4-FFF2-40B4-BE49-F238E27FC236}">
                  <a16:creationId xmlns:a16="http://schemas.microsoft.com/office/drawing/2014/main" id="{1041BB6F-3040-45CD-BDD5-D20CEAA88A3D}"/>
                </a:ext>
              </a:extLst>
            </p:cNvPr>
            <p:cNvGrpSpPr>
              <a:grpSpLocks/>
            </p:cNvGrpSpPr>
            <p:nvPr/>
          </p:nvGrpSpPr>
          <p:grpSpPr bwMode="auto">
            <a:xfrm rot="1395583">
              <a:off x="3538" y="3111"/>
              <a:ext cx="672" cy="330"/>
              <a:chOff x="3696" y="2967"/>
              <a:chExt cx="672" cy="330"/>
            </a:xfrm>
          </p:grpSpPr>
          <p:sp>
            <p:nvSpPr>
              <p:cNvPr id="109" name="Oval 40" descr="浅色上对角线">
                <a:extLst>
                  <a:ext uri="{FF2B5EF4-FFF2-40B4-BE49-F238E27FC236}">
                    <a16:creationId xmlns:a16="http://schemas.microsoft.com/office/drawing/2014/main" id="{DF10029F-4121-4D77-BA6F-5313E64916DA}"/>
                  </a:ext>
                </a:extLst>
              </p:cNvPr>
              <p:cNvSpPr>
                <a:spLocks noChangeArrowheads="1"/>
              </p:cNvSpPr>
              <p:nvPr/>
            </p:nvSpPr>
            <p:spPr bwMode="auto">
              <a:xfrm rot="1540128">
                <a:off x="3696" y="2976"/>
                <a:ext cx="672" cy="288"/>
              </a:xfrm>
              <a:prstGeom prst="ellipse">
                <a:avLst/>
              </a:prstGeom>
              <a:noFill/>
              <a:ln w="19050">
                <a:solidFill>
                  <a:srgbClr val="000000"/>
                </a:solidFill>
                <a:round/>
                <a:headEnd/>
                <a:tailEnd/>
              </a:ln>
              <a:effectLst/>
              <a:extLst>
                <a:ext uri="{909E8E84-426E-40DD-AFC4-6F175D3DCCD1}">
                  <a14:hiddenFill xmlns:a14="http://schemas.microsoft.com/office/drawing/2010/main">
                    <a:pattFill prst="ltUpDiag">
                      <a:fgClr>
                        <a:srgbClr val="000000"/>
                      </a:fgClr>
                      <a:bgClr>
                        <a:srgbClr val="FFFFFF"/>
                      </a:bgClr>
                    </a:patt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ea"/>
                  <a:ea typeface="+mn-ea"/>
                </a:endParaRPr>
              </a:p>
            </p:txBody>
          </p:sp>
          <p:sp>
            <p:nvSpPr>
              <p:cNvPr id="110" name="Text Box 41">
                <a:extLst>
                  <a:ext uri="{FF2B5EF4-FFF2-40B4-BE49-F238E27FC236}">
                    <a16:creationId xmlns:a16="http://schemas.microsoft.com/office/drawing/2014/main" id="{24B6E08D-A509-4DC2-B96A-35C27BF34B29}"/>
                  </a:ext>
                </a:extLst>
              </p:cNvPr>
              <p:cNvSpPr txBox="1">
                <a:spLocks noChangeArrowheads="1"/>
              </p:cNvSpPr>
              <p:nvPr/>
            </p:nvSpPr>
            <p:spPr bwMode="auto">
              <a:xfrm>
                <a:off x="3900" y="2967"/>
                <a:ext cx="28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a:latin typeface="+mn-ea"/>
                    <a:ea typeface="+mn-ea"/>
                    <a:sym typeface="Symbol" panose="05050102010706020507" pitchFamily="18" charset="2"/>
                  </a:rPr>
                  <a:t></a:t>
                </a:r>
                <a:endParaRPr lang="en-US" altLang="zh-CN" b="0">
                  <a:latin typeface="+mn-ea"/>
                  <a:ea typeface="+mn-ea"/>
                </a:endParaRPr>
              </a:p>
            </p:txBody>
          </p:sp>
          <p:sp>
            <p:nvSpPr>
              <p:cNvPr id="111" name="Line 42">
                <a:extLst>
                  <a:ext uri="{FF2B5EF4-FFF2-40B4-BE49-F238E27FC236}">
                    <a16:creationId xmlns:a16="http://schemas.microsoft.com/office/drawing/2014/main" id="{82CDAB0B-2D37-4F47-8E07-573A8B1B38D5}"/>
                  </a:ext>
                </a:extLst>
              </p:cNvPr>
              <p:cNvSpPr>
                <a:spLocks noChangeShapeType="1"/>
              </p:cNvSpPr>
              <p:nvPr/>
            </p:nvSpPr>
            <p:spPr bwMode="auto">
              <a:xfrm>
                <a:off x="3936" y="3228"/>
                <a:ext cx="144" cy="48"/>
              </a:xfrm>
              <a:prstGeom prst="line">
                <a:avLst/>
              </a:prstGeom>
              <a:noFill/>
              <a:ln w="19050">
                <a:solidFill>
                  <a:srgbClr val="0000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sp>
          <p:nvSpPr>
            <p:cNvPr id="108" name="Text Box 43">
              <a:extLst>
                <a:ext uri="{FF2B5EF4-FFF2-40B4-BE49-F238E27FC236}">
                  <a16:creationId xmlns:a16="http://schemas.microsoft.com/office/drawing/2014/main" id="{3B3BF62E-D63D-4112-A414-52232FE8EBC0}"/>
                </a:ext>
              </a:extLst>
            </p:cNvPr>
            <p:cNvSpPr txBox="1">
              <a:spLocks noChangeArrowheads="1"/>
            </p:cNvSpPr>
            <p:nvPr/>
          </p:nvSpPr>
          <p:spPr bwMode="auto">
            <a:xfrm>
              <a:off x="3852" y="3480"/>
              <a:ext cx="53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a:latin typeface="+mn-ea"/>
                  <a:ea typeface="+mn-ea"/>
                </a:rPr>
                <a:t>i</a:t>
              </a:r>
              <a:r>
                <a:rPr lang="zh-CN" altLang="en-US" b="0" baseline="-25000">
                  <a:solidFill>
                    <a:srgbClr val="FF3300"/>
                  </a:solidFill>
                  <a:latin typeface="+mn-ea"/>
                  <a:ea typeface="+mn-ea"/>
                </a:rPr>
                <a:t>平均</a:t>
              </a:r>
            </a:p>
          </p:txBody>
        </p:sp>
      </p:grpSp>
      <p:grpSp>
        <p:nvGrpSpPr>
          <p:cNvPr id="112" name="Group 44">
            <a:extLst>
              <a:ext uri="{FF2B5EF4-FFF2-40B4-BE49-F238E27FC236}">
                <a16:creationId xmlns:a16="http://schemas.microsoft.com/office/drawing/2014/main" id="{9B859973-A486-4F00-8D1A-6E388F5FCA0C}"/>
              </a:ext>
            </a:extLst>
          </p:cNvPr>
          <p:cNvGrpSpPr>
            <a:grpSpLocks/>
          </p:cNvGrpSpPr>
          <p:nvPr/>
        </p:nvGrpSpPr>
        <p:grpSpPr bwMode="auto">
          <a:xfrm rot="1395583">
            <a:off x="7498866" y="2556505"/>
            <a:ext cx="1066800" cy="523875"/>
            <a:chOff x="3696" y="2967"/>
            <a:chExt cx="672" cy="330"/>
          </a:xfrm>
        </p:grpSpPr>
        <p:sp>
          <p:nvSpPr>
            <p:cNvPr id="113" name="Oval 45" descr="浅色上对角线">
              <a:extLst>
                <a:ext uri="{FF2B5EF4-FFF2-40B4-BE49-F238E27FC236}">
                  <a16:creationId xmlns:a16="http://schemas.microsoft.com/office/drawing/2014/main" id="{B32240C1-35F7-40D7-BD2C-8C6F564BD802}"/>
                </a:ext>
              </a:extLst>
            </p:cNvPr>
            <p:cNvSpPr>
              <a:spLocks noChangeArrowheads="1"/>
            </p:cNvSpPr>
            <p:nvPr/>
          </p:nvSpPr>
          <p:spPr bwMode="auto">
            <a:xfrm rot="1540128">
              <a:off x="3696" y="2976"/>
              <a:ext cx="672" cy="288"/>
            </a:xfrm>
            <a:prstGeom prst="ellipse">
              <a:avLst/>
            </a:prstGeom>
            <a:noFill/>
            <a:ln w="19050">
              <a:solidFill>
                <a:srgbClr val="000000"/>
              </a:solidFill>
              <a:round/>
              <a:headEnd/>
              <a:tailEnd/>
            </a:ln>
            <a:effectLst/>
            <a:extLst>
              <a:ext uri="{909E8E84-426E-40DD-AFC4-6F175D3DCCD1}">
                <a14:hiddenFill xmlns:a14="http://schemas.microsoft.com/office/drawing/2010/main">
                  <a:pattFill prst="ltUpDiag">
                    <a:fgClr>
                      <a:srgbClr val="000000"/>
                    </a:fgClr>
                    <a:bgClr>
                      <a:srgbClr val="FFFFFF"/>
                    </a:bgClr>
                  </a:patt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ea"/>
                <a:ea typeface="+mn-ea"/>
              </a:endParaRPr>
            </a:p>
          </p:txBody>
        </p:sp>
        <p:sp>
          <p:nvSpPr>
            <p:cNvPr id="114" name="Text Box 46">
              <a:extLst>
                <a:ext uri="{FF2B5EF4-FFF2-40B4-BE49-F238E27FC236}">
                  <a16:creationId xmlns:a16="http://schemas.microsoft.com/office/drawing/2014/main" id="{0848D803-986C-4205-B563-FECA8052159A}"/>
                </a:ext>
              </a:extLst>
            </p:cNvPr>
            <p:cNvSpPr txBox="1">
              <a:spLocks noChangeArrowheads="1"/>
            </p:cNvSpPr>
            <p:nvPr/>
          </p:nvSpPr>
          <p:spPr bwMode="auto">
            <a:xfrm>
              <a:off x="3900" y="2967"/>
              <a:ext cx="28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a:latin typeface="+mn-ea"/>
                  <a:ea typeface="+mn-ea"/>
                  <a:sym typeface="Symbol" panose="05050102010706020507" pitchFamily="18" charset="2"/>
                </a:rPr>
                <a:t></a:t>
              </a:r>
              <a:endParaRPr lang="en-US" altLang="zh-CN" b="0">
                <a:latin typeface="+mn-ea"/>
                <a:ea typeface="+mn-ea"/>
              </a:endParaRPr>
            </a:p>
          </p:txBody>
        </p:sp>
        <p:sp>
          <p:nvSpPr>
            <p:cNvPr id="115" name="Line 47">
              <a:extLst>
                <a:ext uri="{FF2B5EF4-FFF2-40B4-BE49-F238E27FC236}">
                  <a16:creationId xmlns:a16="http://schemas.microsoft.com/office/drawing/2014/main" id="{ACA18ABA-1A38-48CF-A4A6-DB12DD9573BE}"/>
                </a:ext>
              </a:extLst>
            </p:cNvPr>
            <p:cNvSpPr>
              <a:spLocks noChangeShapeType="1"/>
            </p:cNvSpPr>
            <p:nvPr/>
          </p:nvSpPr>
          <p:spPr bwMode="auto">
            <a:xfrm>
              <a:off x="3936" y="3228"/>
              <a:ext cx="144" cy="48"/>
            </a:xfrm>
            <a:prstGeom prst="line">
              <a:avLst/>
            </a:prstGeom>
            <a:noFill/>
            <a:ln w="19050">
              <a:solidFill>
                <a:srgbClr val="0000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grpSp>
        <p:nvGrpSpPr>
          <p:cNvPr id="116" name="Group 48">
            <a:extLst>
              <a:ext uri="{FF2B5EF4-FFF2-40B4-BE49-F238E27FC236}">
                <a16:creationId xmlns:a16="http://schemas.microsoft.com/office/drawing/2014/main" id="{6D8AC5A1-3BCC-4941-9C1F-B675C74C049D}"/>
              </a:ext>
            </a:extLst>
          </p:cNvPr>
          <p:cNvGrpSpPr>
            <a:grpSpLocks/>
          </p:cNvGrpSpPr>
          <p:nvPr/>
        </p:nvGrpSpPr>
        <p:grpSpPr bwMode="auto">
          <a:xfrm rot="1395583">
            <a:off x="6032016" y="2289805"/>
            <a:ext cx="1066800" cy="523875"/>
            <a:chOff x="3696" y="2967"/>
            <a:chExt cx="672" cy="330"/>
          </a:xfrm>
        </p:grpSpPr>
        <p:sp>
          <p:nvSpPr>
            <p:cNvPr id="117" name="Oval 49" descr="浅色上对角线">
              <a:extLst>
                <a:ext uri="{FF2B5EF4-FFF2-40B4-BE49-F238E27FC236}">
                  <a16:creationId xmlns:a16="http://schemas.microsoft.com/office/drawing/2014/main" id="{BD83755C-1E5F-45AE-A5FC-9BD0838164F3}"/>
                </a:ext>
              </a:extLst>
            </p:cNvPr>
            <p:cNvSpPr>
              <a:spLocks noChangeArrowheads="1"/>
            </p:cNvSpPr>
            <p:nvPr/>
          </p:nvSpPr>
          <p:spPr bwMode="auto">
            <a:xfrm rot="1540128">
              <a:off x="3696" y="2976"/>
              <a:ext cx="672" cy="288"/>
            </a:xfrm>
            <a:prstGeom prst="ellipse">
              <a:avLst/>
            </a:prstGeom>
            <a:noFill/>
            <a:ln w="19050">
              <a:solidFill>
                <a:srgbClr val="000000"/>
              </a:solidFill>
              <a:round/>
              <a:headEnd/>
              <a:tailEnd/>
            </a:ln>
            <a:effectLst/>
            <a:extLst>
              <a:ext uri="{909E8E84-426E-40DD-AFC4-6F175D3DCCD1}">
                <a14:hiddenFill xmlns:a14="http://schemas.microsoft.com/office/drawing/2010/main">
                  <a:pattFill prst="ltUpDiag">
                    <a:fgClr>
                      <a:srgbClr val="000000"/>
                    </a:fgClr>
                    <a:bgClr>
                      <a:srgbClr val="FFFFFF"/>
                    </a:bgClr>
                  </a:patt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ea"/>
                <a:ea typeface="+mn-ea"/>
              </a:endParaRPr>
            </a:p>
          </p:txBody>
        </p:sp>
        <p:sp>
          <p:nvSpPr>
            <p:cNvPr id="118" name="Text Box 50">
              <a:extLst>
                <a:ext uri="{FF2B5EF4-FFF2-40B4-BE49-F238E27FC236}">
                  <a16:creationId xmlns:a16="http://schemas.microsoft.com/office/drawing/2014/main" id="{938E1E7D-B85E-4F7E-BCCD-CD74296E26BD}"/>
                </a:ext>
              </a:extLst>
            </p:cNvPr>
            <p:cNvSpPr txBox="1">
              <a:spLocks noChangeArrowheads="1"/>
            </p:cNvSpPr>
            <p:nvPr/>
          </p:nvSpPr>
          <p:spPr bwMode="auto">
            <a:xfrm>
              <a:off x="3900" y="2967"/>
              <a:ext cx="28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a:latin typeface="+mn-ea"/>
                  <a:ea typeface="+mn-ea"/>
                  <a:sym typeface="Symbol" panose="05050102010706020507" pitchFamily="18" charset="2"/>
                </a:rPr>
                <a:t></a:t>
              </a:r>
              <a:endParaRPr lang="en-US" altLang="zh-CN" b="0">
                <a:latin typeface="+mn-ea"/>
                <a:ea typeface="+mn-ea"/>
              </a:endParaRPr>
            </a:p>
          </p:txBody>
        </p:sp>
        <p:sp>
          <p:nvSpPr>
            <p:cNvPr id="119" name="Line 51">
              <a:extLst>
                <a:ext uri="{FF2B5EF4-FFF2-40B4-BE49-F238E27FC236}">
                  <a16:creationId xmlns:a16="http://schemas.microsoft.com/office/drawing/2014/main" id="{8EF120F4-398F-4DD5-95EB-513EA0C4EABC}"/>
                </a:ext>
              </a:extLst>
            </p:cNvPr>
            <p:cNvSpPr>
              <a:spLocks noChangeShapeType="1"/>
            </p:cNvSpPr>
            <p:nvPr/>
          </p:nvSpPr>
          <p:spPr bwMode="auto">
            <a:xfrm>
              <a:off x="3936" y="3228"/>
              <a:ext cx="144" cy="48"/>
            </a:xfrm>
            <a:prstGeom prst="line">
              <a:avLst/>
            </a:prstGeom>
            <a:noFill/>
            <a:ln w="19050">
              <a:solidFill>
                <a:srgbClr val="000000"/>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sp>
        <p:nvSpPr>
          <p:cNvPr id="120" name="Text Box 52">
            <a:extLst>
              <a:ext uri="{FF2B5EF4-FFF2-40B4-BE49-F238E27FC236}">
                <a16:creationId xmlns:a16="http://schemas.microsoft.com/office/drawing/2014/main" id="{42675D24-FC17-45A5-B852-2BA2560686A6}"/>
              </a:ext>
            </a:extLst>
          </p:cNvPr>
          <p:cNvSpPr txBox="1">
            <a:spLocks noChangeArrowheads="1"/>
          </p:cNvSpPr>
          <p:nvPr/>
        </p:nvSpPr>
        <p:spPr bwMode="auto">
          <a:xfrm>
            <a:off x="3692627" y="2095318"/>
            <a:ext cx="762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a:solidFill>
                  <a:srgbClr val="FF3300"/>
                </a:solidFill>
                <a:latin typeface="+mn-ea"/>
                <a:ea typeface="+mn-ea"/>
                <a:sym typeface="Symbol" panose="05050102010706020507" pitchFamily="18" charset="2"/>
              </a:rPr>
              <a:t></a:t>
            </a:r>
            <a:r>
              <a:rPr lang="en-US" altLang="zh-CN" b="0" i="1">
                <a:solidFill>
                  <a:srgbClr val="FF3300"/>
                </a:solidFill>
                <a:latin typeface="+mn-ea"/>
                <a:ea typeface="+mn-ea"/>
                <a:sym typeface="Symbol" panose="05050102010706020507" pitchFamily="18" charset="2"/>
              </a:rPr>
              <a:t>S</a:t>
            </a:r>
            <a:endParaRPr lang="en-US" altLang="zh-CN" b="0">
              <a:solidFill>
                <a:srgbClr val="FF3300"/>
              </a:solidFill>
              <a:latin typeface="+mn-ea"/>
              <a:ea typeface="+mn-ea"/>
            </a:endParaRPr>
          </a:p>
        </p:txBody>
      </p:sp>
      <p:grpSp>
        <p:nvGrpSpPr>
          <p:cNvPr id="121" name="Group 53">
            <a:extLst>
              <a:ext uri="{FF2B5EF4-FFF2-40B4-BE49-F238E27FC236}">
                <a16:creationId xmlns:a16="http://schemas.microsoft.com/office/drawing/2014/main" id="{17742F21-9B36-4606-A414-511CBE6CF034}"/>
              </a:ext>
            </a:extLst>
          </p:cNvPr>
          <p:cNvGrpSpPr>
            <a:grpSpLocks/>
          </p:cNvGrpSpPr>
          <p:nvPr/>
        </p:nvGrpSpPr>
        <p:grpSpPr bwMode="auto">
          <a:xfrm>
            <a:off x="2913165" y="1434917"/>
            <a:ext cx="2882900" cy="2743200"/>
            <a:chOff x="1093" y="2332"/>
            <a:chExt cx="1816" cy="1728"/>
          </a:xfrm>
        </p:grpSpPr>
        <p:sp>
          <p:nvSpPr>
            <p:cNvPr id="122" name="Freeform 54">
              <a:extLst>
                <a:ext uri="{FF2B5EF4-FFF2-40B4-BE49-F238E27FC236}">
                  <a16:creationId xmlns:a16="http://schemas.microsoft.com/office/drawing/2014/main" id="{8F3B3CF4-C944-43BA-8406-A0DEF8D93C8C}"/>
                </a:ext>
              </a:extLst>
            </p:cNvPr>
            <p:cNvSpPr>
              <a:spLocks/>
            </p:cNvSpPr>
            <p:nvPr/>
          </p:nvSpPr>
          <p:spPr bwMode="auto">
            <a:xfrm rot="-1409106">
              <a:off x="1093" y="2332"/>
              <a:ext cx="1816" cy="1728"/>
            </a:xfrm>
            <a:custGeom>
              <a:avLst/>
              <a:gdLst>
                <a:gd name="T0" fmla="*/ 16 w 1816"/>
                <a:gd name="T1" fmla="*/ 816 h 1728"/>
                <a:gd name="T2" fmla="*/ 208 w 1816"/>
                <a:gd name="T3" fmla="*/ 336 h 1728"/>
                <a:gd name="T4" fmla="*/ 784 w 1816"/>
                <a:gd name="T5" fmla="*/ 96 h 1728"/>
                <a:gd name="T6" fmla="*/ 1552 w 1816"/>
                <a:gd name="T7" fmla="*/ 96 h 1728"/>
                <a:gd name="T8" fmla="*/ 1792 w 1816"/>
                <a:gd name="T9" fmla="*/ 672 h 1728"/>
                <a:gd name="T10" fmla="*/ 1696 w 1816"/>
                <a:gd name="T11" fmla="*/ 1200 h 1728"/>
                <a:gd name="T12" fmla="*/ 1312 w 1816"/>
                <a:gd name="T13" fmla="*/ 1584 h 1728"/>
                <a:gd name="T14" fmla="*/ 496 w 1816"/>
                <a:gd name="T15" fmla="*/ 1680 h 1728"/>
                <a:gd name="T16" fmla="*/ 112 w 1816"/>
                <a:gd name="T17" fmla="*/ 1296 h 1728"/>
                <a:gd name="T18" fmla="*/ 16 w 1816"/>
                <a:gd name="T19" fmla="*/ 816 h 17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816" h="1728">
                  <a:moveTo>
                    <a:pt x="16" y="816"/>
                  </a:moveTo>
                  <a:cubicBezTo>
                    <a:pt x="32" y="656"/>
                    <a:pt x="80" y="456"/>
                    <a:pt x="208" y="336"/>
                  </a:cubicBezTo>
                  <a:cubicBezTo>
                    <a:pt x="336" y="216"/>
                    <a:pt x="560" y="136"/>
                    <a:pt x="784" y="96"/>
                  </a:cubicBezTo>
                  <a:cubicBezTo>
                    <a:pt x="1008" y="56"/>
                    <a:pt x="1384" y="0"/>
                    <a:pt x="1552" y="96"/>
                  </a:cubicBezTo>
                  <a:cubicBezTo>
                    <a:pt x="1720" y="192"/>
                    <a:pt x="1768" y="488"/>
                    <a:pt x="1792" y="672"/>
                  </a:cubicBezTo>
                  <a:cubicBezTo>
                    <a:pt x="1816" y="856"/>
                    <a:pt x="1776" y="1048"/>
                    <a:pt x="1696" y="1200"/>
                  </a:cubicBezTo>
                  <a:cubicBezTo>
                    <a:pt x="1616" y="1352"/>
                    <a:pt x="1512" y="1504"/>
                    <a:pt x="1312" y="1584"/>
                  </a:cubicBezTo>
                  <a:cubicBezTo>
                    <a:pt x="1112" y="1664"/>
                    <a:pt x="696" y="1728"/>
                    <a:pt x="496" y="1680"/>
                  </a:cubicBezTo>
                  <a:cubicBezTo>
                    <a:pt x="296" y="1632"/>
                    <a:pt x="192" y="1432"/>
                    <a:pt x="112" y="1296"/>
                  </a:cubicBezTo>
                  <a:cubicBezTo>
                    <a:pt x="32" y="1160"/>
                    <a:pt x="0" y="976"/>
                    <a:pt x="16" y="816"/>
                  </a:cubicBezTo>
                  <a:close/>
                </a:path>
              </a:pathLst>
            </a:custGeom>
            <a:noFill/>
            <a:ln w="2857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sp>
          <p:nvSpPr>
            <p:cNvPr id="123" name="Text Box 55">
              <a:extLst>
                <a:ext uri="{FF2B5EF4-FFF2-40B4-BE49-F238E27FC236}">
                  <a16:creationId xmlns:a16="http://schemas.microsoft.com/office/drawing/2014/main" id="{87F3E757-1867-4F8F-B6B6-21C1A256D0FF}"/>
                </a:ext>
              </a:extLst>
            </p:cNvPr>
            <p:cNvSpPr txBox="1">
              <a:spLocks noChangeArrowheads="1"/>
            </p:cNvSpPr>
            <p:nvPr/>
          </p:nvSpPr>
          <p:spPr bwMode="auto">
            <a:xfrm>
              <a:off x="1680" y="2352"/>
              <a:ext cx="96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b="0" dirty="0">
                  <a:latin typeface="+mn-ea"/>
                  <a:ea typeface="+mn-ea"/>
                </a:rPr>
                <a:t>磁介质</a:t>
              </a:r>
            </a:p>
          </p:txBody>
        </p:sp>
      </p:grpSp>
      <p:sp>
        <p:nvSpPr>
          <p:cNvPr id="124" name="Text Box 56">
            <a:extLst>
              <a:ext uri="{FF2B5EF4-FFF2-40B4-BE49-F238E27FC236}">
                <a16:creationId xmlns:a16="http://schemas.microsoft.com/office/drawing/2014/main" id="{C35B6CCC-27FA-4F3A-8A9E-B6B6B7AB8384}"/>
              </a:ext>
            </a:extLst>
          </p:cNvPr>
          <p:cNvSpPr txBox="1">
            <a:spLocks noChangeArrowheads="1"/>
          </p:cNvSpPr>
          <p:nvPr/>
        </p:nvSpPr>
        <p:spPr bwMode="auto">
          <a:xfrm>
            <a:off x="1480716" y="4183093"/>
            <a:ext cx="43053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0" dirty="0">
                <a:latin typeface="+mn-ea"/>
                <a:ea typeface="+mn-ea"/>
              </a:rPr>
              <a:t>设分子浓度为 </a:t>
            </a:r>
            <a:r>
              <a:rPr lang="en-US" altLang="zh-CN" b="0" i="1" dirty="0">
                <a:latin typeface="+mn-ea"/>
                <a:ea typeface="+mn-ea"/>
              </a:rPr>
              <a:t>n</a:t>
            </a:r>
            <a:r>
              <a:rPr lang="zh-CN" altLang="en-US" b="0" dirty="0">
                <a:latin typeface="+mn-ea"/>
                <a:ea typeface="+mn-ea"/>
              </a:rPr>
              <a:t>，</a:t>
            </a:r>
          </a:p>
        </p:txBody>
      </p:sp>
      <p:grpSp>
        <p:nvGrpSpPr>
          <p:cNvPr id="125" name="Group 57">
            <a:extLst>
              <a:ext uri="{FF2B5EF4-FFF2-40B4-BE49-F238E27FC236}">
                <a16:creationId xmlns:a16="http://schemas.microsoft.com/office/drawing/2014/main" id="{7A65D556-CB9C-4AD4-8A09-4356D17E244D}"/>
              </a:ext>
            </a:extLst>
          </p:cNvPr>
          <p:cNvGrpSpPr>
            <a:grpSpLocks/>
          </p:cNvGrpSpPr>
          <p:nvPr/>
        </p:nvGrpSpPr>
        <p:grpSpPr bwMode="auto">
          <a:xfrm>
            <a:off x="6512027" y="990417"/>
            <a:ext cx="1562100" cy="3067050"/>
            <a:chOff x="3324" y="24"/>
            <a:chExt cx="984" cy="1932"/>
          </a:xfrm>
        </p:grpSpPr>
        <p:grpSp>
          <p:nvGrpSpPr>
            <p:cNvPr id="126" name="Group 58">
              <a:extLst>
                <a:ext uri="{FF2B5EF4-FFF2-40B4-BE49-F238E27FC236}">
                  <a16:creationId xmlns:a16="http://schemas.microsoft.com/office/drawing/2014/main" id="{C10DA90A-977A-4370-924D-A1B9438CD7CC}"/>
                </a:ext>
              </a:extLst>
            </p:cNvPr>
            <p:cNvGrpSpPr>
              <a:grpSpLocks/>
            </p:cNvGrpSpPr>
            <p:nvPr/>
          </p:nvGrpSpPr>
          <p:grpSpPr bwMode="auto">
            <a:xfrm>
              <a:off x="3324" y="24"/>
              <a:ext cx="984" cy="1836"/>
              <a:chOff x="3324" y="24"/>
              <a:chExt cx="984" cy="1836"/>
            </a:xfrm>
          </p:grpSpPr>
          <p:sp>
            <p:nvSpPr>
              <p:cNvPr id="128" name="Line 59">
                <a:extLst>
                  <a:ext uri="{FF2B5EF4-FFF2-40B4-BE49-F238E27FC236}">
                    <a16:creationId xmlns:a16="http://schemas.microsoft.com/office/drawing/2014/main" id="{D9A69D12-66F8-4CE3-A482-EB18A68AD019}"/>
                  </a:ext>
                </a:extLst>
              </p:cNvPr>
              <p:cNvSpPr>
                <a:spLocks noChangeShapeType="1"/>
              </p:cNvSpPr>
              <p:nvPr/>
            </p:nvSpPr>
            <p:spPr bwMode="auto">
              <a:xfrm flipV="1">
                <a:off x="3456" y="420"/>
                <a:ext cx="720" cy="144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nvGrpSpPr>
              <p:cNvPr id="129" name="Group 60">
                <a:extLst>
                  <a:ext uri="{FF2B5EF4-FFF2-40B4-BE49-F238E27FC236}">
                    <a16:creationId xmlns:a16="http://schemas.microsoft.com/office/drawing/2014/main" id="{94B92F24-695F-4EA4-B3D2-725EF73B05E4}"/>
                  </a:ext>
                </a:extLst>
              </p:cNvPr>
              <p:cNvGrpSpPr>
                <a:grpSpLocks/>
              </p:cNvGrpSpPr>
              <p:nvPr/>
            </p:nvGrpSpPr>
            <p:grpSpPr bwMode="auto">
              <a:xfrm>
                <a:off x="3324" y="24"/>
                <a:ext cx="972" cy="1836"/>
                <a:chOff x="3324" y="24"/>
                <a:chExt cx="972" cy="1836"/>
              </a:xfrm>
            </p:grpSpPr>
            <p:sp>
              <p:nvSpPr>
                <p:cNvPr id="131" name="Oval 61" descr="浅色上对角线">
                  <a:extLst>
                    <a:ext uri="{FF2B5EF4-FFF2-40B4-BE49-F238E27FC236}">
                      <a16:creationId xmlns:a16="http://schemas.microsoft.com/office/drawing/2014/main" id="{B837FAEC-C2E5-4952-8536-BFE481A3EA6D}"/>
                    </a:ext>
                  </a:extLst>
                </p:cNvPr>
                <p:cNvSpPr>
                  <a:spLocks noChangeArrowheads="1"/>
                </p:cNvSpPr>
                <p:nvPr/>
              </p:nvSpPr>
              <p:spPr bwMode="auto">
                <a:xfrm rot="2741649">
                  <a:off x="3720" y="528"/>
                  <a:ext cx="672" cy="288"/>
                </a:xfrm>
                <a:prstGeom prst="ellipse">
                  <a:avLst/>
                </a:prstGeom>
                <a:pattFill prst="ltUpDiag">
                  <a:fgClr>
                    <a:srgbClr val="000000"/>
                  </a:fgClr>
                  <a:bgClr>
                    <a:srgbClr val="FFFFFF"/>
                  </a:bgClr>
                </a:patt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ea"/>
                    <a:ea typeface="+mn-ea"/>
                  </a:endParaRPr>
                </a:p>
              </p:txBody>
            </p:sp>
            <p:sp>
              <p:nvSpPr>
                <p:cNvPr id="132" name="Line 62">
                  <a:extLst>
                    <a:ext uri="{FF2B5EF4-FFF2-40B4-BE49-F238E27FC236}">
                      <a16:creationId xmlns:a16="http://schemas.microsoft.com/office/drawing/2014/main" id="{DDCCC466-ECB7-4A39-B753-BBC297743E42}"/>
                    </a:ext>
                  </a:extLst>
                </p:cNvPr>
                <p:cNvSpPr>
                  <a:spLocks noChangeShapeType="1"/>
                </p:cNvSpPr>
                <p:nvPr/>
              </p:nvSpPr>
              <p:spPr bwMode="auto">
                <a:xfrm flipH="1">
                  <a:off x="3324" y="456"/>
                  <a:ext cx="480" cy="96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sp>
              <p:nvSpPr>
                <p:cNvPr id="133" name="Line 63">
                  <a:extLst>
                    <a:ext uri="{FF2B5EF4-FFF2-40B4-BE49-F238E27FC236}">
                      <a16:creationId xmlns:a16="http://schemas.microsoft.com/office/drawing/2014/main" id="{C1545059-B3B4-4491-B981-ADAFA38BB3EC}"/>
                    </a:ext>
                  </a:extLst>
                </p:cNvPr>
                <p:cNvSpPr>
                  <a:spLocks noChangeShapeType="1"/>
                </p:cNvSpPr>
                <p:nvPr/>
              </p:nvSpPr>
              <p:spPr bwMode="auto">
                <a:xfrm flipH="1">
                  <a:off x="3816" y="900"/>
                  <a:ext cx="480" cy="96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sp>
              <p:nvSpPr>
                <p:cNvPr id="134" name="Text Box 64">
                  <a:extLst>
                    <a:ext uri="{FF2B5EF4-FFF2-40B4-BE49-F238E27FC236}">
                      <a16:creationId xmlns:a16="http://schemas.microsoft.com/office/drawing/2014/main" id="{5F556DE8-C404-4D00-8E96-B0FDA84689FA}"/>
                    </a:ext>
                  </a:extLst>
                </p:cNvPr>
                <p:cNvSpPr txBox="1">
                  <a:spLocks noChangeArrowheads="1"/>
                </p:cNvSpPr>
                <p:nvPr/>
              </p:nvSpPr>
              <p:spPr bwMode="auto">
                <a:xfrm>
                  <a:off x="3432" y="1488"/>
                  <a:ext cx="28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a:latin typeface="+mn-ea"/>
                      <a:ea typeface="+mn-ea"/>
                      <a:sym typeface="Symbol" panose="05050102010706020507" pitchFamily="18" charset="2"/>
                    </a:rPr>
                    <a:t></a:t>
                  </a:r>
                  <a:endParaRPr lang="en-US" altLang="zh-CN" b="0">
                    <a:latin typeface="+mn-ea"/>
                    <a:ea typeface="+mn-ea"/>
                  </a:endParaRPr>
                </a:p>
              </p:txBody>
            </p:sp>
            <p:sp>
              <p:nvSpPr>
                <p:cNvPr id="135" name="Line 65">
                  <a:extLst>
                    <a:ext uri="{FF2B5EF4-FFF2-40B4-BE49-F238E27FC236}">
                      <a16:creationId xmlns:a16="http://schemas.microsoft.com/office/drawing/2014/main" id="{195BCB6C-B653-4869-943D-FEFB1D36C8DD}"/>
                    </a:ext>
                  </a:extLst>
                </p:cNvPr>
                <p:cNvSpPr>
                  <a:spLocks noChangeShapeType="1"/>
                </p:cNvSpPr>
                <p:nvPr/>
              </p:nvSpPr>
              <p:spPr bwMode="auto">
                <a:xfrm flipV="1">
                  <a:off x="3552" y="612"/>
                  <a:ext cx="540" cy="1068"/>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mc:AlternateContent xmlns:mc="http://schemas.openxmlformats.org/markup-compatibility/2006" xmlns:a14="http://schemas.microsoft.com/office/drawing/2010/main">
              <mc:Choice Requires="a14">
                <p:sp>
                  <p:nvSpPr>
                    <p:cNvPr id="136" name="Object 66">
                      <a:extLst>
                        <a:ext uri="{FF2B5EF4-FFF2-40B4-BE49-F238E27FC236}">
                          <a16:creationId xmlns:a16="http://schemas.microsoft.com/office/drawing/2014/main" id="{3C57E020-5F50-41DF-B3C3-887FB0323751}"/>
                        </a:ext>
                      </a:extLst>
                    </p:cNvPr>
                    <p:cNvSpPr txBox="1"/>
                    <p:nvPr/>
                  </p:nvSpPr>
                  <p:spPr bwMode="auto">
                    <a:xfrm>
                      <a:off x="3468" y="1044"/>
                      <a:ext cx="312" cy="338"/>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d</m:t>
                                    </m:r>
                                  </m:fName>
                                  <m:e>
                                    <m:r>
                                      <a:rPr lang="en-US" sz="2800" i="1">
                                        <a:solidFill>
                                          <a:srgbClr val="000000"/>
                                        </a:solidFill>
                                        <a:latin typeface="Cambria Math" panose="02040503050406030204" pitchFamily="18" charset="0"/>
                                      </a:rPr>
                                      <m:t>𝑙</m:t>
                                    </m:r>
                                  </m:e>
                                </m:func>
                              </m:e>
                            </m:acc>
                          </m:oMath>
                        </m:oMathPara>
                      </a14:m>
                      <a:endParaRPr lang="en-US" sz="2800"/>
                    </a:p>
                  </p:txBody>
                </p:sp>
              </mc:Choice>
              <mc:Fallback xmlns="">
                <p:sp>
                  <p:nvSpPr>
                    <p:cNvPr id="136" name="Object 66">
                      <a:extLst>
                        <a:ext uri="{FF2B5EF4-FFF2-40B4-BE49-F238E27FC236}">
                          <a16:creationId xmlns:a16="http://schemas.microsoft.com/office/drawing/2014/main" id="{3C57E020-5F50-41DF-B3C3-887FB0323751}"/>
                        </a:ext>
                      </a:extLst>
                    </p:cNvPr>
                    <p:cNvSpPr txBox="1">
                      <a:spLocks noRot="1" noChangeAspect="1" noMove="1" noResize="1" noEditPoints="1" noAdjustHandles="1" noChangeArrowheads="1" noChangeShapeType="1" noTextEdit="1"/>
                    </p:cNvSpPr>
                    <p:nvPr/>
                  </p:nvSpPr>
                  <p:spPr bwMode="auto">
                    <a:xfrm>
                      <a:off x="3468" y="1044"/>
                      <a:ext cx="312" cy="338"/>
                    </a:xfrm>
                    <a:prstGeom prst="rect">
                      <a:avLst/>
                    </a:prstGeom>
                    <a:blipFill>
                      <a:blip r:embed="rId8"/>
                      <a:stretch>
                        <a:fillRect/>
                      </a:stretch>
                    </a:blipFill>
                    <a:ln>
                      <a:noFill/>
                    </a:ln>
                    <a:effectLst/>
                    <a:extLst/>
                  </p:spPr>
                  <p:txBody>
                    <a:bodyPr/>
                    <a:lstStyle/>
                    <a:p>
                      <a:r>
                        <a:rPr lang="en-US">
                          <a:noFill/>
                        </a:rPr>
                        <a:t> </a:t>
                      </a:r>
                    </a:p>
                  </p:txBody>
                </p:sp>
              </mc:Fallback>
            </mc:AlternateContent>
            <p:sp>
              <p:nvSpPr>
                <p:cNvPr id="137" name="Text Box 67">
                  <a:extLst>
                    <a:ext uri="{FF2B5EF4-FFF2-40B4-BE49-F238E27FC236}">
                      <a16:creationId xmlns:a16="http://schemas.microsoft.com/office/drawing/2014/main" id="{875CA694-D229-46D8-A647-F36157D7DE58}"/>
                    </a:ext>
                  </a:extLst>
                </p:cNvPr>
                <p:cNvSpPr txBox="1">
                  <a:spLocks noChangeArrowheads="1"/>
                </p:cNvSpPr>
                <p:nvPr/>
              </p:nvSpPr>
              <p:spPr bwMode="auto">
                <a:xfrm>
                  <a:off x="3600" y="24"/>
                  <a:ext cx="552"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a:latin typeface="+mn-ea"/>
                      <a:ea typeface="+mn-ea"/>
                    </a:rPr>
                    <a:t>S</a:t>
                  </a:r>
                  <a:r>
                    <a:rPr lang="zh-CN" altLang="en-US" b="0" baseline="-25000">
                      <a:solidFill>
                        <a:srgbClr val="FF3300"/>
                      </a:solidFill>
                      <a:latin typeface="+mn-ea"/>
                      <a:ea typeface="+mn-ea"/>
                    </a:rPr>
                    <a:t>平均</a:t>
                  </a:r>
                  <a:endParaRPr lang="zh-CN" altLang="en-US" b="0">
                    <a:latin typeface="+mn-ea"/>
                    <a:ea typeface="+mn-ea"/>
                  </a:endParaRPr>
                </a:p>
              </p:txBody>
            </p:sp>
            <p:sp>
              <p:nvSpPr>
                <p:cNvPr id="138" name="Line 68">
                  <a:extLst>
                    <a:ext uri="{FF2B5EF4-FFF2-40B4-BE49-F238E27FC236}">
                      <a16:creationId xmlns:a16="http://schemas.microsoft.com/office/drawing/2014/main" id="{1A23894A-205B-4488-9872-6DFE50460C42}"/>
                    </a:ext>
                  </a:extLst>
                </p:cNvPr>
                <p:cNvSpPr>
                  <a:spLocks noChangeShapeType="1"/>
                </p:cNvSpPr>
                <p:nvPr/>
              </p:nvSpPr>
              <p:spPr bwMode="auto">
                <a:xfrm>
                  <a:off x="3936" y="324"/>
                  <a:ext cx="48" cy="24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sp>
            <p:nvSpPr>
              <p:cNvPr id="130" name="Line 69">
                <a:extLst>
                  <a:ext uri="{FF2B5EF4-FFF2-40B4-BE49-F238E27FC236}">
                    <a16:creationId xmlns:a16="http://schemas.microsoft.com/office/drawing/2014/main" id="{9983C75B-F455-4EAB-AB6F-37597AA644E9}"/>
                  </a:ext>
                </a:extLst>
              </p:cNvPr>
              <p:cNvSpPr>
                <a:spLocks noChangeShapeType="1"/>
              </p:cNvSpPr>
              <p:nvPr/>
            </p:nvSpPr>
            <p:spPr bwMode="auto">
              <a:xfrm flipV="1">
                <a:off x="4068" y="132"/>
                <a:ext cx="240" cy="528"/>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p:sp>
          <p:nvSpPr>
            <p:cNvPr id="127" name="Oval 70" descr="浅色上对角线">
              <a:extLst>
                <a:ext uri="{FF2B5EF4-FFF2-40B4-BE49-F238E27FC236}">
                  <a16:creationId xmlns:a16="http://schemas.microsoft.com/office/drawing/2014/main" id="{743D8B38-F5F4-4AD1-91F5-AB0E08DD1A96}"/>
                </a:ext>
              </a:extLst>
            </p:cNvPr>
            <p:cNvSpPr>
              <a:spLocks noChangeArrowheads="1"/>
            </p:cNvSpPr>
            <p:nvPr/>
          </p:nvSpPr>
          <p:spPr bwMode="auto">
            <a:xfrm rot="2935711">
              <a:off x="3242" y="1476"/>
              <a:ext cx="672" cy="288"/>
            </a:xfrm>
            <a:prstGeom prst="ellipse">
              <a:avLst/>
            </a:prstGeom>
            <a:noFill/>
            <a:ln w="19050">
              <a:solidFill>
                <a:srgbClr val="000000"/>
              </a:solidFill>
              <a:round/>
              <a:headEnd/>
              <a:tailEnd/>
            </a:ln>
            <a:effectLst/>
            <a:extLst>
              <a:ext uri="{909E8E84-426E-40DD-AFC4-6F175D3DCCD1}">
                <a14:hiddenFill xmlns:a14="http://schemas.microsoft.com/office/drawing/2010/main">
                  <a:pattFill prst="ltUpDiag">
                    <a:fgClr>
                      <a:srgbClr val="000000"/>
                    </a:fgClr>
                    <a:bgClr>
                      <a:srgbClr val="FFFFFF"/>
                    </a:bgClr>
                  </a:patt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ea"/>
                <a:ea typeface="+mn-ea"/>
              </a:endParaRPr>
            </a:p>
          </p:txBody>
        </p:sp>
      </p:grpSp>
      <p:grpSp>
        <p:nvGrpSpPr>
          <p:cNvPr id="139" name="Group 71">
            <a:extLst>
              <a:ext uri="{FF2B5EF4-FFF2-40B4-BE49-F238E27FC236}">
                <a16:creationId xmlns:a16="http://schemas.microsoft.com/office/drawing/2014/main" id="{9EE31815-B69C-4DE7-9A36-BD823E70E48B}"/>
              </a:ext>
            </a:extLst>
          </p:cNvPr>
          <p:cNvGrpSpPr>
            <a:grpSpLocks/>
          </p:cNvGrpSpPr>
          <p:nvPr/>
        </p:nvGrpSpPr>
        <p:grpSpPr bwMode="auto">
          <a:xfrm>
            <a:off x="7216877" y="1276167"/>
            <a:ext cx="1828800" cy="1619250"/>
            <a:chOff x="3768" y="204"/>
            <a:chExt cx="1152" cy="1020"/>
          </a:xfrm>
        </p:grpSpPr>
        <p:sp>
          <p:nvSpPr>
            <p:cNvPr id="140" name="Line 72">
              <a:extLst>
                <a:ext uri="{FF2B5EF4-FFF2-40B4-BE49-F238E27FC236}">
                  <a16:creationId xmlns:a16="http://schemas.microsoft.com/office/drawing/2014/main" id="{32A0CA42-BF70-47A7-9F99-77E06E2F8AFF}"/>
                </a:ext>
              </a:extLst>
            </p:cNvPr>
            <p:cNvSpPr>
              <a:spLocks noChangeShapeType="1"/>
            </p:cNvSpPr>
            <p:nvPr/>
          </p:nvSpPr>
          <p:spPr bwMode="auto">
            <a:xfrm flipV="1">
              <a:off x="3768" y="900"/>
              <a:ext cx="384" cy="324"/>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mc:AlternateContent xmlns:mc="http://schemas.openxmlformats.org/markup-compatibility/2006" xmlns:a14="http://schemas.microsoft.com/office/drawing/2010/main">
          <mc:Choice Requires="a14">
            <p:sp>
              <p:nvSpPr>
                <p:cNvPr id="141" name="Object 73">
                  <a:extLst>
                    <a:ext uri="{FF2B5EF4-FFF2-40B4-BE49-F238E27FC236}">
                      <a16:creationId xmlns:a16="http://schemas.microsoft.com/office/drawing/2014/main" id="{438E635F-079F-4A6B-8548-2B167101EAB4}"/>
                    </a:ext>
                  </a:extLst>
                </p:cNvPr>
                <p:cNvSpPr txBox="1"/>
                <p:nvPr/>
              </p:nvSpPr>
              <p:spPr bwMode="auto">
                <a:xfrm>
                  <a:off x="4632" y="324"/>
                  <a:ext cx="288" cy="288"/>
                </a:xfrm>
                <a:prstGeom prst="rect">
                  <a:avLst/>
                </a:prstGeom>
                <a:noFill/>
                <a:ln>
                  <a:noFill/>
                </a:ln>
                <a:effec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𝑀</m:t>
                            </m:r>
                          </m:e>
                        </m:acc>
                      </m:oMath>
                    </m:oMathPara>
                  </a14:m>
                  <a:endParaRPr lang="en-US" sz="2800"/>
                </a:p>
              </p:txBody>
            </p:sp>
          </mc:Choice>
          <mc:Fallback xmlns="">
            <p:sp>
              <p:nvSpPr>
                <p:cNvPr id="141" name="Object 73">
                  <a:extLst>
                    <a:ext uri="{FF2B5EF4-FFF2-40B4-BE49-F238E27FC236}">
                      <a16:creationId xmlns:a16="http://schemas.microsoft.com/office/drawing/2014/main" id="{438E635F-079F-4A6B-8548-2B167101EAB4}"/>
                    </a:ext>
                  </a:extLst>
                </p:cNvPr>
                <p:cNvSpPr txBox="1">
                  <a:spLocks noRot="1" noChangeAspect="1" noMove="1" noResize="1" noEditPoints="1" noAdjustHandles="1" noChangeArrowheads="1" noChangeShapeType="1" noTextEdit="1"/>
                </p:cNvSpPr>
                <p:nvPr/>
              </p:nvSpPr>
              <p:spPr bwMode="auto">
                <a:xfrm>
                  <a:off x="4632" y="324"/>
                  <a:ext cx="288" cy="288"/>
                </a:xfrm>
                <a:prstGeom prst="rect">
                  <a:avLst/>
                </a:prstGeom>
                <a:blipFill>
                  <a:blip r:embed="rId9"/>
                  <a:stretch>
                    <a:fillRect/>
                  </a:stretch>
                </a:blipFill>
                <a:ln>
                  <a:noFill/>
                </a:ln>
                <a:effectLst/>
                <a:extLst/>
              </p:spPr>
              <p:txBody>
                <a:bodyPr/>
                <a:lstStyle/>
                <a:p>
                  <a:r>
                    <a:rPr lang="en-US">
                      <a:noFill/>
                    </a:rPr>
                    <a:t> </a:t>
                  </a:r>
                </a:p>
              </p:txBody>
            </p:sp>
          </mc:Fallback>
        </mc:AlternateContent>
        <p:sp>
          <p:nvSpPr>
            <p:cNvPr id="142" name="Line 74">
              <a:extLst>
                <a:ext uri="{FF2B5EF4-FFF2-40B4-BE49-F238E27FC236}">
                  <a16:creationId xmlns:a16="http://schemas.microsoft.com/office/drawing/2014/main" id="{8583F6B8-3EF0-4A10-9C86-29CE8B8B048C}"/>
                </a:ext>
              </a:extLst>
            </p:cNvPr>
            <p:cNvSpPr>
              <a:spLocks noChangeShapeType="1"/>
            </p:cNvSpPr>
            <p:nvPr/>
          </p:nvSpPr>
          <p:spPr bwMode="auto">
            <a:xfrm flipV="1">
              <a:off x="4224" y="204"/>
              <a:ext cx="672" cy="624"/>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latin typeface="+mn-ea"/>
              </a:endParaRPr>
            </a:p>
          </p:txBody>
        </p:sp>
      </p:grpSp>
      <mc:AlternateContent xmlns:mc="http://schemas.openxmlformats.org/markup-compatibility/2006" xmlns:a14="http://schemas.microsoft.com/office/drawing/2010/main">
        <mc:Choice Requires="a14">
          <p:sp>
            <p:nvSpPr>
              <p:cNvPr id="143" name="Object 1">
                <a:extLst>
                  <a:ext uri="{FF2B5EF4-FFF2-40B4-BE49-F238E27FC236}">
                    <a16:creationId xmlns:a16="http://schemas.microsoft.com/office/drawing/2014/main" id="{E5823F25-8C2D-4ED0-8958-7D3ADCEC3BB4}"/>
                  </a:ext>
                </a:extLst>
              </p:cNvPr>
              <p:cNvSpPr txBox="1"/>
              <p:nvPr/>
            </p:nvSpPr>
            <p:spPr bwMode="auto">
              <a:xfrm>
                <a:off x="256013" y="4901608"/>
                <a:ext cx="7666021" cy="647700"/>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sSup>
                        <m:sSupPr>
                          <m:ctrlPr>
                            <a:rPr lang="en-US" sz="2800" i="1">
                              <a:solidFill>
                                <a:srgbClr val="000000"/>
                              </a:solidFill>
                              <a:latin typeface="Cambria Math" panose="02040503050406030204" pitchFamily="18" charset="0"/>
                            </a:rPr>
                          </m:ctrlPr>
                        </m:sSupPr>
                        <m:e>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d</m:t>
                              </m:r>
                            </m:fName>
                            <m:e>
                              <m:r>
                                <a:rPr lang="en-US" sz="2800" i="1">
                                  <a:solidFill>
                                    <a:srgbClr val="000000"/>
                                  </a:solidFill>
                                  <a:latin typeface="Cambria Math" panose="02040503050406030204" pitchFamily="18" charset="0"/>
                                </a:rPr>
                                <m:t>𝐼</m:t>
                              </m:r>
                            </m:e>
                          </m:func>
                        </m:e>
                        <m:sup>
                          <m:r>
                            <a:rPr lang="en-US" sz="2800" i="1">
                              <a:solidFill>
                                <a:srgbClr val="000000"/>
                              </a:solidFill>
                              <a:latin typeface="Cambria Math" panose="02040503050406030204" pitchFamily="18" charset="0"/>
                            </a:rPr>
                            <m:t>′</m:t>
                          </m:r>
                        </m:sup>
                      </m:sSup>
                      <m:func>
                        <m:funcPr>
                          <m:ctrlPr>
                            <a:rPr lang="en-US" sz="2800" i="1">
                              <a:solidFill>
                                <a:srgbClr val="000000"/>
                              </a:solidFill>
                              <a:latin typeface="Cambria Math" panose="02040503050406030204" pitchFamily="18" charset="0"/>
                            </a:rPr>
                          </m:ctrlPr>
                        </m:funcPr>
                        <m:fName>
                          <m:r>
                            <a:rPr lang="en-US" sz="2800" i="0">
                              <a:solidFill>
                                <a:srgbClr val="000000"/>
                              </a:solidFill>
                              <a:latin typeface="Cambria Math" panose="02040503050406030204" pitchFamily="18" charset="0"/>
                            </a:rPr>
                            <m:t> </m:t>
                          </m:r>
                        </m:fName>
                        <m:e>
                          <m:r>
                            <a:rPr lang="en-US" sz="2800" i="1">
                              <a:solidFill>
                                <a:srgbClr val="000000"/>
                              </a:solidFill>
                              <a:latin typeface="Cambria Math" panose="02040503050406030204" pitchFamily="18" charset="0"/>
                            </a:rPr>
                            <m:t>=</m:t>
                          </m:r>
                        </m:e>
                      </m:func>
                      <m:r>
                        <a:rPr lang="en-US" sz="2800" i="1">
                          <a:solidFill>
                            <a:srgbClr val="000000"/>
                          </a:solidFill>
                          <a:latin typeface="Cambria Math" panose="02040503050406030204" pitchFamily="18" charset="0"/>
                        </a:rPr>
                        <m:t>𝑛</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𝑖</m:t>
                          </m:r>
                        </m:e>
                        <m:sub>
                          <m:r>
                            <a:rPr lang="en-US" sz="2800" i="1">
                              <a:solidFill>
                                <a:srgbClr val="000000"/>
                              </a:solidFill>
                              <a:latin typeface="Cambria Math" panose="02040503050406030204" pitchFamily="18" charset="0"/>
                            </a:rPr>
                            <m:t>平均</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𝑆</m:t>
                          </m:r>
                        </m:e>
                        <m:sub>
                          <m:r>
                            <a:rPr lang="en-US" sz="2800" i="1">
                              <a:solidFill>
                                <a:srgbClr val="000000"/>
                              </a:solidFill>
                              <a:latin typeface="Cambria Math" panose="02040503050406030204" pitchFamily="18" charset="0"/>
                            </a:rPr>
                            <m:t>平均</m:t>
                          </m:r>
                        </m:sub>
                      </m:sSub>
                      <m:r>
                        <a:rPr lang="en-US" sz="2800" i="1">
                          <a:solidFill>
                            <a:srgbClr val="000000"/>
                          </a:solidFill>
                          <a:latin typeface="Cambria Math" panose="02040503050406030204" pitchFamily="18" charset="0"/>
                        </a:rPr>
                        <m:t>⋅</m:t>
                      </m:r>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cos</m:t>
                          </m:r>
                        </m:fName>
                        <m:e>
                          <m:r>
                            <a:rPr lang="en-US" sz="2800" i="1">
                              <a:solidFill>
                                <a:srgbClr val="000000"/>
                              </a:solidFill>
                              <a:latin typeface="Cambria Math" panose="02040503050406030204" pitchFamily="18" charset="0"/>
                            </a:rPr>
                            <m:t>𝜃</m:t>
                          </m:r>
                        </m:e>
                      </m:func>
                      <m:r>
                        <a:rPr lang="en-US" sz="2800" i="1">
                          <a:solidFill>
                            <a:srgbClr val="000000"/>
                          </a:solidFill>
                          <a:latin typeface="Cambria Math" panose="02040503050406030204" pitchFamily="18" charset="0"/>
                        </a:rPr>
                        <m:t>⋅</m:t>
                      </m:r>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d</m:t>
                          </m:r>
                        </m:fName>
                        <m:e>
                          <m:r>
                            <a:rPr lang="en-US" sz="2800" i="1">
                              <a:solidFill>
                                <a:srgbClr val="000000"/>
                              </a:solidFill>
                              <a:latin typeface="Cambria Math" panose="02040503050406030204" pitchFamily="18" charset="0"/>
                            </a:rPr>
                            <m:t>𝑙</m:t>
                          </m:r>
                        </m:e>
                      </m:func>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143" name="Object 1">
                <a:extLst>
                  <a:ext uri="{FF2B5EF4-FFF2-40B4-BE49-F238E27FC236}">
                    <a16:creationId xmlns:a16="http://schemas.microsoft.com/office/drawing/2014/main" id="{E5823F25-8C2D-4ED0-8958-7D3ADCEC3BB4}"/>
                  </a:ext>
                </a:extLst>
              </p:cNvPr>
              <p:cNvSpPr txBox="1">
                <a:spLocks noRot="1" noChangeAspect="1" noMove="1" noResize="1" noEditPoints="1" noAdjustHandles="1" noChangeArrowheads="1" noChangeShapeType="1" noTextEdit="1"/>
              </p:cNvSpPr>
              <p:nvPr/>
            </p:nvSpPr>
            <p:spPr bwMode="auto">
              <a:xfrm>
                <a:off x="256013" y="4901608"/>
                <a:ext cx="7666021" cy="647700"/>
              </a:xfrm>
              <a:prstGeom prst="rect">
                <a:avLst/>
              </a:prstGeom>
              <a:blipFill>
                <a:blip r:embed="rId10"/>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08802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21"/>
                                        </p:tgtEl>
                                        <p:attrNameLst>
                                          <p:attrName>style.visibility</p:attrName>
                                        </p:attrNameLst>
                                      </p:cBhvr>
                                      <p:to>
                                        <p:strVal val="visible"/>
                                      </p:to>
                                    </p:set>
                                    <p:animEffect transition="in" filter="wipe(up)">
                                      <p:cBhvr>
                                        <p:cTn id="11" dur="500"/>
                                        <p:tgtEl>
                                          <p:spTgt spid="1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77"/>
                                        </p:tgtEl>
                                        <p:attrNameLst>
                                          <p:attrName>style.visibility</p:attrName>
                                        </p:attrNameLst>
                                      </p:cBhvr>
                                      <p:to>
                                        <p:strVal val="visible"/>
                                      </p:to>
                                    </p:set>
                                    <p:animEffect transition="in" filter="wipe(up)">
                                      <p:cBhvr>
                                        <p:cTn id="16" dur="500"/>
                                        <p:tgtEl>
                                          <p:spTgt spid="7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3"/>
                                        </p:tgtEl>
                                        <p:attrNameLst>
                                          <p:attrName>style.visibility</p:attrName>
                                        </p:attrNameLst>
                                      </p:cBhvr>
                                      <p:to>
                                        <p:strVal val="visible"/>
                                      </p:to>
                                    </p:set>
                                    <p:animEffect transition="in" filter="wipe(up)">
                                      <p:cBhvr>
                                        <p:cTn id="21" dur="500"/>
                                        <p:tgtEl>
                                          <p:spTgt spid="93"/>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81"/>
                                        </p:tgtEl>
                                        <p:attrNameLst>
                                          <p:attrName>style.visibility</p:attrName>
                                        </p:attrNameLst>
                                      </p:cBhvr>
                                      <p:to>
                                        <p:strVal val="visible"/>
                                      </p:to>
                                    </p:set>
                                    <p:animEffect transition="in" filter="box(out)">
                                      <p:cBhvr>
                                        <p:cTn id="26" dur="500"/>
                                        <p:tgtEl>
                                          <p:spTgt spid="8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20"/>
                                        </p:tgtEl>
                                        <p:attrNameLst>
                                          <p:attrName>style.visibility</p:attrName>
                                        </p:attrNameLst>
                                      </p:cBhvr>
                                      <p:to>
                                        <p:strVal val="visible"/>
                                      </p:to>
                                    </p:set>
                                    <p:animEffect transition="in" filter="wipe(left)">
                                      <p:cBhvr>
                                        <p:cTn id="31" dur="500"/>
                                        <p:tgtEl>
                                          <p:spTgt spid="120"/>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84"/>
                                        </p:tgtEl>
                                        <p:attrNameLst>
                                          <p:attrName>style.visibility</p:attrName>
                                        </p:attrNameLst>
                                      </p:cBhvr>
                                      <p:to>
                                        <p:strVal val="visible"/>
                                      </p:to>
                                    </p:set>
                                    <p:animEffect transition="in" filter="box(out)">
                                      <p:cBhvr>
                                        <p:cTn id="36" dur="500"/>
                                        <p:tgtEl>
                                          <p:spTgt spid="8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90"/>
                                        </p:tgtEl>
                                        <p:attrNameLst>
                                          <p:attrName>style.visibility</p:attrName>
                                        </p:attrNameLst>
                                      </p:cBhvr>
                                      <p:to>
                                        <p:strVal val="visible"/>
                                      </p:to>
                                    </p:set>
                                    <p:animEffect transition="in" filter="wipe(down)">
                                      <p:cBhvr>
                                        <p:cTn id="41" dur="500"/>
                                        <p:tgtEl>
                                          <p:spTgt spid="9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87"/>
                                        </p:tgtEl>
                                        <p:attrNameLst>
                                          <p:attrName>style.visibility</p:attrName>
                                        </p:attrNameLst>
                                      </p:cBhvr>
                                      <p:to>
                                        <p:strVal val="visible"/>
                                      </p:to>
                                    </p:set>
                                    <p:animEffect transition="in" filter="wipe(left)">
                                      <p:cBhvr>
                                        <p:cTn id="46" dur="500"/>
                                        <p:tgtEl>
                                          <p:spTgt spid="8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125"/>
                                        </p:tgtEl>
                                        <p:attrNameLst>
                                          <p:attrName>style.visibility</p:attrName>
                                        </p:attrNameLst>
                                      </p:cBhvr>
                                      <p:to>
                                        <p:strVal val="visible"/>
                                      </p:to>
                                    </p:set>
                                    <p:animEffect transition="in" filter="wipe(down)">
                                      <p:cBhvr>
                                        <p:cTn id="51" dur="500"/>
                                        <p:tgtEl>
                                          <p:spTgt spid="12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39"/>
                                        </p:tgtEl>
                                        <p:attrNameLst>
                                          <p:attrName>style.visibility</p:attrName>
                                        </p:attrNameLst>
                                      </p:cBhvr>
                                      <p:to>
                                        <p:strVal val="visible"/>
                                      </p:to>
                                    </p:set>
                                    <p:animEffect transition="in" filter="wipe(down)">
                                      <p:cBhvr>
                                        <p:cTn id="56" dur="500"/>
                                        <p:tgtEl>
                                          <p:spTgt spid="13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03"/>
                                        </p:tgtEl>
                                        <p:attrNameLst>
                                          <p:attrName>style.visibility</p:attrName>
                                        </p:attrNameLst>
                                      </p:cBhvr>
                                      <p:to>
                                        <p:strVal val="visible"/>
                                      </p:to>
                                    </p:set>
                                    <p:animEffect transition="in" filter="wipe(left)">
                                      <p:cBhvr>
                                        <p:cTn id="61" dur="500"/>
                                        <p:tgtEl>
                                          <p:spTgt spid="103"/>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32" fill="hold" nodeType="clickEffect">
                                  <p:stCondLst>
                                    <p:cond delay="0"/>
                                  </p:stCondLst>
                                  <p:childTnLst>
                                    <p:set>
                                      <p:cBhvr>
                                        <p:cTn id="65" dur="1" fill="hold">
                                          <p:stCondLst>
                                            <p:cond delay="0"/>
                                          </p:stCondLst>
                                        </p:cTn>
                                        <p:tgtEl>
                                          <p:spTgt spid="106"/>
                                        </p:tgtEl>
                                        <p:attrNameLst>
                                          <p:attrName>style.visibility</p:attrName>
                                        </p:attrNameLst>
                                      </p:cBhvr>
                                      <p:to>
                                        <p:strVal val="visible"/>
                                      </p:to>
                                    </p:set>
                                    <p:animEffect transition="in" filter="box(out)">
                                      <p:cBhvr>
                                        <p:cTn id="66" dur="500"/>
                                        <p:tgtEl>
                                          <p:spTgt spid="106"/>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32" fill="hold" nodeType="clickEffect">
                                  <p:stCondLst>
                                    <p:cond delay="0"/>
                                  </p:stCondLst>
                                  <p:childTnLst>
                                    <p:set>
                                      <p:cBhvr>
                                        <p:cTn id="70" dur="1" fill="hold">
                                          <p:stCondLst>
                                            <p:cond delay="0"/>
                                          </p:stCondLst>
                                        </p:cTn>
                                        <p:tgtEl>
                                          <p:spTgt spid="98"/>
                                        </p:tgtEl>
                                        <p:attrNameLst>
                                          <p:attrName>style.visibility</p:attrName>
                                        </p:attrNameLst>
                                      </p:cBhvr>
                                      <p:to>
                                        <p:strVal val="visible"/>
                                      </p:to>
                                    </p:set>
                                    <p:animEffect transition="in" filter="box(out)">
                                      <p:cBhvr>
                                        <p:cTn id="71" dur="500"/>
                                        <p:tgtEl>
                                          <p:spTgt spid="98"/>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32" fill="hold" nodeType="clickEffect">
                                  <p:stCondLst>
                                    <p:cond delay="0"/>
                                  </p:stCondLst>
                                  <p:childTnLst>
                                    <p:set>
                                      <p:cBhvr>
                                        <p:cTn id="75" dur="1" fill="hold">
                                          <p:stCondLst>
                                            <p:cond delay="0"/>
                                          </p:stCondLst>
                                        </p:cTn>
                                        <p:tgtEl>
                                          <p:spTgt spid="112"/>
                                        </p:tgtEl>
                                        <p:attrNameLst>
                                          <p:attrName>style.visibility</p:attrName>
                                        </p:attrNameLst>
                                      </p:cBhvr>
                                      <p:to>
                                        <p:strVal val="visible"/>
                                      </p:to>
                                    </p:set>
                                    <p:animEffect transition="in" filter="box(out)">
                                      <p:cBhvr>
                                        <p:cTn id="76" dur="500"/>
                                        <p:tgtEl>
                                          <p:spTgt spid="112"/>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32" fill="hold" nodeType="clickEffect">
                                  <p:stCondLst>
                                    <p:cond delay="0"/>
                                  </p:stCondLst>
                                  <p:childTnLst>
                                    <p:set>
                                      <p:cBhvr>
                                        <p:cTn id="80" dur="1" fill="hold">
                                          <p:stCondLst>
                                            <p:cond delay="0"/>
                                          </p:stCondLst>
                                        </p:cTn>
                                        <p:tgtEl>
                                          <p:spTgt spid="116"/>
                                        </p:tgtEl>
                                        <p:attrNameLst>
                                          <p:attrName>style.visibility</p:attrName>
                                        </p:attrNameLst>
                                      </p:cBhvr>
                                      <p:to>
                                        <p:strVal val="visible"/>
                                      </p:to>
                                    </p:set>
                                    <p:animEffect transition="in" filter="box(out)">
                                      <p:cBhvr>
                                        <p:cTn id="81" dur="500"/>
                                        <p:tgtEl>
                                          <p:spTgt spid="116"/>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24"/>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76"/>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43"/>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7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74"/>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72"/>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P spid="73" grpId="0"/>
      <p:bldP spid="74" grpId="0"/>
      <p:bldP spid="75" grpId="0"/>
      <p:bldP spid="76" grpId="0" autoUpdateAnimBg="0"/>
      <p:bldP spid="120" grpId="0" autoUpdateAnimBg="0"/>
      <p:bldP spid="124" grpId="0" autoUpdateAnimBg="0"/>
      <p:bldP spid="1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内容占位符 8"/>
              <p:cNvSpPr>
                <a:spLocks noGrp="1"/>
              </p:cNvSpPr>
              <p:nvPr>
                <p:ph idx="1"/>
              </p:nvPr>
            </p:nvSpPr>
            <p:spPr>
              <a:xfrm>
                <a:off x="822960" y="4101707"/>
                <a:ext cx="4765040" cy="1371600"/>
              </a:xfrm>
            </p:spPr>
            <p:txBody>
              <a:bodyPr>
                <a:noAutofit/>
              </a:bodyPr>
              <a:lstStyle/>
              <a:p>
                <a:pPr marL="0" indent="0" algn="ctr">
                  <a:lnSpc>
                    <a:spcPct val="120000"/>
                  </a:lnSpc>
                  <a:spcBef>
                    <a:spcPts val="0"/>
                  </a:spcBef>
                  <a:buNone/>
                </a:pPr>
                <a14:m>
                  <m:oMath xmlns:m="http://schemas.openxmlformats.org/officeDocument/2006/math">
                    <m:sSup>
                      <m:sSupPr>
                        <m:ctrlPr>
                          <a:rPr kumimoji="1" lang="en-US" altLang="zh-CN" i="1" smtClean="0">
                            <a:solidFill>
                              <a:schemeClr val="tx1"/>
                            </a:solidFill>
                            <a:latin typeface="Cambria Math" panose="02040503050406030204" pitchFamily="18" charset="0"/>
                            <a:ea typeface="华文新魏" panose="02010800040101010101" pitchFamily="2" charset="-122"/>
                          </a:rPr>
                        </m:ctrlPr>
                      </m:sSupPr>
                      <m:e>
                        <m:r>
                          <a:rPr kumimoji="1" lang="en-US" altLang="zh-CN" b="0" i="1" smtClean="0">
                            <a:solidFill>
                              <a:schemeClr val="tx1"/>
                            </a:solidFill>
                            <a:latin typeface="Cambria Math" panose="02040503050406030204" pitchFamily="18" charset="0"/>
                            <a:ea typeface="华文新魏" panose="02010800040101010101" pitchFamily="2" charset="-122"/>
                          </a:rPr>
                          <m:t>𝑗</m:t>
                        </m:r>
                      </m:e>
                      <m:sup>
                        <m:r>
                          <a:rPr kumimoji="1" lang="en-US" altLang="zh-CN" b="0" i="1" smtClean="0">
                            <a:solidFill>
                              <a:schemeClr val="tx1"/>
                            </a:solidFill>
                            <a:latin typeface="Cambria Math" panose="02040503050406030204" pitchFamily="18" charset="0"/>
                            <a:ea typeface="华文新魏" panose="02010800040101010101" pitchFamily="2" charset="-122"/>
                          </a:rPr>
                          <m:t>′</m:t>
                        </m:r>
                      </m:sup>
                    </m:sSup>
                  </m:oMath>
                </a14:m>
                <a:r>
                  <a:rPr kumimoji="1" lang="zh-CN" altLang="en-US" dirty="0">
                    <a:solidFill>
                      <a:schemeClr val="tx1"/>
                    </a:solidFill>
                  </a:rPr>
                  <a:t>：面束缚电流密度</a:t>
                </a:r>
                <a:endParaRPr kumimoji="1" lang="en-US" altLang="zh-CN" dirty="0">
                  <a:solidFill>
                    <a:schemeClr val="tx1"/>
                  </a:solidFill>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𝐼</m:t>
                          </m:r>
                        </m:e>
                        <m:sup>
                          <m:r>
                            <a:rPr lang="zh-CN" altLang="en-US" i="1">
                              <a:solidFill>
                                <a:srgbClr val="000000"/>
                              </a:solidFill>
                              <a:latin typeface="Cambria Math" panose="02040503050406030204" pitchFamily="18" charset="0"/>
                            </a:rPr>
                            <m:t>′</m:t>
                          </m:r>
                        </m:sup>
                      </m:sSup>
                      <m:r>
                        <a:rPr lang="zh-CN" altLang="en-US" b="0">
                          <a:solidFill>
                            <a:schemeClr val="tx1"/>
                          </a:solidFill>
                          <a:latin typeface="Cambria Math" panose="02040503050406030204" pitchFamily="18" charset="0"/>
                        </a:rPr>
                        <m:t>=</m:t>
                      </m:r>
                      <m:sSup>
                        <m:sSupPr>
                          <m:ctrlPr>
                            <a:rPr kumimoji="1" lang="en-US" altLang="zh-CN" i="1">
                              <a:solidFill>
                                <a:schemeClr val="tx1"/>
                              </a:solidFill>
                              <a:latin typeface="Cambria Math" panose="02040503050406030204" pitchFamily="18" charset="0"/>
                              <a:ea typeface="华文新魏" panose="02010800040101010101" pitchFamily="2" charset="-122"/>
                            </a:rPr>
                          </m:ctrlPr>
                        </m:sSupPr>
                        <m:e>
                          <m:r>
                            <a:rPr kumimoji="1" lang="en-US" altLang="zh-CN" b="0" i="1">
                              <a:solidFill>
                                <a:schemeClr val="tx1"/>
                              </a:solidFill>
                              <a:latin typeface="Cambria Math" panose="02040503050406030204" pitchFamily="18" charset="0"/>
                              <a:ea typeface="华文新魏" panose="02010800040101010101" pitchFamily="2" charset="-122"/>
                            </a:rPr>
                            <m:t>𝑗</m:t>
                          </m:r>
                        </m:e>
                        <m:sup>
                          <m:r>
                            <a:rPr kumimoji="1" lang="en-US" altLang="zh-CN" b="0" i="1">
                              <a:solidFill>
                                <a:schemeClr val="tx1"/>
                              </a:solidFill>
                              <a:latin typeface="Cambria Math" panose="02040503050406030204" pitchFamily="18" charset="0"/>
                              <a:ea typeface="华文新魏" panose="02010800040101010101" pitchFamily="2" charset="-122"/>
                            </a:rPr>
                            <m:t>′</m:t>
                          </m:r>
                        </m:sup>
                      </m:sSup>
                      <m:r>
                        <a:rPr kumimoji="1" lang="en-US" altLang="zh-CN" b="0" i="1" smtClean="0">
                          <a:solidFill>
                            <a:schemeClr val="tx1"/>
                          </a:solidFill>
                          <a:latin typeface="Cambria Math" panose="02040503050406030204" pitchFamily="18" charset="0"/>
                          <a:ea typeface="华文新魏" panose="02010800040101010101" pitchFamily="2" charset="-122"/>
                        </a:rPr>
                        <m:t>𝑑</m:t>
                      </m:r>
                      <m:r>
                        <a:rPr lang="zh-CN" altLang="en-US" b="0" i="1">
                          <a:solidFill>
                            <a:schemeClr val="tx1"/>
                          </a:solidFill>
                          <a:latin typeface="Cambria Math" panose="02040503050406030204" pitchFamily="18" charset="0"/>
                        </a:rPr>
                        <m:t>𝑙</m:t>
                      </m:r>
                    </m:oMath>
                  </m:oMathPara>
                </a14:m>
                <a:endParaRPr lang="zh-CN" altLang="en-US" b="0" i="1" dirty="0">
                  <a:solidFill>
                    <a:schemeClr val="tx1"/>
                  </a:solidFill>
                  <a:latin typeface="Cambria Math" panose="02040503050406030204" pitchFamily="18" charset="0"/>
                </a:endParaRPr>
              </a:p>
            </p:txBody>
          </p:sp>
        </mc:Choice>
        <mc:Fallback xmlns="">
          <p:sp>
            <p:nvSpPr>
              <p:cNvPr id="9" name="内容占位符 8"/>
              <p:cNvSpPr>
                <a:spLocks noGrp="1" noRot="1" noChangeAspect="1" noMove="1" noResize="1" noEditPoints="1" noAdjustHandles="1" noChangeArrowheads="1" noChangeShapeType="1" noTextEdit="1"/>
              </p:cNvSpPr>
              <p:nvPr>
                <p:ph idx="1"/>
              </p:nvPr>
            </p:nvSpPr>
            <p:spPr>
              <a:xfrm>
                <a:off x="822960" y="4101707"/>
                <a:ext cx="4765040" cy="1371600"/>
              </a:xfrm>
              <a:blipFill>
                <a:blip r:embed="rId2"/>
                <a:stretch>
                  <a:fillRect t="-889"/>
                </a:stretch>
              </a:blipFill>
            </p:spPr>
            <p:txBody>
              <a:bodyPr/>
              <a:lstStyle/>
              <a:p>
                <a:r>
                  <a:rPr lang="en-US">
                    <a:noFill/>
                  </a:rPr>
                  <a:t> </a:t>
                </a:r>
              </a:p>
            </p:txBody>
          </p:sp>
        </mc:Fallback>
      </mc:AlternateContent>
      <p:grpSp>
        <p:nvGrpSpPr>
          <p:cNvPr id="14" name="组合 13"/>
          <p:cNvGrpSpPr/>
          <p:nvPr/>
        </p:nvGrpSpPr>
        <p:grpSpPr>
          <a:xfrm>
            <a:off x="1122679" y="1916199"/>
            <a:ext cx="4114800" cy="2177870"/>
            <a:chOff x="1278571" y="1898830"/>
            <a:chExt cx="4114800" cy="2177870"/>
          </a:xfrm>
        </p:grpSpPr>
        <p:grpSp>
          <p:nvGrpSpPr>
            <p:cNvPr id="5" name="组合 4"/>
            <p:cNvGrpSpPr/>
            <p:nvPr/>
          </p:nvGrpSpPr>
          <p:grpSpPr>
            <a:xfrm>
              <a:off x="1278571" y="1898830"/>
              <a:ext cx="4114800" cy="2013634"/>
              <a:chOff x="1248312" y="89021"/>
              <a:chExt cx="4114800" cy="2013634"/>
            </a:xfrm>
          </p:grpSpPr>
          <p:grpSp>
            <p:nvGrpSpPr>
              <p:cNvPr id="31753" name="Group 8"/>
              <p:cNvGrpSpPr>
                <a:grpSpLocks/>
              </p:cNvGrpSpPr>
              <p:nvPr/>
            </p:nvGrpSpPr>
            <p:grpSpPr bwMode="auto">
              <a:xfrm>
                <a:off x="1248312" y="89021"/>
                <a:ext cx="4114800" cy="1676400"/>
                <a:chOff x="336" y="384"/>
                <a:chExt cx="2592" cy="1056"/>
              </a:xfrm>
            </p:grpSpPr>
            <p:grpSp>
              <p:nvGrpSpPr>
                <p:cNvPr id="31758" name="Group 9"/>
                <p:cNvGrpSpPr>
                  <a:grpSpLocks/>
                </p:cNvGrpSpPr>
                <p:nvPr/>
              </p:nvGrpSpPr>
              <p:grpSpPr bwMode="auto">
                <a:xfrm>
                  <a:off x="816" y="384"/>
                  <a:ext cx="1488" cy="864"/>
                  <a:chOff x="816" y="384"/>
                  <a:chExt cx="1488" cy="864"/>
                </a:xfrm>
              </p:grpSpPr>
              <p:sp>
                <p:nvSpPr>
                  <p:cNvPr id="31780" name="Oval 10"/>
                  <p:cNvSpPr>
                    <a:spLocks noChangeArrowheads="1"/>
                  </p:cNvSpPr>
                  <p:nvPr/>
                </p:nvSpPr>
                <p:spPr bwMode="auto">
                  <a:xfrm>
                    <a:off x="2016" y="384"/>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781" name="Line 11"/>
                  <p:cNvSpPr>
                    <a:spLocks noChangeShapeType="1"/>
                  </p:cNvSpPr>
                  <p:nvPr/>
                </p:nvSpPr>
                <p:spPr bwMode="auto">
                  <a:xfrm>
                    <a:off x="912" y="384"/>
                    <a:ext cx="1248" cy="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31782" name="Line 12"/>
                  <p:cNvSpPr>
                    <a:spLocks noChangeShapeType="1"/>
                  </p:cNvSpPr>
                  <p:nvPr/>
                </p:nvSpPr>
                <p:spPr bwMode="auto">
                  <a:xfrm>
                    <a:off x="912" y="1248"/>
                    <a:ext cx="1248" cy="0"/>
                  </a:xfrm>
                  <a:prstGeom prst="line">
                    <a:avLst/>
                  </a:prstGeom>
                  <a:noFill/>
                  <a:ln w="9525">
                    <a:solidFill>
                      <a:srgbClr val="FF99CC"/>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nvGrpSpPr>
                  <p:cNvPr id="31783" name="Group 13"/>
                  <p:cNvGrpSpPr>
                    <a:grpSpLocks/>
                  </p:cNvGrpSpPr>
                  <p:nvPr/>
                </p:nvGrpSpPr>
                <p:grpSpPr bwMode="auto">
                  <a:xfrm>
                    <a:off x="816" y="384"/>
                    <a:ext cx="240" cy="864"/>
                    <a:chOff x="1056" y="2592"/>
                    <a:chExt cx="240" cy="864"/>
                  </a:xfrm>
                </p:grpSpPr>
                <p:sp>
                  <p:nvSpPr>
                    <p:cNvPr id="31823" name="Oval 14"/>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24" name="Line 15"/>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84" name="Group 16"/>
                  <p:cNvGrpSpPr>
                    <a:grpSpLocks/>
                  </p:cNvGrpSpPr>
                  <p:nvPr/>
                </p:nvGrpSpPr>
                <p:grpSpPr bwMode="auto">
                  <a:xfrm>
                    <a:off x="912" y="384"/>
                    <a:ext cx="240" cy="864"/>
                    <a:chOff x="1056" y="2592"/>
                    <a:chExt cx="240" cy="864"/>
                  </a:xfrm>
                </p:grpSpPr>
                <p:sp>
                  <p:nvSpPr>
                    <p:cNvPr id="31821" name="Oval 17"/>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22" name="Line 18"/>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85" name="Group 19"/>
                  <p:cNvGrpSpPr>
                    <a:grpSpLocks/>
                  </p:cNvGrpSpPr>
                  <p:nvPr/>
                </p:nvGrpSpPr>
                <p:grpSpPr bwMode="auto">
                  <a:xfrm>
                    <a:off x="1008" y="384"/>
                    <a:ext cx="240" cy="864"/>
                    <a:chOff x="1056" y="2592"/>
                    <a:chExt cx="240" cy="864"/>
                  </a:xfrm>
                </p:grpSpPr>
                <p:sp>
                  <p:nvSpPr>
                    <p:cNvPr id="31819" name="Oval 20"/>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20" name="Line 21"/>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86" name="Group 22"/>
                  <p:cNvGrpSpPr>
                    <a:grpSpLocks/>
                  </p:cNvGrpSpPr>
                  <p:nvPr/>
                </p:nvGrpSpPr>
                <p:grpSpPr bwMode="auto">
                  <a:xfrm>
                    <a:off x="1104" y="384"/>
                    <a:ext cx="240" cy="864"/>
                    <a:chOff x="1056" y="2592"/>
                    <a:chExt cx="240" cy="864"/>
                  </a:xfrm>
                </p:grpSpPr>
                <p:sp>
                  <p:nvSpPr>
                    <p:cNvPr id="31817" name="Oval 23"/>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18" name="Line 24"/>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87" name="Group 25"/>
                  <p:cNvGrpSpPr>
                    <a:grpSpLocks/>
                  </p:cNvGrpSpPr>
                  <p:nvPr/>
                </p:nvGrpSpPr>
                <p:grpSpPr bwMode="auto">
                  <a:xfrm>
                    <a:off x="1200" y="384"/>
                    <a:ext cx="240" cy="864"/>
                    <a:chOff x="1056" y="2592"/>
                    <a:chExt cx="240" cy="864"/>
                  </a:xfrm>
                </p:grpSpPr>
                <p:sp>
                  <p:nvSpPr>
                    <p:cNvPr id="31815" name="Oval 26"/>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16" name="Line 27"/>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88" name="Group 28"/>
                  <p:cNvGrpSpPr>
                    <a:grpSpLocks/>
                  </p:cNvGrpSpPr>
                  <p:nvPr/>
                </p:nvGrpSpPr>
                <p:grpSpPr bwMode="auto">
                  <a:xfrm>
                    <a:off x="1296" y="384"/>
                    <a:ext cx="240" cy="864"/>
                    <a:chOff x="1056" y="2592"/>
                    <a:chExt cx="240" cy="864"/>
                  </a:xfrm>
                </p:grpSpPr>
                <p:sp>
                  <p:nvSpPr>
                    <p:cNvPr id="31813" name="Oval 29"/>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14" name="Line 30"/>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89" name="Group 31"/>
                  <p:cNvGrpSpPr>
                    <a:grpSpLocks/>
                  </p:cNvGrpSpPr>
                  <p:nvPr/>
                </p:nvGrpSpPr>
                <p:grpSpPr bwMode="auto">
                  <a:xfrm>
                    <a:off x="1392" y="384"/>
                    <a:ext cx="240" cy="864"/>
                    <a:chOff x="1056" y="2592"/>
                    <a:chExt cx="240" cy="864"/>
                  </a:xfrm>
                </p:grpSpPr>
                <p:sp>
                  <p:nvSpPr>
                    <p:cNvPr id="31811" name="Oval 32"/>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12" name="Line 33"/>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90" name="Group 34"/>
                  <p:cNvGrpSpPr>
                    <a:grpSpLocks/>
                  </p:cNvGrpSpPr>
                  <p:nvPr/>
                </p:nvGrpSpPr>
                <p:grpSpPr bwMode="auto">
                  <a:xfrm>
                    <a:off x="1488" y="384"/>
                    <a:ext cx="240" cy="864"/>
                    <a:chOff x="1056" y="2592"/>
                    <a:chExt cx="240" cy="864"/>
                  </a:xfrm>
                </p:grpSpPr>
                <p:sp>
                  <p:nvSpPr>
                    <p:cNvPr id="31809" name="Oval 35"/>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10" name="Line 36"/>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91" name="Group 37"/>
                  <p:cNvGrpSpPr>
                    <a:grpSpLocks/>
                  </p:cNvGrpSpPr>
                  <p:nvPr/>
                </p:nvGrpSpPr>
                <p:grpSpPr bwMode="auto">
                  <a:xfrm>
                    <a:off x="1584" y="384"/>
                    <a:ext cx="240" cy="864"/>
                    <a:chOff x="1056" y="2592"/>
                    <a:chExt cx="240" cy="864"/>
                  </a:xfrm>
                </p:grpSpPr>
                <p:sp>
                  <p:nvSpPr>
                    <p:cNvPr id="31807" name="Oval 38"/>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08" name="Line 39"/>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92" name="Group 40"/>
                  <p:cNvGrpSpPr>
                    <a:grpSpLocks/>
                  </p:cNvGrpSpPr>
                  <p:nvPr/>
                </p:nvGrpSpPr>
                <p:grpSpPr bwMode="auto">
                  <a:xfrm>
                    <a:off x="1680" y="384"/>
                    <a:ext cx="240" cy="864"/>
                    <a:chOff x="1056" y="2592"/>
                    <a:chExt cx="240" cy="864"/>
                  </a:xfrm>
                </p:grpSpPr>
                <p:sp>
                  <p:nvSpPr>
                    <p:cNvPr id="31805" name="Oval 41"/>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06" name="Line 42"/>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93" name="Group 43"/>
                  <p:cNvGrpSpPr>
                    <a:grpSpLocks/>
                  </p:cNvGrpSpPr>
                  <p:nvPr/>
                </p:nvGrpSpPr>
                <p:grpSpPr bwMode="auto">
                  <a:xfrm>
                    <a:off x="1776" y="384"/>
                    <a:ext cx="240" cy="864"/>
                    <a:chOff x="1056" y="2592"/>
                    <a:chExt cx="240" cy="864"/>
                  </a:xfrm>
                </p:grpSpPr>
                <p:sp>
                  <p:nvSpPr>
                    <p:cNvPr id="31803" name="Oval 44"/>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04" name="Line 45"/>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94" name="Group 46"/>
                  <p:cNvGrpSpPr>
                    <a:grpSpLocks/>
                  </p:cNvGrpSpPr>
                  <p:nvPr/>
                </p:nvGrpSpPr>
                <p:grpSpPr bwMode="auto">
                  <a:xfrm>
                    <a:off x="1872" y="384"/>
                    <a:ext cx="240" cy="864"/>
                    <a:chOff x="1056" y="2592"/>
                    <a:chExt cx="240" cy="864"/>
                  </a:xfrm>
                </p:grpSpPr>
                <p:sp>
                  <p:nvSpPr>
                    <p:cNvPr id="31801" name="Oval 47"/>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02" name="Line 48"/>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95" name="Group 49"/>
                  <p:cNvGrpSpPr>
                    <a:grpSpLocks/>
                  </p:cNvGrpSpPr>
                  <p:nvPr/>
                </p:nvGrpSpPr>
                <p:grpSpPr bwMode="auto">
                  <a:xfrm>
                    <a:off x="1968" y="384"/>
                    <a:ext cx="240" cy="864"/>
                    <a:chOff x="1056" y="2592"/>
                    <a:chExt cx="240" cy="864"/>
                  </a:xfrm>
                </p:grpSpPr>
                <p:sp>
                  <p:nvSpPr>
                    <p:cNvPr id="31799" name="Oval 50"/>
                    <p:cNvSpPr>
                      <a:spLocks noChangeArrowheads="1"/>
                    </p:cNvSpPr>
                    <p:nvPr/>
                  </p:nvSpPr>
                  <p:spPr bwMode="auto">
                    <a:xfrm>
                      <a:off x="1056" y="2592"/>
                      <a:ext cx="240" cy="864"/>
                    </a:xfrm>
                    <a:prstGeom prst="ellipse">
                      <a:avLst/>
                    </a:prstGeom>
                    <a:solidFill>
                      <a:srgbClr val="CCFFCC"/>
                    </a:soli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800" name="Line 51"/>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1796" name="Group 52"/>
                  <p:cNvGrpSpPr>
                    <a:grpSpLocks/>
                  </p:cNvGrpSpPr>
                  <p:nvPr/>
                </p:nvGrpSpPr>
                <p:grpSpPr bwMode="auto">
                  <a:xfrm>
                    <a:off x="2064" y="384"/>
                    <a:ext cx="240" cy="864"/>
                    <a:chOff x="1056" y="2592"/>
                    <a:chExt cx="240" cy="864"/>
                  </a:xfrm>
                </p:grpSpPr>
                <p:sp>
                  <p:nvSpPr>
                    <p:cNvPr id="31797" name="Oval 53"/>
                    <p:cNvSpPr>
                      <a:spLocks noChangeArrowheads="1"/>
                    </p:cNvSpPr>
                    <p:nvPr/>
                  </p:nvSpPr>
                  <p:spPr bwMode="auto">
                    <a:xfrm>
                      <a:off x="1056" y="2592"/>
                      <a:ext cx="240" cy="864"/>
                    </a:xfrm>
                    <a:prstGeom prst="ellipse">
                      <a:avLst/>
                    </a:prstGeom>
                    <a:gradFill rotWithShape="1">
                      <a:gsLst>
                        <a:gs pos="0">
                          <a:srgbClr val="F2FFF2"/>
                        </a:gs>
                        <a:gs pos="100000">
                          <a:srgbClr val="CCFFCC"/>
                        </a:gs>
                      </a:gsLst>
                      <a:path path="shape">
                        <a:fillToRect l="50000" t="50000" r="50000" b="50000"/>
                      </a:path>
                    </a:gradFill>
                    <a:ln w="9525">
                      <a:solidFill>
                        <a:srgbClr val="FF99CC"/>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ea typeface="华文楷体" panose="02010600040101010101" pitchFamily="2" charset="-122"/>
                      </a:endParaRPr>
                    </a:p>
                  </p:txBody>
                </p:sp>
                <p:sp>
                  <p:nvSpPr>
                    <p:cNvPr id="31798" name="Line 54"/>
                    <p:cNvSpPr>
                      <a:spLocks noChangeShapeType="1"/>
                    </p:cNvSpPr>
                    <p:nvPr/>
                  </p:nvSpPr>
                  <p:spPr bwMode="auto">
                    <a:xfrm>
                      <a:off x="1056" y="2976"/>
                      <a:ext cx="0" cy="96"/>
                    </a:xfrm>
                    <a:prstGeom prst="line">
                      <a:avLst/>
                    </a:prstGeom>
                    <a:noFill/>
                    <a:ln w="12700">
                      <a:solidFill>
                        <a:srgbClr val="FF99C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p:grpSp>
            </p:grpSp>
            <p:sp>
              <p:nvSpPr>
                <p:cNvPr id="31759" name="Line 55"/>
                <p:cNvSpPr>
                  <a:spLocks noChangeShapeType="1"/>
                </p:cNvSpPr>
                <p:nvPr/>
              </p:nvSpPr>
              <p:spPr bwMode="auto">
                <a:xfrm>
                  <a:off x="336" y="816"/>
                  <a:ext cx="48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31760" name="Line 56"/>
                <p:cNvSpPr>
                  <a:spLocks noChangeShapeType="1"/>
                </p:cNvSpPr>
                <p:nvPr/>
              </p:nvSpPr>
              <p:spPr bwMode="auto">
                <a:xfrm>
                  <a:off x="2208" y="816"/>
                  <a:ext cx="528" cy="0"/>
                </a:xfrm>
                <a:prstGeom prst="line">
                  <a:avLst/>
                </a:prstGeom>
                <a:noFill/>
                <a:ln w="38100">
                  <a:solidFill>
                    <a:schemeClr val="tx1"/>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800" dirty="0"/>
                </a:p>
              </p:txBody>
            </p:sp>
            <p:sp>
              <p:nvSpPr>
                <p:cNvPr id="31761" name="Line 57"/>
                <p:cNvSpPr>
                  <a:spLocks noChangeShapeType="1"/>
                </p:cNvSpPr>
                <p:nvPr/>
              </p:nvSpPr>
              <p:spPr bwMode="auto">
                <a:xfrm>
                  <a:off x="1200" y="1248"/>
                  <a:ext cx="0" cy="192"/>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31762" name="Line 58"/>
                <p:cNvSpPr>
                  <a:spLocks noChangeShapeType="1"/>
                </p:cNvSpPr>
                <p:nvPr/>
              </p:nvSpPr>
              <p:spPr bwMode="auto">
                <a:xfrm>
                  <a:off x="1536" y="1248"/>
                  <a:ext cx="0" cy="192"/>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31763" name="Line 59"/>
                <p:cNvSpPr>
                  <a:spLocks noChangeShapeType="1"/>
                </p:cNvSpPr>
                <p:nvPr/>
              </p:nvSpPr>
              <p:spPr bwMode="auto">
                <a:xfrm>
                  <a:off x="1200" y="1352"/>
                  <a:ext cx="336" cy="0"/>
                </a:xfrm>
                <a:prstGeom prst="line">
                  <a:avLst/>
                </a:prstGeom>
                <a:noFill/>
                <a:ln w="28575">
                  <a:solidFill>
                    <a:srgbClr val="C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2800"/>
                </a:p>
              </p:txBody>
            </p:sp>
            <mc:AlternateContent xmlns:mc="http://schemas.openxmlformats.org/markup-compatibility/2006" xmlns:a14="http://schemas.microsoft.com/office/drawing/2010/main">
              <mc:Choice Requires="a14">
                <p:sp>
                  <p:nvSpPr>
                    <p:cNvPr id="31764" name="Object 7"/>
                    <p:cNvSpPr txBox="1"/>
                    <p:nvPr/>
                  </p:nvSpPr>
                  <p:spPr bwMode="auto">
                    <a:xfrm>
                      <a:off x="2672" y="446"/>
                      <a:ext cx="256" cy="256"/>
                    </a:xfrm>
                    <a:prstGeom prst="rect">
                      <a:avLst/>
                    </a:prstGeom>
                    <a:noFill/>
                    <a:ln w="9525">
                      <a:noFill/>
                      <a:miter lim="800000"/>
                      <a:headEnd/>
                      <a:tailEnd/>
                    </a:ln>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𝑀</m:t>
                                </m:r>
                              </m:e>
                            </m:acc>
                          </m:oMath>
                        </m:oMathPara>
                      </a14:m>
                      <a:endParaRPr lang="en-US" sz="2800" dirty="0"/>
                    </a:p>
                  </p:txBody>
                </p:sp>
              </mc:Choice>
              <mc:Fallback xmlns="">
                <p:sp>
                  <p:nvSpPr>
                    <p:cNvPr id="31764" name="Object 7"/>
                    <p:cNvSpPr txBox="1">
                      <a:spLocks noRot="1" noChangeAspect="1" noMove="1" noResize="1" noEditPoints="1" noAdjustHandles="1" noChangeArrowheads="1" noChangeShapeType="1" noTextEdit="1"/>
                    </p:cNvSpPr>
                    <p:nvPr/>
                  </p:nvSpPr>
                  <p:spPr bwMode="auto">
                    <a:xfrm>
                      <a:off x="2672" y="446"/>
                      <a:ext cx="256" cy="256"/>
                    </a:xfrm>
                    <a:prstGeom prst="rect">
                      <a:avLst/>
                    </a:prstGeom>
                    <a:blipFill>
                      <a:blip r:embed="rId3"/>
                      <a:stretch>
                        <a:fillRect/>
                      </a:stretch>
                    </a:blipFill>
                    <a:ln w="9525">
                      <a:noFill/>
                      <a:miter lim="800000"/>
                      <a:headEnd/>
                      <a:tailEnd/>
                    </a:ln>
                  </p:spPr>
                  <p:txBody>
                    <a:bodyPr/>
                    <a:lstStyle/>
                    <a:p>
                      <a:r>
                        <a:rPr lang="en-US">
                          <a:noFill/>
                        </a:rPr>
                        <a:t> </a:t>
                      </a:r>
                    </a:p>
                  </p:txBody>
                </p:sp>
              </mc:Fallback>
            </mc:AlternateContent>
          </p:grpSp>
          <p:cxnSp>
            <p:nvCxnSpPr>
              <p:cNvPr id="3" name="直接箭头连接符 2"/>
              <p:cNvCxnSpPr/>
              <p:nvPr/>
            </p:nvCxnSpPr>
            <p:spPr bwMode="auto">
              <a:xfrm>
                <a:off x="3288428" y="1491131"/>
                <a:ext cx="661146" cy="336833"/>
              </a:xfrm>
              <a:prstGeom prst="straightConnector1">
                <a:avLst/>
              </a:prstGeom>
              <a:noFill/>
              <a:ln w="28575" cap="flat" cmpd="sng" algn="ctr">
                <a:solidFill>
                  <a:srgbClr val="7030A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4" name="矩形 3"/>
                  <p:cNvSpPr/>
                  <p:nvPr/>
                </p:nvSpPr>
                <p:spPr>
                  <a:xfrm>
                    <a:off x="3897246" y="1579435"/>
                    <a:ext cx="52879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sz="2800" i="1">
                                  <a:solidFill>
                                    <a:srgbClr val="C00000"/>
                                  </a:solidFill>
                                  <a:latin typeface="Cambria Math" panose="02040503050406030204" pitchFamily="18" charset="0"/>
                                  <a:ea typeface="华文新魏" panose="02010800040101010101" pitchFamily="2" charset="-122"/>
                                </a:rPr>
                              </m:ctrlPr>
                            </m:sSupPr>
                            <m:e>
                              <m:r>
                                <a:rPr kumimoji="1" lang="en-US" altLang="zh-CN" sz="2800" b="0" i="1">
                                  <a:solidFill>
                                    <a:srgbClr val="C00000"/>
                                  </a:solidFill>
                                  <a:latin typeface="Cambria Math" panose="02040503050406030204" pitchFamily="18" charset="0"/>
                                  <a:ea typeface="华文新魏" panose="02010800040101010101" pitchFamily="2" charset="-122"/>
                                </a:rPr>
                                <m:t>𝑗</m:t>
                              </m:r>
                            </m:e>
                            <m:sup>
                              <m:r>
                                <a:rPr kumimoji="1" lang="en-US" altLang="zh-CN" sz="2800" b="0" i="1">
                                  <a:solidFill>
                                    <a:srgbClr val="C00000"/>
                                  </a:solidFill>
                                  <a:latin typeface="Cambria Math" panose="02040503050406030204" pitchFamily="18" charset="0"/>
                                  <a:ea typeface="华文新魏" panose="02010800040101010101" pitchFamily="2" charset="-122"/>
                                </a:rPr>
                                <m:t>′</m:t>
                              </m:r>
                            </m:sup>
                          </m:sSup>
                        </m:oMath>
                      </m:oMathPara>
                    </a14:m>
                    <a:endParaRPr lang="zh-CN" altLang="en-US" sz="2800" dirty="0"/>
                  </a:p>
                </p:txBody>
              </p:sp>
            </mc:Choice>
            <mc:Fallback xmlns="">
              <p:sp>
                <p:nvSpPr>
                  <p:cNvPr id="4" name="矩形 3"/>
                  <p:cNvSpPr>
                    <a:spLocks noRot="1" noChangeAspect="1" noMove="1" noResize="1" noEditPoints="1" noAdjustHandles="1" noChangeArrowheads="1" noChangeShapeType="1" noTextEdit="1"/>
                  </p:cNvSpPr>
                  <p:nvPr/>
                </p:nvSpPr>
                <p:spPr>
                  <a:xfrm>
                    <a:off x="3897246" y="1579435"/>
                    <a:ext cx="528798" cy="5232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4093838" y="306743"/>
                    <a:ext cx="253274"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a:solidFill>
                                <a:srgbClr val="C00000"/>
                              </a:solidFill>
                              <a:latin typeface="Cambria Math" panose="02040503050406030204" pitchFamily="18" charset="0"/>
                            </a:rPr>
                            <m:t>𝑆</m:t>
                          </m:r>
                        </m:oMath>
                      </m:oMathPara>
                    </a14:m>
                    <a:endParaRPr lang="zh-CN" altLang="en-US" sz="2800" dirty="0">
                      <a:solidFill>
                        <a:srgbClr val="C00000"/>
                      </a:solidFill>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4093838" y="306743"/>
                    <a:ext cx="253274" cy="430887"/>
                  </a:xfrm>
                  <a:prstGeom prst="rect">
                    <a:avLst/>
                  </a:prstGeom>
                  <a:blipFill>
                    <a:blip r:embed="rId5"/>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2" name="矩形 11"/>
                <p:cNvSpPr/>
                <p:nvPr/>
              </p:nvSpPr>
              <p:spPr>
                <a:xfrm>
                  <a:off x="2636785" y="3546886"/>
                  <a:ext cx="519708" cy="5298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a:latin typeface="Cambria Math" panose="02040503050406030204" pitchFamily="18" charset="0"/>
                          </a:rPr>
                          <m:t>𝑑</m:t>
                        </m:r>
                        <m:r>
                          <a:rPr lang="zh-CN" altLang="en-US" sz="2800" b="0" i="1">
                            <a:latin typeface="Cambria Math" panose="02040503050406030204" pitchFamily="18" charset="0"/>
                          </a:rPr>
                          <m:t>𝑙</m:t>
                        </m:r>
                      </m:oMath>
                    </m:oMathPara>
                  </a14:m>
                  <a:endParaRPr lang="zh-CN" altLang="en-US" sz="2800" dirty="0"/>
                </a:p>
              </p:txBody>
            </p:sp>
          </mc:Choice>
          <mc:Fallback xmlns="">
            <p:sp>
              <p:nvSpPr>
                <p:cNvPr id="12" name="矩形 11"/>
                <p:cNvSpPr>
                  <a:spLocks noRot="1" noChangeAspect="1" noMove="1" noResize="1" noEditPoints="1" noAdjustHandles="1" noChangeArrowheads="1" noChangeShapeType="1" noTextEdit="1"/>
                </p:cNvSpPr>
                <p:nvPr/>
              </p:nvSpPr>
              <p:spPr>
                <a:xfrm>
                  <a:off x="2636785" y="3546886"/>
                  <a:ext cx="519708" cy="529814"/>
                </a:xfrm>
                <a:prstGeom prst="rect">
                  <a:avLst/>
                </a:prstGeom>
                <a:blipFill>
                  <a:blip r:embed="rId44"/>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78" name="Rectangle 9">
                <a:extLst>
                  <a:ext uri="{FF2B5EF4-FFF2-40B4-BE49-F238E27FC236}">
                    <a16:creationId xmlns:a16="http://schemas.microsoft.com/office/drawing/2014/main" id="{FF669A79-91C1-4C98-AB55-227F839F85A9}"/>
                  </a:ext>
                </a:extLst>
              </p:cNvPr>
              <p:cNvSpPr>
                <a:spLocks noChangeArrowheads="1"/>
              </p:cNvSpPr>
              <p:nvPr/>
            </p:nvSpPr>
            <p:spPr bwMode="auto">
              <a:xfrm>
                <a:off x="6121414" y="2999572"/>
                <a:ext cx="5219700" cy="26978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kumimoji="1" lang="zh-CN" altLang="en-US" sz="2800" dirty="0">
                    <a:solidFill>
                      <a:srgbClr val="0066FF"/>
                    </a:solidFill>
                    <a:latin typeface="Times New Roman" panose="02020603050405020304" pitchFamily="18" charset="0"/>
                    <a:ea typeface="华文楷体" panose="02010600040101010101" pitchFamily="2" charset="-122"/>
                    <a:cs typeface="Times New Roman" panose="02020603050405020304" pitchFamily="18" charset="0"/>
                  </a:rPr>
                  <a:t>矢量关系：</a:t>
                </a:r>
              </a:p>
              <a:p>
                <a:pPr>
                  <a:lnSpc>
                    <a:spcPct val="150000"/>
                  </a:lnSpc>
                  <a:spcBef>
                    <a:spcPct val="0"/>
                  </a:spcBef>
                  <a:buNone/>
                </a:pPr>
                <a14:m>
                  <m:oMathPara xmlns:m="http://schemas.openxmlformats.org/officeDocument/2006/math">
                    <m:oMathParaPr>
                      <m:jc m:val="centerGroup"/>
                    </m:oMathParaPr>
                    <m:oMath xmlns:m="http://schemas.openxmlformats.org/officeDocument/2006/math">
                      <m:acc>
                        <m:accPr>
                          <m:chr m:val="⃗"/>
                          <m:ctrlPr>
                            <a:rPr kumimoji="1" lang="en-US" altLang="zh-CN" sz="2800" i="1" smtClean="0">
                              <a:solidFill>
                                <a:schemeClr val="tx1"/>
                              </a:solidFill>
                              <a:latin typeface="Cambria Math" panose="02040503050406030204" pitchFamily="18" charset="0"/>
                              <a:ea typeface="华文新魏" panose="02010800040101010101" pitchFamily="2" charset="-122"/>
                            </a:rPr>
                          </m:ctrlPr>
                        </m:accPr>
                        <m:e>
                          <m:sSup>
                            <m:sSupPr>
                              <m:ctrlPr>
                                <a:rPr kumimoji="1" lang="en-US" altLang="zh-CN" sz="2800" i="1">
                                  <a:solidFill>
                                    <a:schemeClr val="tx1"/>
                                  </a:solidFill>
                                  <a:latin typeface="Cambria Math" panose="02040503050406030204" pitchFamily="18" charset="0"/>
                                  <a:ea typeface="华文新魏" panose="02010800040101010101" pitchFamily="2" charset="-122"/>
                                </a:rPr>
                              </m:ctrlPr>
                            </m:sSupPr>
                            <m:e>
                              <m:r>
                                <a:rPr kumimoji="1" lang="en-US" altLang="zh-CN" sz="2800" b="0" i="1">
                                  <a:solidFill>
                                    <a:schemeClr val="tx1"/>
                                  </a:solidFill>
                                  <a:latin typeface="Cambria Math" panose="02040503050406030204" pitchFamily="18" charset="0"/>
                                  <a:ea typeface="华文新魏" panose="02010800040101010101" pitchFamily="2" charset="-122"/>
                                </a:rPr>
                                <m:t>𝑗</m:t>
                              </m:r>
                            </m:e>
                            <m:sup>
                              <m:r>
                                <a:rPr kumimoji="1" lang="en-US" altLang="zh-CN" sz="2800" b="0" i="1">
                                  <a:solidFill>
                                    <a:schemeClr val="tx1"/>
                                  </a:solidFill>
                                  <a:latin typeface="Cambria Math" panose="02040503050406030204" pitchFamily="18" charset="0"/>
                                  <a:ea typeface="华文新魏" panose="02010800040101010101" pitchFamily="2" charset="-122"/>
                                </a:rPr>
                                <m:t>′</m:t>
                              </m:r>
                            </m:sup>
                          </m:sSup>
                        </m:e>
                      </m:acc>
                      <m:r>
                        <a:rPr kumimoji="1" lang="en-US" altLang="zh-CN" sz="2800" b="0" i="1">
                          <a:solidFill>
                            <a:schemeClr val="tx1"/>
                          </a:solidFill>
                          <a:latin typeface="Cambria Math" panose="02040503050406030204" pitchFamily="18" charset="0"/>
                          <a:ea typeface="华文新魏" panose="02010800040101010101" pitchFamily="2" charset="-122"/>
                        </a:rPr>
                        <m:t>=</m:t>
                      </m:r>
                      <m:acc>
                        <m:accPr>
                          <m:chr m:val="⃗"/>
                          <m:ctrlPr>
                            <a:rPr kumimoji="1" lang="en-US" altLang="zh-CN" sz="2800" i="1">
                              <a:solidFill>
                                <a:schemeClr val="tx1"/>
                              </a:solidFill>
                              <a:latin typeface="Cambria Math" panose="02040503050406030204" pitchFamily="18" charset="0"/>
                              <a:ea typeface="华文新魏" panose="02010800040101010101" pitchFamily="2" charset="-122"/>
                            </a:rPr>
                          </m:ctrlPr>
                        </m:accPr>
                        <m:e>
                          <m:r>
                            <a:rPr kumimoji="1" lang="en-US" altLang="zh-CN" sz="2800" b="0" i="1">
                              <a:solidFill>
                                <a:schemeClr val="tx1"/>
                              </a:solidFill>
                              <a:latin typeface="Cambria Math" panose="02040503050406030204" pitchFamily="18" charset="0"/>
                              <a:ea typeface="华文新魏" panose="02010800040101010101" pitchFamily="2" charset="-122"/>
                            </a:rPr>
                            <m:t>𝑀</m:t>
                          </m:r>
                        </m:e>
                      </m:acc>
                      <m:r>
                        <a:rPr kumimoji="1" lang="en-US" altLang="zh-CN" sz="2800" b="0" i="1">
                          <a:solidFill>
                            <a:schemeClr val="tx1"/>
                          </a:solidFill>
                          <a:latin typeface="Cambria Math" panose="02040503050406030204" pitchFamily="18" charset="0"/>
                          <a:ea typeface="Cambria Math" panose="02040503050406030204" pitchFamily="18" charset="0"/>
                        </a:rPr>
                        <m:t>×</m:t>
                      </m:r>
                      <m:sSub>
                        <m:sSubPr>
                          <m:ctrlPr>
                            <a:rPr kumimoji="1" lang="en-US" altLang="zh-CN" sz="2800" i="1">
                              <a:solidFill>
                                <a:schemeClr val="tx1"/>
                              </a:solidFill>
                              <a:latin typeface="Cambria Math" panose="02040503050406030204" pitchFamily="18" charset="0"/>
                              <a:ea typeface="Cambria Math" panose="02040503050406030204" pitchFamily="18" charset="0"/>
                            </a:rPr>
                          </m:ctrlPr>
                        </m:sSubPr>
                        <m:e>
                          <m:acc>
                            <m:accPr>
                              <m:chr m:val="⃗"/>
                              <m:ctrlPr>
                                <a:rPr kumimoji="1" lang="en-US" altLang="zh-CN" sz="2800" i="1">
                                  <a:solidFill>
                                    <a:schemeClr val="tx1"/>
                                  </a:solidFill>
                                  <a:latin typeface="Cambria Math" panose="02040503050406030204" pitchFamily="18" charset="0"/>
                                  <a:ea typeface="Cambria Math" panose="02040503050406030204" pitchFamily="18" charset="0"/>
                                </a:rPr>
                              </m:ctrlPr>
                            </m:accPr>
                            <m:e>
                              <m:r>
                                <a:rPr kumimoji="1" lang="en-US" altLang="zh-CN" sz="2800" b="0" i="1">
                                  <a:solidFill>
                                    <a:schemeClr val="tx1"/>
                                  </a:solidFill>
                                  <a:latin typeface="Cambria Math" panose="02040503050406030204" pitchFamily="18" charset="0"/>
                                  <a:ea typeface="Cambria Math" panose="02040503050406030204" pitchFamily="18" charset="0"/>
                                </a:rPr>
                                <m:t>𝑒</m:t>
                              </m:r>
                            </m:e>
                          </m:acc>
                        </m:e>
                        <m:sub>
                          <m:r>
                            <a:rPr kumimoji="1" lang="en-US" altLang="zh-CN" sz="2800" b="0" i="1">
                              <a:solidFill>
                                <a:schemeClr val="tx1"/>
                              </a:solidFill>
                              <a:latin typeface="Cambria Math" panose="02040503050406030204" pitchFamily="18" charset="0"/>
                              <a:ea typeface="Cambria Math" panose="02040503050406030204" pitchFamily="18" charset="0"/>
                            </a:rPr>
                            <m:t>𝑛</m:t>
                          </m:r>
                        </m:sub>
                      </m:sSub>
                    </m:oMath>
                  </m:oMathPara>
                </a14:m>
                <a:endParaRPr kumimoji="1" lang="en-US" altLang="zh-CN" sz="2800"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a:p>
                <a:pPr lvl="0">
                  <a:lnSpc>
                    <a:spcPct val="150000"/>
                  </a:lnSpc>
                  <a:spcBef>
                    <a:spcPct val="0"/>
                  </a:spcBef>
                  <a:buNone/>
                </a:pP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束缚电流密度等于该表面处磁介质的磁化强度沿表面的分量。</a:t>
                </a:r>
                <a:endPar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78" name="Rectangle 9">
                <a:extLst>
                  <a:ext uri="{FF2B5EF4-FFF2-40B4-BE49-F238E27FC236}">
                    <a16:creationId xmlns:a16="http://schemas.microsoft.com/office/drawing/2014/main" id="{FF669A79-91C1-4C98-AB55-227F839F85A9}"/>
                  </a:ext>
                </a:extLst>
              </p:cNvPr>
              <p:cNvSpPr>
                <a:spLocks noRot="1" noChangeAspect="1" noMove="1" noResize="1" noEditPoints="1" noAdjustHandles="1" noChangeArrowheads="1" noChangeShapeType="1" noTextEdit="1"/>
              </p:cNvSpPr>
              <p:nvPr/>
            </p:nvSpPr>
            <p:spPr bwMode="auto">
              <a:xfrm>
                <a:off x="6121414" y="2999572"/>
                <a:ext cx="5219700" cy="2697854"/>
              </a:xfrm>
              <a:prstGeom prst="rect">
                <a:avLst/>
              </a:prstGeom>
              <a:blipFill>
                <a:blip r:embed="rId45"/>
                <a:stretch>
                  <a:fillRect l="-2336" r="-818" b="-541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7" name="Text Box 2">
            <a:extLst>
              <a:ext uri="{FF2B5EF4-FFF2-40B4-BE49-F238E27FC236}">
                <a16:creationId xmlns:a16="http://schemas.microsoft.com/office/drawing/2014/main" id="{19975617-B915-4436-85F2-4B7DDAAB7B54}"/>
              </a:ext>
            </a:extLst>
          </p:cNvPr>
          <p:cNvSpPr txBox="1">
            <a:spLocks noChangeArrowheads="1"/>
          </p:cNvSpPr>
          <p:nvPr/>
        </p:nvSpPr>
        <p:spPr bwMode="auto">
          <a:xfrm>
            <a:off x="1249998" y="1240477"/>
            <a:ext cx="2686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solidFill>
                  <a:srgbClr val="0066FF"/>
                </a:solidFill>
                <a:latin typeface="+mn-ea"/>
                <a:ea typeface="+mn-ea"/>
              </a:rPr>
              <a:t> </a:t>
            </a:r>
            <a:r>
              <a:rPr lang="zh-CN" altLang="en-US" b="0" dirty="0">
                <a:solidFill>
                  <a:srgbClr val="0066FF"/>
                </a:solidFill>
                <a:latin typeface="+mn-ea"/>
                <a:ea typeface="+mn-ea"/>
              </a:rPr>
              <a:t>介质表面：</a:t>
            </a:r>
          </a:p>
        </p:txBody>
      </p:sp>
      <p:sp>
        <p:nvSpPr>
          <p:cNvPr id="85" name="Line 56">
            <a:extLst>
              <a:ext uri="{FF2B5EF4-FFF2-40B4-BE49-F238E27FC236}">
                <a16:creationId xmlns:a16="http://schemas.microsoft.com/office/drawing/2014/main" id="{065DF0AE-A526-46BB-AE1E-9D7417A24428}"/>
              </a:ext>
            </a:extLst>
          </p:cNvPr>
          <p:cNvSpPr>
            <a:spLocks noChangeShapeType="1"/>
          </p:cNvSpPr>
          <p:nvPr/>
        </p:nvSpPr>
        <p:spPr bwMode="auto">
          <a:xfrm flipV="1">
            <a:off x="4094479" y="2266950"/>
            <a:ext cx="762000" cy="321757"/>
          </a:xfrm>
          <a:prstGeom prst="line">
            <a:avLst/>
          </a:prstGeom>
          <a:noFill/>
          <a:ln w="38100">
            <a:solidFill>
              <a:schemeClr val="tx1"/>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800" dirty="0"/>
          </a:p>
        </p:txBody>
      </p:sp>
      <mc:AlternateContent xmlns:mc="http://schemas.openxmlformats.org/markup-compatibility/2006" xmlns:a14="http://schemas.microsoft.com/office/drawing/2010/main">
        <mc:Choice Requires="a14">
          <p:sp>
            <p:nvSpPr>
              <p:cNvPr id="86" name="Object 7">
                <a:extLst>
                  <a:ext uri="{FF2B5EF4-FFF2-40B4-BE49-F238E27FC236}">
                    <a16:creationId xmlns:a16="http://schemas.microsoft.com/office/drawing/2014/main" id="{59970DCF-55E0-4197-B49D-01D9D2FB5873}"/>
                  </a:ext>
                </a:extLst>
              </p:cNvPr>
              <p:cNvSpPr txBox="1"/>
              <p:nvPr/>
            </p:nvSpPr>
            <p:spPr bwMode="auto">
              <a:xfrm>
                <a:off x="4958089" y="2421024"/>
                <a:ext cx="406400" cy="406400"/>
              </a:xfrm>
              <a:prstGeom prst="rect">
                <a:avLst/>
              </a:prstGeom>
              <a:noFill/>
              <a:ln w="9525">
                <a:noFill/>
                <a:miter lim="800000"/>
                <a:headEnd/>
                <a:tailEnd/>
              </a:ln>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rgbClr val="000000"/>
                              </a:solidFill>
                              <a:latin typeface="Cambria Math" panose="02040503050406030204" pitchFamily="18" charset="0"/>
                            </a:rPr>
                          </m:ctrlPr>
                        </m:accPr>
                        <m:e>
                          <m:r>
                            <m:rPr>
                              <m:sty m:val="p"/>
                            </m:rPr>
                            <a:rPr lang="en-US" altLang="zh-CN" sz="2800" i="1">
                              <a:solidFill>
                                <a:srgbClr val="000000"/>
                              </a:solidFill>
                              <a:latin typeface="Cambria Math" panose="02040503050406030204" pitchFamily="18" charset="0"/>
                            </a:rPr>
                            <m:t>e</m:t>
                          </m:r>
                          <m:r>
                            <a:rPr lang="en-US" altLang="zh-CN" sz="2800" b="0" i="1" baseline="-25000" smtClean="0">
                              <a:solidFill>
                                <a:srgbClr val="000000"/>
                              </a:solidFill>
                              <a:latin typeface="Cambria Math" panose="02040503050406030204" pitchFamily="18" charset="0"/>
                            </a:rPr>
                            <m:t>𝑛</m:t>
                          </m:r>
                        </m:e>
                      </m:acc>
                    </m:oMath>
                  </m:oMathPara>
                </a14:m>
                <a:endParaRPr lang="en-US" sz="2800" dirty="0"/>
              </a:p>
            </p:txBody>
          </p:sp>
        </mc:Choice>
        <mc:Fallback xmlns="">
          <p:sp>
            <p:nvSpPr>
              <p:cNvPr id="86" name="Object 7">
                <a:extLst>
                  <a:ext uri="{FF2B5EF4-FFF2-40B4-BE49-F238E27FC236}">
                    <a16:creationId xmlns:a16="http://schemas.microsoft.com/office/drawing/2014/main" id="{59970DCF-55E0-4197-B49D-01D9D2FB5873}"/>
                  </a:ext>
                </a:extLst>
              </p:cNvPr>
              <p:cNvSpPr txBox="1">
                <a:spLocks noRot="1" noChangeAspect="1" noMove="1" noResize="1" noEditPoints="1" noAdjustHandles="1" noChangeArrowheads="1" noChangeShapeType="1" noTextEdit="1"/>
              </p:cNvSpPr>
              <p:nvPr/>
            </p:nvSpPr>
            <p:spPr bwMode="auto">
              <a:xfrm>
                <a:off x="4958089" y="2421024"/>
                <a:ext cx="406400" cy="406400"/>
              </a:xfrm>
              <a:prstGeom prst="rect">
                <a:avLst/>
              </a:prstGeom>
              <a:blipFill>
                <a:blip r:embed="rId46"/>
                <a:stretch>
                  <a:fillRect/>
                </a:stretch>
              </a:blipFill>
              <a:ln w="9525">
                <a:noFill/>
                <a:miter lim="800000"/>
                <a:headEnd/>
                <a:tailEnd/>
              </a:ln>
            </p:spPr>
            <p:txBody>
              <a:bodyPr/>
              <a:lstStyle/>
              <a:p>
                <a:r>
                  <a:rPr lang="en-US">
                    <a:noFill/>
                  </a:rPr>
                  <a:t> </a:t>
                </a:r>
              </a:p>
            </p:txBody>
          </p:sp>
        </mc:Fallback>
      </mc:AlternateContent>
      <p:sp>
        <p:nvSpPr>
          <p:cNvPr id="87" name="Text Box 37">
            <a:extLst>
              <a:ext uri="{FF2B5EF4-FFF2-40B4-BE49-F238E27FC236}">
                <a16:creationId xmlns:a16="http://schemas.microsoft.com/office/drawing/2014/main" id="{6683C6D3-F7DF-4FB5-B570-15B4BB7F409F}"/>
              </a:ext>
            </a:extLst>
          </p:cNvPr>
          <p:cNvSpPr txBox="1">
            <a:spLocks noChangeArrowheads="1"/>
          </p:cNvSpPr>
          <p:nvPr/>
        </p:nvSpPr>
        <p:spPr bwMode="auto">
          <a:xfrm>
            <a:off x="4250685" y="2255741"/>
            <a:ext cx="7620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0" i="1" dirty="0">
                <a:latin typeface="+mn-ea"/>
                <a:ea typeface="+mn-ea"/>
                <a:sym typeface="Symbol" panose="05050102010706020507" pitchFamily="18" charset="2"/>
              </a:rPr>
              <a:t></a:t>
            </a:r>
            <a:endParaRPr lang="en-US" altLang="zh-CN" sz="2400" b="0" i="1" dirty="0">
              <a:latin typeface="+mn-ea"/>
              <a:ea typeface="+mn-ea"/>
            </a:endParaRPr>
          </a:p>
        </p:txBody>
      </p:sp>
      <p:sp>
        <p:nvSpPr>
          <p:cNvPr id="6" name="弧形 5">
            <a:extLst>
              <a:ext uri="{FF2B5EF4-FFF2-40B4-BE49-F238E27FC236}">
                <a16:creationId xmlns:a16="http://schemas.microsoft.com/office/drawing/2014/main" id="{AFA7A410-491E-4526-A8E3-B3C7DB834DBF}"/>
              </a:ext>
            </a:extLst>
          </p:cNvPr>
          <p:cNvSpPr/>
          <p:nvPr/>
        </p:nvSpPr>
        <p:spPr>
          <a:xfrm>
            <a:off x="4392282" y="2459912"/>
            <a:ext cx="107008" cy="250369"/>
          </a:xfrm>
          <a:prstGeom prst="arc">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8" name="Object 6">
                <a:extLst>
                  <a:ext uri="{FF2B5EF4-FFF2-40B4-BE49-F238E27FC236}">
                    <a16:creationId xmlns:a16="http://schemas.microsoft.com/office/drawing/2014/main" id="{E8498C76-F9AA-4D16-94E5-AA179AD02839}"/>
                  </a:ext>
                </a:extLst>
              </p:cNvPr>
              <p:cNvSpPr txBox="1"/>
              <p:nvPr/>
            </p:nvSpPr>
            <p:spPr bwMode="auto">
              <a:xfrm>
                <a:off x="2424216" y="5312633"/>
                <a:ext cx="1832155" cy="522288"/>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m:t>
                      </m:r>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𝑀</m:t>
                          </m:r>
                        </m:e>
                      </m:acc>
                      <m:r>
                        <a:rPr lang="en-US" sz="2800" i="1">
                          <a:solidFill>
                            <a:srgbClr val="000000"/>
                          </a:solidFill>
                          <a:latin typeface="Cambria Math" panose="02040503050406030204" pitchFamily="18" charset="0"/>
                        </a:rPr>
                        <m:t>⋅</m:t>
                      </m:r>
                      <m:acc>
                        <m:accPr>
                          <m:chr m:val="⃗"/>
                          <m:ctrlPr>
                            <a:rPr lang="en-US" sz="2800" i="1">
                              <a:solidFill>
                                <a:srgbClr val="000000"/>
                              </a:solidFill>
                              <a:latin typeface="Cambria Math" panose="02040503050406030204" pitchFamily="18" charset="0"/>
                            </a:rPr>
                          </m:ctrlPr>
                        </m:accPr>
                        <m:e>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d</m:t>
                              </m:r>
                            </m:fName>
                            <m:e>
                              <m:r>
                                <a:rPr lang="en-US" sz="2800" i="1">
                                  <a:solidFill>
                                    <a:srgbClr val="000000"/>
                                  </a:solidFill>
                                  <a:latin typeface="Cambria Math" panose="02040503050406030204" pitchFamily="18" charset="0"/>
                                </a:rPr>
                                <m:t>𝑙</m:t>
                              </m:r>
                            </m:e>
                          </m:func>
                        </m:e>
                      </m:acc>
                    </m:oMath>
                  </m:oMathPara>
                </a14:m>
                <a:endParaRPr lang="en-US" sz="2800" dirty="0"/>
              </a:p>
            </p:txBody>
          </p:sp>
        </mc:Choice>
        <mc:Fallback xmlns="">
          <p:sp>
            <p:nvSpPr>
              <p:cNvPr id="88" name="Object 6">
                <a:extLst>
                  <a:ext uri="{FF2B5EF4-FFF2-40B4-BE49-F238E27FC236}">
                    <a16:creationId xmlns:a16="http://schemas.microsoft.com/office/drawing/2014/main" id="{E8498C76-F9AA-4D16-94E5-AA179AD02839}"/>
                  </a:ext>
                </a:extLst>
              </p:cNvPr>
              <p:cNvSpPr txBox="1">
                <a:spLocks noRot="1" noChangeAspect="1" noMove="1" noResize="1" noEditPoints="1" noAdjustHandles="1" noChangeArrowheads="1" noChangeShapeType="1" noTextEdit="1"/>
              </p:cNvSpPr>
              <p:nvPr/>
            </p:nvSpPr>
            <p:spPr bwMode="auto">
              <a:xfrm>
                <a:off x="2424216" y="5312633"/>
                <a:ext cx="1832155" cy="522288"/>
              </a:xfrm>
              <a:prstGeom prst="rect">
                <a:avLst/>
              </a:prstGeom>
              <a:blipFill>
                <a:blip r:embed="rId4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Object 1">
                <a:extLst>
                  <a:ext uri="{FF2B5EF4-FFF2-40B4-BE49-F238E27FC236}">
                    <a16:creationId xmlns:a16="http://schemas.microsoft.com/office/drawing/2014/main" id="{F655E033-BDD1-4856-9A00-AC09295697C4}"/>
                  </a:ext>
                </a:extLst>
              </p:cNvPr>
              <p:cNvSpPr txBox="1"/>
              <p:nvPr/>
            </p:nvSpPr>
            <p:spPr bwMode="auto">
              <a:xfrm>
                <a:off x="1842812" y="5345971"/>
                <a:ext cx="1002182" cy="647700"/>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sSup>
                        <m:sSupPr>
                          <m:ctrlPr>
                            <a:rPr lang="en-US" sz="2800" i="1">
                              <a:solidFill>
                                <a:srgbClr val="000000"/>
                              </a:solidFill>
                              <a:latin typeface="Cambria Math" panose="02040503050406030204" pitchFamily="18" charset="0"/>
                            </a:rPr>
                          </m:ctrlPr>
                        </m:sSupPr>
                        <m:e>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d</m:t>
                              </m:r>
                            </m:fName>
                            <m:e>
                              <m:r>
                                <a:rPr lang="en-US" sz="2800" i="1">
                                  <a:solidFill>
                                    <a:srgbClr val="000000"/>
                                  </a:solidFill>
                                  <a:latin typeface="Cambria Math" panose="02040503050406030204" pitchFamily="18" charset="0"/>
                                </a:rPr>
                                <m:t>𝐼</m:t>
                              </m:r>
                            </m:e>
                          </m:func>
                        </m:e>
                        <m:sup>
                          <m:r>
                            <a:rPr lang="en-US" sz="2800" i="1">
                              <a:solidFill>
                                <a:srgbClr val="000000"/>
                              </a:solidFill>
                              <a:latin typeface="Cambria Math" panose="02040503050406030204" pitchFamily="18" charset="0"/>
                            </a:rPr>
                            <m:t>′</m:t>
                          </m:r>
                        </m:sup>
                      </m:sSup>
                    </m:oMath>
                  </m:oMathPara>
                </a14:m>
                <a:endParaRPr lang="en-US" sz="2800" dirty="0"/>
              </a:p>
            </p:txBody>
          </p:sp>
        </mc:Choice>
        <mc:Fallback xmlns="">
          <p:sp>
            <p:nvSpPr>
              <p:cNvPr id="89" name="Object 1">
                <a:extLst>
                  <a:ext uri="{FF2B5EF4-FFF2-40B4-BE49-F238E27FC236}">
                    <a16:creationId xmlns:a16="http://schemas.microsoft.com/office/drawing/2014/main" id="{F655E033-BDD1-4856-9A00-AC09295697C4}"/>
                  </a:ext>
                </a:extLst>
              </p:cNvPr>
              <p:cNvSpPr txBox="1">
                <a:spLocks noRot="1" noChangeAspect="1" noMove="1" noResize="1" noEditPoints="1" noAdjustHandles="1" noChangeArrowheads="1" noChangeShapeType="1" noTextEdit="1"/>
              </p:cNvSpPr>
              <p:nvPr/>
            </p:nvSpPr>
            <p:spPr bwMode="auto">
              <a:xfrm>
                <a:off x="1842812" y="5345971"/>
                <a:ext cx="1002182" cy="647700"/>
              </a:xfrm>
              <a:prstGeom prst="rect">
                <a:avLst/>
              </a:prstGeom>
              <a:blipFill>
                <a:blip r:embed="rId4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矩形 89">
                <a:extLst>
                  <a:ext uri="{FF2B5EF4-FFF2-40B4-BE49-F238E27FC236}">
                    <a16:creationId xmlns:a16="http://schemas.microsoft.com/office/drawing/2014/main" id="{08E68DBA-8833-4B37-ABF6-AD7DC0EBF71B}"/>
                  </a:ext>
                </a:extLst>
              </p:cNvPr>
              <p:cNvSpPr/>
              <p:nvPr/>
            </p:nvSpPr>
            <p:spPr>
              <a:xfrm>
                <a:off x="1582418" y="5645181"/>
                <a:ext cx="3804921" cy="1666034"/>
              </a:xfrm>
              <a:prstGeom prst="rect">
                <a:avLst/>
              </a:prstGeom>
            </p:spPr>
            <p:txBody>
              <a:bodyPr wrap="square">
                <a:spAutoFit/>
              </a:bodyPr>
              <a:lstStyle/>
              <a:p>
                <a:pPr>
                  <a:lnSpc>
                    <a:spcPct val="150000"/>
                  </a:lnSpc>
                </a:pPr>
                <a14:m>
                  <m:oMath xmlns:m="http://schemas.openxmlformats.org/officeDocument/2006/math">
                    <m:sSup>
                      <m:sSupPr>
                        <m:ctrlPr>
                          <a:rPr kumimoji="1" lang="en-US" altLang="zh-CN" sz="2800" i="1" smtClean="0">
                            <a:latin typeface="Cambria Math" panose="02040503050406030204" pitchFamily="18" charset="0"/>
                            <a:ea typeface="华文新魏" panose="02010800040101010101" pitchFamily="2" charset="-122"/>
                          </a:rPr>
                        </m:ctrlPr>
                      </m:sSupPr>
                      <m:e>
                        <m:r>
                          <a:rPr kumimoji="1" lang="en-US" altLang="zh-CN" sz="2800" i="1">
                            <a:latin typeface="Cambria Math" panose="02040503050406030204" pitchFamily="18" charset="0"/>
                            <a:ea typeface="华文新魏" panose="02010800040101010101" pitchFamily="2" charset="-122"/>
                          </a:rPr>
                          <m:t>𝑗</m:t>
                        </m:r>
                      </m:e>
                      <m:sup>
                        <m:r>
                          <a:rPr kumimoji="1" lang="en-US" altLang="zh-CN" sz="2800" i="1">
                            <a:latin typeface="Cambria Math" panose="02040503050406030204" pitchFamily="18" charset="0"/>
                            <a:ea typeface="华文新魏" panose="02010800040101010101" pitchFamily="2" charset="-122"/>
                          </a:rPr>
                          <m:t>′</m:t>
                        </m:r>
                      </m:sup>
                    </m:sSup>
                    <m:r>
                      <a:rPr lang="en-US" altLang="zh-CN" sz="2800" i="1">
                        <a:latin typeface="Cambria Math" panose="02040503050406030204" pitchFamily="18" charset="0"/>
                      </a:rPr>
                      <m:t>=</m:t>
                    </m:r>
                    <m:f>
                      <m:fPr>
                        <m:ctrlPr>
                          <a:rPr lang="zh-CN" altLang="en-US" sz="2800" i="1">
                            <a:latin typeface="Cambria Math" panose="02040503050406030204" pitchFamily="18" charset="0"/>
                          </a:rPr>
                        </m:ctrlPr>
                      </m:fPr>
                      <m:num>
                        <m:r>
                          <a:rPr lang="en-US" altLang="zh-CN" sz="2800" i="1">
                            <a:latin typeface="Cambria Math" panose="02040503050406030204" pitchFamily="18" charset="0"/>
                          </a:rPr>
                          <m:t>𝑑</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𝐼</m:t>
                            </m:r>
                          </m:e>
                          <m:sup>
                            <m:r>
                              <a:rPr lang="zh-CN" altLang="en-US" sz="2800" i="1">
                                <a:solidFill>
                                  <a:srgbClr val="000000"/>
                                </a:solidFill>
                                <a:latin typeface="Cambria Math" panose="02040503050406030204" pitchFamily="18" charset="0"/>
                              </a:rPr>
                              <m:t>′</m:t>
                            </m:r>
                          </m:sup>
                        </m:sSup>
                      </m:num>
                      <m:den>
                        <m:r>
                          <a:rPr lang="en-US" altLang="zh-CN" sz="2800" i="1">
                            <a:latin typeface="Cambria Math" panose="02040503050406030204" pitchFamily="18" charset="0"/>
                          </a:rPr>
                          <m:t>𝑑</m:t>
                        </m:r>
                        <m:r>
                          <a:rPr lang="zh-CN" altLang="en-US" sz="2800" i="1">
                            <a:latin typeface="Cambria Math" panose="02040503050406030204" pitchFamily="18" charset="0"/>
                          </a:rPr>
                          <m:t>𝑙</m:t>
                        </m:r>
                      </m:den>
                    </m:f>
                  </m:oMath>
                </a14:m>
                <a:r>
                  <a:rPr lang="en-US" sz="2800" dirty="0">
                    <a:solidFill>
                      <a:srgbClr val="000000"/>
                    </a:solidFill>
                  </a:rPr>
                  <a:t> </a:t>
                </a:r>
                <a14:m>
                  <m:oMath xmlns:m="http://schemas.openxmlformats.org/officeDocument/2006/math">
                    <m:r>
                      <a:rPr lang="en-US" sz="2800" b="0" i="0"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𝑀</m:t>
                    </m:r>
                    <m:func>
                      <m:funcPr>
                        <m:ctrlPr>
                          <a:rPr lang="en-US" sz="2800" i="1">
                            <a:solidFill>
                              <a:srgbClr val="000000"/>
                            </a:solidFill>
                            <a:latin typeface="Cambria Math" panose="02040503050406030204" pitchFamily="18" charset="0"/>
                          </a:rPr>
                        </m:ctrlPr>
                      </m:funcPr>
                      <m:fName>
                        <m:r>
                          <m:rPr>
                            <m:sty m:val="p"/>
                          </m:rPr>
                          <a:rPr lang="en-US" sz="2800">
                            <a:solidFill>
                              <a:srgbClr val="000000"/>
                            </a:solidFill>
                            <a:latin typeface="Cambria Math" panose="02040503050406030204" pitchFamily="18" charset="0"/>
                          </a:rPr>
                          <m:t>cos</m:t>
                        </m:r>
                      </m:fName>
                      <m:e>
                        <m:r>
                          <a:rPr lang="en-US" sz="2800" i="1">
                            <a:solidFill>
                              <a:srgbClr val="000000"/>
                            </a:solidFill>
                            <a:latin typeface="Cambria Math" panose="02040503050406030204" pitchFamily="18" charset="0"/>
                          </a:rPr>
                          <m:t>𝜃</m:t>
                        </m:r>
                      </m:e>
                    </m:func>
                  </m:oMath>
                </a14:m>
                <a:endParaRPr lang="zh-CN" altLang="en-US" sz="2800" dirty="0"/>
              </a:p>
              <a:p>
                <a:pPr>
                  <a:lnSpc>
                    <a:spcPct val="150000"/>
                  </a:lnSpc>
                </a:pPr>
                <a:endParaRPr lang="en-US" altLang="zh-CN" sz="2800" i="1" dirty="0">
                  <a:solidFill>
                    <a:schemeClr val="tx1"/>
                  </a:solidFill>
                  <a:latin typeface="Cambria Math" panose="02040503050406030204" pitchFamily="18" charset="0"/>
                </a:endParaRPr>
              </a:p>
            </p:txBody>
          </p:sp>
        </mc:Choice>
        <mc:Fallback xmlns="">
          <p:sp>
            <p:nvSpPr>
              <p:cNvPr id="90" name="矩形 89">
                <a:extLst>
                  <a:ext uri="{FF2B5EF4-FFF2-40B4-BE49-F238E27FC236}">
                    <a16:creationId xmlns:a16="http://schemas.microsoft.com/office/drawing/2014/main" id="{08E68DBA-8833-4B37-ABF6-AD7DC0EBF71B}"/>
                  </a:ext>
                </a:extLst>
              </p:cNvPr>
              <p:cNvSpPr>
                <a:spLocks noRot="1" noChangeAspect="1" noMove="1" noResize="1" noEditPoints="1" noAdjustHandles="1" noChangeArrowheads="1" noChangeShapeType="1" noTextEdit="1"/>
              </p:cNvSpPr>
              <p:nvPr/>
            </p:nvSpPr>
            <p:spPr>
              <a:xfrm>
                <a:off x="1582418" y="5645181"/>
                <a:ext cx="3804921" cy="1666034"/>
              </a:xfrm>
              <a:prstGeom prst="rect">
                <a:avLst/>
              </a:prstGeom>
              <a:blipFill>
                <a:blip r:embed="rId4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5FBF4D6A-CF20-430C-A423-5F325F12BCAA}"/>
                  </a:ext>
                </a:extLst>
              </p:cNvPr>
              <p:cNvSpPr txBox="1"/>
              <p:nvPr/>
            </p:nvSpPr>
            <p:spPr>
              <a:xfrm>
                <a:off x="6294374" y="1854017"/>
                <a:ext cx="1757677" cy="523220"/>
              </a:xfrm>
              <a:prstGeom prst="rect">
                <a:avLst/>
              </a:prstGeom>
              <a:noFill/>
            </p:spPr>
            <p:txBody>
              <a:bodyPr wrap="square">
                <a:spAutoFit/>
              </a:bodyPr>
              <a:lstStyle/>
              <a:p>
                <a14:m>
                  <m:oMath xmlns:m="http://schemas.openxmlformats.org/officeDocument/2006/math">
                    <m:r>
                      <a:rPr lang="en-US" sz="2800" i="1" smtClean="0">
                        <a:solidFill>
                          <a:srgbClr val="000000"/>
                        </a:solidFill>
                        <a:latin typeface="Cambria Math" panose="02040503050406030204" pitchFamily="18" charset="0"/>
                      </a:rPr>
                      <m:t>𝜃</m:t>
                    </m:r>
                    <m:r>
                      <a:rPr lang="en-US" sz="2800" b="0" i="1" smtClean="0">
                        <a:solidFill>
                          <a:srgbClr val="000000"/>
                        </a:solidFill>
                        <a:latin typeface="Cambria Math" panose="02040503050406030204" pitchFamily="18" charset="0"/>
                      </a:rPr>
                      <m:t>=0 </m:t>
                    </m:r>
                    <m:r>
                      <a:rPr lang="zh-CN" altLang="en-US" sz="2800" i="1">
                        <a:solidFill>
                          <a:srgbClr val="000000"/>
                        </a:solidFill>
                        <a:latin typeface="Cambria Math" panose="02040503050406030204" pitchFamily="18" charset="0"/>
                      </a:rPr>
                      <m:t>时</m:t>
                    </m:r>
                  </m:oMath>
                </a14:m>
                <a:r>
                  <a:rPr lang="zh-CN" altLang="en-US" sz="2800" dirty="0"/>
                  <a:t>，</a:t>
                </a:r>
                <a:endParaRPr lang="en-US" sz="2800" dirty="0"/>
              </a:p>
            </p:txBody>
          </p:sp>
        </mc:Choice>
        <mc:Fallback xmlns="">
          <p:sp>
            <p:nvSpPr>
              <p:cNvPr id="93" name="文本框 92">
                <a:extLst>
                  <a:ext uri="{FF2B5EF4-FFF2-40B4-BE49-F238E27FC236}">
                    <a16:creationId xmlns:a16="http://schemas.microsoft.com/office/drawing/2014/main" id="{5FBF4D6A-CF20-430C-A423-5F325F12BCAA}"/>
                  </a:ext>
                </a:extLst>
              </p:cNvPr>
              <p:cNvSpPr txBox="1">
                <a:spLocks noRot="1" noChangeAspect="1" noMove="1" noResize="1" noEditPoints="1" noAdjustHandles="1" noChangeArrowheads="1" noChangeShapeType="1" noTextEdit="1"/>
              </p:cNvSpPr>
              <p:nvPr/>
            </p:nvSpPr>
            <p:spPr>
              <a:xfrm>
                <a:off x="6294374" y="1854017"/>
                <a:ext cx="1757677" cy="523220"/>
              </a:xfrm>
              <a:prstGeom prst="rect">
                <a:avLst/>
              </a:prstGeom>
              <a:blipFill>
                <a:blip r:embed="rId50"/>
                <a:stretch>
                  <a:fillRect t="-11628" r="-27083"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矩形 93">
                <a:extLst>
                  <a:ext uri="{FF2B5EF4-FFF2-40B4-BE49-F238E27FC236}">
                    <a16:creationId xmlns:a16="http://schemas.microsoft.com/office/drawing/2014/main" id="{15456B64-61C5-4A32-8CD8-A545EB855B8D}"/>
                  </a:ext>
                </a:extLst>
              </p:cNvPr>
              <p:cNvSpPr/>
              <p:nvPr/>
            </p:nvSpPr>
            <p:spPr>
              <a:xfrm>
                <a:off x="6409219" y="2236595"/>
                <a:ext cx="3804921" cy="1305037"/>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p>
                        <m:sSupPr>
                          <m:ctrlPr>
                            <a:rPr kumimoji="1" lang="en-US" altLang="zh-CN" sz="2800" i="1" smtClean="0">
                              <a:latin typeface="Cambria Math" panose="02040503050406030204" pitchFamily="18" charset="0"/>
                              <a:ea typeface="华文新魏" panose="02010800040101010101" pitchFamily="2" charset="-122"/>
                            </a:rPr>
                          </m:ctrlPr>
                        </m:sSupPr>
                        <m:e>
                          <m:r>
                            <a:rPr kumimoji="1" lang="en-US" altLang="zh-CN" sz="2800" i="1">
                              <a:latin typeface="Cambria Math" panose="02040503050406030204" pitchFamily="18" charset="0"/>
                              <a:ea typeface="华文新魏" panose="02010800040101010101" pitchFamily="2" charset="-122"/>
                            </a:rPr>
                            <m:t>𝑗</m:t>
                          </m:r>
                        </m:e>
                        <m:sup>
                          <m:r>
                            <a:rPr kumimoji="1" lang="en-US" altLang="zh-CN" sz="2800" i="1">
                              <a:latin typeface="Cambria Math" panose="02040503050406030204" pitchFamily="18" charset="0"/>
                              <a:ea typeface="华文新魏" panose="02010800040101010101" pitchFamily="2" charset="-122"/>
                            </a:rPr>
                            <m:t>′</m:t>
                          </m:r>
                        </m:sup>
                      </m:sSup>
                      <m:r>
                        <a:rPr lang="en-US" altLang="zh-CN" sz="2800" i="1">
                          <a:latin typeface="Cambria Math" panose="02040503050406030204" pitchFamily="18" charset="0"/>
                        </a:rPr>
                        <m:t>=</m:t>
                      </m:r>
                      <m:r>
                        <a:rPr lang="en-US" sz="2800" i="1">
                          <a:solidFill>
                            <a:srgbClr val="000000"/>
                          </a:solidFill>
                          <a:latin typeface="Cambria Math" panose="02040503050406030204" pitchFamily="18" charset="0"/>
                        </a:rPr>
                        <m:t>𝑀</m:t>
                      </m:r>
                    </m:oMath>
                  </m:oMathPara>
                </a14:m>
                <a:endParaRPr lang="zh-CN" altLang="en-US" sz="2800" dirty="0"/>
              </a:p>
              <a:p>
                <a:pPr>
                  <a:lnSpc>
                    <a:spcPct val="150000"/>
                  </a:lnSpc>
                </a:pPr>
                <a:endParaRPr lang="en-US" altLang="zh-CN" sz="2800" i="1" dirty="0">
                  <a:solidFill>
                    <a:schemeClr val="tx1"/>
                  </a:solidFill>
                  <a:latin typeface="Cambria Math" panose="02040503050406030204" pitchFamily="18" charset="0"/>
                </a:endParaRPr>
              </a:p>
            </p:txBody>
          </p:sp>
        </mc:Choice>
        <mc:Fallback xmlns="">
          <p:sp>
            <p:nvSpPr>
              <p:cNvPr id="94" name="矩形 93">
                <a:extLst>
                  <a:ext uri="{FF2B5EF4-FFF2-40B4-BE49-F238E27FC236}">
                    <a16:creationId xmlns:a16="http://schemas.microsoft.com/office/drawing/2014/main" id="{15456B64-61C5-4A32-8CD8-A545EB855B8D}"/>
                  </a:ext>
                </a:extLst>
              </p:cNvPr>
              <p:cNvSpPr>
                <a:spLocks noRot="1" noChangeAspect="1" noMove="1" noResize="1" noEditPoints="1" noAdjustHandles="1" noChangeArrowheads="1" noChangeShapeType="1" noTextEdit="1"/>
              </p:cNvSpPr>
              <p:nvPr/>
            </p:nvSpPr>
            <p:spPr>
              <a:xfrm>
                <a:off x="6409219" y="2236595"/>
                <a:ext cx="3804921" cy="1305037"/>
              </a:xfrm>
              <a:prstGeom prst="rect">
                <a:avLst/>
              </a:prstGeom>
              <a:blipFill>
                <a:blip r:embed="rId51"/>
                <a:stretch>
                  <a:fillRect/>
                </a:stretch>
              </a:blipFill>
            </p:spPr>
            <p:txBody>
              <a:bodyPr/>
              <a:lstStyle/>
              <a:p>
                <a:r>
                  <a:rPr lang="en-US">
                    <a:noFill/>
                  </a:rPr>
                  <a:t> </a:t>
                </a:r>
              </a:p>
            </p:txBody>
          </p:sp>
        </mc:Fallback>
      </mc:AlternateContent>
      <p:sp>
        <p:nvSpPr>
          <p:cNvPr id="96" name="标题 7">
            <a:extLst>
              <a:ext uri="{FF2B5EF4-FFF2-40B4-BE49-F238E27FC236}">
                <a16:creationId xmlns:a16="http://schemas.microsoft.com/office/drawing/2014/main" id="{C7A29C69-1123-48B9-84FE-AF76A0775DB3}"/>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b="1" dirty="0">
                <a:solidFill>
                  <a:srgbClr val="0066FF"/>
                </a:solidFill>
              </a:rPr>
              <a:t>磁化面电流与磁化强度</a:t>
            </a:r>
          </a:p>
        </p:txBody>
      </p:sp>
    </p:spTree>
    <p:extLst>
      <p:ext uri="{BB962C8B-B14F-4D97-AF65-F5344CB8AC3E}">
        <p14:creationId xmlns:p14="http://schemas.microsoft.com/office/powerpoint/2010/main" val="278937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uiExpand="1" build="p" autoUpdateAnimBg="0"/>
      <p:bldP spid="88" grpId="0"/>
      <p:bldP spid="89" grpId="0"/>
      <p:bldP spid="90" grpId="0"/>
      <p:bldP spid="93" grpId="0"/>
      <p:bldP spid="9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内容占位符 8"/>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352" t="-2467" r="10812" b="2467"/>
          <a:stretch/>
        </p:blipFill>
        <p:spPr>
          <a:xfrm>
            <a:off x="842657" y="1417614"/>
            <a:ext cx="2959123" cy="2755910"/>
          </a:xfr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1D1D05B-BADE-45A5-BCE2-C7E27668CC62}"/>
                  </a:ext>
                </a:extLst>
              </p:cNvPr>
              <p:cNvSpPr txBox="1"/>
              <p:nvPr/>
            </p:nvSpPr>
            <p:spPr>
              <a:xfrm>
                <a:off x="3915533" y="1484936"/>
                <a:ext cx="5828235" cy="10915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zh-CN" altLang="en-US" sz="2400" b="1" i="1" smtClean="0">
                              <a:latin typeface="Cambria Math" panose="02040503050406030204" pitchFamily="18" charset="0"/>
                            </a:rPr>
                          </m:ctrlPr>
                        </m:naryPr>
                        <m:sub>
                          <m:r>
                            <m:rPr>
                              <m:brk m:alnAt="23"/>
                            </m:rPr>
                            <a:rPr lang="en-US" altLang="zh-CN" sz="2400" b="1" i="1">
                              <a:latin typeface="Cambria Math" panose="02040503050406030204" pitchFamily="18" charset="0"/>
                            </a:rPr>
                            <m:t>𝒍</m:t>
                          </m:r>
                        </m:sub>
                        <m:sup/>
                        <m:e>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𝑩</m:t>
                              </m:r>
                            </m:e>
                          </m:acc>
                          <m:r>
                            <m:rPr>
                              <m:brk m:alnAt="23"/>
                            </m:rPr>
                            <a:rPr lang="zh-CN" altLang="en-US" sz="2400" b="1" i="1">
                              <a:latin typeface="Cambria Math" panose="02040503050406030204" pitchFamily="18" charset="0"/>
                            </a:rPr>
                            <m:t>∙</m:t>
                          </m:r>
                          <m:r>
                            <a:rPr lang="en-US" altLang="zh-CN" sz="2400" b="1" i="1">
                              <a:latin typeface="Cambria Math" panose="02040503050406030204" pitchFamily="18" charset="0"/>
                            </a:rPr>
                            <m:t>𝒅</m:t>
                          </m:r>
                          <m:acc>
                            <m:accPr>
                              <m:chr m:val="⃗"/>
                              <m:ctrlPr>
                                <a:rPr lang="en-US" altLang="zh-CN" sz="2400" b="1" i="1">
                                  <a:latin typeface="Cambria Math" panose="02040503050406030204" pitchFamily="18" charset="0"/>
                                </a:rPr>
                              </m:ctrlPr>
                            </m:accPr>
                            <m:e>
                              <m:r>
                                <a:rPr lang="en-US" altLang="zh-CN" sz="2400" b="1" i="1">
                                  <a:latin typeface="Cambria Math" panose="02040503050406030204" pitchFamily="18" charset="0"/>
                                </a:rPr>
                                <m:t>𝒍</m:t>
                              </m:r>
                            </m:e>
                          </m:acc>
                        </m:e>
                      </m:nary>
                      <m:r>
                        <a:rPr lang="en-US" altLang="zh-CN" sz="2400" b="1" i="1">
                          <a:latin typeface="Cambria Math" panose="02040503050406030204" pitchFamily="18" charset="0"/>
                        </a:rPr>
                        <m:t>=</m:t>
                      </m:r>
                      <m:sSub>
                        <m:sSubPr>
                          <m:ctrlPr>
                            <a:rPr lang="en-US" altLang="zh-CN" sz="2400" b="1" i="1">
                              <a:latin typeface="Cambria Math" panose="02040503050406030204" pitchFamily="18" charset="0"/>
                            </a:rPr>
                          </m:ctrlPr>
                        </m:sSubPr>
                        <m:e>
                          <m:r>
                            <a:rPr lang="zh-CN" altLang="en-US" sz="2400" b="1" i="1">
                              <a:latin typeface="Cambria Math" panose="02040503050406030204" pitchFamily="18" charset="0"/>
                            </a:rPr>
                            <m:t>𝝁</m:t>
                          </m:r>
                        </m:e>
                        <m:sub>
                          <m:r>
                            <a:rPr lang="en-US" altLang="zh-CN" sz="2400" b="1" i="1">
                              <a:latin typeface="Cambria Math" panose="02040503050406030204" pitchFamily="18" charset="0"/>
                            </a:rPr>
                            <m:t>𝟎</m:t>
                          </m:r>
                        </m:sub>
                      </m:sSub>
                      <m:nary>
                        <m:naryPr>
                          <m:chr m:val="∑"/>
                          <m:subHide m:val="on"/>
                          <m:supHide m:val="on"/>
                          <m:ctrlPr>
                            <a:rPr lang="en-US" altLang="zh-CN" sz="2400" b="1" i="1">
                              <a:latin typeface="Cambria Math" panose="02040503050406030204" pitchFamily="18" charset="0"/>
                            </a:rPr>
                          </m:ctrlPr>
                        </m:naryPr>
                        <m:sub/>
                        <m:sup/>
                        <m:e>
                          <m:r>
                            <a:rPr lang="en-US" altLang="zh-CN" sz="2400" b="1" i="1">
                              <a:latin typeface="Cambria Math" panose="02040503050406030204" pitchFamily="18" charset="0"/>
                            </a:rPr>
                            <m:t>𝑰</m:t>
                          </m:r>
                        </m:e>
                      </m:nary>
                      <m:r>
                        <a:rPr lang="en-US" altLang="zh-CN" sz="2400" b="1" i="1">
                          <a:latin typeface="Cambria Math" panose="02040503050406030204" pitchFamily="18" charset="0"/>
                        </a:rPr>
                        <m:t>+</m:t>
                      </m:r>
                      <m:sSub>
                        <m:sSubPr>
                          <m:ctrlPr>
                            <a:rPr lang="en-US" altLang="zh-CN"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𝝁</m:t>
                          </m:r>
                        </m:e>
                        <m:sub>
                          <m:r>
                            <a:rPr lang="en-US" altLang="zh-CN" sz="2400" b="1" i="1">
                              <a:solidFill>
                                <a:srgbClr val="000000"/>
                              </a:solidFill>
                              <a:latin typeface="Cambria Math" panose="02040503050406030204" pitchFamily="18" charset="0"/>
                            </a:rPr>
                            <m:t>𝟎</m:t>
                          </m:r>
                        </m:sub>
                      </m:sSub>
                      <m:nary>
                        <m:naryPr>
                          <m:chr m:val="∮"/>
                          <m:limLoc m:val="undOvr"/>
                          <m:subHide m:val="on"/>
                          <m:supHide m:val="on"/>
                          <m:ctrlPr>
                            <a:rPr kumimoji="1" lang="zh-CN" altLang="en-US" sz="2400" b="1" i="1" smtClean="0">
                              <a:solidFill>
                                <a:srgbClr val="0066FF"/>
                              </a:solidFill>
                              <a:latin typeface="Cambria Math" panose="02040503050406030204" pitchFamily="18" charset="0"/>
                              <a:ea typeface="黑体" panose="02010609060101010101" pitchFamily="49" charset="-122"/>
                              <a:cs typeface="Times New Roman" panose="02020603050405020304" pitchFamily="18" charset="0"/>
                            </a:rPr>
                          </m:ctrlPr>
                        </m:naryPr>
                        <m:sub/>
                        <m:sup/>
                        <m:e>
                          <m:acc>
                            <m:accPr>
                              <m:chr m:val="⃗"/>
                              <m:ctrlPr>
                                <a:rPr kumimoji="1" lang="en-US" altLang="zh-CN" sz="2400" b="1" i="1">
                                  <a:solidFill>
                                    <a:srgbClr val="0066FF"/>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400" b="1" i="1">
                                  <a:solidFill>
                                    <a:srgbClr val="0066FF"/>
                                  </a:solidFill>
                                  <a:latin typeface="Cambria Math" panose="02040503050406030204" pitchFamily="18" charset="0"/>
                                  <a:ea typeface="黑体" panose="02010609060101010101" pitchFamily="49" charset="-122"/>
                                  <a:cs typeface="Times New Roman" panose="02020603050405020304" pitchFamily="18" charset="0"/>
                                </a:rPr>
                                <m:t>𝑴</m:t>
                              </m:r>
                            </m:e>
                          </m:acc>
                          <m:r>
                            <m:rPr>
                              <m:brk/>
                            </m:rPr>
                            <a:rPr kumimoji="1" lang="zh-CN" altLang="en-US" sz="2400" b="1" i="1">
                              <a:solidFill>
                                <a:srgbClr val="0066FF"/>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2400" b="1" i="1">
                              <a:solidFill>
                                <a:srgbClr val="0066FF"/>
                              </a:solidFill>
                              <a:latin typeface="Cambria Math" panose="02040503050406030204" pitchFamily="18" charset="0"/>
                              <a:ea typeface="黑体" panose="02010609060101010101" pitchFamily="49" charset="-122"/>
                              <a:cs typeface="Times New Roman" panose="02020603050405020304" pitchFamily="18" charset="0"/>
                            </a:rPr>
                            <m:t>𝒅</m:t>
                          </m:r>
                          <m:acc>
                            <m:accPr>
                              <m:chr m:val="⃗"/>
                              <m:ctrlPr>
                                <a:rPr kumimoji="1" lang="en-US" altLang="zh-CN" sz="2400" b="1" i="1">
                                  <a:solidFill>
                                    <a:srgbClr val="0066FF"/>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400" b="1" i="1">
                                  <a:solidFill>
                                    <a:srgbClr val="0066FF"/>
                                  </a:solidFill>
                                  <a:latin typeface="Cambria Math" panose="02040503050406030204" pitchFamily="18" charset="0"/>
                                  <a:ea typeface="黑体" panose="02010609060101010101" pitchFamily="49" charset="-122"/>
                                  <a:cs typeface="Times New Roman" panose="02020603050405020304" pitchFamily="18" charset="0"/>
                                </a:rPr>
                                <m:t>𝒍</m:t>
                              </m:r>
                            </m:e>
                          </m:acc>
                        </m:e>
                      </m:nary>
                    </m:oMath>
                  </m:oMathPara>
                </a14:m>
                <a:endParaRPr lang="en-US" altLang="zh-CN" sz="2400" b="1" dirty="0"/>
              </a:p>
            </p:txBody>
          </p:sp>
        </mc:Choice>
        <mc:Fallback xmlns="">
          <p:sp>
            <p:nvSpPr>
              <p:cNvPr id="13" name="文本框 12">
                <a:extLst>
                  <a:ext uri="{FF2B5EF4-FFF2-40B4-BE49-F238E27FC236}">
                    <a16:creationId xmlns:a16="http://schemas.microsoft.com/office/drawing/2014/main" id="{01D1D05B-BADE-45A5-BCE2-C7E27668CC62}"/>
                  </a:ext>
                </a:extLst>
              </p:cNvPr>
              <p:cNvSpPr txBox="1">
                <a:spLocks noRot="1" noChangeAspect="1" noMove="1" noResize="1" noEditPoints="1" noAdjustHandles="1" noChangeArrowheads="1" noChangeShapeType="1" noTextEdit="1"/>
              </p:cNvSpPr>
              <p:nvPr/>
            </p:nvSpPr>
            <p:spPr>
              <a:xfrm>
                <a:off x="3915533" y="1484936"/>
                <a:ext cx="5828235" cy="109151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27100D9-921F-4CF9-A8CA-1D7D1C95522F}"/>
                  </a:ext>
                </a:extLst>
              </p:cNvPr>
              <p:cNvSpPr txBox="1"/>
              <p:nvPr/>
            </p:nvSpPr>
            <p:spPr>
              <a:xfrm>
                <a:off x="4308142" y="2840209"/>
                <a:ext cx="4363228" cy="10633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b="1" i="1" smtClean="0">
                          <a:latin typeface="Cambria Math" panose="02040503050406030204" pitchFamily="18" charset="0"/>
                        </a:rPr>
                        <m:t>→</m:t>
                      </m:r>
                      <m:nary>
                        <m:naryPr>
                          <m:chr m:val="∮"/>
                          <m:ctrlPr>
                            <a:rPr lang="zh-CN" altLang="en-US" sz="2400" b="1" i="1">
                              <a:solidFill>
                                <a:srgbClr val="000000"/>
                              </a:solidFill>
                              <a:latin typeface="Cambria Math" panose="02040503050406030204" pitchFamily="18" charset="0"/>
                            </a:rPr>
                          </m:ctrlPr>
                        </m:naryPr>
                        <m:sub>
                          <m:r>
                            <m:rPr>
                              <m:brk m:alnAt="23"/>
                            </m:rPr>
                            <a:rPr lang="en-US" altLang="zh-CN" sz="2400" b="1" i="1">
                              <a:solidFill>
                                <a:srgbClr val="000000"/>
                              </a:solidFill>
                              <a:latin typeface="Cambria Math" panose="02040503050406030204" pitchFamily="18" charset="0"/>
                            </a:rPr>
                            <m:t>𝒍</m:t>
                          </m:r>
                        </m:sub>
                        <m:sup/>
                        <m:e>
                          <m:r>
                            <a:rPr lang="en-US" altLang="zh-CN" sz="2400" b="1" i="1" smtClean="0">
                              <a:solidFill>
                                <a:srgbClr val="0066FF"/>
                              </a:solidFill>
                              <a:latin typeface="Cambria Math" panose="02040503050406030204" pitchFamily="18" charset="0"/>
                            </a:rPr>
                            <m:t>(</m:t>
                          </m:r>
                          <m:f>
                            <m:fPr>
                              <m:ctrlPr>
                                <a:rPr lang="en-US" altLang="zh-CN" sz="2400" b="1" i="1">
                                  <a:solidFill>
                                    <a:srgbClr val="0066FF"/>
                                  </a:solidFill>
                                  <a:latin typeface="Cambria Math" panose="02040503050406030204" pitchFamily="18" charset="0"/>
                                </a:rPr>
                              </m:ctrlPr>
                            </m:fPr>
                            <m:num>
                              <m:acc>
                                <m:accPr>
                                  <m:chr m:val="⃗"/>
                                  <m:ctrlPr>
                                    <a:rPr lang="en-US" altLang="zh-CN" sz="2400" b="1" i="1">
                                      <a:solidFill>
                                        <a:srgbClr val="0066FF"/>
                                      </a:solidFill>
                                      <a:latin typeface="Cambria Math" panose="02040503050406030204" pitchFamily="18" charset="0"/>
                                    </a:rPr>
                                  </m:ctrlPr>
                                </m:accPr>
                                <m:e>
                                  <m:r>
                                    <a:rPr lang="en-US" altLang="zh-CN" sz="2400" b="1" i="1">
                                      <a:solidFill>
                                        <a:srgbClr val="0066FF"/>
                                      </a:solidFill>
                                      <a:latin typeface="Cambria Math" panose="02040503050406030204" pitchFamily="18" charset="0"/>
                                    </a:rPr>
                                    <m:t>𝑩</m:t>
                                  </m:r>
                                </m:e>
                              </m:acc>
                            </m:num>
                            <m:den>
                              <m:sSub>
                                <m:sSubPr>
                                  <m:ctrlPr>
                                    <a:rPr lang="en-US" altLang="zh-CN" sz="2400" b="1" i="1">
                                      <a:solidFill>
                                        <a:srgbClr val="0066FF"/>
                                      </a:solidFill>
                                      <a:latin typeface="Cambria Math" panose="02040503050406030204" pitchFamily="18" charset="0"/>
                                    </a:rPr>
                                  </m:ctrlPr>
                                </m:sSubPr>
                                <m:e>
                                  <m:r>
                                    <a:rPr lang="zh-CN" altLang="en-US" sz="2400" b="1" i="1">
                                      <a:solidFill>
                                        <a:srgbClr val="0066FF"/>
                                      </a:solidFill>
                                      <a:latin typeface="Cambria Math" panose="02040503050406030204" pitchFamily="18" charset="0"/>
                                    </a:rPr>
                                    <m:t>𝝁</m:t>
                                  </m:r>
                                </m:e>
                                <m:sub>
                                  <m:r>
                                    <a:rPr lang="en-US" altLang="zh-CN" sz="2400" b="1" i="1">
                                      <a:solidFill>
                                        <a:srgbClr val="0066FF"/>
                                      </a:solidFill>
                                      <a:latin typeface="Cambria Math" panose="02040503050406030204" pitchFamily="18" charset="0"/>
                                    </a:rPr>
                                    <m:t>𝟎</m:t>
                                  </m:r>
                                </m:sub>
                              </m:sSub>
                            </m:den>
                          </m:f>
                          <m:r>
                            <a:rPr lang="en-US" altLang="zh-CN" sz="2400" b="1" i="1">
                              <a:solidFill>
                                <a:srgbClr val="0066FF"/>
                              </a:solidFill>
                              <a:latin typeface="Cambria Math" panose="02040503050406030204" pitchFamily="18" charset="0"/>
                            </a:rPr>
                            <m:t>−</m:t>
                          </m:r>
                          <m:acc>
                            <m:accPr>
                              <m:chr m:val="⃗"/>
                              <m:ctrlPr>
                                <a:rPr kumimoji="1" lang="en-US" altLang="zh-CN" sz="2400" b="1" i="1">
                                  <a:solidFill>
                                    <a:srgbClr val="0066FF"/>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400" b="1" i="1">
                                  <a:solidFill>
                                    <a:srgbClr val="0066FF"/>
                                  </a:solidFill>
                                  <a:latin typeface="Cambria Math" panose="02040503050406030204" pitchFamily="18" charset="0"/>
                                  <a:ea typeface="黑体" panose="02010609060101010101" pitchFamily="49" charset="-122"/>
                                  <a:cs typeface="Times New Roman" panose="02020603050405020304" pitchFamily="18" charset="0"/>
                                </a:rPr>
                                <m:t>𝑴</m:t>
                              </m:r>
                            </m:e>
                          </m:acc>
                          <m:r>
                            <a:rPr lang="en-US" altLang="zh-CN" sz="2400" b="1" i="1">
                              <a:solidFill>
                                <a:srgbClr val="000000"/>
                              </a:solidFill>
                              <a:latin typeface="Cambria Math" panose="02040503050406030204" pitchFamily="18" charset="0"/>
                            </a:rPr>
                            <m:t>)</m:t>
                          </m:r>
                          <m:r>
                            <m:rPr>
                              <m:brk m:alnAt="23"/>
                            </m:rPr>
                            <a:rPr lang="zh-CN" altLang="en-US" sz="2400" b="1" i="1">
                              <a:solidFill>
                                <a:srgbClr val="000000"/>
                              </a:solidFill>
                              <a:latin typeface="Cambria Math" panose="02040503050406030204" pitchFamily="18" charset="0"/>
                            </a:rPr>
                            <m:t>∙</m:t>
                          </m:r>
                          <m:r>
                            <a:rPr lang="en-US" altLang="zh-CN" sz="2400" b="1" i="1">
                              <a:solidFill>
                                <a:srgbClr val="000000"/>
                              </a:solidFill>
                              <a:latin typeface="Cambria Math" panose="02040503050406030204" pitchFamily="18" charset="0"/>
                            </a:rPr>
                            <m:t>𝒅</m:t>
                          </m:r>
                          <m:acc>
                            <m:accPr>
                              <m:chr m:val="⃗"/>
                              <m:ctrlPr>
                                <a:rPr lang="en-US" altLang="zh-CN" sz="2400" b="1" i="1">
                                  <a:solidFill>
                                    <a:srgbClr val="000000"/>
                                  </a:solidFill>
                                  <a:latin typeface="Cambria Math" panose="02040503050406030204" pitchFamily="18" charset="0"/>
                                </a:rPr>
                              </m:ctrlPr>
                            </m:accPr>
                            <m:e>
                              <m:r>
                                <a:rPr lang="en-US" altLang="zh-CN" sz="2400" b="1" i="1">
                                  <a:solidFill>
                                    <a:srgbClr val="000000"/>
                                  </a:solidFill>
                                  <a:latin typeface="Cambria Math" panose="02040503050406030204" pitchFamily="18" charset="0"/>
                                </a:rPr>
                                <m:t>𝒍</m:t>
                              </m:r>
                            </m:e>
                          </m:acc>
                        </m:e>
                      </m:nary>
                      <m:r>
                        <a:rPr lang="en-US" altLang="zh-CN" sz="2400" b="1" i="1">
                          <a:solidFill>
                            <a:srgbClr val="000000"/>
                          </a:solidFill>
                          <a:latin typeface="Cambria Math" panose="02040503050406030204" pitchFamily="18" charset="0"/>
                        </a:rPr>
                        <m:t>=</m:t>
                      </m:r>
                      <m:nary>
                        <m:naryPr>
                          <m:chr m:val="∑"/>
                          <m:subHide m:val="on"/>
                          <m:supHide m:val="on"/>
                          <m:ctrlPr>
                            <a:rPr lang="en-US" altLang="zh-CN" sz="2400" b="1" i="1">
                              <a:solidFill>
                                <a:srgbClr val="000000"/>
                              </a:solidFill>
                              <a:latin typeface="Cambria Math" panose="02040503050406030204" pitchFamily="18" charset="0"/>
                            </a:rPr>
                          </m:ctrlPr>
                        </m:naryPr>
                        <m:sub/>
                        <m:sup/>
                        <m:e>
                          <m:r>
                            <a:rPr lang="en-US" altLang="zh-CN" sz="2400" b="1" i="1">
                              <a:solidFill>
                                <a:srgbClr val="000000"/>
                              </a:solidFill>
                              <a:latin typeface="Cambria Math" panose="02040503050406030204" pitchFamily="18" charset="0"/>
                            </a:rPr>
                            <m:t>𝑰</m:t>
                          </m:r>
                        </m:e>
                      </m:nary>
                    </m:oMath>
                  </m:oMathPara>
                </a14:m>
                <a:endParaRPr lang="zh-CN" altLang="en-US" sz="2400" dirty="0"/>
              </a:p>
            </p:txBody>
          </p:sp>
        </mc:Choice>
        <mc:Fallback xmlns="">
          <p:sp>
            <p:nvSpPr>
              <p:cNvPr id="15" name="文本框 14">
                <a:extLst>
                  <a:ext uri="{FF2B5EF4-FFF2-40B4-BE49-F238E27FC236}">
                    <a16:creationId xmlns:a16="http://schemas.microsoft.com/office/drawing/2014/main" id="{227100D9-921F-4CF9-A8CA-1D7D1C95522F}"/>
                  </a:ext>
                </a:extLst>
              </p:cNvPr>
              <p:cNvSpPr txBox="1">
                <a:spLocks noRot="1" noChangeAspect="1" noMove="1" noResize="1" noEditPoints="1" noAdjustHandles="1" noChangeArrowheads="1" noChangeShapeType="1" noTextEdit="1"/>
              </p:cNvSpPr>
              <p:nvPr/>
            </p:nvSpPr>
            <p:spPr>
              <a:xfrm>
                <a:off x="4308142" y="2840209"/>
                <a:ext cx="4363228" cy="106336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EA6C2A7-B40F-49E7-B5AF-E4B393A3B406}"/>
                  </a:ext>
                </a:extLst>
              </p:cNvPr>
              <p:cNvSpPr txBox="1"/>
              <p:nvPr/>
            </p:nvSpPr>
            <p:spPr>
              <a:xfrm>
                <a:off x="2321011" y="3895785"/>
                <a:ext cx="6707630" cy="1082989"/>
              </a:xfrm>
              <a:prstGeom prst="rect">
                <a:avLst/>
              </a:prstGeom>
              <a:noFill/>
            </p:spPr>
            <p:txBody>
              <a:bodyPr wrap="square">
                <a:spAutoFit/>
              </a:bodyPr>
              <a:lstStyle/>
              <a:p>
                <a:pPr lvl="0">
                  <a:spcBef>
                    <a:spcPct val="50000"/>
                  </a:spcBef>
                </a:pPr>
                <a14:m>
                  <m:oMathPara xmlns:m="http://schemas.openxmlformats.org/officeDocument/2006/math">
                    <m:oMathParaPr>
                      <m:jc m:val="centerGroup"/>
                    </m:oMathParaPr>
                    <m:oMath xmlns:m="http://schemas.openxmlformats.org/officeDocument/2006/math">
                      <m:r>
                        <a:rPr kumimoji="1" lang="zh-CN" altLang="en-US" sz="2800" b="1" i="1" dirty="0" smtClean="0">
                          <a:solidFill>
                            <a:prstClr val="black"/>
                          </a:solidFill>
                          <a:latin typeface="Cambria Math" panose="02040503050406030204" pitchFamily="18" charset="0"/>
                          <a:cs typeface="Times New Roman" panose="02020603050405020304" pitchFamily="18" charset="0"/>
                        </a:rPr>
                        <m:t>定义：</m:t>
                      </m:r>
                      <m:r>
                        <a:rPr kumimoji="1" lang="zh-CN" altLang="zh-CN" sz="2800" b="1" i="1" dirty="0">
                          <a:solidFill>
                            <a:prstClr val="black"/>
                          </a:solidFill>
                          <a:latin typeface="Cambria Math" panose="02040503050406030204" pitchFamily="18" charset="0"/>
                          <a:cs typeface="Times New Roman" panose="02020603050405020304" pitchFamily="18" charset="0"/>
                        </a:rPr>
                        <m:t>磁场强度</m:t>
                      </m:r>
                      <m:r>
                        <a:rPr kumimoji="1" lang="en-US" altLang="zh-CN" sz="2800" b="1" i="1" dirty="0" smtClean="0">
                          <a:solidFill>
                            <a:prstClr val="black"/>
                          </a:solidFill>
                          <a:latin typeface="Cambria Math" panose="02040503050406030204" pitchFamily="18" charset="0"/>
                          <a:cs typeface="Times New Roman" panose="02020603050405020304" pitchFamily="18" charset="0"/>
                        </a:rPr>
                        <m:t> </m:t>
                      </m:r>
                      <m:acc>
                        <m:accPr>
                          <m:chr m:val="⃗"/>
                          <m:ctrlPr>
                            <a:rPr lang="en-US" altLang="zh-CN" sz="2800" b="1" i="1">
                              <a:solidFill>
                                <a:prstClr val="black"/>
                              </a:solidFill>
                              <a:latin typeface="Cambria Math" panose="02040503050406030204" pitchFamily="18" charset="0"/>
                            </a:rPr>
                          </m:ctrlPr>
                        </m:accPr>
                        <m:e>
                          <m:r>
                            <a:rPr lang="en-US" altLang="zh-CN" sz="2800" b="1" i="1">
                              <a:solidFill>
                                <a:prstClr val="black"/>
                              </a:solidFill>
                              <a:latin typeface="Cambria Math" panose="02040503050406030204" pitchFamily="18" charset="0"/>
                            </a:rPr>
                            <m:t>𝑯</m:t>
                          </m:r>
                        </m:e>
                      </m:acc>
                      <m:r>
                        <a:rPr lang="en-US" altLang="zh-CN" sz="2800" b="1" i="1">
                          <a:solidFill>
                            <a:prstClr val="black"/>
                          </a:solidFill>
                          <a:latin typeface="Cambria Math" panose="02040503050406030204" pitchFamily="18" charset="0"/>
                        </a:rPr>
                        <m:t>=</m:t>
                      </m:r>
                      <m:f>
                        <m:fPr>
                          <m:ctrlPr>
                            <a:rPr lang="en-US" altLang="zh-CN" sz="2800" b="1" i="1">
                              <a:solidFill>
                                <a:prstClr val="black"/>
                              </a:solidFill>
                              <a:latin typeface="Cambria Math" panose="02040503050406030204" pitchFamily="18" charset="0"/>
                            </a:rPr>
                          </m:ctrlPr>
                        </m:fPr>
                        <m:num>
                          <m:acc>
                            <m:accPr>
                              <m:chr m:val="⃗"/>
                              <m:ctrlPr>
                                <a:rPr lang="en-US" altLang="zh-CN" sz="2800" b="1" i="1">
                                  <a:solidFill>
                                    <a:prstClr val="black"/>
                                  </a:solidFill>
                                  <a:latin typeface="Cambria Math" panose="02040503050406030204" pitchFamily="18" charset="0"/>
                                </a:rPr>
                              </m:ctrlPr>
                            </m:accPr>
                            <m:e>
                              <m:r>
                                <a:rPr lang="en-US" altLang="zh-CN" sz="2800" b="1" i="1">
                                  <a:solidFill>
                                    <a:prstClr val="black"/>
                                  </a:solidFill>
                                  <a:latin typeface="Cambria Math" panose="02040503050406030204" pitchFamily="18" charset="0"/>
                                </a:rPr>
                                <m:t>𝑩</m:t>
                              </m:r>
                            </m:e>
                          </m:acc>
                        </m:num>
                        <m:den>
                          <m:sSub>
                            <m:sSubPr>
                              <m:ctrlPr>
                                <a:rPr lang="en-US" altLang="zh-CN" sz="2800" b="1" i="1">
                                  <a:solidFill>
                                    <a:prstClr val="black"/>
                                  </a:solidFill>
                                  <a:latin typeface="Cambria Math" panose="02040503050406030204" pitchFamily="18" charset="0"/>
                                </a:rPr>
                              </m:ctrlPr>
                            </m:sSubPr>
                            <m:e>
                              <m:r>
                                <a:rPr lang="zh-CN" altLang="en-US" sz="2800" b="1" i="1">
                                  <a:solidFill>
                                    <a:prstClr val="black"/>
                                  </a:solidFill>
                                  <a:latin typeface="Cambria Math" panose="02040503050406030204" pitchFamily="18" charset="0"/>
                                </a:rPr>
                                <m:t>𝝁</m:t>
                              </m:r>
                            </m:e>
                            <m:sub>
                              <m:r>
                                <a:rPr lang="en-US" altLang="zh-CN" sz="2800" b="1" i="1">
                                  <a:solidFill>
                                    <a:prstClr val="black"/>
                                  </a:solidFill>
                                  <a:latin typeface="Cambria Math" panose="02040503050406030204" pitchFamily="18" charset="0"/>
                                </a:rPr>
                                <m:t>𝟎</m:t>
                              </m:r>
                            </m:sub>
                          </m:sSub>
                        </m:den>
                      </m:f>
                      <m:r>
                        <a:rPr lang="en-US" altLang="zh-CN" sz="2800" b="1" i="1">
                          <a:solidFill>
                            <a:prstClr val="black"/>
                          </a:solidFill>
                          <a:latin typeface="Cambria Math" panose="02040503050406030204" pitchFamily="18" charset="0"/>
                        </a:rPr>
                        <m:t>−</m:t>
                      </m:r>
                      <m:acc>
                        <m:accPr>
                          <m:chr m:val="⃗"/>
                          <m:ctrlPr>
                            <a:rPr kumimoji="1" lang="en-US" altLang="zh-CN" sz="2800" b="1" i="1">
                              <a:solidFill>
                                <a:prstClr val="black"/>
                              </a:solidFill>
                              <a:latin typeface="Cambria Math" panose="02040503050406030204" pitchFamily="18" charset="0"/>
                              <a:cs typeface="Times New Roman" panose="02020603050405020304" pitchFamily="18" charset="0"/>
                            </a:rPr>
                          </m:ctrlPr>
                        </m:accPr>
                        <m:e>
                          <m:r>
                            <a:rPr kumimoji="1" lang="en-US" altLang="zh-CN" sz="2800" b="1" i="1">
                              <a:solidFill>
                                <a:prstClr val="black"/>
                              </a:solidFill>
                              <a:latin typeface="Cambria Math" panose="02040503050406030204" pitchFamily="18" charset="0"/>
                              <a:cs typeface="Times New Roman" panose="02020603050405020304" pitchFamily="18" charset="0"/>
                            </a:rPr>
                            <m:t>𝑴</m:t>
                          </m:r>
                        </m:e>
                      </m:acc>
                    </m:oMath>
                  </m:oMathPara>
                </a14:m>
                <a:endParaRPr kumimoji="1" lang="en-US" altLang="zh-CN" sz="2800" b="1" dirty="0">
                  <a:solidFill>
                    <a:srgbClr val="A50021"/>
                  </a:solidFill>
                  <a:latin typeface="+mn-ea"/>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0EA6C2A7-B40F-49E7-B5AF-E4B393A3B406}"/>
                  </a:ext>
                </a:extLst>
              </p:cNvPr>
              <p:cNvSpPr txBox="1">
                <a:spLocks noRot="1" noChangeAspect="1" noMove="1" noResize="1" noEditPoints="1" noAdjustHandles="1" noChangeArrowheads="1" noChangeShapeType="1" noTextEdit="1"/>
              </p:cNvSpPr>
              <p:nvPr/>
            </p:nvSpPr>
            <p:spPr>
              <a:xfrm>
                <a:off x="2321011" y="3895785"/>
                <a:ext cx="6707630" cy="1082989"/>
              </a:xfrm>
              <a:prstGeom prst="rect">
                <a:avLst/>
              </a:prstGeom>
              <a:blipFill>
                <a:blip r:embed="rId5"/>
                <a:stretch>
                  <a:fillRect/>
                </a:stretch>
              </a:blipFill>
            </p:spPr>
            <p:txBody>
              <a:bodyPr/>
              <a:lstStyle/>
              <a:p>
                <a:r>
                  <a:rPr lang="en-US">
                    <a:noFill/>
                  </a:rPr>
                  <a:t> </a:t>
                </a:r>
              </a:p>
            </p:txBody>
          </p:sp>
        </mc:Fallback>
      </mc:AlternateContent>
      <p:sp>
        <p:nvSpPr>
          <p:cNvPr id="8" name="文本框 7">
            <a:extLst>
              <a:ext uri="{FF2B5EF4-FFF2-40B4-BE49-F238E27FC236}">
                <a16:creationId xmlns:a16="http://schemas.microsoft.com/office/drawing/2014/main" id="{07E129BE-735C-4EAC-B490-2374F9532410}"/>
              </a:ext>
            </a:extLst>
          </p:cNvPr>
          <p:cNvSpPr txBox="1"/>
          <p:nvPr/>
        </p:nvSpPr>
        <p:spPr>
          <a:xfrm>
            <a:off x="480718" y="5089086"/>
            <a:ext cx="6096000" cy="1292662"/>
          </a:xfrm>
          <a:prstGeom prst="rect">
            <a:avLst/>
          </a:prstGeom>
          <a:noFill/>
        </p:spPr>
        <p:txBody>
          <a:bodyPr wrap="square">
            <a:spAutoFit/>
          </a:bodyPr>
          <a:lstStyle/>
          <a:p>
            <a:r>
              <a:rPr lang="en-US" altLang="zh-CN" sz="2600" dirty="0"/>
              <a:t>- </a:t>
            </a:r>
            <a:r>
              <a:rPr lang="zh-CN" altLang="en-US" sz="2600" dirty="0"/>
              <a:t>磁介质中任一点的磁场强度 、磁感应强度   和磁化强度之间的普遍关系，不论磁介质是否均匀</a:t>
            </a:r>
            <a:endParaRPr lang="en-US" sz="2600"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FD47C4E-A042-4D6F-817B-7F875E3F409A}"/>
                  </a:ext>
                </a:extLst>
              </p:cNvPr>
              <p:cNvSpPr txBox="1"/>
              <p:nvPr/>
            </p:nvSpPr>
            <p:spPr>
              <a:xfrm>
                <a:off x="6187608" y="4907824"/>
                <a:ext cx="4967524" cy="1860959"/>
              </a:xfrm>
              <a:prstGeom prst="rect">
                <a:avLst/>
              </a:prstGeom>
              <a:noFill/>
            </p:spPr>
            <p:txBody>
              <a:bodyPr wrap="square">
                <a:spAutoFit/>
              </a:bodyPr>
              <a:lstStyle/>
              <a:p>
                <a:pPr lvl="0">
                  <a:spcBef>
                    <a:spcPct val="50000"/>
                  </a:spcBef>
                </a:pPr>
                <a14:m>
                  <m:oMathPara xmlns:m="http://schemas.openxmlformats.org/officeDocument/2006/math">
                    <m:oMathParaPr>
                      <m:jc m:val="centerGroup"/>
                    </m:oMathParaPr>
                    <m:oMath xmlns:m="http://schemas.openxmlformats.org/officeDocument/2006/math">
                      <m:nary>
                        <m:naryPr>
                          <m:chr m:val="∮"/>
                          <m:ctrlPr>
                            <a:rPr lang="zh-CN" altLang="en-US" sz="2800" b="1" i="1" smtClean="0">
                              <a:solidFill>
                                <a:srgbClr val="0066FF"/>
                              </a:solidFill>
                              <a:latin typeface="Cambria Math" panose="02040503050406030204" pitchFamily="18" charset="0"/>
                            </a:rPr>
                          </m:ctrlPr>
                        </m:naryPr>
                        <m:sub>
                          <m:r>
                            <m:rPr>
                              <m:brk m:alnAt="23"/>
                            </m:rPr>
                            <a:rPr lang="en-US" altLang="zh-CN" sz="2800" b="1" i="1">
                              <a:solidFill>
                                <a:srgbClr val="0066FF"/>
                              </a:solidFill>
                              <a:latin typeface="Cambria Math" panose="02040503050406030204" pitchFamily="18" charset="0"/>
                            </a:rPr>
                            <m:t>𝒍</m:t>
                          </m:r>
                        </m:sub>
                        <m:sup/>
                        <m:e>
                          <m:acc>
                            <m:accPr>
                              <m:chr m:val="⃗"/>
                              <m:ctrlPr>
                                <a:rPr kumimoji="1" lang="en-US" altLang="zh-CN" sz="2800" b="1" i="1">
                                  <a:solidFill>
                                    <a:srgbClr val="0066FF"/>
                                  </a:solidFill>
                                  <a:latin typeface="Cambria Math" panose="02040503050406030204" pitchFamily="18" charset="0"/>
                                  <a:cs typeface="Times New Roman" panose="02020603050405020304" pitchFamily="18" charset="0"/>
                                </a:rPr>
                              </m:ctrlPr>
                            </m:accPr>
                            <m:e>
                              <m:r>
                                <a:rPr kumimoji="1" lang="en-US" altLang="zh-CN" sz="2800" b="1" i="1">
                                  <a:solidFill>
                                    <a:srgbClr val="0066FF"/>
                                  </a:solidFill>
                                  <a:latin typeface="Cambria Math" panose="02040503050406030204" pitchFamily="18" charset="0"/>
                                  <a:cs typeface="Times New Roman" panose="02020603050405020304" pitchFamily="18" charset="0"/>
                                </a:rPr>
                                <m:t>𝑯</m:t>
                              </m:r>
                            </m:e>
                          </m:acc>
                          <m:r>
                            <m:rPr>
                              <m:brk m:alnAt="23"/>
                            </m:rPr>
                            <a:rPr lang="zh-CN" altLang="en-US" sz="2800" b="1" i="1">
                              <a:solidFill>
                                <a:srgbClr val="0066FF"/>
                              </a:solidFill>
                              <a:latin typeface="Cambria Math" panose="02040503050406030204" pitchFamily="18" charset="0"/>
                            </a:rPr>
                            <m:t>∙</m:t>
                          </m:r>
                          <m:r>
                            <a:rPr lang="en-US" altLang="zh-CN" sz="2800" b="1" i="1">
                              <a:solidFill>
                                <a:srgbClr val="0066FF"/>
                              </a:solidFill>
                              <a:latin typeface="Cambria Math" panose="02040503050406030204" pitchFamily="18" charset="0"/>
                            </a:rPr>
                            <m:t>𝒅</m:t>
                          </m:r>
                          <m:acc>
                            <m:accPr>
                              <m:chr m:val="⃗"/>
                              <m:ctrlPr>
                                <a:rPr lang="en-US" altLang="zh-CN" sz="2800" b="1" i="1">
                                  <a:solidFill>
                                    <a:srgbClr val="0066FF"/>
                                  </a:solidFill>
                                  <a:latin typeface="Cambria Math" panose="02040503050406030204" pitchFamily="18" charset="0"/>
                                </a:rPr>
                              </m:ctrlPr>
                            </m:accPr>
                            <m:e>
                              <m:r>
                                <a:rPr lang="en-US" altLang="zh-CN" sz="2800" b="1" i="1">
                                  <a:solidFill>
                                    <a:srgbClr val="0066FF"/>
                                  </a:solidFill>
                                  <a:latin typeface="Cambria Math" panose="02040503050406030204" pitchFamily="18" charset="0"/>
                                </a:rPr>
                                <m:t>𝒍</m:t>
                              </m:r>
                            </m:e>
                          </m:acc>
                        </m:e>
                      </m:nary>
                      <m:r>
                        <a:rPr lang="en-US" altLang="zh-CN" sz="2800" b="1" i="1">
                          <a:solidFill>
                            <a:srgbClr val="0066FF"/>
                          </a:solidFill>
                          <a:latin typeface="Cambria Math" panose="02040503050406030204" pitchFamily="18" charset="0"/>
                        </a:rPr>
                        <m:t>=</m:t>
                      </m:r>
                      <m:nary>
                        <m:naryPr>
                          <m:chr m:val="∑"/>
                          <m:subHide m:val="on"/>
                          <m:supHide m:val="on"/>
                          <m:ctrlPr>
                            <a:rPr lang="en-US" altLang="zh-CN" sz="2800" b="1" i="1">
                              <a:solidFill>
                                <a:srgbClr val="0066FF"/>
                              </a:solidFill>
                              <a:latin typeface="Cambria Math" panose="02040503050406030204" pitchFamily="18" charset="0"/>
                            </a:rPr>
                          </m:ctrlPr>
                        </m:naryPr>
                        <m:sub/>
                        <m:sup/>
                        <m:e>
                          <m:r>
                            <a:rPr lang="en-US" altLang="zh-CN" sz="2800" b="1" i="1">
                              <a:solidFill>
                                <a:srgbClr val="0066FF"/>
                              </a:solidFill>
                              <a:latin typeface="Cambria Math" panose="02040503050406030204" pitchFamily="18" charset="0"/>
                            </a:rPr>
                            <m:t>𝑰</m:t>
                          </m:r>
                        </m:e>
                      </m:nary>
                    </m:oMath>
                  </m:oMathPara>
                </a14:m>
                <a:endParaRPr lang="en-US" altLang="zh-CN" sz="2800" b="1" dirty="0">
                  <a:solidFill>
                    <a:srgbClr val="0066FF"/>
                  </a:solidFill>
                  <a:latin typeface="+mn-ea"/>
                </a:endParaRPr>
              </a:p>
              <a:p>
                <a:pPr lvl="0" algn="r">
                  <a:spcBef>
                    <a:spcPct val="50000"/>
                  </a:spcBef>
                </a:pPr>
                <a:r>
                  <a:rPr kumimoji="1" lang="en-US" altLang="zh-CN" sz="2800" b="1" dirty="0">
                    <a:solidFill>
                      <a:srgbClr val="0066FF"/>
                    </a:solidFill>
                    <a:latin typeface="+mn-ea"/>
                    <a:cs typeface="Times New Roman" panose="02020603050405020304" pitchFamily="18" charset="0"/>
                  </a:rPr>
                  <a:t>-  H</a:t>
                </a:r>
                <a:r>
                  <a:rPr kumimoji="1" lang="zh-CN" altLang="en-US" sz="2800" b="1" dirty="0">
                    <a:solidFill>
                      <a:srgbClr val="0066FF"/>
                    </a:solidFill>
                    <a:latin typeface="+mn-ea"/>
                    <a:cs typeface="Times New Roman" panose="02020603050405020304" pitchFamily="18" charset="0"/>
                  </a:rPr>
                  <a:t>的安培环路定理</a:t>
                </a:r>
              </a:p>
            </p:txBody>
          </p:sp>
        </mc:Choice>
        <mc:Fallback xmlns="">
          <p:sp>
            <p:nvSpPr>
              <p:cNvPr id="10" name="文本框 9">
                <a:extLst>
                  <a:ext uri="{FF2B5EF4-FFF2-40B4-BE49-F238E27FC236}">
                    <a16:creationId xmlns:a16="http://schemas.microsoft.com/office/drawing/2014/main" id="{2FD47C4E-A042-4D6F-817B-7F875E3F409A}"/>
                  </a:ext>
                </a:extLst>
              </p:cNvPr>
              <p:cNvSpPr txBox="1">
                <a:spLocks noRot="1" noChangeAspect="1" noMove="1" noResize="1" noEditPoints="1" noAdjustHandles="1" noChangeArrowheads="1" noChangeShapeType="1" noTextEdit="1"/>
              </p:cNvSpPr>
              <p:nvPr/>
            </p:nvSpPr>
            <p:spPr>
              <a:xfrm>
                <a:off x="6187608" y="4907824"/>
                <a:ext cx="4967524" cy="1860959"/>
              </a:xfrm>
              <a:prstGeom prst="rect">
                <a:avLst/>
              </a:prstGeom>
              <a:blipFill>
                <a:blip r:embed="rId6"/>
                <a:stretch>
                  <a:fillRect r="-2577" b="-8197"/>
                </a:stretch>
              </a:blipFill>
            </p:spPr>
            <p:txBody>
              <a:bodyPr/>
              <a:lstStyle/>
              <a:p>
                <a:r>
                  <a:rPr lang="en-US">
                    <a:noFill/>
                  </a:rPr>
                  <a:t> </a:t>
                </a:r>
              </a:p>
            </p:txBody>
          </p:sp>
        </mc:Fallback>
      </mc:AlternateContent>
      <p:sp>
        <p:nvSpPr>
          <p:cNvPr id="11" name="标题 7">
            <a:extLst>
              <a:ext uri="{FF2B5EF4-FFF2-40B4-BE49-F238E27FC236}">
                <a16:creationId xmlns:a16="http://schemas.microsoft.com/office/drawing/2014/main" id="{BF1323B7-63A5-4E3A-8827-0733A1A4A4DD}"/>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有磁介质时的环路定理</a:t>
            </a:r>
            <a:endParaRPr lang="zh-CN" altLang="en-US" sz="3200" b="1" dirty="0">
              <a:solidFill>
                <a:srgbClr val="0066FF"/>
              </a:solidFill>
            </a:endParaRPr>
          </a:p>
        </p:txBody>
      </p:sp>
    </p:spTree>
    <p:extLst>
      <p:ext uri="{BB962C8B-B14F-4D97-AF65-F5344CB8AC3E}">
        <p14:creationId xmlns:p14="http://schemas.microsoft.com/office/powerpoint/2010/main" val="138330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0" name="Text Box 10"/>
          <p:cNvSpPr txBox="1"/>
          <p:nvPr/>
        </p:nvSpPr>
        <p:spPr>
          <a:xfrm>
            <a:off x="1760538" y="2712245"/>
            <a:ext cx="8550275" cy="519113"/>
          </a:xfrm>
          <a:prstGeom prst="rect">
            <a:avLst/>
          </a:prstGeom>
          <a:noFill/>
          <a:ln w="9525">
            <a:noFill/>
          </a:ln>
        </p:spPr>
        <p:txBody>
          <a:bodyPr>
            <a:spAutoFit/>
          </a:bodyPr>
          <a:lstStyle/>
          <a:p>
            <a:pPr>
              <a:spcBef>
                <a:spcPct val="50000"/>
              </a:spcBef>
            </a:pPr>
            <a:r>
              <a:rPr lang="en-US" altLang="zh-CN" sz="2800" dirty="0"/>
              <a:t>-  </a:t>
            </a:r>
            <a:r>
              <a:rPr lang="en-US" altLang="zh-CN" sz="2800" dirty="0">
                <a:sym typeface="Symbol" panose="05050102010706020507" pitchFamily="18" charset="2"/>
              </a:rPr>
              <a:t></a:t>
            </a:r>
            <a:r>
              <a:rPr lang="en-US" altLang="zh-CN" sz="2800" i="1" dirty="0">
                <a:sym typeface="Symbol" panose="05050102010706020507" pitchFamily="18" charset="2"/>
              </a:rPr>
              <a:t>I </a:t>
            </a:r>
            <a:r>
              <a:rPr lang="zh-CN" altLang="en-US" sz="2800" dirty="0">
                <a:sym typeface="Symbol" panose="05050102010706020507" pitchFamily="18" charset="2"/>
              </a:rPr>
              <a:t>是环路包围的传导电流之和</a:t>
            </a:r>
            <a:r>
              <a:rPr lang="en-US" altLang="zh-CN" sz="2800" dirty="0">
                <a:sym typeface="Symbol" panose="05050102010706020507" pitchFamily="18" charset="2"/>
              </a:rPr>
              <a:t>, </a:t>
            </a:r>
            <a:r>
              <a:rPr lang="zh-CN" altLang="en-US" sz="2800" dirty="0">
                <a:sym typeface="Symbol" panose="05050102010706020507" pitchFamily="18" charset="2"/>
              </a:rPr>
              <a:t>不包括分子电流</a:t>
            </a:r>
            <a:endParaRPr lang="en-US" altLang="zh-CN" sz="2800" dirty="0"/>
          </a:p>
        </p:txBody>
      </p:sp>
      <p:sp>
        <p:nvSpPr>
          <p:cNvPr id="307211" name="Text Box 11"/>
          <p:cNvSpPr txBox="1"/>
          <p:nvPr/>
        </p:nvSpPr>
        <p:spPr>
          <a:xfrm>
            <a:off x="1770064" y="3362326"/>
            <a:ext cx="7405687" cy="519113"/>
          </a:xfrm>
          <a:prstGeom prst="rect">
            <a:avLst/>
          </a:prstGeom>
          <a:noFill/>
          <a:ln w="9525">
            <a:noFill/>
          </a:ln>
        </p:spPr>
        <p:txBody>
          <a:bodyPr>
            <a:spAutoFit/>
          </a:bodyPr>
          <a:lstStyle/>
          <a:p>
            <a:pPr>
              <a:spcBef>
                <a:spcPct val="50000"/>
              </a:spcBef>
            </a:pPr>
            <a:r>
              <a:rPr lang="en-US" altLang="zh-CN" sz="2800" dirty="0"/>
              <a:t>-  </a:t>
            </a:r>
            <a:r>
              <a:rPr lang="en-US" altLang="zh-CN" sz="2800" i="1" dirty="0"/>
              <a:t>I </a:t>
            </a:r>
            <a:r>
              <a:rPr lang="zh-CN" altLang="en-US" sz="2800" dirty="0"/>
              <a:t>的正负规定与真空中该定理的规定相同</a:t>
            </a:r>
            <a:endParaRPr lang="en-US" altLang="zh-CN" sz="2800" dirty="0"/>
          </a:p>
        </p:txBody>
      </p:sp>
      <p:grpSp>
        <p:nvGrpSpPr>
          <p:cNvPr id="2" name="Group 12"/>
          <p:cNvGrpSpPr/>
          <p:nvPr/>
        </p:nvGrpSpPr>
        <p:grpSpPr>
          <a:xfrm>
            <a:off x="1787526" y="4009496"/>
            <a:ext cx="8710612" cy="1600198"/>
            <a:chOff x="153" y="2540"/>
            <a:chExt cx="5487" cy="1008"/>
          </a:xfrm>
        </p:grpSpPr>
        <p:sp>
          <p:nvSpPr>
            <p:cNvPr id="29715" name="Text Box 13"/>
            <p:cNvSpPr txBox="1"/>
            <p:nvPr/>
          </p:nvSpPr>
          <p:spPr>
            <a:xfrm>
              <a:off x="153" y="2540"/>
              <a:ext cx="5487" cy="1008"/>
            </a:xfrm>
            <a:prstGeom prst="rect">
              <a:avLst/>
            </a:prstGeom>
            <a:noFill/>
            <a:ln w="9525">
              <a:noFill/>
            </a:ln>
          </p:spPr>
          <p:txBody>
            <a:bodyPr>
              <a:spAutoFit/>
            </a:bodyPr>
            <a:lstStyle/>
            <a:p>
              <a:pPr>
                <a:spcBef>
                  <a:spcPct val="50000"/>
                </a:spcBef>
              </a:pPr>
              <a:r>
                <a:rPr lang="en-US" altLang="zh-CN" sz="2800" dirty="0"/>
                <a:t>-  </a:t>
              </a:r>
              <a:r>
                <a:rPr lang="zh-CN" altLang="en-US" sz="2800" dirty="0"/>
                <a:t>由环路定理</a:t>
              </a:r>
              <a:r>
                <a:rPr lang="en-US" altLang="zh-CN" sz="2800" dirty="0"/>
                <a:t>, </a:t>
              </a:r>
              <a:r>
                <a:rPr lang="en-US" altLang="zh-CN" sz="2800" i="1" dirty="0"/>
                <a:t>H </a:t>
              </a:r>
              <a:r>
                <a:rPr lang="zh-CN" altLang="en-US" sz="2800" dirty="0"/>
                <a:t>的环流仅由</a:t>
              </a:r>
              <a:r>
                <a:rPr lang="zh-CN" altLang="en-US" sz="2800" dirty="0">
                  <a:sym typeface="Symbol" panose="05050102010706020507" pitchFamily="18" charset="2"/>
                </a:rPr>
                <a:t></a:t>
              </a:r>
              <a:r>
                <a:rPr lang="en-US" altLang="zh-CN" sz="2800" i="1" dirty="0">
                  <a:sym typeface="Symbol" panose="05050102010706020507" pitchFamily="18" charset="2"/>
                </a:rPr>
                <a:t>I</a:t>
              </a:r>
              <a:r>
                <a:rPr lang="zh-CN" altLang="en-US" sz="2800" dirty="0">
                  <a:sym typeface="Symbol" panose="05050102010706020507" pitchFamily="18" charset="2"/>
                </a:rPr>
                <a:t>决定，但环路上任一点</a:t>
              </a:r>
              <a:r>
                <a:rPr lang="zh-CN" altLang="en-US" sz="2800" dirty="0"/>
                <a:t>的</a:t>
              </a:r>
              <a:r>
                <a:rPr lang="en-US" altLang="zh-CN" sz="2800" i="1" dirty="0"/>
                <a:t>H </a:t>
              </a:r>
              <a:r>
                <a:rPr lang="zh-CN" altLang="en-US" sz="2800" dirty="0"/>
                <a:t>值仍由空间所有电流决定</a:t>
              </a:r>
              <a:endParaRPr lang="en-US" altLang="zh-CN" sz="2800" dirty="0"/>
            </a:p>
            <a:p>
              <a:pPr>
                <a:spcBef>
                  <a:spcPct val="50000"/>
                </a:spcBef>
              </a:pPr>
              <a:endParaRPr lang="zh-CN" altLang="en-US" sz="2800" dirty="0"/>
            </a:p>
          </p:txBody>
        </p:sp>
        <p:sp>
          <p:nvSpPr>
            <p:cNvPr id="29716" name="Line 14"/>
            <p:cNvSpPr/>
            <p:nvPr/>
          </p:nvSpPr>
          <p:spPr>
            <a:xfrm>
              <a:off x="1657" y="2595"/>
              <a:ext cx="151" cy="0"/>
            </a:xfrm>
            <a:prstGeom prst="line">
              <a:avLst/>
            </a:prstGeom>
            <a:ln w="9525" cap="flat" cmpd="sng">
              <a:solidFill>
                <a:schemeClr val="tx1"/>
              </a:solidFill>
              <a:prstDash val="solid"/>
              <a:headEnd type="none" w="med" len="med"/>
              <a:tailEnd type="triangle" w="med" len="med"/>
            </a:ln>
          </p:spPr>
        </p:sp>
      </p:grpSp>
      <p:grpSp>
        <p:nvGrpSpPr>
          <p:cNvPr id="3" name="Group 15"/>
          <p:cNvGrpSpPr/>
          <p:nvPr/>
        </p:nvGrpSpPr>
        <p:grpSpPr>
          <a:xfrm>
            <a:off x="1868488" y="4437063"/>
            <a:ext cx="7764463" cy="519112"/>
            <a:chOff x="250" y="2886"/>
            <a:chExt cx="4891" cy="327"/>
          </a:xfrm>
        </p:grpSpPr>
        <p:sp>
          <p:nvSpPr>
            <p:cNvPr id="29713" name="Text Box 16"/>
            <p:cNvSpPr txBox="1"/>
            <p:nvPr/>
          </p:nvSpPr>
          <p:spPr>
            <a:xfrm>
              <a:off x="250" y="2886"/>
              <a:ext cx="4891" cy="327"/>
            </a:xfrm>
            <a:prstGeom prst="rect">
              <a:avLst/>
            </a:prstGeom>
            <a:noFill/>
            <a:ln w="9525">
              <a:noFill/>
            </a:ln>
          </p:spPr>
          <p:txBody>
            <a:bodyPr>
              <a:spAutoFit/>
            </a:bodyPr>
            <a:lstStyle/>
            <a:p>
              <a:pPr>
                <a:spcBef>
                  <a:spcPct val="50000"/>
                </a:spcBef>
              </a:pPr>
              <a:endParaRPr lang="en-US" altLang="zh-CN" sz="2800" dirty="0"/>
            </a:p>
          </p:txBody>
        </p:sp>
        <p:sp>
          <p:nvSpPr>
            <p:cNvPr id="29714" name="Line 17"/>
            <p:cNvSpPr/>
            <p:nvPr/>
          </p:nvSpPr>
          <p:spPr>
            <a:xfrm>
              <a:off x="512" y="2931"/>
              <a:ext cx="142" cy="0"/>
            </a:xfrm>
            <a:prstGeom prst="line">
              <a:avLst/>
            </a:prstGeom>
            <a:ln w="9525" cap="flat" cmpd="sng">
              <a:solidFill>
                <a:schemeClr val="tx1"/>
              </a:solidFill>
              <a:prstDash val="solid"/>
              <a:headEnd type="none" w="med" len="med"/>
              <a:tailEnd type="triangle" w="med" len="med"/>
            </a:ln>
          </p:spPr>
        </p:sp>
      </p:grpSp>
      <p:grpSp>
        <p:nvGrpSpPr>
          <p:cNvPr id="4" name="Group 18"/>
          <p:cNvGrpSpPr/>
          <p:nvPr/>
        </p:nvGrpSpPr>
        <p:grpSpPr>
          <a:xfrm>
            <a:off x="1787526" y="5084764"/>
            <a:ext cx="8808507" cy="1384300"/>
            <a:chOff x="170" y="3352"/>
            <a:chExt cx="5411" cy="872"/>
          </a:xfrm>
        </p:grpSpPr>
        <p:sp>
          <p:nvSpPr>
            <p:cNvPr id="29709" name="Text Box 19"/>
            <p:cNvSpPr txBox="1"/>
            <p:nvPr/>
          </p:nvSpPr>
          <p:spPr>
            <a:xfrm>
              <a:off x="170" y="3352"/>
              <a:ext cx="5411" cy="872"/>
            </a:xfrm>
            <a:prstGeom prst="rect">
              <a:avLst/>
            </a:prstGeom>
            <a:noFill/>
            <a:ln w="9525">
              <a:noFill/>
            </a:ln>
          </p:spPr>
          <p:txBody>
            <a:bodyPr>
              <a:spAutoFit/>
            </a:bodyPr>
            <a:lstStyle/>
            <a:p>
              <a:pPr>
                <a:spcBef>
                  <a:spcPct val="50000"/>
                </a:spcBef>
              </a:pPr>
              <a:r>
                <a:rPr lang="en-US" altLang="zh-CN" sz="2800" dirty="0"/>
                <a:t>-  </a:t>
              </a:r>
              <a:r>
                <a:rPr lang="zh-CN" altLang="en-US" sz="2800" dirty="0"/>
                <a:t>当磁场中充满均匀的各向同性磁介质时，磁场强度与磁介质无关。</a:t>
              </a:r>
              <a:r>
                <a:rPr lang="en-US" altLang="zh-CN" sz="2800" dirty="0"/>
                <a:t> </a:t>
              </a:r>
              <a:r>
                <a:rPr lang="zh-CN" altLang="en-US" sz="2800" dirty="0"/>
                <a:t>此时，可由</a:t>
              </a:r>
              <a:r>
                <a:rPr lang="en-US" altLang="zh-CN" sz="2800" i="1" dirty="0"/>
                <a:t>H</a:t>
              </a:r>
              <a:r>
                <a:rPr lang="zh-CN" altLang="en-US" sz="2800" dirty="0"/>
                <a:t>的环路定理先求</a:t>
              </a:r>
              <a:r>
                <a:rPr lang="en-US" altLang="zh-CN" sz="2800" i="1" dirty="0"/>
                <a:t>H</a:t>
              </a:r>
              <a:r>
                <a:rPr lang="en-US" altLang="zh-CN" sz="2800" dirty="0"/>
                <a:t>, </a:t>
              </a:r>
              <a:r>
                <a:rPr lang="zh-CN" altLang="en-US" sz="2800" dirty="0"/>
                <a:t>后求</a:t>
              </a:r>
              <a:r>
                <a:rPr lang="en-US" altLang="zh-CN" sz="2800" i="1" dirty="0"/>
                <a:t>B</a:t>
              </a:r>
              <a:endParaRPr lang="en-US" altLang="zh-CN" sz="2800" dirty="0"/>
            </a:p>
          </p:txBody>
        </p:sp>
        <p:sp>
          <p:nvSpPr>
            <p:cNvPr id="29710" name="Line 20"/>
            <p:cNvSpPr/>
            <p:nvPr/>
          </p:nvSpPr>
          <p:spPr>
            <a:xfrm>
              <a:off x="2713" y="3665"/>
              <a:ext cx="151" cy="0"/>
            </a:xfrm>
            <a:prstGeom prst="line">
              <a:avLst/>
            </a:prstGeom>
            <a:ln w="9525" cap="flat" cmpd="sng">
              <a:solidFill>
                <a:schemeClr val="tx1"/>
              </a:solidFill>
              <a:prstDash val="solid"/>
              <a:headEnd type="none" w="med" len="med"/>
              <a:tailEnd type="triangle" w="med" len="med"/>
            </a:ln>
          </p:spPr>
        </p:sp>
        <p:sp>
          <p:nvSpPr>
            <p:cNvPr id="29711" name="Line 21"/>
            <p:cNvSpPr/>
            <p:nvPr/>
          </p:nvSpPr>
          <p:spPr>
            <a:xfrm>
              <a:off x="4416" y="3661"/>
              <a:ext cx="123" cy="0"/>
            </a:xfrm>
            <a:prstGeom prst="line">
              <a:avLst/>
            </a:prstGeom>
            <a:ln w="9525" cap="flat" cmpd="sng">
              <a:solidFill>
                <a:schemeClr val="tx1"/>
              </a:solidFill>
              <a:prstDash val="solid"/>
              <a:headEnd type="none" w="med" len="med"/>
              <a:tailEnd type="triangle" w="med" len="med"/>
            </a:ln>
          </p:spPr>
        </p:sp>
        <p:sp>
          <p:nvSpPr>
            <p:cNvPr id="29712" name="Line 22"/>
            <p:cNvSpPr/>
            <p:nvPr/>
          </p:nvSpPr>
          <p:spPr>
            <a:xfrm>
              <a:off x="5112" y="3650"/>
              <a:ext cx="114" cy="0"/>
            </a:xfrm>
            <a:prstGeom prst="line">
              <a:avLst/>
            </a:prstGeom>
            <a:ln w="9525" cap="flat" cmpd="sng">
              <a:solidFill>
                <a:schemeClr val="tx1"/>
              </a:solidFill>
              <a:prstDash val="solid"/>
              <a:headEnd type="none" w="med" len="med"/>
              <a:tailEnd type="triangle" w="med" len="med"/>
            </a:ln>
          </p:spPr>
        </p: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413873E-DD92-4125-8761-4475F0753E3E}"/>
                  </a:ext>
                </a:extLst>
              </p:cNvPr>
              <p:cNvSpPr txBox="1"/>
              <p:nvPr/>
            </p:nvSpPr>
            <p:spPr>
              <a:xfrm>
                <a:off x="2397125" y="870707"/>
                <a:ext cx="6707630" cy="1645515"/>
              </a:xfrm>
              <a:prstGeom prst="rect">
                <a:avLst/>
              </a:prstGeom>
              <a:noFill/>
            </p:spPr>
            <p:txBody>
              <a:bodyPr wrap="square">
                <a:spAutoFit/>
              </a:bodyPr>
              <a:lstStyle/>
              <a:p>
                <a:pPr lvl="0">
                  <a:spcBef>
                    <a:spcPct val="50000"/>
                  </a:spcBef>
                </a:pPr>
                <a:endParaRPr kumimoji="1" lang="en-US" altLang="zh-CN" sz="2800" b="1" dirty="0">
                  <a:solidFill>
                    <a:srgbClr val="FF0000"/>
                  </a:solidFill>
                  <a:latin typeface="+mn-ea"/>
                  <a:cs typeface="Times New Roman" panose="02020603050405020304" pitchFamily="18" charset="0"/>
                </a:endParaRPr>
              </a:p>
              <a:p>
                <a:pPr lvl="0">
                  <a:spcBef>
                    <a:spcPct val="50000"/>
                  </a:spcBef>
                </a:pPr>
                <a14:m>
                  <m:oMathPara xmlns:m="http://schemas.openxmlformats.org/officeDocument/2006/math">
                    <m:oMathParaPr>
                      <m:jc m:val="centerGroup"/>
                    </m:oMathParaPr>
                    <m:oMath xmlns:m="http://schemas.openxmlformats.org/officeDocument/2006/math">
                      <m:nary>
                        <m:naryPr>
                          <m:chr m:val="∮"/>
                          <m:ctrlPr>
                            <a:rPr lang="zh-CN" altLang="en-US" sz="2800" b="1" i="1" smtClean="0">
                              <a:solidFill>
                                <a:srgbClr val="FF0000"/>
                              </a:solidFill>
                              <a:latin typeface="Cambria Math" panose="02040503050406030204" pitchFamily="18" charset="0"/>
                            </a:rPr>
                          </m:ctrlPr>
                        </m:naryPr>
                        <m:sub>
                          <m:r>
                            <m:rPr>
                              <m:brk m:alnAt="23"/>
                            </m:rPr>
                            <a:rPr lang="en-US" altLang="zh-CN" sz="2800" b="1" i="1">
                              <a:solidFill>
                                <a:srgbClr val="FF0000"/>
                              </a:solidFill>
                              <a:latin typeface="Cambria Math" panose="02040503050406030204" pitchFamily="18" charset="0"/>
                            </a:rPr>
                            <m:t>𝒍</m:t>
                          </m:r>
                        </m:sub>
                        <m:sup/>
                        <m:e>
                          <m:acc>
                            <m:accPr>
                              <m:chr m:val="⃗"/>
                              <m:ctrlPr>
                                <a:rPr kumimoji="1" lang="en-US" altLang="zh-CN" sz="2800" b="1" i="1">
                                  <a:solidFill>
                                    <a:srgbClr val="FF0000"/>
                                  </a:solidFill>
                                  <a:latin typeface="Cambria Math" panose="02040503050406030204" pitchFamily="18" charset="0"/>
                                  <a:cs typeface="Times New Roman" panose="02020603050405020304" pitchFamily="18" charset="0"/>
                                </a:rPr>
                              </m:ctrlPr>
                            </m:accPr>
                            <m:e>
                              <m:r>
                                <a:rPr kumimoji="1" lang="en-US" altLang="zh-CN" sz="2800" b="1" i="1">
                                  <a:solidFill>
                                    <a:srgbClr val="FF0000"/>
                                  </a:solidFill>
                                  <a:latin typeface="Cambria Math" panose="02040503050406030204" pitchFamily="18" charset="0"/>
                                  <a:cs typeface="Times New Roman" panose="02020603050405020304" pitchFamily="18" charset="0"/>
                                </a:rPr>
                                <m:t>𝑯</m:t>
                              </m:r>
                            </m:e>
                          </m:acc>
                          <m:r>
                            <m:rPr>
                              <m:brk m:alnAt="23"/>
                            </m:rPr>
                            <a:rPr lang="zh-CN" altLang="en-US" sz="2800" b="1" i="1">
                              <a:solidFill>
                                <a:srgbClr val="FF0000"/>
                              </a:solidFill>
                              <a:latin typeface="Cambria Math" panose="02040503050406030204" pitchFamily="18" charset="0"/>
                            </a:rPr>
                            <m:t>∙</m:t>
                          </m:r>
                          <m:r>
                            <a:rPr lang="en-US" altLang="zh-CN" sz="2800" b="1" i="1">
                              <a:solidFill>
                                <a:srgbClr val="FF0000"/>
                              </a:solidFill>
                              <a:latin typeface="Cambria Math" panose="02040503050406030204" pitchFamily="18" charset="0"/>
                            </a:rPr>
                            <m:t>𝒅</m:t>
                          </m:r>
                          <m:acc>
                            <m:accPr>
                              <m:chr m:val="⃗"/>
                              <m:ctrlPr>
                                <a:rPr lang="en-US" altLang="zh-CN" sz="2800" b="1" i="1">
                                  <a:solidFill>
                                    <a:srgbClr val="FF0000"/>
                                  </a:solidFill>
                                  <a:latin typeface="Cambria Math" panose="02040503050406030204" pitchFamily="18" charset="0"/>
                                </a:rPr>
                              </m:ctrlPr>
                            </m:accPr>
                            <m:e>
                              <m:r>
                                <a:rPr lang="en-US" altLang="zh-CN" sz="2800" b="1" i="1">
                                  <a:solidFill>
                                    <a:srgbClr val="FF0000"/>
                                  </a:solidFill>
                                  <a:latin typeface="Cambria Math" panose="02040503050406030204" pitchFamily="18" charset="0"/>
                                </a:rPr>
                                <m:t>𝒍</m:t>
                              </m:r>
                            </m:e>
                          </m:acc>
                        </m:e>
                      </m:nary>
                      <m:r>
                        <a:rPr lang="en-US" altLang="zh-CN" sz="2800" b="1" i="1">
                          <a:solidFill>
                            <a:srgbClr val="FF0000"/>
                          </a:solidFill>
                          <a:latin typeface="Cambria Math" panose="02040503050406030204" pitchFamily="18" charset="0"/>
                        </a:rPr>
                        <m:t>=</m:t>
                      </m:r>
                      <m:nary>
                        <m:naryPr>
                          <m:chr m:val="∑"/>
                          <m:subHide m:val="on"/>
                          <m:supHide m:val="on"/>
                          <m:ctrlPr>
                            <a:rPr lang="en-US" altLang="zh-CN" sz="2800" b="1" i="1">
                              <a:solidFill>
                                <a:srgbClr val="FF0000"/>
                              </a:solidFill>
                              <a:latin typeface="Cambria Math" panose="02040503050406030204" pitchFamily="18" charset="0"/>
                            </a:rPr>
                          </m:ctrlPr>
                        </m:naryPr>
                        <m:sub/>
                        <m:sup/>
                        <m:e>
                          <m:r>
                            <a:rPr lang="en-US" altLang="zh-CN" sz="2800" b="1" i="1">
                              <a:solidFill>
                                <a:srgbClr val="FF0000"/>
                              </a:solidFill>
                              <a:latin typeface="Cambria Math" panose="02040503050406030204" pitchFamily="18" charset="0"/>
                            </a:rPr>
                            <m:t>𝑰</m:t>
                          </m:r>
                        </m:e>
                      </m:nary>
                    </m:oMath>
                  </m:oMathPara>
                </a14:m>
                <a:endParaRPr lang="en-US" altLang="zh-CN" sz="2800" b="1" dirty="0">
                  <a:solidFill>
                    <a:srgbClr val="FF0000"/>
                  </a:solidFill>
                  <a:latin typeface="+mn-ea"/>
                </a:endParaRPr>
              </a:p>
            </p:txBody>
          </p:sp>
        </mc:Choice>
        <mc:Fallback xmlns="">
          <p:sp>
            <p:nvSpPr>
              <p:cNvPr id="22" name="文本框 21">
                <a:extLst>
                  <a:ext uri="{FF2B5EF4-FFF2-40B4-BE49-F238E27FC236}">
                    <a16:creationId xmlns:a16="http://schemas.microsoft.com/office/drawing/2014/main" id="{7413873E-DD92-4125-8761-4475F0753E3E}"/>
                  </a:ext>
                </a:extLst>
              </p:cNvPr>
              <p:cNvSpPr txBox="1">
                <a:spLocks noRot="1" noChangeAspect="1" noMove="1" noResize="1" noEditPoints="1" noAdjustHandles="1" noChangeArrowheads="1" noChangeShapeType="1" noTextEdit="1"/>
              </p:cNvSpPr>
              <p:nvPr/>
            </p:nvSpPr>
            <p:spPr>
              <a:xfrm>
                <a:off x="2397125" y="870707"/>
                <a:ext cx="6707630" cy="1645515"/>
              </a:xfrm>
              <a:prstGeom prst="rect">
                <a:avLst/>
              </a:prstGeom>
              <a:blipFill>
                <a:blip r:embed="rId2"/>
                <a:stretch>
                  <a:fillRect/>
                </a:stretch>
              </a:blipFill>
            </p:spPr>
            <p:txBody>
              <a:bodyPr/>
              <a:lstStyle/>
              <a:p>
                <a:r>
                  <a:rPr lang="en-US">
                    <a:noFill/>
                  </a:rPr>
                  <a:t> </a:t>
                </a:r>
              </a:p>
            </p:txBody>
          </p:sp>
        </mc:Fallback>
      </mc:AlternateContent>
      <p:sp>
        <p:nvSpPr>
          <p:cNvPr id="25" name="标题 7">
            <a:extLst>
              <a:ext uri="{FF2B5EF4-FFF2-40B4-BE49-F238E27FC236}">
                <a16:creationId xmlns:a16="http://schemas.microsoft.com/office/drawing/2014/main" id="{94A5E5A5-7084-4224-8CBD-48DA637120DE}"/>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有磁介质时的环路定理</a:t>
            </a:r>
            <a:endParaRPr lang="zh-CN" altLang="en-US" sz="3200" b="1" dirty="0">
              <a:solidFill>
                <a:srgbClr val="0066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10" grpId="0"/>
      <p:bldP spid="3072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1396740" y="-1126610"/>
            <a:ext cx="79956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fontAlgn="base">
              <a:spcBef>
                <a:spcPct val="50000"/>
              </a:spcBef>
              <a:spcAft>
                <a:spcPct val="0"/>
              </a:spcAft>
              <a:buFont typeface="Wingdings" panose="05000000000000000000" pitchFamily="2" charset="2"/>
              <a:buChar char="p"/>
            </a:pPr>
            <a:endParaRPr kumimoji="1" lang="zh-CN" altLang="en-US" sz="3200" b="1" dirty="0">
              <a:solidFill>
                <a:srgbClr val="0066FF"/>
              </a:solidFill>
              <a:ea typeface="华文楷体" panose="02010600040101010101" pitchFamily="2" charset="-122"/>
            </a:endParaRPr>
          </a:p>
        </p:txBody>
      </p:sp>
      <mc:AlternateContent xmlns:mc="http://schemas.openxmlformats.org/markup-compatibility/2006" xmlns:a14="http://schemas.microsoft.com/office/drawing/2010/main">
        <mc:Choice Requires="a14">
          <p:sp>
            <p:nvSpPr>
              <p:cNvPr id="14341" name="Text Box 5"/>
              <p:cNvSpPr txBox="1">
                <a:spLocks noChangeArrowheads="1"/>
              </p:cNvSpPr>
              <p:nvPr/>
            </p:nvSpPr>
            <p:spPr bwMode="auto">
              <a:xfrm>
                <a:off x="5664479" y="1393109"/>
                <a:ext cx="775335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lgn="just" fontAlgn="base">
                  <a:spcBef>
                    <a:spcPct val="0"/>
                  </a:spcBef>
                  <a:spcAft>
                    <a:spcPct val="0"/>
                  </a:spcAft>
                </a:pPr>
                <a14:m>
                  <m:oMath xmlns:m="http://schemas.openxmlformats.org/officeDocument/2006/math">
                    <m:sSub>
                      <m:sSubPr>
                        <m:ctrlPr>
                          <a:rPr kumimoji="1" lang="en-US" altLang="zh-CN" sz="2800" i="1" smtClean="0">
                            <a:solidFill>
                              <a:schemeClr val="tx1"/>
                            </a:solidFill>
                            <a:latin typeface="Cambria Math" panose="02040503050406030204" pitchFamily="18" charset="0"/>
                            <a:ea typeface="华文新魏" panose="02010800040101010101" pitchFamily="2" charset="-122"/>
                          </a:rPr>
                        </m:ctrlPr>
                      </m:sSubPr>
                      <m:e>
                        <m:r>
                          <a:rPr kumimoji="1" lang="zh-CN" altLang="en-US" sz="2800" b="0" i="1">
                            <a:solidFill>
                              <a:schemeClr val="tx1"/>
                            </a:solidFill>
                            <a:latin typeface="Cambria Math" panose="02040503050406030204" pitchFamily="18" charset="0"/>
                            <a:ea typeface="华文新魏" panose="02010800040101010101" pitchFamily="2" charset="-122"/>
                          </a:rPr>
                          <m:t>𝜒</m:t>
                        </m:r>
                      </m:e>
                      <m:sub>
                        <m:r>
                          <a:rPr kumimoji="1" lang="en-US" altLang="zh-CN" sz="2800" b="0" i="1">
                            <a:solidFill>
                              <a:schemeClr val="tx1"/>
                            </a:solidFill>
                            <a:latin typeface="Cambria Math" panose="02040503050406030204" pitchFamily="18" charset="0"/>
                            <a:ea typeface="华文新魏" panose="02010800040101010101" pitchFamily="2" charset="-122"/>
                          </a:rPr>
                          <m:t>𝑚</m:t>
                        </m:r>
                      </m:sub>
                    </m:sSub>
                  </m:oMath>
                </a14:m>
                <a:r>
                  <a:rPr kumimoji="1" lang="en-US" altLang="zh-CN" sz="2800" i="1" dirty="0">
                    <a:solidFill>
                      <a:schemeClr val="tx1"/>
                    </a:solidFill>
                    <a:ea typeface="华文楷体" panose="02010600040101010101" pitchFamily="2" charset="-122"/>
                  </a:rPr>
                  <a:t> —</a:t>
                </a:r>
                <a:r>
                  <a:rPr kumimoji="1" lang="en-US" altLang="zh-CN" sz="2800" dirty="0">
                    <a:solidFill>
                      <a:schemeClr val="tx1"/>
                    </a:solidFill>
                    <a:ea typeface="华文楷体" panose="02010600040101010101" pitchFamily="2" charset="-122"/>
                  </a:rPr>
                  <a:t> </a:t>
                </a:r>
                <a:r>
                  <a:rPr kumimoji="1" lang="zh-CN" altLang="en-US" sz="2800" dirty="0">
                    <a:solidFill>
                      <a:schemeClr val="tx1"/>
                    </a:solidFill>
                    <a:ea typeface="华文楷体" panose="02010600040101010101" pitchFamily="2" charset="-122"/>
                  </a:rPr>
                  <a:t>磁化率</a:t>
                </a:r>
              </a:p>
            </p:txBody>
          </p:sp>
        </mc:Choice>
        <mc:Fallback xmlns="">
          <p:sp>
            <p:nvSpPr>
              <p:cNvPr id="14341" name="Text Box 5"/>
              <p:cNvSpPr txBox="1">
                <a:spLocks noRot="1" noChangeAspect="1" noMove="1" noResize="1" noEditPoints="1" noAdjustHandles="1" noChangeArrowheads="1" noChangeShapeType="1" noTextEdit="1"/>
              </p:cNvSpPr>
              <p:nvPr/>
            </p:nvSpPr>
            <p:spPr bwMode="auto">
              <a:xfrm>
                <a:off x="5664479" y="1393109"/>
                <a:ext cx="7753350" cy="523220"/>
              </a:xfrm>
              <a:prstGeom prst="rect">
                <a:avLst/>
              </a:prstGeom>
              <a:blipFill>
                <a:blip r:embed="rId2"/>
                <a:stretch>
                  <a:fillRect t="-15294" b="-329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343" name="Object 7"/>
              <p:cNvSpPr txBox="1"/>
              <p:nvPr/>
            </p:nvSpPr>
            <p:spPr bwMode="auto">
              <a:xfrm>
                <a:off x="2943952" y="2292350"/>
                <a:ext cx="4640262" cy="113665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𝐻</m:t>
                          </m:r>
                        </m:e>
                      </m:acc>
                      <m:r>
                        <a:rPr lang="en-US" sz="2800" i="1">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𝐵</m:t>
                              </m:r>
                            </m:e>
                          </m:acc>
                        </m:num>
                        <m:den>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i="1">
                                  <a:solidFill>
                                    <a:schemeClr val="tx1"/>
                                  </a:solidFill>
                                  <a:latin typeface="Cambria Math" panose="02040503050406030204" pitchFamily="18" charset="0"/>
                                </a:rPr>
                                <m:t>0</m:t>
                              </m:r>
                            </m:sub>
                          </m:sSub>
                        </m:den>
                      </m:f>
                      <m:r>
                        <a:rPr lang="en-US" sz="2800" i="1">
                          <a:solidFill>
                            <a:schemeClr val="tx1"/>
                          </a:solidFill>
                          <a:latin typeface="Cambria Math" panose="02040503050406030204" pitchFamily="18" charset="0"/>
                        </a:rPr>
                        <m:t>−</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𝑀</m:t>
                          </m:r>
                        </m:e>
                      </m:acc>
                      <m:r>
                        <a:rPr lang="en-US" sz="2800" i="1">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𝐵</m:t>
                              </m:r>
                            </m:e>
                          </m:acc>
                        </m:num>
                        <m:den>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i="1">
                                  <a:solidFill>
                                    <a:schemeClr val="tx1"/>
                                  </a:solidFill>
                                  <a:latin typeface="Cambria Math" panose="02040503050406030204" pitchFamily="18" charset="0"/>
                                </a:rPr>
                                <m:t>0</m:t>
                              </m:r>
                            </m:sub>
                          </m:sSub>
                        </m:den>
                      </m:f>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𝜒</m:t>
                          </m:r>
                        </m:e>
                        <m:sub>
                          <m:r>
                            <a:rPr lang="en-US" sz="2800" i="1">
                              <a:solidFill>
                                <a:schemeClr val="tx1"/>
                              </a:solidFill>
                              <a:latin typeface="Cambria Math" panose="02040503050406030204" pitchFamily="18" charset="0"/>
                            </a:rPr>
                            <m:t>𝑚</m:t>
                          </m:r>
                        </m:sub>
                      </m:sSub>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𝐻</m:t>
                          </m:r>
                        </m:e>
                      </m:acc>
                    </m:oMath>
                  </m:oMathPara>
                </a14:m>
                <a:endParaRPr lang="en-US" sz="2800" dirty="0">
                  <a:solidFill>
                    <a:schemeClr val="tx1"/>
                  </a:solidFill>
                </a:endParaRPr>
              </a:p>
            </p:txBody>
          </p:sp>
        </mc:Choice>
        <mc:Fallback xmlns="">
          <p:sp>
            <p:nvSpPr>
              <p:cNvPr id="14343" name="Object 7"/>
              <p:cNvSpPr txBox="1">
                <a:spLocks noRot="1" noChangeAspect="1" noMove="1" noResize="1" noEditPoints="1" noAdjustHandles="1" noChangeArrowheads="1" noChangeShapeType="1" noTextEdit="1"/>
              </p:cNvSpPr>
              <p:nvPr/>
            </p:nvSpPr>
            <p:spPr bwMode="auto">
              <a:xfrm>
                <a:off x="2943952" y="2292350"/>
                <a:ext cx="4640262" cy="1136650"/>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344" name="Object 8"/>
              <p:cNvSpPr txBox="1"/>
              <p:nvPr/>
            </p:nvSpPr>
            <p:spPr bwMode="auto">
              <a:xfrm>
                <a:off x="3213983" y="3610815"/>
                <a:ext cx="4532313" cy="64928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𝐵</m:t>
                          </m:r>
                        </m:e>
                      </m:acc>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i="1">
                              <a:solidFill>
                                <a:schemeClr val="tx1"/>
                              </a:solidFill>
                              <a:latin typeface="Cambria Math" panose="02040503050406030204" pitchFamily="18" charset="0"/>
                            </a:rPr>
                            <m:t>0</m:t>
                          </m:r>
                        </m:sub>
                      </m:sSub>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𝜒</m:t>
                          </m:r>
                        </m:e>
                        <m:sub>
                          <m:r>
                            <a:rPr lang="en-US" sz="2800" i="1">
                              <a:solidFill>
                                <a:schemeClr val="tx1"/>
                              </a:solidFill>
                              <a:latin typeface="Cambria Math" panose="02040503050406030204" pitchFamily="18" charset="0"/>
                            </a:rPr>
                            <m:t>𝑚</m:t>
                          </m:r>
                        </m:sub>
                      </m:sSub>
                      <m:r>
                        <a:rPr lang="en-US" sz="2800" i="1">
                          <a:solidFill>
                            <a:schemeClr val="tx1"/>
                          </a:solidFill>
                          <a:latin typeface="Cambria Math" panose="02040503050406030204" pitchFamily="18" charset="0"/>
                        </a:rPr>
                        <m:t>+1)</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𝐻</m:t>
                          </m:r>
                        </m:e>
                      </m:acc>
                      <m:r>
                        <a:rPr lang="en-US" sz="2800" i="1">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i="1">
                              <a:solidFill>
                                <a:schemeClr val="tx1"/>
                              </a:solidFill>
                              <a:latin typeface="Cambria Math" panose="02040503050406030204" pitchFamily="18" charset="0"/>
                            </a:rPr>
                            <m:t>0</m:t>
                          </m:r>
                        </m:sub>
                      </m:sSub>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i="1">
                              <a:solidFill>
                                <a:schemeClr val="tx1"/>
                              </a:solidFill>
                              <a:latin typeface="Cambria Math" panose="02040503050406030204" pitchFamily="18" charset="0"/>
                            </a:rPr>
                            <m:t>𝑟</m:t>
                          </m:r>
                        </m:sub>
                      </m:sSub>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𝐻</m:t>
                          </m:r>
                        </m:e>
                      </m:acc>
                    </m:oMath>
                  </m:oMathPara>
                </a14:m>
                <a:endParaRPr lang="en-US" sz="2800" dirty="0">
                  <a:solidFill>
                    <a:schemeClr val="tx1"/>
                  </a:solidFill>
                </a:endParaRPr>
              </a:p>
            </p:txBody>
          </p:sp>
        </mc:Choice>
        <mc:Fallback xmlns="">
          <p:sp>
            <p:nvSpPr>
              <p:cNvPr id="14344" name="Object 8"/>
              <p:cNvSpPr txBox="1">
                <a:spLocks noRot="1" noChangeAspect="1" noMove="1" noResize="1" noEditPoints="1" noAdjustHandles="1" noChangeArrowheads="1" noChangeShapeType="1" noTextEdit="1"/>
              </p:cNvSpPr>
              <p:nvPr/>
            </p:nvSpPr>
            <p:spPr bwMode="auto">
              <a:xfrm>
                <a:off x="3213983" y="3610815"/>
                <a:ext cx="4532313" cy="649288"/>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10">
                <a:extLst>
                  <a:ext uri="{FF2B5EF4-FFF2-40B4-BE49-F238E27FC236}">
                    <a16:creationId xmlns:a16="http://schemas.microsoft.com/office/drawing/2014/main" id="{4BF7B91B-BD3F-42EE-B11E-11AA4098BF1B}"/>
                  </a:ext>
                </a:extLst>
              </p:cNvPr>
              <p:cNvSpPr txBox="1"/>
              <p:nvPr/>
            </p:nvSpPr>
            <p:spPr bwMode="auto">
              <a:xfrm>
                <a:off x="3827266" y="6152467"/>
                <a:ext cx="1885950" cy="650875"/>
              </a:xfrm>
              <a:prstGeom prst="rect">
                <a:avLst/>
              </a:prstGeom>
              <a:noFill/>
              <a:ln w="38100">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𝐵</m:t>
                          </m:r>
                        </m:e>
                      </m:acc>
                      <m:r>
                        <a:rPr lang="en-US" sz="2800" i="1">
                          <a:solidFill>
                            <a:schemeClr val="tx1"/>
                          </a:solidFill>
                          <a:latin typeface="Cambria Math" panose="02040503050406030204" pitchFamily="18" charset="0"/>
                        </a:rPr>
                        <m:t>=</m:t>
                      </m:r>
                      <m:r>
                        <a:rPr lang="en-US" sz="2800" i="1">
                          <a:solidFill>
                            <a:schemeClr val="tx1"/>
                          </a:solidFill>
                          <a:latin typeface="Cambria Math" panose="02040503050406030204" pitchFamily="18" charset="0"/>
                        </a:rPr>
                        <m:t>𝜇</m:t>
                      </m:r>
                      <m:acc>
                        <m:accPr>
                          <m:chr m:val="⃗"/>
                          <m:ctrlPr>
                            <a:rPr lang="en-US" sz="2800" i="1">
                              <a:solidFill>
                                <a:schemeClr val="tx1"/>
                              </a:solidFill>
                              <a:latin typeface="Cambria Math" panose="02040503050406030204" pitchFamily="18" charset="0"/>
                            </a:rPr>
                          </m:ctrlPr>
                        </m:accPr>
                        <m:e>
                          <m:r>
                            <a:rPr lang="en-US" sz="2800" i="1">
                              <a:solidFill>
                                <a:schemeClr val="tx1"/>
                              </a:solidFill>
                              <a:latin typeface="Cambria Math" panose="02040503050406030204" pitchFamily="18" charset="0"/>
                            </a:rPr>
                            <m:t>𝐻</m:t>
                          </m:r>
                        </m:e>
                      </m:acc>
                    </m:oMath>
                  </m:oMathPara>
                </a14:m>
                <a:endParaRPr lang="en-US" sz="2800" dirty="0">
                  <a:solidFill>
                    <a:schemeClr val="tx1"/>
                  </a:solidFill>
                </a:endParaRPr>
              </a:p>
            </p:txBody>
          </p:sp>
        </mc:Choice>
        <mc:Fallback xmlns="">
          <p:sp>
            <p:nvSpPr>
              <p:cNvPr id="9" name="Object 10">
                <a:extLst>
                  <a:ext uri="{FF2B5EF4-FFF2-40B4-BE49-F238E27FC236}">
                    <a16:creationId xmlns:a16="http://schemas.microsoft.com/office/drawing/2014/main" id="{4BF7B91B-BD3F-42EE-B11E-11AA4098BF1B}"/>
                  </a:ext>
                </a:extLst>
              </p:cNvPr>
              <p:cNvSpPr txBox="1">
                <a:spLocks noRot="1" noChangeAspect="1" noMove="1" noResize="1" noEditPoints="1" noAdjustHandles="1" noChangeArrowheads="1" noChangeShapeType="1" noTextEdit="1"/>
              </p:cNvSpPr>
              <p:nvPr/>
            </p:nvSpPr>
            <p:spPr bwMode="auto">
              <a:xfrm>
                <a:off x="3827266" y="6152467"/>
                <a:ext cx="1885950" cy="650875"/>
              </a:xfrm>
              <a:prstGeom prst="rect">
                <a:avLst/>
              </a:prstGeom>
              <a:blipFill>
                <a:blip r:embed="rId5"/>
                <a:stretch>
                  <a:fillRect/>
                </a:stretch>
              </a:blipFill>
              <a:ln w="38100">
                <a:no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15">
                <a:extLst>
                  <a:ext uri="{FF2B5EF4-FFF2-40B4-BE49-F238E27FC236}">
                    <a16:creationId xmlns:a16="http://schemas.microsoft.com/office/drawing/2014/main" id="{6B5B6937-2D6C-4ABE-B433-AD84B7F681E4}"/>
                  </a:ext>
                </a:extLst>
              </p:cNvPr>
              <p:cNvSpPr txBox="1"/>
              <p:nvPr/>
            </p:nvSpPr>
            <p:spPr bwMode="auto">
              <a:xfrm>
                <a:off x="4026179" y="5260907"/>
                <a:ext cx="1638300" cy="614363"/>
              </a:xfrm>
              <a:prstGeom prst="rect">
                <a:avLst/>
              </a:prstGeom>
              <a:noFill/>
              <a:ln w="38100">
                <a:noFill/>
                <a:miter lim="800000"/>
                <a:headEnd/>
                <a:tailEnd/>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rPr>
                        <m:t>𝜇</m:t>
                      </m:r>
                      <m:r>
                        <a:rPr lang="en-US" sz="2800" i="1" smtClean="0">
                          <a:solidFill>
                            <a:schemeClr val="tx1"/>
                          </a:solidFill>
                          <a:latin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i="1">
                              <a:solidFill>
                                <a:schemeClr val="tx1"/>
                              </a:solidFill>
                              <a:latin typeface="Cambria Math" panose="02040503050406030204" pitchFamily="18" charset="0"/>
                            </a:rPr>
                            <m:t>0</m:t>
                          </m:r>
                        </m:sub>
                      </m:sSub>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𝜇</m:t>
                          </m:r>
                        </m:e>
                        <m:sub>
                          <m:r>
                            <a:rPr lang="en-US" sz="2800" i="1">
                              <a:solidFill>
                                <a:schemeClr val="tx1"/>
                              </a:solidFill>
                              <a:latin typeface="Cambria Math" panose="02040503050406030204" pitchFamily="18" charset="0"/>
                            </a:rPr>
                            <m:t>𝑟</m:t>
                          </m:r>
                        </m:sub>
                      </m:sSub>
                    </m:oMath>
                  </m:oMathPara>
                </a14:m>
                <a:endParaRPr lang="en-US" sz="2800" dirty="0">
                  <a:solidFill>
                    <a:schemeClr val="tx1"/>
                  </a:solidFill>
                </a:endParaRPr>
              </a:p>
            </p:txBody>
          </p:sp>
        </mc:Choice>
        <mc:Fallback xmlns="">
          <p:sp>
            <p:nvSpPr>
              <p:cNvPr id="10" name="Object 15">
                <a:extLst>
                  <a:ext uri="{FF2B5EF4-FFF2-40B4-BE49-F238E27FC236}">
                    <a16:creationId xmlns:a16="http://schemas.microsoft.com/office/drawing/2014/main" id="{6B5B6937-2D6C-4ABE-B433-AD84B7F681E4}"/>
                  </a:ext>
                </a:extLst>
              </p:cNvPr>
              <p:cNvSpPr txBox="1">
                <a:spLocks noRot="1" noChangeAspect="1" noMove="1" noResize="1" noEditPoints="1" noAdjustHandles="1" noChangeArrowheads="1" noChangeShapeType="1" noTextEdit="1"/>
              </p:cNvSpPr>
              <p:nvPr/>
            </p:nvSpPr>
            <p:spPr bwMode="auto">
              <a:xfrm>
                <a:off x="4026179" y="5260907"/>
                <a:ext cx="1638300" cy="614363"/>
              </a:xfrm>
              <a:prstGeom prst="rect">
                <a:avLst/>
              </a:prstGeom>
              <a:blipFill>
                <a:blip r:embed="rId6"/>
                <a:stretch>
                  <a:fillRect/>
                </a:stretch>
              </a:blipFill>
              <a:ln w="38100">
                <a:noFill/>
                <a:miter lim="800000"/>
                <a:headEnd/>
                <a:tailEnd/>
              </a:ln>
              <a:effectLst/>
            </p:spPr>
            <p:txBody>
              <a:bodyPr/>
              <a:lstStyle/>
              <a:p>
                <a:r>
                  <a:rPr lang="zh-CN" altLang="en-US">
                    <a:noFill/>
                  </a:rPr>
                  <a:t> </a:t>
                </a:r>
              </a:p>
            </p:txBody>
          </p:sp>
        </mc:Fallback>
      </mc:AlternateContent>
      <p:sp>
        <p:nvSpPr>
          <p:cNvPr id="11" name="Text Box 16">
            <a:extLst>
              <a:ext uri="{FF2B5EF4-FFF2-40B4-BE49-F238E27FC236}">
                <a16:creationId xmlns:a16="http://schemas.microsoft.com/office/drawing/2014/main" id="{03C6EB79-6185-4DAE-952F-586E68DAF8FF}"/>
              </a:ext>
            </a:extLst>
          </p:cNvPr>
          <p:cNvSpPr txBox="1">
            <a:spLocks noChangeArrowheads="1"/>
          </p:cNvSpPr>
          <p:nvPr/>
        </p:nvSpPr>
        <p:spPr bwMode="auto">
          <a:xfrm>
            <a:off x="5738888" y="5294324"/>
            <a:ext cx="41798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0"/>
              </a:spcBef>
              <a:spcAft>
                <a:spcPct val="0"/>
              </a:spcAft>
            </a:pPr>
            <a:r>
              <a:rPr kumimoji="1" lang="en-US" altLang="zh-CN" sz="2800" dirty="0">
                <a:ea typeface="华文楷体" panose="02010600040101010101" pitchFamily="2" charset="-122"/>
              </a:rPr>
              <a:t>— </a:t>
            </a:r>
            <a:r>
              <a:rPr kumimoji="1" lang="zh-CN" altLang="en-US" sz="2800" dirty="0">
                <a:ea typeface="华文楷体" panose="02010600040101010101" pitchFamily="2" charset="-122"/>
              </a:rPr>
              <a:t>磁导率</a:t>
            </a:r>
          </a:p>
        </p:txBody>
      </p:sp>
      <p:sp>
        <p:nvSpPr>
          <p:cNvPr id="12" name="Text Box 17">
            <a:extLst>
              <a:ext uri="{FF2B5EF4-FFF2-40B4-BE49-F238E27FC236}">
                <a16:creationId xmlns:a16="http://schemas.microsoft.com/office/drawing/2014/main" id="{DF80087D-9322-4CF6-B3B1-740583CAE9DC}"/>
              </a:ext>
            </a:extLst>
          </p:cNvPr>
          <p:cNvSpPr txBox="1">
            <a:spLocks noChangeArrowheads="1"/>
          </p:cNvSpPr>
          <p:nvPr/>
        </p:nvSpPr>
        <p:spPr bwMode="auto">
          <a:xfrm>
            <a:off x="2683277" y="5295831"/>
            <a:ext cx="16002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50000"/>
              </a:spcBef>
              <a:spcAft>
                <a:spcPct val="0"/>
              </a:spcAft>
            </a:pPr>
            <a:r>
              <a:rPr kumimoji="1" lang="zh-CN" altLang="en-US" sz="2800" dirty="0">
                <a:ea typeface="华文楷体" panose="02010600040101010101" pitchFamily="2" charset="-122"/>
              </a:rPr>
              <a:t>令</a:t>
            </a:r>
          </a:p>
        </p:txBody>
      </p:sp>
      <p:sp>
        <p:nvSpPr>
          <p:cNvPr id="13" name="Text Box 19">
            <a:extLst>
              <a:ext uri="{FF2B5EF4-FFF2-40B4-BE49-F238E27FC236}">
                <a16:creationId xmlns:a16="http://schemas.microsoft.com/office/drawing/2014/main" id="{C57E04B0-F340-4661-8616-3C2777820E3C}"/>
              </a:ext>
            </a:extLst>
          </p:cNvPr>
          <p:cNvSpPr txBox="1">
            <a:spLocks noChangeArrowheads="1"/>
          </p:cNvSpPr>
          <p:nvPr/>
        </p:nvSpPr>
        <p:spPr bwMode="auto">
          <a:xfrm>
            <a:off x="2616479" y="6165781"/>
            <a:ext cx="19812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50000"/>
              </a:spcBef>
              <a:spcAft>
                <a:spcPct val="0"/>
              </a:spcAft>
            </a:pPr>
            <a:r>
              <a:rPr kumimoji="1" lang="zh-CN" altLang="en-US" sz="2800" dirty="0">
                <a:ea typeface="华文楷体" panose="02010600040101010101" pitchFamily="2" charset="-122"/>
              </a:rPr>
              <a:t>则有</a:t>
            </a:r>
          </a:p>
        </p:txBody>
      </p:sp>
      <p:sp>
        <p:nvSpPr>
          <p:cNvPr id="14" name="Text Box 21">
            <a:extLst>
              <a:ext uri="{FF2B5EF4-FFF2-40B4-BE49-F238E27FC236}">
                <a16:creationId xmlns:a16="http://schemas.microsoft.com/office/drawing/2014/main" id="{EC3603D2-1360-45B1-8F23-B29FCE976428}"/>
              </a:ext>
            </a:extLst>
          </p:cNvPr>
          <p:cNvSpPr txBox="1">
            <a:spLocks noChangeArrowheads="1"/>
          </p:cNvSpPr>
          <p:nvPr/>
        </p:nvSpPr>
        <p:spPr bwMode="auto">
          <a:xfrm>
            <a:off x="6197880" y="6146731"/>
            <a:ext cx="255676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fontAlgn="base">
              <a:spcBef>
                <a:spcPct val="50000"/>
              </a:spcBef>
              <a:spcAft>
                <a:spcPct val="0"/>
              </a:spcAft>
            </a:pPr>
            <a:r>
              <a:rPr kumimoji="1" lang="zh-CN" altLang="en-US" sz="2800" dirty="0">
                <a:ea typeface="华文楷体" panose="02010600040101010101" pitchFamily="2" charset="-122"/>
              </a:rPr>
              <a:t>真空：</a:t>
            </a:r>
            <a:r>
              <a:rPr kumimoji="1" lang="zh-CN" altLang="en-US" sz="2800" i="1" dirty="0">
                <a:ea typeface="华文楷体" panose="02010600040101010101" pitchFamily="2" charset="-122"/>
                <a:sym typeface="Symbol" panose="05050102010706020507" pitchFamily="18" charset="2"/>
              </a:rPr>
              <a:t> </a:t>
            </a:r>
            <a:r>
              <a:rPr kumimoji="1" lang="en-US" altLang="zh-CN" sz="2800" dirty="0">
                <a:ea typeface="华文楷体" panose="02010600040101010101" pitchFamily="2" charset="-122"/>
                <a:sym typeface="Symbol" panose="05050102010706020507" pitchFamily="18" charset="2"/>
              </a:rPr>
              <a:t>= </a:t>
            </a:r>
            <a:r>
              <a:rPr kumimoji="1" lang="en-US" altLang="zh-CN" sz="2800" i="1" dirty="0">
                <a:ea typeface="华文楷体" panose="02010600040101010101" pitchFamily="2" charset="-122"/>
                <a:sym typeface="Symbol" panose="05050102010706020507" pitchFamily="18" charset="2"/>
              </a:rPr>
              <a:t></a:t>
            </a:r>
            <a:r>
              <a:rPr kumimoji="1" lang="en-US" altLang="zh-CN" sz="2800" baseline="-25000" dirty="0">
                <a:ea typeface="华文楷体" panose="02010600040101010101" pitchFamily="2" charset="-122"/>
                <a:sym typeface="Symbol" panose="05050102010706020507" pitchFamily="18" charset="2"/>
              </a:rPr>
              <a:t>0</a:t>
            </a:r>
            <a:endParaRPr kumimoji="1" lang="en-US" altLang="zh-CN" sz="2800" dirty="0">
              <a:ea typeface="华文楷体" panose="02010600040101010101" pitchFamily="2" charset="-122"/>
            </a:endParaRPr>
          </a:p>
        </p:txBody>
      </p:sp>
      <mc:AlternateContent xmlns:mc="http://schemas.openxmlformats.org/markup-compatibility/2006" xmlns:a14="http://schemas.microsoft.com/office/drawing/2010/main">
        <mc:Choice Requires="a14">
          <p:sp>
            <p:nvSpPr>
              <p:cNvPr id="15" name="Text Box 5">
                <a:extLst>
                  <a:ext uri="{FF2B5EF4-FFF2-40B4-BE49-F238E27FC236}">
                    <a16:creationId xmlns:a16="http://schemas.microsoft.com/office/drawing/2014/main" id="{778512CA-0CE0-47EF-B86B-0B123B1FCF62}"/>
                  </a:ext>
                </a:extLst>
              </p:cNvPr>
              <p:cNvSpPr txBox="1">
                <a:spLocks noChangeArrowheads="1"/>
              </p:cNvSpPr>
              <p:nvPr/>
            </p:nvSpPr>
            <p:spPr bwMode="auto">
              <a:xfrm>
                <a:off x="3272640" y="4441918"/>
                <a:ext cx="674035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gn="just" fontAlgn="base">
                  <a:spcBef>
                    <a:spcPct val="0"/>
                  </a:spcBef>
                  <a:spcAft>
                    <a:spcPct val="0"/>
                  </a:spcAft>
                </a:pPr>
                <a14:m>
                  <m:oMath xmlns:m="http://schemas.openxmlformats.org/officeDocument/2006/math">
                    <m:sSub>
                      <m:sSubPr>
                        <m:ctrlPr>
                          <a:rPr kumimoji="1" lang="en-US" altLang="zh-CN" sz="2800" i="1" smtClean="0">
                            <a:solidFill>
                              <a:schemeClr val="tx1"/>
                            </a:solidFill>
                            <a:latin typeface="Cambria Math" panose="02040503050406030204" pitchFamily="18" charset="0"/>
                            <a:ea typeface="华文新魏" panose="02010800040101010101" pitchFamily="2" charset="-122"/>
                          </a:rPr>
                        </m:ctrlPr>
                      </m:sSubPr>
                      <m:e>
                        <m:r>
                          <a:rPr kumimoji="1" lang="zh-CN" altLang="en-US" sz="2800" b="0" i="1">
                            <a:solidFill>
                              <a:schemeClr val="tx1"/>
                            </a:solidFill>
                            <a:latin typeface="Cambria Math" panose="02040503050406030204" pitchFamily="18" charset="0"/>
                            <a:ea typeface="华文新魏" panose="02010800040101010101" pitchFamily="2" charset="-122"/>
                          </a:rPr>
                          <m:t>𝜇</m:t>
                        </m:r>
                      </m:e>
                      <m:sub>
                        <m:r>
                          <a:rPr kumimoji="1" lang="en-US" altLang="zh-CN" sz="2800" b="0" i="1">
                            <a:solidFill>
                              <a:schemeClr val="tx1"/>
                            </a:solidFill>
                            <a:latin typeface="Cambria Math" panose="02040503050406030204" pitchFamily="18" charset="0"/>
                            <a:ea typeface="华文新魏" panose="02010800040101010101" pitchFamily="2" charset="-122"/>
                          </a:rPr>
                          <m:t>𝑟</m:t>
                        </m:r>
                      </m:sub>
                    </m:sSub>
                    <m:r>
                      <a:rPr kumimoji="1" lang="en-US" altLang="zh-CN" sz="2800" b="0" i="1">
                        <a:solidFill>
                          <a:schemeClr val="tx1"/>
                        </a:solidFill>
                        <a:latin typeface="Cambria Math" panose="02040503050406030204" pitchFamily="18" charset="0"/>
                        <a:ea typeface="华文新魏" panose="02010800040101010101" pitchFamily="2" charset="-122"/>
                      </a:rPr>
                      <m:t>=1+</m:t>
                    </m:r>
                    <m:sSub>
                      <m:sSubPr>
                        <m:ctrlPr>
                          <a:rPr kumimoji="1" lang="en-US" altLang="zh-CN" sz="2800" i="1">
                            <a:solidFill>
                              <a:schemeClr val="tx1"/>
                            </a:solidFill>
                            <a:latin typeface="Cambria Math" panose="02040503050406030204" pitchFamily="18" charset="0"/>
                            <a:ea typeface="华文新魏" panose="02010800040101010101" pitchFamily="2" charset="-122"/>
                          </a:rPr>
                        </m:ctrlPr>
                      </m:sSubPr>
                      <m:e>
                        <m:r>
                          <a:rPr kumimoji="1" lang="zh-CN" altLang="en-US" sz="2800" b="0" i="1">
                            <a:solidFill>
                              <a:schemeClr val="tx1"/>
                            </a:solidFill>
                            <a:latin typeface="Cambria Math" panose="02040503050406030204" pitchFamily="18" charset="0"/>
                            <a:ea typeface="华文新魏" panose="02010800040101010101" pitchFamily="2" charset="-122"/>
                          </a:rPr>
                          <m:t>𝜒</m:t>
                        </m:r>
                      </m:e>
                      <m:sub>
                        <m:r>
                          <a:rPr kumimoji="1" lang="en-US" altLang="zh-CN" sz="2800" b="0" i="1">
                            <a:solidFill>
                              <a:schemeClr val="tx1"/>
                            </a:solidFill>
                            <a:latin typeface="Cambria Math" panose="02040503050406030204" pitchFamily="18" charset="0"/>
                            <a:ea typeface="华文新魏" panose="02010800040101010101" pitchFamily="2" charset="-122"/>
                          </a:rPr>
                          <m:t>𝑚</m:t>
                        </m:r>
                      </m:sub>
                    </m:sSub>
                  </m:oMath>
                </a14:m>
                <a:r>
                  <a:rPr kumimoji="1" lang="en-US" altLang="zh-CN" sz="2800" i="1" dirty="0">
                    <a:solidFill>
                      <a:schemeClr val="tx1"/>
                    </a:solidFill>
                    <a:ea typeface="华文楷体" panose="02010600040101010101" pitchFamily="2" charset="-122"/>
                  </a:rPr>
                  <a:t>—</a:t>
                </a:r>
                <a:r>
                  <a:rPr kumimoji="1" lang="en-US" altLang="zh-CN" sz="2800" dirty="0">
                    <a:solidFill>
                      <a:schemeClr val="tx1"/>
                    </a:solidFill>
                    <a:ea typeface="华文楷体" panose="02010600040101010101" pitchFamily="2" charset="-122"/>
                  </a:rPr>
                  <a:t> </a:t>
                </a:r>
                <a:r>
                  <a:rPr kumimoji="1" lang="zh-CN" altLang="en-US" sz="2800" dirty="0">
                    <a:solidFill>
                      <a:schemeClr val="tx1"/>
                    </a:solidFill>
                    <a:ea typeface="华文楷体" panose="02010600040101010101" pitchFamily="2" charset="-122"/>
                  </a:rPr>
                  <a:t>相对磁导率</a:t>
                </a:r>
              </a:p>
            </p:txBody>
          </p:sp>
        </mc:Choice>
        <mc:Fallback xmlns="">
          <p:sp>
            <p:nvSpPr>
              <p:cNvPr id="15" name="Text Box 5">
                <a:extLst>
                  <a:ext uri="{FF2B5EF4-FFF2-40B4-BE49-F238E27FC236}">
                    <a16:creationId xmlns:a16="http://schemas.microsoft.com/office/drawing/2014/main" id="{778512CA-0CE0-47EF-B86B-0B123B1FCF62}"/>
                  </a:ext>
                </a:extLst>
              </p:cNvPr>
              <p:cNvSpPr txBox="1">
                <a:spLocks noRot="1" noChangeAspect="1" noMove="1" noResize="1" noEditPoints="1" noAdjustHandles="1" noChangeArrowheads="1" noChangeShapeType="1" noTextEdit="1"/>
              </p:cNvSpPr>
              <p:nvPr/>
            </p:nvSpPr>
            <p:spPr bwMode="auto">
              <a:xfrm>
                <a:off x="3272640" y="4441918"/>
                <a:ext cx="6740350" cy="523220"/>
              </a:xfrm>
              <a:prstGeom prst="rect">
                <a:avLst/>
              </a:prstGeom>
              <a:blipFill>
                <a:blip r:embed="rId7"/>
                <a:stretch>
                  <a:fillRect t="-15294" b="-329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E106AB5-15B3-8821-DA93-413709E97F4A}"/>
                  </a:ext>
                </a:extLst>
              </p:cNvPr>
              <p:cNvSpPr txBox="1"/>
              <p:nvPr/>
            </p:nvSpPr>
            <p:spPr>
              <a:xfrm>
                <a:off x="3213983" y="1390831"/>
                <a:ext cx="2292081" cy="5754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zh-CN" altLang="en-US" sz="2800" i="1" smtClean="0">
                              <a:solidFill>
                                <a:schemeClr val="tx1"/>
                              </a:solidFill>
                              <a:latin typeface="Cambria Math" panose="02040503050406030204" pitchFamily="18" charset="0"/>
                              <a:ea typeface="华文新魏" panose="02010800040101010101" pitchFamily="2" charset="-122"/>
                            </a:rPr>
                          </m:ctrlPr>
                        </m:accPr>
                        <m:e>
                          <m:r>
                            <a:rPr kumimoji="1" lang="en-US" altLang="zh-CN" sz="2800" b="0" i="1">
                              <a:solidFill>
                                <a:schemeClr val="tx1"/>
                              </a:solidFill>
                              <a:latin typeface="Cambria Math" panose="02040503050406030204" pitchFamily="18" charset="0"/>
                              <a:ea typeface="华文新魏" panose="02010800040101010101" pitchFamily="2" charset="-122"/>
                            </a:rPr>
                            <m:t>𝑀</m:t>
                          </m:r>
                        </m:e>
                      </m:acc>
                      <m:r>
                        <a:rPr kumimoji="1" lang="en-US" altLang="zh-CN" sz="2800" b="0" i="1">
                          <a:solidFill>
                            <a:schemeClr val="tx1"/>
                          </a:solidFill>
                          <a:latin typeface="Cambria Math" panose="02040503050406030204" pitchFamily="18" charset="0"/>
                          <a:ea typeface="华文新魏" panose="02010800040101010101" pitchFamily="2" charset="-122"/>
                        </a:rPr>
                        <m:t>=</m:t>
                      </m:r>
                      <m:sSub>
                        <m:sSubPr>
                          <m:ctrlPr>
                            <a:rPr kumimoji="1" lang="en-US" altLang="zh-CN" sz="2800" i="1">
                              <a:solidFill>
                                <a:schemeClr val="tx1"/>
                              </a:solidFill>
                              <a:latin typeface="Cambria Math" panose="02040503050406030204" pitchFamily="18" charset="0"/>
                              <a:ea typeface="华文新魏" panose="02010800040101010101" pitchFamily="2" charset="-122"/>
                            </a:rPr>
                          </m:ctrlPr>
                        </m:sSubPr>
                        <m:e>
                          <m:r>
                            <a:rPr kumimoji="1" lang="zh-CN" altLang="en-US" sz="2800" b="0" i="1">
                              <a:solidFill>
                                <a:schemeClr val="tx1"/>
                              </a:solidFill>
                              <a:latin typeface="Cambria Math" panose="02040503050406030204" pitchFamily="18" charset="0"/>
                              <a:ea typeface="华文新魏" panose="02010800040101010101" pitchFamily="2" charset="-122"/>
                            </a:rPr>
                            <m:t>𝜒</m:t>
                          </m:r>
                        </m:e>
                        <m:sub>
                          <m:r>
                            <a:rPr kumimoji="1" lang="en-US" altLang="zh-CN" sz="2800" b="0" i="1">
                              <a:solidFill>
                                <a:schemeClr val="tx1"/>
                              </a:solidFill>
                              <a:latin typeface="Cambria Math" panose="02040503050406030204" pitchFamily="18" charset="0"/>
                              <a:ea typeface="华文新魏" panose="02010800040101010101" pitchFamily="2" charset="-122"/>
                            </a:rPr>
                            <m:t>𝑚</m:t>
                          </m:r>
                        </m:sub>
                      </m:sSub>
                      <m:acc>
                        <m:accPr>
                          <m:chr m:val="⃗"/>
                          <m:ctrlPr>
                            <a:rPr kumimoji="1" lang="zh-CN" altLang="en-US" sz="2800" i="1">
                              <a:solidFill>
                                <a:schemeClr val="tx1"/>
                              </a:solidFill>
                              <a:latin typeface="Cambria Math" panose="02040503050406030204" pitchFamily="18" charset="0"/>
                              <a:ea typeface="华文新魏" panose="02010800040101010101" pitchFamily="2" charset="-122"/>
                            </a:rPr>
                          </m:ctrlPr>
                        </m:accPr>
                        <m:e>
                          <m:r>
                            <a:rPr kumimoji="1" lang="en-US" altLang="zh-CN" sz="2800" b="0" i="1">
                              <a:solidFill>
                                <a:schemeClr val="tx1"/>
                              </a:solidFill>
                              <a:latin typeface="Cambria Math" panose="02040503050406030204" pitchFamily="18" charset="0"/>
                              <a:ea typeface="华文新魏" panose="02010800040101010101" pitchFamily="2" charset="-122"/>
                            </a:rPr>
                            <m:t>𝐻</m:t>
                          </m:r>
                        </m:e>
                      </m:acc>
                    </m:oMath>
                  </m:oMathPara>
                </a14:m>
                <a:endParaRPr lang="zh-CN" altLang="en-US" sz="2800" dirty="0">
                  <a:solidFill>
                    <a:schemeClr val="tx1"/>
                  </a:solidFill>
                </a:endParaRPr>
              </a:p>
            </p:txBody>
          </p:sp>
        </mc:Choice>
        <mc:Fallback xmlns="">
          <p:sp>
            <p:nvSpPr>
              <p:cNvPr id="3" name="文本框 2">
                <a:extLst>
                  <a:ext uri="{FF2B5EF4-FFF2-40B4-BE49-F238E27FC236}">
                    <a16:creationId xmlns:a16="http://schemas.microsoft.com/office/drawing/2014/main" id="{AE106AB5-15B3-8821-DA93-413709E97F4A}"/>
                  </a:ext>
                </a:extLst>
              </p:cNvPr>
              <p:cNvSpPr txBox="1">
                <a:spLocks noRot="1" noChangeAspect="1" noMove="1" noResize="1" noEditPoints="1" noAdjustHandles="1" noChangeArrowheads="1" noChangeShapeType="1" noTextEdit="1"/>
              </p:cNvSpPr>
              <p:nvPr/>
            </p:nvSpPr>
            <p:spPr>
              <a:xfrm>
                <a:off x="3213983" y="1390831"/>
                <a:ext cx="2292081" cy="575479"/>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7B5A816-2D9D-6665-7A2D-FCEF0092F3A9}"/>
                  </a:ext>
                </a:extLst>
              </p:cNvPr>
              <p:cNvSpPr txBox="1"/>
              <p:nvPr/>
            </p:nvSpPr>
            <p:spPr>
              <a:xfrm>
                <a:off x="6695581" y="4160196"/>
                <a:ext cx="6709228" cy="12146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zh-CN" altLang="en-US" sz="2800" b="1" i="1" smtClean="0">
                              <a:solidFill>
                                <a:schemeClr val="tx1"/>
                              </a:solidFill>
                              <a:latin typeface="Cambria Math" panose="02040503050406030204" pitchFamily="18" charset="0"/>
                            </a:rPr>
                          </m:ctrlPr>
                        </m:naryPr>
                        <m:sub>
                          <m:r>
                            <m:rPr>
                              <m:brk m:alnAt="23"/>
                            </m:rPr>
                            <a:rPr lang="en-US" altLang="zh-CN" sz="2800" b="1" i="1">
                              <a:solidFill>
                                <a:schemeClr val="tx1"/>
                              </a:solidFill>
                              <a:latin typeface="Cambria Math" panose="02040503050406030204" pitchFamily="18" charset="0"/>
                            </a:rPr>
                            <m:t>𝒍</m:t>
                          </m:r>
                        </m:sub>
                        <m:sup/>
                        <m:e>
                          <m:acc>
                            <m:accPr>
                              <m:chr m:val="⃗"/>
                              <m:ctrlPr>
                                <a:rPr kumimoji="1" lang="en-US" altLang="zh-CN" sz="2800" b="1" i="1">
                                  <a:solidFill>
                                    <a:schemeClr val="tx1"/>
                                  </a:solidFill>
                                  <a:latin typeface="Cambria Math" panose="02040503050406030204" pitchFamily="18" charset="0"/>
                                  <a:cs typeface="Times New Roman" panose="02020603050405020304" pitchFamily="18" charset="0"/>
                                </a:rPr>
                              </m:ctrlPr>
                            </m:accPr>
                            <m:e>
                              <m:r>
                                <a:rPr kumimoji="1" lang="en-US" altLang="zh-CN" sz="2800" b="1" i="1" smtClean="0">
                                  <a:solidFill>
                                    <a:schemeClr val="tx1"/>
                                  </a:solidFill>
                                  <a:latin typeface="Cambria Math" panose="02040503050406030204" pitchFamily="18" charset="0"/>
                                  <a:cs typeface="Times New Roman" panose="02020603050405020304" pitchFamily="18" charset="0"/>
                                </a:rPr>
                                <m:t>𝑩</m:t>
                              </m:r>
                            </m:e>
                          </m:acc>
                          <m:r>
                            <m:rPr>
                              <m:brk m:alnAt="23"/>
                            </m:rPr>
                            <a:rPr lang="zh-CN" altLang="en-US" sz="2800" b="1" i="1">
                              <a:solidFill>
                                <a:schemeClr val="tx1"/>
                              </a:solidFill>
                              <a:latin typeface="Cambria Math" panose="02040503050406030204" pitchFamily="18" charset="0"/>
                            </a:rPr>
                            <m:t>∙</m:t>
                          </m:r>
                          <m:r>
                            <a:rPr lang="en-US" altLang="zh-CN" sz="2800" b="1" i="1">
                              <a:solidFill>
                                <a:schemeClr val="tx1"/>
                              </a:solidFill>
                              <a:latin typeface="Cambria Math" panose="02040503050406030204" pitchFamily="18" charset="0"/>
                            </a:rPr>
                            <m:t>𝒅</m:t>
                          </m:r>
                          <m:acc>
                            <m:accPr>
                              <m:chr m:val="⃗"/>
                              <m:ctrlPr>
                                <a:rPr lang="en-US" altLang="zh-CN" sz="2800" b="1" i="1">
                                  <a:solidFill>
                                    <a:schemeClr val="tx1"/>
                                  </a:solidFill>
                                  <a:latin typeface="Cambria Math" panose="02040503050406030204" pitchFamily="18" charset="0"/>
                                </a:rPr>
                              </m:ctrlPr>
                            </m:accPr>
                            <m:e>
                              <m:r>
                                <a:rPr lang="en-US" altLang="zh-CN" sz="2800" b="1" i="1">
                                  <a:solidFill>
                                    <a:schemeClr val="tx1"/>
                                  </a:solidFill>
                                  <a:latin typeface="Cambria Math" panose="02040503050406030204" pitchFamily="18" charset="0"/>
                                </a:rPr>
                                <m:t>𝒍</m:t>
                              </m:r>
                            </m:e>
                          </m:acc>
                        </m:e>
                      </m:nary>
                      <m:r>
                        <a:rPr lang="en-US" altLang="zh-CN" sz="2800" b="1"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𝜇</m:t>
                      </m:r>
                      <m:nary>
                        <m:naryPr>
                          <m:chr m:val="∑"/>
                          <m:subHide m:val="on"/>
                          <m:supHide m:val="on"/>
                          <m:ctrlPr>
                            <a:rPr lang="en-US" altLang="zh-CN" sz="2800" b="1" i="1">
                              <a:solidFill>
                                <a:schemeClr val="tx1"/>
                              </a:solidFill>
                              <a:latin typeface="Cambria Math" panose="02040503050406030204" pitchFamily="18" charset="0"/>
                            </a:rPr>
                          </m:ctrlPr>
                        </m:naryPr>
                        <m:sub/>
                        <m:sup/>
                        <m:e>
                          <m:r>
                            <a:rPr lang="en-US" altLang="zh-CN" sz="2800" b="1" i="1">
                              <a:solidFill>
                                <a:schemeClr val="tx1"/>
                              </a:solidFill>
                              <a:latin typeface="Cambria Math" panose="02040503050406030204" pitchFamily="18" charset="0"/>
                            </a:rPr>
                            <m:t>𝑰</m:t>
                          </m:r>
                        </m:e>
                      </m:nary>
                    </m:oMath>
                  </m:oMathPara>
                </a14:m>
                <a:endParaRPr lang="zh-CN" altLang="en-US" sz="2800" dirty="0">
                  <a:solidFill>
                    <a:schemeClr val="tx1"/>
                  </a:solidFill>
                </a:endParaRPr>
              </a:p>
            </p:txBody>
          </p:sp>
        </mc:Choice>
        <mc:Fallback xmlns="">
          <p:sp>
            <p:nvSpPr>
              <p:cNvPr id="5" name="文本框 4">
                <a:extLst>
                  <a:ext uri="{FF2B5EF4-FFF2-40B4-BE49-F238E27FC236}">
                    <a16:creationId xmlns:a16="http://schemas.microsoft.com/office/drawing/2014/main" id="{67B5A816-2D9D-6665-7A2D-FCEF0092F3A9}"/>
                  </a:ext>
                </a:extLst>
              </p:cNvPr>
              <p:cNvSpPr txBox="1">
                <a:spLocks noRot="1" noChangeAspect="1" noMove="1" noResize="1" noEditPoints="1" noAdjustHandles="1" noChangeArrowheads="1" noChangeShapeType="1" noTextEdit="1"/>
              </p:cNvSpPr>
              <p:nvPr/>
            </p:nvSpPr>
            <p:spPr>
              <a:xfrm>
                <a:off x="6695581" y="4160196"/>
                <a:ext cx="6709228" cy="1214628"/>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B8179D0-953C-5D75-36F2-34C5B859494B}"/>
                  </a:ext>
                </a:extLst>
              </p:cNvPr>
              <p:cNvSpPr txBox="1"/>
              <p:nvPr/>
            </p:nvSpPr>
            <p:spPr>
              <a:xfrm>
                <a:off x="6708601" y="2670878"/>
                <a:ext cx="6709228" cy="12146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zh-CN" altLang="en-US" sz="2800" b="1" i="1" smtClean="0">
                              <a:solidFill>
                                <a:srgbClr val="0066FF"/>
                              </a:solidFill>
                              <a:latin typeface="Cambria Math" panose="02040503050406030204" pitchFamily="18" charset="0"/>
                            </a:rPr>
                          </m:ctrlPr>
                        </m:naryPr>
                        <m:sub>
                          <m:r>
                            <m:rPr>
                              <m:brk m:alnAt="23"/>
                            </m:rPr>
                            <a:rPr lang="en-US" altLang="zh-CN" sz="2800" b="1" i="1">
                              <a:solidFill>
                                <a:srgbClr val="0066FF"/>
                              </a:solidFill>
                              <a:latin typeface="Cambria Math" panose="02040503050406030204" pitchFamily="18" charset="0"/>
                            </a:rPr>
                            <m:t>𝒍</m:t>
                          </m:r>
                        </m:sub>
                        <m:sup/>
                        <m:e>
                          <m:acc>
                            <m:accPr>
                              <m:chr m:val="⃗"/>
                              <m:ctrlPr>
                                <a:rPr kumimoji="1" lang="en-US" altLang="zh-CN" sz="2800" b="1" i="1">
                                  <a:solidFill>
                                    <a:srgbClr val="0066FF"/>
                                  </a:solidFill>
                                  <a:latin typeface="Cambria Math" panose="02040503050406030204" pitchFamily="18" charset="0"/>
                                  <a:cs typeface="Times New Roman" panose="02020603050405020304" pitchFamily="18" charset="0"/>
                                </a:rPr>
                              </m:ctrlPr>
                            </m:accPr>
                            <m:e>
                              <m:r>
                                <a:rPr kumimoji="1" lang="en-US" altLang="zh-CN" sz="2800" b="1" i="1">
                                  <a:solidFill>
                                    <a:srgbClr val="0066FF"/>
                                  </a:solidFill>
                                  <a:latin typeface="Cambria Math" panose="02040503050406030204" pitchFamily="18" charset="0"/>
                                  <a:cs typeface="Times New Roman" panose="02020603050405020304" pitchFamily="18" charset="0"/>
                                </a:rPr>
                                <m:t>𝑯</m:t>
                              </m:r>
                            </m:e>
                          </m:acc>
                          <m:r>
                            <m:rPr>
                              <m:brk m:alnAt="23"/>
                            </m:rPr>
                            <a:rPr lang="zh-CN" altLang="en-US" sz="2800" b="1" i="1">
                              <a:solidFill>
                                <a:srgbClr val="0066FF"/>
                              </a:solidFill>
                              <a:latin typeface="Cambria Math" panose="02040503050406030204" pitchFamily="18" charset="0"/>
                            </a:rPr>
                            <m:t>∙</m:t>
                          </m:r>
                          <m:r>
                            <a:rPr lang="en-US" altLang="zh-CN" sz="2800" b="1" i="1">
                              <a:solidFill>
                                <a:srgbClr val="0066FF"/>
                              </a:solidFill>
                              <a:latin typeface="Cambria Math" panose="02040503050406030204" pitchFamily="18" charset="0"/>
                            </a:rPr>
                            <m:t>𝒅</m:t>
                          </m:r>
                          <m:acc>
                            <m:accPr>
                              <m:chr m:val="⃗"/>
                              <m:ctrlPr>
                                <a:rPr lang="en-US" altLang="zh-CN" sz="2800" b="1" i="1">
                                  <a:solidFill>
                                    <a:srgbClr val="0066FF"/>
                                  </a:solidFill>
                                  <a:latin typeface="Cambria Math" panose="02040503050406030204" pitchFamily="18" charset="0"/>
                                </a:rPr>
                              </m:ctrlPr>
                            </m:accPr>
                            <m:e>
                              <m:r>
                                <a:rPr lang="en-US" altLang="zh-CN" sz="2800" b="1" i="1">
                                  <a:solidFill>
                                    <a:srgbClr val="0066FF"/>
                                  </a:solidFill>
                                  <a:latin typeface="Cambria Math" panose="02040503050406030204" pitchFamily="18" charset="0"/>
                                </a:rPr>
                                <m:t>𝒍</m:t>
                              </m:r>
                            </m:e>
                          </m:acc>
                        </m:e>
                      </m:nary>
                      <m:r>
                        <a:rPr lang="en-US" altLang="zh-CN" sz="2800" b="1" i="1">
                          <a:solidFill>
                            <a:srgbClr val="0066FF"/>
                          </a:solidFill>
                          <a:latin typeface="Cambria Math" panose="02040503050406030204" pitchFamily="18" charset="0"/>
                        </a:rPr>
                        <m:t>=</m:t>
                      </m:r>
                      <m:nary>
                        <m:naryPr>
                          <m:chr m:val="∑"/>
                          <m:subHide m:val="on"/>
                          <m:supHide m:val="on"/>
                          <m:ctrlPr>
                            <a:rPr lang="en-US" altLang="zh-CN" sz="2800" b="1" i="1">
                              <a:solidFill>
                                <a:srgbClr val="0066FF"/>
                              </a:solidFill>
                              <a:latin typeface="Cambria Math" panose="02040503050406030204" pitchFamily="18" charset="0"/>
                            </a:rPr>
                          </m:ctrlPr>
                        </m:naryPr>
                        <m:sub/>
                        <m:sup/>
                        <m:e>
                          <m:r>
                            <a:rPr lang="en-US" altLang="zh-CN" sz="2800" b="1" i="1">
                              <a:solidFill>
                                <a:srgbClr val="0066FF"/>
                              </a:solidFill>
                              <a:latin typeface="Cambria Math" panose="02040503050406030204" pitchFamily="18" charset="0"/>
                            </a:rPr>
                            <m:t>𝑰</m:t>
                          </m:r>
                        </m:e>
                      </m:nary>
                    </m:oMath>
                  </m:oMathPara>
                </a14:m>
                <a:endParaRPr lang="zh-CN" altLang="en-US" sz="2800" dirty="0"/>
              </a:p>
            </p:txBody>
          </p:sp>
        </mc:Choice>
        <mc:Fallback xmlns="">
          <p:sp>
            <p:nvSpPr>
              <p:cNvPr id="7" name="文本框 6">
                <a:extLst>
                  <a:ext uri="{FF2B5EF4-FFF2-40B4-BE49-F238E27FC236}">
                    <a16:creationId xmlns:a16="http://schemas.microsoft.com/office/drawing/2014/main" id="{8B8179D0-953C-5D75-36F2-34C5B859494B}"/>
                  </a:ext>
                </a:extLst>
              </p:cNvPr>
              <p:cNvSpPr txBox="1">
                <a:spLocks noRot="1" noChangeAspect="1" noMove="1" noResize="1" noEditPoints="1" noAdjustHandles="1" noChangeArrowheads="1" noChangeShapeType="1" noTextEdit="1"/>
              </p:cNvSpPr>
              <p:nvPr/>
            </p:nvSpPr>
            <p:spPr>
              <a:xfrm>
                <a:off x="6708601" y="2670878"/>
                <a:ext cx="6709228" cy="1214628"/>
              </a:xfrm>
              <a:prstGeom prst="rect">
                <a:avLst/>
              </a:prstGeom>
              <a:blipFill>
                <a:blip r:embed="rId10"/>
                <a:stretch>
                  <a:fillRect/>
                </a:stretch>
              </a:blipFill>
            </p:spPr>
            <p:txBody>
              <a:bodyPr/>
              <a:lstStyle/>
              <a:p>
                <a:r>
                  <a:rPr lang="zh-CN" altLang="en-US">
                    <a:noFill/>
                  </a:rPr>
                  <a:t> </a:t>
                </a:r>
              </a:p>
            </p:txBody>
          </p:sp>
        </mc:Fallback>
      </mc:AlternateContent>
      <p:sp>
        <p:nvSpPr>
          <p:cNvPr id="16" name="标题 7">
            <a:extLst>
              <a:ext uri="{FF2B5EF4-FFF2-40B4-BE49-F238E27FC236}">
                <a16:creationId xmlns:a16="http://schemas.microsoft.com/office/drawing/2014/main" id="{355D8012-0FC6-4FB9-83F7-B37BE9BCA933}"/>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各向同性磁介质</a:t>
            </a:r>
          </a:p>
        </p:txBody>
      </p:sp>
    </p:spTree>
    <p:extLst>
      <p:ext uri="{BB962C8B-B14F-4D97-AF65-F5344CB8AC3E}">
        <p14:creationId xmlns:p14="http://schemas.microsoft.com/office/powerpoint/2010/main" val="361598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p:bldP spid="14343" grpId="0"/>
      <p:bldP spid="14344" grpId="0"/>
      <p:bldP spid="9" grpId="0"/>
      <p:bldP spid="10" grpId="0"/>
      <p:bldP spid="11" grpId="0"/>
      <p:bldP spid="12" grpId="0"/>
      <p:bldP spid="13" grpId="0"/>
      <p:bldP spid="14" grpId="0"/>
      <p:bldP spid="15" grpId="0"/>
      <p:bldP spid="3" grpId="0"/>
      <p:bldP spid="5"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AB550FE1-FA6C-4799-8E41-607E13673DEE}" type="slidenum">
              <a:rPr lang="en-US" altLang="zh-CN" smtClean="0"/>
              <a:pPr/>
              <a:t>12</a:t>
            </a:fld>
            <a:endParaRPr lang="en-US" altLang="zh-CN"/>
          </a:p>
        </p:txBody>
      </p:sp>
      <mc:AlternateContent xmlns:mc="http://schemas.openxmlformats.org/markup-compatibility/2006" xmlns:a14="http://schemas.microsoft.com/office/drawing/2010/main">
        <mc:Choice Requires="a14">
          <p:sp>
            <p:nvSpPr>
              <p:cNvPr id="4" name="文本框 3"/>
              <p:cNvSpPr txBox="1"/>
              <p:nvPr>
                <p:custDataLst>
                  <p:tags r:id="rId2"/>
                </p:custDataLst>
              </p:nvPr>
            </p:nvSpPr>
            <p:spPr>
              <a:xfrm>
                <a:off x="2438400" y="635001"/>
                <a:ext cx="7315200" cy="2143125"/>
              </a:xfrm>
              <a:prstGeom prst="rect">
                <a:avLst/>
              </a:prstGeom>
              <a:noFill/>
            </p:spPr>
            <p:txBody>
              <a:bodyPr vert="horz" wrap="square" rtlCol="0" anchor="ctr" anchorCtr="0">
                <a:noAutofit/>
              </a:bodyPr>
              <a:lstStyle/>
              <a:p>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用细导线均匀密绕成长为</a:t>
                </a:r>
                <a:r>
                  <a:rPr lang="zh-CN" altLang="en-US"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 </a:t>
                </a:r>
                <a:r>
                  <a:rPr lang="en-US" altLang="zh-CN"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l</a:t>
                </a:r>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、半径为</a:t>
                </a:r>
                <a:r>
                  <a:rPr lang="en-US" altLang="zh-CN"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a</a:t>
                </a:r>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 （</a:t>
                </a:r>
                <a:r>
                  <a:rPr lang="en-US" altLang="zh-CN"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l</a:t>
                </a:r>
                <a:r>
                  <a:rPr lang="zh-CN" altLang="en-US"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 </a:t>
                </a:r>
                <a:r>
                  <a:rPr lang="en-US" altLang="zh-CN"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&gt;&gt;</a:t>
                </a:r>
                <a:r>
                  <a:rPr lang="en-US" altLang="zh-CN"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a </a:t>
                </a:r>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）、总匝数为</a:t>
                </a:r>
                <a:r>
                  <a:rPr lang="en-US" altLang="zh-CN"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N</a:t>
                </a:r>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的螺线管，通以稳恒电流</a:t>
                </a:r>
                <a:r>
                  <a:rPr lang="en-US" altLang="zh-CN"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I</a:t>
                </a:r>
                <a:r>
                  <a:rPr lang="zh-CN" altLang="en-US" sz="26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 </a:t>
                </a:r>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，当管内充满相对磁导率为</a:t>
                </a:r>
                <a14:m>
                  <m:oMath xmlns:m="http://schemas.openxmlformats.org/officeDocument/2006/math">
                    <m:sSub>
                      <m:sSubPr>
                        <m:ctrlPr>
                          <a:rPr lang="en-US" altLang="zh-CN" sz="26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sym typeface="Microsoft Yahei" panose="020B0503020204020204" pitchFamily="34" charset="-122"/>
                          </a:rPr>
                        </m:ctrlPr>
                      </m:sSubPr>
                      <m:e>
                        <m:r>
                          <a:rPr lang="zh-CN" altLang="en-US" sz="26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sym typeface="Microsoft Yahei" panose="020B0503020204020204" pitchFamily="34" charset="-122"/>
                          </a:rPr>
                          <m:t>𝜇</m:t>
                        </m:r>
                      </m:e>
                      <m:sub>
                        <m:r>
                          <a:rPr lang="en-US" altLang="zh-CN" sz="26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sym typeface="Microsoft Yahei" panose="020B0503020204020204" pitchFamily="34" charset="-122"/>
                          </a:rPr>
                          <m:t>𝑟</m:t>
                        </m:r>
                      </m:sub>
                    </m:sSub>
                  </m:oMath>
                </a14:m>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的均匀介质后，管中任意一点</a:t>
                </a:r>
              </a:p>
            </p:txBody>
          </p:sp>
        </mc:Choice>
        <mc:Fallback xmlns="">
          <p:sp>
            <p:nvSpPr>
              <p:cNvPr id="4" name="文本框 3"/>
              <p:cNvSpPr txBox="1">
                <a:spLocks noRot="1" noChangeAspect="1" noMove="1" noResize="1" noEditPoints="1" noAdjustHandles="1" noChangeArrowheads="1" noChangeShapeType="1" noTextEdit="1"/>
              </p:cNvSpPr>
              <p:nvPr>
                <p:custDataLst>
                  <p:tags r:id="rId19"/>
                </p:custDataLst>
              </p:nvPr>
            </p:nvSpPr>
            <p:spPr>
              <a:xfrm>
                <a:off x="2438400" y="635001"/>
                <a:ext cx="7315200" cy="2143125"/>
              </a:xfrm>
              <a:prstGeom prst="rect">
                <a:avLst/>
              </a:prstGeom>
              <a:blipFill>
                <a:blip r:embed="rId20"/>
                <a:stretch>
                  <a:fillRect l="-1500" r="-18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custDataLst>
                  <p:tags r:id="rId3"/>
                </p:custDataLst>
              </p:nvPr>
            </p:nvSpPr>
            <p:spPr>
              <a:xfrm>
                <a:off x="3352800" y="2786063"/>
                <a:ext cx="5263480" cy="642938"/>
              </a:xfrm>
              <a:prstGeom prst="rect">
                <a:avLst/>
              </a:prstGeom>
              <a:noFill/>
            </p:spPr>
            <p:txBody>
              <a:bodyPr vert="horz" rtlCol="0" anchor="ctr" anchorCtr="0">
                <a:noAutofit/>
              </a:bodyPr>
              <a:lstStyle/>
              <a:p>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rPr>
                  <a:t>磁感应强度的大小为</a:t>
                </a:r>
                <a14:m>
                  <m:oMath xmlns:m="http://schemas.openxmlformats.org/officeDocument/2006/math">
                    <m:sSub>
                      <m:sSubPr>
                        <m:ctrlPr>
                          <a:rPr lang="zh-CN" altLang="en-US" sz="26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sSubPr>
                      <m:e>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𝜇</m:t>
                        </m:r>
                      </m:e>
                      <m:sub>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0</m:t>
                        </m:r>
                      </m:sub>
                    </m:sSub>
                    <m:sSub>
                      <m:sSubPr>
                        <m:ctrlPr>
                          <a:rPr lang="zh-CN" altLang="en-US" sz="26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sSubPr>
                      <m:e>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𝜇</m:t>
                        </m:r>
                      </m:e>
                      <m:sub>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𝑟</m:t>
                        </m:r>
                      </m:sub>
                    </m:sSub>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𝑁𝐼</m:t>
                    </m:r>
                  </m:oMath>
                </a14:m>
                <a:endPar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custDataLst>
                  <p:tags r:id="rId21"/>
                </p:custDataLst>
              </p:nvPr>
            </p:nvSpPr>
            <p:spPr>
              <a:xfrm>
                <a:off x="3352800" y="2786063"/>
                <a:ext cx="5263480" cy="642938"/>
              </a:xfrm>
              <a:prstGeom prst="rect">
                <a:avLst/>
              </a:prstGeom>
              <a:blipFill>
                <a:blip r:embed="rId22"/>
                <a:stretch>
                  <a:fillRect l="-2086" b="-113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custDataLst>
                  <p:tags r:id="rId4"/>
                </p:custDataLst>
              </p:nvPr>
            </p:nvSpPr>
            <p:spPr>
              <a:xfrm>
                <a:off x="3355620" y="3688786"/>
                <a:ext cx="5260661" cy="642938"/>
              </a:xfrm>
              <a:prstGeom prst="rect">
                <a:avLst/>
              </a:prstGeom>
              <a:noFill/>
            </p:spPr>
            <p:txBody>
              <a:bodyPr vert="horz" rtlCol="0" anchor="ctr" anchorCtr="0">
                <a:noAutofit/>
              </a:bodyPr>
              <a:lstStyle/>
              <a:p>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rPr>
                  <a:t>磁感应强度的大小为</a:t>
                </a:r>
                <a14:m>
                  <m:oMath xmlns:m="http://schemas.openxmlformats.org/officeDocument/2006/math">
                    <m:sSub>
                      <m:sSubPr>
                        <m:ctrlPr>
                          <a:rPr lang="zh-CN" altLang="en-US" sz="26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sSubPr>
                      <m:e>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𝜇</m:t>
                        </m:r>
                      </m:e>
                      <m:sub>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𝑟</m:t>
                        </m:r>
                      </m:sub>
                    </m:sSub>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𝑁</m:t>
                    </m:r>
                    <m:f>
                      <m:fPr>
                        <m:type m:val="lin"/>
                        <m:ctrlPr>
                          <a:rPr lang="zh-CN" altLang="en-US" sz="26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fPr>
                      <m:num>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𝐼</m:t>
                        </m:r>
                      </m:num>
                      <m:den>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𝑙</m:t>
                        </m:r>
                      </m:den>
                    </m:f>
                  </m:oMath>
                </a14:m>
                <a:endPar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mc:Choice>
        <mc:Fallback xmlns="">
          <p:sp>
            <p:nvSpPr>
              <p:cNvPr id="6" name="文本框 5"/>
              <p:cNvSpPr txBox="1">
                <a:spLocks noRot="1" noChangeAspect="1" noMove="1" noResize="1" noEditPoints="1" noAdjustHandles="1" noChangeArrowheads="1" noChangeShapeType="1" noTextEdit="1"/>
              </p:cNvSpPr>
              <p:nvPr>
                <p:custDataLst>
                  <p:tags r:id="rId23"/>
                </p:custDataLst>
              </p:nvPr>
            </p:nvSpPr>
            <p:spPr>
              <a:xfrm>
                <a:off x="3355620" y="3688786"/>
                <a:ext cx="5260661" cy="642938"/>
              </a:xfrm>
              <a:prstGeom prst="rect">
                <a:avLst/>
              </a:prstGeom>
              <a:blipFill>
                <a:blip r:embed="rId24"/>
                <a:stretch>
                  <a:fillRect l="-2086" b="-113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custDataLst>
                  <p:tags r:id="rId5"/>
                </p:custDataLst>
              </p:nvPr>
            </p:nvSpPr>
            <p:spPr>
              <a:xfrm>
                <a:off x="3352800" y="4500563"/>
                <a:ext cx="5263480" cy="642938"/>
              </a:xfrm>
              <a:prstGeom prst="rect">
                <a:avLst/>
              </a:prstGeom>
              <a:noFill/>
            </p:spPr>
            <p:txBody>
              <a:bodyPr vert="horz" rtlCol="0" anchor="ctr" anchorCtr="0">
                <a:noAutofit/>
              </a:bodyPr>
              <a:lstStyle/>
              <a:p>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rPr>
                  <a:t>磁场强度的大小为</a:t>
                </a:r>
                <a14:m>
                  <m:oMath xmlns:m="http://schemas.openxmlformats.org/officeDocument/2006/math">
                    <m:sSub>
                      <m:sSubPr>
                        <m:ctrlPr>
                          <a:rPr lang="zh-CN" altLang="en-US" sz="26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sSubPr>
                      <m:e>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𝜇</m:t>
                        </m:r>
                      </m:e>
                      <m:sub>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0</m:t>
                        </m:r>
                      </m:sub>
                    </m:sSub>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𝑁</m:t>
                    </m:r>
                    <m:f>
                      <m:fPr>
                        <m:type m:val="lin"/>
                        <m:ctrlPr>
                          <a:rPr lang="zh-CN" altLang="en-US" sz="26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fPr>
                      <m:num>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𝐼</m:t>
                        </m:r>
                      </m:num>
                      <m:den>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𝑙</m:t>
                        </m:r>
                      </m:den>
                    </m:f>
                  </m:oMath>
                </a14:m>
                <a:endPar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mc:Choice>
        <mc:Fallback xmlns="">
          <p:sp>
            <p:nvSpPr>
              <p:cNvPr id="7" name="文本框 6"/>
              <p:cNvSpPr txBox="1">
                <a:spLocks noRot="1" noChangeAspect="1" noMove="1" noResize="1" noEditPoints="1" noAdjustHandles="1" noChangeArrowheads="1" noChangeShapeType="1" noTextEdit="1"/>
              </p:cNvSpPr>
              <p:nvPr>
                <p:custDataLst>
                  <p:tags r:id="rId25"/>
                </p:custDataLst>
              </p:nvPr>
            </p:nvSpPr>
            <p:spPr>
              <a:xfrm>
                <a:off x="3352800" y="4500563"/>
                <a:ext cx="5263480" cy="642938"/>
              </a:xfrm>
              <a:prstGeom prst="rect">
                <a:avLst/>
              </a:prstGeom>
              <a:blipFill>
                <a:blip r:embed="rId26"/>
                <a:stretch>
                  <a:fillRect l="-2086" b="-12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custDataLst>
                  <p:tags r:id="rId6"/>
                </p:custDataLst>
              </p:nvPr>
            </p:nvSpPr>
            <p:spPr>
              <a:xfrm>
                <a:off x="3352800" y="5357813"/>
                <a:ext cx="5263480" cy="642938"/>
              </a:xfrm>
              <a:prstGeom prst="rect">
                <a:avLst/>
              </a:prstGeom>
              <a:noFill/>
            </p:spPr>
            <p:txBody>
              <a:bodyPr vert="horz" rtlCol="0" anchor="ctr" anchorCtr="0">
                <a:noAutofit/>
              </a:bodyPr>
              <a:lstStyle/>
              <a:p>
                <a:r>
                  <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rPr>
                  <a:t>磁场强度的大小为</a:t>
                </a:r>
                <a14:m>
                  <m:oMath xmlns:m="http://schemas.openxmlformats.org/officeDocument/2006/math">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𝑁</m:t>
                    </m:r>
                    <m:f>
                      <m:fPr>
                        <m:type m:val="lin"/>
                        <m:ctrlPr>
                          <a:rPr lang="zh-CN" altLang="en-US" sz="26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fPr>
                      <m:num>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𝐼</m:t>
                        </m:r>
                      </m:num>
                      <m:den>
                        <m:r>
                          <a:rPr lang="zh-CN" altLang="en-US" sz="26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𝑙</m:t>
                        </m:r>
                      </m:den>
                    </m:f>
                  </m:oMath>
                </a14:m>
                <a:endPar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mc:Choice>
        <mc:Fallback xmlns="">
          <p:sp>
            <p:nvSpPr>
              <p:cNvPr id="8" name="文本框 7"/>
              <p:cNvSpPr txBox="1">
                <a:spLocks noRot="1" noChangeAspect="1" noMove="1" noResize="1" noEditPoints="1" noAdjustHandles="1" noChangeArrowheads="1" noChangeShapeType="1" noTextEdit="1"/>
              </p:cNvSpPr>
              <p:nvPr>
                <p:custDataLst>
                  <p:tags r:id="rId27"/>
                </p:custDataLst>
              </p:nvPr>
            </p:nvSpPr>
            <p:spPr>
              <a:xfrm>
                <a:off x="3352800" y="5357813"/>
                <a:ext cx="5263480" cy="642938"/>
              </a:xfrm>
              <a:prstGeom prst="rect">
                <a:avLst/>
              </a:prstGeom>
              <a:blipFill>
                <a:blip r:embed="rId28"/>
                <a:stretch>
                  <a:fillRect l="-2086" b="-12381"/>
                </a:stretch>
              </a:blipFill>
            </p:spPr>
            <p:txBody>
              <a:bodyPr/>
              <a:lstStyle/>
              <a:p>
                <a:r>
                  <a:rPr lang="zh-CN" altLang="en-US">
                    <a:noFill/>
                  </a:rPr>
                  <a:t> </a:t>
                </a:r>
              </a:p>
            </p:txBody>
          </p:sp>
        </mc:Fallback>
      </mc:AlternateContent>
      <p:sp>
        <p:nvSpPr>
          <p:cNvPr id="9" name="椭圆 8"/>
          <p:cNvSpPr>
            <a:spLocks noChangeAspect="1"/>
          </p:cNvSpPr>
          <p:nvPr>
            <p:custDataLst>
              <p:tags r:id="rId7"/>
            </p:custDataLst>
          </p:nvPr>
        </p:nvSpPr>
        <p:spPr>
          <a:xfrm>
            <a:off x="2638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2638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2638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2638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4000" cy="635000"/>
            <a:chOff x="-1524000" y="0"/>
            <a:chExt cx="9144000" cy="635000"/>
          </a:xfrm>
        </p:grpSpPr>
        <p:sp>
          <p:nvSpPr>
            <p:cNvPr id="14" name="TitleBackground"/>
            <p:cNvSpPr/>
            <p:nvPr>
              <p:custDataLst>
                <p:tags r:id="rId14"/>
              </p:custDataLst>
            </p:nvPr>
          </p:nvSpPr>
          <p:spPr>
            <a:xfrm>
              <a:off x="-152400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152400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3"/>
            </p:custDataLst>
          </p:nvPr>
        </p:nvPicPr>
        <p:blipFill>
          <a:blip r:embed="rId2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589029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标题 2"/>
              <p:cNvSpPr>
                <a:spLocks noGrp="1"/>
              </p:cNvSpPr>
              <p:nvPr>
                <p:ph type="title"/>
              </p:nvPr>
            </p:nvSpPr>
            <p:spPr>
              <a:xfrm>
                <a:off x="867409" y="89368"/>
                <a:ext cx="10533561" cy="1620180"/>
              </a:xfrm>
            </p:spPr>
            <p:txBody>
              <a:bodyPr>
                <a:normAutofit/>
              </a:bodyPr>
              <a:lstStyle/>
              <a:p>
                <a:pPr>
                  <a:lnSpc>
                    <a:spcPct val="120000"/>
                  </a:lnSpc>
                </a:pPr>
                <a:r>
                  <a:rPr lang="zh-CN" altLang="en-US" sz="2800" dirty="0">
                    <a:solidFill>
                      <a:schemeClr val="tx1"/>
                    </a:solidFill>
                    <a:latin typeface="华文楷体" panose="02010600040101010101" pitchFamily="2" charset="-122"/>
                  </a:rPr>
                  <a:t>一无限长直螺线管充满相对磁导率为</a:t>
                </a:r>
                <a14:m>
                  <m:oMath xmlns:m="http://schemas.openxmlformats.org/officeDocument/2006/math">
                    <m:sSub>
                      <m:sSubPr>
                        <m:ctrlPr>
                          <a:rPr lang="en-US" altLang="zh-CN"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𝜇</m:t>
                        </m:r>
                      </m:e>
                      <m:sub>
                        <m:r>
                          <a:rPr lang="en-US" altLang="zh-CN" sz="2800" b="0" i="1">
                            <a:solidFill>
                              <a:schemeClr val="tx1"/>
                            </a:solidFill>
                            <a:latin typeface="Cambria Math" panose="02040503050406030204" pitchFamily="18" charset="0"/>
                          </a:rPr>
                          <m:t>𝑟</m:t>
                        </m:r>
                      </m:sub>
                    </m:sSub>
                  </m:oMath>
                </a14:m>
                <a:r>
                  <a:rPr lang="zh-CN" altLang="en-US" sz="2800" dirty="0">
                    <a:solidFill>
                      <a:schemeClr val="tx1"/>
                    </a:solidFill>
                    <a:latin typeface="华文楷体" panose="02010600040101010101" pitchFamily="2" charset="-122"/>
                  </a:rPr>
                  <a:t>的均匀磁介质。当导线内通以电量</a:t>
                </a:r>
                <a:r>
                  <a:rPr lang="en-US" altLang="zh-CN" sz="2800" dirty="0">
                    <a:solidFill>
                      <a:schemeClr val="tx1"/>
                    </a:solidFill>
                    <a:latin typeface="华文楷体" panose="02010600040101010101" pitchFamily="2" charset="-122"/>
                  </a:rPr>
                  <a:t>I</a:t>
                </a:r>
                <a:r>
                  <a:rPr lang="zh-CN" altLang="en-US" sz="2800" dirty="0">
                    <a:solidFill>
                      <a:schemeClr val="tx1"/>
                    </a:solidFill>
                    <a:latin typeface="华文楷体" panose="02010600040101010101" pitchFamily="2" charset="-122"/>
                  </a:rPr>
                  <a:t>时，求管内的磁感应强度和磁介质表面的面束缚电流密度。</a:t>
                </a:r>
              </a:p>
            </p:txBody>
          </p:sp>
        </mc:Choice>
        <mc:Fallback xmlns="">
          <p:sp>
            <p:nvSpPr>
              <p:cNvPr id="3" name="标题 2"/>
              <p:cNvSpPr>
                <a:spLocks noGrp="1" noRot="1" noChangeAspect="1" noMove="1" noResize="1" noEditPoints="1" noAdjustHandles="1" noChangeArrowheads="1" noChangeShapeType="1" noTextEdit="1"/>
              </p:cNvSpPr>
              <p:nvPr>
                <p:ph type="title"/>
              </p:nvPr>
            </p:nvSpPr>
            <p:spPr>
              <a:xfrm>
                <a:off x="867409" y="89368"/>
                <a:ext cx="10533561" cy="1620180"/>
              </a:xfrm>
              <a:blipFill>
                <a:blip r:embed="rId2"/>
                <a:stretch>
                  <a:fillRect l="-1157" r="-2025"/>
                </a:stretch>
              </a:blipFill>
            </p:spPr>
            <p:txBody>
              <a:bodyPr/>
              <a:lstStyle/>
              <a:p>
                <a:r>
                  <a:rPr lang="zh-CN" altLang="en-US">
                    <a:noFill/>
                  </a:rPr>
                  <a:t> </a:t>
                </a:r>
              </a:p>
            </p:txBody>
          </p:sp>
        </mc:Fallback>
      </mc:AlternateContent>
      <p:pic>
        <p:nvPicPr>
          <p:cNvPr id="5" name="内容占位符 4"/>
          <p:cNvPicPr>
            <a:picLocks noGrp="1" noChangeAspect="1"/>
          </p:cNvPicPr>
          <p:nvPr>
            <p:ph idx="1"/>
          </p:nvPr>
        </p:nvPicPr>
        <p:blipFill rotWithShape="1">
          <a:blip r:embed="rId3">
            <a:extLst>
              <a:ext uri="{28A0092B-C50C-407E-A947-70E740481C1C}">
                <a14:useLocalDpi xmlns:a14="http://schemas.microsoft.com/office/drawing/2010/main" val="0"/>
              </a:ext>
            </a:extLst>
          </a:blip>
          <a:srcRect l="4001" t="6704" r="5333" b="8481"/>
          <a:stretch/>
        </p:blipFill>
        <p:spPr>
          <a:xfrm rot="10800000">
            <a:off x="964745" y="1645444"/>
            <a:ext cx="3060341" cy="2250251"/>
          </a:xfrm>
        </p:spPr>
      </p:pic>
      <mc:AlternateContent xmlns:mc="http://schemas.openxmlformats.org/markup-compatibility/2006" xmlns:a14="http://schemas.microsoft.com/office/drawing/2010/main">
        <mc:Choice Requires="a14">
          <p:sp>
            <p:nvSpPr>
              <p:cNvPr id="6" name="矩形 5"/>
              <p:cNvSpPr/>
              <p:nvPr/>
            </p:nvSpPr>
            <p:spPr>
              <a:xfrm>
                <a:off x="4604837" y="1798653"/>
                <a:ext cx="6796133" cy="1058623"/>
              </a:xfrm>
              <a:prstGeom prst="rect">
                <a:avLst/>
              </a:prstGeom>
            </p:spPr>
            <p:txBody>
              <a:bodyPr wrap="square">
                <a:spAutoFit/>
              </a:bodyPr>
              <a:lstStyle/>
              <a:p>
                <a:r>
                  <a:rPr lang="zh-CN" altLang="en-US" sz="2800" spc="-5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螺线管无限长：管外磁场为零，管内的</a:t>
                </a:r>
                <a14:m>
                  <m:oMath xmlns:m="http://schemas.openxmlformats.org/officeDocument/2006/math">
                    <m:acc>
                      <m:accPr>
                        <m:chr m:val="⃗"/>
                        <m:ctrlPr>
                          <a:rPr lang="en-US" altLang="zh-CN" sz="2800" i="1" spc="-50"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lang="en-US" altLang="zh-CN" sz="2800" b="0" i="1" spc="-50"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t>𝐵</m:t>
                        </m:r>
                      </m:e>
                    </m:acc>
                  </m:oMath>
                </a14:m>
                <a:r>
                  <a:rPr lang="zh-CN" altLang="en-US" sz="2800" spc="-5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和</a:t>
                </a:r>
                <a14:m>
                  <m:oMath xmlns:m="http://schemas.openxmlformats.org/officeDocument/2006/math">
                    <m:acc>
                      <m:accPr>
                        <m:chr m:val="⃗"/>
                        <m:ctrlPr>
                          <a:rPr lang="en-US" altLang="zh-CN" sz="2800" i="1" spc="-50"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lang="en-US" altLang="zh-CN" sz="2800" b="0" i="1" spc="-50"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t>𝐻</m:t>
                        </m:r>
                      </m:e>
                    </m:acc>
                  </m:oMath>
                </a14:m>
                <a:r>
                  <a:rPr lang="zh-CN" altLang="en-US" sz="2800" spc="-5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均与轴线平行</a:t>
                </a:r>
                <a:endParaRPr lang="en-US" altLang="zh-CN" sz="2800" spc="-5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4604837" y="1798653"/>
                <a:ext cx="6796133" cy="1058623"/>
              </a:xfrm>
              <a:prstGeom prst="rect">
                <a:avLst/>
              </a:prstGeom>
              <a:blipFill>
                <a:blip r:embed="rId4"/>
                <a:stretch>
                  <a:fillRect l="-1794" t="-575" r="-90" b="-149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6CC1611-5173-4594-A995-61D773B219C8}"/>
                  </a:ext>
                </a:extLst>
              </p:cNvPr>
              <p:cNvSpPr/>
              <p:nvPr/>
            </p:nvSpPr>
            <p:spPr>
              <a:xfrm>
                <a:off x="1679094" y="5674574"/>
                <a:ext cx="11606037" cy="674736"/>
              </a:xfrm>
              <a:prstGeom prst="rect">
                <a:avLst/>
              </a:prstGeom>
            </p:spPr>
            <p:txBody>
              <a:bodyPr wrap="square">
                <a:spAutoFit/>
              </a:bodyPr>
              <a:lstStyle/>
              <a:p>
                <a:pPr lvl="0">
                  <a:lnSpc>
                    <a:spcPct val="150000"/>
                  </a:lnSpc>
                </a:pPr>
                <a:r>
                  <a:rPr lang="zh-CN" altLang="en-US" sz="2800" dirty="0">
                    <a:solidFill>
                      <a:schemeClr val="tx1"/>
                    </a:solidFill>
                    <a:latin typeface="华文楷体" panose="02010600040101010101" pitchFamily="2" charset="-122"/>
                    <a:ea typeface="华文楷体" panose="02010600040101010101" pitchFamily="2" charset="-122"/>
                  </a:rPr>
                  <a:t>螺线管内有磁介质时，其中的磁感应强度是真空时的</a:t>
                </a:r>
                <a14:m>
                  <m:oMath xmlns:m="http://schemas.openxmlformats.org/officeDocument/2006/math">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𝑟</m:t>
                        </m:r>
                      </m:sub>
                    </m:sSub>
                  </m:oMath>
                </a14:m>
                <a:r>
                  <a:rPr lang="zh-CN" altLang="en-US" sz="2800" dirty="0">
                    <a:solidFill>
                      <a:schemeClr val="tx1"/>
                    </a:solidFill>
                    <a:latin typeface="华文楷体" panose="02010600040101010101" pitchFamily="2" charset="-122"/>
                    <a:ea typeface="华文楷体" panose="02010600040101010101" pitchFamily="2" charset="-122"/>
                  </a:rPr>
                  <a:t>倍</a:t>
                </a:r>
              </a:p>
            </p:txBody>
          </p:sp>
        </mc:Choice>
        <mc:Fallback xmlns="">
          <p:sp>
            <p:nvSpPr>
              <p:cNvPr id="7" name="矩形 6">
                <a:extLst>
                  <a:ext uri="{FF2B5EF4-FFF2-40B4-BE49-F238E27FC236}">
                    <a16:creationId xmlns:a16="http://schemas.microsoft.com/office/drawing/2014/main" id="{66CC1611-5173-4594-A995-61D773B219C8}"/>
                  </a:ext>
                </a:extLst>
              </p:cNvPr>
              <p:cNvSpPr>
                <a:spLocks noRot="1" noChangeAspect="1" noMove="1" noResize="1" noEditPoints="1" noAdjustHandles="1" noChangeArrowheads="1" noChangeShapeType="1" noTextEdit="1"/>
              </p:cNvSpPr>
              <p:nvPr/>
            </p:nvSpPr>
            <p:spPr>
              <a:xfrm>
                <a:off x="1679094" y="5674574"/>
                <a:ext cx="11606037" cy="674736"/>
              </a:xfrm>
              <a:prstGeom prst="rect">
                <a:avLst/>
              </a:prstGeom>
              <a:blipFill>
                <a:blip r:embed="rId5"/>
                <a:stretch>
                  <a:fillRect l="-1050" b="-243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BE48442-D3E9-43E5-916C-85052D3B1D67}"/>
                  </a:ext>
                </a:extLst>
              </p:cNvPr>
              <p:cNvSpPr txBox="1"/>
              <p:nvPr/>
            </p:nvSpPr>
            <p:spPr>
              <a:xfrm>
                <a:off x="4165510" y="3125768"/>
                <a:ext cx="3817712" cy="575479"/>
              </a:xfrm>
              <a:prstGeom prst="rect">
                <a:avLst/>
              </a:prstGeom>
              <a:noFill/>
            </p:spPr>
            <p:txBody>
              <a:bodyPr wrap="square">
                <a:spAutoFit/>
              </a:bodyPr>
              <a:lstStyle/>
              <a:p>
                <a14:m>
                  <m:oMath xmlns:m="http://schemas.openxmlformats.org/officeDocument/2006/math">
                    <m:acc>
                      <m:accPr>
                        <m:chr m:val="⃗"/>
                        <m:ctrlPr>
                          <a:rPr lang="en-US" altLang="zh-CN" sz="2800" i="1" spc="-50"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lang="en-US" altLang="zh-CN" sz="2800" b="0" i="1" spc="-50"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t>𝐻</m:t>
                        </m:r>
                      </m:e>
                    </m:acc>
                  </m:oMath>
                </a14:m>
                <a:r>
                  <a:rPr lang="zh-CN" altLang="en-US" sz="2800" spc="-5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沿回路</a:t>
                </a:r>
                <a:r>
                  <a:rPr lang="en-US" altLang="zh-CN" sz="2800" i="1" spc="-5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L</a:t>
                </a:r>
                <a:r>
                  <a:rPr lang="zh-CN" altLang="en-US" sz="2800" spc="-5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的积分为</a:t>
                </a:r>
                <a:endParaRPr lang="zh-CN" altLang="en-US" sz="2800" dirty="0">
                  <a:solidFill>
                    <a:schemeClr val="tx1"/>
                  </a:solidFill>
                </a:endParaRPr>
              </a:p>
            </p:txBody>
          </p:sp>
        </mc:Choice>
        <mc:Fallback xmlns="">
          <p:sp>
            <p:nvSpPr>
              <p:cNvPr id="17" name="文本框 16">
                <a:extLst>
                  <a:ext uri="{FF2B5EF4-FFF2-40B4-BE49-F238E27FC236}">
                    <a16:creationId xmlns:a16="http://schemas.microsoft.com/office/drawing/2014/main" id="{7BE48442-D3E9-43E5-916C-85052D3B1D67}"/>
                  </a:ext>
                </a:extLst>
              </p:cNvPr>
              <p:cNvSpPr txBox="1">
                <a:spLocks noRot="1" noChangeAspect="1" noMove="1" noResize="1" noEditPoints="1" noAdjustHandles="1" noChangeArrowheads="1" noChangeShapeType="1" noTextEdit="1"/>
              </p:cNvSpPr>
              <p:nvPr/>
            </p:nvSpPr>
            <p:spPr>
              <a:xfrm>
                <a:off x="4165510" y="3125768"/>
                <a:ext cx="3817712" cy="575479"/>
              </a:xfrm>
              <a:prstGeom prst="rect">
                <a:avLst/>
              </a:prstGeom>
              <a:blipFill>
                <a:blip r:embed="rId6"/>
                <a:stretch>
                  <a:fillRect t="-2128" b="-29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10EA539-4D40-4220-A824-06385D3D12B7}"/>
                  </a:ext>
                </a:extLst>
              </p:cNvPr>
              <p:cNvSpPr txBox="1"/>
              <p:nvPr/>
            </p:nvSpPr>
            <p:spPr>
              <a:xfrm>
                <a:off x="2912291" y="3440286"/>
                <a:ext cx="5254625" cy="1602170"/>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nary>
                        <m:naryPr>
                          <m:chr m:val="∮"/>
                          <m:ctrlPr>
                            <a:rPr lang="zh-CN" altLang="en-US" sz="2800" i="1" smtClean="0">
                              <a:solidFill>
                                <a:schemeClr val="tx1"/>
                              </a:solidFill>
                              <a:latin typeface="Cambria Math" panose="02040503050406030204" pitchFamily="18" charset="0"/>
                            </a:rPr>
                          </m:ctrlPr>
                        </m:naryPr>
                        <m:sub>
                          <m:r>
                            <m:rPr>
                              <m:brk m:alnAt="23"/>
                            </m:rPr>
                            <a:rPr lang="en-US" altLang="zh-CN" sz="2800" b="0" i="1">
                              <a:solidFill>
                                <a:schemeClr val="tx1"/>
                              </a:solidFill>
                              <a:latin typeface="Cambria Math" panose="02040503050406030204" pitchFamily="18" charset="0"/>
                            </a:rPr>
                            <m:t>𝑙</m:t>
                          </m:r>
                        </m:sub>
                        <m:sup/>
                        <m:e>
                          <m:acc>
                            <m:accPr>
                              <m:chr m:val="⃗"/>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𝐻</m:t>
                              </m:r>
                            </m:e>
                          </m:acc>
                          <m:r>
                            <m:rPr>
                              <m:brk m:alnAt="23"/>
                            </m:rPr>
                            <a:rPr lang="zh-CN" altLang="en-US"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𝑑</m:t>
                          </m:r>
                          <m:acc>
                            <m:accPr>
                              <m:chr m:val="⃗"/>
                              <m:ctrlPr>
                                <a:rPr lang="en-US" altLang="zh-CN" sz="2800" i="1">
                                  <a:solidFill>
                                    <a:schemeClr val="tx1"/>
                                  </a:solidFill>
                                  <a:latin typeface="Cambria Math" panose="02040503050406030204" pitchFamily="18" charset="0"/>
                                </a:rPr>
                              </m:ctrlPr>
                            </m:accPr>
                            <m:e>
                              <m:r>
                                <a:rPr lang="en-US" altLang="zh-CN" sz="2800" b="0" i="1">
                                  <a:solidFill>
                                    <a:schemeClr val="tx1"/>
                                  </a:solidFill>
                                  <a:latin typeface="Cambria Math" panose="02040503050406030204" pitchFamily="18" charset="0"/>
                                </a:rPr>
                                <m:t>𝑙</m:t>
                              </m:r>
                            </m:e>
                          </m:acc>
                        </m:e>
                      </m:nary>
                      <m:r>
                        <a:rPr lang="en-US" altLang="zh-CN" sz="2800" b="0" i="1">
                          <a:solidFill>
                            <a:schemeClr val="tx1"/>
                          </a:solidFill>
                          <a:latin typeface="Cambria Math" panose="02040503050406030204" pitchFamily="18" charset="0"/>
                        </a:rPr>
                        <m:t>=</m:t>
                      </m:r>
                      <m:nary>
                        <m:naryPr>
                          <m:ctrlPr>
                            <a:rPr lang="en-US" altLang="zh-CN" sz="2800" i="1">
                              <a:solidFill>
                                <a:schemeClr val="tx1"/>
                              </a:solidFill>
                              <a:latin typeface="Cambria Math" panose="02040503050406030204" pitchFamily="18" charset="0"/>
                            </a:rPr>
                          </m:ctrlPr>
                        </m:naryPr>
                        <m:sub>
                          <m:r>
                            <m:rPr>
                              <m:brk m:alnAt="23"/>
                            </m:rPr>
                            <a:rPr lang="en-US" altLang="zh-CN" sz="2800" b="0" i="1">
                              <a:solidFill>
                                <a:schemeClr val="tx1"/>
                              </a:solidFill>
                              <a:latin typeface="Cambria Math" panose="02040503050406030204" pitchFamily="18" charset="0"/>
                            </a:rPr>
                            <m:t>𝑎</m:t>
                          </m:r>
                        </m:sub>
                        <m:sup>
                          <m:r>
                            <a:rPr lang="en-US" altLang="zh-CN" sz="2800" b="0" i="1">
                              <a:solidFill>
                                <a:schemeClr val="tx1"/>
                              </a:solidFill>
                              <a:latin typeface="Cambria Math" panose="02040503050406030204" pitchFamily="18" charset="0"/>
                            </a:rPr>
                            <m:t>𝑏</m:t>
                          </m:r>
                        </m:sup>
                        <m:e>
                          <m:acc>
                            <m:accPr>
                              <m:chr m:val="⃗"/>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𝐻</m:t>
                              </m:r>
                            </m:e>
                          </m:acc>
                          <m:r>
                            <m:rPr>
                              <m:brk m:alnAt="23"/>
                            </m:rPr>
                            <a:rPr lang="zh-CN" altLang="en-US"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𝑑</m:t>
                          </m:r>
                          <m:acc>
                            <m:accPr>
                              <m:chr m:val="⃗"/>
                              <m:ctrlPr>
                                <a:rPr lang="en-US" altLang="zh-CN" sz="2800" i="1">
                                  <a:solidFill>
                                    <a:schemeClr val="tx1"/>
                                  </a:solidFill>
                                  <a:latin typeface="Cambria Math" panose="02040503050406030204" pitchFamily="18" charset="0"/>
                                </a:rPr>
                              </m:ctrlPr>
                            </m:accPr>
                            <m:e>
                              <m:r>
                                <a:rPr lang="en-US" altLang="zh-CN" sz="2800" b="0" i="1">
                                  <a:solidFill>
                                    <a:schemeClr val="tx1"/>
                                  </a:solidFill>
                                  <a:latin typeface="Cambria Math" panose="02040503050406030204" pitchFamily="18" charset="0"/>
                                </a:rPr>
                                <m:t>𝑙</m:t>
                              </m:r>
                            </m:e>
                          </m:acc>
                        </m:e>
                      </m:nary>
                      <m:r>
                        <a:rPr lang="en-US" altLang="zh-CN"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𝐻𝑙</m:t>
                      </m:r>
                      <m:r>
                        <a:rPr lang="en-US" altLang="zh-CN"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𝑛𝑙𝐼</m:t>
                      </m:r>
                    </m:oMath>
                  </m:oMathPara>
                </a14:m>
                <a:endParaRPr lang="en-US" altLang="zh-CN"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9" name="文本框 18">
                <a:extLst>
                  <a:ext uri="{FF2B5EF4-FFF2-40B4-BE49-F238E27FC236}">
                    <a16:creationId xmlns:a16="http://schemas.microsoft.com/office/drawing/2014/main" id="{910EA539-4D40-4220-A824-06385D3D12B7}"/>
                  </a:ext>
                </a:extLst>
              </p:cNvPr>
              <p:cNvSpPr txBox="1">
                <a:spLocks noRot="1" noChangeAspect="1" noMove="1" noResize="1" noEditPoints="1" noAdjustHandles="1" noChangeArrowheads="1" noChangeShapeType="1" noTextEdit="1"/>
              </p:cNvSpPr>
              <p:nvPr/>
            </p:nvSpPr>
            <p:spPr>
              <a:xfrm>
                <a:off x="2912291" y="3440286"/>
                <a:ext cx="5254625" cy="160217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4BA4092F-3B6C-4CA3-A6F7-5B4E6BF432B5}"/>
                  </a:ext>
                </a:extLst>
              </p:cNvPr>
              <p:cNvSpPr txBox="1"/>
              <p:nvPr/>
            </p:nvSpPr>
            <p:spPr>
              <a:xfrm>
                <a:off x="3036797" y="4848007"/>
                <a:ext cx="2257425" cy="738664"/>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m:t>
                      </m:r>
                      <m:r>
                        <a:rPr lang="en-US" altLang="zh-CN" sz="2800" b="0" i="1">
                          <a:solidFill>
                            <a:schemeClr val="tx1"/>
                          </a:solidFill>
                          <a:latin typeface="Cambria Math" panose="02040503050406030204" pitchFamily="18" charset="0"/>
                        </a:rPr>
                        <m:t>𝐻</m:t>
                      </m:r>
                      <m:r>
                        <a:rPr lang="en-US" altLang="zh-CN" sz="2800" b="0" i="1">
                          <a:solidFill>
                            <a:schemeClr val="tx1"/>
                          </a:solidFill>
                          <a:latin typeface="Cambria Math" panose="02040503050406030204" pitchFamily="18" charset="0"/>
                        </a:rPr>
                        <m:t>=</m:t>
                      </m:r>
                      <m:r>
                        <a:rPr lang="en-US" altLang="zh-CN" sz="2800" b="0" i="1">
                          <a:solidFill>
                            <a:schemeClr val="tx1"/>
                          </a:solidFill>
                          <a:latin typeface="Cambria Math" panose="02040503050406030204" pitchFamily="18" charset="0"/>
                        </a:rPr>
                        <m:t>𝑛𝐼</m:t>
                      </m:r>
                    </m:oMath>
                  </m:oMathPara>
                </a14:m>
                <a:endParaRPr lang="en-US" altLang="zh-CN"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21" name="文本框 20">
                <a:extLst>
                  <a:ext uri="{FF2B5EF4-FFF2-40B4-BE49-F238E27FC236}">
                    <a16:creationId xmlns:a16="http://schemas.microsoft.com/office/drawing/2014/main" id="{4BA4092F-3B6C-4CA3-A6F7-5B4E6BF432B5}"/>
                  </a:ext>
                </a:extLst>
              </p:cNvPr>
              <p:cNvSpPr txBox="1">
                <a:spLocks noRot="1" noChangeAspect="1" noMove="1" noResize="1" noEditPoints="1" noAdjustHandles="1" noChangeArrowheads="1" noChangeShapeType="1" noTextEdit="1"/>
              </p:cNvSpPr>
              <p:nvPr/>
            </p:nvSpPr>
            <p:spPr>
              <a:xfrm>
                <a:off x="3036797" y="4848007"/>
                <a:ext cx="2257425" cy="73866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E4986231-7456-49F2-A10C-9F1897C4592A}"/>
                  </a:ext>
                </a:extLst>
              </p:cNvPr>
              <p:cNvSpPr txBox="1"/>
              <p:nvPr/>
            </p:nvSpPr>
            <p:spPr>
              <a:xfrm>
                <a:off x="5434646" y="4904156"/>
                <a:ext cx="4200526" cy="738664"/>
              </a:xfrm>
              <a:prstGeom prst="rect">
                <a:avLst/>
              </a:prstGeom>
              <a:noFill/>
            </p:spPr>
            <p:txBody>
              <a:bodyPr wrap="square">
                <a:spAutoFit/>
              </a:bodyPr>
              <a:lstStyle/>
              <a:p>
                <a:pPr lvl="0">
                  <a:lnSpc>
                    <a:spcPct val="150000"/>
                  </a:lnSpc>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m:t>
                      </m:r>
                      <m:r>
                        <a:rPr lang="en-US" altLang="zh-CN" sz="2800" b="0" i="1" smtClean="0">
                          <a:solidFill>
                            <a:schemeClr val="tx1"/>
                          </a:solidFill>
                          <a:latin typeface="Cambria Math" panose="02040503050406030204" pitchFamily="18" charset="0"/>
                          <a:ea typeface="Cambria Math" panose="02040503050406030204" pitchFamily="18" charset="0"/>
                        </a:rPr>
                        <m:t>𝐵</m:t>
                      </m:r>
                      <m:r>
                        <a:rPr lang="en-US" altLang="zh-CN" sz="2800" b="0" i="1" smtClean="0">
                          <a:solidFill>
                            <a:schemeClr val="tx1"/>
                          </a:solidFill>
                          <a:latin typeface="Cambria Math" panose="02040503050406030204" pitchFamily="18" charset="0"/>
                          <a:ea typeface="Cambria Math" panose="02040503050406030204" pitchFamily="18" charset="0"/>
                        </a:rPr>
                        <m:t>=</m:t>
                      </m:r>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𝑟</m:t>
                          </m:r>
                        </m:sub>
                      </m:sSub>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0</m:t>
                          </m:r>
                        </m:sub>
                      </m:sSub>
                      <m:r>
                        <a:rPr lang="en-US" altLang="zh-CN" sz="2800" b="0" i="1">
                          <a:solidFill>
                            <a:schemeClr val="tx1"/>
                          </a:solidFill>
                          <a:latin typeface="Cambria Math" panose="02040503050406030204" pitchFamily="18" charset="0"/>
                        </a:rPr>
                        <m:t>𝐻</m:t>
                      </m:r>
                      <m:r>
                        <a:rPr lang="en-US" altLang="zh-CN" sz="2800" b="0" i="1">
                          <a:solidFill>
                            <a:schemeClr val="tx1"/>
                          </a:solidFill>
                          <a:latin typeface="Cambria Math" panose="02040503050406030204" pitchFamily="18" charset="0"/>
                        </a:rPr>
                        <m:t>=</m:t>
                      </m:r>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𝑟</m:t>
                          </m:r>
                        </m:sub>
                      </m:sSub>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0</m:t>
                          </m:r>
                        </m:sub>
                      </m:sSub>
                      <m:r>
                        <a:rPr lang="en-US" altLang="zh-CN" sz="2800" b="0" i="1">
                          <a:solidFill>
                            <a:schemeClr val="tx1"/>
                          </a:solidFill>
                          <a:latin typeface="Cambria Math" panose="02040503050406030204" pitchFamily="18" charset="0"/>
                        </a:rPr>
                        <m:t>𝑛𝐼</m:t>
                      </m:r>
                    </m:oMath>
                  </m:oMathPara>
                </a14:m>
                <a:endParaRPr lang="en-US" altLang="zh-CN"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23" name="文本框 22">
                <a:extLst>
                  <a:ext uri="{FF2B5EF4-FFF2-40B4-BE49-F238E27FC236}">
                    <a16:creationId xmlns:a16="http://schemas.microsoft.com/office/drawing/2014/main" id="{E4986231-7456-49F2-A10C-9F1897C4592A}"/>
                  </a:ext>
                </a:extLst>
              </p:cNvPr>
              <p:cNvSpPr txBox="1">
                <a:spLocks noRot="1" noChangeAspect="1" noMove="1" noResize="1" noEditPoints="1" noAdjustHandles="1" noChangeArrowheads="1" noChangeShapeType="1" noTextEdit="1"/>
              </p:cNvSpPr>
              <p:nvPr/>
            </p:nvSpPr>
            <p:spPr>
              <a:xfrm>
                <a:off x="5434646" y="4904156"/>
                <a:ext cx="4200526" cy="73866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220E23F-07AD-4B6D-81D0-2B56908FAACB}"/>
                  </a:ext>
                </a:extLst>
              </p:cNvPr>
              <p:cNvSpPr txBox="1"/>
              <p:nvPr/>
            </p:nvSpPr>
            <p:spPr>
              <a:xfrm>
                <a:off x="8366827" y="4001379"/>
                <a:ext cx="4721454" cy="674736"/>
              </a:xfrm>
              <a:prstGeom prst="rect">
                <a:avLst/>
              </a:prstGeom>
              <a:noFill/>
            </p:spPr>
            <p:txBody>
              <a:bodyPr wrap="square">
                <a:spAutoFit/>
              </a:bodyPr>
              <a:lstStyle/>
              <a:p>
                <a:pPr>
                  <a:lnSpc>
                    <a:spcPct val="150000"/>
                  </a:lnSpc>
                </a:pPr>
                <a14:m>
                  <m:oMath xmlns:m="http://schemas.openxmlformats.org/officeDocument/2006/math">
                    <m:r>
                      <a:rPr lang="en-US" altLang="zh-CN" sz="2800" b="0" i="1">
                        <a:solidFill>
                          <a:schemeClr val="tx1"/>
                        </a:solidFill>
                        <a:latin typeface="Cambria Math" panose="02040503050406030204" pitchFamily="18" charset="0"/>
                      </a:rPr>
                      <m:t>𝑛</m:t>
                    </m:r>
                    <m:r>
                      <a:rPr lang="zh-CN" altLang="en-US" sz="2800" i="1">
                        <a:latin typeface="Cambria Math" panose="02040503050406030204" pitchFamily="18" charset="0"/>
                      </a:rPr>
                      <m:t>：</m:t>
                    </m:r>
                  </m:oMath>
                </a14:m>
                <a:r>
                  <a:rPr lang="zh-CN" altLang="en-US" sz="2800" dirty="0">
                    <a:solidFill>
                      <a:schemeClr val="tx1"/>
                    </a:solidFill>
                    <a:latin typeface="华文楷体" panose="02010600040101010101" pitchFamily="2" charset="-122"/>
                    <a:ea typeface="华文楷体" panose="02010600040101010101" pitchFamily="2" charset="-122"/>
                  </a:rPr>
                  <a:t>单位长度线圈密度</a:t>
                </a:r>
                <a:endParaRPr lang="en-US" altLang="zh-CN"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0" name="文本框 9">
                <a:extLst>
                  <a:ext uri="{FF2B5EF4-FFF2-40B4-BE49-F238E27FC236}">
                    <a16:creationId xmlns:a16="http://schemas.microsoft.com/office/drawing/2014/main" id="{2220E23F-07AD-4B6D-81D0-2B56908FAACB}"/>
                  </a:ext>
                </a:extLst>
              </p:cNvPr>
              <p:cNvSpPr txBox="1">
                <a:spLocks noRot="1" noChangeAspect="1" noMove="1" noResize="1" noEditPoints="1" noAdjustHandles="1" noChangeArrowheads="1" noChangeShapeType="1" noTextEdit="1"/>
              </p:cNvSpPr>
              <p:nvPr/>
            </p:nvSpPr>
            <p:spPr>
              <a:xfrm>
                <a:off x="8366827" y="4001379"/>
                <a:ext cx="4721454" cy="674736"/>
              </a:xfrm>
              <a:prstGeom prst="rect">
                <a:avLst/>
              </a:prstGeom>
              <a:blipFill>
                <a:blip r:embed="rId10"/>
                <a:stretch>
                  <a:fillRect b="-24324"/>
                </a:stretch>
              </a:blipFill>
            </p:spPr>
            <p:txBody>
              <a:bodyPr/>
              <a:lstStyle/>
              <a:p>
                <a:r>
                  <a:rPr lang="en-US">
                    <a:noFill/>
                  </a:rPr>
                  <a:t> </a:t>
                </a:r>
              </a:p>
            </p:txBody>
          </p:sp>
        </mc:Fallback>
      </mc:AlternateContent>
    </p:spTree>
    <p:extLst>
      <p:ext uri="{BB962C8B-B14F-4D97-AF65-F5344CB8AC3E}">
        <p14:creationId xmlns:p14="http://schemas.microsoft.com/office/powerpoint/2010/main" val="178665263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7" grpId="0"/>
      <p:bldP spid="19" grpId="0"/>
      <p:bldP spid="21" grpId="0"/>
      <p:bldP spid="23"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标题 2"/>
              <p:cNvSpPr>
                <a:spLocks noGrp="1"/>
              </p:cNvSpPr>
              <p:nvPr>
                <p:ph type="title"/>
              </p:nvPr>
            </p:nvSpPr>
            <p:spPr>
              <a:xfrm>
                <a:off x="867409" y="89368"/>
                <a:ext cx="10533561" cy="1620180"/>
              </a:xfrm>
            </p:spPr>
            <p:txBody>
              <a:bodyPr>
                <a:normAutofit/>
              </a:bodyPr>
              <a:lstStyle/>
              <a:p>
                <a:pPr>
                  <a:lnSpc>
                    <a:spcPct val="120000"/>
                  </a:lnSpc>
                </a:pPr>
                <a:r>
                  <a:rPr lang="zh-CN" altLang="en-US" sz="2800" dirty="0">
                    <a:solidFill>
                      <a:schemeClr val="tx1"/>
                    </a:solidFill>
                    <a:latin typeface="华文楷体" panose="02010600040101010101" pitchFamily="2" charset="-122"/>
                  </a:rPr>
                  <a:t>一无限长直螺线管充满相对磁导率为</a:t>
                </a:r>
                <a14:m>
                  <m:oMath xmlns:m="http://schemas.openxmlformats.org/officeDocument/2006/math">
                    <m:sSub>
                      <m:sSubPr>
                        <m:ctrlPr>
                          <a:rPr lang="en-US" altLang="zh-CN"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𝜇</m:t>
                        </m:r>
                      </m:e>
                      <m:sub>
                        <m:r>
                          <a:rPr lang="en-US" altLang="zh-CN" sz="2800" b="0" i="1">
                            <a:solidFill>
                              <a:schemeClr val="tx1"/>
                            </a:solidFill>
                            <a:latin typeface="Cambria Math" panose="02040503050406030204" pitchFamily="18" charset="0"/>
                          </a:rPr>
                          <m:t>𝑟</m:t>
                        </m:r>
                      </m:sub>
                    </m:sSub>
                  </m:oMath>
                </a14:m>
                <a:r>
                  <a:rPr lang="zh-CN" altLang="en-US" sz="2800" dirty="0">
                    <a:solidFill>
                      <a:schemeClr val="tx1"/>
                    </a:solidFill>
                    <a:latin typeface="华文楷体" panose="02010600040101010101" pitchFamily="2" charset="-122"/>
                  </a:rPr>
                  <a:t>的均匀磁介质。当导线内通以电量</a:t>
                </a:r>
                <a:r>
                  <a:rPr lang="en-US" altLang="zh-CN" sz="2800" dirty="0">
                    <a:solidFill>
                      <a:schemeClr val="tx1"/>
                    </a:solidFill>
                    <a:latin typeface="华文楷体" panose="02010600040101010101" pitchFamily="2" charset="-122"/>
                  </a:rPr>
                  <a:t>I</a:t>
                </a:r>
                <a:r>
                  <a:rPr lang="zh-CN" altLang="en-US" sz="2800" dirty="0">
                    <a:solidFill>
                      <a:schemeClr val="tx1"/>
                    </a:solidFill>
                    <a:latin typeface="华文楷体" panose="02010600040101010101" pitchFamily="2" charset="-122"/>
                  </a:rPr>
                  <a:t>时，求管内的磁感应强度和磁介质表面的面束缚电流密度。</a:t>
                </a:r>
              </a:p>
            </p:txBody>
          </p:sp>
        </mc:Choice>
        <mc:Fallback xmlns="">
          <p:sp>
            <p:nvSpPr>
              <p:cNvPr id="3" name="标题 2"/>
              <p:cNvSpPr>
                <a:spLocks noGrp="1" noRot="1" noChangeAspect="1" noMove="1" noResize="1" noEditPoints="1" noAdjustHandles="1" noChangeArrowheads="1" noChangeShapeType="1" noTextEdit="1"/>
              </p:cNvSpPr>
              <p:nvPr>
                <p:ph type="title"/>
              </p:nvPr>
            </p:nvSpPr>
            <p:spPr>
              <a:xfrm>
                <a:off x="867409" y="89368"/>
                <a:ext cx="10533561" cy="1620180"/>
              </a:xfrm>
              <a:blipFill>
                <a:blip r:embed="rId2"/>
                <a:stretch>
                  <a:fillRect l="-1157" r="-2025"/>
                </a:stretch>
              </a:blipFill>
            </p:spPr>
            <p:txBody>
              <a:bodyPr/>
              <a:lstStyle/>
              <a:p>
                <a:r>
                  <a:rPr lang="zh-CN" altLang="en-US">
                    <a:noFill/>
                  </a:rPr>
                  <a:t> </a:t>
                </a:r>
              </a:p>
            </p:txBody>
          </p:sp>
        </mc:Fallback>
      </mc:AlternateContent>
      <p:pic>
        <p:nvPicPr>
          <p:cNvPr id="5" name="内容占位符 4"/>
          <p:cNvPicPr>
            <a:picLocks noGrp="1" noChangeAspect="1"/>
          </p:cNvPicPr>
          <p:nvPr>
            <p:ph idx="1"/>
          </p:nvPr>
        </p:nvPicPr>
        <p:blipFill rotWithShape="1">
          <a:blip r:embed="rId3">
            <a:extLst>
              <a:ext uri="{28A0092B-C50C-407E-A947-70E740481C1C}">
                <a14:useLocalDpi xmlns:a14="http://schemas.microsoft.com/office/drawing/2010/main" val="0"/>
              </a:ext>
            </a:extLst>
          </a:blip>
          <a:srcRect l="4001" t="6704" r="5333" b="8481"/>
          <a:stretch/>
        </p:blipFill>
        <p:spPr>
          <a:xfrm rot="10800000">
            <a:off x="964745" y="1645444"/>
            <a:ext cx="3060341" cy="2250251"/>
          </a:xfrm>
        </p:spPr>
      </p:pic>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E4986231-7456-49F2-A10C-9F1897C4592A}"/>
                  </a:ext>
                </a:extLst>
              </p:cNvPr>
              <p:cNvSpPr txBox="1"/>
              <p:nvPr/>
            </p:nvSpPr>
            <p:spPr>
              <a:xfrm>
                <a:off x="6298246" y="1803376"/>
                <a:ext cx="4200526" cy="738664"/>
              </a:xfrm>
              <a:prstGeom prst="rect">
                <a:avLst/>
              </a:prstGeom>
              <a:noFill/>
            </p:spPr>
            <p:txBody>
              <a:bodyPr wrap="square">
                <a:spAutoFit/>
              </a:bodyPr>
              <a:lstStyle/>
              <a:p>
                <a:pPr lvl="0">
                  <a:lnSpc>
                    <a:spcPct val="150000"/>
                  </a:lnSpc>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𝐵</m:t>
                      </m:r>
                      <m:r>
                        <a:rPr lang="en-US" altLang="zh-CN" sz="2800" b="0" i="1" smtClean="0">
                          <a:solidFill>
                            <a:schemeClr val="tx1"/>
                          </a:solidFill>
                          <a:latin typeface="Cambria Math" panose="02040503050406030204" pitchFamily="18" charset="0"/>
                          <a:ea typeface="Cambria Math" panose="02040503050406030204" pitchFamily="18" charset="0"/>
                        </a:rPr>
                        <m:t>=</m:t>
                      </m:r>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𝑟</m:t>
                          </m:r>
                        </m:sub>
                      </m:sSub>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0</m:t>
                          </m:r>
                        </m:sub>
                      </m:sSub>
                      <m:r>
                        <a:rPr lang="en-US" altLang="zh-CN" sz="2800" b="0" i="1">
                          <a:solidFill>
                            <a:schemeClr val="tx1"/>
                          </a:solidFill>
                          <a:latin typeface="Cambria Math" panose="02040503050406030204" pitchFamily="18" charset="0"/>
                        </a:rPr>
                        <m:t>𝐻</m:t>
                      </m:r>
                      <m:r>
                        <a:rPr lang="en-US" altLang="zh-CN" sz="2800" b="0" i="1">
                          <a:solidFill>
                            <a:schemeClr val="tx1"/>
                          </a:solidFill>
                          <a:latin typeface="Cambria Math" panose="02040503050406030204" pitchFamily="18" charset="0"/>
                        </a:rPr>
                        <m:t>=</m:t>
                      </m:r>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𝑟</m:t>
                          </m:r>
                        </m:sub>
                      </m:sSub>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0</m:t>
                          </m:r>
                        </m:sub>
                      </m:sSub>
                      <m:r>
                        <a:rPr lang="en-US" altLang="zh-CN" sz="2800" b="0" i="1">
                          <a:solidFill>
                            <a:schemeClr val="tx1"/>
                          </a:solidFill>
                          <a:latin typeface="Cambria Math" panose="02040503050406030204" pitchFamily="18" charset="0"/>
                        </a:rPr>
                        <m:t>𝑛𝐼</m:t>
                      </m:r>
                    </m:oMath>
                  </m:oMathPara>
                </a14:m>
                <a:endParaRPr lang="en-US" altLang="zh-CN"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23" name="文本框 22">
                <a:extLst>
                  <a:ext uri="{FF2B5EF4-FFF2-40B4-BE49-F238E27FC236}">
                    <a16:creationId xmlns:a16="http://schemas.microsoft.com/office/drawing/2014/main" id="{E4986231-7456-49F2-A10C-9F1897C4592A}"/>
                  </a:ext>
                </a:extLst>
              </p:cNvPr>
              <p:cNvSpPr txBox="1">
                <a:spLocks noRot="1" noChangeAspect="1" noMove="1" noResize="1" noEditPoints="1" noAdjustHandles="1" noChangeArrowheads="1" noChangeShapeType="1" noTextEdit="1"/>
              </p:cNvSpPr>
              <p:nvPr/>
            </p:nvSpPr>
            <p:spPr>
              <a:xfrm>
                <a:off x="6298246" y="1803376"/>
                <a:ext cx="4200526" cy="738664"/>
              </a:xfrm>
              <a:prstGeom prst="rect">
                <a:avLst/>
              </a:prstGeom>
              <a:blipFill>
                <a:blip r:embed="rId4"/>
                <a:stretch>
                  <a:fillRect/>
                </a:stretch>
              </a:blipFill>
            </p:spPr>
            <p:txBody>
              <a:bodyPr/>
              <a:lstStyle/>
              <a:p>
                <a:r>
                  <a:rPr lang="zh-CN" altLang="en-US">
                    <a:noFill/>
                  </a:rPr>
                  <a:t> </a:t>
                </a:r>
              </a:p>
            </p:txBody>
          </p:sp>
        </mc:Fallback>
      </mc:AlternateContent>
      <p:sp>
        <p:nvSpPr>
          <p:cNvPr id="2" name="标题 2">
            <a:extLst>
              <a:ext uri="{FF2B5EF4-FFF2-40B4-BE49-F238E27FC236}">
                <a16:creationId xmlns:a16="http://schemas.microsoft.com/office/drawing/2014/main" id="{BBB0B05E-12D5-DD5C-D8D5-22984CEB4964}"/>
              </a:ext>
            </a:extLst>
          </p:cNvPr>
          <p:cNvSpPr txBox="1">
            <a:spLocks/>
          </p:cNvSpPr>
          <p:nvPr/>
        </p:nvSpPr>
        <p:spPr>
          <a:xfrm>
            <a:off x="4122421" y="3039373"/>
            <a:ext cx="28998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t>面束缚电流密度：</a:t>
            </a:r>
          </a:p>
        </p:txBody>
      </p:sp>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9E42A8DD-896D-D530-1250-F0CD71648170}"/>
                  </a:ext>
                </a:extLst>
              </p:cNvPr>
              <p:cNvSpPr txBox="1">
                <a:spLocks/>
              </p:cNvSpPr>
              <p:nvPr/>
            </p:nvSpPr>
            <p:spPr>
              <a:xfrm>
                <a:off x="5290389" y="3965995"/>
                <a:ext cx="4093097" cy="7978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华文楷体" panose="020106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华文楷体" panose="020106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华文楷体" panose="020106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华文楷体" panose="020106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华文楷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altLang="zh-CN"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𝑗</m:t>
                          </m:r>
                        </m:e>
                        <m:sup>
                          <m:r>
                            <a:rPr lang="en-US" altLang="zh-CN" b="0" i="1" smtClean="0">
                              <a:solidFill>
                                <a:schemeClr val="tx1"/>
                              </a:solidFill>
                              <a:latin typeface="Cambria Math" panose="02040503050406030204" pitchFamily="18" charset="0"/>
                            </a:rPr>
                            <m:t>′</m:t>
                          </m:r>
                        </m:sup>
                      </m:sSup>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𝑀</m:t>
                      </m:r>
                      <m:r>
                        <a:rPr lang="en-US" altLang="zh-CN" b="0" i="1" smtClean="0">
                          <a:solidFill>
                            <a:schemeClr val="tx1"/>
                          </a:solidFill>
                          <a:latin typeface="Cambria Math" panose="02040503050406030204" pitchFamily="18" charset="0"/>
                        </a:rPr>
                        <m:t>=</m:t>
                      </m:r>
                      <m:d>
                        <m:dPr>
                          <m:ctrlPr>
                            <a:rPr lang="en-US" altLang="zh-CN" i="1" smtClean="0">
                              <a:solidFill>
                                <a:schemeClr val="tx1"/>
                              </a:solidFill>
                              <a:latin typeface="Cambria Math" panose="02040503050406030204" pitchFamily="18" charset="0"/>
                              <a:ea typeface="Cambria Math" panose="02040503050406030204" pitchFamily="18" charset="0"/>
                            </a:rPr>
                          </m:ctrlPr>
                        </m:dPr>
                        <m:e>
                          <m:sSub>
                            <m:sSubPr>
                              <m:ctrlPr>
                                <a:rPr lang="en-US" altLang="zh-CN" i="1">
                                  <a:solidFill>
                                    <a:schemeClr val="tx1"/>
                                  </a:solidFill>
                                  <a:latin typeface="Cambria Math" panose="02040503050406030204" pitchFamily="18" charset="0"/>
                                  <a:ea typeface="Cambria Math" panose="02040503050406030204" pitchFamily="18" charset="0"/>
                                </a:rPr>
                              </m:ctrlPr>
                            </m:sSubPr>
                            <m:e>
                              <m:r>
                                <a:rPr lang="zh-CN" altLang="en-US" b="0" i="1">
                                  <a:solidFill>
                                    <a:schemeClr val="tx1"/>
                                  </a:solidFill>
                                  <a:latin typeface="Cambria Math" panose="02040503050406030204" pitchFamily="18" charset="0"/>
                                  <a:ea typeface="Cambria Math" panose="02040503050406030204" pitchFamily="18" charset="0"/>
                                </a:rPr>
                                <m:t>𝜇</m:t>
                              </m:r>
                            </m:e>
                            <m:sub>
                              <m:r>
                                <a:rPr lang="en-US" altLang="zh-CN" b="0" i="1">
                                  <a:solidFill>
                                    <a:schemeClr val="tx1"/>
                                  </a:solidFill>
                                  <a:latin typeface="Cambria Math" panose="02040503050406030204" pitchFamily="18" charset="0"/>
                                  <a:ea typeface="Cambria Math" panose="02040503050406030204" pitchFamily="18" charset="0"/>
                                </a:rPr>
                                <m:t>𝑟</m:t>
                              </m:r>
                            </m:sub>
                          </m:sSub>
                          <m:r>
                            <a:rPr lang="en-US" altLang="zh-CN" b="0" i="1" smtClean="0">
                              <a:solidFill>
                                <a:schemeClr val="tx1"/>
                              </a:solidFill>
                              <a:latin typeface="Cambria Math" panose="02040503050406030204" pitchFamily="18" charset="0"/>
                              <a:ea typeface="Cambria Math" panose="02040503050406030204" pitchFamily="18" charset="0"/>
                            </a:rPr>
                            <m:t>−1</m:t>
                          </m:r>
                        </m:e>
                      </m:d>
                      <m:r>
                        <a:rPr lang="en-US" altLang="zh-CN" b="0" i="1" smtClean="0">
                          <a:solidFill>
                            <a:schemeClr val="tx1"/>
                          </a:solidFill>
                          <a:latin typeface="Cambria Math" panose="02040503050406030204" pitchFamily="18" charset="0"/>
                        </a:rPr>
                        <m:t>𝑛𝐼</m:t>
                      </m:r>
                    </m:oMath>
                  </m:oMathPara>
                </a14:m>
                <a:endParaRPr lang="en-US" altLang="zh-CN" dirty="0">
                  <a:solidFill>
                    <a:schemeClr val="tx1"/>
                  </a:solidFill>
                </a:endParaRPr>
              </a:p>
            </p:txBody>
          </p:sp>
        </mc:Choice>
        <mc:Fallback xmlns="">
          <p:sp>
            <p:nvSpPr>
              <p:cNvPr id="4" name="内容占位符 3">
                <a:extLst>
                  <a:ext uri="{FF2B5EF4-FFF2-40B4-BE49-F238E27FC236}">
                    <a16:creationId xmlns:a16="http://schemas.microsoft.com/office/drawing/2014/main" id="{9E42A8DD-896D-D530-1250-F0CD71648170}"/>
                  </a:ext>
                </a:extLst>
              </p:cNvPr>
              <p:cNvSpPr txBox="1">
                <a:spLocks noRot="1" noChangeAspect="1" noMove="1" noResize="1" noEditPoints="1" noAdjustHandles="1" noChangeArrowheads="1" noChangeShapeType="1" noTextEdit="1"/>
              </p:cNvSpPr>
              <p:nvPr/>
            </p:nvSpPr>
            <p:spPr>
              <a:xfrm>
                <a:off x="5290389" y="3965995"/>
                <a:ext cx="4093097" cy="79788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AFC84DA-4654-CD54-DB8C-A5F6543A2483}"/>
                  </a:ext>
                </a:extLst>
              </p:cNvPr>
              <p:cNvSpPr txBox="1"/>
              <p:nvPr/>
            </p:nvSpPr>
            <p:spPr>
              <a:xfrm>
                <a:off x="1942873" y="4759274"/>
                <a:ext cx="9090025" cy="1384995"/>
              </a:xfrm>
              <a:prstGeom prst="rect">
                <a:avLst/>
              </a:prstGeom>
              <a:noFill/>
            </p:spPr>
            <p:txBody>
              <a:bodyPr wrap="square">
                <a:spAutoFit/>
              </a:bodyPr>
              <a:lstStyle/>
              <a:p>
                <a:pPr marL="0" indent="0">
                  <a:buClr>
                    <a:srgbClr val="99CB38"/>
                  </a:buClr>
                  <a:buFont typeface="Arial" panose="020B0604020202020204" pitchFamily="34" charset="0"/>
                  <a:buNone/>
                </a:pPr>
                <a:r>
                  <a:rPr lang="zh-CN" altLang="en-US" sz="2800" dirty="0">
                    <a:solidFill>
                      <a:schemeClr val="tx1"/>
                    </a:solidFill>
                  </a:rPr>
                  <a:t>对铁磁质，</a:t>
                </a:r>
                <a14:m>
                  <m:oMath xmlns:m="http://schemas.openxmlformats.org/officeDocument/2006/math">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𝑟</m:t>
                        </m:r>
                      </m:sub>
                    </m:sSub>
                    <m:r>
                      <a:rPr lang="en-US" altLang="zh-CN" sz="2800" b="0" i="1" smtClean="0">
                        <a:solidFill>
                          <a:schemeClr val="tx1"/>
                        </a:solidFill>
                        <a:latin typeface="Cambria Math" panose="02040503050406030204" pitchFamily="18" charset="0"/>
                        <a:ea typeface="Cambria Math" panose="02040503050406030204" pitchFamily="18" charset="0"/>
                      </a:rPr>
                      <m:t>≫1</m:t>
                    </m:r>
                  </m:oMath>
                </a14:m>
                <a:r>
                  <a:rPr lang="zh-CN" altLang="en-US" sz="2800" dirty="0">
                    <a:solidFill>
                      <a:schemeClr val="tx1"/>
                    </a:solidFill>
                  </a:rPr>
                  <a:t>，面束缚电流密度</a:t>
                </a:r>
                <a14:m>
                  <m:oMath xmlns:m="http://schemas.openxmlformats.org/officeDocument/2006/math">
                    <m:sSup>
                      <m:sSupPr>
                        <m:ctrlPr>
                          <a:rPr lang="en-US" altLang="zh-CN" sz="2800" i="1" smtClean="0">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𝑗</m:t>
                        </m:r>
                      </m:e>
                      <m:sup>
                        <m:r>
                          <a:rPr lang="en-US" altLang="zh-CN" sz="2800" b="0" i="1">
                            <a:solidFill>
                              <a:schemeClr val="tx1"/>
                            </a:solidFill>
                            <a:latin typeface="Cambria Math" panose="02040503050406030204" pitchFamily="18" charset="0"/>
                          </a:rPr>
                          <m:t>′</m:t>
                        </m:r>
                      </m:sup>
                    </m:sSup>
                  </m:oMath>
                </a14:m>
                <a:r>
                  <a:rPr lang="zh-CN" altLang="en-US" sz="2800" dirty="0">
                    <a:solidFill>
                      <a:schemeClr val="tx1"/>
                    </a:solidFill>
                  </a:rPr>
                  <a:t>比传导电流面密度</a:t>
                </a:r>
                <a14:m>
                  <m:oMath xmlns:m="http://schemas.openxmlformats.org/officeDocument/2006/math">
                    <m:r>
                      <a:rPr lang="en-US" altLang="zh-CN" sz="2800" b="0" i="1">
                        <a:solidFill>
                          <a:schemeClr val="tx1"/>
                        </a:solidFill>
                        <a:latin typeface="Cambria Math" panose="02040503050406030204" pitchFamily="18" charset="0"/>
                      </a:rPr>
                      <m:t>𝑛𝐼</m:t>
                    </m:r>
                  </m:oMath>
                </a14:m>
                <a:r>
                  <a:rPr lang="zh-CN" altLang="en-US" sz="2800" dirty="0">
                    <a:solidFill>
                      <a:schemeClr val="tx1"/>
                    </a:solidFill>
                  </a:rPr>
                  <a:t>大得多，可以认为磁场基本上是由铁磁质表面的束缚电流产生的。</a:t>
                </a:r>
              </a:p>
            </p:txBody>
          </p:sp>
        </mc:Choice>
        <mc:Fallback xmlns="">
          <p:sp>
            <p:nvSpPr>
              <p:cNvPr id="8" name="文本框 7">
                <a:extLst>
                  <a:ext uri="{FF2B5EF4-FFF2-40B4-BE49-F238E27FC236}">
                    <a16:creationId xmlns:a16="http://schemas.microsoft.com/office/drawing/2014/main" id="{EAFC84DA-4654-CD54-DB8C-A5F6543A2483}"/>
                  </a:ext>
                </a:extLst>
              </p:cNvPr>
              <p:cNvSpPr txBox="1">
                <a:spLocks noRot="1" noChangeAspect="1" noMove="1" noResize="1" noEditPoints="1" noAdjustHandles="1" noChangeArrowheads="1" noChangeShapeType="1" noTextEdit="1"/>
              </p:cNvSpPr>
              <p:nvPr/>
            </p:nvSpPr>
            <p:spPr>
              <a:xfrm>
                <a:off x="1942873" y="4759274"/>
                <a:ext cx="9090025" cy="1384995"/>
              </a:xfrm>
              <a:prstGeom prst="rect">
                <a:avLst/>
              </a:prstGeom>
              <a:blipFill>
                <a:blip r:embed="rId6"/>
                <a:stretch>
                  <a:fillRect l="-1408" t="-4846" r="-805" b="-114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5FF5DD6-EB3B-21C8-D789-6662A5F6285A}"/>
                  </a:ext>
                </a:extLst>
              </p:cNvPr>
              <p:cNvSpPr txBox="1"/>
              <p:nvPr/>
            </p:nvSpPr>
            <p:spPr>
              <a:xfrm>
                <a:off x="5420946" y="2793246"/>
                <a:ext cx="229208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solidFill>
                            <a:schemeClr val="tx1"/>
                          </a:solidFill>
                          <a:latin typeface="Cambria Math" panose="02040503050406030204" pitchFamily="18" charset="0"/>
                          <a:ea typeface="华文新魏" panose="02010800040101010101" pitchFamily="2" charset="-122"/>
                        </a:rPr>
                        <m:t>𝑀</m:t>
                      </m:r>
                      <m:r>
                        <a:rPr kumimoji="1" lang="en-US" altLang="zh-CN" sz="2800" b="0" i="1">
                          <a:solidFill>
                            <a:schemeClr val="tx1"/>
                          </a:solidFill>
                          <a:latin typeface="Cambria Math" panose="02040503050406030204" pitchFamily="18" charset="0"/>
                          <a:ea typeface="华文新魏" panose="02010800040101010101" pitchFamily="2" charset="-122"/>
                        </a:rPr>
                        <m:t>=</m:t>
                      </m:r>
                      <m:sSub>
                        <m:sSubPr>
                          <m:ctrlPr>
                            <a:rPr kumimoji="1" lang="en-US" altLang="zh-CN" sz="2800" i="1">
                              <a:solidFill>
                                <a:schemeClr val="tx1"/>
                              </a:solidFill>
                              <a:latin typeface="Cambria Math" panose="02040503050406030204" pitchFamily="18" charset="0"/>
                              <a:ea typeface="华文新魏" panose="02010800040101010101" pitchFamily="2" charset="-122"/>
                            </a:rPr>
                          </m:ctrlPr>
                        </m:sSubPr>
                        <m:e>
                          <m:r>
                            <a:rPr kumimoji="1" lang="zh-CN" altLang="en-US" sz="2800" b="0" i="1">
                              <a:solidFill>
                                <a:schemeClr val="tx1"/>
                              </a:solidFill>
                              <a:latin typeface="Cambria Math" panose="02040503050406030204" pitchFamily="18" charset="0"/>
                              <a:ea typeface="华文新魏" panose="02010800040101010101" pitchFamily="2" charset="-122"/>
                            </a:rPr>
                            <m:t>𝜒</m:t>
                          </m:r>
                        </m:e>
                        <m:sub>
                          <m:r>
                            <a:rPr kumimoji="1" lang="en-US" altLang="zh-CN" sz="2800" b="0" i="1">
                              <a:solidFill>
                                <a:schemeClr val="tx1"/>
                              </a:solidFill>
                              <a:latin typeface="Cambria Math" panose="02040503050406030204" pitchFamily="18" charset="0"/>
                              <a:ea typeface="华文新魏" panose="02010800040101010101" pitchFamily="2" charset="-122"/>
                            </a:rPr>
                            <m:t>𝑚</m:t>
                          </m:r>
                        </m:sub>
                      </m:sSub>
                      <m:r>
                        <a:rPr kumimoji="1" lang="en-US" altLang="zh-CN" sz="2800" i="1" smtClean="0">
                          <a:solidFill>
                            <a:schemeClr val="tx1"/>
                          </a:solidFill>
                          <a:latin typeface="Cambria Math" panose="02040503050406030204" pitchFamily="18" charset="0"/>
                          <a:ea typeface="华文新魏" panose="02010800040101010101" pitchFamily="2" charset="-122"/>
                        </a:rPr>
                        <m:t>𝐻</m:t>
                      </m:r>
                    </m:oMath>
                  </m:oMathPara>
                </a14:m>
                <a:endParaRPr lang="zh-CN" altLang="en-US" sz="2800" dirty="0">
                  <a:solidFill>
                    <a:schemeClr val="tx1"/>
                  </a:solidFill>
                </a:endParaRPr>
              </a:p>
            </p:txBody>
          </p:sp>
        </mc:Choice>
        <mc:Fallback xmlns="">
          <p:sp>
            <p:nvSpPr>
              <p:cNvPr id="9" name="文本框 8">
                <a:extLst>
                  <a:ext uri="{FF2B5EF4-FFF2-40B4-BE49-F238E27FC236}">
                    <a16:creationId xmlns:a16="http://schemas.microsoft.com/office/drawing/2014/main" id="{25FF5DD6-EB3B-21C8-D789-6662A5F6285A}"/>
                  </a:ext>
                </a:extLst>
              </p:cNvPr>
              <p:cNvSpPr txBox="1">
                <a:spLocks noRot="1" noChangeAspect="1" noMove="1" noResize="1" noEditPoints="1" noAdjustHandles="1" noChangeArrowheads="1" noChangeShapeType="1" noTextEdit="1"/>
              </p:cNvSpPr>
              <p:nvPr/>
            </p:nvSpPr>
            <p:spPr>
              <a:xfrm>
                <a:off x="5420946" y="2793246"/>
                <a:ext cx="2292081" cy="52322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81F6882-F9A0-3D19-CABF-8B6AF49F086C}"/>
                  </a:ext>
                </a:extLst>
              </p:cNvPr>
              <p:cNvSpPr txBox="1"/>
              <p:nvPr/>
            </p:nvSpPr>
            <p:spPr>
              <a:xfrm>
                <a:off x="4443638" y="1764163"/>
                <a:ext cx="2257425" cy="738664"/>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𝐻</m:t>
                      </m:r>
                      <m:r>
                        <a:rPr lang="en-US" altLang="zh-CN" sz="2800" b="0" i="1" smtClean="0">
                          <a:solidFill>
                            <a:schemeClr val="tx1"/>
                          </a:solidFill>
                          <a:latin typeface="Cambria Math" panose="02040503050406030204" pitchFamily="18" charset="0"/>
                        </a:rPr>
                        <m:t>=</m:t>
                      </m:r>
                      <m:r>
                        <a:rPr lang="en-US" altLang="zh-CN" sz="2800" b="0" i="1" smtClean="0">
                          <a:solidFill>
                            <a:schemeClr val="tx1"/>
                          </a:solidFill>
                          <a:latin typeface="Cambria Math" panose="02040503050406030204" pitchFamily="18" charset="0"/>
                        </a:rPr>
                        <m:t>𝑛𝐼</m:t>
                      </m:r>
                    </m:oMath>
                  </m:oMathPara>
                </a14:m>
                <a:endParaRPr lang="en-US" altLang="zh-CN" sz="28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0" name="文本框 9">
                <a:extLst>
                  <a:ext uri="{FF2B5EF4-FFF2-40B4-BE49-F238E27FC236}">
                    <a16:creationId xmlns:a16="http://schemas.microsoft.com/office/drawing/2014/main" id="{F81F6882-F9A0-3D19-CABF-8B6AF49F086C}"/>
                  </a:ext>
                </a:extLst>
              </p:cNvPr>
              <p:cNvSpPr txBox="1">
                <a:spLocks noRot="1" noChangeAspect="1" noMove="1" noResize="1" noEditPoints="1" noAdjustHandles="1" noChangeArrowheads="1" noChangeShapeType="1" noTextEdit="1"/>
              </p:cNvSpPr>
              <p:nvPr/>
            </p:nvSpPr>
            <p:spPr>
              <a:xfrm>
                <a:off x="4443638" y="1764163"/>
                <a:ext cx="2257425" cy="738664"/>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3707038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868" name="Text Box 2"/>
              <p:cNvSpPr txBox="1">
                <a:spLocks noChangeArrowheads="1"/>
              </p:cNvSpPr>
              <p:nvPr/>
            </p:nvSpPr>
            <p:spPr bwMode="auto">
              <a:xfrm>
                <a:off x="768794" y="273050"/>
                <a:ext cx="10769155" cy="18158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None/>
                </a:pPr>
                <a:r>
                  <a:rPr kumimoji="1"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一根长直单芯电缆的芯是一根半径为</a:t>
                </a:r>
                <a:r>
                  <a:rPr kumimoji="1" lang="en-US" altLang="zh-CN"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r</a:t>
                </a:r>
                <a:r>
                  <a:rPr kumimoji="1"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的金属导体，它与导电外壁之间充满相对磁导率为</a:t>
                </a:r>
                <a14:m>
                  <m:oMath xmlns:m="http://schemas.openxmlformats.org/officeDocument/2006/math">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𝑟</m:t>
                        </m:r>
                      </m:sub>
                    </m:sSub>
                  </m:oMath>
                </a14:m>
                <a:r>
                  <a:rPr kumimoji="1"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的均匀电介质，有电流</a:t>
                </a:r>
                <a:r>
                  <a:rPr kumimoji="1" lang="en-US" altLang="zh-CN"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I</a:t>
                </a:r>
                <a:r>
                  <a:rPr kumimoji="1"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均匀地流过芯的横截面并沿外壁流回。求电介质中磁感应强度的分布和紧贴导体芯的磁介质表面上的束缚电流。</a:t>
                </a:r>
              </a:p>
            </p:txBody>
          </p:sp>
        </mc:Choice>
        <mc:Fallback xmlns="">
          <p:sp>
            <p:nvSpPr>
              <p:cNvPr id="36868" name="Text Box 2"/>
              <p:cNvSpPr txBox="1">
                <a:spLocks noRot="1" noChangeAspect="1" noMove="1" noResize="1" noEditPoints="1" noAdjustHandles="1" noChangeArrowheads="1" noChangeShapeType="1" noTextEdit="1"/>
              </p:cNvSpPr>
              <p:nvPr/>
            </p:nvSpPr>
            <p:spPr bwMode="auto">
              <a:xfrm>
                <a:off x="768794" y="273050"/>
                <a:ext cx="10769155" cy="1815882"/>
              </a:xfrm>
              <a:prstGeom prst="rect">
                <a:avLst/>
              </a:prstGeom>
              <a:blipFill>
                <a:blip r:embed="rId2"/>
                <a:stretch>
                  <a:fillRect l="-1132" t="-3691" r="-1132" b="-83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124975" y="2430318"/>
            <a:ext cx="1476538" cy="3365238"/>
          </a:xfrm>
          <a:prstGeom prst="rect">
            <a:avLst/>
          </a:prstGeom>
        </p:spPr>
      </p:pic>
      <mc:AlternateContent xmlns:mc="http://schemas.openxmlformats.org/markup-compatibility/2006" xmlns:a14="http://schemas.microsoft.com/office/drawing/2010/main">
        <mc:Choice Requires="a14">
          <p:sp>
            <p:nvSpPr>
              <p:cNvPr id="5" name="Text Box 27">
                <a:extLst>
                  <a:ext uri="{FF2B5EF4-FFF2-40B4-BE49-F238E27FC236}">
                    <a16:creationId xmlns:a16="http://schemas.microsoft.com/office/drawing/2014/main" id="{BA5904E2-FE1C-46F1-86AA-B04E9B6E41BE}"/>
                  </a:ext>
                </a:extLst>
              </p:cNvPr>
              <p:cNvSpPr txBox="1">
                <a:spLocks noChangeArrowheads="1"/>
              </p:cNvSpPr>
              <p:nvPr/>
            </p:nvSpPr>
            <p:spPr bwMode="auto">
              <a:xfrm>
                <a:off x="3705814" y="2861996"/>
                <a:ext cx="5175462" cy="34506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ts val="0"/>
                  </a:spcBef>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kumimoji="1" lang="zh-CN" altLang="en-US" sz="2800" i="1" dirty="0" smtClean="0">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naryPr>
                        <m:sub/>
                        <m:sup/>
                        <m:e>
                          <m:acc>
                            <m:accPr>
                              <m:chr m:val="⃗"/>
                              <m:ctrlPr>
                                <a:rPr kumimoji="1" lang="en-US" altLang="zh-CN" sz="2800" i="1"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800" b="0" i="1"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t>𝐻</m:t>
                              </m:r>
                            </m:e>
                          </m:acc>
                          <m:r>
                            <m:rPr>
                              <m:brk/>
                            </m:rPr>
                            <a:rPr kumimoji="1" lang="zh-CN" altLang="en-US" sz="2800" b="0" i="1"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2800" b="0" i="1"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t>𝑑</m:t>
                          </m:r>
                          <m:acc>
                            <m:accPr>
                              <m:chr m:val="⃗"/>
                              <m:ctrlPr>
                                <a:rPr kumimoji="1" lang="zh-CN" altLang="en-US" sz="2800" i="1"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accPr>
                            <m:e>
                              <m:r>
                                <a:rPr kumimoji="1" lang="en-US" altLang="zh-CN" sz="2800" b="0" i="1"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t>𝑙</m:t>
                              </m:r>
                            </m:e>
                          </m:acc>
                        </m:e>
                      </m:nary>
                      <m:r>
                        <a:rPr kumimoji="1" lang="en-US" altLang="zh-CN" sz="2800" b="0" i="1"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2800" b="0" i="1" dirty="0">
                          <a:solidFill>
                            <a:schemeClr val="tx1"/>
                          </a:solidFill>
                          <a:latin typeface="Cambria Math" panose="02040503050406030204" pitchFamily="18" charset="0"/>
                          <a:ea typeface="黑体" panose="02010609060101010101" pitchFamily="49" charset="-122"/>
                          <a:cs typeface="Times New Roman" panose="02020603050405020304" pitchFamily="18" charset="0"/>
                        </a:rPr>
                        <m:t>𝐼</m:t>
                      </m:r>
                    </m:oMath>
                  </m:oMathPara>
                </a14:m>
                <a:endParaRPr kumimoji="1" lang="en-US" altLang="zh-CN" sz="28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0"/>
                  </a:spcBef>
                  <a:buNone/>
                </a:pPr>
                <a14:m>
                  <m:oMathPara xmlns:m="http://schemas.openxmlformats.org/officeDocument/2006/math">
                    <m:oMathParaPr>
                      <m:jc m:val="center"/>
                    </m:oMathParaPr>
                    <m:oMath xmlns:m="http://schemas.openxmlformats.org/officeDocument/2006/math">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2</m:t>
                      </m:r>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𝜋</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𝑑𝐻</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𝐼</m:t>
                      </m:r>
                    </m:oMath>
                  </m:oMathPara>
                </a14:m>
                <a:endParaRPr kumimoji="1" lang="en-US" altLang="zh-CN" sz="2800" b="0" i="1" dirty="0">
                  <a:solidFill>
                    <a:schemeClr val="tx1"/>
                  </a:solidFill>
                  <a:latin typeface="Cambria Math" panose="02040503050406030204" pitchFamily="18" charset="0"/>
                  <a:ea typeface="黑体" panose="02010609060101010101" pitchFamily="49" charset="-122"/>
                  <a:cs typeface="Times New Roman" panose="02020603050405020304" pitchFamily="18" charset="0"/>
                </a:endParaRPr>
              </a:p>
              <a:p>
                <a:pPr>
                  <a:lnSpc>
                    <a:spcPct val="120000"/>
                  </a:lnSpc>
                  <a:spcBef>
                    <a:spcPts val="0"/>
                  </a:spcBef>
                  <a:buNone/>
                </a:pPr>
                <a14:m>
                  <m:oMathPara xmlns:m="http://schemas.openxmlformats.org/officeDocument/2006/math">
                    <m:oMathParaPr>
                      <m:jc m:val="center"/>
                    </m:oMathParaPr>
                    <m:oMath xmlns:m="http://schemas.openxmlformats.org/officeDocument/2006/math">
                      <m:r>
                        <a:rPr kumimoji="1" lang="en-US" altLang="zh-CN" sz="2800" b="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𝐻</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f>
                        <m:fPr>
                          <m:type m:val="lin"/>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fPr>
                        <m:num>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𝐼</m:t>
                          </m:r>
                        </m:num>
                        <m:den>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2</m:t>
                          </m:r>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𝜋</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𝑑</m:t>
                          </m:r>
                        </m:den>
                      </m:f>
                    </m:oMath>
                  </m:oMathPara>
                </a14:m>
                <a:endParaRPr kumimoji="1" lang="en-US" altLang="zh-CN" sz="28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0"/>
                  </a:spcBef>
                  <a:buNone/>
                </a:pPr>
                <a14:m>
                  <m:oMathPara xmlns:m="http://schemas.openxmlformats.org/officeDocument/2006/math">
                    <m:oMathParaPr>
                      <m:jc m:val="center"/>
                    </m:oMathParaPr>
                    <m:oMath xmlns:m="http://schemas.openxmlformats.org/officeDocument/2006/math">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𝐵</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𝜇</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𝐻</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𝜇</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𝑟</m:t>
                          </m:r>
                        </m:sub>
                      </m:sSub>
                      <m:f>
                        <m:f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fPr>
                        <m:num>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𝜇</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0</m:t>
                              </m:r>
                            </m:sub>
                          </m:s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𝐼</m:t>
                          </m:r>
                        </m:num>
                        <m:den>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2</m:t>
                          </m:r>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𝜋</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𝑑</m:t>
                          </m:r>
                        </m:den>
                      </m:f>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𝜇</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𝑟</m:t>
                          </m:r>
                        </m:sub>
                      </m:sSub>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𝐵</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0</m:t>
                          </m:r>
                        </m:sub>
                      </m:sSub>
                    </m:oMath>
                  </m:oMathPara>
                </a14:m>
                <a:endParaRPr kumimoji="1" lang="en-US" altLang="zh-CN" sz="28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Text Box 27">
                <a:extLst>
                  <a:ext uri="{FF2B5EF4-FFF2-40B4-BE49-F238E27FC236}">
                    <a16:creationId xmlns:a16="http://schemas.microsoft.com/office/drawing/2014/main" id="{BA5904E2-FE1C-46F1-86AA-B04E9B6E41BE}"/>
                  </a:ext>
                </a:extLst>
              </p:cNvPr>
              <p:cNvSpPr txBox="1">
                <a:spLocks noRot="1" noChangeAspect="1" noMove="1" noResize="1" noEditPoints="1" noAdjustHandles="1" noChangeArrowheads="1" noChangeShapeType="1" noTextEdit="1"/>
              </p:cNvSpPr>
              <p:nvPr/>
            </p:nvSpPr>
            <p:spPr bwMode="auto">
              <a:xfrm>
                <a:off x="3705814" y="2861996"/>
                <a:ext cx="5175462" cy="3450625"/>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4CDCB647-FDE5-4FFA-9283-D557861EDEC0}"/>
              </a:ext>
            </a:extLst>
          </p:cNvPr>
          <p:cNvSpPr txBox="1"/>
          <p:nvPr/>
        </p:nvSpPr>
        <p:spPr>
          <a:xfrm>
            <a:off x="2972495" y="2374971"/>
            <a:ext cx="3321050" cy="523220"/>
          </a:xfrm>
          <a:prstGeom prst="rect">
            <a:avLst/>
          </a:prstGeom>
          <a:noFill/>
        </p:spPr>
        <p:txBody>
          <a:bodyPr wrap="square">
            <a:spAutoFit/>
          </a:bodyPr>
          <a:lstStyle/>
          <a:p>
            <a:r>
              <a:rPr kumimoji="1" lang="zh-CN" altLang="en-US" sz="2800" b="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Times New Roman" panose="02020603050405020304" pitchFamily="18" charset="0"/>
              </a:rPr>
              <a:t>磁场具有轴对称性</a:t>
            </a:r>
            <a:endParaRPr lang="zh-CN" altLang="en-US" sz="2800" dirty="0"/>
          </a:p>
        </p:txBody>
      </p:sp>
    </p:spTree>
    <p:extLst>
      <p:ext uri="{BB962C8B-B14F-4D97-AF65-F5344CB8AC3E}">
        <p14:creationId xmlns:p14="http://schemas.microsoft.com/office/powerpoint/2010/main" val="4284321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868" name="Text Box 2"/>
              <p:cNvSpPr txBox="1">
                <a:spLocks noChangeArrowheads="1"/>
              </p:cNvSpPr>
              <p:nvPr/>
            </p:nvSpPr>
            <p:spPr bwMode="auto">
              <a:xfrm>
                <a:off x="768794" y="273050"/>
                <a:ext cx="10769155" cy="18158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None/>
                </a:pPr>
                <a:r>
                  <a:rPr kumimoji="1"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一根长直单芯电缆的芯是一根半径为</a:t>
                </a:r>
                <a:r>
                  <a:rPr kumimoji="1" lang="en-US" altLang="zh-CN"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r</a:t>
                </a:r>
                <a:r>
                  <a:rPr kumimoji="1"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的金属导体，它与导电外壁之间充满相对磁导率为</a:t>
                </a:r>
                <a14:m>
                  <m:oMath xmlns:m="http://schemas.openxmlformats.org/officeDocument/2006/math">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𝑟</m:t>
                        </m:r>
                      </m:sub>
                    </m:sSub>
                  </m:oMath>
                </a14:m>
                <a:r>
                  <a:rPr kumimoji="1"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的均匀电介质，有电流</a:t>
                </a:r>
                <a:r>
                  <a:rPr kumimoji="1" lang="en-US" altLang="zh-CN"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I</a:t>
                </a:r>
                <a:r>
                  <a:rPr kumimoji="1"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均匀地流过芯的横截面并沿外壁流回。求电介质中磁感应强度的分布和紧贴导体芯的磁介质表面上的束缚电流。</a:t>
                </a:r>
              </a:p>
            </p:txBody>
          </p:sp>
        </mc:Choice>
        <mc:Fallback xmlns="">
          <p:sp>
            <p:nvSpPr>
              <p:cNvPr id="36868" name="Text Box 2"/>
              <p:cNvSpPr txBox="1">
                <a:spLocks noRot="1" noChangeAspect="1" noMove="1" noResize="1" noEditPoints="1" noAdjustHandles="1" noChangeArrowheads="1" noChangeShapeType="1" noTextEdit="1"/>
              </p:cNvSpPr>
              <p:nvPr/>
            </p:nvSpPr>
            <p:spPr bwMode="auto">
              <a:xfrm>
                <a:off x="768794" y="273050"/>
                <a:ext cx="10769155" cy="1815882"/>
              </a:xfrm>
              <a:prstGeom prst="rect">
                <a:avLst/>
              </a:prstGeom>
              <a:blipFill>
                <a:blip r:embed="rId2"/>
                <a:stretch>
                  <a:fillRect l="-1132" t="-3691" r="-1132" b="-83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124975" y="2430318"/>
            <a:ext cx="1476538" cy="3365238"/>
          </a:xfrm>
          <a:prstGeom prst="rect">
            <a:avLst/>
          </a:prstGeom>
        </p:spPr>
      </p:pic>
      <mc:AlternateContent xmlns:mc="http://schemas.openxmlformats.org/markup-compatibility/2006" xmlns:a14="http://schemas.microsoft.com/office/drawing/2010/main">
        <mc:Choice Requires="a14">
          <p:sp>
            <p:nvSpPr>
              <p:cNvPr id="5" name="Text Box 27">
                <a:extLst>
                  <a:ext uri="{FF2B5EF4-FFF2-40B4-BE49-F238E27FC236}">
                    <a16:creationId xmlns:a16="http://schemas.microsoft.com/office/drawing/2014/main" id="{BA5904E2-FE1C-46F1-86AA-B04E9B6E41BE}"/>
                  </a:ext>
                </a:extLst>
              </p:cNvPr>
              <p:cNvSpPr txBox="1">
                <a:spLocks noChangeArrowheads="1"/>
              </p:cNvSpPr>
              <p:nvPr/>
            </p:nvSpPr>
            <p:spPr bwMode="auto">
              <a:xfrm>
                <a:off x="3565640" y="2088932"/>
                <a:ext cx="5175462" cy="157735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ts val="0"/>
                  </a:spcBef>
                  <a:buNone/>
                </a:pPr>
                <a14:m>
                  <m:oMathPara xmlns:m="http://schemas.openxmlformats.org/officeDocument/2006/math">
                    <m:oMathParaPr>
                      <m:jc m:val="center"/>
                    </m:oMathParaPr>
                    <m:oMath xmlns:m="http://schemas.openxmlformats.org/officeDocument/2006/math">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𝐻</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f>
                        <m:fPr>
                          <m:type m:val="lin"/>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fPr>
                        <m:num>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𝐼</m:t>
                          </m:r>
                        </m:num>
                        <m:den>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2</m:t>
                          </m:r>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𝜋</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𝑑</m:t>
                          </m:r>
                        </m:den>
                      </m:f>
                    </m:oMath>
                  </m:oMathPara>
                </a14:m>
                <a:endParaRPr kumimoji="1" lang="en-US" altLang="zh-CN" sz="28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0"/>
                  </a:spcBef>
                  <a:buNone/>
                </a:pPr>
                <a14:m>
                  <m:oMathPara xmlns:m="http://schemas.openxmlformats.org/officeDocument/2006/math">
                    <m:oMathParaPr>
                      <m:jc m:val="center"/>
                    </m:oMathParaPr>
                    <m:oMath xmlns:m="http://schemas.openxmlformats.org/officeDocument/2006/math">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𝐵</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𝜇</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𝐻</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𝜇</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𝑟</m:t>
                          </m:r>
                        </m:sub>
                      </m:sSub>
                      <m:f>
                        <m:f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fPr>
                        <m:num>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𝜇</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0</m:t>
                              </m:r>
                            </m:sub>
                          </m:s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𝐼</m:t>
                          </m:r>
                        </m:num>
                        <m:den>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2</m:t>
                          </m:r>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𝜋</m:t>
                          </m:r>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𝑑</m:t>
                          </m:r>
                        </m:den>
                      </m:f>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zh-CN" altLang="en-US"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𝜇</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𝑟</m:t>
                          </m:r>
                        </m:sub>
                      </m:sSub>
                      <m:sSub>
                        <m:sSubPr>
                          <m:ctrlPr>
                            <a:rPr kumimoji="1"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bPr>
                        <m:e>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𝐵</m:t>
                          </m:r>
                        </m:e>
                        <m:sub>
                          <m:r>
                            <a:rPr kumimoji="1"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0</m:t>
                          </m:r>
                        </m:sub>
                      </m:sSub>
                    </m:oMath>
                  </m:oMathPara>
                </a14:m>
                <a:endParaRPr kumimoji="1" lang="en-US" altLang="zh-CN" sz="28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Text Box 27">
                <a:extLst>
                  <a:ext uri="{FF2B5EF4-FFF2-40B4-BE49-F238E27FC236}">
                    <a16:creationId xmlns:a16="http://schemas.microsoft.com/office/drawing/2014/main" id="{BA5904E2-FE1C-46F1-86AA-B04E9B6E41BE}"/>
                  </a:ext>
                </a:extLst>
              </p:cNvPr>
              <p:cNvSpPr txBox="1">
                <a:spLocks noRot="1" noChangeAspect="1" noMove="1" noResize="1" noEditPoints="1" noAdjustHandles="1" noChangeArrowheads="1" noChangeShapeType="1" noTextEdit="1"/>
              </p:cNvSpPr>
              <p:nvPr/>
            </p:nvSpPr>
            <p:spPr bwMode="auto">
              <a:xfrm>
                <a:off x="3565640" y="2088932"/>
                <a:ext cx="5175462" cy="1577355"/>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标题 2">
            <a:extLst>
              <a:ext uri="{FF2B5EF4-FFF2-40B4-BE49-F238E27FC236}">
                <a16:creationId xmlns:a16="http://schemas.microsoft.com/office/drawing/2014/main" id="{39368BF2-0961-E47D-64A8-3360F3A9AD2C}"/>
              </a:ext>
            </a:extLst>
          </p:cNvPr>
          <p:cNvSpPr txBox="1">
            <a:spLocks/>
          </p:cNvSpPr>
          <p:nvPr/>
        </p:nvSpPr>
        <p:spPr>
          <a:xfrm>
            <a:off x="3653721" y="4337897"/>
            <a:ext cx="28998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t>面束缚电流密度：</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D8F9311-0880-C09E-22B9-D0D6EF0523A5}"/>
                  </a:ext>
                </a:extLst>
              </p:cNvPr>
              <p:cNvSpPr txBox="1"/>
              <p:nvPr/>
            </p:nvSpPr>
            <p:spPr>
              <a:xfrm>
                <a:off x="4864165" y="3939370"/>
                <a:ext cx="2292081"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800" i="1" smtClean="0">
                          <a:solidFill>
                            <a:schemeClr val="tx1"/>
                          </a:solidFill>
                          <a:latin typeface="Cambria Math" panose="02040503050406030204" pitchFamily="18" charset="0"/>
                          <a:ea typeface="华文新魏" panose="02010800040101010101" pitchFamily="2" charset="-122"/>
                        </a:rPr>
                        <m:t>𝑀</m:t>
                      </m:r>
                      <m:r>
                        <a:rPr kumimoji="1" lang="en-US" altLang="zh-CN" sz="2800" b="0" i="1">
                          <a:solidFill>
                            <a:schemeClr val="tx1"/>
                          </a:solidFill>
                          <a:latin typeface="Cambria Math" panose="02040503050406030204" pitchFamily="18" charset="0"/>
                          <a:ea typeface="华文新魏" panose="02010800040101010101" pitchFamily="2" charset="-122"/>
                        </a:rPr>
                        <m:t>=</m:t>
                      </m:r>
                      <m:sSub>
                        <m:sSubPr>
                          <m:ctrlPr>
                            <a:rPr kumimoji="1" lang="en-US" altLang="zh-CN" sz="2800" i="1">
                              <a:solidFill>
                                <a:schemeClr val="tx1"/>
                              </a:solidFill>
                              <a:latin typeface="Cambria Math" panose="02040503050406030204" pitchFamily="18" charset="0"/>
                              <a:ea typeface="华文新魏" panose="02010800040101010101" pitchFamily="2" charset="-122"/>
                            </a:rPr>
                          </m:ctrlPr>
                        </m:sSubPr>
                        <m:e>
                          <m:r>
                            <a:rPr kumimoji="1" lang="zh-CN" altLang="en-US" sz="2800" b="0" i="1">
                              <a:solidFill>
                                <a:schemeClr val="tx1"/>
                              </a:solidFill>
                              <a:latin typeface="Cambria Math" panose="02040503050406030204" pitchFamily="18" charset="0"/>
                              <a:ea typeface="华文新魏" panose="02010800040101010101" pitchFamily="2" charset="-122"/>
                            </a:rPr>
                            <m:t>𝜒</m:t>
                          </m:r>
                        </m:e>
                        <m:sub>
                          <m:r>
                            <a:rPr kumimoji="1" lang="en-US" altLang="zh-CN" sz="2800" b="0" i="1">
                              <a:solidFill>
                                <a:schemeClr val="tx1"/>
                              </a:solidFill>
                              <a:latin typeface="Cambria Math" panose="02040503050406030204" pitchFamily="18" charset="0"/>
                              <a:ea typeface="华文新魏" panose="02010800040101010101" pitchFamily="2" charset="-122"/>
                            </a:rPr>
                            <m:t>𝑚</m:t>
                          </m:r>
                        </m:sub>
                      </m:sSub>
                      <m:r>
                        <a:rPr kumimoji="1" lang="en-US" altLang="zh-CN" sz="2800" i="1" smtClean="0">
                          <a:solidFill>
                            <a:schemeClr val="tx1"/>
                          </a:solidFill>
                          <a:latin typeface="Cambria Math" panose="02040503050406030204" pitchFamily="18" charset="0"/>
                          <a:ea typeface="华文新魏" panose="02010800040101010101" pitchFamily="2" charset="-122"/>
                        </a:rPr>
                        <m:t>𝐻</m:t>
                      </m:r>
                    </m:oMath>
                  </m:oMathPara>
                </a14:m>
                <a:endParaRPr lang="zh-CN" altLang="en-US" sz="2800" dirty="0">
                  <a:solidFill>
                    <a:schemeClr val="tx1"/>
                  </a:solidFill>
                </a:endParaRPr>
              </a:p>
            </p:txBody>
          </p:sp>
        </mc:Choice>
        <mc:Fallback xmlns="">
          <p:sp>
            <p:nvSpPr>
              <p:cNvPr id="6" name="文本框 5">
                <a:extLst>
                  <a:ext uri="{FF2B5EF4-FFF2-40B4-BE49-F238E27FC236}">
                    <a16:creationId xmlns:a16="http://schemas.microsoft.com/office/drawing/2014/main" id="{9D8F9311-0880-C09E-22B9-D0D6EF0523A5}"/>
                  </a:ext>
                </a:extLst>
              </p:cNvPr>
              <p:cNvSpPr txBox="1">
                <a:spLocks noRot="1" noChangeAspect="1" noMove="1" noResize="1" noEditPoints="1" noAdjustHandles="1" noChangeArrowheads="1" noChangeShapeType="1" noTextEdit="1"/>
              </p:cNvSpPr>
              <p:nvPr/>
            </p:nvSpPr>
            <p:spPr>
              <a:xfrm>
                <a:off x="4864165" y="3939370"/>
                <a:ext cx="2292081" cy="52322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E374199-4892-8A9E-B0C7-15D4FF7E8AF8}"/>
                  </a:ext>
                </a:extLst>
              </p:cNvPr>
              <p:cNvSpPr txBox="1"/>
              <p:nvPr/>
            </p:nvSpPr>
            <p:spPr>
              <a:xfrm>
                <a:off x="4973022" y="4195037"/>
                <a:ext cx="6096000" cy="1332160"/>
              </a:xfrm>
              <a:prstGeom prst="rect">
                <a:avLst/>
              </a:prstGeom>
              <a:noFill/>
            </p:spPr>
            <p:txBody>
              <a:bodyPr wrap="square">
                <a:spAutoFit/>
              </a:bodyPr>
              <a:lstStyle/>
              <a:p>
                <a:pPr>
                  <a:lnSpc>
                    <a:spcPct val="150000"/>
                  </a:lnSpc>
                  <a:spcBef>
                    <a:spcPts val="1200"/>
                  </a:spcBef>
                  <a:spcAft>
                    <a:spcPts val="200"/>
                  </a:spcAft>
                  <a:buClr>
                    <a:srgbClr val="99CB38"/>
                  </a:buClr>
                  <a:buSzPct val="100000"/>
                </a:pPr>
                <a14:m>
                  <m:oMathPara xmlns:m="http://schemas.openxmlformats.org/officeDocument/2006/math">
                    <m:oMathParaPr>
                      <m:jc m:val="centerGroup"/>
                    </m:oMathParaPr>
                    <m:oMath xmlns:m="http://schemas.openxmlformats.org/officeDocument/2006/math">
                      <m:sSup>
                        <m:sSupPr>
                          <m:ctrlPr>
                            <a:rPr lang="en-US" altLang="zh-CN" sz="2800" i="1" smtClean="0">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𝑗</m:t>
                          </m:r>
                        </m:e>
                        <m:sup>
                          <m:r>
                            <a:rPr lang="en-US" altLang="zh-CN" sz="2800" b="0" i="1">
                              <a:solidFill>
                                <a:schemeClr val="tx1"/>
                              </a:solidFill>
                              <a:latin typeface="Cambria Math" panose="02040503050406030204" pitchFamily="18" charset="0"/>
                            </a:rPr>
                            <m:t>′</m:t>
                          </m:r>
                        </m:sup>
                      </m:sSup>
                      <m:r>
                        <a:rPr lang="en-US" altLang="zh-CN" sz="2800" b="0" i="1">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𝑟</m:t>
                              </m:r>
                            </m:sub>
                          </m:sSub>
                          <m:r>
                            <a:rPr lang="en-US" altLang="zh-CN" sz="2800" b="0" i="1">
                              <a:solidFill>
                                <a:schemeClr val="tx1"/>
                              </a:solidFill>
                              <a:latin typeface="Cambria Math" panose="02040503050406030204" pitchFamily="18" charset="0"/>
                              <a:ea typeface="Cambria Math" panose="02040503050406030204" pitchFamily="18" charset="0"/>
                            </a:rPr>
                            <m:t>−1</m:t>
                          </m:r>
                        </m:num>
                        <m:den>
                          <m:r>
                            <a:rPr lang="en-US" altLang="zh-CN" sz="2800" b="0" i="1">
                              <a:solidFill>
                                <a:schemeClr val="tx1"/>
                              </a:solidFill>
                              <a:latin typeface="Cambria Math" panose="02040503050406030204" pitchFamily="18" charset="0"/>
                            </a:rPr>
                            <m:t>2</m:t>
                          </m:r>
                          <m:r>
                            <a:rPr lang="zh-CN" altLang="en-US" sz="2800" b="0" i="1">
                              <a:solidFill>
                                <a:schemeClr val="tx1"/>
                              </a:solidFill>
                              <a:latin typeface="Cambria Math" panose="02040503050406030204" pitchFamily="18" charset="0"/>
                            </a:rPr>
                            <m:t>𝜋</m:t>
                          </m:r>
                          <m:r>
                            <a:rPr lang="en-US" altLang="zh-CN" sz="2800" b="0" i="1">
                              <a:solidFill>
                                <a:schemeClr val="tx1"/>
                              </a:solidFill>
                              <a:latin typeface="Cambria Math" panose="02040503050406030204" pitchFamily="18" charset="0"/>
                            </a:rPr>
                            <m:t>𝑟</m:t>
                          </m:r>
                        </m:den>
                      </m:f>
                      <m:r>
                        <a:rPr lang="en-US" altLang="zh-CN" sz="2800" b="0" i="1">
                          <a:solidFill>
                            <a:schemeClr val="tx1"/>
                          </a:solidFill>
                          <a:latin typeface="Cambria Math" panose="02040503050406030204" pitchFamily="18" charset="0"/>
                        </a:rPr>
                        <m:t>𝐼</m:t>
                      </m:r>
                    </m:oMath>
                  </m:oMathPara>
                </a14:m>
                <a:endParaRPr lang="en-US" altLang="zh-CN" sz="2800" i="1" dirty="0">
                  <a:solidFill>
                    <a:schemeClr val="tx1"/>
                  </a:solidFill>
                  <a:latin typeface="Cambria Math" panose="02040503050406030204" pitchFamily="18" charset="0"/>
                </a:endParaRPr>
              </a:p>
            </p:txBody>
          </p:sp>
        </mc:Choice>
        <mc:Fallback xmlns="">
          <p:sp>
            <p:nvSpPr>
              <p:cNvPr id="13" name="文本框 12">
                <a:extLst>
                  <a:ext uri="{FF2B5EF4-FFF2-40B4-BE49-F238E27FC236}">
                    <a16:creationId xmlns:a16="http://schemas.microsoft.com/office/drawing/2014/main" id="{4E374199-4892-8A9E-B0C7-15D4FF7E8AF8}"/>
                  </a:ext>
                </a:extLst>
              </p:cNvPr>
              <p:cNvSpPr txBox="1">
                <a:spLocks noRot="1" noChangeAspect="1" noMove="1" noResize="1" noEditPoints="1" noAdjustHandles="1" noChangeArrowheads="1" noChangeShapeType="1" noTextEdit="1"/>
              </p:cNvSpPr>
              <p:nvPr/>
            </p:nvSpPr>
            <p:spPr>
              <a:xfrm>
                <a:off x="4973022" y="4195037"/>
                <a:ext cx="6096000" cy="133216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FE2C6CF5-4226-8E27-B7E5-E3E8F6B43A05}"/>
                  </a:ext>
                </a:extLst>
              </p:cNvPr>
              <p:cNvSpPr txBox="1"/>
              <p:nvPr/>
            </p:nvSpPr>
            <p:spPr>
              <a:xfrm>
                <a:off x="3806914" y="5421709"/>
                <a:ext cx="6096000" cy="1436291"/>
              </a:xfrm>
              <a:prstGeom prst="rect">
                <a:avLst/>
              </a:prstGeom>
              <a:noFill/>
            </p:spPr>
            <p:txBody>
              <a:bodyPr wrap="square">
                <a:spAutoFit/>
              </a:bodyPr>
              <a:lstStyle/>
              <a:p>
                <a:pPr>
                  <a:lnSpc>
                    <a:spcPct val="150000"/>
                  </a:lnSpc>
                  <a:spcBef>
                    <a:spcPts val="1200"/>
                  </a:spcBef>
                  <a:spcAft>
                    <a:spcPts val="200"/>
                  </a:spcAft>
                  <a:buClr>
                    <a:srgbClr val="99CB38"/>
                  </a:buClr>
                  <a:buSzPct val="100000"/>
                </a:pPr>
                <a:r>
                  <a:rPr lang="zh-CN" altLang="en-US" sz="2800" dirty="0">
                    <a:solidFill>
                      <a:schemeClr val="tx1"/>
                    </a:solidFill>
                    <a:latin typeface="Cambria Math" panose="02040503050406030204" pitchFamily="18" charset="0"/>
                    <a:ea typeface="华文楷体" panose="02010600040101010101" pitchFamily="2" charset="-122"/>
                    <a:cs typeface="Times New Roman" panose="02020603050405020304" pitchFamily="18" charset="0"/>
                  </a:rPr>
                  <a:t>磁介质表面上的总束缚电流为：</a:t>
                </a:r>
                <a:endParaRPr lang="en-US" altLang="zh-CN" sz="2800" dirty="0">
                  <a:solidFill>
                    <a:schemeClr val="tx1"/>
                  </a:solidFill>
                  <a:latin typeface="Cambria Math" panose="02040503050406030204" pitchFamily="18" charset="0"/>
                  <a:ea typeface="华文楷体" panose="02010600040101010101" pitchFamily="2" charset="-122"/>
                  <a:cs typeface="Times New Roman" panose="02020603050405020304" pitchFamily="18" charset="0"/>
                </a:endParaRPr>
              </a:p>
              <a:p>
                <a:pPr>
                  <a:lnSpc>
                    <a:spcPct val="150000"/>
                  </a:lnSpc>
                  <a:spcBef>
                    <a:spcPts val="1200"/>
                  </a:spcBef>
                  <a:spcAft>
                    <a:spcPts val="200"/>
                  </a:spcAft>
                  <a:buClr>
                    <a:srgbClr val="99CB38"/>
                  </a:buClr>
                  <a:buSzPct val="100000"/>
                </a:pPr>
                <a14:m>
                  <m:oMathPara xmlns:m="http://schemas.openxmlformats.org/officeDocument/2006/math">
                    <m:oMathParaPr>
                      <m:jc m:val="centerGroup"/>
                    </m:oMathParaPr>
                    <m:oMath xmlns:m="http://schemas.openxmlformats.org/officeDocument/2006/math">
                      <m:sSup>
                        <m:sSupPr>
                          <m:ctrlPr>
                            <a:rPr lang="en-US" altLang="zh-CN" sz="2800" i="1">
                              <a:solidFill>
                                <a:schemeClr val="tx1"/>
                              </a:solidFill>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𝐼</m:t>
                          </m:r>
                        </m:e>
                        <m:sup>
                          <m:r>
                            <a:rPr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sup>
                      </m:sSup>
                      <m:r>
                        <a:rPr lang="en-US" altLang="zh-CN" sz="2800" b="0" i="1">
                          <a:solidFill>
                            <a:schemeClr val="tx1"/>
                          </a:solidFill>
                          <a:latin typeface="Cambria Math" panose="02040503050406030204" pitchFamily="18" charset="0"/>
                          <a:ea typeface="黑体" panose="02010609060101010101" pitchFamily="49" charset="-122"/>
                          <a:cs typeface="Times New Roman" panose="02020603050405020304" pitchFamily="18" charset="0"/>
                        </a:rPr>
                        <m:t>=</m:t>
                      </m:r>
                      <m:sSup>
                        <m:sSupPr>
                          <m:ctrlPr>
                            <a:rPr lang="en-US" altLang="zh-CN" sz="2800" i="1">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𝑗</m:t>
                          </m:r>
                        </m:e>
                        <m:sup>
                          <m:r>
                            <a:rPr lang="en-US" altLang="zh-CN" sz="2800" b="0" i="1">
                              <a:solidFill>
                                <a:schemeClr val="tx1"/>
                              </a:solidFill>
                              <a:latin typeface="Cambria Math" panose="02040503050406030204" pitchFamily="18" charset="0"/>
                            </a:rPr>
                            <m:t>′</m:t>
                          </m:r>
                        </m:sup>
                      </m:sSup>
                      <m:r>
                        <a:rPr lang="en-US" altLang="zh-CN" sz="2800" b="0" i="1">
                          <a:solidFill>
                            <a:schemeClr val="tx1"/>
                          </a:solidFill>
                          <a:latin typeface="Cambria Math" panose="02040503050406030204" pitchFamily="18" charset="0"/>
                        </a:rPr>
                        <m:t>2</m:t>
                      </m:r>
                      <m:r>
                        <a:rPr lang="zh-CN" altLang="en-US" sz="2800" b="0" i="1">
                          <a:solidFill>
                            <a:schemeClr val="tx1"/>
                          </a:solidFill>
                          <a:latin typeface="Cambria Math" panose="02040503050406030204" pitchFamily="18" charset="0"/>
                        </a:rPr>
                        <m:t>𝜋</m:t>
                      </m:r>
                      <m:r>
                        <a:rPr lang="en-US" altLang="zh-CN" sz="2800" b="0" i="1">
                          <a:solidFill>
                            <a:schemeClr val="tx1"/>
                          </a:solidFill>
                          <a:latin typeface="Cambria Math" panose="02040503050406030204" pitchFamily="18" charset="0"/>
                        </a:rPr>
                        <m:t>𝑟</m:t>
                      </m:r>
                      <m:r>
                        <a:rPr lang="en-US" altLang="zh-CN" sz="2800" b="0" i="1">
                          <a:solidFill>
                            <a:schemeClr val="tx1"/>
                          </a:solidFill>
                          <a:latin typeface="Cambria Math" panose="02040503050406030204" pitchFamily="18" charset="0"/>
                        </a:rPr>
                        <m:t>= </m:t>
                      </m:r>
                      <m:d>
                        <m:dPr>
                          <m:ctrlPr>
                            <a:rPr lang="en-US" altLang="zh-CN" sz="2800" i="1">
                              <a:solidFill>
                                <a:schemeClr val="tx1"/>
                              </a:solidFill>
                              <a:latin typeface="Cambria Math" panose="02040503050406030204" pitchFamily="18" charset="0"/>
                              <a:ea typeface="Cambria Math" panose="02040503050406030204" pitchFamily="18" charset="0"/>
                            </a:rPr>
                          </m:ctrlPr>
                        </m:dPr>
                        <m:e>
                          <m:sSub>
                            <m:sSubPr>
                              <m:ctrlPr>
                                <a:rPr lang="en-US" altLang="zh-CN" sz="2800" i="1">
                                  <a:solidFill>
                                    <a:schemeClr val="tx1"/>
                                  </a:solidFill>
                                  <a:latin typeface="Cambria Math" panose="02040503050406030204" pitchFamily="18" charset="0"/>
                                  <a:ea typeface="Cambria Math" panose="02040503050406030204" pitchFamily="18" charset="0"/>
                                </a:rPr>
                              </m:ctrlPr>
                            </m:sSubPr>
                            <m:e>
                              <m:r>
                                <a:rPr lang="zh-CN" altLang="en-US" sz="2800" b="0" i="1">
                                  <a:solidFill>
                                    <a:schemeClr val="tx1"/>
                                  </a:solidFill>
                                  <a:latin typeface="Cambria Math" panose="02040503050406030204" pitchFamily="18" charset="0"/>
                                  <a:ea typeface="Cambria Math" panose="02040503050406030204" pitchFamily="18" charset="0"/>
                                </a:rPr>
                                <m:t>𝜇</m:t>
                              </m:r>
                            </m:e>
                            <m:sub>
                              <m:r>
                                <a:rPr lang="en-US" altLang="zh-CN" sz="2800" b="0" i="1">
                                  <a:solidFill>
                                    <a:schemeClr val="tx1"/>
                                  </a:solidFill>
                                  <a:latin typeface="Cambria Math" panose="02040503050406030204" pitchFamily="18" charset="0"/>
                                  <a:ea typeface="Cambria Math" panose="02040503050406030204" pitchFamily="18" charset="0"/>
                                </a:rPr>
                                <m:t>𝑟</m:t>
                              </m:r>
                            </m:sub>
                          </m:sSub>
                          <m:r>
                            <a:rPr lang="en-US" altLang="zh-CN" sz="2800" b="0" i="1">
                              <a:solidFill>
                                <a:schemeClr val="tx1"/>
                              </a:solidFill>
                              <a:latin typeface="Cambria Math" panose="02040503050406030204" pitchFamily="18" charset="0"/>
                              <a:ea typeface="Cambria Math" panose="02040503050406030204" pitchFamily="18" charset="0"/>
                            </a:rPr>
                            <m:t>−1</m:t>
                          </m:r>
                        </m:e>
                      </m:d>
                      <m:r>
                        <a:rPr lang="en-US" altLang="zh-CN" sz="2800" b="0" i="1">
                          <a:solidFill>
                            <a:schemeClr val="tx1"/>
                          </a:solidFill>
                          <a:latin typeface="Cambria Math" panose="02040503050406030204" pitchFamily="18" charset="0"/>
                        </a:rPr>
                        <m:t>𝐼</m:t>
                      </m:r>
                    </m:oMath>
                  </m:oMathPara>
                </a14:m>
                <a:endParaRPr lang="en-US" altLang="zh-CN" sz="2800" dirty="0">
                  <a:solidFill>
                    <a:schemeClr val="tx1"/>
                  </a:solidFill>
                  <a:latin typeface="Times New Roman" panose="02020603050405020304" pitchFamily="18" charset="0"/>
                </a:endParaRPr>
              </a:p>
            </p:txBody>
          </p:sp>
        </mc:Choice>
        <mc:Fallback xmlns="">
          <p:sp>
            <p:nvSpPr>
              <p:cNvPr id="15" name="文本框 14">
                <a:extLst>
                  <a:ext uri="{FF2B5EF4-FFF2-40B4-BE49-F238E27FC236}">
                    <a16:creationId xmlns:a16="http://schemas.microsoft.com/office/drawing/2014/main" id="{FE2C6CF5-4226-8E27-B7E5-E3E8F6B43A05}"/>
                  </a:ext>
                </a:extLst>
              </p:cNvPr>
              <p:cNvSpPr txBox="1">
                <a:spLocks noRot="1" noChangeAspect="1" noMove="1" noResize="1" noEditPoints="1" noAdjustHandles="1" noChangeArrowheads="1" noChangeShapeType="1" noTextEdit="1"/>
              </p:cNvSpPr>
              <p:nvPr/>
            </p:nvSpPr>
            <p:spPr>
              <a:xfrm>
                <a:off x="3806914" y="5421709"/>
                <a:ext cx="6096000" cy="1436291"/>
              </a:xfrm>
              <a:prstGeom prst="rect">
                <a:avLst/>
              </a:prstGeom>
              <a:blipFill>
                <a:blip r:embed="rId7"/>
                <a:stretch>
                  <a:fillRect l="-2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21840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2" grpId="0"/>
      <p:bldP spid="6" grpId="0"/>
      <p:bldP spid="13"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Object 33">
                <a:extLst>
                  <a:ext uri="{FF2B5EF4-FFF2-40B4-BE49-F238E27FC236}">
                    <a16:creationId xmlns:a16="http://schemas.microsoft.com/office/drawing/2014/main" id="{4284CE19-23CE-1D1B-DC0E-CB2D7D91CE85}"/>
                  </a:ext>
                </a:extLst>
              </p:cNvPr>
              <p:cNvSpPr txBox="1"/>
              <p:nvPr/>
            </p:nvSpPr>
            <p:spPr>
              <a:xfrm>
                <a:off x="1619254" y="1326040"/>
                <a:ext cx="3416300" cy="7508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𝜇</m:t>
                          </m:r>
                        </m:e>
                        <m:sub>
                          <m:r>
                            <a:rPr lang="en-US" sz="2800" b="0" i="1" smtClean="0">
                              <a:solidFill>
                                <a:srgbClr val="000000"/>
                              </a:solidFill>
                              <a:latin typeface="Cambria Math" panose="02040503050406030204" pitchFamily="18" charset="0"/>
                            </a:rPr>
                            <m:t>𝑟</m:t>
                          </m:r>
                        </m:sub>
                      </m:sSub>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e>
                        <m:sub>
                          <m:r>
                            <a:rPr lang="en-US" sz="2800" b="0" i="1" smtClean="0">
                              <a:solidFill>
                                <a:srgbClr val="000000"/>
                              </a:solidFill>
                              <a:latin typeface="Cambria Math" panose="02040503050406030204" pitchFamily="18" charset="0"/>
                            </a:rPr>
                            <m:t>0</m:t>
                          </m:r>
                        </m:sub>
                      </m:sSub>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e>
                        <m:sub>
                          <m:r>
                            <a:rPr lang="en-US" sz="2800" b="0" i="1" smtClean="0">
                              <a:solidFill>
                                <a:srgbClr val="000000"/>
                              </a:solidFill>
                              <a:latin typeface="Cambria Math" panose="02040503050406030204" pitchFamily="18" charset="0"/>
                            </a:rPr>
                            <m:t>0</m:t>
                          </m:r>
                        </m:sub>
                      </m:sSub>
                      <m:r>
                        <a:rPr lang="en-US" sz="2800" b="0" i="1" smtClean="0">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acc>
                            <m:accPr>
                              <m:chr m:val="⃗"/>
                              <m:ctrlPr>
                                <a:rPr lang="en-US" sz="2800" i="1">
                                  <a:solidFill>
                                    <a:srgbClr val="000000"/>
                                  </a:solidFill>
                                  <a:latin typeface="Cambria Math" panose="02040503050406030204" pitchFamily="18" charset="0"/>
                                </a:rPr>
                              </m:ctrlPr>
                            </m:accPr>
                            <m:e>
                              <m:r>
                                <a:rPr lang="en-US" sz="2800" b="0" i="1" smtClean="0">
                                  <a:solidFill>
                                    <a:srgbClr val="000000"/>
                                  </a:solidFill>
                                  <a:latin typeface="Cambria Math" panose="02040503050406030204" pitchFamily="18" charset="0"/>
                                </a:rPr>
                                <m:t>𝐵</m:t>
                              </m:r>
                            </m:e>
                          </m:acc>
                        </m:e>
                        <m:sup>
                          <m:r>
                            <a:rPr lang="en-US" sz="2800" b="0" i="1" smtClean="0">
                              <a:solidFill>
                                <a:srgbClr val="000000"/>
                              </a:solidFill>
                              <a:latin typeface="Cambria Math" panose="02040503050406030204" pitchFamily="18" charset="0"/>
                            </a:rPr>
                            <m:t>′</m:t>
                          </m:r>
                        </m:sup>
                      </m:sSup>
                    </m:oMath>
                  </m:oMathPara>
                </a14:m>
                <a:endParaRPr lang="en-US" sz="2800" dirty="0"/>
              </a:p>
            </p:txBody>
          </p:sp>
        </mc:Choice>
        <mc:Fallback xmlns="">
          <p:sp>
            <p:nvSpPr>
              <p:cNvPr id="7" name="Object 33">
                <a:extLst>
                  <a:ext uri="{FF2B5EF4-FFF2-40B4-BE49-F238E27FC236}">
                    <a16:creationId xmlns:a16="http://schemas.microsoft.com/office/drawing/2014/main" id="{4284CE19-23CE-1D1B-DC0E-CB2D7D91CE85}"/>
                  </a:ext>
                </a:extLst>
              </p:cNvPr>
              <p:cNvSpPr txBox="1">
                <a:spLocks noRot="1" noChangeAspect="1" noMove="1" noResize="1" noEditPoints="1" noAdjustHandles="1" noChangeArrowheads="1" noChangeShapeType="1" noTextEdit="1"/>
              </p:cNvSpPr>
              <p:nvPr/>
            </p:nvSpPr>
            <p:spPr>
              <a:xfrm>
                <a:off x="1619254" y="1326040"/>
                <a:ext cx="3416300" cy="750888"/>
              </a:xfrm>
              <a:prstGeom prst="rect">
                <a:avLst/>
              </a:prstGeom>
              <a:blipFill>
                <a:blip r:embed="rId3"/>
                <a:stretch>
                  <a:fillRect/>
                </a:stretch>
              </a:blipFill>
              <a:ln w="38100">
                <a:noFill/>
                <a:miter/>
              </a:ln>
            </p:spPr>
            <p:txBody>
              <a:bodyPr/>
              <a:lstStyle/>
              <a:p>
                <a:r>
                  <a:rPr lang="zh-CN" altLang="en-US">
                    <a:noFill/>
                  </a:rPr>
                  <a:t> </a:t>
                </a:r>
              </a:p>
            </p:txBody>
          </p:sp>
        </mc:Fallback>
      </mc:AlternateContent>
      <p:grpSp>
        <p:nvGrpSpPr>
          <p:cNvPr id="8" name="Group 21">
            <a:extLst>
              <a:ext uri="{FF2B5EF4-FFF2-40B4-BE49-F238E27FC236}">
                <a16:creationId xmlns:a16="http://schemas.microsoft.com/office/drawing/2014/main" id="{33671CDD-BB55-50DE-6566-C2703B88BFAB}"/>
              </a:ext>
            </a:extLst>
          </p:cNvPr>
          <p:cNvGrpSpPr/>
          <p:nvPr/>
        </p:nvGrpSpPr>
        <p:grpSpPr>
          <a:xfrm>
            <a:off x="5707744" y="1314928"/>
            <a:ext cx="3632200" cy="762000"/>
            <a:chOff x="672" y="3456"/>
            <a:chExt cx="1968" cy="443"/>
          </a:xfrm>
        </p:grpSpPr>
        <mc:AlternateContent xmlns:mc="http://schemas.openxmlformats.org/markup-compatibility/2006" xmlns:a14="http://schemas.microsoft.com/office/drawing/2010/main">
          <mc:Choice Requires="a14">
            <p:sp>
              <p:nvSpPr>
                <p:cNvPr id="9" name="Object 22">
                  <a:extLst>
                    <a:ext uri="{FF2B5EF4-FFF2-40B4-BE49-F238E27FC236}">
                      <a16:creationId xmlns:a16="http://schemas.microsoft.com/office/drawing/2014/main" id="{9B92C919-1205-EFE0-5F8B-20F088237358}"/>
                    </a:ext>
                  </a:extLst>
                </p:cNvPr>
                <p:cNvSpPr txBox="1"/>
                <p:nvPr/>
              </p:nvSpPr>
              <p:spPr>
                <a:xfrm>
                  <a:off x="1728" y="3456"/>
                  <a:ext cx="864" cy="44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chemeClr val="tx1"/>
                                </a:solidFill>
                                <a:latin typeface="Cambria Math" panose="02040503050406030204" pitchFamily="18" charset="0"/>
                              </a:rPr>
                            </m:ctrlPr>
                          </m:accPr>
                          <m:e>
                            <m:r>
                              <a:rPr lang="en-US" sz="2800" b="0" i="1" smtClean="0">
                                <a:solidFill>
                                  <a:schemeClr val="tx1"/>
                                </a:solidFill>
                                <a:latin typeface="Cambria Math" panose="02040503050406030204" pitchFamily="18" charset="0"/>
                              </a:rPr>
                              <m:t>𝐵</m:t>
                            </m:r>
                          </m:e>
                        </m:acc>
                        <m:r>
                          <a:rPr lang="en-US" sz="2800" b="0" i="1" smtClean="0">
                            <a:solidFill>
                              <a:schemeClr val="tx1"/>
                            </a:solidFill>
                            <a:latin typeface="Cambria Math" panose="02040503050406030204" pitchFamily="18" charset="0"/>
                          </a:rPr>
                          <m:t>&gt;&gt;</m:t>
                        </m:r>
                        <m:sSub>
                          <m:sSubPr>
                            <m:ctrlPr>
                              <a:rPr lang="en-US" sz="2800" i="1">
                                <a:solidFill>
                                  <a:schemeClr val="tx1"/>
                                </a:solidFill>
                                <a:latin typeface="Cambria Math" panose="02040503050406030204" pitchFamily="18" charset="0"/>
                              </a:rPr>
                            </m:ctrlPr>
                          </m:sSubPr>
                          <m:e>
                            <m:acc>
                              <m:accPr>
                                <m:chr m:val="⃑"/>
                                <m:ctrlPr>
                                  <a:rPr lang="en-US" sz="2800" i="1">
                                    <a:solidFill>
                                      <a:schemeClr val="tx1"/>
                                    </a:solidFill>
                                    <a:latin typeface="Cambria Math" panose="02040503050406030204" pitchFamily="18" charset="0"/>
                                  </a:rPr>
                                </m:ctrlPr>
                              </m:accPr>
                              <m:e>
                                <m:r>
                                  <a:rPr lang="en-US" sz="2800" b="0" i="1" smtClean="0">
                                    <a:solidFill>
                                      <a:schemeClr val="tx1"/>
                                    </a:solidFill>
                                    <a:latin typeface="Cambria Math" panose="02040503050406030204" pitchFamily="18" charset="0"/>
                                  </a:rPr>
                                  <m:t>𝐵</m:t>
                                </m:r>
                              </m:e>
                            </m:acc>
                          </m:e>
                          <m:sub>
                            <m:r>
                              <a:rPr lang="en-US" sz="2800" b="0" i="1" smtClean="0">
                                <a:solidFill>
                                  <a:schemeClr val="tx1"/>
                                </a:solidFill>
                                <a:latin typeface="Cambria Math" panose="02040503050406030204" pitchFamily="18" charset="0"/>
                              </a:rPr>
                              <m:t>0</m:t>
                            </m:r>
                          </m:sub>
                        </m:sSub>
                      </m:oMath>
                    </m:oMathPara>
                  </a14:m>
                  <a:endParaRPr lang="en-US" sz="2800" dirty="0">
                    <a:solidFill>
                      <a:schemeClr val="tx1"/>
                    </a:solidFill>
                  </a:endParaRPr>
                </a:p>
              </p:txBody>
            </p:sp>
          </mc:Choice>
          <mc:Fallback xmlns="">
            <p:sp>
              <p:nvSpPr>
                <p:cNvPr id="9" name="Object 22">
                  <a:extLst>
                    <a:ext uri="{FF2B5EF4-FFF2-40B4-BE49-F238E27FC236}">
                      <a16:creationId xmlns:a16="http://schemas.microsoft.com/office/drawing/2014/main" id="{9B92C919-1205-EFE0-5F8B-20F088237358}"/>
                    </a:ext>
                  </a:extLst>
                </p:cNvPr>
                <p:cNvSpPr txBox="1">
                  <a:spLocks noRot="1" noChangeAspect="1" noMove="1" noResize="1" noEditPoints="1" noAdjustHandles="1" noChangeArrowheads="1" noChangeShapeType="1" noTextEdit="1"/>
                </p:cNvSpPr>
                <p:nvPr/>
              </p:nvSpPr>
              <p:spPr>
                <a:xfrm>
                  <a:off x="1728" y="3456"/>
                  <a:ext cx="864" cy="443"/>
                </a:xfrm>
                <a:prstGeom prst="rect">
                  <a:avLst/>
                </a:prstGeom>
                <a:blipFill>
                  <a:blip r:embed="rId4"/>
                  <a:stretch>
                    <a:fillRect/>
                  </a:stretch>
                </a:blipFill>
                <a:ln w="38100">
                  <a:noFill/>
                  <a:miter/>
                </a:ln>
              </p:spPr>
              <p:txBody>
                <a:bodyPr/>
                <a:lstStyle/>
                <a:p>
                  <a:r>
                    <a:rPr lang="zh-CN" altLang="en-US">
                      <a:noFill/>
                    </a:rPr>
                    <a:t> </a:t>
                  </a:r>
                </a:p>
              </p:txBody>
            </p:sp>
          </mc:Fallback>
        </mc:AlternateContent>
        <p:sp>
          <p:nvSpPr>
            <p:cNvPr id="10" name="Rectangle 23">
              <a:extLst>
                <a:ext uri="{FF2B5EF4-FFF2-40B4-BE49-F238E27FC236}">
                  <a16:creationId xmlns:a16="http://schemas.microsoft.com/office/drawing/2014/main" id="{D213C6FA-D089-8C03-0650-571CA9E88244}"/>
                </a:ext>
              </a:extLst>
            </p:cNvPr>
            <p:cNvSpPr/>
            <p:nvPr/>
          </p:nvSpPr>
          <p:spPr>
            <a:xfrm>
              <a:off x="672" y="3504"/>
              <a:ext cx="1968" cy="302"/>
            </a:xfrm>
            <a:prstGeom prst="rect">
              <a:avLst/>
            </a:prstGeom>
            <a:noFill/>
            <a:ln w="9525">
              <a:noFill/>
            </a:ln>
          </p:spPr>
          <p:txBody>
            <a:bodyPr>
              <a:spAutoFit/>
            </a:bodyPr>
            <a:lstStyle/>
            <a:p>
              <a:r>
                <a:rPr lang="zh-CN" altLang="en-US" sz="2800" dirty="0">
                  <a:latin typeface="Times New Roman" panose="02020603050405020304" pitchFamily="18" charset="0"/>
                </a:rPr>
                <a:t>铁磁质</a:t>
              </a:r>
            </a:p>
          </p:txBody>
        </p:sp>
      </p:grpSp>
      <mc:AlternateContent xmlns:mc="http://schemas.openxmlformats.org/markup-compatibility/2006" xmlns:a14="http://schemas.microsoft.com/office/drawing/2010/main">
        <mc:Choice Requires="a14">
          <p:sp>
            <p:nvSpPr>
              <p:cNvPr id="2" name="Text Box 3">
                <a:extLst>
                  <a:ext uri="{FF2B5EF4-FFF2-40B4-BE49-F238E27FC236}">
                    <a16:creationId xmlns:a16="http://schemas.microsoft.com/office/drawing/2014/main" id="{A4FFBD54-4DFB-ECEA-12ED-0E707B1CF9D6}"/>
                  </a:ext>
                </a:extLst>
              </p:cNvPr>
              <p:cNvSpPr txBox="1">
                <a:spLocks noChangeArrowheads="1"/>
              </p:cNvSpPr>
              <p:nvPr/>
            </p:nvSpPr>
            <p:spPr bwMode="auto">
              <a:xfrm>
                <a:off x="1709530" y="1999523"/>
                <a:ext cx="8385156" cy="46335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kumimoji="1" lang="en-US" altLang="zh-CN" sz="2800" b="1" dirty="0">
                    <a:latin typeface="+mn-lt"/>
                    <a:ea typeface="华文楷体" panose="02010600040101010101" pitchFamily="2" charset="-122"/>
                    <a:cs typeface="Times New Roman" panose="02020603050405020304" pitchFamily="18" charset="0"/>
                  </a:rPr>
                  <a:t>-  </a:t>
                </a:r>
                <a:r>
                  <a:rPr kumimoji="1" lang="zh-CN" altLang="en-US" sz="2800" b="1" dirty="0">
                    <a:latin typeface="+mn-lt"/>
                    <a:ea typeface="华文楷体" panose="02010600040101010101" pitchFamily="2" charset="-122"/>
                    <a:cs typeface="Times New Roman" panose="02020603050405020304" pitchFamily="18" charset="0"/>
                  </a:rPr>
                  <a:t>在外磁场的作用下能产生很强的附加磁场</a:t>
                </a:r>
                <a:endParaRPr kumimoji="1" lang="en-US" altLang="zh-CN" sz="2800" b="1" dirty="0">
                  <a:latin typeface="+mn-lt"/>
                  <a:ea typeface="华文楷体" panose="02010600040101010101" pitchFamily="2" charset="-122"/>
                  <a:cs typeface="Times New Roman" panose="02020603050405020304" pitchFamily="18" charset="0"/>
                </a:endParaRPr>
              </a:p>
              <a:p>
                <a:pPr algn="just" eaLnBrk="1" hangingPunct="1">
                  <a:lnSpc>
                    <a:spcPct val="150000"/>
                  </a:lnSpc>
                </a:pPr>
                <a:r>
                  <a:rPr kumimoji="1" lang="en-US" altLang="zh-CN" sz="2800" b="1" dirty="0">
                    <a:latin typeface="+mn-lt"/>
                    <a:ea typeface="华文楷体" panose="02010600040101010101" pitchFamily="2" charset="-122"/>
                    <a:cs typeface="Times New Roman" panose="02020603050405020304" pitchFamily="18" charset="0"/>
                  </a:rPr>
                  <a:t>-  </a:t>
                </a:r>
                <a:r>
                  <a:rPr kumimoji="1" lang="zh-CN" altLang="en-US" sz="2800" b="1" dirty="0">
                    <a:latin typeface="+mn-lt"/>
                    <a:ea typeface="华文楷体" panose="02010600040101010101" pitchFamily="2" charset="-122"/>
                    <a:cs typeface="Times New Roman" panose="02020603050405020304" pitchFamily="18" charset="0"/>
                  </a:rPr>
                  <a:t>外磁场停止作用后，仍能保持其磁化状态</a:t>
                </a:r>
                <a:endParaRPr kumimoji="1" lang="en-US" altLang="zh-CN" sz="2800" b="1" dirty="0">
                  <a:latin typeface="+mn-lt"/>
                  <a:ea typeface="华文楷体" panose="02010600040101010101" pitchFamily="2" charset="-122"/>
                  <a:cs typeface="Times New Roman" panose="02020603050405020304" pitchFamily="18" charset="0"/>
                </a:endParaRPr>
              </a:p>
              <a:p>
                <a:pPr algn="just" eaLnBrk="1" hangingPunct="1">
                  <a:lnSpc>
                    <a:spcPct val="150000"/>
                  </a:lnSpc>
                </a:pPr>
                <a:r>
                  <a:rPr kumimoji="1" lang="en-US" altLang="zh-CN" sz="2800" b="1" dirty="0">
                    <a:solidFill>
                      <a:srgbClr val="000000"/>
                    </a:solidFill>
                    <a:latin typeface="+mn-lt"/>
                    <a:ea typeface="华文楷体" panose="02010600040101010101" pitchFamily="2" charset="-122"/>
                    <a:cs typeface="Times New Roman" panose="02020603050405020304" pitchFamily="18" charset="0"/>
                  </a:rPr>
                  <a:t>-  </a:t>
                </a:r>
                <a:r>
                  <a:rPr kumimoji="1" lang="zh-CN" altLang="en-US" sz="2800" b="1" dirty="0">
                    <a:solidFill>
                      <a:srgbClr val="000000"/>
                    </a:solidFill>
                    <a:latin typeface="+mn-lt"/>
                    <a:ea typeface="华文楷体" panose="02010600040101010101" pitchFamily="2" charset="-122"/>
                    <a:cs typeface="Times New Roman" panose="02020603050405020304" pitchFamily="18" charset="0"/>
                  </a:rPr>
                  <a:t>相对磁导率和磁化率随外磁场的变化而变化</a:t>
                </a:r>
                <a:endParaRPr kumimoji="1" lang="en-US" altLang="zh-CN" sz="2800" b="1" dirty="0">
                  <a:solidFill>
                    <a:srgbClr val="000000"/>
                  </a:solidFill>
                  <a:latin typeface="+mn-lt"/>
                  <a:ea typeface="华文楷体" panose="02010600040101010101" pitchFamily="2" charset="-122"/>
                  <a:cs typeface="Times New Roman" panose="02020603050405020304" pitchFamily="18" charset="0"/>
                </a:endParaRPr>
              </a:p>
              <a:p>
                <a:pPr algn="just" eaLnBrk="1" hangingPunct="1">
                  <a:lnSpc>
                    <a:spcPct val="150000"/>
                  </a:lnSpc>
                </a:pPr>
                <a:r>
                  <a:rPr kumimoji="1" lang="en-US" altLang="zh-CN" sz="2800" b="1" dirty="0">
                    <a:solidFill>
                      <a:srgbClr val="000000"/>
                    </a:solidFill>
                    <a:latin typeface="+mn-lt"/>
                    <a:ea typeface="华文楷体" panose="02010600040101010101" pitchFamily="2" charset="-122"/>
                    <a:cs typeface="Times New Roman" panose="02020603050405020304" pitchFamily="18" charset="0"/>
                  </a:rPr>
                  <a:t>-  </a:t>
                </a:r>
                <a:r>
                  <a:rPr kumimoji="1" lang="zh-CN" altLang="en-US" sz="2800" b="1" dirty="0">
                    <a:solidFill>
                      <a:srgbClr val="000000"/>
                    </a:solidFill>
                    <a:latin typeface="+mn-lt"/>
                    <a:ea typeface="华文楷体" panose="02010600040101010101" pitchFamily="2" charset="-122"/>
                    <a:cs typeface="Times New Roman" panose="02020603050405020304" pitchFamily="18" charset="0"/>
                  </a:rPr>
                  <a:t>具有磁滞现象，</a:t>
                </a:r>
                <a14:m>
                  <m:oMath xmlns:m="http://schemas.openxmlformats.org/officeDocument/2006/math">
                    <m:acc>
                      <m:accPr>
                        <m:chr m:val="⃗"/>
                        <m:ctrlPr>
                          <a:rPr kumimoji="1" lang="zh-CN" altLang="en-US" sz="28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accPr>
                      <m:e>
                        <m:r>
                          <a:rPr kumimoji="1" lang="en-US" altLang="zh-CN" sz="28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𝑩</m:t>
                        </m:r>
                      </m:e>
                    </m:acc>
                    <m:r>
                      <a:rPr kumimoji="1" lang="en-US" altLang="zh-CN" sz="28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acc>
                      <m:accPr>
                        <m:chr m:val="⃗"/>
                        <m:ctrlPr>
                          <a:rPr kumimoji="1" lang="zh-CN" altLang="en-US" sz="28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accPr>
                      <m:e>
                        <m:r>
                          <a:rPr kumimoji="1" lang="en-US" altLang="zh-CN" sz="2800" b="1"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𝑯</m:t>
                        </m:r>
                      </m:e>
                    </m:acc>
                  </m:oMath>
                </a14:m>
                <a:r>
                  <a:rPr kumimoji="1" lang="zh-CN" altLang="en-US" sz="2800" b="1" dirty="0">
                    <a:solidFill>
                      <a:srgbClr val="000000"/>
                    </a:solidFill>
                    <a:latin typeface="+mn-lt"/>
                    <a:ea typeface="华文楷体" panose="02010600040101010101" pitchFamily="2" charset="-122"/>
                    <a:cs typeface="Times New Roman" panose="02020603050405020304" pitchFamily="18" charset="0"/>
                  </a:rPr>
                  <a:t>之间不具有简单的线性关系</a:t>
                </a:r>
                <a:endParaRPr kumimoji="1" lang="en-US" altLang="zh-CN" sz="2800" b="1" dirty="0">
                  <a:solidFill>
                    <a:srgbClr val="000000"/>
                  </a:solidFill>
                  <a:latin typeface="+mn-lt"/>
                  <a:ea typeface="华文楷体" panose="02010600040101010101" pitchFamily="2" charset="-122"/>
                  <a:cs typeface="Times New Roman" panose="02020603050405020304" pitchFamily="18" charset="0"/>
                </a:endParaRPr>
              </a:p>
              <a:p>
                <a:pPr algn="just" eaLnBrk="1" hangingPunct="1">
                  <a:lnSpc>
                    <a:spcPct val="150000"/>
                  </a:lnSpc>
                </a:pPr>
                <a:r>
                  <a:rPr kumimoji="1" lang="en-US" altLang="zh-CN" sz="2800" b="1" dirty="0">
                    <a:solidFill>
                      <a:srgbClr val="000000"/>
                    </a:solidFill>
                    <a:latin typeface="+mn-lt"/>
                    <a:ea typeface="华文楷体" panose="02010600040101010101" pitchFamily="2" charset="-122"/>
                    <a:cs typeface="Times New Roman" panose="02020603050405020304" pitchFamily="18" charset="0"/>
                  </a:rPr>
                  <a:t>-  </a:t>
                </a:r>
                <a:r>
                  <a:rPr kumimoji="1" lang="zh-CN" altLang="en-US" sz="2800" b="1" dirty="0">
                    <a:solidFill>
                      <a:srgbClr val="000000"/>
                    </a:solidFill>
                    <a:latin typeface="+mn-lt"/>
                    <a:ea typeface="华文楷体" panose="02010600040101010101" pitchFamily="2" charset="-122"/>
                    <a:cs typeface="Times New Roman" panose="02020603050405020304" pitchFamily="18" charset="0"/>
                  </a:rPr>
                  <a:t>具有临界温度</a:t>
                </a:r>
                <a14:m>
                  <m:oMath xmlns:m="http://schemas.openxmlformats.org/officeDocument/2006/math">
                    <m:sSub>
                      <m:sSubPr>
                        <m:ctrlP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𝑻</m:t>
                        </m:r>
                      </m:e>
                      <m:sub>
                        <m: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𝒄</m:t>
                        </m:r>
                      </m:sub>
                    </m:sSub>
                    <m:r>
                      <a:rPr kumimoji="1" lang="zh-CN" altLang="en-US"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oMath>
                </a14:m>
                <a:r>
                  <a:rPr kumimoji="1" lang="zh-CN" altLang="en-US" sz="2800" b="1" dirty="0">
                    <a:solidFill>
                      <a:srgbClr val="000000"/>
                    </a:solidFill>
                    <a:latin typeface="+mn-lt"/>
                    <a:ea typeface="华文楷体" panose="02010600040101010101" pitchFamily="2" charset="-122"/>
                    <a:cs typeface="Times New Roman" panose="02020603050405020304" pitchFamily="18" charset="0"/>
                  </a:rPr>
                  <a:t>在</a:t>
                </a:r>
                <a14:m>
                  <m:oMath xmlns:m="http://schemas.openxmlformats.org/officeDocument/2006/math">
                    <m:sSub>
                      <m:sSubPr>
                        <m:ctrlP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𝑻</m:t>
                        </m:r>
                      </m:e>
                      <m:sub>
                        <m: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𝒄</m:t>
                        </m:r>
                      </m:sub>
                    </m:sSub>
                  </m:oMath>
                </a14:m>
                <a:r>
                  <a:rPr kumimoji="1" lang="zh-CN" altLang="en-US" sz="2800" b="1" dirty="0">
                    <a:solidFill>
                      <a:srgbClr val="000000"/>
                    </a:solidFill>
                    <a:latin typeface="+mn-lt"/>
                    <a:ea typeface="华文楷体" panose="02010600040101010101" pitchFamily="2" charset="-122"/>
                    <a:cs typeface="Times New Roman" panose="02020603050405020304" pitchFamily="18" charset="0"/>
                  </a:rPr>
                  <a:t>以上成为顺磁质，</a:t>
                </a:r>
                <a14:m>
                  <m:oMath xmlns:m="http://schemas.openxmlformats.org/officeDocument/2006/math">
                    <m:sSub>
                      <m:sSubPr>
                        <m:ctrlP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𝑻</m:t>
                        </m:r>
                      </m:e>
                      <m:sub>
                        <m: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𝒄</m:t>
                        </m:r>
                      </m:sub>
                    </m:sSub>
                  </m:oMath>
                </a14:m>
                <a:r>
                  <a:rPr kumimoji="1" lang="zh-CN" altLang="en-US" sz="2800" b="1" dirty="0">
                    <a:solidFill>
                      <a:srgbClr val="000000"/>
                    </a:solidFill>
                    <a:latin typeface="+mn-lt"/>
                    <a:ea typeface="华文楷体" panose="02010600040101010101" pitchFamily="2" charset="-122"/>
                    <a:cs typeface="Times New Roman" panose="02020603050405020304" pitchFamily="18" charset="0"/>
                  </a:rPr>
                  <a:t>称为居里温度或居里点。不同的铁磁质有不同的居里温度</a:t>
                </a:r>
                <a14:m>
                  <m:oMath xmlns:m="http://schemas.openxmlformats.org/officeDocument/2006/math">
                    <m:sSub>
                      <m:sSubPr>
                        <m:ctrlP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𝑻</m:t>
                        </m:r>
                      </m:e>
                      <m:sub>
                        <m:r>
                          <a:rPr kumimoji="1" lang="en-US" altLang="zh-CN" sz="2800" b="1" i="1"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𝒄</m:t>
                        </m:r>
                      </m:sub>
                    </m:sSub>
                  </m:oMath>
                </a14:m>
                <a:endParaRPr kumimoji="1" lang="en-US" altLang="zh-CN" sz="2800" b="1" dirty="0">
                  <a:solidFill>
                    <a:srgbClr val="000000"/>
                  </a:solidFill>
                  <a:latin typeface="+mn-lt"/>
                  <a:ea typeface="华文楷体" panose="02010600040101010101" pitchFamily="2" charset="-122"/>
                  <a:cs typeface="Times New Roman" panose="02020603050405020304" pitchFamily="18" charset="0"/>
                </a:endParaRPr>
              </a:p>
              <a:p>
                <a:pPr lvl="0" algn="ctr" eaLnBrk="1" hangingPunct="1">
                  <a:lnSpc>
                    <a:spcPct val="150000"/>
                  </a:lnSpc>
                </a:pPr>
                <a:r>
                  <a:rPr kumimoji="1" lang="zh-CN" altLang="en-US" sz="28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铁的居里点是</a:t>
                </a:r>
                <a:r>
                  <a:rPr kumimoji="1" lang="en-US" altLang="zh-CN" sz="28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1040K</a:t>
                </a:r>
                <a:r>
                  <a:rPr kumimoji="1" lang="zh-CN" altLang="en-US" sz="28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，镍是</a:t>
                </a:r>
                <a:r>
                  <a:rPr kumimoji="1" lang="en-US" altLang="zh-CN" sz="28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631K</a:t>
                </a:r>
                <a:r>
                  <a:rPr kumimoji="1" lang="zh-CN" altLang="en-US" sz="28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，钴是</a:t>
                </a:r>
                <a:r>
                  <a:rPr kumimoji="1" lang="en-US" altLang="zh-CN" sz="28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1388K</a:t>
                </a:r>
                <a:endParaRPr kumimoji="1" lang="zh-CN" altLang="en-US" sz="2800" b="1"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endParaRPr>
              </a:p>
            </p:txBody>
          </p:sp>
        </mc:Choice>
        <mc:Fallback xmlns="">
          <p:sp>
            <p:nvSpPr>
              <p:cNvPr id="2" name="Text Box 3">
                <a:extLst>
                  <a:ext uri="{FF2B5EF4-FFF2-40B4-BE49-F238E27FC236}">
                    <a16:creationId xmlns:a16="http://schemas.microsoft.com/office/drawing/2014/main" id="{A4FFBD54-4DFB-ECEA-12ED-0E707B1CF9D6}"/>
                  </a:ext>
                </a:extLst>
              </p:cNvPr>
              <p:cNvSpPr txBox="1">
                <a:spLocks noRot="1" noChangeAspect="1" noMove="1" noResize="1" noEditPoints="1" noAdjustHandles="1" noChangeArrowheads="1" noChangeShapeType="1" noTextEdit="1"/>
              </p:cNvSpPr>
              <p:nvPr/>
            </p:nvSpPr>
            <p:spPr bwMode="auto">
              <a:xfrm>
                <a:off x="1709530" y="1999523"/>
                <a:ext cx="8385156" cy="4633513"/>
              </a:xfrm>
              <a:prstGeom prst="rect">
                <a:avLst/>
              </a:prstGeom>
              <a:blipFill>
                <a:blip r:embed="rId5"/>
                <a:stretch>
                  <a:fillRect l="-1453" r="-1453"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3" name="标题 7">
            <a:extLst>
              <a:ext uri="{FF2B5EF4-FFF2-40B4-BE49-F238E27FC236}">
                <a16:creationId xmlns:a16="http://schemas.microsoft.com/office/drawing/2014/main" id="{E0219081-A0F6-4DBF-99AE-220344E59C13}"/>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铁磁质</a:t>
            </a:r>
          </a:p>
        </p:txBody>
      </p:sp>
    </p:spTree>
    <p:extLst>
      <p:ext uri="{BB962C8B-B14F-4D97-AF65-F5344CB8AC3E}">
        <p14:creationId xmlns:p14="http://schemas.microsoft.com/office/powerpoint/2010/main" val="426832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9">
            <a:extLst>
              <a:ext uri="{FF2B5EF4-FFF2-40B4-BE49-F238E27FC236}">
                <a16:creationId xmlns:a16="http://schemas.microsoft.com/office/drawing/2014/main" id="{EE6ECE0B-4A57-61E1-FEC8-DA81F8AD2561}"/>
              </a:ext>
            </a:extLst>
          </p:cNvPr>
          <p:cNvSpPr txBox="1"/>
          <p:nvPr/>
        </p:nvSpPr>
        <p:spPr>
          <a:xfrm>
            <a:off x="1025322" y="3918626"/>
            <a:ext cx="4779966" cy="954107"/>
          </a:xfrm>
          <a:prstGeom prst="rect">
            <a:avLst/>
          </a:prstGeom>
          <a:noFill/>
          <a:ln w="9525">
            <a:noFill/>
          </a:ln>
        </p:spPr>
        <p:txBody>
          <a:bodyPr wrap="square">
            <a:spAutoFit/>
          </a:bodyPr>
          <a:lstStyle/>
          <a:p>
            <a:pPr>
              <a:spcBef>
                <a:spcPct val="50000"/>
              </a:spcBef>
            </a:pPr>
            <a:r>
              <a:rPr lang="en-US" altLang="zh-CN" sz="2800" dirty="0">
                <a:solidFill>
                  <a:schemeClr val="tx1"/>
                </a:solidFill>
                <a:latin typeface="+mn-ea"/>
              </a:rPr>
              <a:t>- </a:t>
            </a:r>
            <a:r>
              <a:rPr lang="zh-CN" altLang="en-US" sz="2800" dirty="0">
                <a:solidFill>
                  <a:schemeClr val="tx1"/>
                </a:solidFill>
                <a:latin typeface="+mn-ea"/>
              </a:rPr>
              <a:t>铁磁质内部存在着分区自发磁化的小区域</a:t>
            </a:r>
            <a:endParaRPr lang="en-US" altLang="zh-CN" sz="2800" dirty="0">
              <a:solidFill>
                <a:schemeClr val="tx1"/>
              </a:solidFill>
              <a:latin typeface="+mn-ea"/>
            </a:endParaRPr>
          </a:p>
        </p:txBody>
      </p:sp>
      <p:grpSp>
        <p:nvGrpSpPr>
          <p:cNvPr id="40" name="Group 4">
            <a:extLst>
              <a:ext uri="{FF2B5EF4-FFF2-40B4-BE49-F238E27FC236}">
                <a16:creationId xmlns:a16="http://schemas.microsoft.com/office/drawing/2014/main" id="{AE67B795-227F-102E-88BB-2CA62A37BA4B}"/>
              </a:ext>
            </a:extLst>
          </p:cNvPr>
          <p:cNvGrpSpPr/>
          <p:nvPr/>
        </p:nvGrpSpPr>
        <p:grpSpPr>
          <a:xfrm>
            <a:off x="1596800" y="1540091"/>
            <a:ext cx="4375054" cy="1920205"/>
            <a:chOff x="708" y="2437"/>
            <a:chExt cx="1822" cy="897"/>
          </a:xfrm>
        </p:grpSpPr>
        <p:grpSp>
          <p:nvGrpSpPr>
            <p:cNvPr id="41" name="Group 5">
              <a:extLst>
                <a:ext uri="{FF2B5EF4-FFF2-40B4-BE49-F238E27FC236}">
                  <a16:creationId xmlns:a16="http://schemas.microsoft.com/office/drawing/2014/main" id="{2F8BA452-4A83-8AD4-26E5-284C225E6885}"/>
                </a:ext>
              </a:extLst>
            </p:cNvPr>
            <p:cNvGrpSpPr/>
            <p:nvPr/>
          </p:nvGrpSpPr>
          <p:grpSpPr>
            <a:xfrm>
              <a:off x="708" y="2437"/>
              <a:ext cx="1822" cy="897"/>
              <a:chOff x="699" y="2625"/>
              <a:chExt cx="1822" cy="897"/>
            </a:xfrm>
          </p:grpSpPr>
          <p:sp>
            <p:nvSpPr>
              <p:cNvPr id="43" name="Rectangle 6">
                <a:extLst>
                  <a:ext uri="{FF2B5EF4-FFF2-40B4-BE49-F238E27FC236}">
                    <a16:creationId xmlns:a16="http://schemas.microsoft.com/office/drawing/2014/main" id="{C6F78307-248D-AE52-0D7F-497A5EA3AD68}"/>
                  </a:ext>
                </a:extLst>
              </p:cNvPr>
              <p:cNvSpPr/>
              <p:nvPr/>
            </p:nvSpPr>
            <p:spPr>
              <a:xfrm>
                <a:off x="708" y="2634"/>
                <a:ext cx="1813" cy="888"/>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4" name="Line 7">
                <a:extLst>
                  <a:ext uri="{FF2B5EF4-FFF2-40B4-BE49-F238E27FC236}">
                    <a16:creationId xmlns:a16="http://schemas.microsoft.com/office/drawing/2014/main" id="{3734D663-9698-34DE-5011-0A9BC07C7593}"/>
                  </a:ext>
                </a:extLst>
              </p:cNvPr>
              <p:cNvSpPr/>
              <p:nvPr/>
            </p:nvSpPr>
            <p:spPr>
              <a:xfrm>
                <a:off x="925" y="2644"/>
                <a:ext cx="161" cy="274"/>
              </a:xfrm>
              <a:prstGeom prst="line">
                <a:avLst/>
              </a:prstGeom>
              <a:ln w="9525" cap="flat" cmpd="sng">
                <a:solidFill>
                  <a:schemeClr val="tx1"/>
                </a:solidFill>
                <a:prstDash val="solid"/>
                <a:headEnd type="none" w="med" len="med"/>
                <a:tailEnd type="none" w="med" len="med"/>
              </a:ln>
            </p:spPr>
          </p:sp>
          <p:sp>
            <p:nvSpPr>
              <p:cNvPr id="45" name="Line 8">
                <a:extLst>
                  <a:ext uri="{FF2B5EF4-FFF2-40B4-BE49-F238E27FC236}">
                    <a16:creationId xmlns:a16="http://schemas.microsoft.com/office/drawing/2014/main" id="{5F798CC9-11D6-FA09-FF95-708EA9667E1F}"/>
                  </a:ext>
                </a:extLst>
              </p:cNvPr>
              <p:cNvSpPr/>
              <p:nvPr/>
            </p:nvSpPr>
            <p:spPr>
              <a:xfrm flipV="1">
                <a:off x="699" y="2899"/>
                <a:ext cx="377" cy="113"/>
              </a:xfrm>
              <a:prstGeom prst="line">
                <a:avLst/>
              </a:prstGeom>
              <a:ln w="9525" cap="flat" cmpd="sng">
                <a:solidFill>
                  <a:schemeClr val="tx1"/>
                </a:solidFill>
                <a:prstDash val="solid"/>
                <a:headEnd type="none" w="med" len="med"/>
                <a:tailEnd type="none" w="med" len="med"/>
              </a:ln>
            </p:spPr>
          </p:sp>
          <p:sp>
            <p:nvSpPr>
              <p:cNvPr id="46" name="Line 9">
                <a:extLst>
                  <a:ext uri="{FF2B5EF4-FFF2-40B4-BE49-F238E27FC236}">
                    <a16:creationId xmlns:a16="http://schemas.microsoft.com/office/drawing/2014/main" id="{9B0ECAAC-7871-F1A6-ADD5-87C2F8DBC11F}"/>
                  </a:ext>
                </a:extLst>
              </p:cNvPr>
              <p:cNvSpPr/>
              <p:nvPr/>
            </p:nvSpPr>
            <p:spPr>
              <a:xfrm>
                <a:off x="1076" y="2899"/>
                <a:ext cx="406" cy="47"/>
              </a:xfrm>
              <a:prstGeom prst="line">
                <a:avLst/>
              </a:prstGeom>
              <a:ln w="9525" cap="flat" cmpd="sng">
                <a:solidFill>
                  <a:schemeClr val="tx1"/>
                </a:solidFill>
                <a:prstDash val="solid"/>
                <a:headEnd type="none" w="med" len="med"/>
                <a:tailEnd type="none" w="med" len="med"/>
              </a:ln>
            </p:spPr>
          </p:sp>
          <p:sp>
            <p:nvSpPr>
              <p:cNvPr id="47" name="Line 10">
                <a:extLst>
                  <a:ext uri="{FF2B5EF4-FFF2-40B4-BE49-F238E27FC236}">
                    <a16:creationId xmlns:a16="http://schemas.microsoft.com/office/drawing/2014/main" id="{2F089591-9B19-CE39-3F98-95942437C643}"/>
                  </a:ext>
                </a:extLst>
              </p:cNvPr>
              <p:cNvSpPr/>
              <p:nvPr/>
            </p:nvSpPr>
            <p:spPr>
              <a:xfrm>
                <a:off x="708" y="3210"/>
                <a:ext cx="312" cy="123"/>
              </a:xfrm>
              <a:prstGeom prst="line">
                <a:avLst/>
              </a:prstGeom>
              <a:ln w="9525" cap="flat" cmpd="sng">
                <a:solidFill>
                  <a:schemeClr val="tx1"/>
                </a:solidFill>
                <a:prstDash val="solid"/>
                <a:headEnd type="none" w="med" len="med"/>
                <a:tailEnd type="none" w="med" len="med"/>
              </a:ln>
            </p:spPr>
          </p:sp>
          <p:sp>
            <p:nvSpPr>
              <p:cNvPr id="48" name="Line 11">
                <a:extLst>
                  <a:ext uri="{FF2B5EF4-FFF2-40B4-BE49-F238E27FC236}">
                    <a16:creationId xmlns:a16="http://schemas.microsoft.com/office/drawing/2014/main" id="{EFB75075-8674-8330-5873-61F79B333281}"/>
                  </a:ext>
                </a:extLst>
              </p:cNvPr>
              <p:cNvSpPr/>
              <p:nvPr/>
            </p:nvSpPr>
            <p:spPr>
              <a:xfrm flipH="1">
                <a:off x="991" y="3343"/>
                <a:ext cx="10" cy="179"/>
              </a:xfrm>
              <a:prstGeom prst="line">
                <a:avLst/>
              </a:prstGeom>
              <a:ln w="9525" cap="flat" cmpd="sng">
                <a:solidFill>
                  <a:schemeClr val="tx1"/>
                </a:solidFill>
                <a:prstDash val="solid"/>
                <a:headEnd type="none" w="med" len="med"/>
                <a:tailEnd type="none" w="med" len="med"/>
              </a:ln>
            </p:spPr>
          </p:sp>
          <p:sp>
            <p:nvSpPr>
              <p:cNvPr id="49" name="Line 12">
                <a:extLst>
                  <a:ext uri="{FF2B5EF4-FFF2-40B4-BE49-F238E27FC236}">
                    <a16:creationId xmlns:a16="http://schemas.microsoft.com/office/drawing/2014/main" id="{882C2862-665B-90CA-50C6-7ACB591F5B62}"/>
                  </a:ext>
                </a:extLst>
              </p:cNvPr>
              <p:cNvSpPr/>
              <p:nvPr/>
            </p:nvSpPr>
            <p:spPr>
              <a:xfrm flipV="1">
                <a:off x="1010" y="2899"/>
                <a:ext cx="76" cy="434"/>
              </a:xfrm>
              <a:prstGeom prst="line">
                <a:avLst/>
              </a:prstGeom>
              <a:ln w="9525" cap="flat" cmpd="sng">
                <a:solidFill>
                  <a:schemeClr val="tx1"/>
                </a:solidFill>
                <a:prstDash val="solid"/>
                <a:headEnd type="none" w="med" len="med"/>
                <a:tailEnd type="none" w="med" len="med"/>
              </a:ln>
            </p:spPr>
          </p:sp>
          <p:sp>
            <p:nvSpPr>
              <p:cNvPr id="50" name="Line 13">
                <a:extLst>
                  <a:ext uri="{FF2B5EF4-FFF2-40B4-BE49-F238E27FC236}">
                    <a16:creationId xmlns:a16="http://schemas.microsoft.com/office/drawing/2014/main" id="{2D658CF4-2507-296B-FB4B-0376B0EE6370}"/>
                  </a:ext>
                </a:extLst>
              </p:cNvPr>
              <p:cNvSpPr/>
              <p:nvPr/>
            </p:nvSpPr>
            <p:spPr>
              <a:xfrm>
                <a:off x="1001" y="3343"/>
                <a:ext cx="425" cy="170"/>
              </a:xfrm>
              <a:prstGeom prst="line">
                <a:avLst/>
              </a:prstGeom>
              <a:ln w="9525" cap="flat" cmpd="sng">
                <a:solidFill>
                  <a:schemeClr val="tx1"/>
                </a:solidFill>
                <a:prstDash val="solid"/>
                <a:headEnd type="none" w="med" len="med"/>
                <a:tailEnd type="none" w="med" len="med"/>
              </a:ln>
            </p:spPr>
          </p:sp>
          <p:sp>
            <p:nvSpPr>
              <p:cNvPr id="51" name="Line 14">
                <a:extLst>
                  <a:ext uri="{FF2B5EF4-FFF2-40B4-BE49-F238E27FC236}">
                    <a16:creationId xmlns:a16="http://schemas.microsoft.com/office/drawing/2014/main" id="{88545C5D-F762-8E65-F983-776772267AA8}"/>
                  </a:ext>
                </a:extLst>
              </p:cNvPr>
              <p:cNvSpPr/>
              <p:nvPr/>
            </p:nvSpPr>
            <p:spPr>
              <a:xfrm flipV="1">
                <a:off x="1039" y="3210"/>
                <a:ext cx="387" cy="152"/>
              </a:xfrm>
              <a:prstGeom prst="line">
                <a:avLst/>
              </a:prstGeom>
              <a:ln w="9525" cap="flat" cmpd="sng">
                <a:solidFill>
                  <a:schemeClr val="tx1"/>
                </a:solidFill>
                <a:prstDash val="solid"/>
                <a:headEnd type="none" w="med" len="med"/>
                <a:tailEnd type="none" w="med" len="med"/>
              </a:ln>
            </p:spPr>
          </p:sp>
          <p:sp>
            <p:nvSpPr>
              <p:cNvPr id="52" name="Line 15">
                <a:extLst>
                  <a:ext uri="{FF2B5EF4-FFF2-40B4-BE49-F238E27FC236}">
                    <a16:creationId xmlns:a16="http://schemas.microsoft.com/office/drawing/2014/main" id="{4ED94BBC-0067-A120-F894-D00777DC19D8}"/>
                  </a:ext>
                </a:extLst>
              </p:cNvPr>
              <p:cNvSpPr/>
              <p:nvPr/>
            </p:nvSpPr>
            <p:spPr>
              <a:xfrm flipH="1">
                <a:off x="1426" y="2946"/>
                <a:ext cx="38" cy="283"/>
              </a:xfrm>
              <a:prstGeom prst="line">
                <a:avLst/>
              </a:prstGeom>
              <a:ln w="9525" cap="flat" cmpd="sng">
                <a:solidFill>
                  <a:schemeClr val="tx1"/>
                </a:solidFill>
                <a:prstDash val="solid"/>
                <a:headEnd type="none" w="med" len="med"/>
                <a:tailEnd type="none" w="med" len="med"/>
              </a:ln>
            </p:spPr>
          </p:sp>
          <p:sp>
            <p:nvSpPr>
              <p:cNvPr id="53" name="Line 16">
                <a:extLst>
                  <a:ext uri="{FF2B5EF4-FFF2-40B4-BE49-F238E27FC236}">
                    <a16:creationId xmlns:a16="http://schemas.microsoft.com/office/drawing/2014/main" id="{E4B5DFFC-D134-2245-4258-9C87974BBAB9}"/>
                  </a:ext>
                </a:extLst>
              </p:cNvPr>
              <p:cNvSpPr/>
              <p:nvPr/>
            </p:nvSpPr>
            <p:spPr>
              <a:xfrm flipV="1">
                <a:off x="1464" y="2644"/>
                <a:ext cx="9" cy="302"/>
              </a:xfrm>
              <a:prstGeom prst="line">
                <a:avLst/>
              </a:prstGeom>
              <a:ln w="9525" cap="flat" cmpd="sng">
                <a:solidFill>
                  <a:schemeClr val="tx1"/>
                </a:solidFill>
                <a:prstDash val="solid"/>
                <a:headEnd type="none" w="med" len="med"/>
                <a:tailEnd type="none" w="med" len="med"/>
              </a:ln>
            </p:spPr>
          </p:sp>
          <p:sp>
            <p:nvSpPr>
              <p:cNvPr id="54" name="Line 17">
                <a:extLst>
                  <a:ext uri="{FF2B5EF4-FFF2-40B4-BE49-F238E27FC236}">
                    <a16:creationId xmlns:a16="http://schemas.microsoft.com/office/drawing/2014/main" id="{4EBC035A-2752-5163-3C22-8E8E7E813B0F}"/>
                  </a:ext>
                </a:extLst>
              </p:cNvPr>
              <p:cNvSpPr/>
              <p:nvPr/>
            </p:nvSpPr>
            <p:spPr>
              <a:xfrm flipV="1">
                <a:off x="1473" y="2899"/>
                <a:ext cx="529" cy="47"/>
              </a:xfrm>
              <a:prstGeom prst="line">
                <a:avLst/>
              </a:prstGeom>
              <a:ln w="9525" cap="flat" cmpd="sng">
                <a:solidFill>
                  <a:schemeClr val="tx1"/>
                </a:solidFill>
                <a:prstDash val="solid"/>
                <a:headEnd type="none" w="med" len="med"/>
                <a:tailEnd type="none" w="med" len="med"/>
              </a:ln>
            </p:spPr>
          </p:sp>
          <p:sp>
            <p:nvSpPr>
              <p:cNvPr id="55" name="Line 18">
                <a:extLst>
                  <a:ext uri="{FF2B5EF4-FFF2-40B4-BE49-F238E27FC236}">
                    <a16:creationId xmlns:a16="http://schemas.microsoft.com/office/drawing/2014/main" id="{FAA5F7A9-D55B-A7C9-966E-231632405BA9}"/>
                  </a:ext>
                </a:extLst>
              </p:cNvPr>
              <p:cNvSpPr/>
              <p:nvPr/>
            </p:nvSpPr>
            <p:spPr>
              <a:xfrm flipH="1" flipV="1">
                <a:off x="1889" y="2625"/>
                <a:ext cx="103" cy="274"/>
              </a:xfrm>
              <a:prstGeom prst="line">
                <a:avLst/>
              </a:prstGeom>
              <a:ln w="9525" cap="flat" cmpd="sng">
                <a:solidFill>
                  <a:schemeClr val="tx1"/>
                </a:solidFill>
                <a:prstDash val="solid"/>
                <a:headEnd type="none" w="med" len="med"/>
                <a:tailEnd type="none" w="med" len="med"/>
              </a:ln>
            </p:spPr>
          </p:sp>
          <p:sp>
            <p:nvSpPr>
              <p:cNvPr id="56" name="Line 19">
                <a:extLst>
                  <a:ext uri="{FF2B5EF4-FFF2-40B4-BE49-F238E27FC236}">
                    <a16:creationId xmlns:a16="http://schemas.microsoft.com/office/drawing/2014/main" id="{18FCBE49-3DBA-3809-5BBB-418E981C6EC6}"/>
                  </a:ext>
                </a:extLst>
              </p:cNvPr>
              <p:cNvSpPr/>
              <p:nvPr/>
            </p:nvSpPr>
            <p:spPr>
              <a:xfrm>
                <a:off x="1435" y="3220"/>
                <a:ext cx="425" cy="75"/>
              </a:xfrm>
              <a:prstGeom prst="line">
                <a:avLst/>
              </a:prstGeom>
              <a:ln w="9525" cap="flat" cmpd="sng">
                <a:solidFill>
                  <a:schemeClr val="tx1"/>
                </a:solidFill>
                <a:prstDash val="solid"/>
                <a:headEnd type="none" w="med" len="med"/>
                <a:tailEnd type="none" w="med" len="med"/>
              </a:ln>
            </p:spPr>
          </p:sp>
          <p:sp>
            <p:nvSpPr>
              <p:cNvPr id="57" name="Line 20">
                <a:extLst>
                  <a:ext uri="{FF2B5EF4-FFF2-40B4-BE49-F238E27FC236}">
                    <a16:creationId xmlns:a16="http://schemas.microsoft.com/office/drawing/2014/main" id="{420F0400-9741-F842-B9DB-BDCB0D279FA2}"/>
                  </a:ext>
                </a:extLst>
              </p:cNvPr>
              <p:cNvSpPr/>
              <p:nvPr/>
            </p:nvSpPr>
            <p:spPr>
              <a:xfrm flipV="1">
                <a:off x="1407" y="3258"/>
                <a:ext cx="217" cy="264"/>
              </a:xfrm>
              <a:prstGeom prst="line">
                <a:avLst/>
              </a:prstGeom>
              <a:ln w="9525" cap="flat" cmpd="sng">
                <a:solidFill>
                  <a:schemeClr val="tx1"/>
                </a:solidFill>
                <a:prstDash val="solid"/>
                <a:headEnd type="none" w="med" len="med"/>
                <a:tailEnd type="none" w="med" len="med"/>
              </a:ln>
            </p:spPr>
          </p:sp>
          <p:sp>
            <p:nvSpPr>
              <p:cNvPr id="58" name="Line 21">
                <a:extLst>
                  <a:ext uri="{FF2B5EF4-FFF2-40B4-BE49-F238E27FC236}">
                    <a16:creationId xmlns:a16="http://schemas.microsoft.com/office/drawing/2014/main" id="{FD85E98A-A9CD-3387-B765-37DD8053AEE9}"/>
                  </a:ext>
                </a:extLst>
              </p:cNvPr>
              <p:cNvSpPr/>
              <p:nvPr/>
            </p:nvSpPr>
            <p:spPr>
              <a:xfrm>
                <a:off x="1785" y="2918"/>
                <a:ext cx="75" cy="377"/>
              </a:xfrm>
              <a:prstGeom prst="line">
                <a:avLst/>
              </a:prstGeom>
              <a:ln w="9525" cap="flat" cmpd="sng">
                <a:solidFill>
                  <a:schemeClr val="tx1"/>
                </a:solidFill>
                <a:prstDash val="solid"/>
                <a:headEnd type="none" w="med" len="med"/>
                <a:tailEnd type="none" w="med" len="med"/>
              </a:ln>
            </p:spPr>
          </p:sp>
          <p:sp>
            <p:nvSpPr>
              <p:cNvPr id="59" name="Line 22">
                <a:extLst>
                  <a:ext uri="{FF2B5EF4-FFF2-40B4-BE49-F238E27FC236}">
                    <a16:creationId xmlns:a16="http://schemas.microsoft.com/office/drawing/2014/main" id="{94D14B7A-A405-5399-F893-598CC7872E5A}"/>
                  </a:ext>
                </a:extLst>
              </p:cNvPr>
              <p:cNvSpPr/>
              <p:nvPr/>
            </p:nvSpPr>
            <p:spPr>
              <a:xfrm flipH="1">
                <a:off x="1785" y="3295"/>
                <a:ext cx="75" cy="218"/>
              </a:xfrm>
              <a:prstGeom prst="line">
                <a:avLst/>
              </a:prstGeom>
              <a:ln w="9525" cap="flat" cmpd="sng">
                <a:solidFill>
                  <a:schemeClr val="tx1"/>
                </a:solidFill>
                <a:prstDash val="solid"/>
                <a:headEnd type="none" w="med" len="med"/>
                <a:tailEnd type="none" w="med" len="med"/>
              </a:ln>
            </p:spPr>
          </p:sp>
          <p:sp>
            <p:nvSpPr>
              <p:cNvPr id="60" name="Line 23">
                <a:extLst>
                  <a:ext uri="{FF2B5EF4-FFF2-40B4-BE49-F238E27FC236}">
                    <a16:creationId xmlns:a16="http://schemas.microsoft.com/office/drawing/2014/main" id="{80E79C18-0475-BD67-560A-787E9F32D451}"/>
                  </a:ext>
                </a:extLst>
              </p:cNvPr>
              <p:cNvSpPr/>
              <p:nvPr/>
            </p:nvSpPr>
            <p:spPr>
              <a:xfrm>
                <a:off x="1992" y="2889"/>
                <a:ext cx="180" cy="180"/>
              </a:xfrm>
              <a:prstGeom prst="line">
                <a:avLst/>
              </a:prstGeom>
              <a:ln w="9525" cap="flat" cmpd="sng">
                <a:solidFill>
                  <a:schemeClr val="tx1"/>
                </a:solidFill>
                <a:prstDash val="solid"/>
                <a:headEnd type="none" w="med" len="med"/>
                <a:tailEnd type="none" w="med" len="med"/>
              </a:ln>
            </p:spPr>
          </p:sp>
          <p:sp>
            <p:nvSpPr>
              <p:cNvPr id="61" name="Line 24">
                <a:extLst>
                  <a:ext uri="{FF2B5EF4-FFF2-40B4-BE49-F238E27FC236}">
                    <a16:creationId xmlns:a16="http://schemas.microsoft.com/office/drawing/2014/main" id="{668A2269-7A02-35C7-A1CA-34DDE8DB5EC3}"/>
                  </a:ext>
                </a:extLst>
              </p:cNvPr>
              <p:cNvSpPr/>
              <p:nvPr/>
            </p:nvSpPr>
            <p:spPr>
              <a:xfrm flipV="1">
                <a:off x="1992" y="2663"/>
                <a:ext cx="529" cy="236"/>
              </a:xfrm>
              <a:prstGeom prst="line">
                <a:avLst/>
              </a:prstGeom>
              <a:ln w="9525" cap="flat" cmpd="sng">
                <a:solidFill>
                  <a:schemeClr val="tx1"/>
                </a:solidFill>
                <a:prstDash val="solid"/>
                <a:headEnd type="none" w="med" len="med"/>
                <a:tailEnd type="none" w="med" len="med"/>
              </a:ln>
            </p:spPr>
          </p:sp>
          <p:sp>
            <p:nvSpPr>
              <p:cNvPr id="62" name="Line 25">
                <a:extLst>
                  <a:ext uri="{FF2B5EF4-FFF2-40B4-BE49-F238E27FC236}">
                    <a16:creationId xmlns:a16="http://schemas.microsoft.com/office/drawing/2014/main" id="{3DF0F34F-D298-FBC0-1385-9987C9F9EC0C}"/>
                  </a:ext>
                </a:extLst>
              </p:cNvPr>
              <p:cNvSpPr/>
              <p:nvPr/>
            </p:nvSpPr>
            <p:spPr>
              <a:xfrm flipV="1">
                <a:off x="2191" y="3031"/>
                <a:ext cx="330" cy="19"/>
              </a:xfrm>
              <a:prstGeom prst="line">
                <a:avLst/>
              </a:prstGeom>
              <a:ln w="9525" cap="flat" cmpd="sng">
                <a:solidFill>
                  <a:schemeClr val="tx1"/>
                </a:solidFill>
                <a:prstDash val="solid"/>
                <a:headEnd type="none" w="med" len="med"/>
                <a:tailEnd type="none" w="med" len="med"/>
              </a:ln>
            </p:spPr>
          </p:sp>
          <p:sp>
            <p:nvSpPr>
              <p:cNvPr id="63" name="Line 26">
                <a:extLst>
                  <a:ext uri="{FF2B5EF4-FFF2-40B4-BE49-F238E27FC236}">
                    <a16:creationId xmlns:a16="http://schemas.microsoft.com/office/drawing/2014/main" id="{CCF439E2-7FB6-EFA7-B85F-672A31B78933}"/>
                  </a:ext>
                </a:extLst>
              </p:cNvPr>
              <p:cNvSpPr/>
              <p:nvPr/>
            </p:nvSpPr>
            <p:spPr>
              <a:xfrm flipH="1">
                <a:off x="2181" y="3069"/>
                <a:ext cx="10" cy="217"/>
              </a:xfrm>
              <a:prstGeom prst="line">
                <a:avLst/>
              </a:prstGeom>
              <a:ln w="9525" cap="flat" cmpd="sng">
                <a:solidFill>
                  <a:schemeClr val="tx1"/>
                </a:solidFill>
                <a:prstDash val="solid"/>
                <a:headEnd type="none" w="med" len="med"/>
                <a:tailEnd type="none" w="med" len="med"/>
              </a:ln>
            </p:spPr>
          </p:sp>
          <p:sp>
            <p:nvSpPr>
              <p:cNvPr id="64" name="Line 27">
                <a:extLst>
                  <a:ext uri="{FF2B5EF4-FFF2-40B4-BE49-F238E27FC236}">
                    <a16:creationId xmlns:a16="http://schemas.microsoft.com/office/drawing/2014/main" id="{A7213B62-B4E5-2A8B-A2ED-38C583433771}"/>
                  </a:ext>
                </a:extLst>
              </p:cNvPr>
              <p:cNvSpPr/>
              <p:nvPr/>
            </p:nvSpPr>
            <p:spPr>
              <a:xfrm>
                <a:off x="2181" y="3295"/>
                <a:ext cx="340" cy="85"/>
              </a:xfrm>
              <a:prstGeom prst="line">
                <a:avLst/>
              </a:prstGeom>
              <a:ln w="9525" cap="flat" cmpd="sng">
                <a:solidFill>
                  <a:schemeClr val="tx1"/>
                </a:solidFill>
                <a:prstDash val="solid"/>
                <a:headEnd type="none" w="med" len="med"/>
                <a:tailEnd type="none" w="med" len="med"/>
              </a:ln>
            </p:spPr>
          </p:sp>
          <p:sp>
            <p:nvSpPr>
              <p:cNvPr id="65" name="Line 28">
                <a:extLst>
                  <a:ext uri="{FF2B5EF4-FFF2-40B4-BE49-F238E27FC236}">
                    <a16:creationId xmlns:a16="http://schemas.microsoft.com/office/drawing/2014/main" id="{2444A6B8-0499-511E-E6BD-0D498788073F}"/>
                  </a:ext>
                </a:extLst>
              </p:cNvPr>
              <p:cNvSpPr/>
              <p:nvPr/>
            </p:nvSpPr>
            <p:spPr>
              <a:xfrm flipH="1" flipV="1">
                <a:off x="1851" y="3286"/>
                <a:ext cx="311" cy="9"/>
              </a:xfrm>
              <a:prstGeom prst="line">
                <a:avLst/>
              </a:prstGeom>
              <a:ln w="9525" cap="flat" cmpd="sng">
                <a:solidFill>
                  <a:schemeClr val="tx1"/>
                </a:solidFill>
                <a:prstDash val="solid"/>
                <a:headEnd type="none" w="med" len="med"/>
                <a:tailEnd type="none" w="med" len="med"/>
              </a:ln>
            </p:spPr>
          </p:sp>
        </p:grpSp>
        <p:sp>
          <p:nvSpPr>
            <p:cNvPr id="42" name="Line 29">
              <a:extLst>
                <a:ext uri="{FF2B5EF4-FFF2-40B4-BE49-F238E27FC236}">
                  <a16:creationId xmlns:a16="http://schemas.microsoft.com/office/drawing/2014/main" id="{D76AA038-9FC4-A86C-A14D-0771779B6C02}"/>
                </a:ext>
              </a:extLst>
            </p:cNvPr>
            <p:cNvSpPr/>
            <p:nvPr/>
          </p:nvSpPr>
          <p:spPr>
            <a:xfrm>
              <a:off x="2182" y="3097"/>
              <a:ext cx="9" cy="236"/>
            </a:xfrm>
            <a:prstGeom prst="line">
              <a:avLst/>
            </a:prstGeom>
            <a:ln w="9525" cap="flat" cmpd="sng">
              <a:solidFill>
                <a:schemeClr val="tx1"/>
              </a:solidFill>
              <a:prstDash val="solid"/>
              <a:headEnd type="none" w="med" len="med"/>
              <a:tailEnd type="none" w="med" len="med"/>
            </a:ln>
          </p:spPr>
        </p:sp>
      </p:grpSp>
      <p:grpSp>
        <p:nvGrpSpPr>
          <p:cNvPr id="66" name="Group 30">
            <a:extLst>
              <a:ext uri="{FF2B5EF4-FFF2-40B4-BE49-F238E27FC236}">
                <a16:creationId xmlns:a16="http://schemas.microsoft.com/office/drawing/2014/main" id="{A05E6A00-3B62-3538-0A0E-9D6E1B76971D}"/>
              </a:ext>
            </a:extLst>
          </p:cNvPr>
          <p:cNvGrpSpPr/>
          <p:nvPr/>
        </p:nvGrpSpPr>
        <p:grpSpPr>
          <a:xfrm>
            <a:off x="1701574" y="1614486"/>
            <a:ext cx="4127726" cy="1798185"/>
            <a:chOff x="755" y="2663"/>
            <a:chExt cx="1719" cy="840"/>
          </a:xfrm>
        </p:grpSpPr>
        <p:sp>
          <p:nvSpPr>
            <p:cNvPr id="67" name="Line 31">
              <a:extLst>
                <a:ext uri="{FF2B5EF4-FFF2-40B4-BE49-F238E27FC236}">
                  <a16:creationId xmlns:a16="http://schemas.microsoft.com/office/drawing/2014/main" id="{016F8460-9282-E8DE-CADD-B5203E42F343}"/>
                </a:ext>
              </a:extLst>
            </p:cNvPr>
            <p:cNvSpPr/>
            <p:nvPr/>
          </p:nvSpPr>
          <p:spPr>
            <a:xfrm flipV="1">
              <a:off x="765" y="2773"/>
              <a:ext cx="170" cy="98"/>
            </a:xfrm>
            <a:prstGeom prst="line">
              <a:avLst/>
            </a:prstGeom>
            <a:ln w="22225" cap="flat" cmpd="sng">
              <a:solidFill>
                <a:schemeClr val="tx1"/>
              </a:solidFill>
              <a:prstDash val="solid"/>
              <a:headEnd type="none" w="med" len="med"/>
              <a:tailEnd type="triangle" w="sm" len="lg"/>
            </a:ln>
          </p:spPr>
        </p:sp>
        <p:sp>
          <p:nvSpPr>
            <p:cNvPr id="68" name="Line 32">
              <a:extLst>
                <a:ext uri="{FF2B5EF4-FFF2-40B4-BE49-F238E27FC236}">
                  <a16:creationId xmlns:a16="http://schemas.microsoft.com/office/drawing/2014/main" id="{F39574DB-F52C-30F8-9A63-279BAFB59ACE}"/>
                </a:ext>
              </a:extLst>
            </p:cNvPr>
            <p:cNvSpPr/>
            <p:nvPr/>
          </p:nvSpPr>
          <p:spPr>
            <a:xfrm>
              <a:off x="888" y="3031"/>
              <a:ext cx="28" cy="227"/>
            </a:xfrm>
            <a:prstGeom prst="line">
              <a:avLst/>
            </a:prstGeom>
            <a:ln w="22225" cap="flat" cmpd="sng">
              <a:solidFill>
                <a:schemeClr val="tx1"/>
              </a:solidFill>
              <a:prstDash val="solid"/>
              <a:headEnd type="none" w="med" len="med"/>
              <a:tailEnd type="triangle" w="med" len="lg"/>
            </a:ln>
          </p:spPr>
        </p:sp>
        <p:sp>
          <p:nvSpPr>
            <p:cNvPr id="69" name="Line 33">
              <a:extLst>
                <a:ext uri="{FF2B5EF4-FFF2-40B4-BE49-F238E27FC236}">
                  <a16:creationId xmlns:a16="http://schemas.microsoft.com/office/drawing/2014/main" id="{90BFD06D-8E25-3960-35E1-CEDF6889806C}"/>
                </a:ext>
              </a:extLst>
            </p:cNvPr>
            <p:cNvSpPr/>
            <p:nvPr/>
          </p:nvSpPr>
          <p:spPr>
            <a:xfrm flipH="1">
              <a:off x="755" y="3352"/>
              <a:ext cx="170" cy="132"/>
            </a:xfrm>
            <a:prstGeom prst="line">
              <a:avLst/>
            </a:prstGeom>
            <a:ln w="22225" cap="flat" cmpd="sng">
              <a:solidFill>
                <a:schemeClr val="tx1"/>
              </a:solidFill>
              <a:prstDash val="solid"/>
              <a:headEnd type="none" w="med" len="med"/>
              <a:tailEnd type="triangle" w="sm" len="lg"/>
            </a:ln>
          </p:spPr>
        </p:sp>
        <p:sp>
          <p:nvSpPr>
            <p:cNvPr id="70" name="Line 34">
              <a:extLst>
                <a:ext uri="{FF2B5EF4-FFF2-40B4-BE49-F238E27FC236}">
                  <a16:creationId xmlns:a16="http://schemas.microsoft.com/office/drawing/2014/main" id="{0FEE697B-10FF-C6EA-D01E-4B7E8EF22740}"/>
                </a:ext>
              </a:extLst>
            </p:cNvPr>
            <p:cNvSpPr/>
            <p:nvPr/>
          </p:nvSpPr>
          <p:spPr>
            <a:xfrm flipH="1">
              <a:off x="1067" y="3031"/>
              <a:ext cx="312" cy="217"/>
            </a:xfrm>
            <a:prstGeom prst="line">
              <a:avLst/>
            </a:prstGeom>
            <a:ln w="22225" cap="flat" cmpd="sng">
              <a:solidFill>
                <a:schemeClr val="tx1"/>
              </a:solidFill>
              <a:prstDash val="solid"/>
              <a:headEnd type="none" w="med" len="med"/>
              <a:tailEnd type="triangle" w="sm" len="lg"/>
            </a:ln>
          </p:spPr>
        </p:sp>
        <p:sp>
          <p:nvSpPr>
            <p:cNvPr id="71" name="Line 35">
              <a:extLst>
                <a:ext uri="{FF2B5EF4-FFF2-40B4-BE49-F238E27FC236}">
                  <a16:creationId xmlns:a16="http://schemas.microsoft.com/office/drawing/2014/main" id="{6B14D49D-80BE-8D62-F293-0AA0379164CF}"/>
                </a:ext>
              </a:extLst>
            </p:cNvPr>
            <p:cNvSpPr/>
            <p:nvPr/>
          </p:nvSpPr>
          <p:spPr>
            <a:xfrm flipH="1" flipV="1">
              <a:off x="1067" y="2710"/>
              <a:ext cx="274" cy="142"/>
            </a:xfrm>
            <a:prstGeom prst="line">
              <a:avLst/>
            </a:prstGeom>
            <a:ln w="22225" cap="flat" cmpd="sng">
              <a:solidFill>
                <a:schemeClr val="tx1"/>
              </a:solidFill>
              <a:prstDash val="solid"/>
              <a:headEnd type="none" w="med" len="med"/>
              <a:tailEnd type="triangle" w="sm" len="lg"/>
            </a:ln>
          </p:spPr>
        </p:sp>
        <p:sp>
          <p:nvSpPr>
            <p:cNvPr id="72" name="Line 36">
              <a:extLst>
                <a:ext uri="{FF2B5EF4-FFF2-40B4-BE49-F238E27FC236}">
                  <a16:creationId xmlns:a16="http://schemas.microsoft.com/office/drawing/2014/main" id="{39F34C7E-CECF-6C3A-19A9-296A59098E63}"/>
                </a:ext>
              </a:extLst>
            </p:cNvPr>
            <p:cNvSpPr/>
            <p:nvPr/>
          </p:nvSpPr>
          <p:spPr>
            <a:xfrm flipV="1">
              <a:off x="1237" y="3314"/>
              <a:ext cx="274" cy="48"/>
            </a:xfrm>
            <a:prstGeom prst="line">
              <a:avLst/>
            </a:prstGeom>
            <a:ln w="22225" cap="flat" cmpd="sng">
              <a:solidFill>
                <a:schemeClr val="tx1"/>
              </a:solidFill>
              <a:prstDash val="solid"/>
              <a:headEnd type="none" w="med" len="med"/>
              <a:tailEnd type="triangle" w="sm" len="lg"/>
            </a:ln>
          </p:spPr>
        </p:sp>
        <p:sp>
          <p:nvSpPr>
            <p:cNvPr id="73" name="Line 37">
              <a:extLst>
                <a:ext uri="{FF2B5EF4-FFF2-40B4-BE49-F238E27FC236}">
                  <a16:creationId xmlns:a16="http://schemas.microsoft.com/office/drawing/2014/main" id="{B3D50F73-B53E-1EF4-9DC4-E497B0CB0984}"/>
                </a:ext>
              </a:extLst>
            </p:cNvPr>
            <p:cNvSpPr/>
            <p:nvPr/>
          </p:nvSpPr>
          <p:spPr>
            <a:xfrm>
              <a:off x="1058" y="3409"/>
              <a:ext cx="160" cy="94"/>
            </a:xfrm>
            <a:prstGeom prst="line">
              <a:avLst/>
            </a:prstGeom>
            <a:ln w="22225" cap="flat" cmpd="sng">
              <a:solidFill>
                <a:schemeClr val="tx1"/>
              </a:solidFill>
              <a:prstDash val="solid"/>
              <a:headEnd type="none" w="med" len="med"/>
              <a:tailEnd type="triangle" w="sm" len="lg"/>
            </a:ln>
          </p:spPr>
        </p:sp>
        <p:sp>
          <p:nvSpPr>
            <p:cNvPr id="74" name="Line 38">
              <a:extLst>
                <a:ext uri="{FF2B5EF4-FFF2-40B4-BE49-F238E27FC236}">
                  <a16:creationId xmlns:a16="http://schemas.microsoft.com/office/drawing/2014/main" id="{D601493D-8B43-2A30-5B81-928F354FA21C}"/>
                </a:ext>
              </a:extLst>
            </p:cNvPr>
            <p:cNvSpPr/>
            <p:nvPr/>
          </p:nvSpPr>
          <p:spPr>
            <a:xfrm>
              <a:off x="1624" y="2993"/>
              <a:ext cx="10" cy="227"/>
            </a:xfrm>
            <a:prstGeom prst="line">
              <a:avLst/>
            </a:prstGeom>
            <a:ln w="22225" cap="flat" cmpd="sng">
              <a:solidFill>
                <a:schemeClr val="tx1"/>
              </a:solidFill>
              <a:prstDash val="solid"/>
              <a:headEnd type="none" w="med" len="med"/>
              <a:tailEnd type="triangle" w="sm" len="lg"/>
            </a:ln>
          </p:spPr>
        </p:sp>
        <p:sp>
          <p:nvSpPr>
            <p:cNvPr id="75" name="Line 39">
              <a:extLst>
                <a:ext uri="{FF2B5EF4-FFF2-40B4-BE49-F238E27FC236}">
                  <a16:creationId xmlns:a16="http://schemas.microsoft.com/office/drawing/2014/main" id="{C8508948-5AA6-543E-A8EC-D7270D6B07F8}"/>
                </a:ext>
              </a:extLst>
            </p:cNvPr>
            <p:cNvSpPr/>
            <p:nvPr/>
          </p:nvSpPr>
          <p:spPr>
            <a:xfrm flipV="1">
              <a:off x="1549" y="2719"/>
              <a:ext cx="283" cy="161"/>
            </a:xfrm>
            <a:prstGeom prst="line">
              <a:avLst/>
            </a:prstGeom>
            <a:ln w="22225" cap="flat" cmpd="sng">
              <a:solidFill>
                <a:schemeClr val="tx1"/>
              </a:solidFill>
              <a:prstDash val="solid"/>
              <a:headEnd type="none" w="med" len="med"/>
              <a:tailEnd type="triangle" w="sm" len="lg"/>
            </a:ln>
          </p:spPr>
        </p:sp>
        <p:sp>
          <p:nvSpPr>
            <p:cNvPr id="76" name="Line 40">
              <a:extLst>
                <a:ext uri="{FF2B5EF4-FFF2-40B4-BE49-F238E27FC236}">
                  <a16:creationId xmlns:a16="http://schemas.microsoft.com/office/drawing/2014/main" id="{29F8C0FC-66C1-A53A-4EDD-35160E568E0C}"/>
                </a:ext>
              </a:extLst>
            </p:cNvPr>
            <p:cNvSpPr/>
            <p:nvPr/>
          </p:nvSpPr>
          <p:spPr>
            <a:xfrm flipH="1" flipV="1">
              <a:off x="1596" y="3362"/>
              <a:ext cx="141" cy="132"/>
            </a:xfrm>
            <a:prstGeom prst="line">
              <a:avLst/>
            </a:prstGeom>
            <a:ln w="22225" cap="flat" cmpd="sng">
              <a:solidFill>
                <a:schemeClr val="tx1"/>
              </a:solidFill>
              <a:prstDash val="solid"/>
              <a:headEnd type="none" w="med" len="med"/>
              <a:tailEnd type="triangle" w="sm" len="lg"/>
            </a:ln>
          </p:spPr>
        </p:sp>
        <p:sp>
          <p:nvSpPr>
            <p:cNvPr id="77" name="Line 41">
              <a:extLst>
                <a:ext uri="{FF2B5EF4-FFF2-40B4-BE49-F238E27FC236}">
                  <a16:creationId xmlns:a16="http://schemas.microsoft.com/office/drawing/2014/main" id="{B1B1C10D-5148-494C-143E-78B3C0F9EA6E}"/>
                </a:ext>
              </a:extLst>
            </p:cNvPr>
            <p:cNvSpPr/>
            <p:nvPr/>
          </p:nvSpPr>
          <p:spPr>
            <a:xfrm>
              <a:off x="1889" y="3003"/>
              <a:ext cx="198" cy="236"/>
            </a:xfrm>
            <a:prstGeom prst="line">
              <a:avLst/>
            </a:prstGeom>
            <a:ln w="22225" cap="flat" cmpd="sng">
              <a:solidFill>
                <a:schemeClr val="tx1"/>
              </a:solidFill>
              <a:prstDash val="solid"/>
              <a:headEnd type="none" w="med" len="med"/>
              <a:tailEnd type="triangle" w="sm" len="lg"/>
            </a:ln>
          </p:spPr>
        </p:sp>
        <p:sp>
          <p:nvSpPr>
            <p:cNvPr id="78" name="Line 42">
              <a:extLst>
                <a:ext uri="{FF2B5EF4-FFF2-40B4-BE49-F238E27FC236}">
                  <a16:creationId xmlns:a16="http://schemas.microsoft.com/office/drawing/2014/main" id="{C0882528-8809-A65E-3C1C-68A85F2B4C09}"/>
                </a:ext>
              </a:extLst>
            </p:cNvPr>
            <p:cNvSpPr/>
            <p:nvPr/>
          </p:nvSpPr>
          <p:spPr>
            <a:xfrm>
              <a:off x="2058" y="2663"/>
              <a:ext cx="38" cy="160"/>
            </a:xfrm>
            <a:prstGeom prst="line">
              <a:avLst/>
            </a:prstGeom>
            <a:ln w="22225" cap="flat" cmpd="sng">
              <a:solidFill>
                <a:schemeClr val="tx1"/>
              </a:solidFill>
              <a:prstDash val="solid"/>
              <a:headEnd type="none" w="med" len="med"/>
              <a:tailEnd type="triangle" w="sm" len="lg"/>
            </a:ln>
          </p:spPr>
        </p:sp>
        <p:sp>
          <p:nvSpPr>
            <p:cNvPr id="79" name="Line 43">
              <a:extLst>
                <a:ext uri="{FF2B5EF4-FFF2-40B4-BE49-F238E27FC236}">
                  <a16:creationId xmlns:a16="http://schemas.microsoft.com/office/drawing/2014/main" id="{88BC39DD-F7AB-7D7D-F213-1BB05487FEAE}"/>
                </a:ext>
              </a:extLst>
            </p:cNvPr>
            <p:cNvSpPr/>
            <p:nvPr/>
          </p:nvSpPr>
          <p:spPr>
            <a:xfrm flipV="1">
              <a:off x="1992" y="3324"/>
              <a:ext cx="10" cy="160"/>
            </a:xfrm>
            <a:prstGeom prst="line">
              <a:avLst/>
            </a:prstGeom>
            <a:ln w="22225" cap="flat" cmpd="sng">
              <a:solidFill>
                <a:schemeClr val="tx1"/>
              </a:solidFill>
              <a:prstDash val="solid"/>
              <a:headEnd type="none" w="med" len="med"/>
              <a:tailEnd type="triangle" w="sm" len="lg"/>
            </a:ln>
          </p:spPr>
        </p:sp>
        <p:sp>
          <p:nvSpPr>
            <p:cNvPr id="80" name="Line 44">
              <a:extLst>
                <a:ext uri="{FF2B5EF4-FFF2-40B4-BE49-F238E27FC236}">
                  <a16:creationId xmlns:a16="http://schemas.microsoft.com/office/drawing/2014/main" id="{4DEA3D89-84A5-78E6-8170-DD758A5C41B2}"/>
                </a:ext>
              </a:extLst>
            </p:cNvPr>
            <p:cNvSpPr/>
            <p:nvPr/>
          </p:nvSpPr>
          <p:spPr>
            <a:xfrm flipH="1" flipV="1">
              <a:off x="2266" y="3126"/>
              <a:ext cx="142" cy="198"/>
            </a:xfrm>
            <a:prstGeom prst="line">
              <a:avLst/>
            </a:prstGeom>
            <a:ln w="22225" cap="flat" cmpd="sng">
              <a:solidFill>
                <a:schemeClr val="tx1"/>
              </a:solidFill>
              <a:prstDash val="solid"/>
              <a:headEnd type="none" w="med" len="med"/>
              <a:tailEnd type="triangle" w="med" len="med"/>
            </a:ln>
          </p:spPr>
        </p:sp>
        <p:sp>
          <p:nvSpPr>
            <p:cNvPr id="81" name="Line 45">
              <a:extLst>
                <a:ext uri="{FF2B5EF4-FFF2-40B4-BE49-F238E27FC236}">
                  <a16:creationId xmlns:a16="http://schemas.microsoft.com/office/drawing/2014/main" id="{394381CF-6EDC-90BC-480F-6F313C6752E0}"/>
                </a:ext>
              </a:extLst>
            </p:cNvPr>
            <p:cNvSpPr/>
            <p:nvPr/>
          </p:nvSpPr>
          <p:spPr>
            <a:xfrm flipH="1">
              <a:off x="2200" y="3437"/>
              <a:ext cx="217" cy="0"/>
            </a:xfrm>
            <a:prstGeom prst="line">
              <a:avLst/>
            </a:prstGeom>
            <a:ln w="22225" cap="flat" cmpd="sng">
              <a:solidFill>
                <a:schemeClr val="tx1"/>
              </a:solidFill>
              <a:prstDash val="solid"/>
              <a:headEnd type="none" w="med" len="med"/>
              <a:tailEnd type="triangle" w="med" len="med"/>
            </a:ln>
          </p:spPr>
        </p:sp>
        <p:sp>
          <p:nvSpPr>
            <p:cNvPr id="82" name="Line 46">
              <a:extLst>
                <a:ext uri="{FF2B5EF4-FFF2-40B4-BE49-F238E27FC236}">
                  <a16:creationId xmlns:a16="http://schemas.microsoft.com/office/drawing/2014/main" id="{0D1DBB96-B5F3-BFAD-506A-002898DB3412}"/>
                </a:ext>
              </a:extLst>
            </p:cNvPr>
            <p:cNvSpPr/>
            <p:nvPr/>
          </p:nvSpPr>
          <p:spPr>
            <a:xfrm flipV="1">
              <a:off x="2172" y="2814"/>
              <a:ext cx="302" cy="151"/>
            </a:xfrm>
            <a:prstGeom prst="line">
              <a:avLst/>
            </a:prstGeom>
            <a:ln w="22225" cap="flat" cmpd="sng">
              <a:solidFill>
                <a:schemeClr val="tx1"/>
              </a:solidFill>
              <a:prstDash val="solid"/>
              <a:headEnd type="none" w="med" len="med"/>
              <a:tailEnd type="triangle" w="med" len="med"/>
            </a:ln>
          </p:spPr>
        </p:sp>
      </p:grpSp>
      <p:grpSp>
        <p:nvGrpSpPr>
          <p:cNvPr id="83" name="Group 48">
            <a:extLst>
              <a:ext uri="{FF2B5EF4-FFF2-40B4-BE49-F238E27FC236}">
                <a16:creationId xmlns:a16="http://schemas.microsoft.com/office/drawing/2014/main" id="{ACE6A091-3272-D88D-8E8D-1B7DB1FD967D}"/>
              </a:ext>
            </a:extLst>
          </p:cNvPr>
          <p:cNvGrpSpPr/>
          <p:nvPr/>
        </p:nvGrpSpPr>
        <p:grpSpPr>
          <a:xfrm>
            <a:off x="7034168" y="1540091"/>
            <a:ext cx="4359051" cy="1936612"/>
            <a:chOff x="3089" y="2447"/>
            <a:chExt cx="1822" cy="897"/>
          </a:xfrm>
        </p:grpSpPr>
        <p:grpSp>
          <p:nvGrpSpPr>
            <p:cNvPr id="84" name="Group 49">
              <a:extLst>
                <a:ext uri="{FF2B5EF4-FFF2-40B4-BE49-F238E27FC236}">
                  <a16:creationId xmlns:a16="http://schemas.microsoft.com/office/drawing/2014/main" id="{F9B1BB34-4EE2-1E1D-F4ED-32DF72A61166}"/>
                </a:ext>
              </a:extLst>
            </p:cNvPr>
            <p:cNvGrpSpPr/>
            <p:nvPr/>
          </p:nvGrpSpPr>
          <p:grpSpPr>
            <a:xfrm>
              <a:off x="3089" y="2447"/>
              <a:ext cx="1822" cy="897"/>
              <a:chOff x="699" y="2625"/>
              <a:chExt cx="1822" cy="897"/>
            </a:xfrm>
          </p:grpSpPr>
          <p:sp>
            <p:nvSpPr>
              <p:cNvPr id="86" name="Rectangle 50">
                <a:extLst>
                  <a:ext uri="{FF2B5EF4-FFF2-40B4-BE49-F238E27FC236}">
                    <a16:creationId xmlns:a16="http://schemas.microsoft.com/office/drawing/2014/main" id="{C4399A79-537F-76A6-D107-F52D1C2D5629}"/>
                  </a:ext>
                </a:extLst>
              </p:cNvPr>
              <p:cNvSpPr/>
              <p:nvPr/>
            </p:nvSpPr>
            <p:spPr>
              <a:xfrm>
                <a:off x="708" y="2634"/>
                <a:ext cx="1813" cy="888"/>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7" name="Line 51">
                <a:extLst>
                  <a:ext uri="{FF2B5EF4-FFF2-40B4-BE49-F238E27FC236}">
                    <a16:creationId xmlns:a16="http://schemas.microsoft.com/office/drawing/2014/main" id="{16A727C6-EB65-D9AB-2EF8-DC543F5A73E7}"/>
                  </a:ext>
                </a:extLst>
              </p:cNvPr>
              <p:cNvSpPr/>
              <p:nvPr/>
            </p:nvSpPr>
            <p:spPr>
              <a:xfrm>
                <a:off x="925" y="2644"/>
                <a:ext cx="161" cy="274"/>
              </a:xfrm>
              <a:prstGeom prst="line">
                <a:avLst/>
              </a:prstGeom>
              <a:ln w="9525" cap="flat" cmpd="sng">
                <a:solidFill>
                  <a:schemeClr val="tx1"/>
                </a:solidFill>
                <a:prstDash val="solid"/>
                <a:headEnd type="none" w="med" len="med"/>
                <a:tailEnd type="none" w="med" len="med"/>
              </a:ln>
            </p:spPr>
          </p:sp>
          <p:sp>
            <p:nvSpPr>
              <p:cNvPr id="88" name="Line 52">
                <a:extLst>
                  <a:ext uri="{FF2B5EF4-FFF2-40B4-BE49-F238E27FC236}">
                    <a16:creationId xmlns:a16="http://schemas.microsoft.com/office/drawing/2014/main" id="{E79201AB-1833-77EE-209F-D08DF472C03E}"/>
                  </a:ext>
                </a:extLst>
              </p:cNvPr>
              <p:cNvSpPr/>
              <p:nvPr/>
            </p:nvSpPr>
            <p:spPr>
              <a:xfrm flipV="1">
                <a:off x="699" y="2899"/>
                <a:ext cx="377" cy="113"/>
              </a:xfrm>
              <a:prstGeom prst="line">
                <a:avLst/>
              </a:prstGeom>
              <a:ln w="9525" cap="flat" cmpd="sng">
                <a:solidFill>
                  <a:schemeClr val="tx1"/>
                </a:solidFill>
                <a:prstDash val="solid"/>
                <a:headEnd type="none" w="med" len="med"/>
                <a:tailEnd type="none" w="med" len="med"/>
              </a:ln>
            </p:spPr>
          </p:sp>
          <p:sp>
            <p:nvSpPr>
              <p:cNvPr id="89" name="Line 53">
                <a:extLst>
                  <a:ext uri="{FF2B5EF4-FFF2-40B4-BE49-F238E27FC236}">
                    <a16:creationId xmlns:a16="http://schemas.microsoft.com/office/drawing/2014/main" id="{8AC5B189-D3B2-D4B8-3CC2-12A6ADBF6AE1}"/>
                  </a:ext>
                </a:extLst>
              </p:cNvPr>
              <p:cNvSpPr/>
              <p:nvPr/>
            </p:nvSpPr>
            <p:spPr>
              <a:xfrm>
                <a:off x="1076" y="2899"/>
                <a:ext cx="406" cy="47"/>
              </a:xfrm>
              <a:prstGeom prst="line">
                <a:avLst/>
              </a:prstGeom>
              <a:ln w="9525" cap="flat" cmpd="sng">
                <a:solidFill>
                  <a:schemeClr val="tx1"/>
                </a:solidFill>
                <a:prstDash val="solid"/>
                <a:headEnd type="none" w="med" len="med"/>
                <a:tailEnd type="none" w="med" len="med"/>
              </a:ln>
            </p:spPr>
          </p:sp>
          <p:sp>
            <p:nvSpPr>
              <p:cNvPr id="90" name="Line 54">
                <a:extLst>
                  <a:ext uri="{FF2B5EF4-FFF2-40B4-BE49-F238E27FC236}">
                    <a16:creationId xmlns:a16="http://schemas.microsoft.com/office/drawing/2014/main" id="{CB35EDA9-3F36-1876-F3C6-9987D69C7CEE}"/>
                  </a:ext>
                </a:extLst>
              </p:cNvPr>
              <p:cNvSpPr/>
              <p:nvPr/>
            </p:nvSpPr>
            <p:spPr>
              <a:xfrm>
                <a:off x="708" y="3210"/>
                <a:ext cx="312" cy="123"/>
              </a:xfrm>
              <a:prstGeom prst="line">
                <a:avLst/>
              </a:prstGeom>
              <a:ln w="9525" cap="flat" cmpd="sng">
                <a:solidFill>
                  <a:schemeClr val="tx1"/>
                </a:solidFill>
                <a:prstDash val="solid"/>
                <a:headEnd type="none" w="med" len="med"/>
                <a:tailEnd type="none" w="med" len="med"/>
              </a:ln>
            </p:spPr>
          </p:sp>
          <p:sp>
            <p:nvSpPr>
              <p:cNvPr id="91" name="Line 55">
                <a:extLst>
                  <a:ext uri="{FF2B5EF4-FFF2-40B4-BE49-F238E27FC236}">
                    <a16:creationId xmlns:a16="http://schemas.microsoft.com/office/drawing/2014/main" id="{0354C76D-7331-B2C6-9AFD-E35ABC7FFC11}"/>
                  </a:ext>
                </a:extLst>
              </p:cNvPr>
              <p:cNvSpPr/>
              <p:nvPr/>
            </p:nvSpPr>
            <p:spPr>
              <a:xfrm flipH="1">
                <a:off x="991" y="3343"/>
                <a:ext cx="10" cy="179"/>
              </a:xfrm>
              <a:prstGeom prst="line">
                <a:avLst/>
              </a:prstGeom>
              <a:ln w="9525" cap="flat" cmpd="sng">
                <a:solidFill>
                  <a:schemeClr val="tx1"/>
                </a:solidFill>
                <a:prstDash val="solid"/>
                <a:headEnd type="none" w="med" len="med"/>
                <a:tailEnd type="none" w="med" len="med"/>
              </a:ln>
            </p:spPr>
          </p:sp>
          <p:sp>
            <p:nvSpPr>
              <p:cNvPr id="92" name="Line 56">
                <a:extLst>
                  <a:ext uri="{FF2B5EF4-FFF2-40B4-BE49-F238E27FC236}">
                    <a16:creationId xmlns:a16="http://schemas.microsoft.com/office/drawing/2014/main" id="{1CE57EBF-BC1E-1063-C98B-7206D638E58B}"/>
                  </a:ext>
                </a:extLst>
              </p:cNvPr>
              <p:cNvSpPr/>
              <p:nvPr/>
            </p:nvSpPr>
            <p:spPr>
              <a:xfrm flipV="1">
                <a:off x="1010" y="2899"/>
                <a:ext cx="76" cy="434"/>
              </a:xfrm>
              <a:prstGeom prst="line">
                <a:avLst/>
              </a:prstGeom>
              <a:ln w="9525" cap="flat" cmpd="sng">
                <a:solidFill>
                  <a:schemeClr val="tx1"/>
                </a:solidFill>
                <a:prstDash val="solid"/>
                <a:headEnd type="none" w="med" len="med"/>
                <a:tailEnd type="none" w="med" len="med"/>
              </a:ln>
            </p:spPr>
          </p:sp>
          <p:sp>
            <p:nvSpPr>
              <p:cNvPr id="93" name="Line 57">
                <a:extLst>
                  <a:ext uri="{FF2B5EF4-FFF2-40B4-BE49-F238E27FC236}">
                    <a16:creationId xmlns:a16="http://schemas.microsoft.com/office/drawing/2014/main" id="{70F8E61C-2E47-E394-C779-8055F1738D7A}"/>
                  </a:ext>
                </a:extLst>
              </p:cNvPr>
              <p:cNvSpPr/>
              <p:nvPr/>
            </p:nvSpPr>
            <p:spPr>
              <a:xfrm>
                <a:off x="1001" y="3343"/>
                <a:ext cx="425" cy="170"/>
              </a:xfrm>
              <a:prstGeom prst="line">
                <a:avLst/>
              </a:prstGeom>
              <a:ln w="9525" cap="flat" cmpd="sng">
                <a:solidFill>
                  <a:schemeClr val="tx1"/>
                </a:solidFill>
                <a:prstDash val="solid"/>
                <a:headEnd type="none" w="med" len="med"/>
                <a:tailEnd type="none" w="med" len="med"/>
              </a:ln>
            </p:spPr>
          </p:sp>
          <p:sp>
            <p:nvSpPr>
              <p:cNvPr id="94" name="Line 58">
                <a:extLst>
                  <a:ext uri="{FF2B5EF4-FFF2-40B4-BE49-F238E27FC236}">
                    <a16:creationId xmlns:a16="http://schemas.microsoft.com/office/drawing/2014/main" id="{D505E03D-0986-45C1-C174-678090AD1189}"/>
                  </a:ext>
                </a:extLst>
              </p:cNvPr>
              <p:cNvSpPr/>
              <p:nvPr/>
            </p:nvSpPr>
            <p:spPr>
              <a:xfrm flipV="1">
                <a:off x="1039" y="3210"/>
                <a:ext cx="387" cy="152"/>
              </a:xfrm>
              <a:prstGeom prst="line">
                <a:avLst/>
              </a:prstGeom>
              <a:ln w="9525" cap="flat" cmpd="sng">
                <a:solidFill>
                  <a:schemeClr val="tx1"/>
                </a:solidFill>
                <a:prstDash val="solid"/>
                <a:headEnd type="none" w="med" len="med"/>
                <a:tailEnd type="none" w="med" len="med"/>
              </a:ln>
            </p:spPr>
          </p:sp>
          <p:sp>
            <p:nvSpPr>
              <p:cNvPr id="95" name="Line 59">
                <a:extLst>
                  <a:ext uri="{FF2B5EF4-FFF2-40B4-BE49-F238E27FC236}">
                    <a16:creationId xmlns:a16="http://schemas.microsoft.com/office/drawing/2014/main" id="{B74E8ECB-6FE4-7D8C-88A0-74A78AC3A4EF}"/>
                  </a:ext>
                </a:extLst>
              </p:cNvPr>
              <p:cNvSpPr/>
              <p:nvPr/>
            </p:nvSpPr>
            <p:spPr>
              <a:xfrm flipH="1">
                <a:off x="1426" y="2946"/>
                <a:ext cx="38" cy="283"/>
              </a:xfrm>
              <a:prstGeom prst="line">
                <a:avLst/>
              </a:prstGeom>
              <a:ln w="9525" cap="flat" cmpd="sng">
                <a:solidFill>
                  <a:schemeClr val="tx1"/>
                </a:solidFill>
                <a:prstDash val="solid"/>
                <a:headEnd type="none" w="med" len="med"/>
                <a:tailEnd type="none" w="med" len="med"/>
              </a:ln>
            </p:spPr>
          </p:sp>
          <p:sp>
            <p:nvSpPr>
              <p:cNvPr id="96" name="Line 60">
                <a:extLst>
                  <a:ext uri="{FF2B5EF4-FFF2-40B4-BE49-F238E27FC236}">
                    <a16:creationId xmlns:a16="http://schemas.microsoft.com/office/drawing/2014/main" id="{ECBF0A6B-55A3-ED99-378C-95EE0D58245A}"/>
                  </a:ext>
                </a:extLst>
              </p:cNvPr>
              <p:cNvSpPr/>
              <p:nvPr/>
            </p:nvSpPr>
            <p:spPr>
              <a:xfrm flipV="1">
                <a:off x="1464" y="2644"/>
                <a:ext cx="9" cy="302"/>
              </a:xfrm>
              <a:prstGeom prst="line">
                <a:avLst/>
              </a:prstGeom>
              <a:ln w="9525" cap="flat" cmpd="sng">
                <a:solidFill>
                  <a:schemeClr val="tx1"/>
                </a:solidFill>
                <a:prstDash val="solid"/>
                <a:headEnd type="none" w="med" len="med"/>
                <a:tailEnd type="none" w="med" len="med"/>
              </a:ln>
            </p:spPr>
          </p:sp>
          <p:sp>
            <p:nvSpPr>
              <p:cNvPr id="97" name="Line 61">
                <a:extLst>
                  <a:ext uri="{FF2B5EF4-FFF2-40B4-BE49-F238E27FC236}">
                    <a16:creationId xmlns:a16="http://schemas.microsoft.com/office/drawing/2014/main" id="{D869029B-EE93-F4C5-608C-B942F011BA8E}"/>
                  </a:ext>
                </a:extLst>
              </p:cNvPr>
              <p:cNvSpPr/>
              <p:nvPr/>
            </p:nvSpPr>
            <p:spPr>
              <a:xfrm flipV="1">
                <a:off x="1473" y="2899"/>
                <a:ext cx="529" cy="47"/>
              </a:xfrm>
              <a:prstGeom prst="line">
                <a:avLst/>
              </a:prstGeom>
              <a:ln w="9525" cap="flat" cmpd="sng">
                <a:solidFill>
                  <a:schemeClr val="tx1"/>
                </a:solidFill>
                <a:prstDash val="solid"/>
                <a:headEnd type="none" w="med" len="med"/>
                <a:tailEnd type="none" w="med" len="med"/>
              </a:ln>
            </p:spPr>
          </p:sp>
          <p:sp>
            <p:nvSpPr>
              <p:cNvPr id="98" name="Line 62">
                <a:extLst>
                  <a:ext uri="{FF2B5EF4-FFF2-40B4-BE49-F238E27FC236}">
                    <a16:creationId xmlns:a16="http://schemas.microsoft.com/office/drawing/2014/main" id="{0077498B-8416-E40B-BFB4-A2DD5443C854}"/>
                  </a:ext>
                </a:extLst>
              </p:cNvPr>
              <p:cNvSpPr/>
              <p:nvPr/>
            </p:nvSpPr>
            <p:spPr>
              <a:xfrm flipH="1" flipV="1">
                <a:off x="1889" y="2625"/>
                <a:ext cx="103" cy="274"/>
              </a:xfrm>
              <a:prstGeom prst="line">
                <a:avLst/>
              </a:prstGeom>
              <a:ln w="9525" cap="flat" cmpd="sng">
                <a:solidFill>
                  <a:schemeClr val="tx1"/>
                </a:solidFill>
                <a:prstDash val="solid"/>
                <a:headEnd type="none" w="med" len="med"/>
                <a:tailEnd type="none" w="med" len="med"/>
              </a:ln>
            </p:spPr>
          </p:sp>
          <p:sp>
            <p:nvSpPr>
              <p:cNvPr id="99" name="Line 63">
                <a:extLst>
                  <a:ext uri="{FF2B5EF4-FFF2-40B4-BE49-F238E27FC236}">
                    <a16:creationId xmlns:a16="http://schemas.microsoft.com/office/drawing/2014/main" id="{1171F02F-E508-C88E-16BA-934B2F3D57D8}"/>
                  </a:ext>
                </a:extLst>
              </p:cNvPr>
              <p:cNvSpPr/>
              <p:nvPr/>
            </p:nvSpPr>
            <p:spPr>
              <a:xfrm>
                <a:off x="1435" y="3220"/>
                <a:ext cx="425" cy="75"/>
              </a:xfrm>
              <a:prstGeom prst="line">
                <a:avLst/>
              </a:prstGeom>
              <a:ln w="9525" cap="flat" cmpd="sng">
                <a:solidFill>
                  <a:schemeClr val="tx1"/>
                </a:solidFill>
                <a:prstDash val="solid"/>
                <a:headEnd type="none" w="med" len="med"/>
                <a:tailEnd type="none" w="med" len="med"/>
              </a:ln>
            </p:spPr>
          </p:sp>
          <p:sp>
            <p:nvSpPr>
              <p:cNvPr id="100" name="Line 64">
                <a:extLst>
                  <a:ext uri="{FF2B5EF4-FFF2-40B4-BE49-F238E27FC236}">
                    <a16:creationId xmlns:a16="http://schemas.microsoft.com/office/drawing/2014/main" id="{3CA7BF87-5A14-C324-044B-59E495A6CC24}"/>
                  </a:ext>
                </a:extLst>
              </p:cNvPr>
              <p:cNvSpPr/>
              <p:nvPr/>
            </p:nvSpPr>
            <p:spPr>
              <a:xfrm flipV="1">
                <a:off x="1407" y="3258"/>
                <a:ext cx="217" cy="264"/>
              </a:xfrm>
              <a:prstGeom prst="line">
                <a:avLst/>
              </a:prstGeom>
              <a:ln w="9525" cap="flat" cmpd="sng">
                <a:solidFill>
                  <a:schemeClr val="tx1"/>
                </a:solidFill>
                <a:prstDash val="solid"/>
                <a:headEnd type="none" w="med" len="med"/>
                <a:tailEnd type="none" w="med" len="med"/>
              </a:ln>
            </p:spPr>
          </p:sp>
          <p:sp>
            <p:nvSpPr>
              <p:cNvPr id="101" name="Line 65">
                <a:extLst>
                  <a:ext uri="{FF2B5EF4-FFF2-40B4-BE49-F238E27FC236}">
                    <a16:creationId xmlns:a16="http://schemas.microsoft.com/office/drawing/2014/main" id="{643D4C86-1937-8215-4EEA-A7080530D693}"/>
                  </a:ext>
                </a:extLst>
              </p:cNvPr>
              <p:cNvSpPr/>
              <p:nvPr/>
            </p:nvSpPr>
            <p:spPr>
              <a:xfrm>
                <a:off x="1785" y="2918"/>
                <a:ext cx="75" cy="377"/>
              </a:xfrm>
              <a:prstGeom prst="line">
                <a:avLst/>
              </a:prstGeom>
              <a:ln w="9525" cap="flat" cmpd="sng">
                <a:solidFill>
                  <a:schemeClr val="tx1"/>
                </a:solidFill>
                <a:prstDash val="solid"/>
                <a:headEnd type="none" w="med" len="med"/>
                <a:tailEnd type="none" w="med" len="med"/>
              </a:ln>
            </p:spPr>
          </p:sp>
          <p:sp>
            <p:nvSpPr>
              <p:cNvPr id="102" name="Line 66">
                <a:extLst>
                  <a:ext uri="{FF2B5EF4-FFF2-40B4-BE49-F238E27FC236}">
                    <a16:creationId xmlns:a16="http://schemas.microsoft.com/office/drawing/2014/main" id="{414F5035-F98F-46F9-5483-E3DAB801AEBB}"/>
                  </a:ext>
                </a:extLst>
              </p:cNvPr>
              <p:cNvSpPr/>
              <p:nvPr/>
            </p:nvSpPr>
            <p:spPr>
              <a:xfrm flipH="1">
                <a:off x="1785" y="3295"/>
                <a:ext cx="75" cy="218"/>
              </a:xfrm>
              <a:prstGeom prst="line">
                <a:avLst/>
              </a:prstGeom>
              <a:ln w="9525" cap="flat" cmpd="sng">
                <a:solidFill>
                  <a:schemeClr val="tx1"/>
                </a:solidFill>
                <a:prstDash val="solid"/>
                <a:headEnd type="none" w="med" len="med"/>
                <a:tailEnd type="none" w="med" len="med"/>
              </a:ln>
            </p:spPr>
          </p:sp>
          <p:sp>
            <p:nvSpPr>
              <p:cNvPr id="103" name="Line 67">
                <a:extLst>
                  <a:ext uri="{FF2B5EF4-FFF2-40B4-BE49-F238E27FC236}">
                    <a16:creationId xmlns:a16="http://schemas.microsoft.com/office/drawing/2014/main" id="{97AF2F06-5E1E-F4A4-D4BC-E607ECC5A599}"/>
                  </a:ext>
                </a:extLst>
              </p:cNvPr>
              <p:cNvSpPr/>
              <p:nvPr/>
            </p:nvSpPr>
            <p:spPr>
              <a:xfrm>
                <a:off x="1992" y="2889"/>
                <a:ext cx="180" cy="180"/>
              </a:xfrm>
              <a:prstGeom prst="line">
                <a:avLst/>
              </a:prstGeom>
              <a:ln w="9525" cap="flat" cmpd="sng">
                <a:solidFill>
                  <a:schemeClr val="tx1"/>
                </a:solidFill>
                <a:prstDash val="solid"/>
                <a:headEnd type="none" w="med" len="med"/>
                <a:tailEnd type="none" w="med" len="med"/>
              </a:ln>
            </p:spPr>
          </p:sp>
          <p:sp>
            <p:nvSpPr>
              <p:cNvPr id="104" name="Line 68">
                <a:extLst>
                  <a:ext uri="{FF2B5EF4-FFF2-40B4-BE49-F238E27FC236}">
                    <a16:creationId xmlns:a16="http://schemas.microsoft.com/office/drawing/2014/main" id="{9D79710E-CDAE-7436-3FA1-54D333C700E6}"/>
                  </a:ext>
                </a:extLst>
              </p:cNvPr>
              <p:cNvSpPr/>
              <p:nvPr/>
            </p:nvSpPr>
            <p:spPr>
              <a:xfrm flipV="1">
                <a:off x="1992" y="2663"/>
                <a:ext cx="529" cy="236"/>
              </a:xfrm>
              <a:prstGeom prst="line">
                <a:avLst/>
              </a:prstGeom>
              <a:ln w="9525" cap="flat" cmpd="sng">
                <a:solidFill>
                  <a:schemeClr val="tx1"/>
                </a:solidFill>
                <a:prstDash val="solid"/>
                <a:headEnd type="none" w="med" len="med"/>
                <a:tailEnd type="none" w="med" len="med"/>
              </a:ln>
            </p:spPr>
          </p:sp>
          <p:sp>
            <p:nvSpPr>
              <p:cNvPr id="105" name="Line 69">
                <a:extLst>
                  <a:ext uri="{FF2B5EF4-FFF2-40B4-BE49-F238E27FC236}">
                    <a16:creationId xmlns:a16="http://schemas.microsoft.com/office/drawing/2014/main" id="{0D55288A-5FD8-50C1-4739-C9EB3BF51631}"/>
                  </a:ext>
                </a:extLst>
              </p:cNvPr>
              <p:cNvSpPr/>
              <p:nvPr/>
            </p:nvSpPr>
            <p:spPr>
              <a:xfrm flipV="1">
                <a:off x="2191" y="3031"/>
                <a:ext cx="330" cy="19"/>
              </a:xfrm>
              <a:prstGeom prst="line">
                <a:avLst/>
              </a:prstGeom>
              <a:ln w="9525" cap="flat" cmpd="sng">
                <a:solidFill>
                  <a:schemeClr val="tx1"/>
                </a:solidFill>
                <a:prstDash val="solid"/>
                <a:headEnd type="none" w="med" len="med"/>
                <a:tailEnd type="none" w="med" len="med"/>
              </a:ln>
            </p:spPr>
          </p:sp>
          <p:sp>
            <p:nvSpPr>
              <p:cNvPr id="106" name="Line 70">
                <a:extLst>
                  <a:ext uri="{FF2B5EF4-FFF2-40B4-BE49-F238E27FC236}">
                    <a16:creationId xmlns:a16="http://schemas.microsoft.com/office/drawing/2014/main" id="{9008B2A7-CCEA-B309-97AB-ED72FB2E92F9}"/>
                  </a:ext>
                </a:extLst>
              </p:cNvPr>
              <p:cNvSpPr/>
              <p:nvPr/>
            </p:nvSpPr>
            <p:spPr>
              <a:xfrm flipH="1">
                <a:off x="2181" y="3069"/>
                <a:ext cx="10" cy="217"/>
              </a:xfrm>
              <a:prstGeom prst="line">
                <a:avLst/>
              </a:prstGeom>
              <a:ln w="9525" cap="flat" cmpd="sng">
                <a:solidFill>
                  <a:schemeClr val="tx1"/>
                </a:solidFill>
                <a:prstDash val="solid"/>
                <a:headEnd type="none" w="med" len="med"/>
                <a:tailEnd type="none" w="med" len="med"/>
              </a:ln>
            </p:spPr>
          </p:sp>
          <p:sp>
            <p:nvSpPr>
              <p:cNvPr id="107" name="Line 71">
                <a:extLst>
                  <a:ext uri="{FF2B5EF4-FFF2-40B4-BE49-F238E27FC236}">
                    <a16:creationId xmlns:a16="http://schemas.microsoft.com/office/drawing/2014/main" id="{666795F8-759E-8D56-6FDF-8BCAFF24E1F0}"/>
                  </a:ext>
                </a:extLst>
              </p:cNvPr>
              <p:cNvSpPr/>
              <p:nvPr/>
            </p:nvSpPr>
            <p:spPr>
              <a:xfrm>
                <a:off x="2181" y="3295"/>
                <a:ext cx="340" cy="85"/>
              </a:xfrm>
              <a:prstGeom prst="line">
                <a:avLst/>
              </a:prstGeom>
              <a:ln w="9525" cap="flat" cmpd="sng">
                <a:solidFill>
                  <a:schemeClr val="tx1"/>
                </a:solidFill>
                <a:prstDash val="solid"/>
                <a:headEnd type="none" w="med" len="med"/>
                <a:tailEnd type="none" w="med" len="med"/>
              </a:ln>
            </p:spPr>
          </p:sp>
          <p:sp>
            <p:nvSpPr>
              <p:cNvPr id="108" name="Line 72">
                <a:extLst>
                  <a:ext uri="{FF2B5EF4-FFF2-40B4-BE49-F238E27FC236}">
                    <a16:creationId xmlns:a16="http://schemas.microsoft.com/office/drawing/2014/main" id="{1B52029B-FA8D-BDC2-A27D-9C06612D51E2}"/>
                  </a:ext>
                </a:extLst>
              </p:cNvPr>
              <p:cNvSpPr/>
              <p:nvPr/>
            </p:nvSpPr>
            <p:spPr>
              <a:xfrm flipH="1" flipV="1">
                <a:off x="1851" y="3286"/>
                <a:ext cx="311" cy="9"/>
              </a:xfrm>
              <a:prstGeom prst="line">
                <a:avLst/>
              </a:prstGeom>
              <a:ln w="9525" cap="flat" cmpd="sng">
                <a:solidFill>
                  <a:schemeClr val="tx1"/>
                </a:solidFill>
                <a:prstDash val="solid"/>
                <a:headEnd type="none" w="med" len="med"/>
                <a:tailEnd type="none" w="med" len="med"/>
              </a:ln>
            </p:spPr>
          </p:sp>
        </p:grpSp>
        <p:sp>
          <p:nvSpPr>
            <p:cNvPr id="85" name="Line 73">
              <a:extLst>
                <a:ext uri="{FF2B5EF4-FFF2-40B4-BE49-F238E27FC236}">
                  <a16:creationId xmlns:a16="http://schemas.microsoft.com/office/drawing/2014/main" id="{A0CE5A86-258C-F929-4D50-33597B38DE68}"/>
                </a:ext>
              </a:extLst>
            </p:cNvPr>
            <p:cNvSpPr/>
            <p:nvPr/>
          </p:nvSpPr>
          <p:spPr>
            <a:xfrm>
              <a:off x="4570" y="3116"/>
              <a:ext cx="29" cy="217"/>
            </a:xfrm>
            <a:prstGeom prst="line">
              <a:avLst/>
            </a:prstGeom>
            <a:ln w="9525" cap="flat" cmpd="sng">
              <a:solidFill>
                <a:schemeClr val="tx1"/>
              </a:solidFill>
              <a:prstDash val="solid"/>
              <a:headEnd type="none" w="med" len="med"/>
              <a:tailEnd type="none" w="med" len="med"/>
            </a:ln>
          </p:spPr>
        </p:sp>
      </p:grpSp>
      <p:grpSp>
        <p:nvGrpSpPr>
          <p:cNvPr id="109" name="Group 74">
            <a:extLst>
              <a:ext uri="{FF2B5EF4-FFF2-40B4-BE49-F238E27FC236}">
                <a16:creationId xmlns:a16="http://schemas.microsoft.com/office/drawing/2014/main" id="{D3200937-5F79-C2DB-631E-2914D2935E54}"/>
              </a:ext>
            </a:extLst>
          </p:cNvPr>
          <p:cNvGrpSpPr/>
          <p:nvPr/>
        </p:nvGrpSpPr>
        <p:grpSpPr>
          <a:xfrm>
            <a:off x="7107193" y="1736354"/>
            <a:ext cx="4246607" cy="1692646"/>
            <a:chOff x="3135" y="2521"/>
            <a:chExt cx="1775" cy="784"/>
          </a:xfrm>
        </p:grpSpPr>
        <p:sp>
          <p:nvSpPr>
            <p:cNvPr id="110" name="Line 75">
              <a:extLst>
                <a:ext uri="{FF2B5EF4-FFF2-40B4-BE49-F238E27FC236}">
                  <a16:creationId xmlns:a16="http://schemas.microsoft.com/office/drawing/2014/main" id="{9B9B2B4C-8BF4-C8FF-C47F-F39D11D48C98}"/>
                </a:ext>
              </a:extLst>
            </p:cNvPr>
            <p:cNvSpPr/>
            <p:nvPr/>
          </p:nvSpPr>
          <p:spPr>
            <a:xfrm>
              <a:off x="3135" y="2606"/>
              <a:ext cx="227" cy="19"/>
            </a:xfrm>
            <a:prstGeom prst="line">
              <a:avLst/>
            </a:prstGeom>
            <a:ln w="9525" cap="flat" cmpd="sng">
              <a:solidFill>
                <a:schemeClr val="tx1"/>
              </a:solidFill>
              <a:prstDash val="solid"/>
              <a:headEnd type="none" w="med" len="med"/>
              <a:tailEnd type="triangle" w="med" len="med"/>
            </a:ln>
          </p:spPr>
        </p:sp>
        <p:sp>
          <p:nvSpPr>
            <p:cNvPr id="111" name="Line 76">
              <a:extLst>
                <a:ext uri="{FF2B5EF4-FFF2-40B4-BE49-F238E27FC236}">
                  <a16:creationId xmlns:a16="http://schemas.microsoft.com/office/drawing/2014/main" id="{3809857A-E1F2-1B65-E43F-327085F63070}"/>
                </a:ext>
              </a:extLst>
            </p:cNvPr>
            <p:cNvSpPr/>
            <p:nvPr/>
          </p:nvSpPr>
          <p:spPr>
            <a:xfrm>
              <a:off x="3522" y="2625"/>
              <a:ext cx="293" cy="9"/>
            </a:xfrm>
            <a:prstGeom prst="line">
              <a:avLst/>
            </a:prstGeom>
            <a:ln w="9525" cap="flat" cmpd="sng">
              <a:solidFill>
                <a:schemeClr val="tx1"/>
              </a:solidFill>
              <a:prstDash val="solid"/>
              <a:headEnd type="none" w="med" len="med"/>
              <a:tailEnd type="triangle" w="med" len="med"/>
            </a:ln>
          </p:spPr>
        </p:sp>
        <p:sp>
          <p:nvSpPr>
            <p:cNvPr id="112" name="Line 77">
              <a:extLst>
                <a:ext uri="{FF2B5EF4-FFF2-40B4-BE49-F238E27FC236}">
                  <a16:creationId xmlns:a16="http://schemas.microsoft.com/office/drawing/2014/main" id="{C91418C7-0C42-975C-9F83-4C9FE751FB98}"/>
                </a:ext>
              </a:extLst>
            </p:cNvPr>
            <p:cNvSpPr/>
            <p:nvPr/>
          </p:nvSpPr>
          <p:spPr>
            <a:xfrm flipV="1">
              <a:off x="3956" y="2578"/>
              <a:ext cx="312" cy="56"/>
            </a:xfrm>
            <a:prstGeom prst="line">
              <a:avLst/>
            </a:prstGeom>
            <a:ln w="9525" cap="flat" cmpd="sng">
              <a:solidFill>
                <a:schemeClr val="tx1"/>
              </a:solidFill>
              <a:prstDash val="solid"/>
              <a:headEnd type="none" w="med" len="med"/>
              <a:tailEnd type="triangle" w="med" len="med"/>
            </a:ln>
          </p:spPr>
        </p:sp>
        <p:sp>
          <p:nvSpPr>
            <p:cNvPr id="113" name="Line 78">
              <a:extLst>
                <a:ext uri="{FF2B5EF4-FFF2-40B4-BE49-F238E27FC236}">
                  <a16:creationId xmlns:a16="http://schemas.microsoft.com/office/drawing/2014/main" id="{E793869D-3EAF-FC14-9B55-FDB6657F7023}"/>
                </a:ext>
              </a:extLst>
            </p:cNvPr>
            <p:cNvSpPr/>
            <p:nvPr/>
          </p:nvSpPr>
          <p:spPr>
            <a:xfrm flipV="1">
              <a:off x="4391" y="2521"/>
              <a:ext cx="293" cy="10"/>
            </a:xfrm>
            <a:prstGeom prst="line">
              <a:avLst/>
            </a:prstGeom>
            <a:ln w="9525" cap="flat" cmpd="sng">
              <a:solidFill>
                <a:schemeClr val="tx1"/>
              </a:solidFill>
              <a:prstDash val="solid"/>
              <a:headEnd type="none" w="med" len="med"/>
              <a:tailEnd type="triangle" w="med" len="med"/>
            </a:ln>
          </p:spPr>
        </p:sp>
        <p:sp>
          <p:nvSpPr>
            <p:cNvPr id="114" name="Line 79">
              <a:extLst>
                <a:ext uri="{FF2B5EF4-FFF2-40B4-BE49-F238E27FC236}">
                  <a16:creationId xmlns:a16="http://schemas.microsoft.com/office/drawing/2014/main" id="{30F99F9A-3DDA-104D-496E-99524BC94BB3}"/>
                </a:ext>
              </a:extLst>
            </p:cNvPr>
            <p:cNvSpPr/>
            <p:nvPr/>
          </p:nvSpPr>
          <p:spPr>
            <a:xfrm flipV="1">
              <a:off x="3135" y="2871"/>
              <a:ext cx="236" cy="75"/>
            </a:xfrm>
            <a:prstGeom prst="line">
              <a:avLst/>
            </a:prstGeom>
            <a:ln w="9525" cap="flat" cmpd="sng">
              <a:solidFill>
                <a:schemeClr val="tx1"/>
              </a:solidFill>
              <a:prstDash val="solid"/>
              <a:headEnd type="none" w="med" len="med"/>
              <a:tailEnd type="triangle" w="med" len="med"/>
            </a:ln>
          </p:spPr>
        </p:sp>
        <p:sp>
          <p:nvSpPr>
            <p:cNvPr id="115" name="Line 80">
              <a:extLst>
                <a:ext uri="{FF2B5EF4-FFF2-40B4-BE49-F238E27FC236}">
                  <a16:creationId xmlns:a16="http://schemas.microsoft.com/office/drawing/2014/main" id="{8797BB09-E21B-AF84-9FD8-8B3B8C9D20A5}"/>
                </a:ext>
              </a:extLst>
            </p:cNvPr>
            <p:cNvSpPr/>
            <p:nvPr/>
          </p:nvSpPr>
          <p:spPr>
            <a:xfrm>
              <a:off x="3484" y="2908"/>
              <a:ext cx="246" cy="48"/>
            </a:xfrm>
            <a:prstGeom prst="line">
              <a:avLst/>
            </a:prstGeom>
            <a:ln w="9525" cap="flat" cmpd="sng">
              <a:solidFill>
                <a:schemeClr val="tx1"/>
              </a:solidFill>
              <a:prstDash val="solid"/>
              <a:headEnd type="none" w="med" len="med"/>
              <a:tailEnd type="triangle" w="med" len="med"/>
            </a:ln>
          </p:spPr>
        </p:sp>
        <p:sp>
          <p:nvSpPr>
            <p:cNvPr id="116" name="Line 81">
              <a:extLst>
                <a:ext uri="{FF2B5EF4-FFF2-40B4-BE49-F238E27FC236}">
                  <a16:creationId xmlns:a16="http://schemas.microsoft.com/office/drawing/2014/main" id="{C6F2A4F5-F7B8-331A-8640-607774CF6462}"/>
                </a:ext>
              </a:extLst>
            </p:cNvPr>
            <p:cNvSpPr/>
            <p:nvPr/>
          </p:nvSpPr>
          <p:spPr>
            <a:xfrm flipV="1">
              <a:off x="3862" y="2937"/>
              <a:ext cx="349" cy="37"/>
            </a:xfrm>
            <a:prstGeom prst="line">
              <a:avLst/>
            </a:prstGeom>
            <a:ln w="9525" cap="flat" cmpd="sng">
              <a:solidFill>
                <a:schemeClr val="tx1"/>
              </a:solidFill>
              <a:prstDash val="solid"/>
              <a:headEnd type="none" w="med" len="med"/>
              <a:tailEnd type="triangle" w="med" len="med"/>
            </a:ln>
          </p:spPr>
        </p:sp>
        <p:sp>
          <p:nvSpPr>
            <p:cNvPr id="117" name="Line 82">
              <a:extLst>
                <a:ext uri="{FF2B5EF4-FFF2-40B4-BE49-F238E27FC236}">
                  <a16:creationId xmlns:a16="http://schemas.microsoft.com/office/drawing/2014/main" id="{6DEE24D4-CA1A-0E46-A972-5C1ACEE7A108}"/>
                </a:ext>
              </a:extLst>
            </p:cNvPr>
            <p:cNvSpPr/>
            <p:nvPr/>
          </p:nvSpPr>
          <p:spPr>
            <a:xfrm flipV="1">
              <a:off x="4268" y="2927"/>
              <a:ext cx="217" cy="47"/>
            </a:xfrm>
            <a:prstGeom prst="line">
              <a:avLst/>
            </a:prstGeom>
            <a:ln w="9525" cap="flat" cmpd="sng">
              <a:solidFill>
                <a:schemeClr val="tx1"/>
              </a:solidFill>
              <a:prstDash val="solid"/>
              <a:headEnd type="none" w="med" len="med"/>
              <a:tailEnd type="triangle" w="med" len="med"/>
            </a:ln>
          </p:spPr>
        </p:sp>
        <p:sp>
          <p:nvSpPr>
            <p:cNvPr id="118" name="Line 83">
              <a:extLst>
                <a:ext uri="{FF2B5EF4-FFF2-40B4-BE49-F238E27FC236}">
                  <a16:creationId xmlns:a16="http://schemas.microsoft.com/office/drawing/2014/main" id="{01DCEFA5-9951-C3C1-C30A-99BD5C74C0E6}"/>
                </a:ext>
              </a:extLst>
            </p:cNvPr>
            <p:cNvSpPr/>
            <p:nvPr/>
          </p:nvSpPr>
          <p:spPr>
            <a:xfrm>
              <a:off x="4542" y="2710"/>
              <a:ext cx="283" cy="57"/>
            </a:xfrm>
            <a:prstGeom prst="line">
              <a:avLst/>
            </a:prstGeom>
            <a:ln w="9525" cap="flat" cmpd="sng">
              <a:solidFill>
                <a:schemeClr val="tx1"/>
              </a:solidFill>
              <a:prstDash val="solid"/>
              <a:headEnd type="none" w="med" len="med"/>
              <a:tailEnd type="triangle" w="med" len="med"/>
            </a:ln>
          </p:spPr>
        </p:sp>
        <p:sp>
          <p:nvSpPr>
            <p:cNvPr id="119" name="Line 84">
              <a:extLst>
                <a:ext uri="{FF2B5EF4-FFF2-40B4-BE49-F238E27FC236}">
                  <a16:creationId xmlns:a16="http://schemas.microsoft.com/office/drawing/2014/main" id="{47E0E716-DB28-A799-639F-43F795B4531A}"/>
                </a:ext>
              </a:extLst>
            </p:cNvPr>
            <p:cNvSpPr/>
            <p:nvPr/>
          </p:nvSpPr>
          <p:spPr>
            <a:xfrm flipV="1">
              <a:off x="4608" y="2984"/>
              <a:ext cx="302" cy="75"/>
            </a:xfrm>
            <a:prstGeom prst="line">
              <a:avLst/>
            </a:prstGeom>
            <a:ln w="9525" cap="flat" cmpd="sng">
              <a:solidFill>
                <a:schemeClr val="tx1"/>
              </a:solidFill>
              <a:prstDash val="solid"/>
              <a:headEnd type="none" w="med" len="med"/>
              <a:tailEnd type="triangle" w="med" len="med"/>
            </a:ln>
          </p:spPr>
        </p:sp>
        <p:sp>
          <p:nvSpPr>
            <p:cNvPr id="120" name="Line 85">
              <a:extLst>
                <a:ext uri="{FF2B5EF4-FFF2-40B4-BE49-F238E27FC236}">
                  <a16:creationId xmlns:a16="http://schemas.microsoft.com/office/drawing/2014/main" id="{2F7BEE15-A20A-CF3B-161B-BE5B70A3C599}"/>
                </a:ext>
              </a:extLst>
            </p:cNvPr>
            <p:cNvSpPr/>
            <p:nvPr/>
          </p:nvSpPr>
          <p:spPr>
            <a:xfrm flipV="1">
              <a:off x="4325" y="3210"/>
              <a:ext cx="179" cy="38"/>
            </a:xfrm>
            <a:prstGeom prst="line">
              <a:avLst/>
            </a:prstGeom>
            <a:ln w="9525" cap="flat" cmpd="sng">
              <a:solidFill>
                <a:schemeClr val="tx1"/>
              </a:solidFill>
              <a:prstDash val="solid"/>
              <a:headEnd type="none" w="med" len="med"/>
              <a:tailEnd type="triangle" w="med" len="med"/>
            </a:ln>
          </p:spPr>
        </p:sp>
        <p:sp>
          <p:nvSpPr>
            <p:cNvPr id="121" name="Line 86">
              <a:extLst>
                <a:ext uri="{FF2B5EF4-FFF2-40B4-BE49-F238E27FC236}">
                  <a16:creationId xmlns:a16="http://schemas.microsoft.com/office/drawing/2014/main" id="{067039CA-DF92-0E1F-E7E5-1BAFFBF20C7C}"/>
                </a:ext>
              </a:extLst>
            </p:cNvPr>
            <p:cNvSpPr/>
            <p:nvPr/>
          </p:nvSpPr>
          <p:spPr>
            <a:xfrm flipV="1">
              <a:off x="3919" y="3210"/>
              <a:ext cx="170" cy="57"/>
            </a:xfrm>
            <a:prstGeom prst="line">
              <a:avLst/>
            </a:prstGeom>
            <a:ln w="9525" cap="flat" cmpd="sng">
              <a:solidFill>
                <a:schemeClr val="tx1"/>
              </a:solidFill>
              <a:prstDash val="solid"/>
              <a:headEnd type="none" w="med" len="med"/>
              <a:tailEnd type="triangle" w="med" len="med"/>
            </a:ln>
          </p:spPr>
        </p:sp>
        <p:sp>
          <p:nvSpPr>
            <p:cNvPr id="122" name="Line 87">
              <a:extLst>
                <a:ext uri="{FF2B5EF4-FFF2-40B4-BE49-F238E27FC236}">
                  <a16:creationId xmlns:a16="http://schemas.microsoft.com/office/drawing/2014/main" id="{FAD995A8-CACF-156F-1512-73848C5A7FAC}"/>
                </a:ext>
              </a:extLst>
            </p:cNvPr>
            <p:cNvSpPr/>
            <p:nvPr/>
          </p:nvSpPr>
          <p:spPr>
            <a:xfrm>
              <a:off x="3588" y="3173"/>
              <a:ext cx="189" cy="37"/>
            </a:xfrm>
            <a:prstGeom prst="line">
              <a:avLst/>
            </a:prstGeom>
            <a:ln w="9525" cap="flat" cmpd="sng">
              <a:solidFill>
                <a:schemeClr val="tx1"/>
              </a:solidFill>
              <a:prstDash val="solid"/>
              <a:headEnd type="none" w="med" len="med"/>
              <a:tailEnd type="triangle" w="med" len="med"/>
            </a:ln>
          </p:spPr>
        </p:sp>
        <p:sp>
          <p:nvSpPr>
            <p:cNvPr id="123" name="Line 88">
              <a:extLst>
                <a:ext uri="{FF2B5EF4-FFF2-40B4-BE49-F238E27FC236}">
                  <a16:creationId xmlns:a16="http://schemas.microsoft.com/office/drawing/2014/main" id="{6CA5A39E-2780-EC8F-0EDF-A9E39B4AFCF3}"/>
                </a:ext>
              </a:extLst>
            </p:cNvPr>
            <p:cNvSpPr/>
            <p:nvPr/>
          </p:nvSpPr>
          <p:spPr>
            <a:xfrm>
              <a:off x="3409" y="3295"/>
              <a:ext cx="208" cy="10"/>
            </a:xfrm>
            <a:prstGeom prst="line">
              <a:avLst/>
            </a:prstGeom>
            <a:ln w="9525" cap="flat" cmpd="sng">
              <a:solidFill>
                <a:schemeClr val="tx1"/>
              </a:solidFill>
              <a:prstDash val="solid"/>
              <a:headEnd type="none" w="med" len="med"/>
              <a:tailEnd type="triangle" w="med" len="med"/>
            </a:ln>
          </p:spPr>
        </p:sp>
        <p:sp>
          <p:nvSpPr>
            <p:cNvPr id="124" name="Line 89">
              <a:extLst>
                <a:ext uri="{FF2B5EF4-FFF2-40B4-BE49-F238E27FC236}">
                  <a16:creationId xmlns:a16="http://schemas.microsoft.com/office/drawing/2014/main" id="{4E962555-957B-3E48-1B81-47ABE2BE78C7}"/>
                </a:ext>
              </a:extLst>
            </p:cNvPr>
            <p:cNvSpPr/>
            <p:nvPr/>
          </p:nvSpPr>
          <p:spPr>
            <a:xfrm flipV="1">
              <a:off x="3135" y="3192"/>
              <a:ext cx="189" cy="28"/>
            </a:xfrm>
            <a:prstGeom prst="line">
              <a:avLst/>
            </a:prstGeom>
            <a:ln w="9525" cap="flat" cmpd="sng">
              <a:solidFill>
                <a:schemeClr val="tx1"/>
              </a:solidFill>
              <a:prstDash val="solid"/>
              <a:headEnd type="none" w="med" len="med"/>
              <a:tailEnd type="triangle" w="med" len="med"/>
            </a:ln>
          </p:spPr>
        </p:sp>
        <p:sp>
          <p:nvSpPr>
            <p:cNvPr id="125" name="Line 90">
              <a:extLst>
                <a:ext uri="{FF2B5EF4-FFF2-40B4-BE49-F238E27FC236}">
                  <a16:creationId xmlns:a16="http://schemas.microsoft.com/office/drawing/2014/main" id="{F06571EB-2B9C-0084-ADF8-8BEAF9374D61}"/>
                </a:ext>
              </a:extLst>
            </p:cNvPr>
            <p:cNvSpPr/>
            <p:nvPr/>
          </p:nvSpPr>
          <p:spPr>
            <a:xfrm>
              <a:off x="4646" y="3258"/>
              <a:ext cx="198" cy="0"/>
            </a:xfrm>
            <a:prstGeom prst="line">
              <a:avLst/>
            </a:prstGeom>
            <a:ln w="9525" cap="flat" cmpd="sng">
              <a:solidFill>
                <a:schemeClr val="tx1"/>
              </a:solidFill>
              <a:prstDash val="solid"/>
              <a:headEnd type="none" w="med" len="med"/>
              <a:tailEnd type="triangle" w="med" len="med"/>
            </a:ln>
          </p:spPr>
        </p:sp>
      </p:grpSp>
      <p:sp>
        <p:nvSpPr>
          <p:cNvPr id="126" name="Text Box 47">
            <a:extLst>
              <a:ext uri="{FF2B5EF4-FFF2-40B4-BE49-F238E27FC236}">
                <a16:creationId xmlns:a16="http://schemas.microsoft.com/office/drawing/2014/main" id="{6BB81B09-C2D0-0325-E054-ACFDEC4219D3}"/>
              </a:ext>
            </a:extLst>
          </p:cNvPr>
          <p:cNvSpPr txBox="1"/>
          <p:nvPr/>
        </p:nvSpPr>
        <p:spPr>
          <a:xfrm>
            <a:off x="6897648" y="4245501"/>
            <a:ext cx="4983892" cy="954107"/>
          </a:xfrm>
          <a:prstGeom prst="rect">
            <a:avLst/>
          </a:prstGeom>
          <a:noFill/>
          <a:ln w="9525">
            <a:noFill/>
          </a:ln>
        </p:spPr>
        <p:txBody>
          <a:bodyPr wrap="square">
            <a:spAutoFit/>
          </a:bodyPr>
          <a:lstStyle/>
          <a:p>
            <a:pPr>
              <a:spcBef>
                <a:spcPct val="50000"/>
              </a:spcBef>
            </a:pPr>
            <a:r>
              <a:rPr lang="en-US" altLang="zh-CN" sz="2800" dirty="0">
                <a:latin typeface="+mn-ea"/>
              </a:rPr>
              <a:t>- </a:t>
            </a:r>
            <a:r>
              <a:rPr lang="zh-CN" altLang="en-US" sz="2800" dirty="0">
                <a:latin typeface="+mn-ea"/>
              </a:rPr>
              <a:t>有外场时，各磁畴的磁矩趋于沿外磁场排列</a:t>
            </a:r>
            <a:r>
              <a:rPr lang="en-US" altLang="zh-CN" sz="2800" dirty="0">
                <a:latin typeface="+mn-ea"/>
              </a:rPr>
              <a:t>—</a:t>
            </a:r>
            <a:r>
              <a:rPr lang="zh-CN" altLang="en-US" sz="2800" dirty="0">
                <a:latin typeface="+mn-ea"/>
              </a:rPr>
              <a:t>磁化</a:t>
            </a:r>
            <a:endParaRPr lang="en-US" altLang="zh-CN" sz="2800" dirty="0">
              <a:latin typeface="+mn-ea"/>
            </a:endParaRPr>
          </a:p>
        </p:txBody>
      </p:sp>
      <p:sp>
        <p:nvSpPr>
          <p:cNvPr id="127" name="Text Box 92">
            <a:extLst>
              <a:ext uri="{FF2B5EF4-FFF2-40B4-BE49-F238E27FC236}">
                <a16:creationId xmlns:a16="http://schemas.microsoft.com/office/drawing/2014/main" id="{6695C0C3-75FF-ADC9-314A-A1D4D7EE56FA}"/>
              </a:ext>
            </a:extLst>
          </p:cNvPr>
          <p:cNvSpPr txBox="1"/>
          <p:nvPr/>
        </p:nvSpPr>
        <p:spPr>
          <a:xfrm>
            <a:off x="1131049" y="5199608"/>
            <a:ext cx="4568511" cy="954107"/>
          </a:xfrm>
          <a:prstGeom prst="rect">
            <a:avLst/>
          </a:prstGeom>
          <a:noFill/>
          <a:ln w="9525">
            <a:noFill/>
          </a:ln>
        </p:spPr>
        <p:txBody>
          <a:bodyPr wrap="square">
            <a:spAutoFit/>
          </a:bodyPr>
          <a:lstStyle/>
          <a:p>
            <a:pPr>
              <a:spcBef>
                <a:spcPct val="50000"/>
              </a:spcBef>
            </a:pPr>
            <a:r>
              <a:rPr lang="en-US" altLang="zh-CN" sz="2800" dirty="0">
                <a:latin typeface="+mn-ea"/>
              </a:rPr>
              <a:t>- </a:t>
            </a:r>
            <a:r>
              <a:rPr lang="zh-CN" altLang="en-US" sz="2800" dirty="0">
                <a:latin typeface="+mn-ea"/>
              </a:rPr>
              <a:t>无外场时，各磁畴排列无序，对外不显磁性</a:t>
            </a:r>
          </a:p>
        </p:txBody>
      </p:sp>
      <p:sp>
        <p:nvSpPr>
          <p:cNvPr id="128" name="标题 7">
            <a:extLst>
              <a:ext uri="{FF2B5EF4-FFF2-40B4-BE49-F238E27FC236}">
                <a16:creationId xmlns:a16="http://schemas.microsoft.com/office/drawing/2014/main" id="{5C026327-7E78-4EC3-9C36-3D63F1C62371}"/>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铁磁质</a:t>
            </a:r>
          </a:p>
        </p:txBody>
      </p:sp>
    </p:spTree>
    <p:extLst>
      <p:ext uri="{BB962C8B-B14F-4D97-AF65-F5344CB8AC3E}">
        <p14:creationId xmlns:p14="http://schemas.microsoft.com/office/powerpoint/2010/main" val="117299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6" grpId="0"/>
      <p:bldP spid="1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58505" name="Rectangle 73"/>
              <p:cNvSpPr>
                <a:spLocks noChangeArrowheads="1"/>
              </p:cNvSpPr>
              <p:nvPr/>
            </p:nvSpPr>
            <p:spPr bwMode="auto">
              <a:xfrm>
                <a:off x="632853" y="4265173"/>
                <a:ext cx="5685395" cy="160043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kumimoji="1" lang="zh-CN" altLang="en-US" sz="2800" dirty="0">
                    <a:solidFill>
                      <a:schemeClr val="tx1"/>
                    </a:solidFill>
                    <a:latin typeface="+mn-lt"/>
                    <a:ea typeface="华文楷体" panose="02010600040101010101" pitchFamily="2" charset="-122"/>
                    <a:cs typeface="Times New Roman" panose="02020603050405020304" pitchFamily="18" charset="0"/>
                  </a:rPr>
                  <a:t>根据有介质时的安培环路定理，当励磁电流为</a:t>
                </a:r>
                <a14:m>
                  <m:oMath xmlns:m="http://schemas.openxmlformats.org/officeDocument/2006/math">
                    <m:r>
                      <a:rPr kumimoji="1" lang="en-US" altLang="zh-CN" sz="2800" b="0" i="1" dirty="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𝐼</m:t>
                    </m:r>
                  </m:oMath>
                </a14:m>
                <a:r>
                  <a:rPr kumimoji="1" lang="zh-CN" altLang="en-US" sz="2800" dirty="0">
                    <a:solidFill>
                      <a:schemeClr val="tx1"/>
                    </a:solidFill>
                    <a:latin typeface="+mn-lt"/>
                    <a:ea typeface="华文楷体" panose="02010600040101010101" pitchFamily="2" charset="-122"/>
                    <a:cs typeface="Times New Roman" panose="02020603050405020304" pitchFamily="18" charset="0"/>
                  </a:rPr>
                  <a:t>时，环内的磁场强度：</a:t>
                </a:r>
                <a:endParaRPr kumimoji="1" lang="en-US" altLang="zh-CN" sz="2800" dirty="0">
                  <a:solidFill>
                    <a:schemeClr val="tx1"/>
                  </a:solidFill>
                  <a:latin typeface="+mn-lt"/>
                  <a:ea typeface="华文楷体" panose="02010600040101010101" pitchFamily="2" charset="-122"/>
                  <a:cs typeface="Times New Roman" panose="02020603050405020304" pitchFamily="18" charset="0"/>
                </a:endParaRPr>
              </a:p>
              <a:p>
                <a:pPr algn="just" eaLnBrk="1" hangingPunct="1">
                  <a:spcBef>
                    <a:spcPct val="50000"/>
                  </a:spcBef>
                </a:pPr>
                <a:r>
                  <a:rPr kumimoji="1" lang="en-US" altLang="zh-CN" sz="2800" dirty="0">
                    <a:solidFill>
                      <a:schemeClr val="tx1"/>
                    </a:solidFill>
                    <a:ea typeface="华文新魏" panose="02010800040101010101" pitchFamily="2" charset="-122"/>
                    <a:cs typeface="Times New Roman" panose="02020603050405020304" pitchFamily="18" charset="0"/>
                  </a:rPr>
                  <a:t>                    </a:t>
                </a:r>
                <a14:m>
                  <m:oMath xmlns:m="http://schemas.openxmlformats.org/officeDocument/2006/math">
                    <m:r>
                      <a:rPr kumimoji="1"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𝐻</m:t>
                    </m:r>
                    <m:r>
                      <a:rPr kumimoji="1"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r>
                      <a:rPr kumimoji="1" lang="en-US" altLang="zh-CN" sz="2800" b="0" i="1">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𝑁𝐼</m:t>
                    </m:r>
                  </m:oMath>
                </a14:m>
                <a:r>
                  <a:rPr kumimoji="1" lang="en-US" altLang="zh-CN" sz="2800" dirty="0">
                    <a:solidFill>
                      <a:schemeClr val="tx1"/>
                    </a:solidFill>
                    <a:latin typeface="+mn-lt"/>
                    <a:ea typeface="华文楷体" panose="02010600040101010101" pitchFamily="2" charset="-122"/>
                    <a:cs typeface="Times New Roman" panose="02020603050405020304" pitchFamily="18" charset="0"/>
                  </a:rPr>
                  <a:t>/2</a:t>
                </a:r>
                <a:r>
                  <a:rPr kumimoji="1" lang="el-GR" altLang="zh-CN" sz="2800" dirty="0">
                    <a:solidFill>
                      <a:schemeClr val="tx1"/>
                    </a:solidFill>
                    <a:latin typeface="+mn-lt"/>
                    <a:ea typeface="华文楷体" panose="02010600040101010101" pitchFamily="2" charset="-122"/>
                    <a:cs typeface="Times New Roman" panose="02020603050405020304" pitchFamily="18" charset="0"/>
                  </a:rPr>
                  <a:t>π</a:t>
                </a:r>
                <a:r>
                  <a:rPr kumimoji="1" lang="en-US" altLang="zh-CN" sz="2800" dirty="0">
                    <a:solidFill>
                      <a:schemeClr val="tx1"/>
                    </a:solidFill>
                    <a:latin typeface="+mn-lt"/>
                    <a:ea typeface="华文楷体" panose="02010600040101010101" pitchFamily="2" charset="-122"/>
                    <a:cs typeface="Times New Roman" panose="02020603050405020304" pitchFamily="18" charset="0"/>
                  </a:rPr>
                  <a:t>r</a:t>
                </a:r>
                <a:endParaRPr kumimoji="1" lang="zh-CN" altLang="en-US" sz="2800" dirty="0">
                  <a:solidFill>
                    <a:schemeClr val="tx1"/>
                  </a:solidFill>
                  <a:latin typeface="+mn-lt"/>
                  <a:ea typeface="华文楷体" panose="02010600040101010101" pitchFamily="2" charset="-122"/>
                  <a:cs typeface="Times New Roman" panose="02020603050405020304" pitchFamily="18" charset="0"/>
                </a:endParaRPr>
              </a:p>
            </p:txBody>
          </p:sp>
        </mc:Choice>
        <mc:Fallback xmlns="">
          <p:sp>
            <p:nvSpPr>
              <p:cNvPr id="658505" name="Rectangle 73"/>
              <p:cNvSpPr>
                <a:spLocks noRot="1" noChangeAspect="1" noMove="1" noResize="1" noEditPoints="1" noAdjustHandles="1" noChangeArrowheads="1" noChangeShapeType="1" noTextEdit="1"/>
              </p:cNvSpPr>
              <p:nvPr/>
            </p:nvSpPr>
            <p:spPr bwMode="auto">
              <a:xfrm>
                <a:off x="632853" y="4265173"/>
                <a:ext cx="5685395" cy="1600438"/>
              </a:xfrm>
              <a:prstGeom prst="rect">
                <a:avLst/>
              </a:prstGeom>
              <a:blipFill>
                <a:blip r:embed="rId2"/>
                <a:stretch>
                  <a:fillRect l="-2253" t="-4198" r="-2253" b="-99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2" name="Group 151"/>
          <p:cNvGrpSpPr>
            <a:grpSpLocks/>
          </p:cNvGrpSpPr>
          <p:nvPr/>
        </p:nvGrpSpPr>
        <p:grpSpPr bwMode="auto">
          <a:xfrm>
            <a:off x="164142" y="1225976"/>
            <a:ext cx="6985000" cy="2447925"/>
            <a:chOff x="3024" y="3348"/>
            <a:chExt cx="2637" cy="924"/>
          </a:xfrm>
        </p:grpSpPr>
        <p:sp>
          <p:nvSpPr>
            <p:cNvPr id="168972" name="Freeform 152"/>
            <p:cNvSpPr>
              <a:spLocks/>
            </p:cNvSpPr>
            <p:nvPr/>
          </p:nvSpPr>
          <p:spPr bwMode="auto">
            <a:xfrm>
              <a:off x="3120" y="3648"/>
              <a:ext cx="480" cy="192"/>
            </a:xfrm>
            <a:custGeom>
              <a:avLst/>
              <a:gdLst>
                <a:gd name="T0" fmla="*/ 0 w 480"/>
                <a:gd name="T1" fmla="*/ 192 h 192"/>
                <a:gd name="T2" fmla="*/ 0 w 480"/>
                <a:gd name="T3" fmla="*/ 0 h 192"/>
                <a:gd name="T4" fmla="*/ 480 w 480"/>
                <a:gd name="T5" fmla="*/ 0 h 192"/>
                <a:gd name="T6" fmla="*/ 480 w 480"/>
                <a:gd name="T7" fmla="*/ 192 h 192"/>
                <a:gd name="T8" fmla="*/ 0 60000 65536"/>
                <a:gd name="T9" fmla="*/ 0 60000 65536"/>
                <a:gd name="T10" fmla="*/ 0 60000 65536"/>
                <a:gd name="T11" fmla="*/ 0 60000 65536"/>
                <a:gd name="T12" fmla="*/ 0 w 480"/>
                <a:gd name="T13" fmla="*/ 0 h 192"/>
                <a:gd name="T14" fmla="*/ 480 w 480"/>
                <a:gd name="T15" fmla="*/ 192 h 192"/>
              </a:gdLst>
              <a:ahLst/>
              <a:cxnLst>
                <a:cxn ang="T8">
                  <a:pos x="T0" y="T1"/>
                </a:cxn>
                <a:cxn ang="T9">
                  <a:pos x="T2" y="T3"/>
                </a:cxn>
                <a:cxn ang="T10">
                  <a:pos x="T4" y="T5"/>
                </a:cxn>
                <a:cxn ang="T11">
                  <a:pos x="T6" y="T7"/>
                </a:cxn>
              </a:cxnLst>
              <a:rect l="T12" t="T13" r="T14" b="T15"/>
              <a:pathLst>
                <a:path w="480" h="192">
                  <a:moveTo>
                    <a:pt x="0" y="192"/>
                  </a:moveTo>
                  <a:lnTo>
                    <a:pt x="0" y="0"/>
                  </a:lnTo>
                  <a:lnTo>
                    <a:pt x="480" y="0"/>
                  </a:lnTo>
                  <a:lnTo>
                    <a:pt x="480" y="192"/>
                  </a:lnTo>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8973" name="Oval 153"/>
            <p:cNvSpPr>
              <a:spLocks noChangeArrowheads="1"/>
            </p:cNvSpPr>
            <p:nvPr/>
          </p:nvSpPr>
          <p:spPr bwMode="auto">
            <a:xfrm>
              <a:off x="3818" y="3831"/>
              <a:ext cx="40" cy="38"/>
            </a:xfrm>
            <a:prstGeom prst="ellipse">
              <a:avLst/>
            </a:prstGeom>
            <a:solidFill>
              <a:srgbClr val="FF0000"/>
            </a:solidFill>
            <a:ln w="12700">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8974" name="Oval 154"/>
            <p:cNvSpPr>
              <a:spLocks noChangeArrowheads="1"/>
            </p:cNvSpPr>
            <p:nvPr/>
          </p:nvSpPr>
          <p:spPr bwMode="auto">
            <a:xfrm>
              <a:off x="3699" y="3831"/>
              <a:ext cx="40" cy="38"/>
            </a:xfrm>
            <a:prstGeom prst="ellipse">
              <a:avLst/>
            </a:prstGeom>
            <a:solidFill>
              <a:srgbClr val="FF0033"/>
            </a:solidFill>
            <a:ln w="12700">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8975" name="Oval 155"/>
            <p:cNvSpPr>
              <a:spLocks noChangeArrowheads="1"/>
            </p:cNvSpPr>
            <p:nvPr/>
          </p:nvSpPr>
          <p:spPr bwMode="auto">
            <a:xfrm>
              <a:off x="3579" y="3831"/>
              <a:ext cx="39" cy="38"/>
            </a:xfrm>
            <a:prstGeom prst="ellipse">
              <a:avLst/>
            </a:prstGeom>
            <a:solidFill>
              <a:srgbClr val="FF0033"/>
            </a:solidFill>
            <a:ln w="12700">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8976" name="Oval 156"/>
            <p:cNvSpPr>
              <a:spLocks noChangeArrowheads="1"/>
            </p:cNvSpPr>
            <p:nvPr/>
          </p:nvSpPr>
          <p:spPr bwMode="auto">
            <a:xfrm>
              <a:off x="3579" y="3994"/>
              <a:ext cx="39" cy="38"/>
            </a:xfrm>
            <a:prstGeom prst="ellipse">
              <a:avLst/>
            </a:prstGeom>
            <a:solidFill>
              <a:srgbClr val="FF0033"/>
            </a:solidFill>
            <a:ln w="12700">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8977" name="Oval 157"/>
            <p:cNvSpPr>
              <a:spLocks noChangeArrowheads="1"/>
            </p:cNvSpPr>
            <p:nvPr/>
          </p:nvSpPr>
          <p:spPr bwMode="auto">
            <a:xfrm>
              <a:off x="3699" y="3994"/>
              <a:ext cx="40" cy="38"/>
            </a:xfrm>
            <a:prstGeom prst="ellipse">
              <a:avLst/>
            </a:prstGeom>
            <a:solidFill>
              <a:srgbClr val="FF0033"/>
            </a:solidFill>
            <a:ln w="12700">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8978" name="Oval 158"/>
            <p:cNvSpPr>
              <a:spLocks noChangeArrowheads="1"/>
            </p:cNvSpPr>
            <p:nvPr/>
          </p:nvSpPr>
          <p:spPr bwMode="auto">
            <a:xfrm>
              <a:off x="3818" y="3994"/>
              <a:ext cx="40" cy="38"/>
            </a:xfrm>
            <a:prstGeom prst="ellipse">
              <a:avLst/>
            </a:prstGeom>
            <a:solidFill>
              <a:srgbClr val="FF0000"/>
            </a:solidFill>
            <a:ln w="12700">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8979" name="Line 159"/>
            <p:cNvSpPr>
              <a:spLocks noChangeShapeType="1"/>
            </p:cNvSpPr>
            <p:nvPr/>
          </p:nvSpPr>
          <p:spPr bwMode="auto">
            <a:xfrm flipV="1">
              <a:off x="3622" y="3850"/>
              <a:ext cx="217" cy="164"/>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8980" name="Freeform 160"/>
            <p:cNvSpPr>
              <a:spLocks/>
            </p:cNvSpPr>
            <p:nvPr/>
          </p:nvSpPr>
          <p:spPr bwMode="auto">
            <a:xfrm>
              <a:off x="3622" y="3873"/>
              <a:ext cx="218" cy="142"/>
            </a:xfrm>
            <a:custGeom>
              <a:avLst/>
              <a:gdLst>
                <a:gd name="T0" fmla="*/ 0 w 218"/>
                <a:gd name="T1" fmla="*/ 0 h 142"/>
                <a:gd name="T2" fmla="*/ 72 w 218"/>
                <a:gd name="T3" fmla="*/ 47 h 142"/>
                <a:gd name="T4" fmla="*/ 84 w 218"/>
                <a:gd name="T5" fmla="*/ 51 h 142"/>
                <a:gd name="T6" fmla="*/ 93 w 218"/>
                <a:gd name="T7" fmla="*/ 42 h 142"/>
                <a:gd name="T8" fmla="*/ 107 w 218"/>
                <a:gd name="T9" fmla="*/ 42 h 142"/>
                <a:gd name="T10" fmla="*/ 121 w 218"/>
                <a:gd name="T11" fmla="*/ 42 h 142"/>
                <a:gd name="T12" fmla="*/ 131 w 218"/>
                <a:gd name="T13" fmla="*/ 51 h 142"/>
                <a:gd name="T14" fmla="*/ 131 w 218"/>
                <a:gd name="T15" fmla="*/ 60 h 142"/>
                <a:gd name="T16" fmla="*/ 135 w 218"/>
                <a:gd name="T17" fmla="*/ 73 h 142"/>
                <a:gd name="T18" fmla="*/ 135 w 218"/>
                <a:gd name="T19" fmla="*/ 83 h 142"/>
                <a:gd name="T20" fmla="*/ 217 w 218"/>
                <a:gd name="T21" fmla="*/ 141 h 1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8"/>
                <a:gd name="T34" fmla="*/ 0 h 142"/>
                <a:gd name="T35" fmla="*/ 218 w 218"/>
                <a:gd name="T36" fmla="*/ 142 h 1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8" h="142">
                  <a:moveTo>
                    <a:pt x="0" y="0"/>
                  </a:moveTo>
                  <a:lnTo>
                    <a:pt x="72" y="47"/>
                  </a:lnTo>
                  <a:lnTo>
                    <a:pt x="84" y="51"/>
                  </a:lnTo>
                  <a:lnTo>
                    <a:pt x="93" y="42"/>
                  </a:lnTo>
                  <a:lnTo>
                    <a:pt x="107" y="42"/>
                  </a:lnTo>
                  <a:lnTo>
                    <a:pt x="121" y="42"/>
                  </a:lnTo>
                  <a:lnTo>
                    <a:pt x="131" y="51"/>
                  </a:lnTo>
                  <a:lnTo>
                    <a:pt x="131" y="60"/>
                  </a:lnTo>
                  <a:lnTo>
                    <a:pt x="135" y="73"/>
                  </a:lnTo>
                  <a:lnTo>
                    <a:pt x="135" y="83"/>
                  </a:lnTo>
                  <a:lnTo>
                    <a:pt x="217" y="141"/>
                  </a:lnTo>
                </a:path>
              </a:pathLst>
            </a:custGeom>
            <a:noFill/>
            <a:ln w="12700" cap="rnd">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8981" name="Line 161"/>
            <p:cNvSpPr>
              <a:spLocks noChangeShapeType="1"/>
            </p:cNvSpPr>
            <p:nvPr/>
          </p:nvSpPr>
          <p:spPr bwMode="auto">
            <a:xfrm flipV="1">
              <a:off x="3743" y="3781"/>
              <a:ext cx="71" cy="69"/>
            </a:xfrm>
            <a:prstGeom prst="line">
              <a:avLst/>
            </a:prstGeom>
            <a:noFill/>
            <a:ln w="25400">
              <a:solidFill>
                <a:srgbClr val="00CC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8982" name="Line 162"/>
            <p:cNvSpPr>
              <a:spLocks noChangeShapeType="1"/>
            </p:cNvSpPr>
            <p:nvPr/>
          </p:nvSpPr>
          <p:spPr bwMode="auto">
            <a:xfrm flipV="1">
              <a:off x="3718" y="3920"/>
              <a:ext cx="96" cy="94"/>
            </a:xfrm>
            <a:prstGeom prst="line">
              <a:avLst/>
            </a:prstGeom>
            <a:noFill/>
            <a:ln w="25400">
              <a:solidFill>
                <a:srgbClr val="00CC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8983" name="Line 163"/>
            <p:cNvSpPr>
              <a:spLocks noChangeShapeType="1"/>
            </p:cNvSpPr>
            <p:nvPr/>
          </p:nvSpPr>
          <p:spPr bwMode="auto">
            <a:xfrm>
              <a:off x="3792" y="3804"/>
              <a:ext cx="0" cy="139"/>
            </a:xfrm>
            <a:prstGeom prst="line">
              <a:avLst/>
            </a:prstGeom>
            <a:noFill/>
            <a:ln w="28575">
              <a:solidFill>
                <a:srgbClr val="00CC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8984" name="Line 164"/>
            <p:cNvSpPr>
              <a:spLocks noChangeShapeType="1"/>
            </p:cNvSpPr>
            <p:nvPr/>
          </p:nvSpPr>
          <p:spPr bwMode="auto">
            <a:xfrm flipV="1">
              <a:off x="3814" y="3827"/>
              <a:ext cx="48" cy="23"/>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grpSp>
          <p:nvGrpSpPr>
            <p:cNvPr id="168985" name="Group 165"/>
            <p:cNvGrpSpPr>
              <a:grpSpLocks/>
            </p:cNvGrpSpPr>
            <p:nvPr/>
          </p:nvGrpSpPr>
          <p:grpSpPr bwMode="auto">
            <a:xfrm>
              <a:off x="3024" y="3838"/>
              <a:ext cx="190" cy="50"/>
              <a:chOff x="3024" y="3730"/>
              <a:chExt cx="190" cy="50"/>
            </a:xfrm>
          </p:grpSpPr>
          <p:sp>
            <p:nvSpPr>
              <p:cNvPr id="169044" name="Line 166"/>
              <p:cNvSpPr>
                <a:spLocks noChangeShapeType="1"/>
              </p:cNvSpPr>
              <p:nvPr/>
            </p:nvSpPr>
            <p:spPr bwMode="auto">
              <a:xfrm>
                <a:off x="3024" y="3730"/>
                <a:ext cx="190" cy="0"/>
              </a:xfrm>
              <a:prstGeom prst="line">
                <a:avLst/>
              </a:prstGeom>
              <a:noFill/>
              <a:ln w="25400">
                <a:solidFill>
                  <a:srgbClr val="CC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9045" name="Line 167"/>
              <p:cNvSpPr>
                <a:spLocks noChangeShapeType="1"/>
              </p:cNvSpPr>
              <p:nvPr/>
            </p:nvSpPr>
            <p:spPr bwMode="auto">
              <a:xfrm>
                <a:off x="3072" y="3780"/>
                <a:ext cx="93" cy="0"/>
              </a:xfrm>
              <a:prstGeom prst="line">
                <a:avLst/>
              </a:prstGeom>
              <a:noFill/>
              <a:ln w="31750">
                <a:solidFill>
                  <a:srgbClr val="CC99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grpSp>
        <p:sp>
          <p:nvSpPr>
            <p:cNvPr id="168986" name="Freeform 168"/>
            <p:cNvSpPr>
              <a:spLocks/>
            </p:cNvSpPr>
            <p:nvPr/>
          </p:nvSpPr>
          <p:spPr bwMode="auto">
            <a:xfrm>
              <a:off x="3120" y="3888"/>
              <a:ext cx="238" cy="349"/>
            </a:xfrm>
            <a:custGeom>
              <a:avLst/>
              <a:gdLst>
                <a:gd name="T0" fmla="*/ 0 w 313"/>
                <a:gd name="T1" fmla="*/ 0 h 467"/>
                <a:gd name="T2" fmla="*/ 0 w 313"/>
                <a:gd name="T3" fmla="*/ 3 h 467"/>
                <a:gd name="T4" fmla="*/ 3 w 313"/>
                <a:gd name="T5" fmla="*/ 3 h 467"/>
                <a:gd name="T6" fmla="*/ 3 w 313"/>
                <a:gd name="T7" fmla="*/ 3 h 467"/>
                <a:gd name="T8" fmla="*/ 0 60000 65536"/>
                <a:gd name="T9" fmla="*/ 0 60000 65536"/>
                <a:gd name="T10" fmla="*/ 0 60000 65536"/>
                <a:gd name="T11" fmla="*/ 0 60000 65536"/>
                <a:gd name="T12" fmla="*/ 0 w 313"/>
                <a:gd name="T13" fmla="*/ 0 h 467"/>
                <a:gd name="T14" fmla="*/ 313 w 313"/>
                <a:gd name="T15" fmla="*/ 467 h 467"/>
              </a:gdLst>
              <a:ahLst/>
              <a:cxnLst>
                <a:cxn ang="T8">
                  <a:pos x="T0" y="T1"/>
                </a:cxn>
                <a:cxn ang="T9">
                  <a:pos x="T2" y="T3"/>
                </a:cxn>
                <a:cxn ang="T10">
                  <a:pos x="T4" y="T5"/>
                </a:cxn>
                <a:cxn ang="T11">
                  <a:pos x="T6" y="T7"/>
                </a:cxn>
              </a:cxnLst>
              <a:rect l="T12" t="T13" r="T14" b="T15"/>
              <a:pathLst>
                <a:path w="313" h="467">
                  <a:moveTo>
                    <a:pt x="0" y="0"/>
                  </a:moveTo>
                  <a:lnTo>
                    <a:pt x="0" y="383"/>
                  </a:lnTo>
                  <a:lnTo>
                    <a:pt x="312" y="383"/>
                  </a:lnTo>
                  <a:lnTo>
                    <a:pt x="312" y="466"/>
                  </a:lnTo>
                </a:path>
              </a:pathLst>
            </a:custGeom>
            <a:noFill/>
            <a:ln w="12700" cap="rnd">
              <a:solidFill>
                <a:srgbClr val="FF9900"/>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8987" name="Rectangle 169"/>
            <p:cNvSpPr>
              <a:spLocks noChangeArrowheads="1"/>
            </p:cNvSpPr>
            <p:nvPr/>
          </p:nvSpPr>
          <p:spPr bwMode="auto">
            <a:xfrm>
              <a:off x="3219" y="4233"/>
              <a:ext cx="280" cy="39"/>
            </a:xfrm>
            <a:prstGeom prst="rect">
              <a:avLst/>
            </a:prstGeom>
            <a:noFill/>
            <a:ln w="25400">
              <a:solidFill>
                <a:srgbClr val="33CCCC"/>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8988" name="Freeform 170"/>
            <p:cNvSpPr>
              <a:spLocks/>
            </p:cNvSpPr>
            <p:nvPr/>
          </p:nvSpPr>
          <p:spPr bwMode="auto">
            <a:xfrm>
              <a:off x="3503" y="4032"/>
              <a:ext cx="97" cy="228"/>
            </a:xfrm>
            <a:custGeom>
              <a:avLst/>
              <a:gdLst>
                <a:gd name="T0" fmla="*/ 9082 w 73"/>
                <a:gd name="T1" fmla="*/ 0 h 304"/>
                <a:gd name="T2" fmla="*/ 9082 w 73"/>
                <a:gd name="T3" fmla="*/ 2 h 304"/>
                <a:gd name="T4" fmla="*/ 0 w 73"/>
                <a:gd name="T5" fmla="*/ 2 h 304"/>
                <a:gd name="T6" fmla="*/ 0 60000 65536"/>
                <a:gd name="T7" fmla="*/ 0 60000 65536"/>
                <a:gd name="T8" fmla="*/ 0 60000 65536"/>
                <a:gd name="T9" fmla="*/ 0 w 73"/>
                <a:gd name="T10" fmla="*/ 0 h 304"/>
                <a:gd name="T11" fmla="*/ 73 w 73"/>
                <a:gd name="T12" fmla="*/ 304 h 304"/>
              </a:gdLst>
              <a:ahLst/>
              <a:cxnLst>
                <a:cxn ang="T6">
                  <a:pos x="T0" y="T1"/>
                </a:cxn>
                <a:cxn ang="T7">
                  <a:pos x="T2" y="T3"/>
                </a:cxn>
                <a:cxn ang="T8">
                  <a:pos x="T4" y="T5"/>
                </a:cxn>
              </a:cxnLst>
              <a:rect l="T9" t="T10" r="T11" b="T12"/>
              <a:pathLst>
                <a:path w="73" h="304">
                  <a:moveTo>
                    <a:pt x="72" y="0"/>
                  </a:moveTo>
                  <a:lnTo>
                    <a:pt x="72" y="303"/>
                  </a:lnTo>
                  <a:lnTo>
                    <a:pt x="0" y="303"/>
                  </a:lnTo>
                </a:path>
              </a:pathLst>
            </a:custGeom>
            <a:noFill/>
            <a:ln w="12700" cap="rnd">
              <a:solidFill>
                <a:srgbClr val="FF99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grpSp>
          <p:nvGrpSpPr>
            <p:cNvPr id="168989" name="Group 171"/>
            <p:cNvGrpSpPr>
              <a:grpSpLocks/>
            </p:cNvGrpSpPr>
            <p:nvPr/>
          </p:nvGrpSpPr>
          <p:grpSpPr bwMode="auto">
            <a:xfrm>
              <a:off x="5038" y="3396"/>
              <a:ext cx="623" cy="741"/>
              <a:chOff x="4440" y="2287"/>
              <a:chExt cx="623" cy="741"/>
            </a:xfrm>
          </p:grpSpPr>
          <p:sp>
            <p:nvSpPr>
              <p:cNvPr id="169027" name="AutoShape 172"/>
              <p:cNvSpPr>
                <a:spLocks noChangeArrowheads="1"/>
              </p:cNvSpPr>
              <p:nvPr/>
            </p:nvSpPr>
            <p:spPr bwMode="auto">
              <a:xfrm>
                <a:off x="4467" y="2287"/>
                <a:ext cx="596" cy="741"/>
              </a:xfrm>
              <a:prstGeom prst="cube">
                <a:avLst>
                  <a:gd name="adj" fmla="val 17694"/>
                </a:avLst>
              </a:prstGeom>
              <a:solidFill>
                <a:srgbClr val="008080"/>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9028" name="Rectangle 173"/>
              <p:cNvSpPr>
                <a:spLocks noChangeArrowheads="1"/>
              </p:cNvSpPr>
              <p:nvPr/>
            </p:nvSpPr>
            <p:spPr bwMode="auto">
              <a:xfrm>
                <a:off x="4485" y="2436"/>
                <a:ext cx="446" cy="204"/>
              </a:xfrm>
              <a:prstGeom prst="rect">
                <a:avLst/>
              </a:prstGeom>
              <a:solidFill>
                <a:srgbClr val="0000FF"/>
              </a:solidFill>
              <a:ln w="127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9029" name="Arc 174"/>
              <p:cNvSpPr>
                <a:spLocks/>
              </p:cNvSpPr>
              <p:nvPr/>
            </p:nvSpPr>
            <p:spPr bwMode="auto">
              <a:xfrm rot="-60000">
                <a:off x="4512" y="2465"/>
                <a:ext cx="418" cy="446"/>
              </a:xfrm>
              <a:custGeom>
                <a:avLst/>
                <a:gdLst>
                  <a:gd name="T0" fmla="*/ 0 w 18780"/>
                  <a:gd name="T1" fmla="*/ 0 h 21600"/>
                  <a:gd name="T2" fmla="*/ 0 w 18780"/>
                  <a:gd name="T3" fmla="*/ 0 h 21600"/>
                  <a:gd name="T4" fmla="*/ 0 w 18780"/>
                  <a:gd name="T5" fmla="*/ 0 h 21600"/>
                  <a:gd name="T6" fmla="*/ 0 60000 65536"/>
                  <a:gd name="T7" fmla="*/ 0 60000 65536"/>
                  <a:gd name="T8" fmla="*/ 0 60000 65536"/>
                  <a:gd name="T9" fmla="*/ 0 w 18780"/>
                  <a:gd name="T10" fmla="*/ 0 h 21600"/>
                  <a:gd name="T11" fmla="*/ 18780 w 18780"/>
                  <a:gd name="T12" fmla="*/ 21600 h 21600"/>
                </a:gdLst>
                <a:ahLst/>
                <a:cxnLst>
                  <a:cxn ang="T6">
                    <a:pos x="T0" y="T1"/>
                  </a:cxn>
                  <a:cxn ang="T7">
                    <a:pos x="T2" y="T3"/>
                  </a:cxn>
                  <a:cxn ang="T8">
                    <a:pos x="T4" y="T5"/>
                  </a:cxn>
                </a:cxnLst>
                <a:rect l="T9" t="T10" r="T11" b="T12"/>
                <a:pathLst>
                  <a:path w="18780" h="21600" fill="none" extrusionOk="0">
                    <a:moveTo>
                      <a:pt x="0" y="2015"/>
                    </a:moveTo>
                    <a:cubicBezTo>
                      <a:pt x="2853" y="687"/>
                      <a:pt x="5962" y="-1"/>
                      <a:pt x="9110" y="0"/>
                    </a:cubicBezTo>
                    <a:cubicBezTo>
                      <a:pt x="12467" y="0"/>
                      <a:pt x="15778" y="782"/>
                      <a:pt x="18780" y="2285"/>
                    </a:cubicBezTo>
                  </a:path>
                  <a:path w="18780" h="21600" stroke="0" extrusionOk="0">
                    <a:moveTo>
                      <a:pt x="0" y="2015"/>
                    </a:moveTo>
                    <a:cubicBezTo>
                      <a:pt x="2853" y="687"/>
                      <a:pt x="5962" y="-1"/>
                      <a:pt x="9110" y="0"/>
                    </a:cubicBezTo>
                    <a:cubicBezTo>
                      <a:pt x="12467" y="0"/>
                      <a:pt x="15778" y="782"/>
                      <a:pt x="18780" y="2285"/>
                    </a:cubicBezTo>
                    <a:lnTo>
                      <a:pt x="9110" y="2160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9030" name="Line 175"/>
              <p:cNvSpPr>
                <a:spLocks noChangeShapeType="1"/>
              </p:cNvSpPr>
              <p:nvPr/>
            </p:nvSpPr>
            <p:spPr bwMode="auto">
              <a:xfrm>
                <a:off x="4694" y="2465"/>
                <a:ext cx="0" cy="2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9031" name="Line 176"/>
              <p:cNvSpPr>
                <a:spLocks noChangeShapeType="1"/>
              </p:cNvSpPr>
              <p:nvPr/>
            </p:nvSpPr>
            <p:spPr bwMode="auto">
              <a:xfrm>
                <a:off x="4476" y="2509"/>
                <a:ext cx="19" cy="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9032" name="Line 177"/>
              <p:cNvSpPr>
                <a:spLocks noChangeShapeType="1"/>
              </p:cNvSpPr>
              <p:nvPr/>
            </p:nvSpPr>
            <p:spPr bwMode="auto">
              <a:xfrm flipH="1">
                <a:off x="4861" y="2509"/>
                <a:ext cx="18" cy="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9033" name="Line 178"/>
              <p:cNvSpPr>
                <a:spLocks noChangeShapeType="1"/>
              </p:cNvSpPr>
              <p:nvPr/>
            </p:nvSpPr>
            <p:spPr bwMode="auto">
              <a:xfrm>
                <a:off x="4582" y="2482"/>
                <a:ext cx="9" cy="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9034" name="Line 179"/>
              <p:cNvSpPr>
                <a:spLocks noChangeShapeType="1"/>
              </p:cNvSpPr>
              <p:nvPr/>
            </p:nvSpPr>
            <p:spPr bwMode="auto">
              <a:xfrm flipH="1">
                <a:off x="4788" y="2473"/>
                <a:ext cx="9" cy="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9035" name="Line 180"/>
              <p:cNvSpPr>
                <a:spLocks noChangeShapeType="1"/>
              </p:cNvSpPr>
              <p:nvPr/>
            </p:nvSpPr>
            <p:spPr bwMode="auto">
              <a:xfrm flipH="1">
                <a:off x="4732" y="2453"/>
                <a:ext cx="45" cy="182"/>
              </a:xfrm>
              <a:prstGeom prst="line">
                <a:avLst/>
              </a:prstGeom>
              <a:noFill/>
              <a:ln w="254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9036" name="Rectangle 181"/>
              <p:cNvSpPr>
                <a:spLocks noChangeArrowheads="1"/>
              </p:cNvSpPr>
              <p:nvPr/>
            </p:nvSpPr>
            <p:spPr bwMode="auto">
              <a:xfrm>
                <a:off x="4459" y="2516"/>
                <a:ext cx="90"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800" dirty="0">
                    <a:latin typeface="+mn-lt"/>
                    <a:ea typeface="华文楷体" panose="02010600040101010101" pitchFamily="2" charset="-122"/>
                    <a:cs typeface="Times New Roman" panose="02020603050405020304" pitchFamily="18" charset="0"/>
                  </a:rPr>
                  <a:t>0</a:t>
                </a:r>
              </a:p>
            </p:txBody>
          </p:sp>
          <p:sp>
            <p:nvSpPr>
              <p:cNvPr id="169037" name="Rectangle 182"/>
              <p:cNvSpPr>
                <a:spLocks noChangeArrowheads="1"/>
              </p:cNvSpPr>
              <p:nvPr/>
            </p:nvSpPr>
            <p:spPr bwMode="auto">
              <a:xfrm>
                <a:off x="4531" y="2492"/>
                <a:ext cx="90"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800" dirty="0">
                    <a:latin typeface="+mn-lt"/>
                    <a:ea typeface="华文楷体" panose="02010600040101010101" pitchFamily="2" charset="-122"/>
                    <a:cs typeface="Times New Roman" panose="02020603050405020304" pitchFamily="18" charset="0"/>
                  </a:rPr>
                  <a:t>5</a:t>
                </a:r>
              </a:p>
            </p:txBody>
          </p:sp>
          <p:sp>
            <p:nvSpPr>
              <p:cNvPr id="169038" name="Rectangle 183"/>
              <p:cNvSpPr>
                <a:spLocks noChangeArrowheads="1"/>
              </p:cNvSpPr>
              <p:nvPr/>
            </p:nvSpPr>
            <p:spPr bwMode="auto">
              <a:xfrm>
                <a:off x="4616" y="2492"/>
                <a:ext cx="108"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800" dirty="0">
                    <a:latin typeface="+mn-lt"/>
                    <a:ea typeface="华文楷体" panose="02010600040101010101" pitchFamily="2" charset="-122"/>
                    <a:cs typeface="Times New Roman" panose="02020603050405020304" pitchFamily="18" charset="0"/>
                  </a:rPr>
                  <a:t>10</a:t>
                </a:r>
              </a:p>
            </p:txBody>
          </p:sp>
          <p:sp>
            <p:nvSpPr>
              <p:cNvPr id="169039" name="Rectangle 184"/>
              <p:cNvSpPr>
                <a:spLocks noChangeArrowheads="1"/>
              </p:cNvSpPr>
              <p:nvPr/>
            </p:nvSpPr>
            <p:spPr bwMode="auto">
              <a:xfrm>
                <a:off x="4712" y="2492"/>
                <a:ext cx="109"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800" dirty="0">
                    <a:latin typeface="+mn-lt"/>
                    <a:ea typeface="华文楷体" panose="02010600040101010101" pitchFamily="2" charset="-122"/>
                    <a:cs typeface="Times New Roman" panose="02020603050405020304" pitchFamily="18" charset="0"/>
                  </a:rPr>
                  <a:t>15</a:t>
                </a:r>
              </a:p>
            </p:txBody>
          </p:sp>
          <p:sp>
            <p:nvSpPr>
              <p:cNvPr id="169040" name="Rectangle 185"/>
              <p:cNvSpPr>
                <a:spLocks noChangeArrowheads="1"/>
              </p:cNvSpPr>
              <p:nvPr/>
            </p:nvSpPr>
            <p:spPr bwMode="auto">
              <a:xfrm>
                <a:off x="4808" y="2516"/>
                <a:ext cx="109"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800" dirty="0">
                    <a:latin typeface="+mn-lt"/>
                    <a:ea typeface="华文楷体" panose="02010600040101010101" pitchFamily="2" charset="-122"/>
                    <a:cs typeface="Times New Roman" panose="02020603050405020304" pitchFamily="18" charset="0"/>
                  </a:rPr>
                  <a:t>20</a:t>
                </a:r>
              </a:p>
            </p:txBody>
          </p:sp>
          <p:sp>
            <p:nvSpPr>
              <p:cNvPr id="169041" name="Rectangle 186"/>
              <p:cNvSpPr>
                <a:spLocks noChangeArrowheads="1"/>
              </p:cNvSpPr>
              <p:nvPr/>
            </p:nvSpPr>
            <p:spPr bwMode="auto">
              <a:xfrm>
                <a:off x="4440" y="2616"/>
                <a:ext cx="333"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b="1" dirty="0">
                    <a:solidFill>
                      <a:srgbClr val="FF9900"/>
                    </a:solidFill>
                    <a:latin typeface="+mn-lt"/>
                    <a:ea typeface="华文楷体" panose="02010600040101010101" pitchFamily="2" charset="-122"/>
                    <a:cs typeface="Times New Roman" panose="02020603050405020304" pitchFamily="18" charset="0"/>
                  </a:rPr>
                  <a:t>磁通计</a:t>
                </a:r>
              </a:p>
            </p:txBody>
          </p:sp>
          <p:sp>
            <p:nvSpPr>
              <p:cNvPr id="169042" name="Oval 187"/>
              <p:cNvSpPr>
                <a:spLocks noChangeArrowheads="1"/>
              </p:cNvSpPr>
              <p:nvPr/>
            </p:nvSpPr>
            <p:spPr bwMode="auto">
              <a:xfrm>
                <a:off x="4560" y="2880"/>
                <a:ext cx="48" cy="48"/>
              </a:xfrm>
              <a:prstGeom prst="ellipse">
                <a:avLst/>
              </a:prstGeom>
              <a:solidFill>
                <a:srgbClr val="000066"/>
              </a:solidFill>
              <a:ln w="9525">
                <a:solidFill>
                  <a:srgbClr val="000066"/>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9043" name="Oval 188"/>
              <p:cNvSpPr>
                <a:spLocks noChangeArrowheads="1"/>
              </p:cNvSpPr>
              <p:nvPr/>
            </p:nvSpPr>
            <p:spPr bwMode="auto">
              <a:xfrm>
                <a:off x="4800" y="2880"/>
                <a:ext cx="48" cy="48"/>
              </a:xfrm>
              <a:prstGeom prst="ellipse">
                <a:avLst/>
              </a:prstGeom>
              <a:solidFill>
                <a:srgbClr val="FF0000"/>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grpSp>
        <p:sp>
          <p:nvSpPr>
            <p:cNvPr id="168990" name="Oval 189"/>
            <p:cNvSpPr>
              <a:spLocks noChangeArrowheads="1"/>
            </p:cNvSpPr>
            <p:nvPr/>
          </p:nvSpPr>
          <p:spPr bwMode="auto">
            <a:xfrm rot="-5400000">
              <a:off x="4119" y="3384"/>
              <a:ext cx="733" cy="736"/>
            </a:xfrm>
            <a:prstGeom prst="ellipse">
              <a:avLst/>
            </a:prstGeom>
            <a:solidFill>
              <a:srgbClr val="CCFFCC"/>
            </a:solidFill>
            <a:ln w="31750">
              <a:solidFill>
                <a:srgbClr val="00FF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8991" name="Oval 190"/>
            <p:cNvSpPr>
              <a:spLocks noChangeArrowheads="1"/>
            </p:cNvSpPr>
            <p:nvPr/>
          </p:nvSpPr>
          <p:spPr bwMode="auto">
            <a:xfrm rot="-5400000">
              <a:off x="4287" y="3558"/>
              <a:ext cx="404" cy="404"/>
            </a:xfrm>
            <a:prstGeom prst="ellipse">
              <a:avLst/>
            </a:prstGeom>
            <a:solidFill>
              <a:srgbClr val="000066"/>
            </a:solidFill>
            <a:ln w="31750">
              <a:solidFill>
                <a:srgbClr val="00FF00"/>
              </a:solidFill>
              <a:round/>
              <a:headEnd/>
              <a:tailEnd/>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800" dirty="0">
                <a:solidFill>
                  <a:srgbClr val="FFFF00"/>
                </a:solidFill>
                <a:latin typeface="+mn-lt"/>
                <a:ea typeface="华文楷体" panose="02010600040101010101" pitchFamily="2" charset="-122"/>
                <a:cs typeface="Times New Roman" panose="02020603050405020304" pitchFamily="18" charset="0"/>
              </a:endParaRPr>
            </a:p>
          </p:txBody>
        </p:sp>
        <p:sp>
          <p:nvSpPr>
            <p:cNvPr id="168992" name="Line 191"/>
            <p:cNvSpPr>
              <a:spLocks noChangeShapeType="1"/>
            </p:cNvSpPr>
            <p:nvPr/>
          </p:nvSpPr>
          <p:spPr bwMode="auto">
            <a:xfrm rot="-5400000">
              <a:off x="4076" y="3643"/>
              <a:ext cx="0" cy="211"/>
            </a:xfrm>
            <a:prstGeom prst="line">
              <a:avLst/>
            </a:prstGeom>
            <a:noFill/>
            <a:ln w="31750">
              <a:solidFill>
                <a:srgbClr val="FF99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8993" name="Line 192"/>
            <p:cNvSpPr>
              <a:spLocks noChangeShapeType="1"/>
            </p:cNvSpPr>
            <p:nvPr/>
          </p:nvSpPr>
          <p:spPr bwMode="auto">
            <a:xfrm rot="-5400000">
              <a:off x="4049" y="3725"/>
              <a:ext cx="0" cy="124"/>
            </a:xfrm>
            <a:prstGeom prst="line">
              <a:avLst/>
            </a:prstGeom>
            <a:noFill/>
            <a:ln w="31750">
              <a:solidFill>
                <a:srgbClr val="FF9900"/>
              </a:solidFill>
              <a:round/>
              <a:headEnd type="none" w="med" len="lg"/>
              <a:tailEnd type="none" w="sm" len="sm"/>
            </a:ln>
            <a:extLst>
              <a:ext uri="{909E8E84-426E-40DD-AFC4-6F175D3DCCD1}">
                <a14:hiddenFill xmlns:a14="http://schemas.microsoft.com/office/drawing/2010/main">
                  <a:no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8994" name="Freeform 193"/>
            <p:cNvSpPr>
              <a:spLocks/>
            </p:cNvSpPr>
            <p:nvPr/>
          </p:nvSpPr>
          <p:spPr bwMode="auto">
            <a:xfrm rot="-5400000">
              <a:off x="4742" y="3626"/>
              <a:ext cx="50"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8995" name="Freeform 194"/>
            <p:cNvSpPr>
              <a:spLocks/>
            </p:cNvSpPr>
            <p:nvPr/>
          </p:nvSpPr>
          <p:spPr bwMode="auto">
            <a:xfrm rot="-3600000">
              <a:off x="4217" y="3489"/>
              <a:ext cx="48"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8996" name="Freeform 195"/>
            <p:cNvSpPr>
              <a:spLocks/>
            </p:cNvSpPr>
            <p:nvPr/>
          </p:nvSpPr>
          <p:spPr bwMode="auto">
            <a:xfrm rot="-3600000">
              <a:off x="4709" y="3768"/>
              <a:ext cx="50" cy="246"/>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8997" name="Freeform 196"/>
            <p:cNvSpPr>
              <a:spLocks/>
            </p:cNvSpPr>
            <p:nvPr/>
          </p:nvSpPr>
          <p:spPr bwMode="auto">
            <a:xfrm rot="-7200000">
              <a:off x="4222" y="3768"/>
              <a:ext cx="50" cy="246"/>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8998" name="Freeform 197"/>
            <p:cNvSpPr>
              <a:spLocks/>
            </p:cNvSpPr>
            <p:nvPr/>
          </p:nvSpPr>
          <p:spPr bwMode="auto">
            <a:xfrm rot="-7200000">
              <a:off x="4703" y="3483"/>
              <a:ext cx="49"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8999" name="Freeform 198"/>
            <p:cNvSpPr>
              <a:spLocks/>
            </p:cNvSpPr>
            <p:nvPr/>
          </p:nvSpPr>
          <p:spPr bwMode="auto">
            <a:xfrm rot="-9000000">
              <a:off x="4327" y="3886"/>
              <a:ext cx="49" cy="244"/>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00" name="Freeform 199"/>
            <p:cNvSpPr>
              <a:spLocks/>
            </p:cNvSpPr>
            <p:nvPr/>
          </p:nvSpPr>
          <p:spPr bwMode="auto">
            <a:xfrm rot="-9000000">
              <a:off x="4588" y="3375"/>
              <a:ext cx="49"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01" name="Freeform 200"/>
            <p:cNvSpPr>
              <a:spLocks/>
            </p:cNvSpPr>
            <p:nvPr/>
          </p:nvSpPr>
          <p:spPr bwMode="auto">
            <a:xfrm rot="-1800000">
              <a:off x="4334" y="3386"/>
              <a:ext cx="49"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02" name="Freeform 201"/>
            <p:cNvSpPr>
              <a:spLocks/>
            </p:cNvSpPr>
            <p:nvPr/>
          </p:nvSpPr>
          <p:spPr bwMode="auto">
            <a:xfrm rot="-1800000">
              <a:off x="4613" y="3872"/>
              <a:ext cx="48" cy="244"/>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03" name="Freeform 202"/>
            <p:cNvSpPr>
              <a:spLocks/>
            </p:cNvSpPr>
            <p:nvPr/>
          </p:nvSpPr>
          <p:spPr bwMode="auto">
            <a:xfrm>
              <a:off x="4464" y="3348"/>
              <a:ext cx="48"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04" name="Freeform 203"/>
            <p:cNvSpPr>
              <a:spLocks/>
            </p:cNvSpPr>
            <p:nvPr/>
          </p:nvSpPr>
          <p:spPr bwMode="auto">
            <a:xfrm>
              <a:off x="4470" y="3917"/>
              <a:ext cx="49"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05" name="Freeform 204"/>
            <p:cNvSpPr>
              <a:spLocks/>
            </p:cNvSpPr>
            <p:nvPr/>
          </p:nvSpPr>
          <p:spPr bwMode="auto">
            <a:xfrm rot="-4500000">
              <a:off x="4735" y="3695"/>
              <a:ext cx="50"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06" name="Freeform 205"/>
            <p:cNvSpPr>
              <a:spLocks/>
            </p:cNvSpPr>
            <p:nvPr/>
          </p:nvSpPr>
          <p:spPr bwMode="auto">
            <a:xfrm rot="-2700000">
              <a:off x="4670" y="3825"/>
              <a:ext cx="49" cy="244"/>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07" name="Freeform 206"/>
            <p:cNvSpPr>
              <a:spLocks/>
            </p:cNvSpPr>
            <p:nvPr/>
          </p:nvSpPr>
          <p:spPr bwMode="auto">
            <a:xfrm rot="-900000">
              <a:off x="4546" y="3904"/>
              <a:ext cx="49" cy="244"/>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08" name="Freeform 207"/>
            <p:cNvSpPr>
              <a:spLocks/>
            </p:cNvSpPr>
            <p:nvPr/>
          </p:nvSpPr>
          <p:spPr bwMode="auto">
            <a:xfrm rot="-4500000">
              <a:off x="4190" y="3559"/>
              <a:ext cx="49"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09" name="Freeform 208"/>
            <p:cNvSpPr>
              <a:spLocks/>
            </p:cNvSpPr>
            <p:nvPr/>
          </p:nvSpPr>
          <p:spPr bwMode="auto">
            <a:xfrm rot="-2700000">
              <a:off x="4267" y="3431"/>
              <a:ext cx="50" cy="244"/>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10" name="Freeform 209"/>
            <p:cNvSpPr>
              <a:spLocks/>
            </p:cNvSpPr>
            <p:nvPr/>
          </p:nvSpPr>
          <p:spPr bwMode="auto">
            <a:xfrm rot="-900000">
              <a:off x="4390" y="3359"/>
              <a:ext cx="50" cy="244"/>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11" name="Freeform 210"/>
            <p:cNvSpPr>
              <a:spLocks/>
            </p:cNvSpPr>
            <p:nvPr/>
          </p:nvSpPr>
          <p:spPr bwMode="auto">
            <a:xfrm rot="900000">
              <a:off x="4397" y="3911"/>
              <a:ext cx="49" cy="244"/>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12" name="Freeform 211"/>
            <p:cNvSpPr>
              <a:spLocks/>
            </p:cNvSpPr>
            <p:nvPr/>
          </p:nvSpPr>
          <p:spPr bwMode="auto">
            <a:xfrm rot="900000">
              <a:off x="4530" y="3359"/>
              <a:ext cx="48" cy="244"/>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13" name="Freeform 212"/>
            <p:cNvSpPr>
              <a:spLocks/>
            </p:cNvSpPr>
            <p:nvPr/>
          </p:nvSpPr>
          <p:spPr bwMode="auto">
            <a:xfrm rot="2700000">
              <a:off x="4261" y="3840"/>
              <a:ext cx="49"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14" name="Freeform 213"/>
            <p:cNvSpPr>
              <a:spLocks/>
            </p:cNvSpPr>
            <p:nvPr/>
          </p:nvSpPr>
          <p:spPr bwMode="auto">
            <a:xfrm rot="2700000">
              <a:off x="4652" y="3425"/>
              <a:ext cx="49" cy="246"/>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15" name="Freeform 214"/>
            <p:cNvSpPr>
              <a:spLocks/>
            </p:cNvSpPr>
            <p:nvPr/>
          </p:nvSpPr>
          <p:spPr bwMode="auto">
            <a:xfrm rot="4500000">
              <a:off x="4197" y="3704"/>
              <a:ext cx="50" cy="245"/>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16" name="Freeform 215"/>
            <p:cNvSpPr>
              <a:spLocks/>
            </p:cNvSpPr>
            <p:nvPr/>
          </p:nvSpPr>
          <p:spPr bwMode="auto">
            <a:xfrm rot="4500000">
              <a:off x="4730" y="3554"/>
              <a:ext cx="49" cy="244"/>
            </a:xfrm>
            <a:custGeom>
              <a:avLst/>
              <a:gdLst>
                <a:gd name="T0" fmla="*/ 0 w 240"/>
                <a:gd name="T1" fmla="*/ 0 h 1387"/>
                <a:gd name="T2" fmla="*/ 0 w 240"/>
                <a:gd name="T3" fmla="*/ 0 h 1387"/>
                <a:gd name="T4" fmla="*/ 0 w 240"/>
                <a:gd name="T5" fmla="*/ 0 h 1387"/>
                <a:gd name="T6" fmla="*/ 0 w 240"/>
                <a:gd name="T7" fmla="*/ 0 h 1387"/>
                <a:gd name="T8" fmla="*/ 0 60000 65536"/>
                <a:gd name="T9" fmla="*/ 0 60000 65536"/>
                <a:gd name="T10" fmla="*/ 0 60000 65536"/>
                <a:gd name="T11" fmla="*/ 0 60000 65536"/>
                <a:gd name="T12" fmla="*/ 0 w 240"/>
                <a:gd name="T13" fmla="*/ 0 h 1387"/>
                <a:gd name="T14" fmla="*/ 240 w 240"/>
                <a:gd name="T15" fmla="*/ 1387 h 1387"/>
              </a:gdLst>
              <a:ahLst/>
              <a:cxnLst>
                <a:cxn ang="T8">
                  <a:pos x="T0" y="T1"/>
                </a:cxn>
                <a:cxn ang="T9">
                  <a:pos x="T2" y="T3"/>
                </a:cxn>
                <a:cxn ang="T10">
                  <a:pos x="T4" y="T5"/>
                </a:cxn>
                <a:cxn ang="T11">
                  <a:pos x="T6" y="T7"/>
                </a:cxn>
              </a:cxnLst>
              <a:rect l="T12" t="T13" r="T14" b="T15"/>
              <a:pathLst>
                <a:path w="240" h="1387">
                  <a:moveTo>
                    <a:pt x="0" y="225"/>
                  </a:moveTo>
                  <a:cubicBezTo>
                    <a:pt x="50" y="112"/>
                    <a:pt x="100" y="0"/>
                    <a:pt x="120" y="165"/>
                  </a:cubicBezTo>
                  <a:cubicBezTo>
                    <a:pt x="140" y="330"/>
                    <a:pt x="100" y="1043"/>
                    <a:pt x="120" y="1215"/>
                  </a:cubicBezTo>
                  <a:cubicBezTo>
                    <a:pt x="140" y="1387"/>
                    <a:pt x="220" y="1202"/>
                    <a:pt x="240" y="120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17" name="Freeform 216"/>
            <p:cNvSpPr>
              <a:spLocks/>
            </p:cNvSpPr>
            <p:nvPr/>
          </p:nvSpPr>
          <p:spPr bwMode="auto">
            <a:xfrm rot="-5400000">
              <a:off x="4181" y="3609"/>
              <a:ext cx="28" cy="262"/>
            </a:xfrm>
            <a:custGeom>
              <a:avLst/>
              <a:gdLst>
                <a:gd name="T0" fmla="*/ 0 w 104"/>
                <a:gd name="T1" fmla="*/ 0 h 968"/>
                <a:gd name="T2" fmla="*/ 0 w 104"/>
                <a:gd name="T3" fmla="*/ 0 h 968"/>
                <a:gd name="T4" fmla="*/ 0 w 104"/>
                <a:gd name="T5" fmla="*/ 0 h 968"/>
                <a:gd name="T6" fmla="*/ 0 w 104"/>
                <a:gd name="T7" fmla="*/ 0 h 968"/>
                <a:gd name="T8" fmla="*/ 0 60000 65536"/>
                <a:gd name="T9" fmla="*/ 0 60000 65536"/>
                <a:gd name="T10" fmla="*/ 0 60000 65536"/>
                <a:gd name="T11" fmla="*/ 0 60000 65536"/>
                <a:gd name="T12" fmla="*/ 0 w 104"/>
                <a:gd name="T13" fmla="*/ 0 h 968"/>
                <a:gd name="T14" fmla="*/ 104 w 104"/>
                <a:gd name="T15" fmla="*/ 968 h 968"/>
              </a:gdLst>
              <a:ahLst/>
              <a:cxnLst>
                <a:cxn ang="T8">
                  <a:pos x="T0" y="T1"/>
                </a:cxn>
                <a:cxn ang="T9">
                  <a:pos x="T2" y="T3"/>
                </a:cxn>
                <a:cxn ang="T10">
                  <a:pos x="T4" y="T5"/>
                </a:cxn>
                <a:cxn ang="T11">
                  <a:pos x="T6" y="T7"/>
                </a:cxn>
              </a:cxnLst>
              <a:rect l="T12" t="T13" r="T14" b="T15"/>
              <a:pathLst>
                <a:path w="104" h="968">
                  <a:moveTo>
                    <a:pt x="104" y="816"/>
                  </a:moveTo>
                  <a:cubicBezTo>
                    <a:pt x="88" y="864"/>
                    <a:pt x="72" y="912"/>
                    <a:pt x="56" y="912"/>
                  </a:cubicBezTo>
                  <a:cubicBezTo>
                    <a:pt x="40" y="912"/>
                    <a:pt x="16" y="968"/>
                    <a:pt x="8" y="816"/>
                  </a:cubicBezTo>
                  <a:cubicBezTo>
                    <a:pt x="0" y="664"/>
                    <a:pt x="8" y="136"/>
                    <a:pt x="8" y="0"/>
                  </a:cubicBezTo>
                </a:path>
              </a:pathLst>
            </a:custGeom>
            <a:noFill/>
            <a:ln w="317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18" name="Arc 217"/>
            <p:cNvSpPr>
              <a:spLocks/>
            </p:cNvSpPr>
            <p:nvPr/>
          </p:nvSpPr>
          <p:spPr bwMode="auto">
            <a:xfrm flipV="1">
              <a:off x="4606" y="3780"/>
              <a:ext cx="297" cy="70"/>
            </a:xfrm>
            <a:custGeom>
              <a:avLst/>
              <a:gdLst>
                <a:gd name="T0" fmla="*/ 0 w 43200"/>
                <a:gd name="T1" fmla="*/ 0 h 36997"/>
                <a:gd name="T2" fmla="*/ 0 w 43200"/>
                <a:gd name="T3" fmla="*/ 0 h 36997"/>
                <a:gd name="T4" fmla="*/ 0 w 43200"/>
                <a:gd name="T5" fmla="*/ 0 h 36997"/>
                <a:gd name="T6" fmla="*/ 0 60000 65536"/>
                <a:gd name="T7" fmla="*/ 0 60000 65536"/>
                <a:gd name="T8" fmla="*/ 0 60000 65536"/>
                <a:gd name="T9" fmla="*/ 0 w 43200"/>
                <a:gd name="T10" fmla="*/ 0 h 36997"/>
                <a:gd name="T11" fmla="*/ 43200 w 43200"/>
                <a:gd name="T12" fmla="*/ 36997 h 36997"/>
              </a:gdLst>
              <a:ahLst/>
              <a:cxnLst>
                <a:cxn ang="T6">
                  <a:pos x="T0" y="T1"/>
                </a:cxn>
                <a:cxn ang="T7">
                  <a:pos x="T2" y="T3"/>
                </a:cxn>
                <a:cxn ang="T8">
                  <a:pos x="T4" y="T5"/>
                </a:cxn>
              </a:cxnLst>
              <a:rect l="T9" t="T10" r="T11" b="T12"/>
              <a:pathLst>
                <a:path w="43200" h="36997" fill="none" extrusionOk="0">
                  <a:moveTo>
                    <a:pt x="5091" y="35528"/>
                  </a:moveTo>
                  <a:cubicBezTo>
                    <a:pt x="1803" y="31632"/>
                    <a:pt x="0" y="26698"/>
                    <a:pt x="0" y="21600"/>
                  </a:cubicBezTo>
                  <a:cubicBezTo>
                    <a:pt x="0" y="9670"/>
                    <a:pt x="9670" y="0"/>
                    <a:pt x="21600" y="0"/>
                  </a:cubicBezTo>
                  <a:cubicBezTo>
                    <a:pt x="33529" y="0"/>
                    <a:pt x="43200" y="9670"/>
                    <a:pt x="43200" y="21600"/>
                  </a:cubicBezTo>
                  <a:cubicBezTo>
                    <a:pt x="43200" y="27389"/>
                    <a:pt x="40875" y="32936"/>
                    <a:pt x="36749" y="36997"/>
                  </a:cubicBezTo>
                </a:path>
                <a:path w="43200" h="36997" stroke="0" extrusionOk="0">
                  <a:moveTo>
                    <a:pt x="5091" y="35528"/>
                  </a:moveTo>
                  <a:cubicBezTo>
                    <a:pt x="1803" y="31632"/>
                    <a:pt x="0" y="26698"/>
                    <a:pt x="0" y="21600"/>
                  </a:cubicBezTo>
                  <a:cubicBezTo>
                    <a:pt x="0" y="9670"/>
                    <a:pt x="9670" y="0"/>
                    <a:pt x="21600" y="0"/>
                  </a:cubicBezTo>
                  <a:cubicBezTo>
                    <a:pt x="33529" y="0"/>
                    <a:pt x="43200" y="9670"/>
                    <a:pt x="43200" y="21600"/>
                  </a:cubicBezTo>
                  <a:cubicBezTo>
                    <a:pt x="43200" y="27389"/>
                    <a:pt x="40875" y="32936"/>
                    <a:pt x="36749" y="36997"/>
                  </a:cubicBezTo>
                  <a:lnTo>
                    <a:pt x="21600" y="21600"/>
                  </a:lnTo>
                  <a:close/>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9019" name="Arc 218"/>
            <p:cNvSpPr>
              <a:spLocks/>
            </p:cNvSpPr>
            <p:nvPr/>
          </p:nvSpPr>
          <p:spPr bwMode="auto">
            <a:xfrm flipV="1">
              <a:off x="4606" y="3732"/>
              <a:ext cx="297" cy="70"/>
            </a:xfrm>
            <a:custGeom>
              <a:avLst/>
              <a:gdLst>
                <a:gd name="T0" fmla="*/ 0 w 43200"/>
                <a:gd name="T1" fmla="*/ 0 h 36997"/>
                <a:gd name="T2" fmla="*/ 0 w 43200"/>
                <a:gd name="T3" fmla="*/ 0 h 36997"/>
                <a:gd name="T4" fmla="*/ 0 w 43200"/>
                <a:gd name="T5" fmla="*/ 0 h 36997"/>
                <a:gd name="T6" fmla="*/ 0 60000 65536"/>
                <a:gd name="T7" fmla="*/ 0 60000 65536"/>
                <a:gd name="T8" fmla="*/ 0 60000 65536"/>
                <a:gd name="T9" fmla="*/ 0 w 43200"/>
                <a:gd name="T10" fmla="*/ 0 h 36997"/>
                <a:gd name="T11" fmla="*/ 43200 w 43200"/>
                <a:gd name="T12" fmla="*/ 36997 h 36997"/>
              </a:gdLst>
              <a:ahLst/>
              <a:cxnLst>
                <a:cxn ang="T6">
                  <a:pos x="T0" y="T1"/>
                </a:cxn>
                <a:cxn ang="T7">
                  <a:pos x="T2" y="T3"/>
                </a:cxn>
                <a:cxn ang="T8">
                  <a:pos x="T4" y="T5"/>
                </a:cxn>
              </a:cxnLst>
              <a:rect l="T9" t="T10" r="T11" b="T12"/>
              <a:pathLst>
                <a:path w="43200" h="36997" fill="none" extrusionOk="0">
                  <a:moveTo>
                    <a:pt x="5091" y="35528"/>
                  </a:moveTo>
                  <a:cubicBezTo>
                    <a:pt x="1803" y="31632"/>
                    <a:pt x="0" y="26698"/>
                    <a:pt x="0" y="21600"/>
                  </a:cubicBezTo>
                  <a:cubicBezTo>
                    <a:pt x="0" y="9670"/>
                    <a:pt x="9670" y="0"/>
                    <a:pt x="21600" y="0"/>
                  </a:cubicBezTo>
                  <a:cubicBezTo>
                    <a:pt x="33529" y="0"/>
                    <a:pt x="43200" y="9670"/>
                    <a:pt x="43200" y="21600"/>
                  </a:cubicBezTo>
                  <a:cubicBezTo>
                    <a:pt x="43200" y="27389"/>
                    <a:pt x="40875" y="32936"/>
                    <a:pt x="36749" y="36997"/>
                  </a:cubicBezTo>
                </a:path>
                <a:path w="43200" h="36997" stroke="0" extrusionOk="0">
                  <a:moveTo>
                    <a:pt x="5091" y="35528"/>
                  </a:moveTo>
                  <a:cubicBezTo>
                    <a:pt x="1803" y="31632"/>
                    <a:pt x="0" y="26698"/>
                    <a:pt x="0" y="21600"/>
                  </a:cubicBezTo>
                  <a:cubicBezTo>
                    <a:pt x="0" y="9670"/>
                    <a:pt x="9670" y="0"/>
                    <a:pt x="21600" y="0"/>
                  </a:cubicBezTo>
                  <a:cubicBezTo>
                    <a:pt x="33529" y="0"/>
                    <a:pt x="43200" y="9670"/>
                    <a:pt x="43200" y="21600"/>
                  </a:cubicBezTo>
                  <a:cubicBezTo>
                    <a:pt x="43200" y="27389"/>
                    <a:pt x="40875" y="32936"/>
                    <a:pt x="36749" y="36997"/>
                  </a:cubicBezTo>
                  <a:lnTo>
                    <a:pt x="21600" y="21600"/>
                  </a:lnTo>
                  <a:close/>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ea typeface="华文楷体" panose="02010600040101010101" pitchFamily="2" charset="-122"/>
                <a:cs typeface="Times New Roman" panose="02020603050405020304" pitchFamily="18" charset="0"/>
              </a:endParaRPr>
            </a:p>
          </p:txBody>
        </p:sp>
        <p:sp>
          <p:nvSpPr>
            <p:cNvPr id="169020" name="Freeform 219"/>
            <p:cNvSpPr>
              <a:spLocks/>
            </p:cNvSpPr>
            <p:nvPr/>
          </p:nvSpPr>
          <p:spPr bwMode="auto">
            <a:xfrm>
              <a:off x="4894" y="3828"/>
              <a:ext cx="528" cy="432"/>
            </a:xfrm>
            <a:custGeom>
              <a:avLst/>
              <a:gdLst>
                <a:gd name="T0" fmla="*/ 528 w 528"/>
                <a:gd name="T1" fmla="*/ 192 h 432"/>
                <a:gd name="T2" fmla="*/ 528 w 528"/>
                <a:gd name="T3" fmla="*/ 432 h 432"/>
                <a:gd name="T4" fmla="*/ 0 w 528"/>
                <a:gd name="T5" fmla="*/ 432 h 432"/>
                <a:gd name="T6" fmla="*/ 0 w 528"/>
                <a:gd name="T7" fmla="*/ 0 h 432"/>
                <a:gd name="T8" fmla="*/ 0 60000 65536"/>
                <a:gd name="T9" fmla="*/ 0 60000 65536"/>
                <a:gd name="T10" fmla="*/ 0 60000 65536"/>
                <a:gd name="T11" fmla="*/ 0 60000 65536"/>
                <a:gd name="T12" fmla="*/ 0 w 528"/>
                <a:gd name="T13" fmla="*/ 0 h 432"/>
                <a:gd name="T14" fmla="*/ 528 w 528"/>
                <a:gd name="T15" fmla="*/ 432 h 432"/>
              </a:gdLst>
              <a:ahLst/>
              <a:cxnLst>
                <a:cxn ang="T8">
                  <a:pos x="T0" y="T1"/>
                </a:cxn>
                <a:cxn ang="T9">
                  <a:pos x="T2" y="T3"/>
                </a:cxn>
                <a:cxn ang="T10">
                  <a:pos x="T4" y="T5"/>
                </a:cxn>
                <a:cxn ang="T11">
                  <a:pos x="T6" y="T7"/>
                </a:cxn>
              </a:cxnLst>
              <a:rect l="T12" t="T13" r="T14" b="T15"/>
              <a:pathLst>
                <a:path w="528" h="432">
                  <a:moveTo>
                    <a:pt x="528" y="192"/>
                  </a:moveTo>
                  <a:lnTo>
                    <a:pt x="528" y="432"/>
                  </a:lnTo>
                  <a:lnTo>
                    <a:pt x="0" y="432"/>
                  </a:lnTo>
                  <a:lnTo>
                    <a:pt x="0" y="0"/>
                  </a:lnTo>
                </a:path>
              </a:pathLst>
            </a:custGeom>
            <a:noFill/>
            <a:ln w="2540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21" name="Freeform 220"/>
            <p:cNvSpPr>
              <a:spLocks/>
            </p:cNvSpPr>
            <p:nvPr/>
          </p:nvSpPr>
          <p:spPr bwMode="auto">
            <a:xfrm>
              <a:off x="4894" y="3780"/>
              <a:ext cx="288" cy="240"/>
            </a:xfrm>
            <a:custGeom>
              <a:avLst/>
              <a:gdLst>
                <a:gd name="T0" fmla="*/ 0 w 288"/>
                <a:gd name="T1" fmla="*/ 0 h 240"/>
                <a:gd name="T2" fmla="*/ 96 w 288"/>
                <a:gd name="T3" fmla="*/ 0 h 240"/>
                <a:gd name="T4" fmla="*/ 96 w 288"/>
                <a:gd name="T5" fmla="*/ 240 h 240"/>
                <a:gd name="T6" fmla="*/ 288 w 288"/>
                <a:gd name="T7" fmla="*/ 24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lnTo>
                    <a:pt x="96" y="0"/>
                  </a:lnTo>
                  <a:lnTo>
                    <a:pt x="96" y="240"/>
                  </a:lnTo>
                  <a:lnTo>
                    <a:pt x="288" y="240"/>
                  </a:lnTo>
                </a:path>
              </a:pathLst>
            </a:custGeom>
            <a:noFill/>
            <a:ln w="2540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grpSp>
          <p:nvGrpSpPr>
            <p:cNvPr id="169022" name="Group 221"/>
            <p:cNvGrpSpPr>
              <a:grpSpLocks/>
            </p:cNvGrpSpPr>
            <p:nvPr/>
          </p:nvGrpSpPr>
          <p:grpSpPr bwMode="auto">
            <a:xfrm>
              <a:off x="3244" y="3504"/>
              <a:ext cx="227" cy="252"/>
              <a:chOff x="3244" y="3492"/>
              <a:chExt cx="227" cy="252"/>
            </a:xfrm>
          </p:grpSpPr>
          <p:sp>
            <p:nvSpPr>
              <p:cNvPr id="169025" name="Oval 222"/>
              <p:cNvSpPr>
                <a:spLocks noChangeArrowheads="1"/>
              </p:cNvSpPr>
              <p:nvPr/>
            </p:nvSpPr>
            <p:spPr bwMode="auto">
              <a:xfrm>
                <a:off x="3244" y="3517"/>
                <a:ext cx="227" cy="227"/>
              </a:xfrm>
              <a:prstGeom prst="ellipse">
                <a:avLst/>
              </a:prstGeom>
              <a:solidFill>
                <a:srgbClr val="000066"/>
              </a:solidFill>
              <a:ln w="25400">
                <a:solidFill>
                  <a:srgbClr val="00FF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latin typeface="+mn-lt"/>
                  <a:ea typeface="华文楷体" panose="02010600040101010101" pitchFamily="2" charset="-122"/>
                  <a:cs typeface="Times New Roman" panose="02020603050405020304" pitchFamily="18" charset="0"/>
                </a:endParaRPr>
              </a:p>
            </p:txBody>
          </p:sp>
          <p:sp>
            <p:nvSpPr>
              <p:cNvPr id="169026" name="Rectangle 223"/>
              <p:cNvSpPr>
                <a:spLocks noChangeArrowheads="1"/>
              </p:cNvSpPr>
              <p:nvPr/>
            </p:nvSpPr>
            <p:spPr bwMode="auto">
              <a:xfrm>
                <a:off x="3246" y="3492"/>
                <a:ext cx="154"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400" dirty="0">
                    <a:solidFill>
                      <a:srgbClr val="FFFF00"/>
                    </a:solidFill>
                    <a:latin typeface="+mn-lt"/>
                    <a:ea typeface="华文楷体" panose="02010600040101010101" pitchFamily="2" charset="-122"/>
                    <a:cs typeface="Times New Roman" panose="02020603050405020304" pitchFamily="18" charset="0"/>
                  </a:rPr>
                  <a:t>A</a:t>
                </a:r>
              </a:p>
            </p:txBody>
          </p:sp>
        </p:grpSp>
        <p:sp>
          <p:nvSpPr>
            <p:cNvPr id="169023" name="Freeform 224"/>
            <p:cNvSpPr>
              <a:spLocks/>
            </p:cNvSpPr>
            <p:nvPr/>
          </p:nvSpPr>
          <p:spPr bwMode="auto">
            <a:xfrm>
              <a:off x="3732" y="3768"/>
              <a:ext cx="240" cy="480"/>
            </a:xfrm>
            <a:custGeom>
              <a:avLst/>
              <a:gdLst>
                <a:gd name="T0" fmla="*/ 0 w 240"/>
                <a:gd name="T1" fmla="*/ 240 h 480"/>
                <a:gd name="T2" fmla="*/ 0 w 240"/>
                <a:gd name="T3" fmla="*/ 480 h 480"/>
                <a:gd name="T4" fmla="*/ 240 w 240"/>
                <a:gd name="T5" fmla="*/ 480 h 480"/>
                <a:gd name="T6" fmla="*/ 240 w 240"/>
                <a:gd name="T7" fmla="*/ 0 h 480"/>
                <a:gd name="T8" fmla="*/ 0 60000 65536"/>
                <a:gd name="T9" fmla="*/ 0 60000 65536"/>
                <a:gd name="T10" fmla="*/ 0 60000 65536"/>
                <a:gd name="T11" fmla="*/ 0 60000 65536"/>
                <a:gd name="T12" fmla="*/ 0 w 240"/>
                <a:gd name="T13" fmla="*/ 0 h 480"/>
                <a:gd name="T14" fmla="*/ 240 w 240"/>
                <a:gd name="T15" fmla="*/ 480 h 480"/>
              </a:gdLst>
              <a:ahLst/>
              <a:cxnLst>
                <a:cxn ang="T8">
                  <a:pos x="T0" y="T1"/>
                </a:cxn>
                <a:cxn ang="T9">
                  <a:pos x="T2" y="T3"/>
                </a:cxn>
                <a:cxn ang="T10">
                  <a:pos x="T4" y="T5"/>
                </a:cxn>
                <a:cxn ang="T11">
                  <a:pos x="T6" y="T7"/>
                </a:cxn>
              </a:cxnLst>
              <a:rect l="T12" t="T13" r="T14" b="T15"/>
              <a:pathLst>
                <a:path w="240" h="480">
                  <a:moveTo>
                    <a:pt x="0" y="240"/>
                  </a:moveTo>
                  <a:lnTo>
                    <a:pt x="0" y="480"/>
                  </a:lnTo>
                  <a:lnTo>
                    <a:pt x="240" y="480"/>
                  </a:lnTo>
                  <a:lnTo>
                    <a:pt x="240" y="0"/>
                  </a:lnTo>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sp>
          <p:nvSpPr>
            <p:cNvPr id="169024" name="Freeform 225"/>
            <p:cNvSpPr>
              <a:spLocks/>
            </p:cNvSpPr>
            <p:nvPr/>
          </p:nvSpPr>
          <p:spPr bwMode="auto">
            <a:xfrm>
              <a:off x="3732" y="3648"/>
              <a:ext cx="240" cy="192"/>
            </a:xfrm>
            <a:custGeom>
              <a:avLst/>
              <a:gdLst>
                <a:gd name="T0" fmla="*/ 0 w 240"/>
                <a:gd name="T1" fmla="*/ 192 h 192"/>
                <a:gd name="T2" fmla="*/ 0 w 240"/>
                <a:gd name="T3" fmla="*/ 0 h 192"/>
                <a:gd name="T4" fmla="*/ 240 w 240"/>
                <a:gd name="T5" fmla="*/ 0 h 192"/>
                <a:gd name="T6" fmla="*/ 240 w 240"/>
                <a:gd name="T7" fmla="*/ 96 h 192"/>
                <a:gd name="T8" fmla="*/ 0 60000 65536"/>
                <a:gd name="T9" fmla="*/ 0 60000 65536"/>
                <a:gd name="T10" fmla="*/ 0 60000 65536"/>
                <a:gd name="T11" fmla="*/ 0 60000 65536"/>
                <a:gd name="T12" fmla="*/ 0 w 240"/>
                <a:gd name="T13" fmla="*/ 0 h 192"/>
                <a:gd name="T14" fmla="*/ 240 w 240"/>
                <a:gd name="T15" fmla="*/ 192 h 192"/>
              </a:gdLst>
              <a:ahLst/>
              <a:cxnLst>
                <a:cxn ang="T8">
                  <a:pos x="T0" y="T1"/>
                </a:cxn>
                <a:cxn ang="T9">
                  <a:pos x="T2" y="T3"/>
                </a:cxn>
                <a:cxn ang="T10">
                  <a:pos x="T4" y="T5"/>
                </a:cxn>
                <a:cxn ang="T11">
                  <a:pos x="T6" y="T7"/>
                </a:cxn>
              </a:cxnLst>
              <a:rect l="T12" t="T13" r="T14" b="T15"/>
              <a:pathLst>
                <a:path w="240" h="192">
                  <a:moveTo>
                    <a:pt x="0" y="192"/>
                  </a:moveTo>
                  <a:lnTo>
                    <a:pt x="0" y="0"/>
                  </a:lnTo>
                  <a:lnTo>
                    <a:pt x="240" y="0"/>
                  </a:lnTo>
                  <a:lnTo>
                    <a:pt x="240" y="96"/>
                  </a:lnTo>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ea typeface="华文楷体" panose="02010600040101010101" pitchFamily="2" charset="-122"/>
                <a:cs typeface="Times New Roman" panose="02020603050405020304" pitchFamily="18" charset="0"/>
              </a:endParaRPr>
            </a:p>
          </p:txBody>
        </p:sp>
      </p:grpSp>
      <p:sp>
        <p:nvSpPr>
          <p:cNvPr id="82" name="Rectangle 95"/>
          <p:cNvSpPr>
            <a:spLocks noChangeArrowheads="1"/>
          </p:cNvSpPr>
          <p:nvPr/>
        </p:nvSpPr>
        <p:spPr bwMode="auto">
          <a:xfrm>
            <a:off x="621342" y="2227687"/>
            <a:ext cx="888064"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000" b="1" dirty="0">
                <a:latin typeface="+mn-lt"/>
                <a:ea typeface="华文楷体" panose="02010600040101010101" pitchFamily="2" charset="-122"/>
                <a:cs typeface="Times New Roman" panose="02020603050405020304" pitchFamily="18" charset="0"/>
              </a:rPr>
              <a:t>测量</a:t>
            </a:r>
            <a:r>
              <a:rPr kumimoji="1" lang="en-US" altLang="zh-CN" sz="2000" i="1" dirty="0">
                <a:latin typeface="+mn-lt"/>
                <a:ea typeface="华文楷体" panose="02010600040101010101" pitchFamily="2" charset="-122"/>
                <a:cs typeface="Times New Roman" panose="02020603050405020304" pitchFamily="18" charset="0"/>
              </a:rPr>
              <a:t>H</a:t>
            </a:r>
          </a:p>
        </p:txBody>
      </p:sp>
      <p:sp>
        <p:nvSpPr>
          <p:cNvPr id="83" name="Rectangle 102"/>
          <p:cNvSpPr>
            <a:spLocks noChangeArrowheads="1"/>
          </p:cNvSpPr>
          <p:nvPr/>
        </p:nvSpPr>
        <p:spPr bwMode="auto">
          <a:xfrm>
            <a:off x="1353180" y="2413425"/>
            <a:ext cx="3397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1200" b="1" dirty="0">
                <a:latin typeface="+mn-lt"/>
                <a:ea typeface="华文楷体" panose="02010600040101010101" pitchFamily="2" charset="-122"/>
                <a:cs typeface="Times New Roman" panose="02020603050405020304" pitchFamily="18" charset="0"/>
              </a:rPr>
              <a:t>换</a:t>
            </a:r>
          </a:p>
          <a:p>
            <a:r>
              <a:rPr kumimoji="1" lang="zh-CN" altLang="en-US" sz="1200" b="1" dirty="0">
                <a:latin typeface="+mn-lt"/>
                <a:ea typeface="华文楷体" panose="02010600040101010101" pitchFamily="2" charset="-122"/>
                <a:cs typeface="Times New Roman" panose="02020603050405020304" pitchFamily="18" charset="0"/>
              </a:rPr>
              <a:t>向</a:t>
            </a:r>
          </a:p>
          <a:p>
            <a:r>
              <a:rPr kumimoji="1" lang="zh-CN" altLang="en-US" sz="1200" b="1" dirty="0">
                <a:latin typeface="+mn-lt"/>
                <a:ea typeface="华文楷体" panose="02010600040101010101" pitchFamily="2" charset="-122"/>
                <a:cs typeface="Times New Roman" panose="02020603050405020304" pitchFamily="18" charset="0"/>
              </a:rPr>
              <a:t>开</a:t>
            </a:r>
          </a:p>
          <a:p>
            <a:r>
              <a:rPr kumimoji="1" lang="zh-CN" altLang="en-US" sz="1200" b="1" dirty="0">
                <a:latin typeface="+mn-lt"/>
                <a:ea typeface="华文楷体" panose="02010600040101010101" pitchFamily="2" charset="-122"/>
                <a:cs typeface="Times New Roman" panose="02020603050405020304" pitchFamily="18" charset="0"/>
              </a:rPr>
              <a:t>关</a:t>
            </a:r>
          </a:p>
        </p:txBody>
      </p:sp>
      <p:grpSp>
        <p:nvGrpSpPr>
          <p:cNvPr id="101" name="Group 28">
            <a:extLst>
              <a:ext uri="{FF2B5EF4-FFF2-40B4-BE49-F238E27FC236}">
                <a16:creationId xmlns:a16="http://schemas.microsoft.com/office/drawing/2014/main" id="{36C4A9C7-63D7-4B16-BFF2-A9F567369213}"/>
              </a:ext>
            </a:extLst>
          </p:cNvPr>
          <p:cNvGrpSpPr>
            <a:grpSpLocks/>
          </p:cNvGrpSpPr>
          <p:nvPr/>
        </p:nvGrpSpPr>
        <p:grpSpPr bwMode="auto">
          <a:xfrm>
            <a:off x="7746508" y="2948315"/>
            <a:ext cx="3929793" cy="3437170"/>
            <a:chOff x="3903" y="382"/>
            <a:chExt cx="1912" cy="1721"/>
          </a:xfrm>
        </p:grpSpPr>
        <p:grpSp>
          <p:nvGrpSpPr>
            <p:cNvPr id="102" name="Group 2">
              <a:extLst>
                <a:ext uri="{FF2B5EF4-FFF2-40B4-BE49-F238E27FC236}">
                  <a16:creationId xmlns:a16="http://schemas.microsoft.com/office/drawing/2014/main" id="{23F0752A-A486-4337-840D-CDFC42ECC255}"/>
                </a:ext>
              </a:extLst>
            </p:cNvPr>
            <p:cNvGrpSpPr>
              <a:grpSpLocks/>
            </p:cNvGrpSpPr>
            <p:nvPr/>
          </p:nvGrpSpPr>
          <p:grpSpPr bwMode="auto">
            <a:xfrm>
              <a:off x="4156" y="1008"/>
              <a:ext cx="1536" cy="912"/>
              <a:chOff x="2160" y="2448"/>
              <a:chExt cx="1536" cy="912"/>
            </a:xfrm>
          </p:grpSpPr>
          <p:sp>
            <p:nvSpPr>
              <p:cNvPr id="119" name="Freeform 3">
                <a:extLst>
                  <a:ext uri="{FF2B5EF4-FFF2-40B4-BE49-F238E27FC236}">
                    <a16:creationId xmlns:a16="http://schemas.microsoft.com/office/drawing/2014/main" id="{D5FE0080-BC9E-4F1E-B0FA-59B0DEB8CBB5}"/>
                  </a:ext>
                </a:extLst>
              </p:cNvPr>
              <p:cNvSpPr>
                <a:spLocks/>
              </p:cNvSpPr>
              <p:nvPr/>
            </p:nvSpPr>
            <p:spPr bwMode="auto">
              <a:xfrm>
                <a:off x="2160" y="2448"/>
                <a:ext cx="1536" cy="864"/>
              </a:xfrm>
              <a:custGeom>
                <a:avLst/>
                <a:gdLst>
                  <a:gd name="T0" fmla="*/ 0 w 1536"/>
                  <a:gd name="T1" fmla="*/ 16 h 1112"/>
                  <a:gd name="T2" fmla="*/ 48 w 1536"/>
                  <a:gd name="T3" fmla="*/ 14 h 1112"/>
                  <a:gd name="T4" fmla="*/ 96 w 1536"/>
                  <a:gd name="T5" fmla="*/ 5 h 1112"/>
                  <a:gd name="T6" fmla="*/ 144 w 1536"/>
                  <a:gd name="T7" fmla="*/ 2 h 1112"/>
                  <a:gd name="T8" fmla="*/ 240 w 1536"/>
                  <a:gd name="T9" fmla="*/ 2 h 1112"/>
                  <a:gd name="T10" fmla="*/ 336 w 1536"/>
                  <a:gd name="T11" fmla="*/ 3 h 1112"/>
                  <a:gd name="T12" fmla="*/ 432 w 1536"/>
                  <a:gd name="T13" fmla="*/ 5 h 1112"/>
                  <a:gd name="T14" fmla="*/ 624 w 1536"/>
                  <a:gd name="T15" fmla="*/ 9 h 1112"/>
                  <a:gd name="T16" fmla="*/ 864 w 1536"/>
                  <a:gd name="T17" fmla="*/ 11 h 1112"/>
                  <a:gd name="T18" fmla="*/ 1296 w 1536"/>
                  <a:gd name="T19" fmla="*/ 12 h 1112"/>
                  <a:gd name="T20" fmla="*/ 1536 w 1536"/>
                  <a:gd name="T21" fmla="*/ 12 h 11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36"/>
                  <a:gd name="T34" fmla="*/ 0 h 1112"/>
                  <a:gd name="T35" fmla="*/ 1536 w 1536"/>
                  <a:gd name="T36" fmla="*/ 1112 h 11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36" h="1112">
                    <a:moveTo>
                      <a:pt x="0" y="1112"/>
                    </a:moveTo>
                    <a:cubicBezTo>
                      <a:pt x="16" y="1100"/>
                      <a:pt x="32" y="1088"/>
                      <a:pt x="48" y="968"/>
                    </a:cubicBezTo>
                    <a:cubicBezTo>
                      <a:pt x="64" y="848"/>
                      <a:pt x="80" y="544"/>
                      <a:pt x="96" y="392"/>
                    </a:cubicBezTo>
                    <a:cubicBezTo>
                      <a:pt x="112" y="240"/>
                      <a:pt x="120" y="112"/>
                      <a:pt x="144" y="56"/>
                    </a:cubicBezTo>
                    <a:cubicBezTo>
                      <a:pt x="168" y="0"/>
                      <a:pt x="208" y="24"/>
                      <a:pt x="240" y="56"/>
                    </a:cubicBezTo>
                    <a:cubicBezTo>
                      <a:pt x="272" y="88"/>
                      <a:pt x="304" y="184"/>
                      <a:pt x="336" y="248"/>
                    </a:cubicBezTo>
                    <a:cubicBezTo>
                      <a:pt x="368" y="312"/>
                      <a:pt x="384" y="376"/>
                      <a:pt x="432" y="440"/>
                    </a:cubicBezTo>
                    <a:cubicBezTo>
                      <a:pt x="480" y="504"/>
                      <a:pt x="552" y="576"/>
                      <a:pt x="624" y="632"/>
                    </a:cubicBezTo>
                    <a:cubicBezTo>
                      <a:pt x="696" y="688"/>
                      <a:pt x="752" y="736"/>
                      <a:pt x="864" y="776"/>
                    </a:cubicBezTo>
                    <a:cubicBezTo>
                      <a:pt x="976" y="816"/>
                      <a:pt x="1184" y="856"/>
                      <a:pt x="1296" y="872"/>
                    </a:cubicBezTo>
                    <a:cubicBezTo>
                      <a:pt x="1408" y="888"/>
                      <a:pt x="1496" y="872"/>
                      <a:pt x="1536" y="872"/>
                    </a:cubicBezTo>
                  </a:path>
                </a:pathLst>
              </a:custGeom>
              <a:noFill/>
              <a:ln w="31750">
                <a:solidFill>
                  <a:srgbClr val="000066"/>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0" name="Object 5">
                    <a:extLst>
                      <a:ext uri="{FF2B5EF4-FFF2-40B4-BE49-F238E27FC236}">
                        <a16:creationId xmlns:a16="http://schemas.microsoft.com/office/drawing/2014/main" id="{8A93F0AA-E16A-4C5F-89F2-E7D526456529}"/>
                      </a:ext>
                    </a:extLst>
                  </p:cNvPr>
                  <p:cNvSpPr txBox="1"/>
                  <p:nvPr/>
                </p:nvSpPr>
                <p:spPr bwMode="auto">
                  <a:xfrm>
                    <a:off x="2928" y="3102"/>
                    <a:ext cx="576" cy="258"/>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𝜇</m:t>
                              </m:r>
                            </m:e>
                            <m:sub>
                              <m:r>
                                <a:rPr lang="zh-CN" altLang="en-US" sz="2400" i="1">
                                  <a:solidFill>
                                    <a:srgbClr val="000000"/>
                                  </a:solidFill>
                                  <a:latin typeface="Cambria Math" panose="02040503050406030204" pitchFamily="18" charset="0"/>
                                </a:rPr>
                                <m:t>𝑟</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𝐻</m:t>
                          </m:r>
                        </m:oMath>
                      </m:oMathPara>
                    </a14:m>
                    <a:endParaRPr lang="zh-CN" altLang="en-US" sz="2400"/>
                  </a:p>
                </p:txBody>
              </p:sp>
            </mc:Choice>
            <mc:Fallback xmlns="">
              <p:sp>
                <p:nvSpPr>
                  <p:cNvPr id="120" name="Object 5">
                    <a:extLst>
                      <a:ext uri="{FF2B5EF4-FFF2-40B4-BE49-F238E27FC236}">
                        <a16:creationId xmlns:a16="http://schemas.microsoft.com/office/drawing/2014/main" id="{8A93F0AA-E16A-4C5F-89F2-E7D526456529}"/>
                      </a:ext>
                    </a:extLst>
                  </p:cNvPr>
                  <p:cNvSpPr txBox="1">
                    <a:spLocks noRot="1" noChangeAspect="1" noMove="1" noResize="1" noEditPoints="1" noAdjustHandles="1" noChangeArrowheads="1" noChangeShapeType="1" noTextEdit="1"/>
                  </p:cNvSpPr>
                  <p:nvPr/>
                </p:nvSpPr>
                <p:spPr bwMode="auto">
                  <a:xfrm>
                    <a:off x="2928" y="3102"/>
                    <a:ext cx="576" cy="258"/>
                  </a:xfrm>
                  <a:prstGeom prst="rect">
                    <a:avLst/>
                  </a:prstGeom>
                  <a:blipFill>
                    <a:blip r:embed="rId4"/>
                    <a:stretch>
                      <a:fillRect l="-1546"/>
                    </a:stretch>
                  </a:blipFill>
                </p:spPr>
                <p:txBody>
                  <a:bodyPr/>
                  <a:lstStyle/>
                  <a:p>
                    <a:r>
                      <a:rPr lang="zh-CN" altLang="en-US">
                        <a:noFill/>
                      </a:rPr>
                      <a:t> </a:t>
                    </a:r>
                  </a:p>
                </p:txBody>
              </p:sp>
            </mc:Fallback>
          </mc:AlternateContent>
        </p:grpSp>
        <p:grpSp>
          <p:nvGrpSpPr>
            <p:cNvPr id="103" name="Group 5">
              <a:extLst>
                <a:ext uri="{FF2B5EF4-FFF2-40B4-BE49-F238E27FC236}">
                  <a16:creationId xmlns:a16="http://schemas.microsoft.com/office/drawing/2014/main" id="{4C573C67-635B-4EA7-9C83-EE2526EC25EB}"/>
                </a:ext>
              </a:extLst>
            </p:cNvPr>
            <p:cNvGrpSpPr>
              <a:grpSpLocks/>
            </p:cNvGrpSpPr>
            <p:nvPr/>
          </p:nvGrpSpPr>
          <p:grpSpPr bwMode="auto">
            <a:xfrm>
              <a:off x="3903" y="382"/>
              <a:ext cx="1912" cy="1721"/>
              <a:chOff x="3776" y="2350"/>
              <a:chExt cx="2042" cy="1721"/>
            </a:xfrm>
          </p:grpSpPr>
          <p:sp>
            <p:nvSpPr>
              <p:cNvPr id="104" name="Text Box 6">
                <a:extLst>
                  <a:ext uri="{FF2B5EF4-FFF2-40B4-BE49-F238E27FC236}">
                    <a16:creationId xmlns:a16="http://schemas.microsoft.com/office/drawing/2014/main" id="{849DF603-DF28-45B4-B8AE-72B521B5DDB2}"/>
                  </a:ext>
                </a:extLst>
              </p:cNvPr>
              <p:cNvSpPr txBox="1">
                <a:spLocks noChangeArrowheads="1"/>
              </p:cNvSpPr>
              <p:nvPr/>
            </p:nvSpPr>
            <p:spPr bwMode="auto">
              <a:xfrm>
                <a:off x="3840" y="384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O</a:t>
                </a:r>
              </a:p>
            </p:txBody>
          </p:sp>
          <p:grpSp>
            <p:nvGrpSpPr>
              <p:cNvPr id="105" name="Group 7">
                <a:extLst>
                  <a:ext uri="{FF2B5EF4-FFF2-40B4-BE49-F238E27FC236}">
                    <a16:creationId xmlns:a16="http://schemas.microsoft.com/office/drawing/2014/main" id="{C29589A2-07A7-47E7-B3CD-5AE7D3C81B9C}"/>
                  </a:ext>
                </a:extLst>
              </p:cNvPr>
              <p:cNvGrpSpPr>
                <a:grpSpLocks/>
              </p:cNvGrpSpPr>
              <p:nvPr/>
            </p:nvGrpSpPr>
            <p:grpSpPr bwMode="auto">
              <a:xfrm>
                <a:off x="3776" y="2350"/>
                <a:ext cx="2042" cy="1694"/>
                <a:chOff x="3776" y="2350"/>
                <a:chExt cx="2042" cy="1694"/>
              </a:xfrm>
            </p:grpSpPr>
            <p:sp>
              <p:nvSpPr>
                <p:cNvPr id="106" name="Line 8">
                  <a:extLst>
                    <a:ext uri="{FF2B5EF4-FFF2-40B4-BE49-F238E27FC236}">
                      <a16:creationId xmlns:a16="http://schemas.microsoft.com/office/drawing/2014/main" id="{69DBDF18-7E50-492B-9C30-85C6A99618FE}"/>
                    </a:ext>
                  </a:extLst>
                </p:cNvPr>
                <p:cNvSpPr>
                  <a:spLocks noChangeShapeType="1"/>
                </p:cNvSpPr>
                <p:nvPr/>
              </p:nvSpPr>
              <p:spPr bwMode="auto">
                <a:xfrm>
                  <a:off x="4032" y="2744"/>
                  <a:ext cx="1536" cy="0"/>
                </a:xfrm>
                <a:prstGeom prst="line">
                  <a:avLst/>
                </a:prstGeom>
                <a:noFill/>
                <a:ln w="31750">
                  <a:solidFill>
                    <a:srgbClr val="3366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107" name="Group 9">
                  <a:extLst>
                    <a:ext uri="{FF2B5EF4-FFF2-40B4-BE49-F238E27FC236}">
                      <a16:creationId xmlns:a16="http://schemas.microsoft.com/office/drawing/2014/main" id="{E7316FF4-0B8D-4941-BDC0-529C1E323269}"/>
                    </a:ext>
                  </a:extLst>
                </p:cNvPr>
                <p:cNvGrpSpPr>
                  <a:grpSpLocks/>
                </p:cNvGrpSpPr>
                <p:nvPr/>
              </p:nvGrpSpPr>
              <p:grpSpPr bwMode="auto">
                <a:xfrm>
                  <a:off x="3776" y="2350"/>
                  <a:ext cx="2042" cy="1694"/>
                  <a:chOff x="1904" y="1918"/>
                  <a:chExt cx="2042" cy="1694"/>
                </a:xfrm>
              </p:grpSpPr>
              <p:sp>
                <p:nvSpPr>
                  <p:cNvPr id="115" name="Line 10">
                    <a:extLst>
                      <a:ext uri="{FF2B5EF4-FFF2-40B4-BE49-F238E27FC236}">
                        <a16:creationId xmlns:a16="http://schemas.microsoft.com/office/drawing/2014/main" id="{7AE23406-829D-4206-961E-01F1C9CA9FC7}"/>
                      </a:ext>
                    </a:extLst>
                  </p:cNvPr>
                  <p:cNvSpPr>
                    <a:spLocks noChangeShapeType="1"/>
                  </p:cNvSpPr>
                  <p:nvPr/>
                </p:nvSpPr>
                <p:spPr bwMode="auto">
                  <a:xfrm flipV="1">
                    <a:off x="2160" y="2016"/>
                    <a:ext cx="0" cy="1440"/>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6" name="Line 11">
                    <a:extLst>
                      <a:ext uri="{FF2B5EF4-FFF2-40B4-BE49-F238E27FC236}">
                        <a16:creationId xmlns:a16="http://schemas.microsoft.com/office/drawing/2014/main" id="{08FBE19F-3EF6-451D-8D01-16972C16A047}"/>
                      </a:ext>
                    </a:extLst>
                  </p:cNvPr>
                  <p:cNvSpPr>
                    <a:spLocks noChangeShapeType="1"/>
                  </p:cNvSpPr>
                  <p:nvPr/>
                </p:nvSpPr>
                <p:spPr bwMode="auto">
                  <a:xfrm>
                    <a:off x="2160" y="3462"/>
                    <a:ext cx="1536" cy="0"/>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7" name="Text Box 12">
                        <a:extLst>
                          <a:ext uri="{FF2B5EF4-FFF2-40B4-BE49-F238E27FC236}">
                            <a16:creationId xmlns:a16="http://schemas.microsoft.com/office/drawing/2014/main" id="{4A38A1AD-4DB1-410D-9CEE-D264AD49009C}"/>
                          </a:ext>
                        </a:extLst>
                      </p:cNvPr>
                      <p:cNvSpPr txBox="1">
                        <a:spLocks noChangeArrowheads="1"/>
                      </p:cNvSpPr>
                      <p:nvPr/>
                    </p:nvSpPr>
                    <p:spPr bwMode="auto">
                      <a:xfrm>
                        <a:off x="3658" y="3381"/>
                        <a:ext cx="288" cy="23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r>
                                <a:rPr kumimoji="1" lang="en-US" altLang="zh-CN" sz="2400" b="1" i="1" dirty="0">
                                  <a:latin typeface="Cambria Math" panose="02040503050406030204" pitchFamily="18" charset="0"/>
                                  <a:ea typeface="华文新魏" panose="02010800040101010101" pitchFamily="2" charset="-122"/>
                                  <a:cs typeface="Times New Roman" panose="02020603050405020304" pitchFamily="18" charset="0"/>
                                </a:rPr>
                                <m:t>𝑯</m:t>
                              </m:r>
                            </m:oMath>
                          </m:oMathPara>
                        </a14:m>
                        <a:endParaRPr kumimoji="1"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17" name="Text Box 12">
                        <a:extLst>
                          <a:ext uri="{FF2B5EF4-FFF2-40B4-BE49-F238E27FC236}">
                            <a16:creationId xmlns:a16="http://schemas.microsoft.com/office/drawing/2014/main" id="{4A38A1AD-4DB1-410D-9CEE-D264AD49009C}"/>
                          </a:ext>
                        </a:extLst>
                      </p:cNvPr>
                      <p:cNvSpPr txBox="1">
                        <a:spLocks noRot="1" noChangeAspect="1" noMove="1" noResize="1" noEditPoints="1" noAdjustHandles="1" noChangeArrowheads="1" noChangeShapeType="1" noTextEdit="1"/>
                      </p:cNvSpPr>
                      <p:nvPr/>
                    </p:nvSpPr>
                    <p:spPr bwMode="auto">
                      <a:xfrm>
                        <a:off x="3658" y="3381"/>
                        <a:ext cx="288" cy="231"/>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8" name="Object 4">
                        <a:extLst>
                          <a:ext uri="{FF2B5EF4-FFF2-40B4-BE49-F238E27FC236}">
                            <a16:creationId xmlns:a16="http://schemas.microsoft.com/office/drawing/2014/main" id="{2FAB4878-E3E9-433D-9DAC-EFA9C053D7CD}"/>
                          </a:ext>
                        </a:extLst>
                      </p:cNvPr>
                      <p:cNvSpPr txBox="1"/>
                      <p:nvPr/>
                    </p:nvSpPr>
                    <p:spPr bwMode="auto">
                      <a:xfrm>
                        <a:off x="1904" y="1918"/>
                        <a:ext cx="219" cy="218"/>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r>
                                <m:rPr>
                                  <m:sty m:val="p"/>
                                </m:rPr>
                                <a:rPr lang="zh-CN" altLang="en-US" sz="2400" i="1">
                                  <a:solidFill>
                                    <a:srgbClr val="000000"/>
                                  </a:solidFill>
                                  <a:latin typeface="Cambria Math" panose="02040503050406030204" pitchFamily="18" charset="0"/>
                                </a:rPr>
                                <m:t>B</m:t>
                              </m:r>
                            </m:oMath>
                          </m:oMathPara>
                        </a14:m>
                        <a:endParaRPr lang="zh-CN" altLang="en-US" sz="2400"/>
                      </a:p>
                    </p:txBody>
                  </p:sp>
                </mc:Choice>
                <mc:Fallback xmlns="">
                  <p:sp>
                    <p:nvSpPr>
                      <p:cNvPr id="118" name="Object 4">
                        <a:extLst>
                          <a:ext uri="{FF2B5EF4-FFF2-40B4-BE49-F238E27FC236}">
                            <a16:creationId xmlns:a16="http://schemas.microsoft.com/office/drawing/2014/main" id="{2FAB4878-E3E9-433D-9DAC-EFA9C053D7CD}"/>
                          </a:ext>
                        </a:extLst>
                      </p:cNvPr>
                      <p:cNvSpPr txBox="1">
                        <a:spLocks noRot="1" noChangeAspect="1" noMove="1" noResize="1" noEditPoints="1" noAdjustHandles="1" noChangeArrowheads="1" noChangeShapeType="1" noTextEdit="1"/>
                      </p:cNvSpPr>
                      <p:nvPr/>
                    </p:nvSpPr>
                    <p:spPr bwMode="auto">
                      <a:xfrm>
                        <a:off x="1904" y="1918"/>
                        <a:ext cx="219" cy="218"/>
                      </a:xfrm>
                      <a:prstGeom prst="rect">
                        <a:avLst/>
                      </a:prstGeom>
                      <a:blipFill>
                        <a:blip r:embed="rId6"/>
                        <a:stretch>
                          <a:fillRect l="-1449"/>
                        </a:stretch>
                      </a:blipFill>
                    </p:spPr>
                    <p:txBody>
                      <a:bodyPr/>
                      <a:lstStyle/>
                      <a:p>
                        <a:r>
                          <a:rPr lang="zh-CN" altLang="en-US">
                            <a:noFill/>
                          </a:rPr>
                          <a:t> </a:t>
                        </a:r>
                      </a:p>
                    </p:txBody>
                  </p:sp>
                </mc:Fallback>
              </mc:AlternateContent>
            </p:grpSp>
            <p:grpSp>
              <p:nvGrpSpPr>
                <p:cNvPr id="108" name="Group 14">
                  <a:extLst>
                    <a:ext uri="{FF2B5EF4-FFF2-40B4-BE49-F238E27FC236}">
                      <a16:creationId xmlns:a16="http://schemas.microsoft.com/office/drawing/2014/main" id="{CD3C817A-6EAE-4B95-865E-2259804437EC}"/>
                    </a:ext>
                  </a:extLst>
                </p:cNvPr>
                <p:cNvGrpSpPr>
                  <a:grpSpLocks/>
                </p:cNvGrpSpPr>
                <p:nvPr/>
              </p:nvGrpSpPr>
              <p:grpSpPr bwMode="auto">
                <a:xfrm>
                  <a:off x="4032" y="2771"/>
                  <a:ext cx="1577" cy="1117"/>
                  <a:chOff x="2160" y="2339"/>
                  <a:chExt cx="1577" cy="1117"/>
                </a:xfrm>
              </p:grpSpPr>
              <p:sp>
                <p:nvSpPr>
                  <p:cNvPr id="109" name="Freeform 15">
                    <a:extLst>
                      <a:ext uri="{FF2B5EF4-FFF2-40B4-BE49-F238E27FC236}">
                        <a16:creationId xmlns:a16="http://schemas.microsoft.com/office/drawing/2014/main" id="{4E621924-3DCA-4E0F-B5A8-EC2F8B21CABE}"/>
                      </a:ext>
                    </a:extLst>
                  </p:cNvPr>
                  <p:cNvSpPr>
                    <a:spLocks/>
                  </p:cNvSpPr>
                  <p:nvPr/>
                </p:nvSpPr>
                <p:spPr bwMode="auto">
                  <a:xfrm>
                    <a:off x="2160" y="2352"/>
                    <a:ext cx="1536" cy="1104"/>
                  </a:xfrm>
                  <a:custGeom>
                    <a:avLst/>
                    <a:gdLst>
                      <a:gd name="T0" fmla="*/ 0 w 1872"/>
                      <a:gd name="T1" fmla="*/ 10339 h 960"/>
                      <a:gd name="T2" fmla="*/ 5 w 1872"/>
                      <a:gd name="T3" fmla="*/ 8780 h 960"/>
                      <a:gd name="T4" fmla="*/ 11 w 1872"/>
                      <a:gd name="T5" fmla="*/ 3102 h 960"/>
                      <a:gd name="T6" fmla="*/ 30 w 1872"/>
                      <a:gd name="T7" fmla="*/ 509 h 960"/>
                      <a:gd name="T8" fmla="*/ 66 w 1872"/>
                      <a:gd name="T9" fmla="*/ 0 h 960"/>
                      <a:gd name="T10" fmla="*/ 0 60000 65536"/>
                      <a:gd name="T11" fmla="*/ 0 60000 65536"/>
                      <a:gd name="T12" fmla="*/ 0 60000 65536"/>
                      <a:gd name="T13" fmla="*/ 0 60000 65536"/>
                      <a:gd name="T14" fmla="*/ 0 60000 65536"/>
                      <a:gd name="T15" fmla="*/ 0 w 1872"/>
                      <a:gd name="T16" fmla="*/ 0 h 960"/>
                      <a:gd name="T17" fmla="*/ 1872 w 1872"/>
                      <a:gd name="T18" fmla="*/ 960 h 960"/>
                    </a:gdLst>
                    <a:ahLst/>
                    <a:cxnLst>
                      <a:cxn ang="T10">
                        <a:pos x="T0" y="T1"/>
                      </a:cxn>
                      <a:cxn ang="T11">
                        <a:pos x="T2" y="T3"/>
                      </a:cxn>
                      <a:cxn ang="T12">
                        <a:pos x="T4" y="T5"/>
                      </a:cxn>
                      <a:cxn ang="T13">
                        <a:pos x="T6" y="T7"/>
                      </a:cxn>
                      <a:cxn ang="T14">
                        <a:pos x="T8" y="T9"/>
                      </a:cxn>
                    </a:cxnLst>
                    <a:rect l="T15" t="T16" r="T17" b="T18"/>
                    <a:pathLst>
                      <a:path w="1872" h="960">
                        <a:moveTo>
                          <a:pt x="0" y="960"/>
                        </a:moveTo>
                        <a:cubicBezTo>
                          <a:pt x="44" y="944"/>
                          <a:pt x="88" y="928"/>
                          <a:pt x="144" y="816"/>
                        </a:cubicBezTo>
                        <a:cubicBezTo>
                          <a:pt x="200" y="704"/>
                          <a:pt x="216" y="416"/>
                          <a:pt x="336" y="288"/>
                        </a:cubicBezTo>
                        <a:cubicBezTo>
                          <a:pt x="456" y="160"/>
                          <a:pt x="608" y="96"/>
                          <a:pt x="864" y="48"/>
                        </a:cubicBezTo>
                        <a:cubicBezTo>
                          <a:pt x="1120" y="0"/>
                          <a:pt x="1704" y="8"/>
                          <a:pt x="1872" y="0"/>
                        </a:cubicBezTo>
                      </a:path>
                    </a:pathLst>
                  </a:custGeom>
                  <a:noFill/>
                  <a:ln w="3175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1" name="Text Box 17">
                    <a:extLst>
                      <a:ext uri="{FF2B5EF4-FFF2-40B4-BE49-F238E27FC236}">
                        <a16:creationId xmlns:a16="http://schemas.microsoft.com/office/drawing/2014/main" id="{A9BEB8DF-D16C-483D-9848-F7BFFBE2ACC1}"/>
                      </a:ext>
                    </a:extLst>
                  </p:cNvPr>
                  <p:cNvSpPr txBox="1">
                    <a:spLocks noChangeArrowheads="1"/>
                  </p:cNvSpPr>
                  <p:nvPr/>
                </p:nvSpPr>
                <p:spPr bwMode="auto">
                  <a:xfrm>
                    <a:off x="2256" y="312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A</a:t>
                    </a:r>
                  </a:p>
                </p:txBody>
              </p:sp>
              <p:sp>
                <p:nvSpPr>
                  <p:cNvPr id="112" name="Text Box 18">
                    <a:extLst>
                      <a:ext uri="{FF2B5EF4-FFF2-40B4-BE49-F238E27FC236}">
                        <a16:creationId xmlns:a16="http://schemas.microsoft.com/office/drawing/2014/main" id="{8B3BDDD2-5E65-491B-BB81-D5ED156B326C}"/>
                      </a:ext>
                    </a:extLst>
                  </p:cNvPr>
                  <p:cNvSpPr txBox="1">
                    <a:spLocks noChangeArrowheads="1"/>
                  </p:cNvSpPr>
                  <p:nvPr/>
                </p:nvSpPr>
                <p:spPr bwMode="auto">
                  <a:xfrm>
                    <a:off x="2640" y="240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C</a:t>
                    </a:r>
                  </a:p>
                </p:txBody>
              </p:sp>
              <p:sp>
                <p:nvSpPr>
                  <p:cNvPr id="113" name="Text Box 19">
                    <a:extLst>
                      <a:ext uri="{FF2B5EF4-FFF2-40B4-BE49-F238E27FC236}">
                        <a16:creationId xmlns:a16="http://schemas.microsoft.com/office/drawing/2014/main" id="{9F5389DA-C490-4D2B-A435-129F225605FF}"/>
                      </a:ext>
                    </a:extLst>
                  </p:cNvPr>
                  <p:cNvSpPr txBox="1">
                    <a:spLocks noChangeArrowheads="1"/>
                  </p:cNvSpPr>
                  <p:nvPr/>
                </p:nvSpPr>
                <p:spPr bwMode="auto">
                  <a:xfrm>
                    <a:off x="2352" y="2688"/>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B</a:t>
                    </a:r>
                  </a:p>
                </p:txBody>
              </p:sp>
              <p:sp>
                <p:nvSpPr>
                  <p:cNvPr id="114" name="Rectangle 20">
                    <a:extLst>
                      <a:ext uri="{FF2B5EF4-FFF2-40B4-BE49-F238E27FC236}">
                        <a16:creationId xmlns:a16="http://schemas.microsoft.com/office/drawing/2014/main" id="{A97CCE62-560E-4AE8-83AA-F7E0D9DF8FCF}"/>
                      </a:ext>
                    </a:extLst>
                  </p:cNvPr>
                  <p:cNvSpPr>
                    <a:spLocks noChangeArrowheads="1"/>
                  </p:cNvSpPr>
                  <p:nvPr/>
                </p:nvSpPr>
                <p:spPr bwMode="auto">
                  <a:xfrm>
                    <a:off x="3552" y="2339"/>
                    <a:ext cx="1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S</a:t>
                    </a:r>
                  </a:p>
                </p:txBody>
              </p:sp>
            </p:grpSp>
          </p:grpSp>
        </p:grpSp>
      </p:grpSp>
      <mc:AlternateContent xmlns:mc="http://schemas.openxmlformats.org/markup-compatibility/2006" xmlns:a14="http://schemas.microsoft.com/office/drawing/2010/main">
        <mc:Choice Requires="a14">
          <p:sp>
            <p:nvSpPr>
              <p:cNvPr id="121" name="Object 2">
                <a:extLst>
                  <a:ext uri="{FF2B5EF4-FFF2-40B4-BE49-F238E27FC236}">
                    <a16:creationId xmlns:a16="http://schemas.microsoft.com/office/drawing/2014/main" id="{654ECEF3-7B23-4380-BE80-4B8750A6AA49}"/>
                  </a:ext>
                </a:extLst>
              </p:cNvPr>
              <p:cNvSpPr txBox="1"/>
              <p:nvPr/>
            </p:nvSpPr>
            <p:spPr bwMode="auto">
              <a:xfrm>
                <a:off x="10047910" y="4417105"/>
                <a:ext cx="790575" cy="27146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𝐵</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𝐻</m:t>
                      </m:r>
                    </m:oMath>
                  </m:oMathPara>
                </a14:m>
                <a:endParaRPr lang="zh-CN" altLang="en-US" sz="2400" dirty="0"/>
              </a:p>
            </p:txBody>
          </p:sp>
        </mc:Choice>
        <mc:Fallback xmlns="">
          <p:sp>
            <p:nvSpPr>
              <p:cNvPr id="121" name="Object 2">
                <a:extLst>
                  <a:ext uri="{FF2B5EF4-FFF2-40B4-BE49-F238E27FC236}">
                    <a16:creationId xmlns:a16="http://schemas.microsoft.com/office/drawing/2014/main" id="{654ECEF3-7B23-4380-BE80-4B8750A6AA49}"/>
                  </a:ext>
                </a:extLst>
              </p:cNvPr>
              <p:cNvSpPr txBox="1">
                <a:spLocks noRot="1" noChangeAspect="1" noMove="1" noResize="1" noEditPoints="1" noAdjustHandles="1" noChangeArrowheads="1" noChangeShapeType="1" noTextEdit="1"/>
              </p:cNvSpPr>
              <p:nvPr/>
            </p:nvSpPr>
            <p:spPr bwMode="auto">
              <a:xfrm>
                <a:off x="10047910" y="4417105"/>
                <a:ext cx="790575" cy="271463"/>
              </a:xfrm>
              <a:prstGeom prst="rect">
                <a:avLst/>
              </a:prstGeom>
              <a:blipFill>
                <a:blip r:embed="rId7"/>
                <a:stretch>
                  <a:fillRect l="-1538" r="-6923" b="-65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 name="Object 8">
                <a:extLst>
                  <a:ext uri="{FF2B5EF4-FFF2-40B4-BE49-F238E27FC236}">
                    <a16:creationId xmlns:a16="http://schemas.microsoft.com/office/drawing/2014/main" id="{97E9A37B-306F-4E99-B52F-D3DF44D79276}"/>
                  </a:ext>
                </a:extLst>
              </p:cNvPr>
              <p:cNvSpPr txBox="1"/>
              <p:nvPr/>
            </p:nvSpPr>
            <p:spPr bwMode="auto">
              <a:xfrm>
                <a:off x="7616825" y="1835150"/>
                <a:ext cx="4532313" cy="6492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𝐵</m:t>
                          </m:r>
                        </m:e>
                      </m:acc>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𝜇</m:t>
                          </m:r>
                        </m:e>
                        <m:sub>
                          <m:r>
                            <a:rPr lang="zh-CN" altLang="en-US" sz="2800" i="1">
                              <a:solidFill>
                                <a:srgbClr val="000000"/>
                              </a:solidFill>
                              <a:latin typeface="Cambria Math" panose="02040503050406030204" pitchFamily="18" charset="0"/>
                            </a:rPr>
                            <m:t>0</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𝜒</m:t>
                          </m:r>
                        </m:e>
                        <m:sub>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+1)</m:t>
                      </m:r>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𝐻</m:t>
                          </m:r>
                        </m:e>
                      </m:acc>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𝜇</m:t>
                          </m:r>
                        </m:e>
                        <m:sub>
                          <m:r>
                            <a:rPr lang="zh-CN" altLang="en-US" sz="2800" i="1">
                              <a:solidFill>
                                <a:srgbClr val="000000"/>
                              </a:solidFill>
                              <a:latin typeface="Cambria Math" panose="02040503050406030204" pitchFamily="18" charset="0"/>
                            </a:rPr>
                            <m:t>0</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𝜇</m:t>
                          </m:r>
                        </m:e>
                        <m:sub>
                          <m:r>
                            <a:rPr lang="zh-CN" altLang="en-US" sz="2800" i="1">
                              <a:solidFill>
                                <a:srgbClr val="000000"/>
                              </a:solidFill>
                              <a:latin typeface="Cambria Math" panose="02040503050406030204" pitchFamily="18" charset="0"/>
                            </a:rPr>
                            <m:t>𝑟</m:t>
                          </m:r>
                        </m:sub>
                      </m:sSub>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𝐻</m:t>
                          </m:r>
                        </m:e>
                      </m:acc>
                    </m:oMath>
                  </m:oMathPara>
                </a14:m>
                <a:endParaRPr lang="zh-CN" altLang="en-US" sz="2800" dirty="0"/>
              </a:p>
            </p:txBody>
          </p:sp>
        </mc:Choice>
        <mc:Fallback xmlns="">
          <p:sp>
            <p:nvSpPr>
              <p:cNvPr id="122" name="Object 8">
                <a:extLst>
                  <a:ext uri="{FF2B5EF4-FFF2-40B4-BE49-F238E27FC236}">
                    <a16:creationId xmlns:a16="http://schemas.microsoft.com/office/drawing/2014/main" id="{97E9A37B-306F-4E99-B52F-D3DF44D79276}"/>
                  </a:ext>
                </a:extLst>
              </p:cNvPr>
              <p:cNvSpPr txBox="1">
                <a:spLocks noRot="1" noChangeAspect="1" noMove="1" noResize="1" noEditPoints="1" noAdjustHandles="1" noChangeArrowheads="1" noChangeShapeType="1" noTextEdit="1"/>
              </p:cNvSpPr>
              <p:nvPr/>
            </p:nvSpPr>
            <p:spPr bwMode="auto">
              <a:xfrm>
                <a:off x="7616825" y="1835150"/>
                <a:ext cx="4532313" cy="649288"/>
              </a:xfrm>
              <a:prstGeom prst="rect">
                <a:avLst/>
              </a:prstGeom>
              <a:blipFill>
                <a:blip r:embed="rId8"/>
                <a:stretch>
                  <a:fillRect/>
                </a:stretch>
              </a:blipFill>
              <a:ln>
                <a:noFill/>
              </a:ln>
              <a:effectLst/>
            </p:spPr>
            <p:txBody>
              <a:bodyPr/>
              <a:lstStyle/>
              <a:p>
                <a:r>
                  <a:rPr lang="zh-CN" altLang="en-US">
                    <a:noFill/>
                  </a:rPr>
                  <a:t> </a:t>
                </a:r>
              </a:p>
            </p:txBody>
          </p:sp>
        </mc:Fallback>
      </mc:AlternateContent>
      <p:sp>
        <p:nvSpPr>
          <p:cNvPr id="110" name="标题 7">
            <a:extLst>
              <a:ext uri="{FF2B5EF4-FFF2-40B4-BE49-F238E27FC236}">
                <a16:creationId xmlns:a16="http://schemas.microsoft.com/office/drawing/2014/main" id="{812E0A56-42B2-4430-9F81-055D426AAA1B}"/>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磁化曲线</a:t>
            </a:r>
          </a:p>
        </p:txBody>
      </p:sp>
    </p:spTree>
    <p:extLst>
      <p:ext uri="{BB962C8B-B14F-4D97-AF65-F5344CB8AC3E}">
        <p14:creationId xmlns:p14="http://schemas.microsoft.com/office/powerpoint/2010/main" val="36141966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3" presetClass="entr" presetSubtype="10" fill="hold" grpId="0" nodeType="withEffect">
                                  <p:stCondLst>
                                    <p:cond delay="0"/>
                                  </p:stCondLst>
                                  <p:childTnLst>
                                    <p:set>
                                      <p:cBhvr>
                                        <p:cTn id="8" dur="1" fill="hold">
                                          <p:stCondLst>
                                            <p:cond delay="0"/>
                                          </p:stCondLst>
                                        </p:cTn>
                                        <p:tgtEl>
                                          <p:spTgt spid="83"/>
                                        </p:tgtEl>
                                        <p:attrNameLst>
                                          <p:attrName>style.visibility</p:attrName>
                                        </p:attrNameLst>
                                      </p:cBhvr>
                                      <p:to>
                                        <p:strVal val="visible"/>
                                      </p:to>
                                    </p:set>
                                    <p:animEffect transition="in" filter="blinds(horizontal)">
                                      <p:cBhvr>
                                        <p:cTn id="9" dur="500"/>
                                        <p:tgtEl>
                                          <p:spTgt spid="83"/>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8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58505">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58505">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22"/>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0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505" grpId="0" uiExpand="1" build="p" autoUpdateAnimBg="0"/>
      <p:bldP spid="82" grpId="0"/>
      <p:bldP spid="83" grpId="0"/>
      <p:bldP spid="121" grpId="0"/>
      <p:bldP spid="12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61542" name="Rectangle 38"/>
              <p:cNvSpPr>
                <a:spLocks noChangeArrowheads="1"/>
              </p:cNvSpPr>
              <p:nvPr/>
            </p:nvSpPr>
            <p:spPr bwMode="auto">
              <a:xfrm>
                <a:off x="5208588" y="1132346"/>
                <a:ext cx="6210300" cy="267765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gn="just" eaLnBrk="1" hangingPunct="1">
                  <a:buFontTx/>
                  <a:buChar char="-"/>
                </a:pP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当铁磁质达到饱和状态后，缓慢地减小</a:t>
                </a:r>
                <a14:m>
                  <m:oMath xmlns:m="http://schemas.openxmlformats.org/officeDocument/2006/math">
                    <m:r>
                      <a:rPr kumimoji="1" lang="en-US" altLang="zh-CN" sz="2800" b="0" i="1" dirty="0">
                        <a:latin typeface="Cambria Math" panose="02040503050406030204" pitchFamily="18" charset="0"/>
                        <a:ea typeface="黑体" panose="02010609060101010101" pitchFamily="49" charset="-122"/>
                        <a:cs typeface="Times New Roman" panose="02020603050405020304" pitchFamily="18" charset="0"/>
                      </a:rPr>
                      <m:t>𝐻</m:t>
                    </m:r>
                  </m:oMath>
                </a14:m>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，铁磁质中的</a:t>
                </a:r>
                <a14:m>
                  <m:oMath xmlns:m="http://schemas.openxmlformats.org/officeDocument/2006/math">
                    <m:r>
                      <a:rPr kumimoji="1" lang="en-US" altLang="zh-CN" sz="2800" b="0" i="1" dirty="0">
                        <a:latin typeface="Cambria Math" panose="02040503050406030204" pitchFamily="18" charset="0"/>
                        <a:ea typeface="黑体" panose="02010609060101010101" pitchFamily="49" charset="-122"/>
                        <a:cs typeface="Times New Roman" panose="02020603050405020304" pitchFamily="18" charset="0"/>
                      </a:rPr>
                      <m:t>𝐵</m:t>
                    </m:r>
                  </m:oMath>
                </a14:m>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并不按原来的曲线减小</a:t>
                </a:r>
                <a:endPar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lgn="just" eaLnBrk="1" hangingPunct="1">
                  <a:buFontTx/>
                  <a:buChar char="-"/>
                </a:pPr>
                <a:endPar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lgn="just" eaLnBrk="1" hangingPunct="1">
                  <a:buFontTx/>
                  <a:buChar char="-"/>
                </a:pPr>
                <a:r>
                  <a:rPr kumimoji="1" lang="en-US" altLang="zh-CN" sz="2800" i="1" dirty="0">
                    <a:latin typeface="Times New Roman" panose="02020603050405020304" pitchFamily="18" charset="0"/>
                    <a:ea typeface="华文楷体" panose="02010600040101010101" pitchFamily="2" charset="-122"/>
                    <a:cs typeface="Times New Roman" panose="02020603050405020304" pitchFamily="18" charset="0"/>
                  </a:rPr>
                  <a:t>H</a:t>
                </a:r>
                <a:r>
                  <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时，</a:t>
                </a:r>
                <a:r>
                  <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不等于</a:t>
                </a:r>
                <a:r>
                  <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，具有一定值，这种现象称为</a:t>
                </a:r>
                <a:r>
                  <a:rPr kumimoji="1"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剩磁</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p>
            </p:txBody>
          </p:sp>
        </mc:Choice>
        <mc:Fallback xmlns="">
          <p:sp>
            <p:nvSpPr>
              <p:cNvPr id="661542" name="Rectangle 38"/>
              <p:cNvSpPr>
                <a:spLocks noRot="1" noChangeAspect="1" noMove="1" noResize="1" noEditPoints="1" noAdjustHandles="1" noChangeArrowheads="1" noChangeShapeType="1" noTextEdit="1"/>
              </p:cNvSpPr>
              <p:nvPr/>
            </p:nvSpPr>
            <p:spPr bwMode="auto">
              <a:xfrm>
                <a:off x="5208588" y="1132346"/>
                <a:ext cx="6210300" cy="2677656"/>
              </a:xfrm>
              <a:prstGeom prst="rect">
                <a:avLst/>
              </a:prstGeom>
              <a:blipFill>
                <a:blip r:embed="rId2"/>
                <a:stretch>
                  <a:fillRect l="-1766" t="-2506" r="-2061" b="-54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61543" name="Rectangle 39"/>
          <p:cNvSpPr>
            <a:spLocks noChangeArrowheads="1"/>
          </p:cNvSpPr>
          <p:nvPr/>
        </p:nvSpPr>
        <p:spPr bwMode="auto">
          <a:xfrm>
            <a:off x="5317336" y="4292710"/>
            <a:ext cx="564911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要完全消除剩磁</a:t>
            </a:r>
            <a:r>
              <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kumimoji="1" lang="en-US" altLang="zh-CN" sz="2800" baseline="-25000" dirty="0">
                <a:latin typeface="Times New Roman" panose="02020603050405020304" pitchFamily="18" charset="0"/>
                <a:ea typeface="华文楷体" panose="02010600040101010101" pitchFamily="2" charset="-122"/>
                <a:cs typeface="Times New Roman" panose="02020603050405020304" pitchFamily="18" charset="0"/>
              </a:rPr>
              <a:t>r</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，必须加   </a:t>
            </a:r>
            <a:br>
              <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rPr>
            </a:br>
            <a:r>
              <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反向磁场，当</a:t>
            </a:r>
            <a:r>
              <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rPr>
              <a:t>B=0</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时磁场的值</a:t>
            </a:r>
            <a:r>
              <a:rPr kumimoji="1"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H</a:t>
            </a:r>
            <a:r>
              <a:rPr kumimoji="1" lang="en-US" altLang="zh-CN" sz="2800" baseline="-25000" dirty="0" err="1">
                <a:latin typeface="Times New Roman" panose="02020603050405020304" pitchFamily="18" charset="0"/>
                <a:ea typeface="华文楷体" panose="02010600040101010101" pitchFamily="2" charset="-122"/>
                <a:cs typeface="Times New Roman" panose="02020603050405020304" pitchFamily="18" charset="0"/>
              </a:rPr>
              <a:t>c</a:t>
            </a:r>
            <a:r>
              <a:rPr kumimoji="1" lang="en-US" altLang="zh-CN" sz="2800" baseline="-25000" dirty="0">
                <a:latin typeface="Times New Roman" panose="02020603050405020304" pitchFamily="18" charset="0"/>
                <a:ea typeface="华文楷体" panose="02010600040101010101" pitchFamily="2" charset="-122"/>
                <a:cs typeface="Times New Roman" panose="02020603050405020304" pitchFamily="18" charset="0"/>
              </a:rPr>
              <a:t>  </a:t>
            </a:r>
            <a:br>
              <a:rPr kumimoji="1" lang="en-US" altLang="zh-CN" sz="2800" baseline="-25000" dirty="0">
                <a:latin typeface="Times New Roman" panose="02020603050405020304" pitchFamily="18" charset="0"/>
                <a:ea typeface="华文楷体" panose="02010600040101010101" pitchFamily="2" charset="-122"/>
                <a:cs typeface="Times New Roman" panose="02020603050405020304" pitchFamily="18" charset="0"/>
              </a:rPr>
            </a:br>
            <a:r>
              <a:rPr kumimoji="1" lang="en-US" altLang="zh-CN" sz="2800" baseline="-25000" dirty="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为铁磁质的</a:t>
            </a:r>
            <a:r>
              <a:rPr kumimoji="1"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矫顽力</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p>
        </p:txBody>
      </p:sp>
      <p:grpSp>
        <p:nvGrpSpPr>
          <p:cNvPr id="2" name="Group 115"/>
          <p:cNvGrpSpPr>
            <a:grpSpLocks/>
          </p:cNvGrpSpPr>
          <p:nvPr/>
        </p:nvGrpSpPr>
        <p:grpSpPr bwMode="auto">
          <a:xfrm>
            <a:off x="1457325" y="1132346"/>
            <a:ext cx="3348038" cy="4400550"/>
            <a:chOff x="3515" y="164"/>
            <a:chExt cx="2109" cy="2772"/>
          </a:xfrm>
        </p:grpSpPr>
        <mc:AlternateContent xmlns:mc="http://schemas.openxmlformats.org/markup-compatibility/2006" xmlns:a14="http://schemas.microsoft.com/office/drawing/2010/main">
          <mc:Choice Requires="a14">
            <p:sp>
              <p:nvSpPr>
                <p:cNvPr id="172034" name="Object 2"/>
                <p:cNvSpPr txBox="1"/>
                <p:nvPr/>
              </p:nvSpPr>
              <p:spPr bwMode="auto">
                <a:xfrm>
                  <a:off x="4125" y="702"/>
                  <a:ext cx="220" cy="27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a:rPr lang="zh-CN" altLang="en-US" sz="2400" i="1">
                                <a:solidFill>
                                  <a:srgbClr val="000000"/>
                                </a:solidFill>
                                <a:latin typeface="Cambria Math" panose="02040503050406030204" pitchFamily="18" charset="0"/>
                              </a:rPr>
                              <m:t>𝑟</m:t>
                            </m:r>
                          </m:sub>
                        </m:sSub>
                      </m:oMath>
                    </m:oMathPara>
                  </a14:m>
                  <a:endParaRPr lang="zh-CN" altLang="en-US" sz="2400" dirty="0"/>
                </a:p>
              </p:txBody>
            </p:sp>
          </mc:Choice>
          <mc:Fallback xmlns="">
            <p:sp>
              <p:nvSpPr>
                <p:cNvPr id="172034" name="Object 2"/>
                <p:cNvSpPr txBox="1">
                  <a:spLocks noRot="1" noChangeAspect="1" noMove="1" noResize="1" noEditPoints="1" noAdjustHandles="1" noChangeArrowheads="1" noChangeShapeType="1" noTextEdit="1"/>
                </p:cNvSpPr>
                <p:nvPr/>
              </p:nvSpPr>
              <p:spPr bwMode="auto">
                <a:xfrm>
                  <a:off x="4125" y="702"/>
                  <a:ext cx="220" cy="272"/>
                </a:xfrm>
                <a:prstGeom prst="rect">
                  <a:avLst/>
                </a:prstGeom>
                <a:blipFill>
                  <a:blip r:embed="rId3"/>
                  <a:stretch>
                    <a:fillRect l="-5263" r="-28070" b="-5634"/>
                  </a:stretch>
                </a:blipFill>
              </p:spPr>
              <p:txBody>
                <a:bodyPr/>
                <a:lstStyle/>
                <a:p>
                  <a:r>
                    <a:rPr lang="zh-CN" altLang="en-US">
                      <a:noFill/>
                    </a:rPr>
                    <a:t> </a:t>
                  </a:r>
                </a:p>
              </p:txBody>
            </p:sp>
          </mc:Fallback>
        </mc:AlternateContent>
        <p:grpSp>
          <p:nvGrpSpPr>
            <p:cNvPr id="172047" name="Group 114"/>
            <p:cNvGrpSpPr>
              <a:grpSpLocks/>
            </p:cNvGrpSpPr>
            <p:nvPr/>
          </p:nvGrpSpPr>
          <p:grpSpPr bwMode="auto">
            <a:xfrm>
              <a:off x="3515" y="164"/>
              <a:ext cx="2109" cy="2772"/>
              <a:chOff x="3515" y="164"/>
              <a:chExt cx="2109" cy="2772"/>
            </a:xfrm>
          </p:grpSpPr>
          <p:grpSp>
            <p:nvGrpSpPr>
              <p:cNvPr id="172048" name="Group 112"/>
              <p:cNvGrpSpPr>
                <a:grpSpLocks/>
              </p:cNvGrpSpPr>
              <p:nvPr/>
            </p:nvGrpSpPr>
            <p:grpSpPr bwMode="auto">
              <a:xfrm>
                <a:off x="3633" y="164"/>
                <a:ext cx="1991" cy="2767"/>
                <a:chOff x="3651" y="164"/>
                <a:chExt cx="1991" cy="2767"/>
              </a:xfrm>
            </p:grpSpPr>
            <p:grpSp>
              <p:nvGrpSpPr>
                <p:cNvPr id="172054" name="Group 111"/>
                <p:cNvGrpSpPr>
                  <a:grpSpLocks/>
                </p:cNvGrpSpPr>
                <p:nvPr/>
              </p:nvGrpSpPr>
              <p:grpSpPr bwMode="auto">
                <a:xfrm>
                  <a:off x="3651" y="164"/>
                  <a:ext cx="1991" cy="2767"/>
                  <a:chOff x="3651" y="164"/>
                  <a:chExt cx="1991" cy="2767"/>
                </a:xfrm>
              </p:grpSpPr>
              <p:sp>
                <p:nvSpPr>
                  <p:cNvPr id="172057" name="Line 56"/>
                  <p:cNvSpPr>
                    <a:spLocks noChangeShapeType="1"/>
                  </p:cNvSpPr>
                  <p:nvPr/>
                </p:nvSpPr>
                <p:spPr bwMode="auto">
                  <a:xfrm rot="5400000" flipV="1">
                    <a:off x="4572" y="776"/>
                    <a:ext cx="0" cy="1752"/>
                  </a:xfrm>
                  <a:prstGeom prst="line">
                    <a:avLst/>
                  </a:prstGeom>
                  <a:noFill/>
                  <a:ln w="12700">
                    <a:solidFill>
                      <a:srgbClr val="00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58" name="Line 57"/>
                  <p:cNvSpPr>
                    <a:spLocks noChangeShapeType="1"/>
                  </p:cNvSpPr>
                  <p:nvPr/>
                </p:nvSpPr>
                <p:spPr bwMode="auto">
                  <a:xfrm flipV="1">
                    <a:off x="4468" y="300"/>
                    <a:ext cx="3" cy="2631"/>
                  </a:xfrm>
                  <a:prstGeom prst="line">
                    <a:avLst/>
                  </a:prstGeom>
                  <a:noFill/>
                  <a:ln w="127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59" name="Text Box 95"/>
                  <p:cNvSpPr txBox="1">
                    <a:spLocks noChangeArrowheads="1"/>
                  </p:cNvSpPr>
                  <p:nvPr/>
                </p:nvSpPr>
                <p:spPr bwMode="auto">
                  <a:xfrm>
                    <a:off x="4244" y="164"/>
                    <a:ext cx="3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B</a:t>
                    </a:r>
                  </a:p>
                </p:txBody>
              </p:sp>
              <p:sp>
                <p:nvSpPr>
                  <p:cNvPr id="172060" name="Text Box 96"/>
                  <p:cNvSpPr txBox="1">
                    <a:spLocks noChangeArrowheads="1"/>
                  </p:cNvSpPr>
                  <p:nvPr/>
                </p:nvSpPr>
                <p:spPr bwMode="auto">
                  <a:xfrm>
                    <a:off x="5378" y="1570"/>
                    <a:ext cx="2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H</a:t>
                    </a:r>
                  </a:p>
                </p:txBody>
              </p:sp>
              <p:grpSp>
                <p:nvGrpSpPr>
                  <p:cNvPr id="172061" name="Group 97"/>
                  <p:cNvGrpSpPr>
                    <a:grpSpLocks/>
                  </p:cNvGrpSpPr>
                  <p:nvPr/>
                </p:nvGrpSpPr>
                <p:grpSpPr bwMode="auto">
                  <a:xfrm>
                    <a:off x="3651" y="391"/>
                    <a:ext cx="1761" cy="2511"/>
                    <a:chOff x="3651" y="391"/>
                    <a:chExt cx="1761" cy="2511"/>
                  </a:xfrm>
                </p:grpSpPr>
                <p:sp>
                  <p:nvSpPr>
                    <p:cNvPr id="172062" name="Text Box 98"/>
                    <p:cNvSpPr txBox="1">
                      <a:spLocks noChangeArrowheads="1"/>
                    </p:cNvSpPr>
                    <p:nvPr/>
                  </p:nvSpPr>
                  <p:spPr bwMode="auto">
                    <a:xfrm>
                      <a:off x="4241" y="2341"/>
                      <a:ext cx="2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e</a:t>
                      </a:r>
                    </a:p>
                  </p:txBody>
                </p:sp>
                <p:sp>
                  <p:nvSpPr>
                    <p:cNvPr id="172063" name="Text Box 99"/>
                    <p:cNvSpPr txBox="1">
                      <a:spLocks noChangeArrowheads="1"/>
                    </p:cNvSpPr>
                    <p:nvPr/>
                  </p:nvSpPr>
                  <p:spPr bwMode="auto">
                    <a:xfrm>
                      <a:off x="3651" y="2614"/>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d</a:t>
                      </a:r>
                    </a:p>
                  </p:txBody>
                </p:sp>
                <p:sp>
                  <p:nvSpPr>
                    <p:cNvPr id="172064" name="Text Box 100"/>
                    <p:cNvSpPr txBox="1">
                      <a:spLocks noChangeArrowheads="1"/>
                    </p:cNvSpPr>
                    <p:nvPr/>
                  </p:nvSpPr>
                  <p:spPr bwMode="auto">
                    <a:xfrm>
                      <a:off x="3923" y="1389"/>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c</a:t>
                      </a:r>
                    </a:p>
                  </p:txBody>
                </p:sp>
                <p:sp>
                  <p:nvSpPr>
                    <p:cNvPr id="172065" name="Text Box 101"/>
                    <p:cNvSpPr txBox="1">
                      <a:spLocks noChangeArrowheads="1"/>
                    </p:cNvSpPr>
                    <p:nvPr/>
                  </p:nvSpPr>
                  <p:spPr bwMode="auto">
                    <a:xfrm>
                      <a:off x="4294" y="1570"/>
                      <a:ext cx="2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O</a:t>
                      </a:r>
                    </a:p>
                  </p:txBody>
                </p:sp>
                <p:sp>
                  <p:nvSpPr>
                    <p:cNvPr id="172066" name="Text Box 102"/>
                    <p:cNvSpPr txBox="1">
                      <a:spLocks noChangeArrowheads="1"/>
                    </p:cNvSpPr>
                    <p:nvPr/>
                  </p:nvSpPr>
                  <p:spPr bwMode="auto">
                    <a:xfrm>
                      <a:off x="5148" y="391"/>
                      <a:ext cx="2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a</a:t>
                      </a:r>
                    </a:p>
                  </p:txBody>
                </p:sp>
                <p:sp>
                  <p:nvSpPr>
                    <p:cNvPr id="172067" name="Text Box 103"/>
                    <p:cNvSpPr txBox="1">
                      <a:spLocks noChangeArrowheads="1"/>
                    </p:cNvSpPr>
                    <p:nvPr/>
                  </p:nvSpPr>
                  <p:spPr bwMode="auto">
                    <a:xfrm>
                      <a:off x="4785" y="1434"/>
                      <a:ext cx="2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f</a:t>
                      </a:r>
                    </a:p>
                  </p:txBody>
                </p:sp>
                <p:sp>
                  <p:nvSpPr>
                    <p:cNvPr id="172068" name="Freeform 104"/>
                    <p:cNvSpPr>
                      <a:spLocks/>
                    </p:cNvSpPr>
                    <p:nvPr/>
                  </p:nvSpPr>
                  <p:spPr bwMode="auto">
                    <a:xfrm>
                      <a:off x="3881" y="1616"/>
                      <a:ext cx="952" cy="1134"/>
                    </a:xfrm>
                    <a:custGeom>
                      <a:avLst/>
                      <a:gdLst>
                        <a:gd name="T0" fmla="*/ 3004 w 886"/>
                        <a:gd name="T1" fmla="*/ 0 h 814"/>
                        <a:gd name="T2" fmla="*/ 2838 w 886"/>
                        <a:gd name="T3" fmla="*/ 98240 h 814"/>
                        <a:gd name="T4" fmla="*/ 2494 w 886"/>
                        <a:gd name="T5" fmla="*/ 163261 h 814"/>
                        <a:gd name="T6" fmla="*/ 1630 w 886"/>
                        <a:gd name="T7" fmla="*/ 204733 h 814"/>
                        <a:gd name="T8" fmla="*/ 711 w 886"/>
                        <a:gd name="T9" fmla="*/ 222088 h 814"/>
                        <a:gd name="T10" fmla="*/ 0 w 886"/>
                        <a:gd name="T11" fmla="*/ 228256 h 814"/>
                        <a:gd name="T12" fmla="*/ 0 60000 65536"/>
                        <a:gd name="T13" fmla="*/ 0 60000 65536"/>
                        <a:gd name="T14" fmla="*/ 0 60000 65536"/>
                        <a:gd name="T15" fmla="*/ 0 60000 65536"/>
                        <a:gd name="T16" fmla="*/ 0 60000 65536"/>
                        <a:gd name="T17" fmla="*/ 0 60000 65536"/>
                        <a:gd name="T18" fmla="*/ 0 w 886"/>
                        <a:gd name="T19" fmla="*/ 0 h 814"/>
                        <a:gd name="T20" fmla="*/ 886 w 886"/>
                        <a:gd name="T21" fmla="*/ 814 h 814"/>
                      </a:gdLst>
                      <a:ahLst/>
                      <a:cxnLst>
                        <a:cxn ang="T12">
                          <a:pos x="T0" y="T1"/>
                        </a:cxn>
                        <a:cxn ang="T13">
                          <a:pos x="T2" y="T3"/>
                        </a:cxn>
                        <a:cxn ang="T14">
                          <a:pos x="T4" y="T5"/>
                        </a:cxn>
                        <a:cxn ang="T15">
                          <a:pos x="T6" y="T7"/>
                        </a:cxn>
                        <a:cxn ang="T16">
                          <a:pos x="T8" y="T9"/>
                        </a:cxn>
                        <a:cxn ang="T17">
                          <a:pos x="T10" y="T11"/>
                        </a:cxn>
                      </a:cxnLst>
                      <a:rect l="T18" t="T19" r="T20" b="T21"/>
                      <a:pathLst>
                        <a:path w="886" h="814">
                          <a:moveTo>
                            <a:pt x="886" y="0"/>
                          </a:moveTo>
                          <a:cubicBezTo>
                            <a:pt x="876" y="58"/>
                            <a:pt x="862" y="253"/>
                            <a:pt x="837" y="350"/>
                          </a:cubicBezTo>
                          <a:cubicBezTo>
                            <a:pt x="812" y="447"/>
                            <a:pt x="795" y="519"/>
                            <a:pt x="735" y="582"/>
                          </a:cubicBezTo>
                          <a:cubicBezTo>
                            <a:pt x="675" y="644"/>
                            <a:pt x="568" y="695"/>
                            <a:pt x="481" y="730"/>
                          </a:cubicBezTo>
                          <a:cubicBezTo>
                            <a:pt x="394" y="764"/>
                            <a:pt x="289" y="778"/>
                            <a:pt x="209" y="792"/>
                          </a:cubicBezTo>
                          <a:cubicBezTo>
                            <a:pt x="129" y="806"/>
                            <a:pt x="44" y="810"/>
                            <a:pt x="0" y="814"/>
                          </a:cubicBezTo>
                        </a:path>
                      </a:pathLst>
                    </a:custGeom>
                    <a:noFill/>
                    <a:ln w="19050">
                      <a:solidFill>
                        <a:srgbClr val="3366FF"/>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69" name="Freeform 105"/>
                    <p:cNvSpPr>
                      <a:spLocks/>
                    </p:cNvSpPr>
                    <p:nvPr/>
                  </p:nvSpPr>
                  <p:spPr bwMode="auto">
                    <a:xfrm>
                      <a:off x="3836" y="1661"/>
                      <a:ext cx="304" cy="1090"/>
                    </a:xfrm>
                    <a:custGeom>
                      <a:avLst/>
                      <a:gdLst>
                        <a:gd name="T0" fmla="*/ 53583 w 219"/>
                        <a:gd name="T1" fmla="*/ 0 h 811"/>
                        <a:gd name="T2" fmla="*/ 53583 w 219"/>
                        <a:gd name="T3" fmla="*/ 53289 h 811"/>
                        <a:gd name="T4" fmla="*/ 48922 w 219"/>
                        <a:gd name="T5" fmla="*/ 95826 h 811"/>
                        <a:gd name="T6" fmla="*/ 0 w 219"/>
                        <a:gd name="T7" fmla="*/ 123545 h 811"/>
                        <a:gd name="T8" fmla="*/ 0 60000 65536"/>
                        <a:gd name="T9" fmla="*/ 0 60000 65536"/>
                        <a:gd name="T10" fmla="*/ 0 60000 65536"/>
                        <a:gd name="T11" fmla="*/ 0 60000 65536"/>
                        <a:gd name="T12" fmla="*/ 0 w 219"/>
                        <a:gd name="T13" fmla="*/ 0 h 811"/>
                        <a:gd name="T14" fmla="*/ 219 w 219"/>
                        <a:gd name="T15" fmla="*/ 811 h 811"/>
                      </a:gdLst>
                      <a:ahLst/>
                      <a:cxnLst>
                        <a:cxn ang="T8">
                          <a:pos x="T0" y="T1"/>
                        </a:cxn>
                        <a:cxn ang="T9">
                          <a:pos x="T2" y="T3"/>
                        </a:cxn>
                        <a:cxn ang="T10">
                          <a:pos x="T4" y="T5"/>
                        </a:cxn>
                        <a:cxn ang="T11">
                          <a:pos x="T6" y="T7"/>
                        </a:cxn>
                      </a:cxnLst>
                      <a:rect l="T12" t="T13" r="T14" b="T15"/>
                      <a:pathLst>
                        <a:path w="219" h="811">
                          <a:moveTo>
                            <a:pt x="203" y="0"/>
                          </a:moveTo>
                          <a:cubicBezTo>
                            <a:pt x="204" y="124"/>
                            <a:pt x="206" y="245"/>
                            <a:pt x="203" y="350"/>
                          </a:cubicBezTo>
                          <a:cubicBezTo>
                            <a:pt x="200" y="455"/>
                            <a:pt x="219" y="552"/>
                            <a:pt x="185" y="629"/>
                          </a:cubicBezTo>
                          <a:cubicBezTo>
                            <a:pt x="151" y="706"/>
                            <a:pt x="39" y="773"/>
                            <a:pt x="0" y="811"/>
                          </a:cubicBezTo>
                        </a:path>
                      </a:pathLst>
                    </a:custGeom>
                    <a:noFill/>
                    <a:ln w="25400">
                      <a:solidFill>
                        <a:srgbClr val="339966"/>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70" name="Freeform 106"/>
                    <p:cNvSpPr>
                      <a:spLocks/>
                    </p:cNvSpPr>
                    <p:nvPr/>
                  </p:nvSpPr>
                  <p:spPr bwMode="auto">
                    <a:xfrm>
                      <a:off x="4471" y="572"/>
                      <a:ext cx="635" cy="1066"/>
                    </a:xfrm>
                    <a:custGeom>
                      <a:avLst/>
                      <a:gdLst>
                        <a:gd name="T0" fmla="*/ 0 w 267"/>
                        <a:gd name="T1" fmla="*/ 137120828 h 511"/>
                        <a:gd name="T2" fmla="*/ 110187509 w 267"/>
                        <a:gd name="T3" fmla="*/ 119402419 h 511"/>
                        <a:gd name="T4" fmla="*/ 194698921 w 267"/>
                        <a:gd name="T5" fmla="*/ 77563627 h 511"/>
                        <a:gd name="T6" fmla="*/ 310948142 w 267"/>
                        <a:gd name="T7" fmla="*/ 37537260 h 511"/>
                        <a:gd name="T8" fmla="*/ 470452839 w 267"/>
                        <a:gd name="T9" fmla="*/ 15046747 h 511"/>
                        <a:gd name="T10" fmla="*/ 665059749 w 267"/>
                        <a:gd name="T11" fmla="*/ 0 h 511"/>
                        <a:gd name="T12" fmla="*/ 0 60000 65536"/>
                        <a:gd name="T13" fmla="*/ 0 60000 65536"/>
                        <a:gd name="T14" fmla="*/ 0 60000 65536"/>
                        <a:gd name="T15" fmla="*/ 0 60000 65536"/>
                        <a:gd name="T16" fmla="*/ 0 60000 65536"/>
                        <a:gd name="T17" fmla="*/ 0 60000 65536"/>
                        <a:gd name="T18" fmla="*/ 0 w 267"/>
                        <a:gd name="T19" fmla="*/ 0 h 511"/>
                        <a:gd name="T20" fmla="*/ 267 w 267"/>
                        <a:gd name="T21" fmla="*/ 511 h 511"/>
                      </a:gdLst>
                      <a:ahLst/>
                      <a:cxnLst>
                        <a:cxn ang="T12">
                          <a:pos x="T0" y="T1"/>
                        </a:cxn>
                        <a:cxn ang="T13">
                          <a:pos x="T2" y="T3"/>
                        </a:cxn>
                        <a:cxn ang="T14">
                          <a:pos x="T4" y="T5"/>
                        </a:cxn>
                        <a:cxn ang="T15">
                          <a:pos x="T6" y="T7"/>
                        </a:cxn>
                        <a:cxn ang="T16">
                          <a:pos x="T8" y="T9"/>
                        </a:cxn>
                        <a:cxn ang="T17">
                          <a:pos x="T10" y="T11"/>
                        </a:cxn>
                      </a:cxnLst>
                      <a:rect l="T18" t="T19" r="T20" b="T21"/>
                      <a:pathLst>
                        <a:path w="267" h="511">
                          <a:moveTo>
                            <a:pt x="0" y="511"/>
                          </a:moveTo>
                          <a:cubicBezTo>
                            <a:pt x="15" y="496"/>
                            <a:pt x="31" y="482"/>
                            <a:pt x="44" y="445"/>
                          </a:cubicBezTo>
                          <a:cubicBezTo>
                            <a:pt x="57" y="408"/>
                            <a:pt x="65" y="340"/>
                            <a:pt x="78" y="289"/>
                          </a:cubicBezTo>
                          <a:cubicBezTo>
                            <a:pt x="91" y="238"/>
                            <a:pt x="106" y="179"/>
                            <a:pt x="125" y="140"/>
                          </a:cubicBezTo>
                          <a:cubicBezTo>
                            <a:pt x="144" y="101"/>
                            <a:pt x="165" y="79"/>
                            <a:pt x="189" y="56"/>
                          </a:cubicBezTo>
                          <a:cubicBezTo>
                            <a:pt x="213" y="33"/>
                            <a:pt x="242" y="19"/>
                            <a:pt x="267" y="0"/>
                          </a:cubicBezTo>
                        </a:path>
                      </a:pathLst>
                    </a:custGeom>
                    <a:noFill/>
                    <a:ln w="22225">
                      <a:solidFill>
                        <a:srgbClr val="993366"/>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71" name="Freeform 107"/>
                    <p:cNvSpPr>
                      <a:spLocks/>
                    </p:cNvSpPr>
                    <p:nvPr/>
                  </p:nvSpPr>
                  <p:spPr bwMode="auto">
                    <a:xfrm>
                      <a:off x="4833" y="572"/>
                      <a:ext cx="318" cy="1089"/>
                    </a:xfrm>
                    <a:custGeom>
                      <a:avLst/>
                      <a:gdLst>
                        <a:gd name="T0" fmla="*/ 0 w 318"/>
                        <a:gd name="T1" fmla="*/ 1089 h 1089"/>
                        <a:gd name="T2" fmla="*/ 46 w 318"/>
                        <a:gd name="T3" fmla="*/ 772 h 1089"/>
                        <a:gd name="T4" fmla="*/ 91 w 318"/>
                        <a:gd name="T5" fmla="*/ 499 h 1089"/>
                        <a:gd name="T6" fmla="*/ 137 w 318"/>
                        <a:gd name="T7" fmla="*/ 318 h 1089"/>
                        <a:gd name="T8" fmla="*/ 227 w 318"/>
                        <a:gd name="T9" fmla="*/ 137 h 1089"/>
                        <a:gd name="T10" fmla="*/ 318 w 318"/>
                        <a:gd name="T11" fmla="*/ 0 h 1089"/>
                        <a:gd name="T12" fmla="*/ 0 60000 65536"/>
                        <a:gd name="T13" fmla="*/ 0 60000 65536"/>
                        <a:gd name="T14" fmla="*/ 0 60000 65536"/>
                        <a:gd name="T15" fmla="*/ 0 60000 65536"/>
                        <a:gd name="T16" fmla="*/ 0 60000 65536"/>
                        <a:gd name="T17" fmla="*/ 0 60000 65536"/>
                        <a:gd name="T18" fmla="*/ 0 w 318"/>
                        <a:gd name="T19" fmla="*/ 0 h 1089"/>
                        <a:gd name="T20" fmla="*/ 318 w 318"/>
                        <a:gd name="T21" fmla="*/ 1089 h 1089"/>
                      </a:gdLst>
                      <a:ahLst/>
                      <a:cxnLst>
                        <a:cxn ang="T12">
                          <a:pos x="T0" y="T1"/>
                        </a:cxn>
                        <a:cxn ang="T13">
                          <a:pos x="T2" y="T3"/>
                        </a:cxn>
                        <a:cxn ang="T14">
                          <a:pos x="T4" y="T5"/>
                        </a:cxn>
                        <a:cxn ang="T15">
                          <a:pos x="T6" y="T7"/>
                        </a:cxn>
                        <a:cxn ang="T16">
                          <a:pos x="T8" y="T9"/>
                        </a:cxn>
                        <a:cxn ang="T17">
                          <a:pos x="T10" y="T11"/>
                        </a:cxn>
                      </a:cxnLst>
                      <a:rect l="T18" t="T19" r="T20" b="T21"/>
                      <a:pathLst>
                        <a:path w="318" h="1089">
                          <a:moveTo>
                            <a:pt x="0" y="1089"/>
                          </a:moveTo>
                          <a:cubicBezTo>
                            <a:pt x="15" y="979"/>
                            <a:pt x="31" y="870"/>
                            <a:pt x="46" y="772"/>
                          </a:cubicBezTo>
                          <a:cubicBezTo>
                            <a:pt x="61" y="674"/>
                            <a:pt x="76" y="575"/>
                            <a:pt x="91" y="499"/>
                          </a:cubicBezTo>
                          <a:cubicBezTo>
                            <a:pt x="106" y="423"/>
                            <a:pt x="114" y="378"/>
                            <a:pt x="137" y="318"/>
                          </a:cubicBezTo>
                          <a:cubicBezTo>
                            <a:pt x="160" y="258"/>
                            <a:pt x="197" y="190"/>
                            <a:pt x="227" y="137"/>
                          </a:cubicBezTo>
                          <a:cubicBezTo>
                            <a:pt x="257" y="84"/>
                            <a:pt x="287" y="42"/>
                            <a:pt x="318" y="0"/>
                          </a:cubicBezTo>
                        </a:path>
                      </a:pathLst>
                    </a:custGeom>
                    <a:noFill/>
                    <a:ln w="25400">
                      <a:solidFill>
                        <a:srgbClr val="FF9900"/>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72" name="Arc 108"/>
                    <p:cNvSpPr>
                      <a:spLocks/>
                    </p:cNvSpPr>
                    <p:nvPr/>
                  </p:nvSpPr>
                  <p:spPr bwMode="auto">
                    <a:xfrm rot="-4505504">
                      <a:off x="4090" y="644"/>
                      <a:ext cx="1337" cy="976"/>
                    </a:xfrm>
                    <a:custGeom>
                      <a:avLst/>
                      <a:gdLst>
                        <a:gd name="T0" fmla="*/ 0 w 21152"/>
                        <a:gd name="T1" fmla="*/ 0 h 21600"/>
                        <a:gd name="T2" fmla="*/ 0 w 21152"/>
                        <a:gd name="T3" fmla="*/ 0 h 21600"/>
                        <a:gd name="T4" fmla="*/ 0 w 21152"/>
                        <a:gd name="T5" fmla="*/ 0 h 21600"/>
                        <a:gd name="T6" fmla="*/ 0 60000 65536"/>
                        <a:gd name="T7" fmla="*/ 0 60000 65536"/>
                        <a:gd name="T8" fmla="*/ 0 60000 65536"/>
                        <a:gd name="T9" fmla="*/ 0 w 21152"/>
                        <a:gd name="T10" fmla="*/ 0 h 21600"/>
                        <a:gd name="T11" fmla="*/ 21152 w 21152"/>
                        <a:gd name="T12" fmla="*/ 21600 h 21600"/>
                      </a:gdLst>
                      <a:ahLst/>
                      <a:cxnLst>
                        <a:cxn ang="T6">
                          <a:pos x="T0" y="T1"/>
                        </a:cxn>
                        <a:cxn ang="T7">
                          <a:pos x="T2" y="T3"/>
                        </a:cxn>
                        <a:cxn ang="T8">
                          <a:pos x="T4" y="T5"/>
                        </a:cxn>
                      </a:cxnLst>
                      <a:rect l="T9" t="T10" r="T11" b="T12"/>
                      <a:pathLst>
                        <a:path w="21152" h="21600" fill="none" extrusionOk="0">
                          <a:moveTo>
                            <a:pt x="-1" y="0"/>
                          </a:moveTo>
                          <a:cubicBezTo>
                            <a:pt x="10242" y="0"/>
                            <a:pt x="19076" y="7193"/>
                            <a:pt x="21152" y="17223"/>
                          </a:cubicBezTo>
                        </a:path>
                        <a:path w="21152" h="21600" stroke="0" extrusionOk="0">
                          <a:moveTo>
                            <a:pt x="-1" y="0"/>
                          </a:moveTo>
                          <a:cubicBezTo>
                            <a:pt x="10242" y="0"/>
                            <a:pt x="19076" y="7193"/>
                            <a:pt x="21152" y="17223"/>
                          </a:cubicBezTo>
                          <a:lnTo>
                            <a:pt x="0" y="21600"/>
                          </a:lnTo>
                          <a:close/>
                        </a:path>
                      </a:pathLst>
                    </a:custGeom>
                    <a:noFill/>
                    <a:ln w="25400">
                      <a:solidFill>
                        <a:srgbClr val="0000FF"/>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73" name="Text Box 109"/>
                    <p:cNvSpPr txBox="1">
                      <a:spLocks noChangeArrowheads="1"/>
                    </p:cNvSpPr>
                    <p:nvPr/>
                  </p:nvSpPr>
                  <p:spPr bwMode="auto">
                    <a:xfrm>
                      <a:off x="4427" y="845"/>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b</a:t>
                      </a:r>
                    </a:p>
                  </p:txBody>
                </p:sp>
              </p:grpSp>
            </p:grpSp>
            <p:sp>
              <p:nvSpPr>
                <p:cNvPr id="172055" name="Text Box 63"/>
                <p:cNvSpPr txBox="1">
                  <a:spLocks noChangeArrowheads="1"/>
                </p:cNvSpPr>
                <p:nvPr/>
              </p:nvSpPr>
              <p:spPr bwMode="auto">
                <a:xfrm>
                  <a:off x="4244" y="164"/>
                  <a:ext cx="3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B</a:t>
                  </a:r>
                </a:p>
              </p:txBody>
            </p:sp>
            <p:sp>
              <p:nvSpPr>
                <p:cNvPr id="172056" name="Text Box 68"/>
                <p:cNvSpPr txBox="1">
                  <a:spLocks noChangeArrowheads="1"/>
                </p:cNvSpPr>
                <p:nvPr/>
              </p:nvSpPr>
              <p:spPr bwMode="auto">
                <a:xfrm>
                  <a:off x="5378" y="1570"/>
                  <a:ext cx="2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H</a:t>
                  </a:r>
                </a:p>
              </p:txBody>
            </p:sp>
          </p:grpSp>
          <p:grpSp>
            <p:nvGrpSpPr>
              <p:cNvPr id="172049" name="Group 113"/>
              <p:cNvGrpSpPr>
                <a:grpSpLocks/>
              </p:cNvGrpSpPr>
              <p:nvPr/>
            </p:nvGrpSpPr>
            <p:grpSpPr bwMode="auto">
              <a:xfrm>
                <a:off x="4106" y="406"/>
                <a:ext cx="1201" cy="1535"/>
                <a:chOff x="4106" y="406"/>
                <a:chExt cx="1201" cy="1535"/>
              </a:xfrm>
            </p:grpSpPr>
            <p:sp>
              <p:nvSpPr>
                <p:cNvPr id="172052" name="Line 69"/>
                <p:cNvSpPr>
                  <a:spLocks noChangeShapeType="1"/>
                </p:cNvSpPr>
                <p:nvPr/>
              </p:nvSpPr>
              <p:spPr bwMode="auto">
                <a:xfrm>
                  <a:off x="5148" y="572"/>
                  <a:ext cx="0" cy="1089"/>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53" name="Line 70"/>
                <p:cNvSpPr>
                  <a:spLocks noChangeShapeType="1"/>
                </p:cNvSpPr>
                <p:nvPr/>
              </p:nvSpPr>
              <p:spPr bwMode="auto">
                <a:xfrm flipH="1">
                  <a:off x="4468" y="572"/>
                  <a:ext cx="680" cy="0"/>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2040" name="Object 8"/>
                    <p:cNvSpPr txBox="1"/>
                    <p:nvPr/>
                  </p:nvSpPr>
                  <p:spPr bwMode="auto">
                    <a:xfrm>
                      <a:off x="4106" y="406"/>
                      <a:ext cx="220" cy="288"/>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a:rPr lang="zh-CN" altLang="en-US" sz="2400" i="1">
                                    <a:solidFill>
                                      <a:srgbClr val="000000"/>
                                    </a:solidFill>
                                    <a:latin typeface="Cambria Math" panose="02040503050406030204" pitchFamily="18" charset="0"/>
                                  </a:rPr>
                                  <m:t>𝑠</m:t>
                                </m:r>
                              </m:sub>
                            </m:sSub>
                          </m:oMath>
                        </m:oMathPara>
                      </a14:m>
                      <a:endParaRPr lang="zh-CN" altLang="en-US" sz="2400" dirty="0"/>
                    </a:p>
                  </p:txBody>
                </p:sp>
              </mc:Choice>
              <mc:Fallback xmlns="">
                <p:sp>
                  <p:nvSpPr>
                    <p:cNvPr id="172040" name="Object 8"/>
                    <p:cNvSpPr txBox="1">
                      <a:spLocks noRot="1" noChangeAspect="1" noMove="1" noResize="1" noEditPoints="1" noAdjustHandles="1" noChangeArrowheads="1" noChangeShapeType="1" noTextEdit="1"/>
                    </p:cNvSpPr>
                    <p:nvPr/>
                  </p:nvSpPr>
                  <p:spPr bwMode="auto">
                    <a:xfrm>
                      <a:off x="4106" y="406"/>
                      <a:ext cx="220" cy="288"/>
                    </a:xfrm>
                    <a:prstGeom prst="rect">
                      <a:avLst/>
                    </a:prstGeom>
                    <a:blipFill>
                      <a:blip r:embed="rId4"/>
                      <a:stretch>
                        <a:fillRect l="-5263" r="-245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41" name="Object 9"/>
                    <p:cNvSpPr txBox="1"/>
                    <p:nvPr/>
                  </p:nvSpPr>
                  <p:spPr bwMode="auto">
                    <a:xfrm>
                      <a:off x="5103" y="1706"/>
                      <a:ext cx="204" cy="23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𝑠</m:t>
                                </m:r>
                              </m:sub>
                            </m:sSub>
                          </m:oMath>
                        </m:oMathPara>
                      </a14:m>
                      <a:endParaRPr lang="zh-CN" altLang="en-US" sz="2400" dirty="0"/>
                    </a:p>
                  </p:txBody>
                </p:sp>
              </mc:Choice>
              <mc:Fallback xmlns="">
                <p:sp>
                  <p:nvSpPr>
                    <p:cNvPr id="172041" name="Object 9"/>
                    <p:cNvSpPr txBox="1">
                      <a:spLocks noRot="1" noChangeAspect="1" noMove="1" noResize="1" noEditPoints="1" noAdjustHandles="1" noChangeArrowheads="1" noChangeShapeType="1" noTextEdit="1"/>
                    </p:cNvSpPr>
                    <p:nvPr/>
                  </p:nvSpPr>
                  <p:spPr bwMode="auto">
                    <a:xfrm>
                      <a:off x="5103" y="1706"/>
                      <a:ext cx="204" cy="235"/>
                    </a:xfrm>
                    <a:prstGeom prst="rect">
                      <a:avLst/>
                    </a:prstGeom>
                    <a:blipFill>
                      <a:blip r:embed="rId5"/>
                      <a:stretch>
                        <a:fillRect l="-5660" r="-41509" b="-2096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72035" name="Object 3"/>
                  <p:cNvSpPr txBox="1"/>
                  <p:nvPr/>
                </p:nvSpPr>
                <p:spPr bwMode="auto">
                  <a:xfrm>
                    <a:off x="4830" y="1661"/>
                    <a:ext cx="197" cy="22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𝑐</m:t>
                              </m:r>
                            </m:sub>
                          </m:sSub>
                        </m:oMath>
                      </m:oMathPara>
                    </a14:m>
                    <a:endParaRPr lang="zh-CN" altLang="en-US" sz="2400" dirty="0"/>
                  </a:p>
                </p:txBody>
              </p:sp>
            </mc:Choice>
            <mc:Fallback xmlns="">
              <p:sp>
                <p:nvSpPr>
                  <p:cNvPr id="172035" name="Object 3"/>
                  <p:cNvSpPr txBox="1">
                    <a:spLocks noRot="1" noChangeAspect="1" noMove="1" noResize="1" noEditPoints="1" noAdjustHandles="1" noChangeArrowheads="1" noChangeShapeType="1" noTextEdit="1"/>
                  </p:cNvSpPr>
                  <p:nvPr/>
                </p:nvSpPr>
                <p:spPr bwMode="auto">
                  <a:xfrm>
                    <a:off x="4830" y="1661"/>
                    <a:ext cx="197" cy="227"/>
                  </a:xfrm>
                  <a:prstGeom prst="rect">
                    <a:avLst/>
                  </a:prstGeom>
                  <a:blipFill>
                    <a:blip r:embed="rId6"/>
                    <a:stretch>
                      <a:fillRect l="-5882" r="-49020" b="-27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36" name="Object 4"/>
                  <p:cNvSpPr txBox="1"/>
                  <p:nvPr/>
                </p:nvSpPr>
                <p:spPr bwMode="auto">
                  <a:xfrm>
                    <a:off x="4468" y="2478"/>
                    <a:ext cx="281" cy="226"/>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a:rPr lang="zh-CN" altLang="en-US" sz="2400" i="1">
                                  <a:solidFill>
                                    <a:srgbClr val="000000"/>
                                  </a:solidFill>
                                  <a:latin typeface="Cambria Math" panose="02040503050406030204" pitchFamily="18" charset="0"/>
                                </a:rPr>
                                <m:t>𝑟</m:t>
                              </m:r>
                            </m:sub>
                          </m:sSub>
                        </m:oMath>
                      </m:oMathPara>
                    </a14:m>
                    <a:endParaRPr lang="zh-CN" altLang="en-US" sz="2400"/>
                  </a:p>
                </p:txBody>
              </p:sp>
            </mc:Choice>
            <mc:Fallback xmlns="">
              <p:sp>
                <p:nvSpPr>
                  <p:cNvPr id="172036" name="Object 4"/>
                  <p:cNvSpPr txBox="1">
                    <a:spLocks noRot="1" noChangeAspect="1" noMove="1" noResize="1" noEditPoints="1" noAdjustHandles="1" noChangeArrowheads="1" noChangeShapeType="1" noTextEdit="1"/>
                  </p:cNvSpPr>
                  <p:nvPr/>
                </p:nvSpPr>
                <p:spPr bwMode="auto">
                  <a:xfrm>
                    <a:off x="4468" y="2478"/>
                    <a:ext cx="281" cy="226"/>
                  </a:xfrm>
                  <a:prstGeom prst="rect">
                    <a:avLst/>
                  </a:prstGeom>
                  <a:blipFill>
                    <a:blip r:embed="rId7"/>
                    <a:stretch>
                      <a:fillRect r="-52055" b="-27119"/>
                    </a:stretch>
                  </a:blipFill>
                </p:spPr>
                <p:txBody>
                  <a:bodyPr/>
                  <a:lstStyle/>
                  <a:p>
                    <a:r>
                      <a:rPr lang="zh-CN" altLang="en-US">
                        <a:noFill/>
                      </a:rPr>
                      <a:t> </a:t>
                    </a:r>
                  </a:p>
                </p:txBody>
              </p:sp>
            </mc:Fallback>
          </mc:AlternateContent>
          <p:sp>
            <p:nvSpPr>
              <p:cNvPr id="172050" name="Line 89"/>
              <p:cNvSpPr>
                <a:spLocks noChangeShapeType="1"/>
              </p:cNvSpPr>
              <p:nvPr/>
            </p:nvSpPr>
            <p:spPr bwMode="auto">
              <a:xfrm>
                <a:off x="3833" y="2750"/>
                <a:ext cx="635" cy="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51" name="Line 90"/>
              <p:cNvSpPr>
                <a:spLocks noChangeShapeType="1"/>
              </p:cNvSpPr>
              <p:nvPr/>
            </p:nvSpPr>
            <p:spPr bwMode="auto">
              <a:xfrm>
                <a:off x="3833" y="1661"/>
                <a:ext cx="0" cy="1134"/>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2037" name="Object 5"/>
                  <p:cNvSpPr txBox="1"/>
                  <p:nvPr/>
                </p:nvSpPr>
                <p:spPr bwMode="auto">
                  <a:xfrm>
                    <a:off x="3515" y="1661"/>
                    <a:ext cx="312" cy="23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𝑠</m:t>
                              </m:r>
                            </m:sub>
                          </m:sSub>
                        </m:oMath>
                      </m:oMathPara>
                    </a14:m>
                    <a:endParaRPr lang="zh-CN" altLang="en-US" sz="2400" dirty="0"/>
                  </a:p>
                </p:txBody>
              </p:sp>
            </mc:Choice>
            <mc:Fallback xmlns="">
              <p:sp>
                <p:nvSpPr>
                  <p:cNvPr id="172037" name="Object 5"/>
                  <p:cNvSpPr txBox="1">
                    <a:spLocks noRot="1" noChangeAspect="1" noMove="1" noResize="1" noEditPoints="1" noAdjustHandles="1" noChangeArrowheads="1" noChangeShapeType="1" noTextEdit="1"/>
                  </p:cNvSpPr>
                  <p:nvPr/>
                </p:nvSpPr>
                <p:spPr bwMode="auto">
                  <a:xfrm>
                    <a:off x="3515" y="1661"/>
                    <a:ext cx="312" cy="235"/>
                  </a:xfrm>
                  <a:prstGeom prst="rect">
                    <a:avLst/>
                  </a:prstGeom>
                  <a:blipFill>
                    <a:blip r:embed="rId8"/>
                    <a:stretch>
                      <a:fillRect r="-39506" b="-229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38" name="Object 6"/>
                  <p:cNvSpPr txBox="1"/>
                  <p:nvPr/>
                </p:nvSpPr>
                <p:spPr bwMode="auto">
                  <a:xfrm>
                    <a:off x="3923" y="1661"/>
                    <a:ext cx="301" cy="22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𝑐</m:t>
                              </m:r>
                            </m:sub>
                          </m:sSub>
                        </m:oMath>
                      </m:oMathPara>
                    </a14:m>
                    <a:endParaRPr lang="zh-CN" altLang="en-US" sz="2400"/>
                  </a:p>
                </p:txBody>
              </p:sp>
            </mc:Choice>
            <mc:Fallback xmlns="">
              <p:sp>
                <p:nvSpPr>
                  <p:cNvPr id="172038" name="Object 6"/>
                  <p:cNvSpPr txBox="1">
                    <a:spLocks noRot="1" noChangeAspect="1" noMove="1" noResize="1" noEditPoints="1" noAdjustHandles="1" noChangeArrowheads="1" noChangeShapeType="1" noTextEdit="1"/>
                  </p:cNvSpPr>
                  <p:nvPr/>
                </p:nvSpPr>
                <p:spPr bwMode="auto">
                  <a:xfrm>
                    <a:off x="3923" y="1661"/>
                    <a:ext cx="301" cy="227"/>
                  </a:xfrm>
                  <a:prstGeom prst="rect">
                    <a:avLst/>
                  </a:prstGeom>
                  <a:blipFill>
                    <a:blip r:embed="rId9"/>
                    <a:stretch>
                      <a:fillRect r="-44304" b="-27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39" name="Object 7"/>
                  <p:cNvSpPr txBox="1"/>
                  <p:nvPr/>
                </p:nvSpPr>
                <p:spPr bwMode="auto">
                  <a:xfrm>
                    <a:off x="4513" y="2704"/>
                    <a:ext cx="272" cy="23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a:rPr lang="zh-CN" altLang="en-US" sz="2400" i="1">
                                  <a:solidFill>
                                    <a:srgbClr val="000000"/>
                                  </a:solidFill>
                                  <a:latin typeface="Cambria Math" panose="02040503050406030204" pitchFamily="18" charset="0"/>
                                </a:rPr>
                                <m:t>𝑠</m:t>
                              </m:r>
                            </m:sub>
                          </m:sSub>
                        </m:oMath>
                      </m:oMathPara>
                    </a14:m>
                    <a:endParaRPr lang="zh-CN" altLang="en-US" sz="2400"/>
                  </a:p>
                </p:txBody>
              </p:sp>
            </mc:Choice>
            <mc:Fallback xmlns="">
              <p:sp>
                <p:nvSpPr>
                  <p:cNvPr id="172039" name="Object 7"/>
                  <p:cNvSpPr txBox="1">
                    <a:spLocks noRot="1" noChangeAspect="1" noMove="1" noResize="1" noEditPoints="1" noAdjustHandles="1" noChangeArrowheads="1" noChangeShapeType="1" noTextEdit="1"/>
                  </p:cNvSpPr>
                  <p:nvPr/>
                </p:nvSpPr>
                <p:spPr bwMode="auto">
                  <a:xfrm>
                    <a:off x="4513" y="2704"/>
                    <a:ext cx="272" cy="232"/>
                  </a:xfrm>
                  <a:prstGeom prst="rect">
                    <a:avLst/>
                  </a:prstGeom>
                  <a:blipFill>
                    <a:blip r:embed="rId10"/>
                    <a:stretch>
                      <a:fillRect r="-52113" b="-22951"/>
                    </a:stretch>
                  </a:blipFill>
                </p:spPr>
                <p:txBody>
                  <a:bodyPr/>
                  <a:lstStyle/>
                  <a:p>
                    <a:r>
                      <a:rPr lang="zh-CN" altLang="en-US">
                        <a:noFill/>
                      </a:rPr>
                      <a:t> </a:t>
                    </a:r>
                  </a:p>
                </p:txBody>
              </p:sp>
            </mc:Fallback>
          </mc:AlternateContent>
        </p:grpSp>
      </p:grpSp>
      <p:sp>
        <p:nvSpPr>
          <p:cNvPr id="43" name="标题 7">
            <a:extLst>
              <a:ext uri="{FF2B5EF4-FFF2-40B4-BE49-F238E27FC236}">
                <a16:creationId xmlns:a16="http://schemas.microsoft.com/office/drawing/2014/main" id="{DFC63D24-5E7A-476F-BC87-B2296B213BDB}"/>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磁滞回线</a:t>
            </a:r>
          </a:p>
        </p:txBody>
      </p:sp>
    </p:spTree>
    <p:extLst>
      <p:ext uri="{BB962C8B-B14F-4D97-AF65-F5344CB8AC3E}">
        <p14:creationId xmlns:p14="http://schemas.microsoft.com/office/powerpoint/2010/main" val="20062038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154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154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154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42" grpId="0" uiExpand="1" build="p" autoUpdateAnimBg="0"/>
      <p:bldP spid="661543"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5"/>
          <p:cNvGrpSpPr>
            <a:grpSpLocks/>
          </p:cNvGrpSpPr>
          <p:nvPr/>
        </p:nvGrpSpPr>
        <p:grpSpPr bwMode="auto">
          <a:xfrm>
            <a:off x="1457325" y="1132346"/>
            <a:ext cx="3348038" cy="4400550"/>
            <a:chOff x="3515" y="164"/>
            <a:chExt cx="2109" cy="2772"/>
          </a:xfrm>
        </p:grpSpPr>
        <mc:AlternateContent xmlns:mc="http://schemas.openxmlformats.org/markup-compatibility/2006" xmlns:a14="http://schemas.microsoft.com/office/drawing/2010/main">
          <mc:Choice Requires="a14">
            <p:sp>
              <p:nvSpPr>
                <p:cNvPr id="172034" name="Object 2"/>
                <p:cNvSpPr txBox="1"/>
                <p:nvPr/>
              </p:nvSpPr>
              <p:spPr bwMode="auto">
                <a:xfrm>
                  <a:off x="4125" y="702"/>
                  <a:ext cx="220" cy="27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a:rPr lang="zh-CN" altLang="en-US" sz="2400" i="1">
                                <a:solidFill>
                                  <a:srgbClr val="000000"/>
                                </a:solidFill>
                                <a:latin typeface="Cambria Math" panose="02040503050406030204" pitchFamily="18" charset="0"/>
                              </a:rPr>
                              <m:t>𝑟</m:t>
                            </m:r>
                          </m:sub>
                        </m:sSub>
                      </m:oMath>
                    </m:oMathPara>
                  </a14:m>
                  <a:endParaRPr lang="zh-CN" altLang="en-US" sz="2400" dirty="0"/>
                </a:p>
              </p:txBody>
            </p:sp>
          </mc:Choice>
          <mc:Fallback xmlns="">
            <p:sp>
              <p:nvSpPr>
                <p:cNvPr id="172034" name="Object 2"/>
                <p:cNvSpPr txBox="1">
                  <a:spLocks noRot="1" noChangeAspect="1" noMove="1" noResize="1" noEditPoints="1" noAdjustHandles="1" noChangeArrowheads="1" noChangeShapeType="1" noTextEdit="1"/>
                </p:cNvSpPr>
                <p:nvPr/>
              </p:nvSpPr>
              <p:spPr bwMode="auto">
                <a:xfrm>
                  <a:off x="4125" y="702"/>
                  <a:ext cx="220" cy="272"/>
                </a:xfrm>
                <a:prstGeom prst="rect">
                  <a:avLst/>
                </a:prstGeom>
                <a:blipFill>
                  <a:blip r:embed="rId2"/>
                  <a:stretch>
                    <a:fillRect l="-5263" r="-28070" b="-5634"/>
                  </a:stretch>
                </a:blipFill>
              </p:spPr>
              <p:txBody>
                <a:bodyPr/>
                <a:lstStyle/>
                <a:p>
                  <a:r>
                    <a:rPr lang="zh-CN" altLang="en-US">
                      <a:noFill/>
                    </a:rPr>
                    <a:t> </a:t>
                  </a:r>
                </a:p>
              </p:txBody>
            </p:sp>
          </mc:Fallback>
        </mc:AlternateContent>
        <p:grpSp>
          <p:nvGrpSpPr>
            <p:cNvPr id="172047" name="Group 114"/>
            <p:cNvGrpSpPr>
              <a:grpSpLocks/>
            </p:cNvGrpSpPr>
            <p:nvPr/>
          </p:nvGrpSpPr>
          <p:grpSpPr bwMode="auto">
            <a:xfrm>
              <a:off x="3515" y="164"/>
              <a:ext cx="2109" cy="2772"/>
              <a:chOff x="3515" y="164"/>
              <a:chExt cx="2109" cy="2772"/>
            </a:xfrm>
          </p:grpSpPr>
          <p:grpSp>
            <p:nvGrpSpPr>
              <p:cNvPr id="172048" name="Group 112"/>
              <p:cNvGrpSpPr>
                <a:grpSpLocks/>
              </p:cNvGrpSpPr>
              <p:nvPr/>
            </p:nvGrpSpPr>
            <p:grpSpPr bwMode="auto">
              <a:xfrm>
                <a:off x="3633" y="164"/>
                <a:ext cx="1991" cy="2767"/>
                <a:chOff x="3651" y="164"/>
                <a:chExt cx="1991" cy="2767"/>
              </a:xfrm>
            </p:grpSpPr>
            <p:grpSp>
              <p:nvGrpSpPr>
                <p:cNvPr id="172054" name="Group 111"/>
                <p:cNvGrpSpPr>
                  <a:grpSpLocks/>
                </p:cNvGrpSpPr>
                <p:nvPr/>
              </p:nvGrpSpPr>
              <p:grpSpPr bwMode="auto">
                <a:xfrm>
                  <a:off x="3651" y="164"/>
                  <a:ext cx="1991" cy="2767"/>
                  <a:chOff x="3651" y="164"/>
                  <a:chExt cx="1991" cy="2767"/>
                </a:xfrm>
              </p:grpSpPr>
              <p:sp>
                <p:nvSpPr>
                  <p:cNvPr id="172057" name="Line 56"/>
                  <p:cNvSpPr>
                    <a:spLocks noChangeShapeType="1"/>
                  </p:cNvSpPr>
                  <p:nvPr/>
                </p:nvSpPr>
                <p:spPr bwMode="auto">
                  <a:xfrm rot="5400000" flipV="1">
                    <a:off x="4572" y="776"/>
                    <a:ext cx="0" cy="1752"/>
                  </a:xfrm>
                  <a:prstGeom prst="line">
                    <a:avLst/>
                  </a:prstGeom>
                  <a:noFill/>
                  <a:ln w="12700">
                    <a:solidFill>
                      <a:srgbClr val="00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58" name="Line 57"/>
                  <p:cNvSpPr>
                    <a:spLocks noChangeShapeType="1"/>
                  </p:cNvSpPr>
                  <p:nvPr/>
                </p:nvSpPr>
                <p:spPr bwMode="auto">
                  <a:xfrm flipV="1">
                    <a:off x="4468" y="300"/>
                    <a:ext cx="3" cy="2631"/>
                  </a:xfrm>
                  <a:prstGeom prst="line">
                    <a:avLst/>
                  </a:prstGeom>
                  <a:noFill/>
                  <a:ln w="127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59" name="Text Box 95"/>
                  <p:cNvSpPr txBox="1">
                    <a:spLocks noChangeArrowheads="1"/>
                  </p:cNvSpPr>
                  <p:nvPr/>
                </p:nvSpPr>
                <p:spPr bwMode="auto">
                  <a:xfrm>
                    <a:off x="4244" y="164"/>
                    <a:ext cx="3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B</a:t>
                    </a:r>
                  </a:p>
                </p:txBody>
              </p:sp>
              <p:sp>
                <p:nvSpPr>
                  <p:cNvPr id="172060" name="Text Box 96"/>
                  <p:cNvSpPr txBox="1">
                    <a:spLocks noChangeArrowheads="1"/>
                  </p:cNvSpPr>
                  <p:nvPr/>
                </p:nvSpPr>
                <p:spPr bwMode="auto">
                  <a:xfrm>
                    <a:off x="5378" y="1570"/>
                    <a:ext cx="2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H</a:t>
                    </a:r>
                  </a:p>
                </p:txBody>
              </p:sp>
              <p:grpSp>
                <p:nvGrpSpPr>
                  <p:cNvPr id="172061" name="Group 97"/>
                  <p:cNvGrpSpPr>
                    <a:grpSpLocks/>
                  </p:cNvGrpSpPr>
                  <p:nvPr/>
                </p:nvGrpSpPr>
                <p:grpSpPr bwMode="auto">
                  <a:xfrm>
                    <a:off x="3651" y="391"/>
                    <a:ext cx="1761" cy="2511"/>
                    <a:chOff x="3651" y="391"/>
                    <a:chExt cx="1761" cy="2511"/>
                  </a:xfrm>
                </p:grpSpPr>
                <p:sp>
                  <p:nvSpPr>
                    <p:cNvPr id="172062" name="Text Box 98"/>
                    <p:cNvSpPr txBox="1">
                      <a:spLocks noChangeArrowheads="1"/>
                    </p:cNvSpPr>
                    <p:nvPr/>
                  </p:nvSpPr>
                  <p:spPr bwMode="auto">
                    <a:xfrm>
                      <a:off x="4241" y="2341"/>
                      <a:ext cx="2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e</a:t>
                      </a:r>
                    </a:p>
                  </p:txBody>
                </p:sp>
                <p:sp>
                  <p:nvSpPr>
                    <p:cNvPr id="172063" name="Text Box 99"/>
                    <p:cNvSpPr txBox="1">
                      <a:spLocks noChangeArrowheads="1"/>
                    </p:cNvSpPr>
                    <p:nvPr/>
                  </p:nvSpPr>
                  <p:spPr bwMode="auto">
                    <a:xfrm>
                      <a:off x="3651" y="2614"/>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d</a:t>
                      </a:r>
                    </a:p>
                  </p:txBody>
                </p:sp>
                <p:sp>
                  <p:nvSpPr>
                    <p:cNvPr id="172064" name="Text Box 100"/>
                    <p:cNvSpPr txBox="1">
                      <a:spLocks noChangeArrowheads="1"/>
                    </p:cNvSpPr>
                    <p:nvPr/>
                  </p:nvSpPr>
                  <p:spPr bwMode="auto">
                    <a:xfrm>
                      <a:off x="3923" y="1389"/>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c</a:t>
                      </a:r>
                    </a:p>
                  </p:txBody>
                </p:sp>
                <p:sp>
                  <p:nvSpPr>
                    <p:cNvPr id="172065" name="Text Box 101"/>
                    <p:cNvSpPr txBox="1">
                      <a:spLocks noChangeArrowheads="1"/>
                    </p:cNvSpPr>
                    <p:nvPr/>
                  </p:nvSpPr>
                  <p:spPr bwMode="auto">
                    <a:xfrm>
                      <a:off x="4294" y="1570"/>
                      <a:ext cx="2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O</a:t>
                      </a:r>
                    </a:p>
                  </p:txBody>
                </p:sp>
                <p:sp>
                  <p:nvSpPr>
                    <p:cNvPr id="172066" name="Text Box 102"/>
                    <p:cNvSpPr txBox="1">
                      <a:spLocks noChangeArrowheads="1"/>
                    </p:cNvSpPr>
                    <p:nvPr/>
                  </p:nvSpPr>
                  <p:spPr bwMode="auto">
                    <a:xfrm>
                      <a:off x="5148" y="391"/>
                      <a:ext cx="2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a</a:t>
                      </a:r>
                    </a:p>
                  </p:txBody>
                </p:sp>
                <p:sp>
                  <p:nvSpPr>
                    <p:cNvPr id="172067" name="Text Box 103"/>
                    <p:cNvSpPr txBox="1">
                      <a:spLocks noChangeArrowheads="1"/>
                    </p:cNvSpPr>
                    <p:nvPr/>
                  </p:nvSpPr>
                  <p:spPr bwMode="auto">
                    <a:xfrm>
                      <a:off x="4785" y="1434"/>
                      <a:ext cx="2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f</a:t>
                      </a:r>
                    </a:p>
                  </p:txBody>
                </p:sp>
                <p:sp>
                  <p:nvSpPr>
                    <p:cNvPr id="172068" name="Freeform 104"/>
                    <p:cNvSpPr>
                      <a:spLocks/>
                    </p:cNvSpPr>
                    <p:nvPr/>
                  </p:nvSpPr>
                  <p:spPr bwMode="auto">
                    <a:xfrm>
                      <a:off x="3881" y="1616"/>
                      <a:ext cx="952" cy="1134"/>
                    </a:xfrm>
                    <a:custGeom>
                      <a:avLst/>
                      <a:gdLst>
                        <a:gd name="T0" fmla="*/ 3004 w 886"/>
                        <a:gd name="T1" fmla="*/ 0 h 814"/>
                        <a:gd name="T2" fmla="*/ 2838 w 886"/>
                        <a:gd name="T3" fmla="*/ 98240 h 814"/>
                        <a:gd name="T4" fmla="*/ 2494 w 886"/>
                        <a:gd name="T5" fmla="*/ 163261 h 814"/>
                        <a:gd name="T6" fmla="*/ 1630 w 886"/>
                        <a:gd name="T7" fmla="*/ 204733 h 814"/>
                        <a:gd name="T8" fmla="*/ 711 w 886"/>
                        <a:gd name="T9" fmla="*/ 222088 h 814"/>
                        <a:gd name="T10" fmla="*/ 0 w 886"/>
                        <a:gd name="T11" fmla="*/ 228256 h 814"/>
                        <a:gd name="T12" fmla="*/ 0 60000 65536"/>
                        <a:gd name="T13" fmla="*/ 0 60000 65536"/>
                        <a:gd name="T14" fmla="*/ 0 60000 65536"/>
                        <a:gd name="T15" fmla="*/ 0 60000 65536"/>
                        <a:gd name="T16" fmla="*/ 0 60000 65536"/>
                        <a:gd name="T17" fmla="*/ 0 60000 65536"/>
                        <a:gd name="T18" fmla="*/ 0 w 886"/>
                        <a:gd name="T19" fmla="*/ 0 h 814"/>
                        <a:gd name="T20" fmla="*/ 886 w 886"/>
                        <a:gd name="T21" fmla="*/ 814 h 814"/>
                      </a:gdLst>
                      <a:ahLst/>
                      <a:cxnLst>
                        <a:cxn ang="T12">
                          <a:pos x="T0" y="T1"/>
                        </a:cxn>
                        <a:cxn ang="T13">
                          <a:pos x="T2" y="T3"/>
                        </a:cxn>
                        <a:cxn ang="T14">
                          <a:pos x="T4" y="T5"/>
                        </a:cxn>
                        <a:cxn ang="T15">
                          <a:pos x="T6" y="T7"/>
                        </a:cxn>
                        <a:cxn ang="T16">
                          <a:pos x="T8" y="T9"/>
                        </a:cxn>
                        <a:cxn ang="T17">
                          <a:pos x="T10" y="T11"/>
                        </a:cxn>
                      </a:cxnLst>
                      <a:rect l="T18" t="T19" r="T20" b="T21"/>
                      <a:pathLst>
                        <a:path w="886" h="814">
                          <a:moveTo>
                            <a:pt x="886" y="0"/>
                          </a:moveTo>
                          <a:cubicBezTo>
                            <a:pt x="876" y="58"/>
                            <a:pt x="862" y="253"/>
                            <a:pt x="837" y="350"/>
                          </a:cubicBezTo>
                          <a:cubicBezTo>
                            <a:pt x="812" y="447"/>
                            <a:pt x="795" y="519"/>
                            <a:pt x="735" y="582"/>
                          </a:cubicBezTo>
                          <a:cubicBezTo>
                            <a:pt x="675" y="644"/>
                            <a:pt x="568" y="695"/>
                            <a:pt x="481" y="730"/>
                          </a:cubicBezTo>
                          <a:cubicBezTo>
                            <a:pt x="394" y="764"/>
                            <a:pt x="289" y="778"/>
                            <a:pt x="209" y="792"/>
                          </a:cubicBezTo>
                          <a:cubicBezTo>
                            <a:pt x="129" y="806"/>
                            <a:pt x="44" y="810"/>
                            <a:pt x="0" y="814"/>
                          </a:cubicBezTo>
                        </a:path>
                      </a:pathLst>
                    </a:custGeom>
                    <a:noFill/>
                    <a:ln w="19050">
                      <a:solidFill>
                        <a:srgbClr val="3366FF"/>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69" name="Freeform 105"/>
                    <p:cNvSpPr>
                      <a:spLocks/>
                    </p:cNvSpPr>
                    <p:nvPr/>
                  </p:nvSpPr>
                  <p:spPr bwMode="auto">
                    <a:xfrm>
                      <a:off x="3836" y="1661"/>
                      <a:ext cx="304" cy="1090"/>
                    </a:xfrm>
                    <a:custGeom>
                      <a:avLst/>
                      <a:gdLst>
                        <a:gd name="T0" fmla="*/ 53583 w 219"/>
                        <a:gd name="T1" fmla="*/ 0 h 811"/>
                        <a:gd name="T2" fmla="*/ 53583 w 219"/>
                        <a:gd name="T3" fmla="*/ 53289 h 811"/>
                        <a:gd name="T4" fmla="*/ 48922 w 219"/>
                        <a:gd name="T5" fmla="*/ 95826 h 811"/>
                        <a:gd name="T6" fmla="*/ 0 w 219"/>
                        <a:gd name="T7" fmla="*/ 123545 h 811"/>
                        <a:gd name="T8" fmla="*/ 0 60000 65536"/>
                        <a:gd name="T9" fmla="*/ 0 60000 65536"/>
                        <a:gd name="T10" fmla="*/ 0 60000 65536"/>
                        <a:gd name="T11" fmla="*/ 0 60000 65536"/>
                        <a:gd name="T12" fmla="*/ 0 w 219"/>
                        <a:gd name="T13" fmla="*/ 0 h 811"/>
                        <a:gd name="T14" fmla="*/ 219 w 219"/>
                        <a:gd name="T15" fmla="*/ 811 h 811"/>
                      </a:gdLst>
                      <a:ahLst/>
                      <a:cxnLst>
                        <a:cxn ang="T8">
                          <a:pos x="T0" y="T1"/>
                        </a:cxn>
                        <a:cxn ang="T9">
                          <a:pos x="T2" y="T3"/>
                        </a:cxn>
                        <a:cxn ang="T10">
                          <a:pos x="T4" y="T5"/>
                        </a:cxn>
                        <a:cxn ang="T11">
                          <a:pos x="T6" y="T7"/>
                        </a:cxn>
                      </a:cxnLst>
                      <a:rect l="T12" t="T13" r="T14" b="T15"/>
                      <a:pathLst>
                        <a:path w="219" h="811">
                          <a:moveTo>
                            <a:pt x="203" y="0"/>
                          </a:moveTo>
                          <a:cubicBezTo>
                            <a:pt x="204" y="124"/>
                            <a:pt x="206" y="245"/>
                            <a:pt x="203" y="350"/>
                          </a:cubicBezTo>
                          <a:cubicBezTo>
                            <a:pt x="200" y="455"/>
                            <a:pt x="219" y="552"/>
                            <a:pt x="185" y="629"/>
                          </a:cubicBezTo>
                          <a:cubicBezTo>
                            <a:pt x="151" y="706"/>
                            <a:pt x="39" y="773"/>
                            <a:pt x="0" y="811"/>
                          </a:cubicBezTo>
                        </a:path>
                      </a:pathLst>
                    </a:custGeom>
                    <a:noFill/>
                    <a:ln w="25400">
                      <a:solidFill>
                        <a:srgbClr val="339966"/>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70" name="Freeform 106"/>
                    <p:cNvSpPr>
                      <a:spLocks/>
                    </p:cNvSpPr>
                    <p:nvPr/>
                  </p:nvSpPr>
                  <p:spPr bwMode="auto">
                    <a:xfrm>
                      <a:off x="4471" y="572"/>
                      <a:ext cx="635" cy="1066"/>
                    </a:xfrm>
                    <a:custGeom>
                      <a:avLst/>
                      <a:gdLst>
                        <a:gd name="T0" fmla="*/ 0 w 267"/>
                        <a:gd name="T1" fmla="*/ 137120828 h 511"/>
                        <a:gd name="T2" fmla="*/ 110187509 w 267"/>
                        <a:gd name="T3" fmla="*/ 119402419 h 511"/>
                        <a:gd name="T4" fmla="*/ 194698921 w 267"/>
                        <a:gd name="T5" fmla="*/ 77563627 h 511"/>
                        <a:gd name="T6" fmla="*/ 310948142 w 267"/>
                        <a:gd name="T7" fmla="*/ 37537260 h 511"/>
                        <a:gd name="T8" fmla="*/ 470452839 w 267"/>
                        <a:gd name="T9" fmla="*/ 15046747 h 511"/>
                        <a:gd name="T10" fmla="*/ 665059749 w 267"/>
                        <a:gd name="T11" fmla="*/ 0 h 511"/>
                        <a:gd name="T12" fmla="*/ 0 60000 65536"/>
                        <a:gd name="T13" fmla="*/ 0 60000 65536"/>
                        <a:gd name="T14" fmla="*/ 0 60000 65536"/>
                        <a:gd name="T15" fmla="*/ 0 60000 65536"/>
                        <a:gd name="T16" fmla="*/ 0 60000 65536"/>
                        <a:gd name="T17" fmla="*/ 0 60000 65536"/>
                        <a:gd name="T18" fmla="*/ 0 w 267"/>
                        <a:gd name="T19" fmla="*/ 0 h 511"/>
                        <a:gd name="T20" fmla="*/ 267 w 267"/>
                        <a:gd name="T21" fmla="*/ 511 h 511"/>
                      </a:gdLst>
                      <a:ahLst/>
                      <a:cxnLst>
                        <a:cxn ang="T12">
                          <a:pos x="T0" y="T1"/>
                        </a:cxn>
                        <a:cxn ang="T13">
                          <a:pos x="T2" y="T3"/>
                        </a:cxn>
                        <a:cxn ang="T14">
                          <a:pos x="T4" y="T5"/>
                        </a:cxn>
                        <a:cxn ang="T15">
                          <a:pos x="T6" y="T7"/>
                        </a:cxn>
                        <a:cxn ang="T16">
                          <a:pos x="T8" y="T9"/>
                        </a:cxn>
                        <a:cxn ang="T17">
                          <a:pos x="T10" y="T11"/>
                        </a:cxn>
                      </a:cxnLst>
                      <a:rect l="T18" t="T19" r="T20" b="T21"/>
                      <a:pathLst>
                        <a:path w="267" h="511">
                          <a:moveTo>
                            <a:pt x="0" y="511"/>
                          </a:moveTo>
                          <a:cubicBezTo>
                            <a:pt x="15" y="496"/>
                            <a:pt x="31" y="482"/>
                            <a:pt x="44" y="445"/>
                          </a:cubicBezTo>
                          <a:cubicBezTo>
                            <a:pt x="57" y="408"/>
                            <a:pt x="65" y="340"/>
                            <a:pt x="78" y="289"/>
                          </a:cubicBezTo>
                          <a:cubicBezTo>
                            <a:pt x="91" y="238"/>
                            <a:pt x="106" y="179"/>
                            <a:pt x="125" y="140"/>
                          </a:cubicBezTo>
                          <a:cubicBezTo>
                            <a:pt x="144" y="101"/>
                            <a:pt x="165" y="79"/>
                            <a:pt x="189" y="56"/>
                          </a:cubicBezTo>
                          <a:cubicBezTo>
                            <a:pt x="213" y="33"/>
                            <a:pt x="242" y="19"/>
                            <a:pt x="267" y="0"/>
                          </a:cubicBezTo>
                        </a:path>
                      </a:pathLst>
                    </a:custGeom>
                    <a:noFill/>
                    <a:ln w="22225">
                      <a:solidFill>
                        <a:srgbClr val="993366"/>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71" name="Freeform 107"/>
                    <p:cNvSpPr>
                      <a:spLocks/>
                    </p:cNvSpPr>
                    <p:nvPr/>
                  </p:nvSpPr>
                  <p:spPr bwMode="auto">
                    <a:xfrm>
                      <a:off x="4833" y="572"/>
                      <a:ext cx="318" cy="1089"/>
                    </a:xfrm>
                    <a:custGeom>
                      <a:avLst/>
                      <a:gdLst>
                        <a:gd name="T0" fmla="*/ 0 w 318"/>
                        <a:gd name="T1" fmla="*/ 1089 h 1089"/>
                        <a:gd name="T2" fmla="*/ 46 w 318"/>
                        <a:gd name="T3" fmla="*/ 772 h 1089"/>
                        <a:gd name="T4" fmla="*/ 91 w 318"/>
                        <a:gd name="T5" fmla="*/ 499 h 1089"/>
                        <a:gd name="T6" fmla="*/ 137 w 318"/>
                        <a:gd name="T7" fmla="*/ 318 h 1089"/>
                        <a:gd name="T8" fmla="*/ 227 w 318"/>
                        <a:gd name="T9" fmla="*/ 137 h 1089"/>
                        <a:gd name="T10" fmla="*/ 318 w 318"/>
                        <a:gd name="T11" fmla="*/ 0 h 1089"/>
                        <a:gd name="T12" fmla="*/ 0 60000 65536"/>
                        <a:gd name="T13" fmla="*/ 0 60000 65536"/>
                        <a:gd name="T14" fmla="*/ 0 60000 65536"/>
                        <a:gd name="T15" fmla="*/ 0 60000 65536"/>
                        <a:gd name="T16" fmla="*/ 0 60000 65536"/>
                        <a:gd name="T17" fmla="*/ 0 60000 65536"/>
                        <a:gd name="T18" fmla="*/ 0 w 318"/>
                        <a:gd name="T19" fmla="*/ 0 h 1089"/>
                        <a:gd name="T20" fmla="*/ 318 w 318"/>
                        <a:gd name="T21" fmla="*/ 1089 h 1089"/>
                      </a:gdLst>
                      <a:ahLst/>
                      <a:cxnLst>
                        <a:cxn ang="T12">
                          <a:pos x="T0" y="T1"/>
                        </a:cxn>
                        <a:cxn ang="T13">
                          <a:pos x="T2" y="T3"/>
                        </a:cxn>
                        <a:cxn ang="T14">
                          <a:pos x="T4" y="T5"/>
                        </a:cxn>
                        <a:cxn ang="T15">
                          <a:pos x="T6" y="T7"/>
                        </a:cxn>
                        <a:cxn ang="T16">
                          <a:pos x="T8" y="T9"/>
                        </a:cxn>
                        <a:cxn ang="T17">
                          <a:pos x="T10" y="T11"/>
                        </a:cxn>
                      </a:cxnLst>
                      <a:rect l="T18" t="T19" r="T20" b="T21"/>
                      <a:pathLst>
                        <a:path w="318" h="1089">
                          <a:moveTo>
                            <a:pt x="0" y="1089"/>
                          </a:moveTo>
                          <a:cubicBezTo>
                            <a:pt x="15" y="979"/>
                            <a:pt x="31" y="870"/>
                            <a:pt x="46" y="772"/>
                          </a:cubicBezTo>
                          <a:cubicBezTo>
                            <a:pt x="61" y="674"/>
                            <a:pt x="76" y="575"/>
                            <a:pt x="91" y="499"/>
                          </a:cubicBezTo>
                          <a:cubicBezTo>
                            <a:pt x="106" y="423"/>
                            <a:pt x="114" y="378"/>
                            <a:pt x="137" y="318"/>
                          </a:cubicBezTo>
                          <a:cubicBezTo>
                            <a:pt x="160" y="258"/>
                            <a:pt x="197" y="190"/>
                            <a:pt x="227" y="137"/>
                          </a:cubicBezTo>
                          <a:cubicBezTo>
                            <a:pt x="257" y="84"/>
                            <a:pt x="287" y="42"/>
                            <a:pt x="318" y="0"/>
                          </a:cubicBezTo>
                        </a:path>
                      </a:pathLst>
                    </a:custGeom>
                    <a:noFill/>
                    <a:ln w="25400">
                      <a:solidFill>
                        <a:srgbClr val="FF9900"/>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72" name="Arc 108"/>
                    <p:cNvSpPr>
                      <a:spLocks/>
                    </p:cNvSpPr>
                    <p:nvPr/>
                  </p:nvSpPr>
                  <p:spPr bwMode="auto">
                    <a:xfrm rot="-4505504">
                      <a:off x="4090" y="644"/>
                      <a:ext cx="1337" cy="976"/>
                    </a:xfrm>
                    <a:custGeom>
                      <a:avLst/>
                      <a:gdLst>
                        <a:gd name="T0" fmla="*/ 0 w 21152"/>
                        <a:gd name="T1" fmla="*/ 0 h 21600"/>
                        <a:gd name="T2" fmla="*/ 0 w 21152"/>
                        <a:gd name="T3" fmla="*/ 0 h 21600"/>
                        <a:gd name="T4" fmla="*/ 0 w 21152"/>
                        <a:gd name="T5" fmla="*/ 0 h 21600"/>
                        <a:gd name="T6" fmla="*/ 0 60000 65536"/>
                        <a:gd name="T7" fmla="*/ 0 60000 65536"/>
                        <a:gd name="T8" fmla="*/ 0 60000 65536"/>
                        <a:gd name="T9" fmla="*/ 0 w 21152"/>
                        <a:gd name="T10" fmla="*/ 0 h 21600"/>
                        <a:gd name="T11" fmla="*/ 21152 w 21152"/>
                        <a:gd name="T12" fmla="*/ 21600 h 21600"/>
                      </a:gdLst>
                      <a:ahLst/>
                      <a:cxnLst>
                        <a:cxn ang="T6">
                          <a:pos x="T0" y="T1"/>
                        </a:cxn>
                        <a:cxn ang="T7">
                          <a:pos x="T2" y="T3"/>
                        </a:cxn>
                        <a:cxn ang="T8">
                          <a:pos x="T4" y="T5"/>
                        </a:cxn>
                      </a:cxnLst>
                      <a:rect l="T9" t="T10" r="T11" b="T12"/>
                      <a:pathLst>
                        <a:path w="21152" h="21600" fill="none" extrusionOk="0">
                          <a:moveTo>
                            <a:pt x="-1" y="0"/>
                          </a:moveTo>
                          <a:cubicBezTo>
                            <a:pt x="10242" y="0"/>
                            <a:pt x="19076" y="7193"/>
                            <a:pt x="21152" y="17223"/>
                          </a:cubicBezTo>
                        </a:path>
                        <a:path w="21152" h="21600" stroke="0" extrusionOk="0">
                          <a:moveTo>
                            <a:pt x="-1" y="0"/>
                          </a:moveTo>
                          <a:cubicBezTo>
                            <a:pt x="10242" y="0"/>
                            <a:pt x="19076" y="7193"/>
                            <a:pt x="21152" y="17223"/>
                          </a:cubicBezTo>
                          <a:lnTo>
                            <a:pt x="0" y="21600"/>
                          </a:lnTo>
                          <a:close/>
                        </a:path>
                      </a:pathLst>
                    </a:custGeom>
                    <a:noFill/>
                    <a:ln w="25400">
                      <a:solidFill>
                        <a:srgbClr val="0000FF"/>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73" name="Text Box 109"/>
                    <p:cNvSpPr txBox="1">
                      <a:spLocks noChangeArrowheads="1"/>
                    </p:cNvSpPr>
                    <p:nvPr/>
                  </p:nvSpPr>
                  <p:spPr bwMode="auto">
                    <a:xfrm>
                      <a:off x="4427" y="845"/>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b</a:t>
                      </a:r>
                    </a:p>
                  </p:txBody>
                </p:sp>
              </p:grpSp>
            </p:grpSp>
            <p:sp>
              <p:nvSpPr>
                <p:cNvPr id="172055" name="Text Box 63"/>
                <p:cNvSpPr txBox="1">
                  <a:spLocks noChangeArrowheads="1"/>
                </p:cNvSpPr>
                <p:nvPr/>
              </p:nvSpPr>
              <p:spPr bwMode="auto">
                <a:xfrm>
                  <a:off x="4244" y="164"/>
                  <a:ext cx="3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B</a:t>
                  </a:r>
                </a:p>
              </p:txBody>
            </p:sp>
            <p:sp>
              <p:nvSpPr>
                <p:cNvPr id="172056" name="Text Box 68"/>
                <p:cNvSpPr txBox="1">
                  <a:spLocks noChangeArrowheads="1"/>
                </p:cNvSpPr>
                <p:nvPr/>
              </p:nvSpPr>
              <p:spPr bwMode="auto">
                <a:xfrm>
                  <a:off x="5378" y="1570"/>
                  <a:ext cx="26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华文楷体" panose="02010600040101010101" pitchFamily="2" charset="-122"/>
                      <a:cs typeface="Times New Roman" panose="02020603050405020304" pitchFamily="18" charset="0"/>
                    </a:rPr>
                    <a:t>H</a:t>
                  </a:r>
                </a:p>
              </p:txBody>
            </p:sp>
          </p:grpSp>
          <p:grpSp>
            <p:nvGrpSpPr>
              <p:cNvPr id="172049" name="Group 113"/>
              <p:cNvGrpSpPr>
                <a:grpSpLocks/>
              </p:cNvGrpSpPr>
              <p:nvPr/>
            </p:nvGrpSpPr>
            <p:grpSpPr bwMode="auto">
              <a:xfrm>
                <a:off x="4106" y="406"/>
                <a:ext cx="1201" cy="1535"/>
                <a:chOff x="4106" y="406"/>
                <a:chExt cx="1201" cy="1535"/>
              </a:xfrm>
            </p:grpSpPr>
            <p:sp>
              <p:nvSpPr>
                <p:cNvPr id="172052" name="Line 69"/>
                <p:cNvSpPr>
                  <a:spLocks noChangeShapeType="1"/>
                </p:cNvSpPr>
                <p:nvPr/>
              </p:nvSpPr>
              <p:spPr bwMode="auto">
                <a:xfrm>
                  <a:off x="5148" y="572"/>
                  <a:ext cx="0" cy="1089"/>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53" name="Line 70"/>
                <p:cNvSpPr>
                  <a:spLocks noChangeShapeType="1"/>
                </p:cNvSpPr>
                <p:nvPr/>
              </p:nvSpPr>
              <p:spPr bwMode="auto">
                <a:xfrm flipH="1">
                  <a:off x="4468" y="572"/>
                  <a:ext cx="680" cy="0"/>
                </a:xfrm>
                <a:prstGeom prst="line">
                  <a:avLst/>
                </a:prstGeom>
                <a:noFill/>
                <a:ln w="1905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2040" name="Object 8"/>
                    <p:cNvSpPr txBox="1"/>
                    <p:nvPr/>
                  </p:nvSpPr>
                  <p:spPr bwMode="auto">
                    <a:xfrm>
                      <a:off x="4106" y="406"/>
                      <a:ext cx="220" cy="288"/>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a:rPr lang="zh-CN" altLang="en-US" sz="2400" i="1">
                                    <a:solidFill>
                                      <a:srgbClr val="000000"/>
                                    </a:solidFill>
                                    <a:latin typeface="Cambria Math" panose="02040503050406030204" pitchFamily="18" charset="0"/>
                                  </a:rPr>
                                  <m:t>𝑠</m:t>
                                </m:r>
                              </m:sub>
                            </m:sSub>
                          </m:oMath>
                        </m:oMathPara>
                      </a14:m>
                      <a:endParaRPr lang="zh-CN" altLang="en-US" sz="2400" dirty="0"/>
                    </a:p>
                  </p:txBody>
                </p:sp>
              </mc:Choice>
              <mc:Fallback xmlns="">
                <p:sp>
                  <p:nvSpPr>
                    <p:cNvPr id="172040" name="Object 8"/>
                    <p:cNvSpPr txBox="1">
                      <a:spLocks noRot="1" noChangeAspect="1" noMove="1" noResize="1" noEditPoints="1" noAdjustHandles="1" noChangeArrowheads="1" noChangeShapeType="1" noTextEdit="1"/>
                    </p:cNvSpPr>
                    <p:nvPr/>
                  </p:nvSpPr>
                  <p:spPr bwMode="auto">
                    <a:xfrm>
                      <a:off x="4106" y="406"/>
                      <a:ext cx="220" cy="288"/>
                    </a:xfrm>
                    <a:prstGeom prst="rect">
                      <a:avLst/>
                    </a:prstGeom>
                    <a:blipFill>
                      <a:blip r:embed="rId3"/>
                      <a:stretch>
                        <a:fillRect l="-5263" r="-245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41" name="Object 9"/>
                    <p:cNvSpPr txBox="1"/>
                    <p:nvPr/>
                  </p:nvSpPr>
                  <p:spPr bwMode="auto">
                    <a:xfrm>
                      <a:off x="5103" y="1706"/>
                      <a:ext cx="204" cy="23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𝑠</m:t>
                                </m:r>
                              </m:sub>
                            </m:sSub>
                          </m:oMath>
                        </m:oMathPara>
                      </a14:m>
                      <a:endParaRPr lang="zh-CN" altLang="en-US" sz="2400" dirty="0"/>
                    </a:p>
                  </p:txBody>
                </p:sp>
              </mc:Choice>
              <mc:Fallback xmlns="">
                <p:sp>
                  <p:nvSpPr>
                    <p:cNvPr id="172041" name="Object 9"/>
                    <p:cNvSpPr txBox="1">
                      <a:spLocks noRot="1" noChangeAspect="1" noMove="1" noResize="1" noEditPoints="1" noAdjustHandles="1" noChangeArrowheads="1" noChangeShapeType="1" noTextEdit="1"/>
                    </p:cNvSpPr>
                    <p:nvPr/>
                  </p:nvSpPr>
                  <p:spPr bwMode="auto">
                    <a:xfrm>
                      <a:off x="5103" y="1706"/>
                      <a:ext cx="204" cy="235"/>
                    </a:xfrm>
                    <a:prstGeom prst="rect">
                      <a:avLst/>
                    </a:prstGeom>
                    <a:blipFill>
                      <a:blip r:embed="rId4"/>
                      <a:stretch>
                        <a:fillRect l="-5660" r="-41509" b="-2096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72035" name="Object 3"/>
                  <p:cNvSpPr txBox="1"/>
                  <p:nvPr/>
                </p:nvSpPr>
                <p:spPr bwMode="auto">
                  <a:xfrm>
                    <a:off x="4830" y="1661"/>
                    <a:ext cx="197" cy="22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𝑐</m:t>
                              </m:r>
                            </m:sub>
                          </m:sSub>
                        </m:oMath>
                      </m:oMathPara>
                    </a14:m>
                    <a:endParaRPr lang="zh-CN" altLang="en-US" sz="2400" dirty="0"/>
                  </a:p>
                </p:txBody>
              </p:sp>
            </mc:Choice>
            <mc:Fallback xmlns="">
              <p:sp>
                <p:nvSpPr>
                  <p:cNvPr id="172035" name="Object 3"/>
                  <p:cNvSpPr txBox="1">
                    <a:spLocks noRot="1" noChangeAspect="1" noMove="1" noResize="1" noEditPoints="1" noAdjustHandles="1" noChangeArrowheads="1" noChangeShapeType="1" noTextEdit="1"/>
                  </p:cNvSpPr>
                  <p:nvPr/>
                </p:nvSpPr>
                <p:spPr bwMode="auto">
                  <a:xfrm>
                    <a:off x="4830" y="1661"/>
                    <a:ext cx="197" cy="227"/>
                  </a:xfrm>
                  <a:prstGeom prst="rect">
                    <a:avLst/>
                  </a:prstGeom>
                  <a:blipFill>
                    <a:blip r:embed="rId5"/>
                    <a:stretch>
                      <a:fillRect l="-5882" r="-49020" b="-27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36" name="Object 4"/>
                  <p:cNvSpPr txBox="1"/>
                  <p:nvPr/>
                </p:nvSpPr>
                <p:spPr bwMode="auto">
                  <a:xfrm>
                    <a:off x="4468" y="2478"/>
                    <a:ext cx="281" cy="226"/>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a:rPr lang="zh-CN" altLang="en-US" sz="2400" i="1">
                                  <a:solidFill>
                                    <a:srgbClr val="000000"/>
                                  </a:solidFill>
                                  <a:latin typeface="Cambria Math" panose="02040503050406030204" pitchFamily="18" charset="0"/>
                                </a:rPr>
                                <m:t>𝑟</m:t>
                              </m:r>
                            </m:sub>
                          </m:sSub>
                        </m:oMath>
                      </m:oMathPara>
                    </a14:m>
                    <a:endParaRPr lang="zh-CN" altLang="en-US" sz="2400"/>
                  </a:p>
                </p:txBody>
              </p:sp>
            </mc:Choice>
            <mc:Fallback xmlns="">
              <p:sp>
                <p:nvSpPr>
                  <p:cNvPr id="172036" name="Object 4"/>
                  <p:cNvSpPr txBox="1">
                    <a:spLocks noRot="1" noChangeAspect="1" noMove="1" noResize="1" noEditPoints="1" noAdjustHandles="1" noChangeArrowheads="1" noChangeShapeType="1" noTextEdit="1"/>
                  </p:cNvSpPr>
                  <p:nvPr/>
                </p:nvSpPr>
                <p:spPr bwMode="auto">
                  <a:xfrm>
                    <a:off x="4468" y="2478"/>
                    <a:ext cx="281" cy="226"/>
                  </a:xfrm>
                  <a:prstGeom prst="rect">
                    <a:avLst/>
                  </a:prstGeom>
                  <a:blipFill>
                    <a:blip r:embed="rId6"/>
                    <a:stretch>
                      <a:fillRect r="-52055" b="-27119"/>
                    </a:stretch>
                  </a:blipFill>
                </p:spPr>
                <p:txBody>
                  <a:bodyPr/>
                  <a:lstStyle/>
                  <a:p>
                    <a:r>
                      <a:rPr lang="zh-CN" altLang="en-US">
                        <a:noFill/>
                      </a:rPr>
                      <a:t> </a:t>
                    </a:r>
                  </a:p>
                </p:txBody>
              </p:sp>
            </mc:Fallback>
          </mc:AlternateContent>
          <p:sp>
            <p:nvSpPr>
              <p:cNvPr id="172050" name="Line 89"/>
              <p:cNvSpPr>
                <a:spLocks noChangeShapeType="1"/>
              </p:cNvSpPr>
              <p:nvPr/>
            </p:nvSpPr>
            <p:spPr bwMode="auto">
              <a:xfrm>
                <a:off x="3833" y="2750"/>
                <a:ext cx="635" cy="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2051" name="Line 90"/>
              <p:cNvSpPr>
                <a:spLocks noChangeShapeType="1"/>
              </p:cNvSpPr>
              <p:nvPr/>
            </p:nvSpPr>
            <p:spPr bwMode="auto">
              <a:xfrm>
                <a:off x="3833" y="1661"/>
                <a:ext cx="0" cy="1134"/>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2037" name="Object 5"/>
                  <p:cNvSpPr txBox="1"/>
                  <p:nvPr/>
                </p:nvSpPr>
                <p:spPr bwMode="auto">
                  <a:xfrm>
                    <a:off x="3515" y="1661"/>
                    <a:ext cx="312" cy="23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𝑠</m:t>
                              </m:r>
                            </m:sub>
                          </m:sSub>
                        </m:oMath>
                      </m:oMathPara>
                    </a14:m>
                    <a:endParaRPr lang="zh-CN" altLang="en-US" sz="2400" dirty="0"/>
                  </a:p>
                </p:txBody>
              </p:sp>
            </mc:Choice>
            <mc:Fallback xmlns="">
              <p:sp>
                <p:nvSpPr>
                  <p:cNvPr id="172037" name="Object 5"/>
                  <p:cNvSpPr txBox="1">
                    <a:spLocks noRot="1" noChangeAspect="1" noMove="1" noResize="1" noEditPoints="1" noAdjustHandles="1" noChangeArrowheads="1" noChangeShapeType="1" noTextEdit="1"/>
                  </p:cNvSpPr>
                  <p:nvPr/>
                </p:nvSpPr>
                <p:spPr bwMode="auto">
                  <a:xfrm>
                    <a:off x="3515" y="1661"/>
                    <a:ext cx="312" cy="235"/>
                  </a:xfrm>
                  <a:prstGeom prst="rect">
                    <a:avLst/>
                  </a:prstGeom>
                  <a:blipFill>
                    <a:blip r:embed="rId7"/>
                    <a:stretch>
                      <a:fillRect r="-39506" b="-229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38" name="Object 6"/>
                  <p:cNvSpPr txBox="1"/>
                  <p:nvPr/>
                </p:nvSpPr>
                <p:spPr bwMode="auto">
                  <a:xfrm>
                    <a:off x="3923" y="1661"/>
                    <a:ext cx="301" cy="22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𝐻</m:t>
                              </m:r>
                            </m:e>
                            <m:sub>
                              <m:r>
                                <a:rPr lang="zh-CN" altLang="en-US" sz="2400" i="1">
                                  <a:solidFill>
                                    <a:srgbClr val="000000"/>
                                  </a:solidFill>
                                  <a:latin typeface="Cambria Math" panose="02040503050406030204" pitchFamily="18" charset="0"/>
                                </a:rPr>
                                <m:t>𝑐</m:t>
                              </m:r>
                            </m:sub>
                          </m:sSub>
                        </m:oMath>
                      </m:oMathPara>
                    </a14:m>
                    <a:endParaRPr lang="zh-CN" altLang="en-US" sz="2400"/>
                  </a:p>
                </p:txBody>
              </p:sp>
            </mc:Choice>
            <mc:Fallback xmlns="">
              <p:sp>
                <p:nvSpPr>
                  <p:cNvPr id="172038" name="Object 6"/>
                  <p:cNvSpPr txBox="1">
                    <a:spLocks noRot="1" noChangeAspect="1" noMove="1" noResize="1" noEditPoints="1" noAdjustHandles="1" noChangeArrowheads="1" noChangeShapeType="1" noTextEdit="1"/>
                  </p:cNvSpPr>
                  <p:nvPr/>
                </p:nvSpPr>
                <p:spPr bwMode="auto">
                  <a:xfrm>
                    <a:off x="3923" y="1661"/>
                    <a:ext cx="301" cy="227"/>
                  </a:xfrm>
                  <a:prstGeom prst="rect">
                    <a:avLst/>
                  </a:prstGeom>
                  <a:blipFill>
                    <a:blip r:embed="rId8"/>
                    <a:stretch>
                      <a:fillRect r="-44304" b="-271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039" name="Object 7"/>
                  <p:cNvSpPr txBox="1"/>
                  <p:nvPr/>
                </p:nvSpPr>
                <p:spPr bwMode="auto">
                  <a:xfrm>
                    <a:off x="4513" y="2704"/>
                    <a:ext cx="272" cy="232"/>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a:rPr lang="zh-CN" altLang="en-US" sz="2400" i="1">
                                  <a:solidFill>
                                    <a:srgbClr val="000000"/>
                                  </a:solidFill>
                                  <a:latin typeface="Cambria Math" panose="02040503050406030204" pitchFamily="18" charset="0"/>
                                </a:rPr>
                                <m:t>𝑠</m:t>
                              </m:r>
                            </m:sub>
                          </m:sSub>
                        </m:oMath>
                      </m:oMathPara>
                    </a14:m>
                    <a:endParaRPr lang="zh-CN" altLang="en-US" sz="2400"/>
                  </a:p>
                </p:txBody>
              </p:sp>
            </mc:Choice>
            <mc:Fallback xmlns="">
              <p:sp>
                <p:nvSpPr>
                  <p:cNvPr id="172039" name="Object 7"/>
                  <p:cNvSpPr txBox="1">
                    <a:spLocks noRot="1" noChangeAspect="1" noMove="1" noResize="1" noEditPoints="1" noAdjustHandles="1" noChangeArrowheads="1" noChangeShapeType="1" noTextEdit="1"/>
                  </p:cNvSpPr>
                  <p:nvPr/>
                </p:nvSpPr>
                <p:spPr bwMode="auto">
                  <a:xfrm>
                    <a:off x="4513" y="2704"/>
                    <a:ext cx="272" cy="232"/>
                  </a:xfrm>
                  <a:prstGeom prst="rect">
                    <a:avLst/>
                  </a:prstGeom>
                  <a:blipFill>
                    <a:blip r:embed="rId9"/>
                    <a:stretch>
                      <a:fillRect r="-52113" b="-22951"/>
                    </a:stretch>
                  </a:blipFill>
                </p:spPr>
                <p:txBody>
                  <a:bodyPr/>
                  <a:lstStyle/>
                  <a:p>
                    <a:r>
                      <a:rPr lang="zh-CN" altLang="en-US">
                        <a:noFill/>
                      </a:rPr>
                      <a:t> </a:t>
                    </a:r>
                  </a:p>
                </p:txBody>
              </p:sp>
            </mc:Fallback>
          </mc:AlternateContent>
        </p:grpSp>
      </p:grpSp>
      <p:sp>
        <p:nvSpPr>
          <p:cNvPr id="3" name="Rectangle 116">
            <a:extLst>
              <a:ext uri="{FF2B5EF4-FFF2-40B4-BE49-F238E27FC236}">
                <a16:creationId xmlns:a16="http://schemas.microsoft.com/office/drawing/2014/main" id="{BE5BDC8D-7AC2-90B5-5338-05E03E8DBB74}"/>
              </a:ext>
            </a:extLst>
          </p:cNvPr>
          <p:cNvSpPr>
            <a:spLocks noChangeArrowheads="1"/>
          </p:cNvSpPr>
          <p:nvPr/>
        </p:nvSpPr>
        <p:spPr bwMode="auto">
          <a:xfrm>
            <a:off x="5208588" y="1622606"/>
            <a:ext cx="6351188"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gn="just" eaLnBrk="1" hangingPunct="1">
              <a:buFontTx/>
              <a:buChar char="-"/>
            </a:pP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当反向磁场继续增加，铁磁质的磁化达到反向饱和。反向磁场减小到零，同样出现剩磁现象。</a:t>
            </a:r>
            <a:endPar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lgn="just" eaLnBrk="1" hangingPunct="1">
              <a:buFontTx/>
              <a:buChar char="-"/>
            </a:pPr>
            <a:endPar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lgn="just" eaLnBrk="1" hangingPunct="1">
              <a:buFontTx/>
              <a:buChar char="-"/>
            </a:pP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不断地正向或反向缓慢改变磁场，磁化曲线为一闭合曲线</a:t>
            </a:r>
            <a:endPar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algn="r" eaLnBrk="1" hangingPunct="1"/>
            <a:r>
              <a:rPr kumimoji="1"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磁滞回线</a:t>
            </a:r>
            <a:endPar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0" name="标题 7">
            <a:extLst>
              <a:ext uri="{FF2B5EF4-FFF2-40B4-BE49-F238E27FC236}">
                <a16:creationId xmlns:a16="http://schemas.microsoft.com/office/drawing/2014/main" id="{B617AE64-1E1D-4BDF-B1BE-F51FF477CD84}"/>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磁滞回线</a:t>
            </a:r>
          </a:p>
        </p:txBody>
      </p:sp>
    </p:spTree>
    <p:extLst>
      <p:ext uri="{BB962C8B-B14F-4D97-AF65-F5344CB8AC3E}">
        <p14:creationId xmlns:p14="http://schemas.microsoft.com/office/powerpoint/2010/main" val="8704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8585198" y="2284413"/>
            <a:ext cx="1922453" cy="2736850"/>
            <a:chOff x="3984" y="2144"/>
            <a:chExt cx="1046" cy="1696"/>
          </a:xfrm>
        </p:grpSpPr>
        <p:sp>
          <p:nvSpPr>
            <p:cNvPr id="202760" name="Rectangle 3"/>
            <p:cNvSpPr>
              <a:spLocks noChangeArrowheads="1"/>
            </p:cNvSpPr>
            <p:nvPr/>
          </p:nvSpPr>
          <p:spPr bwMode="auto">
            <a:xfrm>
              <a:off x="4268" y="2144"/>
              <a:ext cx="21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B</a:t>
              </a:r>
            </a:p>
          </p:txBody>
        </p:sp>
        <p:sp>
          <p:nvSpPr>
            <p:cNvPr id="202761" name="Line 4"/>
            <p:cNvSpPr>
              <a:spLocks noChangeShapeType="1"/>
            </p:cNvSpPr>
            <p:nvPr/>
          </p:nvSpPr>
          <p:spPr bwMode="auto">
            <a:xfrm>
              <a:off x="3984" y="3024"/>
              <a:ext cx="1008" cy="0"/>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2762" name="Line 5"/>
            <p:cNvSpPr>
              <a:spLocks noChangeShapeType="1"/>
            </p:cNvSpPr>
            <p:nvPr/>
          </p:nvSpPr>
          <p:spPr bwMode="auto">
            <a:xfrm flipH="1" flipV="1">
              <a:off x="4512" y="2160"/>
              <a:ext cx="0" cy="1632"/>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2763" name="Rectangle 6"/>
            <p:cNvSpPr>
              <a:spLocks noChangeArrowheads="1"/>
            </p:cNvSpPr>
            <p:nvPr/>
          </p:nvSpPr>
          <p:spPr bwMode="auto">
            <a:xfrm>
              <a:off x="4800" y="3056"/>
              <a:ext cx="230"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H</a:t>
              </a:r>
            </a:p>
          </p:txBody>
        </p:sp>
        <p:sp>
          <p:nvSpPr>
            <p:cNvPr id="202764" name="Rectangle 7"/>
            <p:cNvSpPr>
              <a:spLocks noChangeArrowheads="1"/>
            </p:cNvSpPr>
            <p:nvPr/>
          </p:nvSpPr>
          <p:spPr bwMode="auto">
            <a:xfrm>
              <a:off x="4305" y="2960"/>
              <a:ext cx="230"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O</a:t>
              </a:r>
            </a:p>
          </p:txBody>
        </p:sp>
        <p:grpSp>
          <p:nvGrpSpPr>
            <p:cNvPr id="202765" name="Group 8"/>
            <p:cNvGrpSpPr>
              <a:grpSpLocks/>
            </p:cNvGrpSpPr>
            <p:nvPr/>
          </p:nvGrpSpPr>
          <p:grpSpPr bwMode="auto">
            <a:xfrm>
              <a:off x="4264" y="2208"/>
              <a:ext cx="480" cy="1632"/>
              <a:chOff x="4272" y="2208"/>
              <a:chExt cx="480" cy="1632"/>
            </a:xfrm>
          </p:grpSpPr>
          <p:sp>
            <p:nvSpPr>
              <p:cNvPr id="202766" name="Freeform 9"/>
              <p:cNvSpPr>
                <a:spLocks/>
              </p:cNvSpPr>
              <p:nvPr/>
            </p:nvSpPr>
            <p:spPr bwMode="auto">
              <a:xfrm>
                <a:off x="4416" y="2208"/>
                <a:ext cx="336" cy="816"/>
              </a:xfrm>
              <a:custGeom>
                <a:avLst/>
                <a:gdLst>
                  <a:gd name="T0" fmla="*/ 39 w 384"/>
                  <a:gd name="T1" fmla="*/ 0 h 864"/>
                  <a:gd name="T2" fmla="*/ 24 w 384"/>
                  <a:gd name="T3" fmla="*/ 37 h 864"/>
                  <a:gd name="T4" fmla="*/ 5 w 384"/>
                  <a:gd name="T5" fmla="*/ 145 h 864"/>
                  <a:gd name="T6" fmla="*/ 0 w 384"/>
                  <a:gd name="T7" fmla="*/ 328 h 864"/>
                  <a:gd name="T8" fmla="*/ 0 60000 65536"/>
                  <a:gd name="T9" fmla="*/ 0 60000 65536"/>
                  <a:gd name="T10" fmla="*/ 0 60000 65536"/>
                  <a:gd name="T11" fmla="*/ 0 60000 65536"/>
                  <a:gd name="T12" fmla="*/ 0 w 384"/>
                  <a:gd name="T13" fmla="*/ 0 h 864"/>
                  <a:gd name="T14" fmla="*/ 384 w 384"/>
                  <a:gd name="T15" fmla="*/ 864 h 864"/>
                </a:gdLst>
                <a:ahLst/>
                <a:cxnLst>
                  <a:cxn ang="T8">
                    <a:pos x="T0" y="T1"/>
                  </a:cxn>
                  <a:cxn ang="T9">
                    <a:pos x="T2" y="T3"/>
                  </a:cxn>
                  <a:cxn ang="T10">
                    <a:pos x="T4" y="T5"/>
                  </a:cxn>
                  <a:cxn ang="T11">
                    <a:pos x="T6" y="T7"/>
                  </a:cxn>
                </a:cxnLst>
                <a:rect l="T12" t="T13" r="T14" b="T15"/>
                <a:pathLst>
                  <a:path w="384" h="864">
                    <a:moveTo>
                      <a:pt x="384" y="0"/>
                    </a:moveTo>
                    <a:cubicBezTo>
                      <a:pt x="340" y="16"/>
                      <a:pt x="296" y="32"/>
                      <a:pt x="240" y="96"/>
                    </a:cubicBezTo>
                    <a:cubicBezTo>
                      <a:pt x="184" y="160"/>
                      <a:pt x="88" y="256"/>
                      <a:pt x="48" y="384"/>
                    </a:cubicBezTo>
                    <a:cubicBezTo>
                      <a:pt x="8" y="512"/>
                      <a:pt x="8" y="784"/>
                      <a:pt x="0" y="864"/>
                    </a:cubicBezTo>
                  </a:path>
                </a:pathLst>
              </a:cu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2767" name="Freeform 10"/>
              <p:cNvSpPr>
                <a:spLocks/>
              </p:cNvSpPr>
              <p:nvPr/>
            </p:nvSpPr>
            <p:spPr bwMode="auto">
              <a:xfrm flipH="1" flipV="1">
                <a:off x="4272" y="3024"/>
                <a:ext cx="336" cy="816"/>
              </a:xfrm>
              <a:custGeom>
                <a:avLst/>
                <a:gdLst>
                  <a:gd name="T0" fmla="*/ 39 w 384"/>
                  <a:gd name="T1" fmla="*/ 0 h 864"/>
                  <a:gd name="T2" fmla="*/ 24 w 384"/>
                  <a:gd name="T3" fmla="*/ 37 h 864"/>
                  <a:gd name="T4" fmla="*/ 5 w 384"/>
                  <a:gd name="T5" fmla="*/ 145 h 864"/>
                  <a:gd name="T6" fmla="*/ 0 w 384"/>
                  <a:gd name="T7" fmla="*/ 328 h 864"/>
                  <a:gd name="T8" fmla="*/ 0 60000 65536"/>
                  <a:gd name="T9" fmla="*/ 0 60000 65536"/>
                  <a:gd name="T10" fmla="*/ 0 60000 65536"/>
                  <a:gd name="T11" fmla="*/ 0 60000 65536"/>
                  <a:gd name="T12" fmla="*/ 0 w 384"/>
                  <a:gd name="T13" fmla="*/ 0 h 864"/>
                  <a:gd name="T14" fmla="*/ 384 w 384"/>
                  <a:gd name="T15" fmla="*/ 864 h 864"/>
                </a:gdLst>
                <a:ahLst/>
                <a:cxnLst>
                  <a:cxn ang="T8">
                    <a:pos x="T0" y="T1"/>
                  </a:cxn>
                  <a:cxn ang="T9">
                    <a:pos x="T2" y="T3"/>
                  </a:cxn>
                  <a:cxn ang="T10">
                    <a:pos x="T4" y="T5"/>
                  </a:cxn>
                  <a:cxn ang="T11">
                    <a:pos x="T6" y="T7"/>
                  </a:cxn>
                </a:cxnLst>
                <a:rect l="T12" t="T13" r="T14" b="T15"/>
                <a:pathLst>
                  <a:path w="384" h="864">
                    <a:moveTo>
                      <a:pt x="384" y="0"/>
                    </a:moveTo>
                    <a:cubicBezTo>
                      <a:pt x="340" y="16"/>
                      <a:pt x="296" y="32"/>
                      <a:pt x="240" y="96"/>
                    </a:cubicBezTo>
                    <a:cubicBezTo>
                      <a:pt x="184" y="160"/>
                      <a:pt x="88" y="256"/>
                      <a:pt x="48" y="384"/>
                    </a:cubicBezTo>
                    <a:cubicBezTo>
                      <a:pt x="8" y="512"/>
                      <a:pt x="8" y="784"/>
                      <a:pt x="0" y="864"/>
                    </a:cubicBezTo>
                  </a:path>
                </a:pathLst>
              </a:cu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2768" name="Freeform 11"/>
              <p:cNvSpPr>
                <a:spLocks/>
              </p:cNvSpPr>
              <p:nvPr/>
            </p:nvSpPr>
            <p:spPr bwMode="auto">
              <a:xfrm>
                <a:off x="4600" y="2208"/>
                <a:ext cx="152" cy="816"/>
              </a:xfrm>
              <a:custGeom>
                <a:avLst/>
                <a:gdLst>
                  <a:gd name="T0" fmla="*/ 152 w 152"/>
                  <a:gd name="T1" fmla="*/ 0 h 816"/>
                  <a:gd name="T2" fmla="*/ 56 w 152"/>
                  <a:gd name="T3" fmla="*/ 144 h 816"/>
                  <a:gd name="T4" fmla="*/ 8 w 152"/>
                  <a:gd name="T5" fmla="*/ 336 h 816"/>
                  <a:gd name="T6" fmla="*/ 8 w 152"/>
                  <a:gd name="T7" fmla="*/ 432 h 816"/>
                  <a:gd name="T8" fmla="*/ 8 w 152"/>
                  <a:gd name="T9" fmla="*/ 816 h 816"/>
                  <a:gd name="T10" fmla="*/ 0 60000 65536"/>
                  <a:gd name="T11" fmla="*/ 0 60000 65536"/>
                  <a:gd name="T12" fmla="*/ 0 60000 65536"/>
                  <a:gd name="T13" fmla="*/ 0 60000 65536"/>
                  <a:gd name="T14" fmla="*/ 0 60000 65536"/>
                  <a:gd name="T15" fmla="*/ 0 w 152"/>
                  <a:gd name="T16" fmla="*/ 0 h 816"/>
                  <a:gd name="T17" fmla="*/ 152 w 152"/>
                  <a:gd name="T18" fmla="*/ 816 h 816"/>
                </a:gdLst>
                <a:ahLst/>
                <a:cxnLst>
                  <a:cxn ang="T10">
                    <a:pos x="T0" y="T1"/>
                  </a:cxn>
                  <a:cxn ang="T11">
                    <a:pos x="T2" y="T3"/>
                  </a:cxn>
                  <a:cxn ang="T12">
                    <a:pos x="T4" y="T5"/>
                  </a:cxn>
                  <a:cxn ang="T13">
                    <a:pos x="T6" y="T7"/>
                  </a:cxn>
                  <a:cxn ang="T14">
                    <a:pos x="T8" y="T9"/>
                  </a:cxn>
                </a:cxnLst>
                <a:rect l="T15" t="T16" r="T17" b="T18"/>
                <a:pathLst>
                  <a:path w="152" h="816">
                    <a:moveTo>
                      <a:pt x="152" y="0"/>
                    </a:moveTo>
                    <a:cubicBezTo>
                      <a:pt x="116" y="44"/>
                      <a:pt x="80" y="88"/>
                      <a:pt x="56" y="144"/>
                    </a:cubicBezTo>
                    <a:cubicBezTo>
                      <a:pt x="32" y="200"/>
                      <a:pt x="16" y="288"/>
                      <a:pt x="8" y="336"/>
                    </a:cubicBezTo>
                    <a:cubicBezTo>
                      <a:pt x="0" y="384"/>
                      <a:pt x="8" y="352"/>
                      <a:pt x="8" y="432"/>
                    </a:cubicBezTo>
                    <a:cubicBezTo>
                      <a:pt x="8" y="512"/>
                      <a:pt x="8" y="752"/>
                      <a:pt x="8" y="816"/>
                    </a:cubicBezTo>
                  </a:path>
                </a:pathLst>
              </a:cu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02769" name="Freeform 12"/>
              <p:cNvSpPr>
                <a:spLocks/>
              </p:cNvSpPr>
              <p:nvPr/>
            </p:nvSpPr>
            <p:spPr bwMode="auto">
              <a:xfrm flipH="1" flipV="1">
                <a:off x="4272" y="2976"/>
                <a:ext cx="152" cy="864"/>
              </a:xfrm>
              <a:custGeom>
                <a:avLst/>
                <a:gdLst>
                  <a:gd name="T0" fmla="*/ 152 w 152"/>
                  <a:gd name="T1" fmla="*/ 0 h 816"/>
                  <a:gd name="T2" fmla="*/ 56 w 152"/>
                  <a:gd name="T3" fmla="*/ 380 h 816"/>
                  <a:gd name="T4" fmla="*/ 8 w 152"/>
                  <a:gd name="T5" fmla="*/ 885 h 816"/>
                  <a:gd name="T6" fmla="*/ 8 w 152"/>
                  <a:gd name="T7" fmla="*/ 1139 h 816"/>
                  <a:gd name="T8" fmla="*/ 8 w 152"/>
                  <a:gd name="T9" fmla="*/ 2157 h 816"/>
                  <a:gd name="T10" fmla="*/ 0 60000 65536"/>
                  <a:gd name="T11" fmla="*/ 0 60000 65536"/>
                  <a:gd name="T12" fmla="*/ 0 60000 65536"/>
                  <a:gd name="T13" fmla="*/ 0 60000 65536"/>
                  <a:gd name="T14" fmla="*/ 0 60000 65536"/>
                  <a:gd name="T15" fmla="*/ 0 w 152"/>
                  <a:gd name="T16" fmla="*/ 0 h 816"/>
                  <a:gd name="T17" fmla="*/ 152 w 152"/>
                  <a:gd name="T18" fmla="*/ 816 h 816"/>
                </a:gdLst>
                <a:ahLst/>
                <a:cxnLst>
                  <a:cxn ang="T10">
                    <a:pos x="T0" y="T1"/>
                  </a:cxn>
                  <a:cxn ang="T11">
                    <a:pos x="T2" y="T3"/>
                  </a:cxn>
                  <a:cxn ang="T12">
                    <a:pos x="T4" y="T5"/>
                  </a:cxn>
                  <a:cxn ang="T13">
                    <a:pos x="T6" y="T7"/>
                  </a:cxn>
                  <a:cxn ang="T14">
                    <a:pos x="T8" y="T9"/>
                  </a:cxn>
                </a:cxnLst>
                <a:rect l="T15" t="T16" r="T17" b="T18"/>
                <a:pathLst>
                  <a:path w="152" h="816">
                    <a:moveTo>
                      <a:pt x="152" y="0"/>
                    </a:moveTo>
                    <a:cubicBezTo>
                      <a:pt x="116" y="44"/>
                      <a:pt x="80" y="88"/>
                      <a:pt x="56" y="144"/>
                    </a:cubicBezTo>
                    <a:cubicBezTo>
                      <a:pt x="32" y="200"/>
                      <a:pt x="16" y="288"/>
                      <a:pt x="8" y="336"/>
                    </a:cubicBezTo>
                    <a:cubicBezTo>
                      <a:pt x="0" y="384"/>
                      <a:pt x="8" y="352"/>
                      <a:pt x="8" y="432"/>
                    </a:cubicBezTo>
                    <a:cubicBezTo>
                      <a:pt x="8" y="512"/>
                      <a:pt x="8" y="752"/>
                      <a:pt x="8" y="816"/>
                    </a:cubicBezTo>
                  </a:path>
                </a:pathLst>
              </a:cu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sp>
        <p:nvSpPr>
          <p:cNvPr id="666648" name="Rectangle 24"/>
          <p:cNvSpPr>
            <a:spLocks noChangeArrowheads="1"/>
          </p:cNvSpPr>
          <p:nvPr/>
        </p:nvSpPr>
        <p:spPr bwMode="auto">
          <a:xfrm>
            <a:off x="1185320" y="3183488"/>
            <a:ext cx="7252846"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gn="just" eaLnBrk="1" hangingPunct="1">
              <a:buFontTx/>
              <a:buChar char="-"/>
            </a:pPr>
            <a:r>
              <a:rPr kumimoji="1" lang="zh-CN" altLang="en-US" sz="2800" dirty="0">
                <a:latin typeface="+mn-lt"/>
                <a:ea typeface="华文楷体" panose="02010600040101010101" pitchFamily="2" charset="-122"/>
                <a:cs typeface="Times New Roman" panose="02020603050405020304" pitchFamily="18" charset="0"/>
              </a:rPr>
              <a:t>矫顽力很小，磁滞回线窄，所围的面积小</a:t>
            </a:r>
            <a:endParaRPr kumimoji="1" lang="en-US" altLang="zh-CN" sz="2800" dirty="0">
              <a:latin typeface="+mn-lt"/>
              <a:ea typeface="华文楷体" panose="02010600040101010101" pitchFamily="2" charset="-122"/>
              <a:cs typeface="Times New Roman" panose="02020603050405020304" pitchFamily="18" charset="0"/>
            </a:endParaRPr>
          </a:p>
          <a:p>
            <a:pPr marL="457200" indent="-457200" algn="just" eaLnBrk="1" hangingPunct="1">
              <a:buFontTx/>
              <a:buChar char="-"/>
            </a:pPr>
            <a:endParaRPr kumimoji="1" lang="en-US" altLang="zh-CN" sz="2800" dirty="0">
              <a:latin typeface="+mn-lt"/>
              <a:ea typeface="华文楷体" panose="02010600040101010101" pitchFamily="2" charset="-122"/>
              <a:cs typeface="Times New Roman" panose="02020603050405020304" pitchFamily="18" charset="0"/>
            </a:endParaRPr>
          </a:p>
          <a:p>
            <a:pPr marL="457200" indent="-457200" algn="just" eaLnBrk="1" hangingPunct="1">
              <a:buFontTx/>
              <a:buChar char="-"/>
            </a:pPr>
            <a:r>
              <a:rPr kumimoji="1" lang="zh-CN" altLang="en-US" sz="2800" dirty="0">
                <a:latin typeface="+mn-lt"/>
                <a:ea typeface="华文楷体" panose="02010600040101010101" pitchFamily="2" charset="-122"/>
                <a:cs typeface="Times New Roman" panose="02020603050405020304" pitchFamily="18" charset="0"/>
              </a:rPr>
              <a:t>磁滞损耗小，易磁化，也易退磁。</a:t>
            </a:r>
            <a:endParaRPr kumimoji="1" lang="en-US" altLang="zh-CN" sz="2800" dirty="0">
              <a:latin typeface="+mn-lt"/>
              <a:ea typeface="华文楷体" panose="02010600040101010101" pitchFamily="2" charset="-122"/>
              <a:cs typeface="Times New Roman" panose="02020603050405020304" pitchFamily="18" charset="0"/>
            </a:endParaRPr>
          </a:p>
          <a:p>
            <a:pPr marL="457200" indent="-457200" algn="just" eaLnBrk="1" hangingPunct="1">
              <a:buFontTx/>
              <a:buChar char="-"/>
            </a:pPr>
            <a:endParaRPr kumimoji="1" lang="en-US" altLang="zh-CN" sz="2800" dirty="0">
              <a:latin typeface="+mn-lt"/>
              <a:ea typeface="华文楷体" panose="02010600040101010101" pitchFamily="2" charset="-122"/>
              <a:cs typeface="Times New Roman" panose="02020603050405020304" pitchFamily="18" charset="0"/>
            </a:endParaRPr>
          </a:p>
          <a:p>
            <a:pPr marL="457200" indent="-457200" algn="just" eaLnBrk="1" hangingPunct="1">
              <a:buFontTx/>
              <a:buChar char="-"/>
            </a:pPr>
            <a:endParaRPr kumimoji="1" lang="en-US" altLang="zh-CN" sz="2800" dirty="0">
              <a:latin typeface="+mn-lt"/>
              <a:ea typeface="华文楷体" panose="02010600040101010101" pitchFamily="2" charset="-122"/>
              <a:cs typeface="Times New Roman" panose="02020603050405020304" pitchFamily="18" charset="0"/>
            </a:endParaRPr>
          </a:p>
          <a:p>
            <a:pPr marL="457200" indent="-457200" algn="just" eaLnBrk="1" hangingPunct="1">
              <a:buFontTx/>
              <a:buChar char="-"/>
            </a:pPr>
            <a:endParaRPr kumimoji="1" lang="en-US" altLang="zh-CN" sz="2800" dirty="0">
              <a:latin typeface="+mn-lt"/>
              <a:ea typeface="华文楷体" panose="02010600040101010101" pitchFamily="2" charset="-122"/>
              <a:cs typeface="Times New Roman" panose="02020603050405020304" pitchFamily="18" charset="0"/>
            </a:endParaRPr>
          </a:p>
          <a:p>
            <a:pPr marL="457200" indent="-457200" algn="just" eaLnBrk="1" hangingPunct="1">
              <a:buFontTx/>
              <a:buChar char="-"/>
            </a:pPr>
            <a:r>
              <a:rPr kumimoji="1" lang="zh-CN" altLang="en-US" sz="2800" dirty="0">
                <a:latin typeface="+mn-lt"/>
                <a:ea typeface="华文楷体" panose="02010600040101010101" pitchFamily="2" charset="-122"/>
                <a:cs typeface="Times New Roman" panose="02020603050405020304" pitchFamily="18" charset="0"/>
              </a:rPr>
              <a:t>适用于交变磁场中，常用作变压器、继电器、电动机、电磁铁和发电机的铁芯。</a:t>
            </a:r>
          </a:p>
        </p:txBody>
      </p:sp>
      <p:sp>
        <p:nvSpPr>
          <p:cNvPr id="666651" name="Rectangle 27"/>
          <p:cNvSpPr>
            <a:spLocks noChangeArrowheads="1"/>
          </p:cNvSpPr>
          <p:nvPr/>
        </p:nvSpPr>
        <p:spPr bwMode="auto">
          <a:xfrm>
            <a:off x="1217614" y="2567538"/>
            <a:ext cx="27740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软磁材料</a:t>
            </a:r>
          </a:p>
        </p:txBody>
      </p:sp>
      <p:sp>
        <p:nvSpPr>
          <p:cNvPr id="666654" name="Rectangle 30"/>
          <p:cNvSpPr>
            <a:spLocks noChangeArrowheads="1"/>
          </p:cNvSpPr>
          <p:nvPr/>
        </p:nvSpPr>
        <p:spPr bwMode="auto">
          <a:xfrm>
            <a:off x="1120584" y="1435192"/>
            <a:ext cx="88931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dirty="0">
                <a:latin typeface="华文楷体" panose="02010600040101010101" pitchFamily="2" charset="-122"/>
                <a:ea typeface="华文楷体" panose="02010600040101010101" pitchFamily="2" charset="-122"/>
                <a:cs typeface="Times New Roman" panose="02020603050405020304" pitchFamily="18" charset="0"/>
              </a:rPr>
              <a:t>根据材料磁滞回线的不同，可将材料分为</a:t>
            </a:r>
            <a:r>
              <a:rPr kumimoji="1" lang="zh-CN" altLang="en-US" sz="28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软磁材料、矩磁材料和硬磁材料</a:t>
            </a:r>
          </a:p>
        </p:txBody>
      </p:sp>
      <p:sp>
        <p:nvSpPr>
          <p:cNvPr id="666656" name="Rectangle 32"/>
          <p:cNvSpPr>
            <a:spLocks noChangeArrowheads="1"/>
          </p:cNvSpPr>
          <p:nvPr/>
        </p:nvSpPr>
        <p:spPr bwMode="auto">
          <a:xfrm>
            <a:off x="1671901" y="4649061"/>
            <a:ext cx="600524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kumimoji="1" lang="zh-CN" altLang="en-US" sz="2800" dirty="0">
                <a:ea typeface="华文楷体" panose="02010600040101010101" pitchFamily="2" charset="-122"/>
                <a:cs typeface="Times New Roman" panose="02020603050405020304" pitchFamily="18" charset="0"/>
              </a:rPr>
              <a:t>反复磁化时，分子振动加剧导致磁体发热，温度升高</a:t>
            </a:r>
          </a:p>
        </p:txBody>
      </p:sp>
      <p:sp>
        <p:nvSpPr>
          <p:cNvPr id="18" name="标题 7">
            <a:extLst>
              <a:ext uri="{FF2B5EF4-FFF2-40B4-BE49-F238E27FC236}">
                <a16:creationId xmlns:a16="http://schemas.microsoft.com/office/drawing/2014/main" id="{CB6146DB-AFBC-43A5-85AB-7852C7F22B77}"/>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铁磁性材料的分类</a:t>
            </a:r>
          </a:p>
        </p:txBody>
      </p:sp>
    </p:spTree>
    <p:extLst>
      <p:ext uri="{BB962C8B-B14F-4D97-AF65-F5344CB8AC3E}">
        <p14:creationId xmlns:p14="http://schemas.microsoft.com/office/powerpoint/2010/main" val="223367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66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664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664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66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6664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48" grpId="0" uiExpand="1" build="p" autoUpdateAnimBg="0"/>
      <p:bldP spid="666651" grpId="0"/>
      <p:bldP spid="66665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8768231" y="1517814"/>
            <a:ext cx="1951268" cy="3285425"/>
            <a:chOff x="3984" y="2576"/>
            <a:chExt cx="1149" cy="1648"/>
          </a:xfrm>
        </p:grpSpPr>
        <p:sp>
          <p:nvSpPr>
            <p:cNvPr id="174102" name="Rectangle 5"/>
            <p:cNvSpPr>
              <a:spLocks noChangeArrowheads="1"/>
            </p:cNvSpPr>
            <p:nvPr/>
          </p:nvSpPr>
          <p:spPr bwMode="auto">
            <a:xfrm>
              <a:off x="4268" y="2576"/>
              <a:ext cx="307"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B</a:t>
              </a:r>
            </a:p>
          </p:txBody>
        </p:sp>
        <p:sp>
          <p:nvSpPr>
            <p:cNvPr id="174103" name="Line 6"/>
            <p:cNvSpPr>
              <a:spLocks noChangeShapeType="1"/>
            </p:cNvSpPr>
            <p:nvPr/>
          </p:nvSpPr>
          <p:spPr bwMode="auto">
            <a:xfrm>
              <a:off x="3984" y="3456"/>
              <a:ext cx="1008" cy="0"/>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104" name="Line 7"/>
            <p:cNvSpPr>
              <a:spLocks noChangeShapeType="1"/>
            </p:cNvSpPr>
            <p:nvPr/>
          </p:nvSpPr>
          <p:spPr bwMode="auto">
            <a:xfrm flipH="1" flipV="1">
              <a:off x="4512" y="2592"/>
              <a:ext cx="0" cy="1632"/>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105" name="Rectangle 8"/>
            <p:cNvSpPr>
              <a:spLocks noChangeArrowheads="1"/>
            </p:cNvSpPr>
            <p:nvPr/>
          </p:nvSpPr>
          <p:spPr bwMode="auto">
            <a:xfrm>
              <a:off x="4800" y="3487"/>
              <a:ext cx="333"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H</a:t>
              </a:r>
            </a:p>
          </p:txBody>
        </p:sp>
        <p:sp>
          <p:nvSpPr>
            <p:cNvPr id="174106" name="Rectangle 9"/>
            <p:cNvSpPr>
              <a:spLocks noChangeArrowheads="1"/>
            </p:cNvSpPr>
            <p:nvPr/>
          </p:nvSpPr>
          <p:spPr bwMode="auto">
            <a:xfrm>
              <a:off x="4305" y="3393"/>
              <a:ext cx="333"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O</a:t>
              </a:r>
            </a:p>
          </p:txBody>
        </p:sp>
        <p:grpSp>
          <p:nvGrpSpPr>
            <p:cNvPr id="174107" name="Group 10"/>
            <p:cNvGrpSpPr>
              <a:grpSpLocks/>
            </p:cNvGrpSpPr>
            <p:nvPr/>
          </p:nvGrpSpPr>
          <p:grpSpPr bwMode="auto">
            <a:xfrm rot="-197435">
              <a:off x="3984" y="2688"/>
              <a:ext cx="1008" cy="1440"/>
              <a:chOff x="1285" y="2832"/>
              <a:chExt cx="1883" cy="1152"/>
            </a:xfrm>
          </p:grpSpPr>
          <p:sp>
            <p:nvSpPr>
              <p:cNvPr id="174108" name="Freeform 11"/>
              <p:cNvSpPr>
                <a:spLocks/>
              </p:cNvSpPr>
              <p:nvPr/>
            </p:nvSpPr>
            <p:spPr bwMode="auto">
              <a:xfrm>
                <a:off x="1750" y="2832"/>
                <a:ext cx="1403" cy="576"/>
              </a:xfrm>
              <a:custGeom>
                <a:avLst/>
                <a:gdLst>
                  <a:gd name="T0" fmla="*/ 598564318 w 624"/>
                  <a:gd name="T1" fmla="*/ 0 h 672"/>
                  <a:gd name="T2" fmla="*/ 414115793 w 624"/>
                  <a:gd name="T3" fmla="*/ 3 h 672"/>
                  <a:gd name="T4" fmla="*/ 184182674 w 624"/>
                  <a:gd name="T5" fmla="*/ 11 h 672"/>
                  <a:gd name="T6" fmla="*/ 92197893 w 624"/>
                  <a:gd name="T7" fmla="*/ 18 h 672"/>
                  <a:gd name="T8" fmla="*/ 46083801 w 624"/>
                  <a:gd name="T9" fmla="*/ 24 h 672"/>
                  <a:gd name="T10" fmla="*/ 0 w 624"/>
                  <a:gd name="T11" fmla="*/ 49 h 672"/>
                  <a:gd name="T12" fmla="*/ 0 60000 65536"/>
                  <a:gd name="T13" fmla="*/ 0 60000 65536"/>
                  <a:gd name="T14" fmla="*/ 0 60000 65536"/>
                  <a:gd name="T15" fmla="*/ 0 60000 65536"/>
                  <a:gd name="T16" fmla="*/ 0 60000 65536"/>
                  <a:gd name="T17" fmla="*/ 0 60000 65536"/>
                  <a:gd name="T18" fmla="*/ 0 w 624"/>
                  <a:gd name="T19" fmla="*/ 0 h 672"/>
                  <a:gd name="T20" fmla="*/ 624 w 624"/>
                  <a:gd name="T21" fmla="*/ 672 h 672"/>
                </a:gdLst>
                <a:ahLst/>
                <a:cxnLst>
                  <a:cxn ang="T12">
                    <a:pos x="T0" y="T1"/>
                  </a:cxn>
                  <a:cxn ang="T13">
                    <a:pos x="T2" y="T3"/>
                  </a:cxn>
                  <a:cxn ang="T14">
                    <a:pos x="T4" y="T5"/>
                  </a:cxn>
                  <a:cxn ang="T15">
                    <a:pos x="T6" y="T7"/>
                  </a:cxn>
                  <a:cxn ang="T16">
                    <a:pos x="T8" y="T9"/>
                  </a:cxn>
                  <a:cxn ang="T17">
                    <a:pos x="T10" y="T11"/>
                  </a:cxn>
                </a:cxnLst>
                <a:rect l="T18" t="T19" r="T20" b="T21"/>
                <a:pathLst>
                  <a:path w="624" h="672">
                    <a:moveTo>
                      <a:pt x="624" y="0"/>
                    </a:moveTo>
                    <a:cubicBezTo>
                      <a:pt x="564" y="12"/>
                      <a:pt x="504" y="24"/>
                      <a:pt x="432" y="48"/>
                    </a:cubicBezTo>
                    <a:cubicBezTo>
                      <a:pt x="360" y="72"/>
                      <a:pt x="248" y="112"/>
                      <a:pt x="192" y="144"/>
                    </a:cubicBezTo>
                    <a:cubicBezTo>
                      <a:pt x="136" y="176"/>
                      <a:pt x="120" y="208"/>
                      <a:pt x="96" y="240"/>
                    </a:cubicBezTo>
                    <a:cubicBezTo>
                      <a:pt x="72" y="272"/>
                      <a:pt x="64" y="264"/>
                      <a:pt x="48" y="336"/>
                    </a:cubicBezTo>
                    <a:cubicBezTo>
                      <a:pt x="32" y="408"/>
                      <a:pt x="8" y="616"/>
                      <a:pt x="0" y="672"/>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109" name="Freeform 12"/>
              <p:cNvSpPr>
                <a:spLocks/>
              </p:cNvSpPr>
              <p:nvPr/>
            </p:nvSpPr>
            <p:spPr bwMode="auto">
              <a:xfrm rot="10800000">
                <a:off x="1297" y="3408"/>
                <a:ext cx="1403" cy="576"/>
              </a:xfrm>
              <a:custGeom>
                <a:avLst/>
                <a:gdLst>
                  <a:gd name="T0" fmla="*/ 598564318 w 624"/>
                  <a:gd name="T1" fmla="*/ 0 h 672"/>
                  <a:gd name="T2" fmla="*/ 414115793 w 624"/>
                  <a:gd name="T3" fmla="*/ 3 h 672"/>
                  <a:gd name="T4" fmla="*/ 184182674 w 624"/>
                  <a:gd name="T5" fmla="*/ 11 h 672"/>
                  <a:gd name="T6" fmla="*/ 92197893 w 624"/>
                  <a:gd name="T7" fmla="*/ 18 h 672"/>
                  <a:gd name="T8" fmla="*/ 46083801 w 624"/>
                  <a:gd name="T9" fmla="*/ 24 h 672"/>
                  <a:gd name="T10" fmla="*/ 0 w 624"/>
                  <a:gd name="T11" fmla="*/ 49 h 672"/>
                  <a:gd name="T12" fmla="*/ 0 60000 65536"/>
                  <a:gd name="T13" fmla="*/ 0 60000 65536"/>
                  <a:gd name="T14" fmla="*/ 0 60000 65536"/>
                  <a:gd name="T15" fmla="*/ 0 60000 65536"/>
                  <a:gd name="T16" fmla="*/ 0 60000 65536"/>
                  <a:gd name="T17" fmla="*/ 0 60000 65536"/>
                  <a:gd name="T18" fmla="*/ 0 w 624"/>
                  <a:gd name="T19" fmla="*/ 0 h 672"/>
                  <a:gd name="T20" fmla="*/ 624 w 624"/>
                  <a:gd name="T21" fmla="*/ 672 h 672"/>
                </a:gdLst>
                <a:ahLst/>
                <a:cxnLst>
                  <a:cxn ang="T12">
                    <a:pos x="T0" y="T1"/>
                  </a:cxn>
                  <a:cxn ang="T13">
                    <a:pos x="T2" y="T3"/>
                  </a:cxn>
                  <a:cxn ang="T14">
                    <a:pos x="T4" y="T5"/>
                  </a:cxn>
                  <a:cxn ang="T15">
                    <a:pos x="T6" y="T7"/>
                  </a:cxn>
                  <a:cxn ang="T16">
                    <a:pos x="T8" y="T9"/>
                  </a:cxn>
                  <a:cxn ang="T17">
                    <a:pos x="T10" y="T11"/>
                  </a:cxn>
                </a:cxnLst>
                <a:rect l="T18" t="T19" r="T20" b="T21"/>
                <a:pathLst>
                  <a:path w="624" h="672">
                    <a:moveTo>
                      <a:pt x="624" y="0"/>
                    </a:moveTo>
                    <a:cubicBezTo>
                      <a:pt x="564" y="12"/>
                      <a:pt x="504" y="24"/>
                      <a:pt x="432" y="48"/>
                    </a:cubicBezTo>
                    <a:cubicBezTo>
                      <a:pt x="360" y="72"/>
                      <a:pt x="248" y="112"/>
                      <a:pt x="192" y="144"/>
                    </a:cubicBezTo>
                    <a:cubicBezTo>
                      <a:pt x="136" y="176"/>
                      <a:pt x="120" y="208"/>
                      <a:pt x="96" y="240"/>
                    </a:cubicBezTo>
                    <a:cubicBezTo>
                      <a:pt x="72" y="272"/>
                      <a:pt x="64" y="264"/>
                      <a:pt x="48" y="336"/>
                    </a:cubicBezTo>
                    <a:cubicBezTo>
                      <a:pt x="32" y="408"/>
                      <a:pt x="8" y="616"/>
                      <a:pt x="0" y="672"/>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110" name="Freeform 13"/>
              <p:cNvSpPr>
                <a:spLocks/>
              </p:cNvSpPr>
              <p:nvPr/>
            </p:nvSpPr>
            <p:spPr bwMode="auto">
              <a:xfrm>
                <a:off x="1285" y="3408"/>
                <a:ext cx="468" cy="576"/>
              </a:xfrm>
              <a:custGeom>
                <a:avLst/>
                <a:gdLst>
                  <a:gd name="T0" fmla="*/ 0 w 192"/>
                  <a:gd name="T1" fmla="*/ 49 h 672"/>
                  <a:gd name="T2" fmla="*/ 363037937 w 192"/>
                  <a:gd name="T3" fmla="*/ 42 h 672"/>
                  <a:gd name="T4" fmla="*/ 545232775 w 192"/>
                  <a:gd name="T5" fmla="*/ 33 h 672"/>
                  <a:gd name="T6" fmla="*/ 726854001 w 192"/>
                  <a:gd name="T7" fmla="*/ 0 h 672"/>
                  <a:gd name="T8" fmla="*/ 0 60000 65536"/>
                  <a:gd name="T9" fmla="*/ 0 60000 65536"/>
                  <a:gd name="T10" fmla="*/ 0 60000 65536"/>
                  <a:gd name="T11" fmla="*/ 0 60000 65536"/>
                  <a:gd name="T12" fmla="*/ 0 w 192"/>
                  <a:gd name="T13" fmla="*/ 0 h 672"/>
                  <a:gd name="T14" fmla="*/ 192 w 192"/>
                  <a:gd name="T15" fmla="*/ 672 h 672"/>
                </a:gdLst>
                <a:ahLst/>
                <a:cxnLst>
                  <a:cxn ang="T8">
                    <a:pos x="T0" y="T1"/>
                  </a:cxn>
                  <a:cxn ang="T9">
                    <a:pos x="T2" y="T3"/>
                  </a:cxn>
                  <a:cxn ang="T10">
                    <a:pos x="T4" y="T5"/>
                  </a:cxn>
                  <a:cxn ang="T11">
                    <a:pos x="T6" y="T7"/>
                  </a:cxn>
                </a:cxnLst>
                <a:rect l="T12" t="T13" r="T14" b="T15"/>
                <a:pathLst>
                  <a:path w="192" h="672">
                    <a:moveTo>
                      <a:pt x="0" y="672"/>
                    </a:moveTo>
                    <a:cubicBezTo>
                      <a:pt x="36" y="644"/>
                      <a:pt x="72" y="616"/>
                      <a:pt x="96" y="576"/>
                    </a:cubicBezTo>
                    <a:cubicBezTo>
                      <a:pt x="120" y="536"/>
                      <a:pt x="128" y="528"/>
                      <a:pt x="144" y="432"/>
                    </a:cubicBezTo>
                    <a:cubicBezTo>
                      <a:pt x="160" y="336"/>
                      <a:pt x="184" y="72"/>
                      <a:pt x="192" y="0"/>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111" name="Freeform 14"/>
              <p:cNvSpPr>
                <a:spLocks/>
              </p:cNvSpPr>
              <p:nvPr/>
            </p:nvSpPr>
            <p:spPr bwMode="auto">
              <a:xfrm flipH="1" flipV="1">
                <a:off x="2700" y="2832"/>
                <a:ext cx="468" cy="576"/>
              </a:xfrm>
              <a:custGeom>
                <a:avLst/>
                <a:gdLst>
                  <a:gd name="T0" fmla="*/ 0 w 192"/>
                  <a:gd name="T1" fmla="*/ 49 h 672"/>
                  <a:gd name="T2" fmla="*/ 363037937 w 192"/>
                  <a:gd name="T3" fmla="*/ 42 h 672"/>
                  <a:gd name="T4" fmla="*/ 545232775 w 192"/>
                  <a:gd name="T5" fmla="*/ 33 h 672"/>
                  <a:gd name="T6" fmla="*/ 726854001 w 192"/>
                  <a:gd name="T7" fmla="*/ 0 h 672"/>
                  <a:gd name="T8" fmla="*/ 0 60000 65536"/>
                  <a:gd name="T9" fmla="*/ 0 60000 65536"/>
                  <a:gd name="T10" fmla="*/ 0 60000 65536"/>
                  <a:gd name="T11" fmla="*/ 0 60000 65536"/>
                  <a:gd name="T12" fmla="*/ 0 w 192"/>
                  <a:gd name="T13" fmla="*/ 0 h 672"/>
                  <a:gd name="T14" fmla="*/ 192 w 192"/>
                  <a:gd name="T15" fmla="*/ 672 h 672"/>
                </a:gdLst>
                <a:ahLst/>
                <a:cxnLst>
                  <a:cxn ang="T8">
                    <a:pos x="T0" y="T1"/>
                  </a:cxn>
                  <a:cxn ang="T9">
                    <a:pos x="T2" y="T3"/>
                  </a:cxn>
                  <a:cxn ang="T10">
                    <a:pos x="T4" y="T5"/>
                  </a:cxn>
                  <a:cxn ang="T11">
                    <a:pos x="T6" y="T7"/>
                  </a:cxn>
                </a:cxnLst>
                <a:rect l="T12" t="T13" r="T14" b="T15"/>
                <a:pathLst>
                  <a:path w="192" h="672">
                    <a:moveTo>
                      <a:pt x="0" y="672"/>
                    </a:moveTo>
                    <a:cubicBezTo>
                      <a:pt x="36" y="644"/>
                      <a:pt x="72" y="616"/>
                      <a:pt x="96" y="576"/>
                    </a:cubicBezTo>
                    <a:cubicBezTo>
                      <a:pt x="120" y="536"/>
                      <a:pt x="128" y="528"/>
                      <a:pt x="144" y="432"/>
                    </a:cubicBezTo>
                    <a:cubicBezTo>
                      <a:pt x="160" y="336"/>
                      <a:pt x="184" y="72"/>
                      <a:pt x="192" y="0"/>
                    </a:cubicBezTo>
                  </a:path>
                </a:pathLst>
              </a:custGeom>
              <a:noFill/>
              <a:ln w="285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sp>
        <p:nvSpPr>
          <p:cNvPr id="669731" name="Rectangle 35"/>
          <p:cNvSpPr>
            <a:spLocks noChangeArrowheads="1"/>
          </p:cNvSpPr>
          <p:nvPr/>
        </p:nvSpPr>
        <p:spPr bwMode="auto">
          <a:xfrm>
            <a:off x="1151202" y="1582736"/>
            <a:ext cx="39859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28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矩磁材料</a:t>
            </a:r>
            <a:endParaRPr kumimoji="1" lang="zh-CN" altLang="en-US" sz="2800" dirty="0">
              <a:latin typeface="华文楷体" panose="02010600040101010101" pitchFamily="2" charset="-122"/>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74091" name="Rectangle 37"/>
              <p:cNvSpPr>
                <a:spLocks noChangeArrowheads="1"/>
              </p:cNvSpPr>
              <p:nvPr/>
            </p:nvSpPr>
            <p:spPr bwMode="auto">
              <a:xfrm>
                <a:off x="1198497" y="3690819"/>
                <a:ext cx="6926723" cy="13849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当矩磁材料在不同方向的外磁场磁化后，总是处于</a:t>
                </a:r>
                <a14:m>
                  <m:oMath xmlns:m="http://schemas.openxmlformats.org/officeDocument/2006/math">
                    <m:r>
                      <a:rPr kumimoji="1" lang="en-US" altLang="zh-CN" sz="2800" b="0">
                        <a:latin typeface="Cambria Math" panose="02040503050406030204" pitchFamily="18" charset="0"/>
                        <a:ea typeface="华文新魏" panose="02010800040101010101" pitchFamily="2" charset="-122"/>
                        <a:cs typeface="Times New Roman" panose="02020603050405020304" pitchFamily="18" charset="0"/>
                      </a:rPr>
                      <m:t>+</m:t>
                    </m:r>
                    <m:sSub>
                      <m:sSubPr>
                        <m:ctrlPr>
                          <a:rPr kumimoji="1" lang="en-US" altLang="zh-CN" sz="2800" i="1">
                            <a:latin typeface="Cambria Math" panose="02040503050406030204" pitchFamily="18" charset="0"/>
                            <a:ea typeface="华文新魏" panose="02010800040101010101" pitchFamily="2" charset="-122"/>
                            <a:cs typeface="Times New Roman" panose="02020603050405020304" pitchFamily="18" charset="0"/>
                          </a:rPr>
                        </m:ctrlPr>
                      </m:sSubPr>
                      <m:e>
                        <m:r>
                          <a:rPr kumimoji="1" lang="en-US" altLang="zh-CN" sz="2800" b="0" i="1">
                            <a:latin typeface="Cambria Math" panose="02040503050406030204" pitchFamily="18" charset="0"/>
                            <a:ea typeface="华文新魏" panose="02010800040101010101" pitchFamily="2" charset="-122"/>
                            <a:cs typeface="Times New Roman" panose="02020603050405020304" pitchFamily="18" charset="0"/>
                          </a:rPr>
                          <m:t>𝐵</m:t>
                        </m:r>
                      </m:e>
                      <m:sub>
                        <m:r>
                          <a:rPr kumimoji="1" lang="en-US" altLang="zh-CN" sz="2800" b="0" i="1">
                            <a:latin typeface="Cambria Math" panose="02040503050406030204" pitchFamily="18" charset="0"/>
                            <a:ea typeface="华文新魏" panose="02010800040101010101" pitchFamily="2" charset="-122"/>
                            <a:cs typeface="Times New Roman" panose="02020603050405020304" pitchFamily="18" charset="0"/>
                          </a:rPr>
                          <m:t>𝑆</m:t>
                        </m:r>
                      </m:sub>
                    </m:sSub>
                  </m:oMath>
                </a14:m>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和</a:t>
                </a:r>
                <a14:m>
                  <m:oMath xmlns:m="http://schemas.openxmlformats.org/officeDocument/2006/math">
                    <m:r>
                      <a:rPr kumimoji="1" lang="en-US" altLang="zh-CN" sz="2800" b="0" dirty="0">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m:t>
                    </m:r>
                    <m:sSub>
                      <m:sSubPr>
                        <m:ctrlPr>
                          <a:rPr kumimoji="1"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sSubPr>
                      <m:e>
                        <m:r>
                          <a:rPr kumimoji="1"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𝐵</m:t>
                        </m:r>
                      </m:e>
                      <m:sub>
                        <m:r>
                          <a:rPr kumimoji="1" lang="en-US" altLang="zh-CN" sz="2800" b="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𝑆</m:t>
                        </m:r>
                      </m:sub>
                    </m:sSub>
                  </m:oMath>
                </a14:m>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两种剩磁状态，可作电子计算机的“记忆”元件。</a:t>
                </a:r>
              </a:p>
            </p:txBody>
          </p:sp>
        </mc:Choice>
        <mc:Fallback xmlns="">
          <p:sp>
            <p:nvSpPr>
              <p:cNvPr id="174091" name="Rectangle 37"/>
              <p:cNvSpPr>
                <a:spLocks noRot="1" noChangeAspect="1" noMove="1" noResize="1" noEditPoints="1" noAdjustHandles="1" noChangeArrowheads="1" noChangeShapeType="1" noTextEdit="1"/>
              </p:cNvSpPr>
              <p:nvPr/>
            </p:nvSpPr>
            <p:spPr bwMode="auto">
              <a:xfrm>
                <a:off x="1198497" y="3690819"/>
                <a:ext cx="6926723" cy="1384995"/>
              </a:xfrm>
              <a:prstGeom prst="rect">
                <a:avLst/>
              </a:prstGeom>
              <a:blipFill>
                <a:blip r:embed="rId2"/>
                <a:stretch>
                  <a:fillRect l="-1849" t="-5263" r="-1761" b="-1096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Rectangle 35">
                <a:extLst>
                  <a:ext uri="{FF2B5EF4-FFF2-40B4-BE49-F238E27FC236}">
                    <a16:creationId xmlns:a16="http://schemas.microsoft.com/office/drawing/2014/main" id="{CBD57500-D7FD-12FE-E8CE-3014147C1015}"/>
                  </a:ext>
                </a:extLst>
              </p:cNvPr>
              <p:cNvSpPr>
                <a:spLocks noChangeArrowheads="1"/>
              </p:cNvSpPr>
              <p:nvPr/>
            </p:nvSpPr>
            <p:spPr bwMode="auto">
              <a:xfrm>
                <a:off x="1151082" y="2482850"/>
                <a:ext cx="6974142" cy="9461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28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 </a:t>
                </a:r>
                <a:r>
                  <a:rPr kumimoji="1" lang="zh-CN" altLang="en-US" sz="2800" dirty="0">
                    <a:latin typeface="华文楷体" panose="02010600040101010101" pitchFamily="2" charset="-122"/>
                    <a:ea typeface="华文楷体" panose="02010600040101010101" pitchFamily="2" charset="-122"/>
                    <a:cs typeface="Times New Roman" panose="02020603050405020304" pitchFamily="18" charset="0"/>
                  </a:rPr>
                  <a:t>磁滞回线接近于矩形，剩磁</a:t>
                </a:r>
                <a14:m>
                  <m:oMath xmlns:m="http://schemas.openxmlformats.org/officeDocument/2006/math">
                    <m:r>
                      <a:rPr kumimoji="1" lang="en-US" altLang="zh-CN" sz="2800" b="0" i="1" dirty="0">
                        <a:latin typeface="Cambria Math" panose="02040503050406030204" pitchFamily="18" charset="0"/>
                        <a:ea typeface="黑体" panose="02010609060101010101" pitchFamily="49" charset="-122"/>
                        <a:cs typeface="Times New Roman" panose="02020603050405020304" pitchFamily="18" charset="0"/>
                      </a:rPr>
                      <m:t>𝐵</m:t>
                    </m:r>
                    <m:r>
                      <a:rPr kumimoji="1" lang="en-US" altLang="zh-CN" sz="2800" b="0" i="1" baseline="-25000" dirty="0">
                        <a:latin typeface="Cambria Math" panose="02040503050406030204" pitchFamily="18" charset="0"/>
                        <a:ea typeface="黑体" panose="02010609060101010101" pitchFamily="49" charset="-122"/>
                        <a:cs typeface="Times New Roman" panose="02020603050405020304" pitchFamily="18" charset="0"/>
                      </a:rPr>
                      <m:t>𝑟</m:t>
                    </m:r>
                  </m:oMath>
                </a14:m>
                <a:r>
                  <a:rPr kumimoji="1" lang="zh-CN" altLang="en-US" sz="2800" dirty="0">
                    <a:latin typeface="华文楷体" panose="02010600040101010101" pitchFamily="2" charset="-122"/>
                    <a:ea typeface="华文楷体" panose="02010600040101010101" pitchFamily="2" charset="-122"/>
                    <a:cs typeface="Times New Roman" panose="02020603050405020304" pitchFamily="18" charset="0"/>
                  </a:rPr>
                  <a:t>接近饱和值</a:t>
                </a:r>
                <a14:m>
                  <m:oMath xmlns:m="http://schemas.openxmlformats.org/officeDocument/2006/math">
                    <m:r>
                      <a:rPr kumimoji="1" lang="en-US" altLang="zh-CN" sz="2800" b="0" i="1" dirty="0">
                        <a:latin typeface="Cambria Math" panose="02040503050406030204" pitchFamily="18" charset="0"/>
                        <a:ea typeface="黑体" panose="02010609060101010101" pitchFamily="49" charset="-122"/>
                        <a:cs typeface="Times New Roman" panose="02020603050405020304" pitchFamily="18" charset="0"/>
                      </a:rPr>
                      <m:t>𝐵</m:t>
                    </m:r>
                    <m:r>
                      <a:rPr kumimoji="1" lang="en-US" altLang="zh-CN" sz="2800" b="0" i="1" baseline="-25000" dirty="0">
                        <a:latin typeface="Cambria Math" panose="02040503050406030204" pitchFamily="18" charset="0"/>
                        <a:ea typeface="黑体" panose="02010609060101010101" pitchFamily="49" charset="-122"/>
                        <a:cs typeface="Times New Roman" panose="02020603050405020304" pitchFamily="18" charset="0"/>
                      </a:rPr>
                      <m:t>𝑆</m:t>
                    </m:r>
                  </m:oMath>
                </a14:m>
                <a:r>
                  <a:rPr kumimoji="1" lang="zh-CN" altLang="en-US" sz="2800" dirty="0">
                    <a:latin typeface="华文楷体" panose="02010600040101010101" pitchFamily="2" charset="-122"/>
                    <a:ea typeface="华文楷体" panose="02010600040101010101" pitchFamily="2" charset="-122"/>
                    <a:cs typeface="Times New Roman" panose="02020603050405020304" pitchFamily="18" charset="0"/>
                  </a:rPr>
                  <a:t>，但矫顽力较小。</a:t>
                </a:r>
              </a:p>
            </p:txBody>
          </p:sp>
        </mc:Choice>
        <mc:Fallback xmlns="">
          <p:sp>
            <p:nvSpPr>
              <p:cNvPr id="5" name="Rectangle 35">
                <a:extLst>
                  <a:ext uri="{FF2B5EF4-FFF2-40B4-BE49-F238E27FC236}">
                    <a16:creationId xmlns:a16="http://schemas.microsoft.com/office/drawing/2014/main" id="{CBD57500-D7FD-12FE-E8CE-3014147C1015}"/>
                  </a:ext>
                </a:extLst>
              </p:cNvPr>
              <p:cNvSpPr>
                <a:spLocks noRot="1" noChangeAspect="1" noMove="1" noResize="1" noEditPoints="1" noAdjustHandles="1" noChangeArrowheads="1" noChangeShapeType="1" noTextEdit="1"/>
              </p:cNvSpPr>
              <p:nvPr/>
            </p:nvSpPr>
            <p:spPr bwMode="auto">
              <a:xfrm>
                <a:off x="1151082" y="2482850"/>
                <a:ext cx="6974142" cy="946150"/>
              </a:xfrm>
              <a:prstGeom prst="rect">
                <a:avLst/>
              </a:prstGeom>
              <a:blipFill>
                <a:blip r:embed="rId3"/>
                <a:stretch>
                  <a:fillRect l="-1836" t="-6410" r="-1748" b="-1730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7" name="标题 7">
            <a:extLst>
              <a:ext uri="{FF2B5EF4-FFF2-40B4-BE49-F238E27FC236}">
                <a16:creationId xmlns:a16="http://schemas.microsoft.com/office/drawing/2014/main" id="{CFD4A033-1A7C-4304-AA98-C0F6B7175284}"/>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铁磁性材料的分类</a:t>
            </a:r>
          </a:p>
        </p:txBody>
      </p:sp>
    </p:spTree>
    <p:extLst>
      <p:ext uri="{BB962C8B-B14F-4D97-AF65-F5344CB8AC3E}">
        <p14:creationId xmlns:p14="http://schemas.microsoft.com/office/powerpoint/2010/main" val="3288727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97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0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731" grpId="0"/>
      <p:bldP spid="174091"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711" name="Rectangle 15"/>
          <p:cNvSpPr>
            <a:spLocks noChangeArrowheads="1"/>
          </p:cNvSpPr>
          <p:nvPr/>
        </p:nvSpPr>
        <p:spPr bwMode="auto">
          <a:xfrm>
            <a:off x="1136466" y="3696375"/>
            <a:ext cx="683459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algn="just" eaLnBrk="1" hangingPunct="1">
              <a:buFontTx/>
              <a:buChar char="-"/>
            </a:pP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矫顽力大，剩磁大、磁滞回线宽</a:t>
            </a:r>
            <a:endPar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lgn="just" eaLnBrk="1" hangingPunct="1">
              <a:buFontTx/>
              <a:buChar char="-"/>
            </a:pPr>
            <a:endParaRPr kumimoji="1"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lgn="just" eaLnBrk="1" hangingPunct="1">
              <a:buFontTx/>
              <a:buChar char="-"/>
            </a:pPr>
            <a:r>
              <a:rPr kumimoji="1" lang="zh-CN" altLang="en-US" sz="2800" dirty="0">
                <a:latin typeface="Times New Roman" panose="02020603050405020304" pitchFamily="18" charset="0"/>
                <a:ea typeface="华文楷体" panose="02010600040101010101" pitchFamily="2" charset="-122"/>
                <a:cs typeface="Times New Roman" panose="02020603050405020304" pitchFamily="18" charset="0"/>
              </a:rPr>
              <a:t>常用于制造永久磁铁，诸如永磁扬声器、小型直流电机等。</a:t>
            </a:r>
          </a:p>
        </p:txBody>
      </p:sp>
      <p:sp>
        <p:nvSpPr>
          <p:cNvPr id="669712" name="Rectangle 16"/>
          <p:cNvSpPr>
            <a:spLocks noChangeArrowheads="1"/>
          </p:cNvSpPr>
          <p:nvPr/>
        </p:nvSpPr>
        <p:spPr bwMode="auto">
          <a:xfrm>
            <a:off x="1136466" y="1718698"/>
            <a:ext cx="69741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dirty="0">
                <a:solidFill>
                  <a:srgbClr val="0000FF"/>
                </a:solidFill>
                <a:latin typeface="华文楷体" panose="02010600040101010101" pitchFamily="2" charset="-122"/>
                <a:ea typeface="华文楷体" panose="02010600040101010101" pitchFamily="2" charset="-122"/>
                <a:cs typeface="Times New Roman" panose="02020603050405020304" pitchFamily="18" charset="0"/>
              </a:rPr>
              <a:t>硬磁材料：</a:t>
            </a:r>
          </a:p>
        </p:txBody>
      </p:sp>
      <p:grpSp>
        <p:nvGrpSpPr>
          <p:cNvPr id="4" name="Group 33"/>
          <p:cNvGrpSpPr>
            <a:grpSpLocks/>
          </p:cNvGrpSpPr>
          <p:nvPr/>
        </p:nvGrpSpPr>
        <p:grpSpPr bwMode="auto">
          <a:xfrm>
            <a:off x="8328566" y="1825625"/>
            <a:ext cx="2160587" cy="2232025"/>
            <a:chOff x="4241" y="799"/>
            <a:chExt cx="1134" cy="1134"/>
          </a:xfrm>
        </p:grpSpPr>
        <p:grpSp>
          <p:nvGrpSpPr>
            <p:cNvPr id="174092" name="Group 23"/>
            <p:cNvGrpSpPr>
              <a:grpSpLocks/>
            </p:cNvGrpSpPr>
            <p:nvPr/>
          </p:nvGrpSpPr>
          <p:grpSpPr bwMode="auto">
            <a:xfrm>
              <a:off x="4268" y="903"/>
              <a:ext cx="979" cy="957"/>
              <a:chOff x="4221" y="2960"/>
              <a:chExt cx="1160" cy="867"/>
            </a:xfrm>
          </p:grpSpPr>
          <p:sp>
            <p:nvSpPr>
              <p:cNvPr id="174096" name="Arc 24"/>
              <p:cNvSpPr>
                <a:spLocks/>
              </p:cNvSpPr>
              <p:nvPr/>
            </p:nvSpPr>
            <p:spPr bwMode="auto">
              <a:xfrm>
                <a:off x="4522" y="2960"/>
                <a:ext cx="836" cy="180"/>
              </a:xfrm>
              <a:custGeom>
                <a:avLst/>
                <a:gdLst>
                  <a:gd name="T0" fmla="*/ 0 w 21600"/>
                  <a:gd name="T1" fmla="*/ 0 h 22082"/>
                  <a:gd name="T2" fmla="*/ 0 w 21600"/>
                  <a:gd name="T3" fmla="*/ 0 h 22082"/>
                  <a:gd name="T4" fmla="*/ 0 w 21600"/>
                  <a:gd name="T5" fmla="*/ 0 h 22082"/>
                  <a:gd name="T6" fmla="*/ 0 60000 65536"/>
                  <a:gd name="T7" fmla="*/ 0 60000 65536"/>
                  <a:gd name="T8" fmla="*/ 0 60000 65536"/>
                  <a:gd name="T9" fmla="*/ 0 w 21600"/>
                  <a:gd name="T10" fmla="*/ 0 h 22082"/>
                  <a:gd name="T11" fmla="*/ 21600 w 21600"/>
                  <a:gd name="T12" fmla="*/ 22082 h 22082"/>
                </a:gdLst>
                <a:ahLst/>
                <a:cxnLst>
                  <a:cxn ang="T6">
                    <a:pos x="T0" y="T1"/>
                  </a:cxn>
                  <a:cxn ang="T7">
                    <a:pos x="T2" y="T3"/>
                  </a:cxn>
                  <a:cxn ang="T8">
                    <a:pos x="T4" y="T5"/>
                  </a:cxn>
                </a:cxnLst>
                <a:rect l="T9" t="T10" r="T11" b="T12"/>
                <a:pathLst>
                  <a:path w="21600" h="22082" fill="none" extrusionOk="0">
                    <a:moveTo>
                      <a:pt x="5" y="22082"/>
                    </a:moveTo>
                    <a:cubicBezTo>
                      <a:pt x="1" y="21918"/>
                      <a:pt x="0" y="21755"/>
                      <a:pt x="0" y="21592"/>
                    </a:cubicBezTo>
                    <a:cubicBezTo>
                      <a:pt x="-1" y="9893"/>
                      <a:pt x="9312" y="321"/>
                      <a:pt x="21006" y="0"/>
                    </a:cubicBezTo>
                  </a:path>
                  <a:path w="21600" h="22082" stroke="0" extrusionOk="0">
                    <a:moveTo>
                      <a:pt x="5" y="22082"/>
                    </a:moveTo>
                    <a:cubicBezTo>
                      <a:pt x="1" y="21918"/>
                      <a:pt x="0" y="21755"/>
                      <a:pt x="0" y="21592"/>
                    </a:cubicBezTo>
                    <a:cubicBezTo>
                      <a:pt x="-1" y="9893"/>
                      <a:pt x="9312" y="321"/>
                      <a:pt x="21006" y="0"/>
                    </a:cubicBezTo>
                    <a:lnTo>
                      <a:pt x="21600" y="21592"/>
                    </a:lnTo>
                    <a:close/>
                  </a:path>
                </a:pathLst>
              </a:custGeom>
              <a:noFill/>
              <a:ln w="25400" cap="rnd">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097" name="Arc 25"/>
              <p:cNvSpPr>
                <a:spLocks/>
              </p:cNvSpPr>
              <p:nvPr/>
            </p:nvSpPr>
            <p:spPr bwMode="auto">
              <a:xfrm>
                <a:off x="5102" y="2962"/>
                <a:ext cx="279" cy="191"/>
              </a:xfrm>
              <a:custGeom>
                <a:avLst/>
                <a:gdLst>
                  <a:gd name="T0" fmla="*/ 0 w 21600"/>
                  <a:gd name="T1" fmla="*/ 0 h 21499"/>
                  <a:gd name="T2" fmla="*/ 0 w 21600"/>
                  <a:gd name="T3" fmla="*/ 0 h 21499"/>
                  <a:gd name="T4" fmla="*/ 0 w 21600"/>
                  <a:gd name="T5" fmla="*/ 0 h 21499"/>
                  <a:gd name="T6" fmla="*/ 0 60000 65536"/>
                  <a:gd name="T7" fmla="*/ 0 60000 65536"/>
                  <a:gd name="T8" fmla="*/ 0 60000 65536"/>
                  <a:gd name="T9" fmla="*/ 0 w 21600"/>
                  <a:gd name="T10" fmla="*/ 0 h 21499"/>
                  <a:gd name="T11" fmla="*/ 21600 w 21600"/>
                  <a:gd name="T12" fmla="*/ 21499 h 21499"/>
                </a:gdLst>
                <a:ahLst/>
                <a:cxnLst>
                  <a:cxn ang="T6">
                    <a:pos x="T0" y="T1"/>
                  </a:cxn>
                  <a:cxn ang="T7">
                    <a:pos x="T2" y="T3"/>
                  </a:cxn>
                  <a:cxn ang="T8">
                    <a:pos x="T4" y="T5"/>
                  </a:cxn>
                </a:cxnLst>
                <a:rect l="T9" t="T10" r="T11" b="T12"/>
                <a:pathLst>
                  <a:path w="21600" h="21499" fill="none" extrusionOk="0">
                    <a:moveTo>
                      <a:pt x="0" y="21499"/>
                    </a:moveTo>
                    <a:cubicBezTo>
                      <a:pt x="0" y="10376"/>
                      <a:pt x="8445" y="1072"/>
                      <a:pt x="19515" y="-1"/>
                    </a:cubicBezTo>
                  </a:path>
                  <a:path w="21600" h="21499" stroke="0" extrusionOk="0">
                    <a:moveTo>
                      <a:pt x="0" y="21499"/>
                    </a:moveTo>
                    <a:cubicBezTo>
                      <a:pt x="0" y="10376"/>
                      <a:pt x="8445" y="1072"/>
                      <a:pt x="19515" y="-1"/>
                    </a:cubicBezTo>
                    <a:lnTo>
                      <a:pt x="21600" y="21499"/>
                    </a:lnTo>
                    <a:close/>
                  </a:path>
                </a:pathLst>
              </a:custGeom>
              <a:noFill/>
              <a:ln w="25400" cap="rnd">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098" name="Arc 26"/>
              <p:cNvSpPr>
                <a:spLocks/>
              </p:cNvSpPr>
              <p:nvPr/>
            </p:nvSpPr>
            <p:spPr bwMode="auto">
              <a:xfrm rot="10800000">
                <a:off x="4221" y="3633"/>
                <a:ext cx="302" cy="192"/>
              </a:xfrm>
              <a:custGeom>
                <a:avLst/>
                <a:gdLst>
                  <a:gd name="T0" fmla="*/ 0 w 21600"/>
                  <a:gd name="T1" fmla="*/ 0 h 20905"/>
                  <a:gd name="T2" fmla="*/ 0 w 21600"/>
                  <a:gd name="T3" fmla="*/ 0 h 20905"/>
                  <a:gd name="T4" fmla="*/ 0 w 21600"/>
                  <a:gd name="T5" fmla="*/ 0 h 20905"/>
                  <a:gd name="T6" fmla="*/ 0 60000 65536"/>
                  <a:gd name="T7" fmla="*/ 0 60000 65536"/>
                  <a:gd name="T8" fmla="*/ 0 60000 65536"/>
                  <a:gd name="T9" fmla="*/ 0 w 21600"/>
                  <a:gd name="T10" fmla="*/ 0 h 20905"/>
                  <a:gd name="T11" fmla="*/ 21600 w 21600"/>
                  <a:gd name="T12" fmla="*/ 20905 h 20905"/>
                </a:gdLst>
                <a:ahLst/>
                <a:cxnLst>
                  <a:cxn ang="T6">
                    <a:pos x="T0" y="T1"/>
                  </a:cxn>
                  <a:cxn ang="T7">
                    <a:pos x="T2" y="T3"/>
                  </a:cxn>
                  <a:cxn ang="T8">
                    <a:pos x="T4" y="T5"/>
                  </a:cxn>
                </a:cxnLst>
                <a:rect l="T9" t="T10" r="T11" b="T12"/>
                <a:pathLst>
                  <a:path w="21600" h="20905" fill="none" extrusionOk="0">
                    <a:moveTo>
                      <a:pt x="0" y="20905"/>
                    </a:moveTo>
                    <a:cubicBezTo>
                      <a:pt x="0" y="11068"/>
                      <a:pt x="6645" y="2474"/>
                      <a:pt x="16165" y="-1"/>
                    </a:cubicBezTo>
                  </a:path>
                  <a:path w="21600" h="20905" stroke="0" extrusionOk="0">
                    <a:moveTo>
                      <a:pt x="0" y="20905"/>
                    </a:moveTo>
                    <a:cubicBezTo>
                      <a:pt x="0" y="11068"/>
                      <a:pt x="6645" y="2474"/>
                      <a:pt x="16165" y="-1"/>
                    </a:cubicBezTo>
                    <a:lnTo>
                      <a:pt x="21600" y="20905"/>
                    </a:lnTo>
                    <a:close/>
                  </a:path>
                </a:pathLst>
              </a:custGeom>
              <a:noFill/>
              <a:ln w="25400" cap="rnd">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099" name="Line 27"/>
              <p:cNvSpPr>
                <a:spLocks noChangeShapeType="1"/>
              </p:cNvSpPr>
              <p:nvPr/>
            </p:nvSpPr>
            <p:spPr bwMode="auto">
              <a:xfrm>
                <a:off x="4521" y="3120"/>
                <a:ext cx="0" cy="528"/>
              </a:xfrm>
              <a:prstGeom prst="line">
                <a:avLst/>
              </a:prstGeom>
              <a:noFill/>
              <a:ln w="254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100" name="Line 28"/>
              <p:cNvSpPr>
                <a:spLocks noChangeShapeType="1"/>
              </p:cNvSpPr>
              <p:nvPr/>
            </p:nvSpPr>
            <p:spPr bwMode="auto">
              <a:xfrm flipV="1">
                <a:off x="5101" y="3136"/>
                <a:ext cx="0" cy="512"/>
              </a:xfrm>
              <a:prstGeom prst="line">
                <a:avLst/>
              </a:prstGeom>
              <a:noFill/>
              <a:ln w="254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101" name="Arc 29"/>
              <p:cNvSpPr>
                <a:spLocks/>
              </p:cNvSpPr>
              <p:nvPr/>
            </p:nvSpPr>
            <p:spPr bwMode="auto">
              <a:xfrm rot="10800000">
                <a:off x="4244" y="3649"/>
                <a:ext cx="859" cy="178"/>
              </a:xfrm>
              <a:custGeom>
                <a:avLst/>
                <a:gdLst>
                  <a:gd name="T0" fmla="*/ 0 w 21600"/>
                  <a:gd name="T1" fmla="*/ 0 h 21908"/>
                  <a:gd name="T2" fmla="*/ 0 w 21600"/>
                  <a:gd name="T3" fmla="*/ 0 h 21908"/>
                  <a:gd name="T4" fmla="*/ 0 w 21600"/>
                  <a:gd name="T5" fmla="*/ 0 h 21908"/>
                  <a:gd name="T6" fmla="*/ 0 60000 65536"/>
                  <a:gd name="T7" fmla="*/ 0 60000 65536"/>
                  <a:gd name="T8" fmla="*/ 0 60000 65536"/>
                  <a:gd name="T9" fmla="*/ 0 w 21600"/>
                  <a:gd name="T10" fmla="*/ 0 h 21908"/>
                  <a:gd name="T11" fmla="*/ 21600 w 21600"/>
                  <a:gd name="T12" fmla="*/ 21908 h 21908"/>
                </a:gdLst>
                <a:ahLst/>
                <a:cxnLst>
                  <a:cxn ang="T6">
                    <a:pos x="T0" y="T1"/>
                  </a:cxn>
                  <a:cxn ang="T7">
                    <a:pos x="T2" y="T3"/>
                  </a:cxn>
                  <a:cxn ang="T8">
                    <a:pos x="T4" y="T5"/>
                  </a:cxn>
                </a:cxnLst>
                <a:rect l="T9" t="T10" r="T11" b="T12"/>
                <a:pathLst>
                  <a:path w="21600" h="21908" fill="none" extrusionOk="0">
                    <a:moveTo>
                      <a:pt x="3" y="21907"/>
                    </a:moveTo>
                    <a:cubicBezTo>
                      <a:pt x="1" y="21785"/>
                      <a:pt x="0" y="21662"/>
                      <a:pt x="0" y="21539"/>
                    </a:cubicBezTo>
                    <a:cubicBezTo>
                      <a:pt x="-1" y="10240"/>
                      <a:pt x="8707" y="850"/>
                      <a:pt x="19974" y="0"/>
                    </a:cubicBezTo>
                  </a:path>
                  <a:path w="21600" h="21908" stroke="0" extrusionOk="0">
                    <a:moveTo>
                      <a:pt x="3" y="21907"/>
                    </a:moveTo>
                    <a:cubicBezTo>
                      <a:pt x="1" y="21785"/>
                      <a:pt x="0" y="21662"/>
                      <a:pt x="0" y="21539"/>
                    </a:cubicBezTo>
                    <a:cubicBezTo>
                      <a:pt x="-1" y="10240"/>
                      <a:pt x="8707" y="850"/>
                      <a:pt x="19974" y="0"/>
                    </a:cubicBezTo>
                    <a:lnTo>
                      <a:pt x="21600" y="21539"/>
                    </a:lnTo>
                    <a:close/>
                  </a:path>
                </a:pathLst>
              </a:custGeom>
              <a:noFill/>
              <a:ln w="25400" cap="rnd">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174093" name="Group 30"/>
            <p:cNvGrpSpPr>
              <a:grpSpLocks/>
            </p:cNvGrpSpPr>
            <p:nvPr/>
          </p:nvGrpSpPr>
          <p:grpSpPr bwMode="auto">
            <a:xfrm>
              <a:off x="4241" y="799"/>
              <a:ext cx="1134" cy="1134"/>
              <a:chOff x="4182" y="192"/>
              <a:chExt cx="1134" cy="1134"/>
            </a:xfrm>
          </p:grpSpPr>
          <p:sp>
            <p:nvSpPr>
              <p:cNvPr id="174094" name="Line 31"/>
              <p:cNvSpPr>
                <a:spLocks noChangeShapeType="1"/>
              </p:cNvSpPr>
              <p:nvPr/>
            </p:nvSpPr>
            <p:spPr bwMode="auto">
              <a:xfrm>
                <a:off x="4182" y="785"/>
                <a:ext cx="1134" cy="0"/>
              </a:xfrm>
              <a:prstGeom prst="line">
                <a:avLst/>
              </a:prstGeom>
              <a:noFill/>
              <a:ln w="254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4095" name="Line 32"/>
              <p:cNvSpPr>
                <a:spLocks noChangeShapeType="1"/>
              </p:cNvSpPr>
              <p:nvPr/>
            </p:nvSpPr>
            <p:spPr bwMode="auto">
              <a:xfrm>
                <a:off x="4704" y="192"/>
                <a:ext cx="0" cy="1134"/>
              </a:xfrm>
              <a:prstGeom prst="line">
                <a:avLst/>
              </a:prstGeom>
              <a:noFill/>
              <a:ln w="25400">
                <a:solidFill>
                  <a:schemeClr val="accent2"/>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grpSp>
      </p:grpSp>
      <p:sp>
        <p:nvSpPr>
          <p:cNvPr id="5" name="Rectangle 16">
            <a:extLst>
              <a:ext uri="{FF2B5EF4-FFF2-40B4-BE49-F238E27FC236}">
                <a16:creationId xmlns:a16="http://schemas.microsoft.com/office/drawing/2014/main" id="{B1E821A0-18AA-5461-6C8F-0BC8266ED9BE}"/>
              </a:ext>
            </a:extLst>
          </p:cNvPr>
          <p:cNvSpPr>
            <a:spLocks noChangeArrowheads="1"/>
          </p:cNvSpPr>
          <p:nvPr/>
        </p:nvSpPr>
        <p:spPr bwMode="auto">
          <a:xfrm>
            <a:off x="1066692" y="2896421"/>
            <a:ext cx="69741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dirty="0">
                <a:latin typeface="华文楷体" panose="02010600040101010101" pitchFamily="2" charset="-122"/>
                <a:ea typeface="华文楷体" panose="02010600040101010101" pitchFamily="2" charset="-122"/>
                <a:cs typeface="Times New Roman" panose="02020603050405020304" pitchFamily="18" charset="0"/>
              </a:rPr>
              <a:t>- </a:t>
            </a:r>
            <a:r>
              <a:rPr kumimoji="1" lang="zh-CN" altLang="en-US" sz="2800" dirty="0">
                <a:latin typeface="华文楷体" panose="02010600040101010101" pitchFamily="2" charset="-122"/>
                <a:ea typeface="华文楷体" panose="02010600040101010101" pitchFamily="2" charset="-122"/>
                <a:cs typeface="Times New Roman" panose="02020603050405020304" pitchFamily="18" charset="0"/>
              </a:rPr>
              <a:t>碳钢、钨钢、铝镍钴合金等</a:t>
            </a:r>
            <a:endParaRPr kumimoji="1" lang="zh-CN" altLang="en-US" sz="2800" dirty="0">
              <a:solidFill>
                <a:srgbClr val="0000FF"/>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7" name="标题 7">
            <a:extLst>
              <a:ext uri="{FF2B5EF4-FFF2-40B4-BE49-F238E27FC236}">
                <a16:creationId xmlns:a16="http://schemas.microsoft.com/office/drawing/2014/main" id="{8CDBB69B-7AD6-49D0-8F7E-7E4067A7A634}"/>
              </a:ext>
            </a:extLst>
          </p:cNvPr>
          <p:cNvSpPr txBox="1">
            <a:spLocks/>
          </p:cNvSpPr>
          <p:nvPr/>
        </p:nvSpPr>
        <p:spPr>
          <a:xfrm>
            <a:off x="719721" y="280249"/>
            <a:ext cx="499363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铁磁性材料的分类</a:t>
            </a:r>
          </a:p>
        </p:txBody>
      </p:sp>
    </p:spTree>
    <p:extLst>
      <p:ext uri="{BB962C8B-B14F-4D97-AF65-F5344CB8AC3E}">
        <p14:creationId xmlns:p14="http://schemas.microsoft.com/office/powerpoint/2010/main" val="1926751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697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97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711" grpId="0"/>
      <p:bldP spid="669712"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a:extLst>
              <a:ext uri="{FF2B5EF4-FFF2-40B4-BE49-F238E27FC236}">
                <a16:creationId xmlns:a16="http://schemas.microsoft.com/office/drawing/2014/main" id="{E06C08DF-77D2-4376-9CA1-FB1009B61C9A}"/>
              </a:ext>
            </a:extLst>
          </p:cNvPr>
          <p:cNvSpPr>
            <a:spLocks noChangeArrowheads="1"/>
          </p:cNvSpPr>
          <p:nvPr/>
        </p:nvSpPr>
        <p:spPr bwMode="auto">
          <a:xfrm>
            <a:off x="2590801" y="914400"/>
            <a:ext cx="649287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0" dirty="0">
                <a:latin typeface="华文楷体" panose="02010600040101010101" pitchFamily="2" charset="-122"/>
                <a:ea typeface="华文楷体" panose="02010600040101010101" pitchFamily="2" charset="-122"/>
              </a:rPr>
              <a:t>界面某点</a:t>
            </a:r>
            <a:r>
              <a:rPr lang="en-US" altLang="zh-CN" sz="3200" b="0" dirty="0">
                <a:latin typeface="华文楷体" panose="02010600040101010101" pitchFamily="2" charset="-122"/>
                <a:ea typeface="华文楷体" panose="02010600040101010101" pitchFamily="2" charset="-122"/>
              </a:rPr>
              <a:t>P</a:t>
            </a:r>
            <a:r>
              <a:rPr lang="zh-CN" altLang="en-US" sz="3200" b="0" dirty="0">
                <a:latin typeface="华文楷体" panose="02010600040101010101" pitchFamily="2" charset="-122"/>
                <a:ea typeface="华文楷体" panose="02010600040101010101" pitchFamily="2" charset="-122"/>
              </a:rPr>
              <a:t>两侧的磁场场量的关系</a:t>
            </a:r>
          </a:p>
        </p:txBody>
      </p:sp>
      <mc:AlternateContent xmlns:mc="http://schemas.openxmlformats.org/markup-compatibility/2006" xmlns:a14="http://schemas.microsoft.com/office/drawing/2010/main">
        <mc:Choice Requires="a14">
          <p:sp>
            <p:nvSpPr>
              <p:cNvPr id="51204" name="Object 4">
                <a:extLst>
                  <a:ext uri="{FF2B5EF4-FFF2-40B4-BE49-F238E27FC236}">
                    <a16:creationId xmlns:a16="http://schemas.microsoft.com/office/drawing/2014/main" id="{F2458F0B-62F5-441A-95EE-EEEDB587DF92}"/>
                  </a:ext>
                </a:extLst>
              </p:cNvPr>
              <p:cNvSpPr txBox="1"/>
              <p:nvPr/>
            </p:nvSpPr>
            <p:spPr bwMode="auto">
              <a:xfrm>
                <a:off x="4652963" y="2532063"/>
                <a:ext cx="2278062" cy="10318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b="0" i="1">
                              <a:solidFill>
                                <a:srgbClr val="000000"/>
                              </a:solidFill>
                              <a:latin typeface="Cambria Math" panose="02040503050406030204" pitchFamily="18" charset="0"/>
                            </a:rPr>
                            <m:t>𝑆</m:t>
                          </m:r>
                        </m:sub>
                        <m:sup/>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𝐵</m:t>
                              </m:r>
                            </m:e>
                          </m:acc>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𝑆</m:t>
                              </m:r>
                            </m:e>
                          </m:acc>
                        </m:e>
                      </m:nary>
                      <m:r>
                        <a:rPr lang="zh-CN" altLang="en-US" sz="2800" b="0" i="1">
                          <a:solidFill>
                            <a:srgbClr val="000000"/>
                          </a:solidFill>
                          <a:latin typeface="Cambria Math" panose="02040503050406030204" pitchFamily="18" charset="0"/>
                        </a:rPr>
                        <m:t>=0</m:t>
                      </m:r>
                    </m:oMath>
                  </m:oMathPara>
                </a14:m>
                <a:endParaRPr lang="zh-CN" altLang="en-US" sz="2800" dirty="0"/>
              </a:p>
            </p:txBody>
          </p:sp>
        </mc:Choice>
        <mc:Fallback xmlns="">
          <p:sp>
            <p:nvSpPr>
              <p:cNvPr id="51204" name="Object 4">
                <a:extLst>
                  <a:ext uri="{FF2B5EF4-FFF2-40B4-BE49-F238E27FC236}">
                    <a16:creationId xmlns:a16="http://schemas.microsoft.com/office/drawing/2014/main" id="{F2458F0B-62F5-441A-95EE-EEEDB587DF92}"/>
                  </a:ext>
                </a:extLst>
              </p:cNvPr>
              <p:cNvSpPr txBox="1">
                <a:spLocks noRot="1" noChangeAspect="1" noMove="1" noResize="1" noEditPoints="1" noAdjustHandles="1" noChangeArrowheads="1" noChangeShapeType="1" noTextEdit="1"/>
              </p:cNvSpPr>
              <p:nvPr/>
            </p:nvSpPr>
            <p:spPr bwMode="auto">
              <a:xfrm>
                <a:off x="4652963" y="2532063"/>
                <a:ext cx="2278062" cy="1031875"/>
              </a:xfrm>
              <a:prstGeom prst="rect">
                <a:avLst/>
              </a:prstGeom>
              <a:blipFill>
                <a:blip r:embed="rId3"/>
                <a:stretch>
                  <a:fillRect b="-12941"/>
                </a:stretch>
              </a:blipFill>
              <a:ln>
                <a:noFill/>
              </a:ln>
              <a:effectLst/>
            </p:spPr>
            <p:txBody>
              <a:bodyPr/>
              <a:lstStyle/>
              <a:p>
                <a:r>
                  <a:rPr lang="zh-CN" altLang="en-US">
                    <a:noFill/>
                  </a:rPr>
                  <a:t> </a:t>
                </a:r>
              </a:p>
            </p:txBody>
          </p:sp>
        </mc:Fallback>
      </mc:AlternateContent>
      <p:graphicFrame>
        <p:nvGraphicFramePr>
          <p:cNvPr id="51205" name="Object 5">
            <a:extLst>
              <a:ext uri="{FF2B5EF4-FFF2-40B4-BE49-F238E27FC236}">
                <a16:creationId xmlns:a16="http://schemas.microsoft.com/office/drawing/2014/main" id="{3677D18F-BF07-4976-81D8-42D41A39FA4B}"/>
              </a:ext>
            </a:extLst>
          </p:cNvPr>
          <p:cNvGraphicFramePr>
            <a:graphicFrameLocks/>
          </p:cNvGraphicFramePr>
          <p:nvPr/>
        </p:nvGraphicFramePr>
        <p:xfrm>
          <a:off x="5610225" y="5106988"/>
          <a:ext cx="2281238" cy="1206500"/>
        </p:xfrm>
        <a:graphic>
          <a:graphicData uri="http://schemas.openxmlformats.org/presentationml/2006/ole">
            <mc:AlternateContent xmlns:mc="http://schemas.openxmlformats.org/markup-compatibility/2006">
              <mc:Choice xmlns:v="urn:schemas-microsoft-com:vml" Requires="v">
                <p:oleObj spid="_x0000_s7245" name="公式" r:id="rId4" imgW="710891" imgH="431613" progId="Equation.3">
                  <p:embed/>
                </p:oleObj>
              </mc:Choice>
              <mc:Fallback>
                <p:oleObj name="公式" r:id="rId4" imgW="710891" imgH="431613" progId="Equation.3">
                  <p:embed/>
                  <p:pic>
                    <p:nvPicPr>
                      <p:cNvPr id="51205" name="Object 5">
                        <a:extLst>
                          <a:ext uri="{FF2B5EF4-FFF2-40B4-BE49-F238E27FC236}">
                            <a16:creationId xmlns:a16="http://schemas.microsoft.com/office/drawing/2014/main" id="{3677D18F-BF07-4976-81D8-42D41A39FA4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0225" y="5106988"/>
                        <a:ext cx="2281238" cy="1206500"/>
                      </a:xfrm>
                      <a:prstGeom prst="rect">
                        <a:avLst/>
                      </a:prstGeom>
                      <a:noFill/>
                      <a:ln w="12700">
                        <a:noFill/>
                        <a:miter lim="800000"/>
                        <a:headEnd/>
                        <a:tailEnd/>
                      </a:ln>
                      <a:effectLst/>
                    </p:spPr>
                  </p:pic>
                </p:oleObj>
              </mc:Fallback>
            </mc:AlternateContent>
          </a:graphicData>
        </a:graphic>
      </p:graphicFrame>
      <p:sp>
        <p:nvSpPr>
          <p:cNvPr id="51206" name="Text Box 6">
            <a:extLst>
              <a:ext uri="{FF2B5EF4-FFF2-40B4-BE49-F238E27FC236}">
                <a16:creationId xmlns:a16="http://schemas.microsoft.com/office/drawing/2014/main" id="{3E529AD0-A5BD-4135-BF18-ED7DE1EFAE11}"/>
              </a:ext>
            </a:extLst>
          </p:cNvPr>
          <p:cNvSpPr txBox="1">
            <a:spLocks noChangeArrowheads="1"/>
          </p:cNvSpPr>
          <p:nvPr/>
        </p:nvSpPr>
        <p:spPr bwMode="auto">
          <a:xfrm>
            <a:off x="2608263" y="1630364"/>
            <a:ext cx="3581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0" dirty="0">
                <a:ea typeface="华文楷体" panose="02010600040101010101" pitchFamily="2" charset="-122"/>
              </a:rPr>
              <a:t>过场点作扁圆柱面</a:t>
            </a:r>
          </a:p>
        </p:txBody>
      </p:sp>
      <p:graphicFrame>
        <p:nvGraphicFramePr>
          <p:cNvPr id="51207" name="Object 7">
            <a:extLst>
              <a:ext uri="{FF2B5EF4-FFF2-40B4-BE49-F238E27FC236}">
                <a16:creationId xmlns:a16="http://schemas.microsoft.com/office/drawing/2014/main" id="{D99D618A-5BCE-4984-8E5F-B4AB9B245895}"/>
              </a:ext>
            </a:extLst>
          </p:cNvPr>
          <p:cNvGraphicFramePr>
            <a:graphicFrameLocks/>
          </p:cNvGraphicFramePr>
          <p:nvPr/>
        </p:nvGraphicFramePr>
        <p:xfrm>
          <a:off x="4953000" y="3962400"/>
          <a:ext cx="1892300" cy="661988"/>
        </p:xfrm>
        <a:graphic>
          <a:graphicData uri="http://schemas.openxmlformats.org/presentationml/2006/ole">
            <mc:AlternateContent xmlns:mc="http://schemas.openxmlformats.org/markup-compatibility/2006">
              <mc:Choice xmlns:v="urn:schemas-microsoft-com:vml" Requires="v">
                <p:oleObj spid="_x0000_s7246" name="公式" r:id="rId6" imgW="609336" imgH="203112" progId="Equation.3">
                  <p:embed/>
                </p:oleObj>
              </mc:Choice>
              <mc:Fallback>
                <p:oleObj name="公式" r:id="rId6" imgW="609336" imgH="203112" progId="Equation.3">
                  <p:embed/>
                  <p:pic>
                    <p:nvPicPr>
                      <p:cNvPr id="51207" name="Object 7">
                        <a:extLst>
                          <a:ext uri="{FF2B5EF4-FFF2-40B4-BE49-F238E27FC236}">
                            <a16:creationId xmlns:a16="http://schemas.microsoft.com/office/drawing/2014/main" id="{D99D618A-5BCE-4984-8E5F-B4AB9B245895}"/>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3962400"/>
                        <a:ext cx="1892300" cy="661988"/>
                      </a:xfrm>
                      <a:prstGeom prst="rect">
                        <a:avLst/>
                      </a:prstGeom>
                      <a:noFill/>
                      <a:ln w="12700">
                        <a:noFill/>
                        <a:miter lim="800000"/>
                        <a:headEnd/>
                        <a:tailEnd/>
                      </a:ln>
                      <a:effectLst/>
                    </p:spPr>
                  </p:pic>
                </p:oleObj>
              </mc:Fallback>
            </mc:AlternateContent>
          </a:graphicData>
        </a:graphic>
      </p:graphicFrame>
      <p:sp>
        <p:nvSpPr>
          <p:cNvPr id="51208" name="Text Box 8">
            <a:extLst>
              <a:ext uri="{FF2B5EF4-FFF2-40B4-BE49-F238E27FC236}">
                <a16:creationId xmlns:a16="http://schemas.microsoft.com/office/drawing/2014/main" id="{28A68EC9-FFF4-4E0B-829B-76C25A87543A}"/>
              </a:ext>
            </a:extLst>
          </p:cNvPr>
          <p:cNvSpPr txBox="1">
            <a:spLocks noChangeArrowheads="1"/>
          </p:cNvSpPr>
          <p:nvPr/>
        </p:nvSpPr>
        <p:spPr bwMode="auto">
          <a:xfrm>
            <a:off x="3048000" y="3886200"/>
            <a:ext cx="6858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0" dirty="0">
                <a:latin typeface="华文楷体" panose="02010600040101010101" pitchFamily="2" charset="-122"/>
                <a:ea typeface="华文楷体" panose="02010600040101010101" pitchFamily="2" charset="-122"/>
              </a:rPr>
              <a:t>得</a:t>
            </a:r>
          </a:p>
        </p:txBody>
      </p:sp>
      <p:sp>
        <p:nvSpPr>
          <p:cNvPr id="51209" name="Text Box 9">
            <a:extLst>
              <a:ext uri="{FF2B5EF4-FFF2-40B4-BE49-F238E27FC236}">
                <a16:creationId xmlns:a16="http://schemas.microsoft.com/office/drawing/2014/main" id="{2EBF6192-8BA5-43D7-9A73-AC6A017B8575}"/>
              </a:ext>
            </a:extLst>
          </p:cNvPr>
          <p:cNvSpPr txBox="1">
            <a:spLocks noChangeArrowheads="1"/>
          </p:cNvSpPr>
          <p:nvPr/>
        </p:nvSpPr>
        <p:spPr bwMode="auto">
          <a:xfrm>
            <a:off x="2393950" y="5337175"/>
            <a:ext cx="267335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0" dirty="0">
                <a:latin typeface="华文楷体" panose="02010600040101010101" pitchFamily="2" charset="-122"/>
                <a:ea typeface="华文楷体" panose="02010600040101010101" pitchFamily="2" charset="-122"/>
              </a:rPr>
              <a:t>由介质方程有</a:t>
            </a:r>
          </a:p>
        </p:txBody>
      </p:sp>
      <p:sp>
        <p:nvSpPr>
          <p:cNvPr id="51210" name="Text Box 10">
            <a:extLst>
              <a:ext uri="{FF2B5EF4-FFF2-40B4-BE49-F238E27FC236}">
                <a16:creationId xmlns:a16="http://schemas.microsoft.com/office/drawing/2014/main" id="{4D8D8B9B-AA34-455B-89AB-2CFC27F3EE9D}"/>
              </a:ext>
            </a:extLst>
          </p:cNvPr>
          <p:cNvSpPr txBox="1">
            <a:spLocks noChangeArrowheads="1"/>
          </p:cNvSpPr>
          <p:nvPr/>
        </p:nvSpPr>
        <p:spPr bwMode="auto">
          <a:xfrm>
            <a:off x="3048000" y="2667000"/>
            <a:ext cx="1219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0" dirty="0">
                <a:latin typeface="华文楷体" panose="02010600040101010101" pitchFamily="2" charset="-122"/>
                <a:ea typeface="华文楷体" panose="02010600040101010101" pitchFamily="2" charset="-122"/>
              </a:rPr>
              <a:t>由</a:t>
            </a:r>
          </a:p>
        </p:txBody>
      </p:sp>
      <p:grpSp>
        <p:nvGrpSpPr>
          <p:cNvPr id="51214" name="Group 14">
            <a:extLst>
              <a:ext uri="{FF2B5EF4-FFF2-40B4-BE49-F238E27FC236}">
                <a16:creationId xmlns:a16="http://schemas.microsoft.com/office/drawing/2014/main" id="{AEC983CC-7C16-438F-A0BD-D8548862361F}"/>
              </a:ext>
            </a:extLst>
          </p:cNvPr>
          <p:cNvGrpSpPr>
            <a:grpSpLocks/>
          </p:cNvGrpSpPr>
          <p:nvPr/>
        </p:nvGrpSpPr>
        <p:grpSpPr bwMode="auto">
          <a:xfrm>
            <a:off x="8148638" y="2468564"/>
            <a:ext cx="900112" cy="1227137"/>
            <a:chOff x="4645" y="3552"/>
            <a:chExt cx="567" cy="456"/>
          </a:xfrm>
        </p:grpSpPr>
        <p:sp>
          <p:nvSpPr>
            <p:cNvPr id="27669" name="Oval 15">
              <a:extLst>
                <a:ext uri="{FF2B5EF4-FFF2-40B4-BE49-F238E27FC236}">
                  <a16:creationId xmlns:a16="http://schemas.microsoft.com/office/drawing/2014/main" id="{05DF5A6A-F890-4D82-91C2-0FFB61DC16ED}"/>
                </a:ext>
              </a:extLst>
            </p:cNvPr>
            <p:cNvSpPr>
              <a:spLocks noChangeArrowheads="1"/>
            </p:cNvSpPr>
            <p:nvPr/>
          </p:nvSpPr>
          <p:spPr bwMode="auto">
            <a:xfrm rot="3060000">
              <a:off x="4853" y="3605"/>
              <a:ext cx="341" cy="235"/>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dirty="0">
                <a:ea typeface="华文楷体" panose="02010600040101010101" pitchFamily="2" charset="-122"/>
              </a:endParaRPr>
            </a:p>
          </p:txBody>
        </p:sp>
        <p:sp>
          <p:nvSpPr>
            <p:cNvPr id="27670" name="Oval 16">
              <a:extLst>
                <a:ext uri="{FF2B5EF4-FFF2-40B4-BE49-F238E27FC236}">
                  <a16:creationId xmlns:a16="http://schemas.microsoft.com/office/drawing/2014/main" id="{C0FC4BFC-EE99-459A-A7BA-8036B1A00EFD}"/>
                </a:ext>
              </a:extLst>
            </p:cNvPr>
            <p:cNvSpPr>
              <a:spLocks noChangeArrowheads="1"/>
            </p:cNvSpPr>
            <p:nvPr/>
          </p:nvSpPr>
          <p:spPr bwMode="auto">
            <a:xfrm rot="3060000">
              <a:off x="4673" y="3727"/>
              <a:ext cx="312" cy="249"/>
            </a:xfrm>
            <a:prstGeom prst="ellipse">
              <a:avLst/>
            </a:prstGeom>
            <a:solidFill>
              <a:schemeClr val="bg1"/>
            </a:solidFill>
            <a:ln w="38100">
              <a:solidFill>
                <a:schemeClr val="tx1"/>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dirty="0">
                <a:ea typeface="华文楷体" panose="02010600040101010101" pitchFamily="2" charset="-122"/>
              </a:endParaRPr>
            </a:p>
          </p:txBody>
        </p:sp>
        <p:sp>
          <p:nvSpPr>
            <p:cNvPr id="27671" name="Line 17">
              <a:extLst>
                <a:ext uri="{FF2B5EF4-FFF2-40B4-BE49-F238E27FC236}">
                  <a16:creationId xmlns:a16="http://schemas.microsoft.com/office/drawing/2014/main" id="{27A30281-0BFE-41D4-84D7-F9C9B7DBFF67}"/>
                </a:ext>
              </a:extLst>
            </p:cNvPr>
            <p:cNvSpPr>
              <a:spLocks noChangeShapeType="1"/>
            </p:cNvSpPr>
            <p:nvPr/>
          </p:nvSpPr>
          <p:spPr bwMode="auto">
            <a:xfrm flipH="1">
              <a:off x="4645" y="3600"/>
              <a:ext cx="192" cy="144"/>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2" name="Line 18">
              <a:extLst>
                <a:ext uri="{FF2B5EF4-FFF2-40B4-BE49-F238E27FC236}">
                  <a16:creationId xmlns:a16="http://schemas.microsoft.com/office/drawing/2014/main" id="{37636AAA-48A4-4871-9BFF-C80C76B03E8E}"/>
                </a:ext>
              </a:extLst>
            </p:cNvPr>
            <p:cNvSpPr>
              <a:spLocks noChangeShapeType="1"/>
            </p:cNvSpPr>
            <p:nvPr/>
          </p:nvSpPr>
          <p:spPr bwMode="auto">
            <a:xfrm flipH="1">
              <a:off x="4972" y="3842"/>
              <a:ext cx="240" cy="144"/>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225" name="Group 25">
            <a:extLst>
              <a:ext uri="{FF2B5EF4-FFF2-40B4-BE49-F238E27FC236}">
                <a16:creationId xmlns:a16="http://schemas.microsoft.com/office/drawing/2014/main" id="{8A748708-3DA7-4B27-8B79-440C99DF6E1D}"/>
              </a:ext>
            </a:extLst>
          </p:cNvPr>
          <p:cNvGrpSpPr>
            <a:grpSpLocks/>
          </p:cNvGrpSpPr>
          <p:nvPr/>
        </p:nvGrpSpPr>
        <p:grpSpPr bwMode="auto">
          <a:xfrm>
            <a:off x="6934201" y="1906589"/>
            <a:ext cx="2517775" cy="822325"/>
            <a:chOff x="3888" y="961"/>
            <a:chExt cx="1586" cy="518"/>
          </a:xfrm>
        </p:grpSpPr>
        <p:sp>
          <p:nvSpPr>
            <p:cNvPr id="27667" name="Rectangle 26">
              <a:extLst>
                <a:ext uri="{FF2B5EF4-FFF2-40B4-BE49-F238E27FC236}">
                  <a16:creationId xmlns:a16="http://schemas.microsoft.com/office/drawing/2014/main" id="{ED013E35-04B2-4B85-82EA-6D6F6608B651}"/>
                </a:ext>
              </a:extLst>
            </p:cNvPr>
            <p:cNvSpPr>
              <a:spLocks noChangeArrowheads="1"/>
            </p:cNvSpPr>
            <p:nvPr/>
          </p:nvSpPr>
          <p:spPr bwMode="auto">
            <a:xfrm>
              <a:off x="3888" y="1152"/>
              <a:ext cx="8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0" dirty="0">
                  <a:solidFill>
                    <a:srgbClr val="D60093"/>
                  </a:solidFill>
                  <a:latin typeface="华文楷体" panose="02010600040101010101" pitchFamily="2" charset="-122"/>
                  <a:ea typeface="华文楷体" panose="02010600040101010101" pitchFamily="2" charset="-122"/>
                </a:rPr>
                <a:t>介质</a:t>
              </a:r>
              <a:r>
                <a:rPr lang="en-US" altLang="zh-CN" b="0" dirty="0">
                  <a:solidFill>
                    <a:srgbClr val="D60093"/>
                  </a:solidFill>
                  <a:latin typeface="华文楷体" panose="02010600040101010101" pitchFamily="2" charset="-122"/>
                  <a:ea typeface="华文楷体" panose="02010600040101010101" pitchFamily="2" charset="-122"/>
                </a:rPr>
                <a:t>1</a:t>
              </a:r>
            </a:p>
          </p:txBody>
        </p:sp>
        <p:sp>
          <p:nvSpPr>
            <p:cNvPr id="27668" name="Rectangle 27">
              <a:extLst>
                <a:ext uri="{FF2B5EF4-FFF2-40B4-BE49-F238E27FC236}">
                  <a16:creationId xmlns:a16="http://schemas.microsoft.com/office/drawing/2014/main" id="{69049D7B-0C34-44C0-B28C-D230E776AB8C}"/>
                </a:ext>
              </a:extLst>
            </p:cNvPr>
            <p:cNvSpPr>
              <a:spLocks noChangeArrowheads="1"/>
            </p:cNvSpPr>
            <p:nvPr/>
          </p:nvSpPr>
          <p:spPr bwMode="auto">
            <a:xfrm>
              <a:off x="4610" y="961"/>
              <a:ext cx="8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0" dirty="0">
                  <a:solidFill>
                    <a:srgbClr val="D60093"/>
                  </a:solidFill>
                  <a:latin typeface="华文楷体" panose="02010600040101010101" pitchFamily="2" charset="-122"/>
                  <a:ea typeface="华文楷体" panose="02010600040101010101" pitchFamily="2" charset="-122"/>
                </a:rPr>
                <a:t>介质</a:t>
              </a:r>
              <a:r>
                <a:rPr lang="en-US" altLang="zh-CN" b="0" dirty="0">
                  <a:solidFill>
                    <a:srgbClr val="D60093"/>
                  </a:solidFill>
                  <a:latin typeface="华文楷体" panose="02010600040101010101" pitchFamily="2" charset="-122"/>
                  <a:ea typeface="华文楷体" panose="02010600040101010101" pitchFamily="2" charset="-122"/>
                </a:rPr>
                <a:t>2</a:t>
              </a:r>
            </a:p>
          </p:txBody>
        </p:sp>
      </p:grpSp>
      <p:graphicFrame>
        <p:nvGraphicFramePr>
          <p:cNvPr id="51228" name="Object 28">
            <a:extLst>
              <a:ext uri="{FF2B5EF4-FFF2-40B4-BE49-F238E27FC236}">
                <a16:creationId xmlns:a16="http://schemas.microsoft.com/office/drawing/2014/main" id="{0F6AE489-9D88-4F37-9FC4-62CE74AC0106}"/>
              </a:ext>
            </a:extLst>
          </p:cNvPr>
          <p:cNvGraphicFramePr>
            <a:graphicFrameLocks/>
          </p:cNvGraphicFramePr>
          <p:nvPr/>
        </p:nvGraphicFramePr>
        <p:xfrm>
          <a:off x="7691438" y="2960688"/>
          <a:ext cx="889000" cy="609600"/>
        </p:xfrm>
        <a:graphic>
          <a:graphicData uri="http://schemas.openxmlformats.org/presentationml/2006/ole">
            <mc:AlternateContent xmlns:mc="http://schemas.openxmlformats.org/markup-compatibility/2006">
              <mc:Choice xmlns:v="urn:schemas-microsoft-com:vml" Requires="v">
                <p:oleObj spid="_x0000_s7247" name="公式" r:id="rId8" imgW="228501" imgH="203112" progId="Equation.3">
                  <p:embed/>
                </p:oleObj>
              </mc:Choice>
              <mc:Fallback>
                <p:oleObj name="公式" r:id="rId8" imgW="228501" imgH="203112" progId="Equation.3">
                  <p:embed/>
                  <p:pic>
                    <p:nvPicPr>
                      <p:cNvPr id="51228" name="Object 28">
                        <a:extLst>
                          <a:ext uri="{FF2B5EF4-FFF2-40B4-BE49-F238E27FC236}">
                            <a16:creationId xmlns:a16="http://schemas.microsoft.com/office/drawing/2014/main" id="{0F6AE489-9D88-4F37-9FC4-62CE74AC0106}"/>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91438" y="2960688"/>
                        <a:ext cx="889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29" name="Object 29">
            <a:extLst>
              <a:ext uri="{FF2B5EF4-FFF2-40B4-BE49-F238E27FC236}">
                <a16:creationId xmlns:a16="http://schemas.microsoft.com/office/drawing/2014/main" id="{0AA4F436-5F5E-4477-A961-D49C167296A6}"/>
              </a:ext>
            </a:extLst>
          </p:cNvPr>
          <p:cNvGraphicFramePr>
            <a:graphicFrameLocks/>
          </p:cNvGraphicFramePr>
          <p:nvPr/>
        </p:nvGraphicFramePr>
        <p:xfrm>
          <a:off x="8688388" y="2600325"/>
          <a:ext cx="684212" cy="642938"/>
        </p:xfrm>
        <a:graphic>
          <a:graphicData uri="http://schemas.openxmlformats.org/presentationml/2006/ole">
            <mc:AlternateContent xmlns:mc="http://schemas.openxmlformats.org/markup-compatibility/2006">
              <mc:Choice xmlns:v="urn:schemas-microsoft-com:vml" Requires="v">
                <p:oleObj spid="_x0000_s7248" name="公式" r:id="rId10" imgW="215713" imgH="203024" progId="Equation.3">
                  <p:embed/>
                </p:oleObj>
              </mc:Choice>
              <mc:Fallback>
                <p:oleObj name="公式" r:id="rId10" imgW="215713" imgH="203024" progId="Equation.3">
                  <p:embed/>
                  <p:pic>
                    <p:nvPicPr>
                      <p:cNvPr id="51229" name="Object 29">
                        <a:extLst>
                          <a:ext uri="{FF2B5EF4-FFF2-40B4-BE49-F238E27FC236}">
                            <a16:creationId xmlns:a16="http://schemas.microsoft.com/office/drawing/2014/main" id="{0AA4F436-5F5E-4477-A961-D49C167296A6}"/>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88388" y="2600325"/>
                        <a:ext cx="684212"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30" name="Freeform 30">
            <a:extLst>
              <a:ext uri="{FF2B5EF4-FFF2-40B4-BE49-F238E27FC236}">
                <a16:creationId xmlns:a16="http://schemas.microsoft.com/office/drawing/2014/main" id="{65043089-E0BA-43E5-B14F-DC3B5AFBE2BF}"/>
              </a:ext>
            </a:extLst>
          </p:cNvPr>
          <p:cNvSpPr>
            <a:spLocks/>
          </p:cNvSpPr>
          <p:nvPr/>
        </p:nvSpPr>
        <p:spPr bwMode="auto">
          <a:xfrm>
            <a:off x="7810500" y="2054225"/>
            <a:ext cx="1371600" cy="2133600"/>
          </a:xfrm>
          <a:custGeom>
            <a:avLst/>
            <a:gdLst>
              <a:gd name="T0" fmla="*/ 0 w 864"/>
              <a:gd name="T1" fmla="*/ 0 h 1344"/>
              <a:gd name="T2" fmla="*/ 2147483647 w 864"/>
              <a:gd name="T3" fmla="*/ 2147483647 h 1344"/>
              <a:gd name="T4" fmla="*/ 2147483647 w 864"/>
              <a:gd name="T5" fmla="*/ 2147483647 h 1344"/>
              <a:gd name="T6" fmla="*/ 0 60000 65536"/>
              <a:gd name="T7" fmla="*/ 0 60000 65536"/>
              <a:gd name="T8" fmla="*/ 0 60000 65536"/>
            </a:gdLst>
            <a:ahLst/>
            <a:cxnLst>
              <a:cxn ang="T6">
                <a:pos x="T0" y="T1"/>
              </a:cxn>
              <a:cxn ang="T7">
                <a:pos x="T2" y="T3"/>
              </a:cxn>
              <a:cxn ang="T8">
                <a:pos x="T4" y="T5"/>
              </a:cxn>
            </a:cxnLst>
            <a:rect l="0" t="0" r="r" b="b"/>
            <a:pathLst>
              <a:path w="864" h="1344">
                <a:moveTo>
                  <a:pt x="0" y="0"/>
                </a:moveTo>
                <a:cubicBezTo>
                  <a:pt x="120" y="128"/>
                  <a:pt x="240" y="256"/>
                  <a:pt x="384" y="480"/>
                </a:cubicBezTo>
                <a:cubicBezTo>
                  <a:pt x="528" y="704"/>
                  <a:pt x="696" y="1024"/>
                  <a:pt x="864" y="1344"/>
                </a:cubicBezTo>
              </a:path>
            </a:pathLst>
          </a:custGeom>
          <a:noFill/>
          <a:ln w="12700" cap="flat"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1211" name="Group 11">
            <a:extLst>
              <a:ext uri="{FF2B5EF4-FFF2-40B4-BE49-F238E27FC236}">
                <a16:creationId xmlns:a16="http://schemas.microsoft.com/office/drawing/2014/main" id="{A1EAD190-EDE2-48AF-978A-2D4D05DE1C37}"/>
              </a:ext>
            </a:extLst>
          </p:cNvPr>
          <p:cNvGrpSpPr>
            <a:grpSpLocks/>
          </p:cNvGrpSpPr>
          <p:nvPr/>
        </p:nvGrpSpPr>
        <p:grpSpPr bwMode="auto">
          <a:xfrm>
            <a:off x="8801100" y="1970088"/>
            <a:ext cx="1219200" cy="990600"/>
            <a:chOff x="4992" y="3360"/>
            <a:chExt cx="768" cy="624"/>
          </a:xfrm>
        </p:grpSpPr>
        <p:sp>
          <p:nvSpPr>
            <p:cNvPr id="27665" name="Line 12">
              <a:extLst>
                <a:ext uri="{FF2B5EF4-FFF2-40B4-BE49-F238E27FC236}">
                  <a16:creationId xmlns:a16="http://schemas.microsoft.com/office/drawing/2014/main" id="{AF435C02-9DDF-48AD-B7AD-5D8E1E46D9A1}"/>
                </a:ext>
              </a:extLst>
            </p:cNvPr>
            <p:cNvSpPr>
              <a:spLocks noChangeShapeType="1"/>
            </p:cNvSpPr>
            <p:nvPr/>
          </p:nvSpPr>
          <p:spPr bwMode="auto">
            <a:xfrm flipV="1">
              <a:off x="4992" y="3648"/>
              <a:ext cx="576" cy="336"/>
            </a:xfrm>
            <a:prstGeom prst="line">
              <a:avLst/>
            </a:prstGeom>
            <a:noFill/>
            <a:ln w="38100">
              <a:solidFill>
                <a:srgbClr val="FF0033"/>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7666" name="Object 13">
              <a:extLst>
                <a:ext uri="{FF2B5EF4-FFF2-40B4-BE49-F238E27FC236}">
                  <a16:creationId xmlns:a16="http://schemas.microsoft.com/office/drawing/2014/main" id="{27E4752F-E0F4-44AF-8F44-826084A81BFF}"/>
                </a:ext>
              </a:extLst>
            </p:cNvPr>
            <p:cNvGraphicFramePr>
              <a:graphicFrameLocks/>
            </p:cNvGraphicFramePr>
            <p:nvPr/>
          </p:nvGraphicFramePr>
          <p:xfrm>
            <a:off x="5328" y="3360"/>
            <a:ext cx="432" cy="345"/>
          </p:xfrm>
          <a:graphic>
            <a:graphicData uri="http://schemas.openxmlformats.org/presentationml/2006/ole">
              <mc:AlternateContent xmlns:mc="http://schemas.openxmlformats.org/markup-compatibility/2006">
                <mc:Choice xmlns:v="urn:schemas-microsoft-com:vml" Requires="v">
                  <p:oleObj spid="_x0000_s7249" name="公式" r:id="rId12" imgW="126780" imgH="164814" progId="Equation.3">
                    <p:embed/>
                  </p:oleObj>
                </mc:Choice>
                <mc:Fallback>
                  <p:oleObj name="公式" r:id="rId12" imgW="126780" imgH="164814" progId="Equation.3">
                    <p:embed/>
                    <p:pic>
                      <p:nvPicPr>
                        <p:cNvPr id="27666" name="Object 13">
                          <a:extLst>
                            <a:ext uri="{FF2B5EF4-FFF2-40B4-BE49-F238E27FC236}">
                              <a16:creationId xmlns:a16="http://schemas.microsoft.com/office/drawing/2014/main" id="{27E4752F-E0F4-44AF-8F44-826084A81BFF}"/>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28" y="3360"/>
                          <a:ext cx="432"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5" name="标题 7">
            <a:extLst>
              <a:ext uri="{FF2B5EF4-FFF2-40B4-BE49-F238E27FC236}">
                <a16:creationId xmlns:a16="http://schemas.microsoft.com/office/drawing/2014/main" id="{8406D020-D47C-4CBF-AEFA-342632779E89}"/>
              </a:ext>
            </a:extLst>
          </p:cNvPr>
          <p:cNvSpPr txBox="1">
            <a:spLocks/>
          </p:cNvSpPr>
          <p:nvPr/>
        </p:nvSpPr>
        <p:spPr>
          <a:xfrm>
            <a:off x="719721" y="280249"/>
            <a:ext cx="888147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稳恒磁场在物质分界面上的边界条件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06">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51211"/>
                                        </p:tgtEl>
                                        <p:attrNameLst>
                                          <p:attrName>style.visibility</p:attrName>
                                        </p:attrNameLst>
                                      </p:cBhvr>
                                      <p:to>
                                        <p:strVal val="visible"/>
                                      </p:to>
                                    </p:set>
                                    <p:animEffect transition="in" filter="wipe(down)">
                                      <p:cBhvr>
                                        <p:cTn id="15" dur="500"/>
                                        <p:tgtEl>
                                          <p:spTgt spid="51211"/>
                                        </p:tgtEl>
                                      </p:cBhvr>
                                    </p:animEffect>
                                  </p:childTnLst>
                                </p:cTn>
                              </p:par>
                            </p:childTnLst>
                          </p:cTn>
                        </p:par>
                        <p:par>
                          <p:cTn id="16" fill="hold" nodeType="afterGroup">
                            <p:stCondLst>
                              <p:cond delay="500"/>
                            </p:stCondLst>
                            <p:childTnLst>
                              <p:par>
                                <p:cTn id="17" presetID="22" presetClass="entr" presetSubtype="4" fill="hold" nodeType="afterEffect">
                                  <p:stCondLst>
                                    <p:cond delay="0"/>
                                  </p:stCondLst>
                                  <p:childTnLst>
                                    <p:set>
                                      <p:cBhvr>
                                        <p:cTn id="18" dur="1" fill="hold">
                                          <p:stCondLst>
                                            <p:cond delay="0"/>
                                          </p:stCondLst>
                                        </p:cTn>
                                        <p:tgtEl>
                                          <p:spTgt spid="51230"/>
                                        </p:tgtEl>
                                        <p:attrNameLst>
                                          <p:attrName>style.visibility</p:attrName>
                                        </p:attrNameLst>
                                      </p:cBhvr>
                                      <p:to>
                                        <p:strVal val="visible"/>
                                      </p:to>
                                    </p:set>
                                    <p:animEffect transition="in" filter="wipe(down)">
                                      <p:cBhvr>
                                        <p:cTn id="19" dur="500"/>
                                        <p:tgtEl>
                                          <p:spTgt spid="51230"/>
                                        </p:tgtEl>
                                      </p:cBhvr>
                                    </p:animEffect>
                                  </p:childTnLst>
                                </p:cTn>
                              </p:par>
                            </p:childTnLst>
                          </p:cTn>
                        </p:par>
                        <p:par>
                          <p:cTn id="20" fill="hold" nodeType="afterGroup">
                            <p:stCondLst>
                              <p:cond delay="1000"/>
                            </p:stCondLst>
                            <p:childTnLst>
                              <p:par>
                                <p:cTn id="21" presetID="22" presetClass="entr" presetSubtype="4" fill="hold" nodeType="afterEffect">
                                  <p:stCondLst>
                                    <p:cond delay="0"/>
                                  </p:stCondLst>
                                  <p:childTnLst>
                                    <p:set>
                                      <p:cBhvr>
                                        <p:cTn id="22" dur="1" fill="hold">
                                          <p:stCondLst>
                                            <p:cond delay="0"/>
                                          </p:stCondLst>
                                        </p:cTn>
                                        <p:tgtEl>
                                          <p:spTgt spid="51214"/>
                                        </p:tgtEl>
                                        <p:attrNameLst>
                                          <p:attrName>style.visibility</p:attrName>
                                        </p:attrNameLst>
                                      </p:cBhvr>
                                      <p:to>
                                        <p:strVal val="visible"/>
                                      </p:to>
                                    </p:set>
                                    <p:animEffect transition="in" filter="wipe(down)">
                                      <p:cBhvr>
                                        <p:cTn id="23" dur="500"/>
                                        <p:tgtEl>
                                          <p:spTgt spid="51214"/>
                                        </p:tgtEl>
                                      </p:cBhvr>
                                    </p:animEffect>
                                  </p:childTnLst>
                                </p:cTn>
                              </p:par>
                            </p:childTnLst>
                          </p:cTn>
                        </p:par>
                        <p:par>
                          <p:cTn id="24" fill="hold" nodeType="afterGroup">
                            <p:stCondLst>
                              <p:cond delay="1500"/>
                            </p:stCondLst>
                            <p:childTnLst>
                              <p:par>
                                <p:cTn id="25" presetID="1" presetClass="entr" presetSubtype="0" fill="hold" nodeType="afterEffect">
                                  <p:stCondLst>
                                    <p:cond delay="0"/>
                                  </p:stCondLst>
                                  <p:childTnLst>
                                    <p:set>
                                      <p:cBhvr>
                                        <p:cTn id="26" dur="1" fill="hold">
                                          <p:stCondLst>
                                            <p:cond delay="0"/>
                                          </p:stCondLst>
                                        </p:cTn>
                                        <p:tgtEl>
                                          <p:spTgt spid="51225"/>
                                        </p:tgtEl>
                                        <p:attrNameLst>
                                          <p:attrName>style.visibility</p:attrName>
                                        </p:attrNameLst>
                                      </p:cBhvr>
                                      <p:to>
                                        <p:strVal val="visible"/>
                                      </p:to>
                                    </p:set>
                                  </p:childTnLst>
                                </p:cTn>
                              </p:par>
                            </p:childTnLst>
                          </p:cTn>
                        </p:par>
                        <p:par>
                          <p:cTn id="27" fill="hold" nodeType="afterGroup">
                            <p:stCondLst>
                              <p:cond delay="1500"/>
                            </p:stCondLst>
                            <p:childTnLst>
                              <p:par>
                                <p:cTn id="28" presetID="22" presetClass="entr" presetSubtype="4" fill="hold" nodeType="afterEffect">
                                  <p:stCondLst>
                                    <p:cond delay="0"/>
                                  </p:stCondLst>
                                  <p:childTnLst>
                                    <p:set>
                                      <p:cBhvr>
                                        <p:cTn id="29" dur="1" fill="hold">
                                          <p:stCondLst>
                                            <p:cond delay="0"/>
                                          </p:stCondLst>
                                        </p:cTn>
                                        <p:tgtEl>
                                          <p:spTgt spid="51228"/>
                                        </p:tgtEl>
                                        <p:attrNameLst>
                                          <p:attrName>style.visibility</p:attrName>
                                        </p:attrNameLst>
                                      </p:cBhvr>
                                      <p:to>
                                        <p:strVal val="visible"/>
                                      </p:to>
                                    </p:set>
                                    <p:animEffect transition="in" filter="wipe(down)">
                                      <p:cBhvr>
                                        <p:cTn id="30" dur="500"/>
                                        <p:tgtEl>
                                          <p:spTgt spid="51228"/>
                                        </p:tgtEl>
                                      </p:cBhvr>
                                    </p:animEffect>
                                  </p:childTnLst>
                                </p:cTn>
                              </p:par>
                            </p:childTnLst>
                          </p:cTn>
                        </p:par>
                        <p:par>
                          <p:cTn id="31" fill="hold" nodeType="afterGroup">
                            <p:stCondLst>
                              <p:cond delay="2000"/>
                            </p:stCondLst>
                            <p:childTnLst>
                              <p:par>
                                <p:cTn id="32" presetID="22" presetClass="entr" presetSubtype="4" fill="hold" nodeType="afterEffect">
                                  <p:stCondLst>
                                    <p:cond delay="0"/>
                                  </p:stCondLst>
                                  <p:childTnLst>
                                    <p:set>
                                      <p:cBhvr>
                                        <p:cTn id="33" dur="1" fill="hold">
                                          <p:stCondLst>
                                            <p:cond delay="0"/>
                                          </p:stCondLst>
                                        </p:cTn>
                                        <p:tgtEl>
                                          <p:spTgt spid="51229"/>
                                        </p:tgtEl>
                                        <p:attrNameLst>
                                          <p:attrName>style.visibility</p:attrName>
                                        </p:attrNameLst>
                                      </p:cBhvr>
                                      <p:to>
                                        <p:strVal val="visible"/>
                                      </p:to>
                                    </p:set>
                                    <p:animEffect transition="in" filter="wipe(down)">
                                      <p:cBhvr>
                                        <p:cTn id="34" dur="500"/>
                                        <p:tgtEl>
                                          <p:spTgt spid="5122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210">
                                            <p:txEl>
                                              <p:pRg st="0" end="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20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120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120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1209">
                                            <p:txEl>
                                              <p:pRg st="0" end="0"/>
                                            </p:txEl>
                                          </p:spTgt>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51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autoUpdateAnimBg="0"/>
      <p:bldP spid="51204" grpId="0"/>
      <p:bldP spid="51206" grpId="0" build="p" autoUpdateAnimBg="0"/>
      <p:bldP spid="51208" grpId="0" autoUpdateAnimBg="0"/>
      <p:bldP spid="51209" grpId="0" build="p" autoUpdateAnimBg="0"/>
      <p:bldP spid="51210"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6" name="Object 2">
            <a:extLst>
              <a:ext uri="{FF2B5EF4-FFF2-40B4-BE49-F238E27FC236}">
                <a16:creationId xmlns:a16="http://schemas.microsoft.com/office/drawing/2014/main" id="{8774505E-A8C5-4602-9F1D-587802C6D8BC}"/>
              </a:ext>
            </a:extLst>
          </p:cNvPr>
          <p:cNvGraphicFramePr>
            <a:graphicFrameLocks/>
          </p:cNvGraphicFramePr>
          <p:nvPr/>
        </p:nvGraphicFramePr>
        <p:xfrm>
          <a:off x="3886200" y="2730500"/>
          <a:ext cx="2438400" cy="1143000"/>
        </p:xfrm>
        <a:graphic>
          <a:graphicData uri="http://schemas.openxmlformats.org/presentationml/2006/ole">
            <mc:AlternateContent xmlns:mc="http://schemas.openxmlformats.org/markup-compatibility/2006">
              <mc:Choice xmlns:v="urn:schemas-microsoft-com:vml" Requires="v">
                <p:oleObj spid="_x0000_s8314" name="公式" r:id="rId3" imgW="761669" imgH="393529" progId="Equation.3">
                  <p:embed/>
                </p:oleObj>
              </mc:Choice>
              <mc:Fallback>
                <p:oleObj name="公式" r:id="rId3" imgW="761669" imgH="393529" progId="Equation.3">
                  <p:embed/>
                  <p:pic>
                    <p:nvPicPr>
                      <p:cNvPr id="52226" name="Object 2">
                        <a:extLst>
                          <a:ext uri="{FF2B5EF4-FFF2-40B4-BE49-F238E27FC236}">
                            <a16:creationId xmlns:a16="http://schemas.microsoft.com/office/drawing/2014/main" id="{8774505E-A8C5-4602-9F1D-587802C6D8B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2730500"/>
                        <a:ext cx="2438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27" name="Object 3">
            <a:extLst>
              <a:ext uri="{FF2B5EF4-FFF2-40B4-BE49-F238E27FC236}">
                <a16:creationId xmlns:a16="http://schemas.microsoft.com/office/drawing/2014/main" id="{2BDEC7BF-20E8-43BB-958F-A19E66D556B4}"/>
              </a:ext>
            </a:extLst>
          </p:cNvPr>
          <p:cNvGraphicFramePr>
            <a:graphicFrameLocks/>
          </p:cNvGraphicFramePr>
          <p:nvPr/>
        </p:nvGraphicFramePr>
        <p:xfrm>
          <a:off x="5600700" y="5092700"/>
          <a:ext cx="2286000" cy="1371600"/>
        </p:xfrm>
        <a:graphic>
          <a:graphicData uri="http://schemas.openxmlformats.org/presentationml/2006/ole">
            <mc:AlternateContent xmlns:mc="http://schemas.openxmlformats.org/markup-compatibility/2006">
              <mc:Choice xmlns:v="urn:schemas-microsoft-com:vml" Requires="v">
                <p:oleObj spid="_x0000_s8315" name="公式" r:id="rId5" imgW="660113" imgH="431613" progId="Equation.3">
                  <p:embed/>
                </p:oleObj>
              </mc:Choice>
              <mc:Fallback>
                <p:oleObj name="公式" r:id="rId5" imgW="660113" imgH="431613" progId="Equation.3">
                  <p:embed/>
                  <p:pic>
                    <p:nvPicPr>
                      <p:cNvPr id="52227" name="Object 3">
                        <a:extLst>
                          <a:ext uri="{FF2B5EF4-FFF2-40B4-BE49-F238E27FC236}">
                            <a16:creationId xmlns:a16="http://schemas.microsoft.com/office/drawing/2014/main" id="{2BDEC7BF-20E8-43BB-958F-A19E66D556B4}"/>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0700" y="5092700"/>
                        <a:ext cx="2286000" cy="1371600"/>
                      </a:xfrm>
                      <a:prstGeom prst="rect">
                        <a:avLst/>
                      </a:prstGeom>
                      <a:noFill/>
                      <a:ln w="12700">
                        <a:noFill/>
                        <a:miter lim="800000"/>
                        <a:headEnd/>
                        <a:tailEnd/>
                      </a:ln>
                      <a:effectLst/>
                    </p:spPr>
                  </p:pic>
                </p:oleObj>
              </mc:Fallback>
            </mc:AlternateContent>
          </a:graphicData>
        </a:graphic>
      </p:graphicFrame>
      <p:graphicFrame>
        <p:nvGraphicFramePr>
          <p:cNvPr id="52229" name="Object 5">
            <a:extLst>
              <a:ext uri="{FF2B5EF4-FFF2-40B4-BE49-F238E27FC236}">
                <a16:creationId xmlns:a16="http://schemas.microsoft.com/office/drawing/2014/main" id="{195AE39F-6750-4D48-B790-4411F419E62C}"/>
              </a:ext>
            </a:extLst>
          </p:cNvPr>
          <p:cNvGraphicFramePr>
            <a:graphicFrameLocks/>
          </p:cNvGraphicFramePr>
          <p:nvPr/>
        </p:nvGraphicFramePr>
        <p:xfrm>
          <a:off x="3792538" y="1852614"/>
          <a:ext cx="1371600" cy="566737"/>
        </p:xfrm>
        <a:graphic>
          <a:graphicData uri="http://schemas.openxmlformats.org/presentationml/2006/ole">
            <mc:AlternateContent xmlns:mc="http://schemas.openxmlformats.org/markup-compatibility/2006">
              <mc:Choice xmlns:v="urn:schemas-microsoft-com:vml" Requires="v">
                <p:oleObj spid="_x0000_s8316" name="公式" r:id="rId7" imgW="444307" imgH="203112" progId="Equation.3">
                  <p:embed/>
                </p:oleObj>
              </mc:Choice>
              <mc:Fallback>
                <p:oleObj name="公式" r:id="rId7" imgW="444307" imgH="203112" progId="Equation.3">
                  <p:embed/>
                  <p:pic>
                    <p:nvPicPr>
                      <p:cNvPr id="52229" name="Object 5">
                        <a:extLst>
                          <a:ext uri="{FF2B5EF4-FFF2-40B4-BE49-F238E27FC236}">
                            <a16:creationId xmlns:a16="http://schemas.microsoft.com/office/drawing/2014/main" id="{195AE39F-6750-4D48-B790-4411F419E62C}"/>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2538" y="1852614"/>
                        <a:ext cx="137160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30" name="Object 6">
            <a:extLst>
              <a:ext uri="{FF2B5EF4-FFF2-40B4-BE49-F238E27FC236}">
                <a16:creationId xmlns:a16="http://schemas.microsoft.com/office/drawing/2014/main" id="{470D4C5A-44AB-4C27-AAEE-9B47D031F8A1}"/>
              </a:ext>
            </a:extLst>
          </p:cNvPr>
          <p:cNvGraphicFramePr>
            <a:graphicFrameLocks/>
          </p:cNvGraphicFramePr>
          <p:nvPr/>
        </p:nvGraphicFramePr>
        <p:xfrm>
          <a:off x="4114800" y="3949700"/>
          <a:ext cx="2057400" cy="685800"/>
        </p:xfrm>
        <a:graphic>
          <a:graphicData uri="http://schemas.openxmlformats.org/presentationml/2006/ole">
            <mc:AlternateContent xmlns:mc="http://schemas.openxmlformats.org/markup-compatibility/2006">
              <mc:Choice xmlns:v="urn:schemas-microsoft-com:vml" Requires="v">
                <p:oleObj spid="_x0000_s8317" name="公式" r:id="rId9" imgW="634725" imgH="203112" progId="Equation.3">
                  <p:embed/>
                </p:oleObj>
              </mc:Choice>
              <mc:Fallback>
                <p:oleObj name="公式" r:id="rId9" imgW="634725" imgH="203112" progId="Equation.3">
                  <p:embed/>
                  <p:pic>
                    <p:nvPicPr>
                      <p:cNvPr id="52230" name="Object 6">
                        <a:extLst>
                          <a:ext uri="{FF2B5EF4-FFF2-40B4-BE49-F238E27FC236}">
                            <a16:creationId xmlns:a16="http://schemas.microsoft.com/office/drawing/2014/main" id="{470D4C5A-44AB-4C27-AAEE-9B47D031F8A1}"/>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14800" y="3949700"/>
                        <a:ext cx="2057400" cy="685800"/>
                      </a:xfrm>
                      <a:prstGeom prst="rect">
                        <a:avLst/>
                      </a:prstGeom>
                      <a:noFill/>
                      <a:ln w="12700">
                        <a:noFill/>
                        <a:miter lim="800000"/>
                        <a:headEnd/>
                        <a:tailEnd/>
                      </a:ln>
                      <a:effectLst/>
                    </p:spPr>
                  </p:pic>
                </p:oleObj>
              </mc:Fallback>
            </mc:AlternateContent>
          </a:graphicData>
        </a:graphic>
      </p:graphicFrame>
      <p:sp>
        <p:nvSpPr>
          <p:cNvPr id="52231" name="Text Box 7">
            <a:extLst>
              <a:ext uri="{FF2B5EF4-FFF2-40B4-BE49-F238E27FC236}">
                <a16:creationId xmlns:a16="http://schemas.microsoft.com/office/drawing/2014/main" id="{B571F220-FA5D-4B37-AD8F-47B5A34F7F04}"/>
              </a:ext>
            </a:extLst>
          </p:cNvPr>
          <p:cNvSpPr txBox="1">
            <a:spLocks noChangeArrowheads="1"/>
          </p:cNvSpPr>
          <p:nvPr/>
        </p:nvSpPr>
        <p:spPr bwMode="auto">
          <a:xfrm>
            <a:off x="1962150" y="1040606"/>
            <a:ext cx="47625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0" dirty="0">
                <a:latin typeface="华文楷体" panose="02010600040101010101" pitchFamily="2" charset="-122"/>
                <a:ea typeface="华文楷体" panose="02010600040101010101" pitchFamily="2" charset="-122"/>
              </a:rPr>
              <a:t>过场点作狭长矩形回路</a:t>
            </a:r>
          </a:p>
        </p:txBody>
      </p:sp>
      <p:sp>
        <p:nvSpPr>
          <p:cNvPr id="52232" name="Text Box 8">
            <a:extLst>
              <a:ext uri="{FF2B5EF4-FFF2-40B4-BE49-F238E27FC236}">
                <a16:creationId xmlns:a16="http://schemas.microsoft.com/office/drawing/2014/main" id="{4091D9B8-3138-4D07-83FB-245D351C0FE9}"/>
              </a:ext>
            </a:extLst>
          </p:cNvPr>
          <p:cNvSpPr txBox="1">
            <a:spLocks noChangeArrowheads="1"/>
          </p:cNvSpPr>
          <p:nvPr/>
        </p:nvSpPr>
        <p:spPr bwMode="auto">
          <a:xfrm>
            <a:off x="1981200" y="1816100"/>
            <a:ext cx="12954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0" dirty="0">
                <a:latin typeface="华文楷体" panose="02010600040101010101" pitchFamily="2" charset="-122"/>
                <a:ea typeface="华文楷体" panose="02010600040101010101" pitchFamily="2" charset="-122"/>
              </a:rPr>
              <a:t>由于</a:t>
            </a:r>
          </a:p>
        </p:txBody>
      </p:sp>
      <p:sp>
        <p:nvSpPr>
          <p:cNvPr id="52234" name="Text Box 10">
            <a:extLst>
              <a:ext uri="{FF2B5EF4-FFF2-40B4-BE49-F238E27FC236}">
                <a16:creationId xmlns:a16="http://schemas.microsoft.com/office/drawing/2014/main" id="{7AC02EEF-B910-410A-A92E-360C5DA00736}"/>
              </a:ext>
            </a:extLst>
          </p:cNvPr>
          <p:cNvSpPr txBox="1">
            <a:spLocks noChangeArrowheads="1"/>
          </p:cNvSpPr>
          <p:nvPr/>
        </p:nvSpPr>
        <p:spPr bwMode="auto">
          <a:xfrm>
            <a:off x="2057400" y="2959100"/>
            <a:ext cx="11430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0" dirty="0">
                <a:latin typeface="华文楷体" panose="02010600040101010101" pitchFamily="2" charset="-122"/>
                <a:ea typeface="华文楷体" panose="02010600040101010101" pitchFamily="2" charset="-122"/>
              </a:rPr>
              <a:t>有</a:t>
            </a:r>
          </a:p>
        </p:txBody>
      </p:sp>
      <p:sp>
        <p:nvSpPr>
          <p:cNvPr id="52235" name="Text Box 11">
            <a:extLst>
              <a:ext uri="{FF2B5EF4-FFF2-40B4-BE49-F238E27FC236}">
                <a16:creationId xmlns:a16="http://schemas.microsoft.com/office/drawing/2014/main" id="{7FA113AE-7B0E-4FD0-B8C9-024331BB9559}"/>
              </a:ext>
            </a:extLst>
          </p:cNvPr>
          <p:cNvSpPr txBox="1">
            <a:spLocks noChangeArrowheads="1"/>
          </p:cNvSpPr>
          <p:nvPr/>
        </p:nvSpPr>
        <p:spPr bwMode="auto">
          <a:xfrm>
            <a:off x="2133600" y="4025900"/>
            <a:ext cx="10668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0" dirty="0">
                <a:latin typeface="华文楷体" panose="02010600040101010101" pitchFamily="2" charset="-122"/>
                <a:ea typeface="华文楷体" panose="02010600040101010101" pitchFamily="2" charset="-122"/>
              </a:rPr>
              <a:t>得</a:t>
            </a:r>
          </a:p>
        </p:txBody>
      </p:sp>
      <p:sp>
        <p:nvSpPr>
          <p:cNvPr id="52236" name="Text Box 12">
            <a:extLst>
              <a:ext uri="{FF2B5EF4-FFF2-40B4-BE49-F238E27FC236}">
                <a16:creationId xmlns:a16="http://schemas.microsoft.com/office/drawing/2014/main" id="{46350C30-F432-4CC4-97B1-8E669B2AC74E}"/>
              </a:ext>
            </a:extLst>
          </p:cNvPr>
          <p:cNvSpPr txBox="1">
            <a:spLocks noChangeArrowheads="1"/>
          </p:cNvSpPr>
          <p:nvPr/>
        </p:nvSpPr>
        <p:spPr bwMode="auto">
          <a:xfrm>
            <a:off x="1962150" y="5514975"/>
            <a:ext cx="2927350" cy="58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0" dirty="0">
                <a:latin typeface="华文楷体" panose="02010600040101010101" pitchFamily="2" charset="-122"/>
                <a:ea typeface="华文楷体" panose="02010600040101010101" pitchFamily="2" charset="-122"/>
              </a:rPr>
              <a:t>由介质方程有</a:t>
            </a:r>
          </a:p>
        </p:txBody>
      </p:sp>
      <p:grpSp>
        <p:nvGrpSpPr>
          <p:cNvPr id="52237" name="Group 13">
            <a:extLst>
              <a:ext uri="{FF2B5EF4-FFF2-40B4-BE49-F238E27FC236}">
                <a16:creationId xmlns:a16="http://schemas.microsoft.com/office/drawing/2014/main" id="{6940CA24-5219-4FBD-9A1F-F114E82C4443}"/>
              </a:ext>
            </a:extLst>
          </p:cNvPr>
          <p:cNvGrpSpPr>
            <a:grpSpLocks/>
          </p:cNvGrpSpPr>
          <p:nvPr/>
        </p:nvGrpSpPr>
        <p:grpSpPr bwMode="auto">
          <a:xfrm>
            <a:off x="8534400" y="1828800"/>
            <a:ext cx="973138" cy="1517650"/>
            <a:chOff x="4848" y="2400"/>
            <a:chExt cx="613" cy="956"/>
          </a:xfrm>
        </p:grpSpPr>
        <p:grpSp>
          <p:nvGrpSpPr>
            <p:cNvPr id="28691" name="Group 14">
              <a:extLst>
                <a:ext uri="{FF2B5EF4-FFF2-40B4-BE49-F238E27FC236}">
                  <a16:creationId xmlns:a16="http://schemas.microsoft.com/office/drawing/2014/main" id="{D316AD23-3C2D-4C83-B5C8-5DFEA867D9C3}"/>
                </a:ext>
              </a:extLst>
            </p:cNvPr>
            <p:cNvGrpSpPr>
              <a:grpSpLocks/>
            </p:cNvGrpSpPr>
            <p:nvPr/>
          </p:nvGrpSpPr>
          <p:grpSpPr bwMode="auto">
            <a:xfrm>
              <a:off x="5232" y="2784"/>
              <a:ext cx="229" cy="572"/>
              <a:chOff x="5280" y="2500"/>
              <a:chExt cx="229" cy="572"/>
            </a:xfrm>
          </p:grpSpPr>
          <p:sp>
            <p:nvSpPr>
              <p:cNvPr id="28695" name="Rectangle 15">
                <a:extLst>
                  <a:ext uri="{FF2B5EF4-FFF2-40B4-BE49-F238E27FC236}">
                    <a16:creationId xmlns:a16="http://schemas.microsoft.com/office/drawing/2014/main" id="{4C62A5A0-D7A0-4756-AB58-52DD747B7F1C}"/>
                  </a:ext>
                </a:extLst>
              </p:cNvPr>
              <p:cNvSpPr>
                <a:spLocks noChangeArrowheads="1"/>
              </p:cNvSpPr>
              <p:nvPr/>
            </p:nvSpPr>
            <p:spPr bwMode="auto">
              <a:xfrm rot="2700000">
                <a:off x="5249" y="2584"/>
                <a:ext cx="328" cy="160"/>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dirty="0">
                  <a:ea typeface="华文楷体" panose="02010600040101010101" pitchFamily="2" charset="-122"/>
                </a:endParaRPr>
              </a:p>
            </p:txBody>
          </p:sp>
          <p:graphicFrame>
            <p:nvGraphicFramePr>
              <p:cNvPr id="28696" name="Object 16">
                <a:extLst>
                  <a:ext uri="{FF2B5EF4-FFF2-40B4-BE49-F238E27FC236}">
                    <a16:creationId xmlns:a16="http://schemas.microsoft.com/office/drawing/2014/main" id="{743A5821-86E7-49AF-8789-10D7A6BD4C7C}"/>
                  </a:ext>
                </a:extLst>
              </p:cNvPr>
              <p:cNvGraphicFramePr>
                <a:graphicFrameLocks/>
              </p:cNvGraphicFramePr>
              <p:nvPr/>
            </p:nvGraphicFramePr>
            <p:xfrm>
              <a:off x="5280" y="2736"/>
              <a:ext cx="229" cy="336"/>
            </p:xfrm>
            <a:graphic>
              <a:graphicData uri="http://schemas.openxmlformats.org/presentationml/2006/ole">
                <mc:AlternateContent xmlns:mc="http://schemas.openxmlformats.org/markup-compatibility/2006">
                  <mc:Choice xmlns:v="urn:schemas-microsoft-com:vml" Requires="v">
                    <p:oleObj spid="_x0000_s8318" name="公式" r:id="rId11" imgW="101468" imgH="164885" progId="Equation.3">
                      <p:embed/>
                    </p:oleObj>
                  </mc:Choice>
                  <mc:Fallback>
                    <p:oleObj name="公式" r:id="rId11" imgW="101468" imgH="164885" progId="Equation.3">
                      <p:embed/>
                      <p:pic>
                        <p:nvPicPr>
                          <p:cNvPr id="28696" name="Object 16">
                            <a:extLst>
                              <a:ext uri="{FF2B5EF4-FFF2-40B4-BE49-F238E27FC236}">
                                <a16:creationId xmlns:a16="http://schemas.microsoft.com/office/drawing/2014/main" id="{743A5821-86E7-49AF-8789-10D7A6BD4C7C}"/>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80" y="2736"/>
                            <a:ext cx="229"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8692" name="Group 17">
              <a:extLst>
                <a:ext uri="{FF2B5EF4-FFF2-40B4-BE49-F238E27FC236}">
                  <a16:creationId xmlns:a16="http://schemas.microsoft.com/office/drawing/2014/main" id="{249A5F16-583A-4DCF-977B-5A1A0A26AA23}"/>
                </a:ext>
              </a:extLst>
            </p:cNvPr>
            <p:cNvGrpSpPr>
              <a:grpSpLocks/>
            </p:cNvGrpSpPr>
            <p:nvPr/>
          </p:nvGrpSpPr>
          <p:grpSpPr bwMode="auto">
            <a:xfrm>
              <a:off x="4848" y="2400"/>
              <a:ext cx="576" cy="480"/>
              <a:chOff x="4848" y="2640"/>
              <a:chExt cx="576" cy="480"/>
            </a:xfrm>
          </p:grpSpPr>
          <p:sp>
            <p:nvSpPr>
              <p:cNvPr id="28693" name="Line 18">
                <a:extLst>
                  <a:ext uri="{FF2B5EF4-FFF2-40B4-BE49-F238E27FC236}">
                    <a16:creationId xmlns:a16="http://schemas.microsoft.com/office/drawing/2014/main" id="{BADB8D13-D085-44D4-B659-BD53EC664F12}"/>
                  </a:ext>
                </a:extLst>
              </p:cNvPr>
              <p:cNvSpPr>
                <a:spLocks noChangeShapeType="1"/>
              </p:cNvSpPr>
              <p:nvPr/>
            </p:nvSpPr>
            <p:spPr bwMode="auto">
              <a:xfrm>
                <a:off x="5136" y="2880"/>
                <a:ext cx="288" cy="240"/>
              </a:xfrm>
              <a:prstGeom prst="line">
                <a:avLst/>
              </a:prstGeom>
              <a:noFill/>
              <a:ln w="38100">
                <a:solidFill>
                  <a:srgbClr val="FF0033"/>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8694" name="Object 19">
                <a:extLst>
                  <a:ext uri="{FF2B5EF4-FFF2-40B4-BE49-F238E27FC236}">
                    <a16:creationId xmlns:a16="http://schemas.microsoft.com/office/drawing/2014/main" id="{4EF16D8D-9270-491B-A392-9C9E58143B3B}"/>
                  </a:ext>
                </a:extLst>
              </p:cNvPr>
              <p:cNvGraphicFramePr>
                <a:graphicFrameLocks/>
              </p:cNvGraphicFramePr>
              <p:nvPr/>
            </p:nvGraphicFramePr>
            <p:xfrm>
              <a:off x="4848" y="2640"/>
              <a:ext cx="288" cy="401"/>
            </p:xfrm>
            <a:graphic>
              <a:graphicData uri="http://schemas.openxmlformats.org/presentationml/2006/ole">
                <mc:AlternateContent xmlns:mc="http://schemas.openxmlformats.org/markup-compatibility/2006">
                  <mc:Choice xmlns:v="urn:schemas-microsoft-com:vml" Requires="v">
                    <p:oleObj spid="_x0000_s8319" name="公式" r:id="rId13" imgW="114201" imgH="190335" progId="Equation.3">
                      <p:embed/>
                    </p:oleObj>
                  </mc:Choice>
                  <mc:Fallback>
                    <p:oleObj name="公式" r:id="rId13" imgW="114201" imgH="190335" progId="Equation.3">
                      <p:embed/>
                      <p:pic>
                        <p:nvPicPr>
                          <p:cNvPr id="28694" name="Object 19">
                            <a:extLst>
                              <a:ext uri="{FF2B5EF4-FFF2-40B4-BE49-F238E27FC236}">
                                <a16:creationId xmlns:a16="http://schemas.microsoft.com/office/drawing/2014/main" id="{4EF16D8D-9270-491B-A392-9C9E58143B3B}"/>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48" y="2640"/>
                            <a:ext cx="288"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28684" name="Group 20">
            <a:extLst>
              <a:ext uri="{FF2B5EF4-FFF2-40B4-BE49-F238E27FC236}">
                <a16:creationId xmlns:a16="http://schemas.microsoft.com/office/drawing/2014/main" id="{721E1DC5-3E9B-4065-A82F-CAC3606D8391}"/>
              </a:ext>
            </a:extLst>
          </p:cNvPr>
          <p:cNvGrpSpPr>
            <a:grpSpLocks/>
          </p:cNvGrpSpPr>
          <p:nvPr/>
        </p:nvGrpSpPr>
        <p:grpSpPr bwMode="auto">
          <a:xfrm>
            <a:off x="7391400" y="1828801"/>
            <a:ext cx="2971800" cy="519113"/>
            <a:chOff x="3888" y="1152"/>
            <a:chExt cx="1872" cy="327"/>
          </a:xfrm>
        </p:grpSpPr>
        <p:sp>
          <p:nvSpPr>
            <p:cNvPr id="28689" name="Rectangle 21">
              <a:extLst>
                <a:ext uri="{FF2B5EF4-FFF2-40B4-BE49-F238E27FC236}">
                  <a16:creationId xmlns:a16="http://schemas.microsoft.com/office/drawing/2014/main" id="{17C8D073-DE2D-4313-818D-C3C18CDC1835}"/>
                </a:ext>
              </a:extLst>
            </p:cNvPr>
            <p:cNvSpPr>
              <a:spLocks noChangeArrowheads="1"/>
            </p:cNvSpPr>
            <p:nvPr/>
          </p:nvSpPr>
          <p:spPr bwMode="auto">
            <a:xfrm>
              <a:off x="3888" y="1152"/>
              <a:ext cx="8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0" dirty="0">
                  <a:solidFill>
                    <a:srgbClr val="D60093"/>
                  </a:solidFill>
                  <a:latin typeface="华文楷体" panose="02010600040101010101" pitchFamily="2" charset="-122"/>
                  <a:ea typeface="华文楷体" panose="02010600040101010101" pitchFamily="2" charset="-122"/>
                </a:rPr>
                <a:t>介质</a:t>
              </a:r>
              <a:r>
                <a:rPr lang="en-US" altLang="zh-CN" b="0" dirty="0">
                  <a:solidFill>
                    <a:srgbClr val="D60093"/>
                  </a:solidFill>
                  <a:latin typeface="华文楷体" panose="02010600040101010101" pitchFamily="2" charset="-122"/>
                  <a:ea typeface="华文楷体" panose="02010600040101010101" pitchFamily="2" charset="-122"/>
                </a:rPr>
                <a:t>1</a:t>
              </a:r>
            </a:p>
          </p:txBody>
        </p:sp>
        <p:sp>
          <p:nvSpPr>
            <p:cNvPr id="28690" name="Rectangle 22">
              <a:extLst>
                <a:ext uri="{FF2B5EF4-FFF2-40B4-BE49-F238E27FC236}">
                  <a16:creationId xmlns:a16="http://schemas.microsoft.com/office/drawing/2014/main" id="{B1DAC32F-D6F1-44A8-8F81-698A3455B777}"/>
                </a:ext>
              </a:extLst>
            </p:cNvPr>
            <p:cNvSpPr>
              <a:spLocks noChangeArrowheads="1"/>
            </p:cNvSpPr>
            <p:nvPr/>
          </p:nvSpPr>
          <p:spPr bwMode="auto">
            <a:xfrm>
              <a:off x="4896" y="1152"/>
              <a:ext cx="8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0" dirty="0">
                  <a:solidFill>
                    <a:srgbClr val="D60093"/>
                  </a:solidFill>
                  <a:latin typeface="华文楷体" panose="02010600040101010101" pitchFamily="2" charset="-122"/>
                  <a:ea typeface="华文楷体" panose="02010600040101010101" pitchFamily="2" charset="-122"/>
                </a:rPr>
                <a:t>介质</a:t>
              </a:r>
              <a:r>
                <a:rPr lang="en-US" altLang="zh-CN" b="0" dirty="0">
                  <a:solidFill>
                    <a:srgbClr val="D60093"/>
                  </a:solidFill>
                  <a:latin typeface="华文楷体" panose="02010600040101010101" pitchFamily="2" charset="-122"/>
                  <a:ea typeface="华文楷体" panose="02010600040101010101" pitchFamily="2" charset="-122"/>
                </a:rPr>
                <a:t>2</a:t>
              </a:r>
            </a:p>
          </p:txBody>
        </p:sp>
      </p:grpSp>
      <p:graphicFrame>
        <p:nvGraphicFramePr>
          <p:cNvPr id="52247" name="Object 23">
            <a:extLst>
              <a:ext uri="{FF2B5EF4-FFF2-40B4-BE49-F238E27FC236}">
                <a16:creationId xmlns:a16="http://schemas.microsoft.com/office/drawing/2014/main" id="{4BE7B517-014A-4C83-86AD-C3B3BA5C33A9}"/>
              </a:ext>
            </a:extLst>
          </p:cNvPr>
          <p:cNvGraphicFramePr>
            <a:graphicFrameLocks/>
          </p:cNvGraphicFramePr>
          <p:nvPr/>
        </p:nvGraphicFramePr>
        <p:xfrm>
          <a:off x="9372601" y="2362200"/>
          <a:ext cx="684213" cy="642938"/>
        </p:xfrm>
        <a:graphic>
          <a:graphicData uri="http://schemas.openxmlformats.org/presentationml/2006/ole">
            <mc:AlternateContent xmlns:mc="http://schemas.openxmlformats.org/markup-compatibility/2006">
              <mc:Choice xmlns:v="urn:schemas-microsoft-com:vml" Requires="v">
                <p:oleObj spid="_x0000_s8320" name="公式" r:id="rId15" imgW="215713" imgH="203024" progId="Equation.3">
                  <p:embed/>
                </p:oleObj>
              </mc:Choice>
              <mc:Fallback>
                <p:oleObj name="公式" r:id="rId15" imgW="215713" imgH="203024" progId="Equation.3">
                  <p:embed/>
                  <p:pic>
                    <p:nvPicPr>
                      <p:cNvPr id="52247" name="Object 23">
                        <a:extLst>
                          <a:ext uri="{FF2B5EF4-FFF2-40B4-BE49-F238E27FC236}">
                            <a16:creationId xmlns:a16="http://schemas.microsoft.com/office/drawing/2014/main" id="{4BE7B517-014A-4C83-86AD-C3B3BA5C33A9}"/>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372601" y="2362200"/>
                        <a:ext cx="684213"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48" name="Object 24">
            <a:extLst>
              <a:ext uri="{FF2B5EF4-FFF2-40B4-BE49-F238E27FC236}">
                <a16:creationId xmlns:a16="http://schemas.microsoft.com/office/drawing/2014/main" id="{CC891888-F321-41A9-8147-E71C2FF8E857}"/>
              </a:ext>
            </a:extLst>
          </p:cNvPr>
          <p:cNvGraphicFramePr>
            <a:graphicFrameLocks/>
          </p:cNvGraphicFramePr>
          <p:nvPr/>
        </p:nvGraphicFramePr>
        <p:xfrm>
          <a:off x="8458200" y="2438400"/>
          <a:ext cx="889000" cy="609600"/>
        </p:xfrm>
        <a:graphic>
          <a:graphicData uri="http://schemas.openxmlformats.org/presentationml/2006/ole">
            <mc:AlternateContent xmlns:mc="http://schemas.openxmlformats.org/markup-compatibility/2006">
              <mc:Choice xmlns:v="urn:schemas-microsoft-com:vml" Requires="v">
                <p:oleObj spid="_x0000_s8321" name="公式" r:id="rId17" imgW="228501" imgH="203112" progId="Equation.3">
                  <p:embed/>
                </p:oleObj>
              </mc:Choice>
              <mc:Fallback>
                <p:oleObj name="公式" r:id="rId17" imgW="228501" imgH="203112" progId="Equation.3">
                  <p:embed/>
                  <p:pic>
                    <p:nvPicPr>
                      <p:cNvPr id="52248" name="Object 24">
                        <a:extLst>
                          <a:ext uri="{FF2B5EF4-FFF2-40B4-BE49-F238E27FC236}">
                            <a16:creationId xmlns:a16="http://schemas.microsoft.com/office/drawing/2014/main" id="{CC891888-F321-41A9-8147-E71C2FF8E857}"/>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458200" y="2438400"/>
                        <a:ext cx="889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87" name="Freeform 25">
            <a:extLst>
              <a:ext uri="{FF2B5EF4-FFF2-40B4-BE49-F238E27FC236}">
                <a16:creationId xmlns:a16="http://schemas.microsoft.com/office/drawing/2014/main" id="{E7DFB6CC-C0ED-411E-A1BF-70311E1F1806}"/>
              </a:ext>
            </a:extLst>
          </p:cNvPr>
          <p:cNvSpPr>
            <a:spLocks/>
          </p:cNvSpPr>
          <p:nvPr/>
        </p:nvSpPr>
        <p:spPr bwMode="auto">
          <a:xfrm>
            <a:off x="8382000" y="1905000"/>
            <a:ext cx="1752600" cy="1752600"/>
          </a:xfrm>
          <a:custGeom>
            <a:avLst/>
            <a:gdLst>
              <a:gd name="T0" fmla="*/ 2147483647 w 1104"/>
              <a:gd name="T1" fmla="*/ 2147483647 h 1104"/>
              <a:gd name="T2" fmla="*/ 2147483647 w 1104"/>
              <a:gd name="T3" fmla="*/ 2147483647 h 1104"/>
              <a:gd name="T4" fmla="*/ 0 w 1104"/>
              <a:gd name="T5" fmla="*/ 0 h 1104"/>
              <a:gd name="T6" fmla="*/ 0 60000 65536"/>
              <a:gd name="T7" fmla="*/ 0 60000 65536"/>
              <a:gd name="T8" fmla="*/ 0 60000 65536"/>
            </a:gdLst>
            <a:ahLst/>
            <a:cxnLst>
              <a:cxn ang="T6">
                <a:pos x="T0" y="T1"/>
              </a:cxn>
              <a:cxn ang="T7">
                <a:pos x="T2" y="T3"/>
              </a:cxn>
              <a:cxn ang="T8">
                <a:pos x="T4" y="T5"/>
              </a:cxn>
            </a:cxnLst>
            <a:rect l="0" t="0" r="r" b="b"/>
            <a:pathLst>
              <a:path w="1104" h="1104">
                <a:moveTo>
                  <a:pt x="1104" y="1104"/>
                </a:moveTo>
                <a:cubicBezTo>
                  <a:pt x="932" y="884"/>
                  <a:pt x="760" y="664"/>
                  <a:pt x="576" y="480"/>
                </a:cubicBezTo>
                <a:cubicBezTo>
                  <a:pt x="392" y="296"/>
                  <a:pt x="104" y="88"/>
                  <a:pt x="0" y="0"/>
                </a:cubicBezTo>
              </a:path>
            </a:pathLst>
          </a:custGeom>
          <a:noFill/>
          <a:ln w="12700" cap="flat"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8" name="Oval 26">
            <a:extLst>
              <a:ext uri="{FF2B5EF4-FFF2-40B4-BE49-F238E27FC236}">
                <a16:creationId xmlns:a16="http://schemas.microsoft.com/office/drawing/2014/main" id="{3DC6728F-9440-462D-978D-F771C0C56E91}"/>
              </a:ext>
            </a:extLst>
          </p:cNvPr>
          <p:cNvSpPr>
            <a:spLocks noChangeArrowheads="1"/>
          </p:cNvSpPr>
          <p:nvPr/>
        </p:nvSpPr>
        <p:spPr bwMode="auto">
          <a:xfrm>
            <a:off x="9296400" y="2667000"/>
            <a:ext cx="76200" cy="76200"/>
          </a:xfrm>
          <a:prstGeom prst="ellipse">
            <a:avLst/>
          </a:prstGeom>
          <a:solidFill>
            <a:schemeClr val="tx2"/>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dirty="0">
              <a:ea typeface="华文楷体" panose="02010600040101010101" pitchFamily="2" charset="-122"/>
            </a:endParaRPr>
          </a:p>
        </p:txBody>
      </p:sp>
      <p:sp>
        <p:nvSpPr>
          <p:cNvPr id="26" name="标题 7">
            <a:extLst>
              <a:ext uri="{FF2B5EF4-FFF2-40B4-BE49-F238E27FC236}">
                <a16:creationId xmlns:a16="http://schemas.microsoft.com/office/drawing/2014/main" id="{FF91C87E-D091-4097-AB8D-0F9F0FFF43EF}"/>
              </a:ext>
            </a:extLst>
          </p:cNvPr>
          <p:cNvSpPr txBox="1">
            <a:spLocks/>
          </p:cNvSpPr>
          <p:nvPr/>
        </p:nvSpPr>
        <p:spPr>
          <a:xfrm>
            <a:off x="719721" y="280249"/>
            <a:ext cx="888147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稳恒磁场在物质分界面上的边界条件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5" fill="hold" nodeType="clickEffect">
                                  <p:stCondLst>
                                    <p:cond delay="0"/>
                                  </p:stCondLst>
                                  <p:childTnLst>
                                    <p:set>
                                      <p:cBhvr>
                                        <p:cTn id="10" dur="1" fill="hold">
                                          <p:stCondLst>
                                            <p:cond delay="0"/>
                                          </p:stCondLst>
                                        </p:cTn>
                                        <p:tgtEl>
                                          <p:spTgt spid="52247"/>
                                        </p:tgtEl>
                                        <p:attrNameLst>
                                          <p:attrName>style.visibility</p:attrName>
                                        </p:attrNameLst>
                                      </p:cBhvr>
                                      <p:to>
                                        <p:strVal val="visible"/>
                                      </p:to>
                                    </p:set>
                                    <p:animEffect transition="in" filter="blinds(vertical)">
                                      <p:cBhvr>
                                        <p:cTn id="11" dur="500"/>
                                        <p:tgtEl>
                                          <p:spTgt spid="5224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5" fill="hold" nodeType="clickEffect">
                                  <p:stCondLst>
                                    <p:cond delay="0"/>
                                  </p:stCondLst>
                                  <p:childTnLst>
                                    <p:set>
                                      <p:cBhvr>
                                        <p:cTn id="15" dur="1" fill="hold">
                                          <p:stCondLst>
                                            <p:cond delay="0"/>
                                          </p:stCondLst>
                                        </p:cTn>
                                        <p:tgtEl>
                                          <p:spTgt spid="52237"/>
                                        </p:tgtEl>
                                        <p:attrNameLst>
                                          <p:attrName>style.visibility</p:attrName>
                                        </p:attrNameLst>
                                      </p:cBhvr>
                                      <p:to>
                                        <p:strVal val="visible"/>
                                      </p:to>
                                    </p:set>
                                    <p:animEffect transition="in" filter="blinds(vertical)">
                                      <p:cBhvr>
                                        <p:cTn id="16" dur="500"/>
                                        <p:tgtEl>
                                          <p:spTgt spid="5223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52248"/>
                                        </p:tgtEl>
                                        <p:attrNameLst>
                                          <p:attrName>style.visibility</p:attrName>
                                        </p:attrNameLst>
                                      </p:cBhvr>
                                      <p:to>
                                        <p:strVal val="visible"/>
                                      </p:to>
                                    </p:set>
                                    <p:animEffect transition="in" filter="blinds(horizontal)">
                                      <p:cBhvr>
                                        <p:cTn id="21" dur="500"/>
                                        <p:tgtEl>
                                          <p:spTgt spid="5224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2232">
                                            <p:txEl>
                                              <p:pRg st="0" end="0"/>
                                            </p:txEl>
                                          </p:spTgt>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52229"/>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2234"/>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52226"/>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2235"/>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52230"/>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2236"/>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0"/>
                                          </p:stCondLst>
                                        </p:cTn>
                                        <p:tgtEl>
                                          <p:spTgt spid="522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autoUpdateAnimBg="0"/>
      <p:bldP spid="52232" grpId="0" build="p" autoUpdateAnimBg="0"/>
      <p:bldP spid="52234" grpId="0" autoUpdateAnimBg="0"/>
      <p:bldP spid="52235" grpId="0" autoUpdateAnimBg="0"/>
      <p:bldP spid="5223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56" name="Object 8">
            <a:extLst>
              <a:ext uri="{FF2B5EF4-FFF2-40B4-BE49-F238E27FC236}">
                <a16:creationId xmlns:a16="http://schemas.microsoft.com/office/drawing/2014/main" id="{C0E319B5-1823-467D-AC41-ADF6502CC4DB}"/>
              </a:ext>
            </a:extLst>
          </p:cNvPr>
          <p:cNvGraphicFramePr>
            <a:graphicFrameLocks noChangeAspect="1"/>
          </p:cNvGraphicFramePr>
          <p:nvPr>
            <p:extLst>
              <p:ext uri="{D42A27DB-BD31-4B8C-83A1-F6EECF244321}">
                <p14:modId xmlns:p14="http://schemas.microsoft.com/office/powerpoint/2010/main" val="1655609908"/>
              </p:ext>
            </p:extLst>
          </p:nvPr>
        </p:nvGraphicFramePr>
        <p:xfrm>
          <a:off x="5648325" y="2925763"/>
          <a:ext cx="3144838" cy="1077912"/>
        </p:xfrm>
        <a:graphic>
          <a:graphicData uri="http://schemas.openxmlformats.org/presentationml/2006/ole">
            <mc:AlternateContent xmlns:mc="http://schemas.openxmlformats.org/markup-compatibility/2006">
              <mc:Choice xmlns:v="urn:schemas-microsoft-com:vml" Requires="v">
                <p:oleObj spid="_x0000_s9266" name="Equation" r:id="rId3" imgW="1257300" imgH="431800" progId="Equation.DSMT4">
                  <p:embed/>
                </p:oleObj>
              </mc:Choice>
              <mc:Fallback>
                <p:oleObj name="Equation" r:id="rId3" imgW="1257300" imgH="431800" progId="Equation.DSMT4">
                  <p:embed/>
                  <p:pic>
                    <p:nvPicPr>
                      <p:cNvPr id="53256" name="Object 8">
                        <a:extLst>
                          <a:ext uri="{FF2B5EF4-FFF2-40B4-BE49-F238E27FC236}">
                            <a16:creationId xmlns:a16="http://schemas.microsoft.com/office/drawing/2014/main" id="{C0E319B5-1823-467D-AC41-ADF6502CC4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8325" y="2925763"/>
                        <a:ext cx="3144838" cy="1077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3258" name="Group 10">
            <a:extLst>
              <a:ext uri="{FF2B5EF4-FFF2-40B4-BE49-F238E27FC236}">
                <a16:creationId xmlns:a16="http://schemas.microsoft.com/office/drawing/2014/main" id="{7E1D0472-C787-436D-B30B-C2C034309986}"/>
              </a:ext>
            </a:extLst>
          </p:cNvPr>
          <p:cNvGrpSpPr>
            <a:grpSpLocks/>
          </p:cNvGrpSpPr>
          <p:nvPr/>
        </p:nvGrpSpPr>
        <p:grpSpPr bwMode="auto">
          <a:xfrm>
            <a:off x="5259927" y="4584018"/>
            <a:ext cx="2117725" cy="625487"/>
            <a:chOff x="2640" y="1933"/>
            <a:chExt cx="1476" cy="436"/>
          </a:xfrm>
        </p:grpSpPr>
        <mc:AlternateContent xmlns:mc="http://schemas.openxmlformats.org/markup-compatibility/2006" xmlns:a14="http://schemas.microsoft.com/office/drawing/2010/main">
          <mc:Choice Requires="a14">
            <p:sp>
              <p:nvSpPr>
                <p:cNvPr id="29743" name="Object 11">
                  <a:extLst>
                    <a:ext uri="{FF2B5EF4-FFF2-40B4-BE49-F238E27FC236}">
                      <a16:creationId xmlns:a16="http://schemas.microsoft.com/office/drawing/2014/main" id="{3675C244-BDDE-4BCD-BFEF-E1BB96A86D92}"/>
                    </a:ext>
                  </a:extLst>
                </p:cNvPr>
                <p:cNvSpPr txBox="1"/>
                <p:nvPr/>
              </p:nvSpPr>
              <p:spPr bwMode="auto">
                <a:xfrm>
                  <a:off x="2992" y="1933"/>
                  <a:ext cx="1110" cy="39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&gt;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𝜇</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xmlns="">
            <p:sp>
              <p:nvSpPr>
                <p:cNvPr id="29743" name="Object 11">
                  <a:extLst>
                    <a:ext uri="{FF2B5EF4-FFF2-40B4-BE49-F238E27FC236}">
                      <a16:creationId xmlns:a16="http://schemas.microsoft.com/office/drawing/2014/main" id="{3675C244-BDDE-4BCD-BFEF-E1BB96A86D92}"/>
                    </a:ext>
                  </a:extLst>
                </p:cNvPr>
                <p:cNvSpPr txBox="1">
                  <a:spLocks noRot="1" noChangeAspect="1" noMove="1" noResize="1" noEditPoints="1" noAdjustHandles="1" noChangeArrowheads="1" noChangeShapeType="1" noTextEdit="1"/>
                </p:cNvSpPr>
                <p:nvPr/>
              </p:nvSpPr>
              <p:spPr bwMode="auto">
                <a:xfrm>
                  <a:off x="2992" y="1933"/>
                  <a:ext cx="1110" cy="392"/>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29744" name="Text Box 12">
              <a:extLst>
                <a:ext uri="{FF2B5EF4-FFF2-40B4-BE49-F238E27FC236}">
                  <a16:creationId xmlns:a16="http://schemas.microsoft.com/office/drawing/2014/main" id="{37C1C80D-52AE-441D-88C3-9C9DF542E5F6}"/>
                </a:ext>
              </a:extLst>
            </p:cNvPr>
            <p:cNvSpPr txBox="1">
              <a:spLocks noChangeArrowheads="1"/>
            </p:cNvSpPr>
            <p:nvPr/>
          </p:nvSpPr>
          <p:spPr bwMode="auto">
            <a:xfrm>
              <a:off x="2640" y="1967"/>
              <a:ext cx="480"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0" dirty="0">
                  <a:ea typeface="华文楷体" panose="02010600040101010101" pitchFamily="2" charset="-122"/>
                </a:rPr>
                <a:t>若</a:t>
              </a:r>
            </a:p>
          </p:txBody>
        </p:sp>
        <p:sp>
          <p:nvSpPr>
            <p:cNvPr id="29745" name="Text Box 13">
              <a:extLst>
                <a:ext uri="{FF2B5EF4-FFF2-40B4-BE49-F238E27FC236}">
                  <a16:creationId xmlns:a16="http://schemas.microsoft.com/office/drawing/2014/main" id="{67877791-19C1-4FE0-A2A0-FF629CD8AE68}"/>
                </a:ext>
              </a:extLst>
            </p:cNvPr>
            <p:cNvSpPr txBox="1">
              <a:spLocks noChangeArrowheads="1"/>
            </p:cNvSpPr>
            <p:nvPr/>
          </p:nvSpPr>
          <p:spPr bwMode="auto">
            <a:xfrm>
              <a:off x="3924" y="2004"/>
              <a:ext cx="19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0" dirty="0">
                  <a:ea typeface="华文楷体" panose="02010600040101010101" pitchFamily="2" charset="-122"/>
                </a:rPr>
                <a:t>，</a:t>
              </a:r>
            </a:p>
          </p:txBody>
        </p:sp>
      </p:grpSp>
      <p:grpSp>
        <p:nvGrpSpPr>
          <p:cNvPr id="53262" name="Group 14">
            <a:extLst>
              <a:ext uri="{FF2B5EF4-FFF2-40B4-BE49-F238E27FC236}">
                <a16:creationId xmlns:a16="http://schemas.microsoft.com/office/drawing/2014/main" id="{6087456D-F4C6-4F88-960D-00B6B0A9C960}"/>
              </a:ext>
            </a:extLst>
          </p:cNvPr>
          <p:cNvGrpSpPr>
            <a:grpSpLocks/>
          </p:cNvGrpSpPr>
          <p:nvPr/>
        </p:nvGrpSpPr>
        <p:grpSpPr bwMode="auto">
          <a:xfrm>
            <a:off x="7440337" y="4616250"/>
            <a:ext cx="2283345" cy="609255"/>
            <a:chOff x="4128" y="1956"/>
            <a:chExt cx="1592" cy="425"/>
          </a:xfrm>
        </p:grpSpPr>
        <mc:AlternateContent xmlns:mc="http://schemas.openxmlformats.org/markup-compatibility/2006" xmlns:a14="http://schemas.microsoft.com/office/drawing/2010/main">
          <mc:Choice Requires="a14">
            <p:sp>
              <p:nvSpPr>
                <p:cNvPr id="29740" name="Object 15">
                  <a:extLst>
                    <a:ext uri="{FF2B5EF4-FFF2-40B4-BE49-F238E27FC236}">
                      <a16:creationId xmlns:a16="http://schemas.microsoft.com/office/drawing/2014/main" id="{EDF6BE99-CB11-4FE7-AAC9-726F8B8A7F09}"/>
                    </a:ext>
                  </a:extLst>
                </p:cNvPr>
                <p:cNvSpPr txBox="1"/>
                <p:nvPr/>
              </p:nvSpPr>
              <p:spPr bwMode="auto">
                <a:xfrm>
                  <a:off x="4524" y="1968"/>
                  <a:ext cx="1196" cy="40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𝜃</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&gt;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𝜃</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xmlns="">
            <p:sp>
              <p:nvSpPr>
                <p:cNvPr id="29740" name="Object 15">
                  <a:extLst>
                    <a:ext uri="{FF2B5EF4-FFF2-40B4-BE49-F238E27FC236}">
                      <a16:creationId xmlns:a16="http://schemas.microsoft.com/office/drawing/2014/main" id="{EDF6BE99-CB11-4FE7-AAC9-726F8B8A7F09}"/>
                    </a:ext>
                  </a:extLst>
                </p:cNvPr>
                <p:cNvSpPr txBox="1">
                  <a:spLocks noRot="1" noChangeAspect="1" noMove="1" noResize="1" noEditPoints="1" noAdjustHandles="1" noChangeArrowheads="1" noChangeShapeType="1" noTextEdit="1"/>
                </p:cNvSpPr>
                <p:nvPr/>
              </p:nvSpPr>
              <p:spPr bwMode="auto">
                <a:xfrm>
                  <a:off x="4524" y="1968"/>
                  <a:ext cx="1196" cy="405"/>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29741" name="Text Box 16">
              <a:extLst>
                <a:ext uri="{FF2B5EF4-FFF2-40B4-BE49-F238E27FC236}">
                  <a16:creationId xmlns:a16="http://schemas.microsoft.com/office/drawing/2014/main" id="{8467168F-4FEB-4E99-B568-0D65A613C8B1}"/>
                </a:ext>
              </a:extLst>
            </p:cNvPr>
            <p:cNvSpPr txBox="1">
              <a:spLocks noChangeArrowheads="1"/>
            </p:cNvSpPr>
            <p:nvPr/>
          </p:nvSpPr>
          <p:spPr bwMode="auto">
            <a:xfrm>
              <a:off x="4128" y="1956"/>
              <a:ext cx="384"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0" dirty="0">
                  <a:ea typeface="华文楷体" panose="02010600040101010101" pitchFamily="2" charset="-122"/>
                </a:rPr>
                <a:t>则</a:t>
              </a:r>
            </a:p>
          </p:txBody>
        </p:sp>
        <p:sp>
          <p:nvSpPr>
            <p:cNvPr id="29742" name="Text Box 17">
              <a:extLst>
                <a:ext uri="{FF2B5EF4-FFF2-40B4-BE49-F238E27FC236}">
                  <a16:creationId xmlns:a16="http://schemas.microsoft.com/office/drawing/2014/main" id="{D0DAD626-854A-4300-BE7E-6067910DB83A}"/>
                </a:ext>
              </a:extLst>
            </p:cNvPr>
            <p:cNvSpPr txBox="1">
              <a:spLocks noChangeArrowheads="1"/>
            </p:cNvSpPr>
            <p:nvPr/>
          </p:nvSpPr>
          <p:spPr bwMode="auto">
            <a:xfrm>
              <a:off x="5377" y="2016"/>
              <a:ext cx="19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en-US" b="0" dirty="0">
                <a:ea typeface="华文楷体" panose="02010600040101010101" pitchFamily="2" charset="-122"/>
              </a:endParaRPr>
            </a:p>
          </p:txBody>
        </p:sp>
      </p:grpSp>
      <p:grpSp>
        <p:nvGrpSpPr>
          <p:cNvPr id="53272" name="Group 24">
            <a:extLst>
              <a:ext uri="{FF2B5EF4-FFF2-40B4-BE49-F238E27FC236}">
                <a16:creationId xmlns:a16="http://schemas.microsoft.com/office/drawing/2014/main" id="{2341D367-56FA-48BB-BEDB-BA7FC305E167}"/>
              </a:ext>
            </a:extLst>
          </p:cNvPr>
          <p:cNvGrpSpPr>
            <a:grpSpLocks/>
          </p:cNvGrpSpPr>
          <p:nvPr/>
        </p:nvGrpSpPr>
        <p:grpSpPr bwMode="auto">
          <a:xfrm>
            <a:off x="1011628" y="2124074"/>
            <a:ext cx="3324225" cy="2393950"/>
            <a:chOff x="60" y="144"/>
            <a:chExt cx="2304" cy="1659"/>
          </a:xfrm>
        </p:grpSpPr>
        <p:sp>
          <p:nvSpPr>
            <p:cNvPr id="29722" name="Freeform 25">
              <a:extLst>
                <a:ext uri="{FF2B5EF4-FFF2-40B4-BE49-F238E27FC236}">
                  <a16:creationId xmlns:a16="http://schemas.microsoft.com/office/drawing/2014/main" id="{968B1E3B-420D-4141-8079-920686783EAF}"/>
                </a:ext>
              </a:extLst>
            </p:cNvPr>
            <p:cNvSpPr>
              <a:spLocks/>
            </p:cNvSpPr>
            <p:nvPr/>
          </p:nvSpPr>
          <p:spPr bwMode="auto">
            <a:xfrm>
              <a:off x="60" y="984"/>
              <a:ext cx="2304" cy="168"/>
            </a:xfrm>
            <a:custGeom>
              <a:avLst/>
              <a:gdLst>
                <a:gd name="T0" fmla="*/ 0 w 2304"/>
                <a:gd name="T1" fmla="*/ 168 h 168"/>
                <a:gd name="T2" fmla="*/ 864 w 2304"/>
                <a:gd name="T3" fmla="*/ 24 h 168"/>
                <a:gd name="T4" fmla="*/ 1536 w 2304"/>
                <a:gd name="T5" fmla="*/ 24 h 168"/>
                <a:gd name="T6" fmla="*/ 2304 w 2304"/>
                <a:gd name="T7" fmla="*/ 168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04" h="168">
                  <a:moveTo>
                    <a:pt x="0" y="168"/>
                  </a:moveTo>
                  <a:cubicBezTo>
                    <a:pt x="304" y="108"/>
                    <a:pt x="608" y="48"/>
                    <a:pt x="864" y="24"/>
                  </a:cubicBezTo>
                  <a:cubicBezTo>
                    <a:pt x="1120" y="0"/>
                    <a:pt x="1296" y="0"/>
                    <a:pt x="1536" y="24"/>
                  </a:cubicBezTo>
                  <a:cubicBezTo>
                    <a:pt x="1776" y="48"/>
                    <a:pt x="2040" y="108"/>
                    <a:pt x="2304" y="168"/>
                  </a:cubicBez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29723" name="Line 26">
              <a:extLst>
                <a:ext uri="{FF2B5EF4-FFF2-40B4-BE49-F238E27FC236}">
                  <a16:creationId xmlns:a16="http://schemas.microsoft.com/office/drawing/2014/main" id="{E93E14B6-EE55-4421-AD0B-4AC84CF5EFDD}"/>
                </a:ext>
              </a:extLst>
            </p:cNvPr>
            <p:cNvSpPr>
              <a:spLocks noChangeShapeType="1"/>
            </p:cNvSpPr>
            <p:nvPr/>
          </p:nvSpPr>
          <p:spPr bwMode="auto">
            <a:xfrm flipH="1" flipV="1">
              <a:off x="1233" y="471"/>
              <a:ext cx="0" cy="1296"/>
            </a:xfrm>
            <a:prstGeom prst="line">
              <a:avLst/>
            </a:prstGeom>
            <a:noFill/>
            <a:ln w="28575">
              <a:solidFill>
                <a:srgbClr val="FF33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29724" name="Line 27">
              <a:extLst>
                <a:ext uri="{FF2B5EF4-FFF2-40B4-BE49-F238E27FC236}">
                  <a16:creationId xmlns:a16="http://schemas.microsoft.com/office/drawing/2014/main" id="{9283011D-6E96-47C3-8722-DF609D4A1792}"/>
                </a:ext>
              </a:extLst>
            </p:cNvPr>
            <p:cNvSpPr>
              <a:spLocks noChangeShapeType="1"/>
            </p:cNvSpPr>
            <p:nvPr/>
          </p:nvSpPr>
          <p:spPr bwMode="auto">
            <a:xfrm flipV="1">
              <a:off x="717" y="987"/>
              <a:ext cx="528" cy="816"/>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mc:AlternateContent xmlns:mc="http://schemas.openxmlformats.org/markup-compatibility/2006" xmlns:a14="http://schemas.microsoft.com/office/drawing/2010/main">
          <mc:Choice Requires="a14">
            <p:sp>
              <p:nvSpPr>
                <p:cNvPr id="29725" name="Object 28">
                  <a:extLst>
                    <a:ext uri="{FF2B5EF4-FFF2-40B4-BE49-F238E27FC236}">
                      <a16:creationId xmlns:a16="http://schemas.microsoft.com/office/drawing/2014/main" id="{AEA8126B-6176-4DD2-BA90-F000B2A91290}"/>
                    </a:ext>
                  </a:extLst>
                </p:cNvPr>
                <p:cNvSpPr txBox="1"/>
                <p:nvPr/>
              </p:nvSpPr>
              <p:spPr bwMode="auto">
                <a:xfrm>
                  <a:off x="968" y="337"/>
                  <a:ext cx="256" cy="322"/>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𝑛</m:t>
                            </m:r>
                          </m:e>
                        </m:acc>
                      </m:oMath>
                    </m:oMathPara>
                  </a14:m>
                  <a:endParaRPr lang="zh-CN" altLang="en-US" sz="2800"/>
                </a:p>
              </p:txBody>
            </p:sp>
          </mc:Choice>
          <mc:Fallback xmlns="">
            <p:sp>
              <p:nvSpPr>
                <p:cNvPr id="29725" name="Object 28">
                  <a:extLst>
                    <a:ext uri="{FF2B5EF4-FFF2-40B4-BE49-F238E27FC236}">
                      <a16:creationId xmlns:a16="http://schemas.microsoft.com/office/drawing/2014/main" id="{AEA8126B-6176-4DD2-BA90-F000B2A91290}"/>
                    </a:ext>
                  </a:extLst>
                </p:cNvPr>
                <p:cNvSpPr txBox="1">
                  <a:spLocks noRot="1" noChangeAspect="1" noMove="1" noResize="1" noEditPoints="1" noAdjustHandles="1" noChangeArrowheads="1" noChangeShapeType="1" noTextEdit="1"/>
                </p:cNvSpPr>
                <p:nvPr/>
              </p:nvSpPr>
              <p:spPr bwMode="auto">
                <a:xfrm>
                  <a:off x="968" y="337"/>
                  <a:ext cx="256" cy="322"/>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9726" name="Object 29">
                  <a:extLst>
                    <a:ext uri="{FF2B5EF4-FFF2-40B4-BE49-F238E27FC236}">
                      <a16:creationId xmlns:a16="http://schemas.microsoft.com/office/drawing/2014/main" id="{91C07EEF-590C-4BBA-85D3-0A1542B0E83D}"/>
                    </a:ext>
                  </a:extLst>
                </p:cNvPr>
                <p:cNvGraphicFramePr>
                  <a:graphicFrameLocks noChangeAspect="1"/>
                </p:cNvGraphicFramePr>
                <p:nvPr/>
              </p:nvGraphicFramePr>
              <p:xfrm>
                <a:off x="1674" y="144"/>
                <a:ext cx="518" cy="364"/>
              </p:xfrm>
              <a:graphic>
                <a:graphicData uri="http://schemas.openxmlformats.org/presentationml/2006/ole">
                  <mc:AlternateContent>
                    <mc:Choice xmlns:v="urn:schemas-microsoft-com:vml" Requires="v">
                      <p:oleObj spid="_x0000_s9267" name="公式" r:id="rId8" imgW="259112" imgH="160056" progId="Equation.3">
                        <p:embed/>
                      </p:oleObj>
                    </mc:Choice>
                    <mc:Fallback>
                      <p:oleObj name="公式" r:id="rId8" imgW="259112" imgH="160056" progId="Equation.3">
                        <p:embed/>
                        <p:pic>
                          <p:nvPicPr>
                            <p:cNvPr id="29726" name="Object 29">
                              <a:extLst>
                                <a:ext uri="{FF2B5EF4-FFF2-40B4-BE49-F238E27FC236}">
                                  <a16:creationId xmlns:a16="http://schemas.microsoft.com/office/drawing/2014/main" id="{91C07EEF-590C-4BBA-85D3-0A1542B0E83D}"/>
                                </a:ext>
                              </a:extLst>
                            </p:cNvPr>
                            <p:cNvPicPr>
                              <a:picLocks noChangeAspect="1" noChangeArrowheads="1"/>
                            </p:cNvPicPr>
                            <p:nvPr/>
                          </p:nvPicPr>
                          <p:blipFill>
                            <a:blip r:embed="rId9">
                              <a:extLst>
                                <a:ext uri="{28A0092B-C50C-407E-A947-70E740481C1C}">
                                  <a14:useLocalDpi val="0"/>
                                </a:ext>
                              </a:extLst>
                            </a:blip>
                            <a:srcRect/>
                            <a:stretch>
                              <a:fillRect/>
                            </a:stretch>
                          </p:blipFill>
                          <p:spPr bwMode="auto">
                            <a:xfrm>
                              <a:off x="1674" y="144"/>
                              <a:ext cx="518" cy="364"/>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29726" name="Object 29">
                  <a:extLst>
                    <a:ext uri="{FF2B5EF4-FFF2-40B4-BE49-F238E27FC236}">
                      <a16:creationId xmlns:a16="http://schemas.microsoft.com/office/drawing/2014/main" id="{91C07EEF-590C-4BBA-85D3-0A1542B0E83D}"/>
                    </a:ext>
                  </a:extLst>
                </p:cNvPr>
                <p:cNvGraphicFramePr>
                  <a:graphicFrameLocks noChangeAspect="1"/>
                </p:cNvGraphicFramePr>
                <p:nvPr/>
              </p:nvGraphicFramePr>
              <p:xfrm>
                <a:off x="1674" y="144"/>
                <a:ext cx="518" cy="364"/>
              </p:xfrm>
              <a:graphic>
                <a:graphicData uri="http://schemas.openxmlformats.org/presentationml/2006/ole">
                  <mc:AlternateContent>
                    <mc:Choice xmlns:v="urn:schemas-microsoft-com:vml" Requires="v">
                      <p:oleObj name="公式" r:id="rId10" imgW="259112" imgH="160056" progId="Equation.3">
                        <p:embed/>
                      </p:oleObj>
                    </mc:Choice>
                    <mc:Fallback>
                      <p:oleObj name="公式" r:id="rId10" imgW="259112" imgH="160056" progId="Equation.3">
                        <p:embed/>
                        <p:pic>
                          <p:nvPicPr>
                            <p:cNvPr id="29726" name="Object 29">
                              <a:extLst>
                                <a:ext uri="{FF2B5EF4-FFF2-40B4-BE49-F238E27FC236}">
                                  <a16:creationId xmlns:a16="http://schemas.microsoft.com/office/drawing/2014/main" id="{91C07EEF-590C-4BBA-85D3-0A1542B0E83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74" y="144"/>
                              <a:ext cx="518"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9727" name="Object 30">
                  <a:extLst>
                    <a:ext uri="{FF2B5EF4-FFF2-40B4-BE49-F238E27FC236}">
                      <a16:creationId xmlns:a16="http://schemas.microsoft.com/office/drawing/2014/main" id="{C0575BC6-798D-4F28-BA7C-875AF43799B9}"/>
                    </a:ext>
                  </a:extLst>
                </p:cNvPr>
                <p:cNvGraphicFramePr>
                  <a:graphicFrameLocks noChangeAspect="1"/>
                </p:cNvGraphicFramePr>
                <p:nvPr/>
              </p:nvGraphicFramePr>
              <p:xfrm>
                <a:off x="201" y="1431"/>
                <a:ext cx="536" cy="364"/>
              </p:xfrm>
              <a:graphic>
                <a:graphicData uri="http://schemas.openxmlformats.org/presentationml/2006/ole">
                  <mc:AlternateContent>
                    <mc:Choice xmlns:v="urn:schemas-microsoft-com:vml" Requires="v">
                      <p:oleObj spid="_x0000_s9268" name="公式" r:id="rId12" imgW="274239" imgH="160056" progId="Equation.3">
                        <p:embed/>
                      </p:oleObj>
                    </mc:Choice>
                    <mc:Fallback>
                      <p:oleObj name="公式" r:id="rId12" imgW="274239" imgH="160056" progId="Equation.3">
                        <p:embed/>
                        <p:pic>
                          <p:nvPicPr>
                            <p:cNvPr id="29727" name="Object 30">
                              <a:extLst>
                                <a:ext uri="{FF2B5EF4-FFF2-40B4-BE49-F238E27FC236}">
                                  <a16:creationId xmlns:a16="http://schemas.microsoft.com/office/drawing/2014/main" id="{C0575BC6-798D-4F28-BA7C-875AF43799B9}"/>
                                </a:ext>
                              </a:extLst>
                            </p:cNvPr>
                            <p:cNvPicPr>
                              <a:picLocks noChangeAspect="1" noChangeArrowheads="1"/>
                            </p:cNvPicPr>
                            <p:nvPr/>
                          </p:nvPicPr>
                          <p:blipFill>
                            <a:blip r:embed="rId13">
                              <a:extLst>
                                <a:ext uri="{28A0092B-C50C-407E-A947-70E740481C1C}">
                                  <a14:useLocalDpi val="0"/>
                                </a:ext>
                              </a:extLst>
                            </a:blip>
                            <a:srcRect/>
                            <a:stretch>
                              <a:fillRect/>
                            </a:stretch>
                          </p:blipFill>
                          <p:spPr bwMode="auto">
                            <a:xfrm>
                              <a:off x="201" y="1431"/>
                              <a:ext cx="536" cy="364"/>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29727" name="Object 30">
                  <a:extLst>
                    <a:ext uri="{FF2B5EF4-FFF2-40B4-BE49-F238E27FC236}">
                      <a16:creationId xmlns:a16="http://schemas.microsoft.com/office/drawing/2014/main" id="{C0575BC6-798D-4F28-BA7C-875AF43799B9}"/>
                    </a:ext>
                  </a:extLst>
                </p:cNvPr>
                <p:cNvGraphicFramePr>
                  <a:graphicFrameLocks noChangeAspect="1"/>
                </p:cNvGraphicFramePr>
                <p:nvPr/>
              </p:nvGraphicFramePr>
              <p:xfrm>
                <a:off x="201" y="1431"/>
                <a:ext cx="536" cy="364"/>
              </p:xfrm>
              <a:graphic>
                <a:graphicData uri="http://schemas.openxmlformats.org/presentationml/2006/ole">
                  <mc:AlternateContent>
                    <mc:Choice xmlns:v="urn:schemas-microsoft-com:vml" Requires="v">
                      <p:oleObj name="公式" r:id="rId14" imgW="274239" imgH="160056" progId="Equation.3">
                        <p:embed/>
                      </p:oleObj>
                    </mc:Choice>
                    <mc:Fallback>
                      <p:oleObj name="公式" r:id="rId14" imgW="274239" imgH="160056" progId="Equation.3">
                        <p:embed/>
                        <p:pic>
                          <p:nvPicPr>
                            <p:cNvPr id="29727" name="Object 30">
                              <a:extLst>
                                <a:ext uri="{FF2B5EF4-FFF2-40B4-BE49-F238E27FC236}">
                                  <a16:creationId xmlns:a16="http://schemas.microsoft.com/office/drawing/2014/main" id="{C0575BC6-798D-4F28-BA7C-875AF43799B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1" y="1431"/>
                              <a:ext cx="536"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29728" name="Text Box 31">
              <a:extLst>
                <a:ext uri="{FF2B5EF4-FFF2-40B4-BE49-F238E27FC236}">
                  <a16:creationId xmlns:a16="http://schemas.microsoft.com/office/drawing/2014/main" id="{685739B7-0493-4EBB-9F21-9C46980C3D8B}"/>
                </a:ext>
              </a:extLst>
            </p:cNvPr>
            <p:cNvSpPr txBox="1">
              <a:spLocks noChangeArrowheads="1"/>
            </p:cNvSpPr>
            <p:nvPr/>
          </p:nvSpPr>
          <p:spPr bwMode="auto">
            <a:xfrm>
              <a:off x="97" y="684"/>
              <a:ext cx="815"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dirty="0">
                  <a:ea typeface="华文楷体" panose="02010600040101010101" pitchFamily="2" charset="-122"/>
                  <a:sym typeface="Symbol" panose="05050102010706020507" pitchFamily="18" charset="2"/>
                </a:rPr>
                <a:t></a:t>
              </a:r>
              <a:r>
                <a:rPr lang="en-US" altLang="zh-CN" b="0" baseline="-25000" dirty="0">
                  <a:ea typeface="华文楷体" panose="02010600040101010101" pitchFamily="2" charset="-122"/>
                  <a:sym typeface="Symbol" panose="05050102010706020507" pitchFamily="18" charset="2"/>
                </a:rPr>
                <a:t>1</a:t>
              </a:r>
              <a:endParaRPr lang="en-US" altLang="zh-CN" b="0" dirty="0">
                <a:ea typeface="华文楷体" panose="02010600040101010101" pitchFamily="2" charset="-122"/>
              </a:endParaRPr>
            </a:p>
          </p:txBody>
        </p:sp>
        <p:sp>
          <p:nvSpPr>
            <p:cNvPr id="29729" name="Text Box 32">
              <a:extLst>
                <a:ext uri="{FF2B5EF4-FFF2-40B4-BE49-F238E27FC236}">
                  <a16:creationId xmlns:a16="http://schemas.microsoft.com/office/drawing/2014/main" id="{74CF1FF6-F244-468A-B1D6-0DA7A097EED9}"/>
                </a:ext>
              </a:extLst>
            </p:cNvPr>
            <p:cNvSpPr txBox="1">
              <a:spLocks noChangeArrowheads="1"/>
            </p:cNvSpPr>
            <p:nvPr/>
          </p:nvSpPr>
          <p:spPr bwMode="auto">
            <a:xfrm>
              <a:off x="109" y="1008"/>
              <a:ext cx="815"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dirty="0">
                  <a:ea typeface="华文楷体" panose="02010600040101010101" pitchFamily="2" charset="-122"/>
                  <a:sym typeface="Symbol" panose="05050102010706020507" pitchFamily="18" charset="2"/>
                </a:rPr>
                <a:t></a:t>
              </a:r>
              <a:r>
                <a:rPr lang="en-US" altLang="zh-CN" b="0" baseline="-25000" dirty="0">
                  <a:ea typeface="华文楷体" panose="02010600040101010101" pitchFamily="2" charset="-122"/>
                  <a:sym typeface="Symbol" panose="05050102010706020507" pitchFamily="18" charset="2"/>
                </a:rPr>
                <a:t>2</a:t>
              </a:r>
              <a:endParaRPr lang="en-US" altLang="zh-CN" b="0" dirty="0">
                <a:ea typeface="华文楷体" panose="02010600040101010101" pitchFamily="2" charset="-122"/>
              </a:endParaRPr>
            </a:p>
          </p:txBody>
        </p:sp>
        <p:sp>
          <p:nvSpPr>
            <p:cNvPr id="29730" name="Line 33">
              <a:extLst>
                <a:ext uri="{FF2B5EF4-FFF2-40B4-BE49-F238E27FC236}">
                  <a16:creationId xmlns:a16="http://schemas.microsoft.com/office/drawing/2014/main" id="{38C3A6F6-3008-4452-AF7C-CB5B4B7E44B7}"/>
                </a:ext>
              </a:extLst>
            </p:cNvPr>
            <p:cNvSpPr>
              <a:spLocks noChangeShapeType="1"/>
            </p:cNvSpPr>
            <p:nvPr/>
          </p:nvSpPr>
          <p:spPr bwMode="auto">
            <a:xfrm flipV="1">
              <a:off x="1260" y="504"/>
              <a:ext cx="768" cy="48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nvGrpSpPr>
            <p:cNvPr id="29731" name="Group 34">
              <a:extLst>
                <a:ext uri="{FF2B5EF4-FFF2-40B4-BE49-F238E27FC236}">
                  <a16:creationId xmlns:a16="http://schemas.microsoft.com/office/drawing/2014/main" id="{1DD9E2F3-7B56-4F45-8E41-A215317689F8}"/>
                </a:ext>
              </a:extLst>
            </p:cNvPr>
            <p:cNvGrpSpPr>
              <a:grpSpLocks/>
            </p:cNvGrpSpPr>
            <p:nvPr/>
          </p:nvGrpSpPr>
          <p:grpSpPr bwMode="auto">
            <a:xfrm>
              <a:off x="1245" y="687"/>
              <a:ext cx="288" cy="156"/>
              <a:chOff x="3888" y="672"/>
              <a:chExt cx="288" cy="156"/>
            </a:xfrm>
          </p:grpSpPr>
          <p:sp>
            <p:nvSpPr>
              <p:cNvPr id="29735" name="Freeform 35">
                <a:extLst>
                  <a:ext uri="{FF2B5EF4-FFF2-40B4-BE49-F238E27FC236}">
                    <a16:creationId xmlns:a16="http://schemas.microsoft.com/office/drawing/2014/main" id="{D2B56698-B9F0-402C-9402-A3C10FA31724}"/>
                  </a:ext>
                </a:extLst>
              </p:cNvPr>
              <p:cNvSpPr>
                <a:spLocks/>
              </p:cNvSpPr>
              <p:nvPr/>
            </p:nvSpPr>
            <p:spPr bwMode="auto">
              <a:xfrm>
                <a:off x="3888" y="716"/>
                <a:ext cx="240" cy="112"/>
              </a:xfrm>
              <a:custGeom>
                <a:avLst/>
                <a:gdLst>
                  <a:gd name="T0" fmla="*/ 0 w 240"/>
                  <a:gd name="T1" fmla="*/ 16 h 112"/>
                  <a:gd name="T2" fmla="*/ 144 w 240"/>
                  <a:gd name="T3" fmla="*/ 16 h 112"/>
                  <a:gd name="T4" fmla="*/ 240 w 240"/>
                  <a:gd name="T5" fmla="*/ 112 h 112"/>
                  <a:gd name="T6" fmla="*/ 0 60000 65536"/>
                  <a:gd name="T7" fmla="*/ 0 60000 65536"/>
                  <a:gd name="T8" fmla="*/ 0 60000 65536"/>
                </a:gdLst>
                <a:ahLst/>
                <a:cxnLst>
                  <a:cxn ang="T6">
                    <a:pos x="T0" y="T1"/>
                  </a:cxn>
                  <a:cxn ang="T7">
                    <a:pos x="T2" y="T3"/>
                  </a:cxn>
                  <a:cxn ang="T8">
                    <a:pos x="T4" y="T5"/>
                  </a:cxn>
                </a:cxnLst>
                <a:rect l="0" t="0" r="r" b="b"/>
                <a:pathLst>
                  <a:path w="240" h="112">
                    <a:moveTo>
                      <a:pt x="0" y="16"/>
                    </a:moveTo>
                    <a:cubicBezTo>
                      <a:pt x="52" y="8"/>
                      <a:pt x="104" y="0"/>
                      <a:pt x="144" y="16"/>
                    </a:cubicBezTo>
                    <a:cubicBezTo>
                      <a:pt x="184" y="32"/>
                      <a:pt x="212" y="72"/>
                      <a:pt x="240" y="112"/>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29736" name="Freeform 36">
                <a:extLst>
                  <a:ext uri="{FF2B5EF4-FFF2-40B4-BE49-F238E27FC236}">
                    <a16:creationId xmlns:a16="http://schemas.microsoft.com/office/drawing/2014/main" id="{B38DD6F8-AE3B-4DE7-A301-865EA0E67F77}"/>
                  </a:ext>
                </a:extLst>
              </p:cNvPr>
              <p:cNvSpPr>
                <a:spLocks/>
              </p:cNvSpPr>
              <p:nvPr/>
            </p:nvSpPr>
            <p:spPr bwMode="auto">
              <a:xfrm rot="178635">
                <a:off x="3888" y="672"/>
                <a:ext cx="288" cy="112"/>
              </a:xfrm>
              <a:custGeom>
                <a:avLst/>
                <a:gdLst>
                  <a:gd name="T0" fmla="*/ 0 w 240"/>
                  <a:gd name="T1" fmla="*/ 16 h 112"/>
                  <a:gd name="T2" fmla="*/ 1074 w 240"/>
                  <a:gd name="T3" fmla="*/ 16 h 112"/>
                  <a:gd name="T4" fmla="*/ 1787 w 240"/>
                  <a:gd name="T5" fmla="*/ 112 h 112"/>
                  <a:gd name="T6" fmla="*/ 0 60000 65536"/>
                  <a:gd name="T7" fmla="*/ 0 60000 65536"/>
                  <a:gd name="T8" fmla="*/ 0 60000 65536"/>
                </a:gdLst>
                <a:ahLst/>
                <a:cxnLst>
                  <a:cxn ang="T6">
                    <a:pos x="T0" y="T1"/>
                  </a:cxn>
                  <a:cxn ang="T7">
                    <a:pos x="T2" y="T3"/>
                  </a:cxn>
                  <a:cxn ang="T8">
                    <a:pos x="T4" y="T5"/>
                  </a:cxn>
                </a:cxnLst>
                <a:rect l="0" t="0" r="r" b="b"/>
                <a:pathLst>
                  <a:path w="240" h="112">
                    <a:moveTo>
                      <a:pt x="0" y="16"/>
                    </a:moveTo>
                    <a:cubicBezTo>
                      <a:pt x="52" y="8"/>
                      <a:pt x="104" y="0"/>
                      <a:pt x="144" y="16"/>
                    </a:cubicBezTo>
                    <a:cubicBezTo>
                      <a:pt x="184" y="32"/>
                      <a:pt x="212" y="72"/>
                      <a:pt x="240" y="112"/>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sp>
          <p:nvSpPr>
            <p:cNvPr id="29732" name="Text Box 37">
              <a:extLst>
                <a:ext uri="{FF2B5EF4-FFF2-40B4-BE49-F238E27FC236}">
                  <a16:creationId xmlns:a16="http://schemas.microsoft.com/office/drawing/2014/main" id="{D5260BD2-4FBE-4998-A990-2EA81DD4F78D}"/>
                </a:ext>
              </a:extLst>
            </p:cNvPr>
            <p:cNvSpPr txBox="1">
              <a:spLocks noChangeArrowheads="1"/>
            </p:cNvSpPr>
            <p:nvPr/>
          </p:nvSpPr>
          <p:spPr bwMode="auto">
            <a:xfrm>
              <a:off x="1197" y="399"/>
              <a:ext cx="528"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dirty="0">
                  <a:ea typeface="华文楷体" panose="02010600040101010101" pitchFamily="2" charset="-122"/>
                  <a:sym typeface="Symbol" panose="05050102010706020507" pitchFamily="18" charset="2"/>
                </a:rPr>
                <a:t></a:t>
              </a:r>
              <a:r>
                <a:rPr lang="en-US" altLang="zh-CN" b="0" baseline="-25000" dirty="0">
                  <a:ea typeface="华文楷体" panose="02010600040101010101" pitchFamily="2" charset="-122"/>
                  <a:sym typeface="Symbol" panose="05050102010706020507" pitchFamily="18" charset="2"/>
                </a:rPr>
                <a:t>1</a:t>
              </a:r>
              <a:endParaRPr lang="en-US" altLang="zh-CN" b="0" dirty="0">
                <a:ea typeface="华文楷体" panose="02010600040101010101" pitchFamily="2" charset="-122"/>
              </a:endParaRPr>
            </a:p>
          </p:txBody>
        </p:sp>
        <p:sp>
          <p:nvSpPr>
            <p:cNvPr id="29733" name="Freeform 38">
              <a:extLst>
                <a:ext uri="{FF2B5EF4-FFF2-40B4-BE49-F238E27FC236}">
                  <a16:creationId xmlns:a16="http://schemas.microsoft.com/office/drawing/2014/main" id="{C5B7C08E-AACF-4E10-A040-85D2451EDD48}"/>
                </a:ext>
              </a:extLst>
            </p:cNvPr>
            <p:cNvSpPr>
              <a:spLocks/>
            </p:cNvSpPr>
            <p:nvPr/>
          </p:nvSpPr>
          <p:spPr bwMode="auto">
            <a:xfrm>
              <a:off x="1041" y="1311"/>
              <a:ext cx="192" cy="112"/>
            </a:xfrm>
            <a:custGeom>
              <a:avLst/>
              <a:gdLst>
                <a:gd name="T0" fmla="*/ 0 w 192"/>
                <a:gd name="T1" fmla="*/ 0 h 112"/>
                <a:gd name="T2" fmla="*/ 48 w 192"/>
                <a:gd name="T3" fmla="*/ 96 h 112"/>
                <a:gd name="T4" fmla="*/ 192 w 192"/>
                <a:gd name="T5" fmla="*/ 96 h 112"/>
                <a:gd name="T6" fmla="*/ 0 60000 65536"/>
                <a:gd name="T7" fmla="*/ 0 60000 65536"/>
                <a:gd name="T8" fmla="*/ 0 60000 65536"/>
              </a:gdLst>
              <a:ahLst/>
              <a:cxnLst>
                <a:cxn ang="T6">
                  <a:pos x="T0" y="T1"/>
                </a:cxn>
                <a:cxn ang="T7">
                  <a:pos x="T2" y="T3"/>
                </a:cxn>
                <a:cxn ang="T8">
                  <a:pos x="T4" y="T5"/>
                </a:cxn>
              </a:cxnLst>
              <a:rect l="0" t="0" r="r" b="b"/>
              <a:pathLst>
                <a:path w="192" h="112">
                  <a:moveTo>
                    <a:pt x="0" y="0"/>
                  </a:moveTo>
                  <a:cubicBezTo>
                    <a:pt x="8" y="40"/>
                    <a:pt x="16" y="80"/>
                    <a:pt x="48" y="96"/>
                  </a:cubicBezTo>
                  <a:cubicBezTo>
                    <a:pt x="80" y="112"/>
                    <a:pt x="136" y="104"/>
                    <a:pt x="192" y="9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29734" name="Text Box 39">
              <a:extLst>
                <a:ext uri="{FF2B5EF4-FFF2-40B4-BE49-F238E27FC236}">
                  <a16:creationId xmlns:a16="http://schemas.microsoft.com/office/drawing/2014/main" id="{91988F28-8DE3-4EFA-9ED0-A51E8E4AF8AF}"/>
                </a:ext>
              </a:extLst>
            </p:cNvPr>
            <p:cNvSpPr txBox="1">
              <a:spLocks noChangeArrowheads="1"/>
            </p:cNvSpPr>
            <p:nvPr/>
          </p:nvSpPr>
          <p:spPr bwMode="auto">
            <a:xfrm>
              <a:off x="801" y="1371"/>
              <a:ext cx="528"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dirty="0">
                  <a:ea typeface="华文楷体" panose="02010600040101010101" pitchFamily="2" charset="-122"/>
                  <a:sym typeface="Symbol" panose="05050102010706020507" pitchFamily="18" charset="2"/>
                </a:rPr>
                <a:t></a:t>
              </a:r>
              <a:r>
                <a:rPr lang="en-US" altLang="zh-CN" b="0" baseline="-25000" dirty="0">
                  <a:ea typeface="华文楷体" panose="02010600040101010101" pitchFamily="2" charset="-122"/>
                  <a:sym typeface="Symbol" panose="05050102010706020507" pitchFamily="18" charset="2"/>
                </a:rPr>
                <a:t>2</a:t>
              </a:r>
              <a:endParaRPr lang="en-US" altLang="zh-CN" b="0" dirty="0">
                <a:ea typeface="华文楷体" panose="02010600040101010101" pitchFamily="2" charset="-122"/>
              </a:endParaRPr>
            </a:p>
          </p:txBody>
        </p:sp>
      </p:gr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3EAAAD4F-4541-CBE9-FFCD-98D290BF423A}"/>
                  </a:ext>
                </a:extLst>
              </p:cNvPr>
              <p:cNvSpPr/>
              <p:nvPr/>
            </p:nvSpPr>
            <p:spPr>
              <a:xfrm>
                <a:off x="4332411" y="1448608"/>
                <a:ext cx="7543800" cy="100944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2800" b="1" i="1" smtClean="0">
                              <a:solidFill>
                                <a:srgbClr val="000000"/>
                              </a:solidFill>
                              <a:latin typeface="Cambria Math" panose="02040503050406030204" pitchFamily="18" charset="0"/>
                            </a:rPr>
                          </m:ctrlPr>
                        </m:fPr>
                        <m:num>
                          <m:func>
                            <m:funcPr>
                              <m:ctrlPr>
                                <a:rPr lang="en-US" altLang="zh-CN" sz="2800" b="1" i="1">
                                  <a:solidFill>
                                    <a:srgbClr val="000000"/>
                                  </a:solidFill>
                                  <a:latin typeface="Cambria Math" panose="02040503050406030204" pitchFamily="18" charset="0"/>
                                </a:rPr>
                              </m:ctrlPr>
                            </m:funcPr>
                            <m:fName>
                              <m:r>
                                <a:rPr lang="en-US" altLang="zh-CN" sz="2800" b="1">
                                  <a:solidFill>
                                    <a:srgbClr val="000000"/>
                                  </a:solidFill>
                                  <a:latin typeface="Cambria Math" panose="02040503050406030204" pitchFamily="18" charset="0"/>
                                </a:rPr>
                                <m:t>𝐭</m:t>
                              </m:r>
                              <m:r>
                                <a:rPr lang="en-US" altLang="zh-CN" sz="2800" b="1" smtClean="0">
                                  <a:solidFill>
                                    <a:srgbClr val="000000"/>
                                  </a:solidFill>
                                  <a:latin typeface="Cambria Math" panose="02040503050406030204" pitchFamily="18" charset="0"/>
                                </a:rPr>
                                <m:t>𝐚𝐧</m:t>
                              </m:r>
                            </m:fName>
                            <m:e>
                              <m:sSub>
                                <m:sSubPr>
                                  <m:ctrlPr>
                                    <a:rPr lang="en-US" altLang="zh-CN"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𝜽</m:t>
                                  </m:r>
                                </m:e>
                                <m:sub>
                                  <m:r>
                                    <a:rPr lang="en-US" altLang="zh-CN" sz="2800" b="1" i="1">
                                      <a:solidFill>
                                        <a:srgbClr val="000000"/>
                                      </a:solidFill>
                                      <a:latin typeface="Cambria Math" panose="02040503050406030204" pitchFamily="18" charset="0"/>
                                    </a:rPr>
                                    <m:t>𝟏</m:t>
                                  </m:r>
                                </m:sub>
                              </m:sSub>
                            </m:e>
                          </m:func>
                        </m:num>
                        <m:den>
                          <m:func>
                            <m:funcPr>
                              <m:ctrlPr>
                                <a:rPr lang="en-US" altLang="zh-CN" sz="2800" b="1" i="1">
                                  <a:solidFill>
                                    <a:srgbClr val="000000"/>
                                  </a:solidFill>
                                  <a:latin typeface="Cambria Math" panose="02040503050406030204" pitchFamily="18" charset="0"/>
                                </a:rPr>
                              </m:ctrlPr>
                            </m:funcPr>
                            <m:fName>
                              <m:r>
                                <a:rPr lang="en-US" altLang="zh-CN" sz="2800" b="1" i="1">
                                  <a:solidFill>
                                    <a:srgbClr val="000000"/>
                                  </a:solidFill>
                                  <a:latin typeface="Cambria Math" panose="02040503050406030204" pitchFamily="18" charset="0"/>
                                </a:rPr>
                                <m:t>𝒕</m:t>
                              </m:r>
                              <m:r>
                                <a:rPr lang="en-US" altLang="zh-CN" sz="2800" b="1" i="1" smtClean="0">
                                  <a:solidFill>
                                    <a:srgbClr val="000000"/>
                                  </a:solidFill>
                                  <a:latin typeface="Cambria Math" panose="02040503050406030204" pitchFamily="18" charset="0"/>
                                </a:rPr>
                                <m:t>𝒂𝒏</m:t>
                              </m:r>
                            </m:fName>
                            <m:e>
                              <m:sSub>
                                <m:sSubPr>
                                  <m:ctrlPr>
                                    <a:rPr lang="en-US" altLang="zh-CN" sz="2800" b="1" i="1">
                                      <a:solidFill>
                                        <a:srgbClr val="000000"/>
                                      </a:solidFill>
                                      <a:latin typeface="Cambria Math" panose="02040503050406030204" pitchFamily="18" charset="0"/>
                                    </a:rPr>
                                  </m:ctrlPr>
                                </m:sSubPr>
                                <m:e>
                                  <m:r>
                                    <a:rPr lang="zh-CN" altLang="en-US" sz="2800" b="1" i="1">
                                      <a:solidFill>
                                        <a:srgbClr val="000000"/>
                                      </a:solidFill>
                                      <a:latin typeface="Cambria Math" panose="02040503050406030204" pitchFamily="18" charset="0"/>
                                    </a:rPr>
                                    <m:t>𝜽</m:t>
                                  </m:r>
                                </m:e>
                                <m:sub>
                                  <m:r>
                                    <a:rPr lang="en-US" altLang="zh-CN" sz="2800" b="1" i="1" smtClean="0">
                                      <a:solidFill>
                                        <a:srgbClr val="000000"/>
                                      </a:solidFill>
                                      <a:latin typeface="Cambria Math" panose="02040503050406030204" pitchFamily="18" charset="0"/>
                                    </a:rPr>
                                    <m:t>𝟐</m:t>
                                  </m:r>
                                </m:sub>
                              </m:sSub>
                            </m:e>
                          </m:func>
                        </m:den>
                      </m:f>
                      <m:r>
                        <a:rPr lang="en-US" altLang="zh-CN" sz="2800" b="1" i="1">
                          <a:solidFill>
                            <a:srgbClr val="000000"/>
                          </a:solidFill>
                          <a:latin typeface="Cambria Math" panose="02040503050406030204" pitchFamily="18" charset="0"/>
                        </a:rPr>
                        <m:t>=</m:t>
                      </m:r>
                      <m:f>
                        <m:fPr>
                          <m:ctrlPr>
                            <a:rPr lang="en-US" altLang="zh-CN" sz="2800" b="1" i="1">
                              <a:solidFill>
                                <a:srgbClr val="000000"/>
                              </a:solidFill>
                              <a:latin typeface="Cambria Math" panose="02040503050406030204" pitchFamily="18" charset="0"/>
                            </a:rPr>
                          </m:ctrlPr>
                        </m:fPr>
                        <m:num>
                          <m:f>
                            <m:fPr>
                              <m:type m:val="lin"/>
                              <m:ctrlPr>
                                <a:rPr lang="en-US" altLang="zh-CN" sz="2800" b="1" i="1">
                                  <a:solidFill>
                                    <a:srgbClr val="000000"/>
                                  </a:solidFill>
                                  <a:latin typeface="Cambria Math" panose="02040503050406030204" pitchFamily="18" charset="0"/>
                                </a:rPr>
                              </m:ctrlPr>
                            </m:fPr>
                            <m:num>
                              <m:sSub>
                                <m:sSubPr>
                                  <m:ctrlPr>
                                    <a:rPr lang="en-US" altLang="zh-CN" sz="2800" b="1" i="1">
                                      <a:solidFill>
                                        <a:srgbClr val="000000"/>
                                      </a:solidFill>
                                      <a:latin typeface="Cambria Math" panose="02040503050406030204" pitchFamily="18" charset="0"/>
                                    </a:rPr>
                                  </m:ctrlPr>
                                </m:sSubPr>
                                <m:e>
                                  <m:r>
                                    <m:rPr>
                                      <m:sty m:val="p"/>
                                    </m:rPr>
                                    <a:rPr lang="en-US" altLang="zh-CN" sz="2800" b="1" i="1">
                                      <a:solidFill>
                                        <a:srgbClr val="000000"/>
                                      </a:solidFill>
                                      <a:latin typeface="Cambria Math" panose="02040503050406030204" pitchFamily="18" charset="0"/>
                                    </a:rPr>
                                    <m:t>B</m:t>
                                  </m:r>
                                </m:e>
                                <m:sub>
                                  <m:r>
                                    <a:rPr lang="en-US" altLang="zh-CN" sz="2800" b="1" i="1">
                                      <a:solidFill>
                                        <a:srgbClr val="000000"/>
                                      </a:solidFill>
                                      <a:latin typeface="Cambria Math" panose="02040503050406030204" pitchFamily="18" charset="0"/>
                                    </a:rPr>
                                    <m:t>𝟏</m:t>
                                  </m:r>
                                  <m:r>
                                    <a:rPr lang="en-US" altLang="zh-CN" sz="2800" b="1" i="1">
                                      <a:solidFill>
                                        <a:srgbClr val="000000"/>
                                      </a:solidFill>
                                      <a:latin typeface="Cambria Math" panose="02040503050406030204" pitchFamily="18" charset="0"/>
                                    </a:rPr>
                                    <m:t>𝒕</m:t>
                                  </m:r>
                                </m:sub>
                              </m:sSub>
                            </m:num>
                            <m:den>
                              <m:sSub>
                                <m:sSubPr>
                                  <m:ctrlPr>
                                    <a:rPr lang="en-US" altLang="zh-CN" sz="2800" b="1" i="1">
                                      <a:solidFill>
                                        <a:srgbClr val="000000"/>
                                      </a:solidFill>
                                      <a:latin typeface="Cambria Math" panose="02040503050406030204" pitchFamily="18" charset="0"/>
                                    </a:rPr>
                                  </m:ctrlPr>
                                </m:sSubPr>
                                <m:e>
                                  <m:r>
                                    <a:rPr lang="en-US" altLang="zh-CN" sz="2800" b="1" i="1" smtClean="0">
                                      <a:solidFill>
                                        <a:srgbClr val="000000"/>
                                      </a:solidFill>
                                      <a:latin typeface="Cambria Math" panose="02040503050406030204" pitchFamily="18" charset="0"/>
                                    </a:rPr>
                                    <m:t>𝑩</m:t>
                                  </m:r>
                                </m:e>
                                <m:sub>
                                  <m:r>
                                    <a:rPr lang="en-US" altLang="zh-CN" sz="2800" b="1" i="1">
                                      <a:solidFill>
                                        <a:srgbClr val="000000"/>
                                      </a:solidFill>
                                      <a:latin typeface="Cambria Math" panose="02040503050406030204" pitchFamily="18" charset="0"/>
                                    </a:rPr>
                                    <m:t>𝟏</m:t>
                                  </m:r>
                                  <m:r>
                                    <a:rPr lang="en-US" altLang="zh-CN" sz="2800" b="1" i="1">
                                      <a:solidFill>
                                        <a:srgbClr val="000000"/>
                                      </a:solidFill>
                                      <a:latin typeface="Cambria Math" panose="02040503050406030204" pitchFamily="18" charset="0"/>
                                    </a:rPr>
                                    <m:t>𝒏</m:t>
                                  </m:r>
                                </m:sub>
                              </m:sSub>
                            </m:den>
                          </m:f>
                        </m:num>
                        <m:den>
                          <m:f>
                            <m:fPr>
                              <m:type m:val="lin"/>
                              <m:ctrlPr>
                                <a:rPr lang="en-US" altLang="zh-CN" sz="2800" b="1" i="1">
                                  <a:solidFill>
                                    <a:srgbClr val="000000"/>
                                  </a:solidFill>
                                  <a:latin typeface="Cambria Math" panose="02040503050406030204" pitchFamily="18" charset="0"/>
                                </a:rPr>
                              </m:ctrlPr>
                            </m:fPr>
                            <m:num>
                              <m:sSub>
                                <m:sSubPr>
                                  <m:ctrlPr>
                                    <a:rPr lang="en-US" altLang="zh-CN" sz="2800" b="1" i="1">
                                      <a:solidFill>
                                        <a:srgbClr val="000000"/>
                                      </a:solidFill>
                                      <a:latin typeface="Cambria Math" panose="02040503050406030204" pitchFamily="18" charset="0"/>
                                    </a:rPr>
                                  </m:ctrlPr>
                                </m:sSubPr>
                                <m:e>
                                  <m:r>
                                    <a:rPr lang="en-US" altLang="zh-CN" sz="2800" b="1" i="1" smtClean="0">
                                      <a:solidFill>
                                        <a:srgbClr val="000000"/>
                                      </a:solidFill>
                                      <a:latin typeface="Cambria Math" panose="02040503050406030204" pitchFamily="18" charset="0"/>
                                    </a:rPr>
                                    <m:t>𝑩</m:t>
                                  </m:r>
                                </m:e>
                                <m:sub>
                                  <m:r>
                                    <a:rPr lang="en-US" altLang="zh-CN" sz="2800" b="1" i="1">
                                      <a:solidFill>
                                        <a:srgbClr val="000000"/>
                                      </a:solidFill>
                                      <a:latin typeface="Cambria Math" panose="02040503050406030204" pitchFamily="18" charset="0"/>
                                    </a:rPr>
                                    <m:t>𝟐</m:t>
                                  </m:r>
                                  <m:r>
                                    <a:rPr lang="en-US" altLang="zh-CN" sz="2800" b="1" i="1">
                                      <a:solidFill>
                                        <a:srgbClr val="000000"/>
                                      </a:solidFill>
                                      <a:latin typeface="Cambria Math" panose="02040503050406030204" pitchFamily="18" charset="0"/>
                                    </a:rPr>
                                    <m:t>𝒕</m:t>
                                  </m:r>
                                </m:sub>
                              </m:sSub>
                            </m:num>
                            <m:den>
                              <m:sSub>
                                <m:sSubPr>
                                  <m:ctrlPr>
                                    <a:rPr lang="en-US" altLang="zh-CN" sz="2800" b="1" i="1">
                                      <a:solidFill>
                                        <a:srgbClr val="000000"/>
                                      </a:solidFill>
                                      <a:latin typeface="Cambria Math" panose="02040503050406030204" pitchFamily="18" charset="0"/>
                                    </a:rPr>
                                  </m:ctrlPr>
                                </m:sSubPr>
                                <m:e>
                                  <m:r>
                                    <a:rPr lang="en-US" altLang="zh-CN" sz="2800" b="1" i="1" smtClean="0">
                                      <a:solidFill>
                                        <a:srgbClr val="000000"/>
                                      </a:solidFill>
                                      <a:latin typeface="Cambria Math" panose="02040503050406030204" pitchFamily="18" charset="0"/>
                                    </a:rPr>
                                    <m:t>𝑩</m:t>
                                  </m:r>
                                </m:e>
                                <m:sub>
                                  <m:r>
                                    <a:rPr lang="en-US" altLang="zh-CN" sz="2800" b="1" i="1">
                                      <a:solidFill>
                                        <a:srgbClr val="000000"/>
                                      </a:solidFill>
                                      <a:latin typeface="Cambria Math" panose="02040503050406030204" pitchFamily="18" charset="0"/>
                                    </a:rPr>
                                    <m:t>𝟐</m:t>
                                  </m:r>
                                  <m:r>
                                    <a:rPr lang="en-US" altLang="zh-CN" sz="2800" b="1" i="1">
                                      <a:solidFill>
                                        <a:srgbClr val="000000"/>
                                      </a:solidFill>
                                      <a:latin typeface="Cambria Math" panose="02040503050406030204" pitchFamily="18" charset="0"/>
                                    </a:rPr>
                                    <m:t>𝒏</m:t>
                                  </m:r>
                                </m:sub>
                              </m:sSub>
                            </m:den>
                          </m:f>
                        </m:den>
                      </m:f>
                      <m:r>
                        <a:rPr lang="en-US" altLang="zh-CN" sz="2800" b="1" i="1">
                          <a:solidFill>
                            <a:srgbClr val="000000"/>
                          </a:solidFill>
                          <a:latin typeface="Cambria Math" panose="02040503050406030204" pitchFamily="18" charset="0"/>
                        </a:rPr>
                        <m:t>=</m:t>
                      </m:r>
                      <m:f>
                        <m:fPr>
                          <m:ctrlPr>
                            <a:rPr lang="en-US" altLang="zh-CN" sz="2800" b="1" i="1">
                              <a:solidFill>
                                <a:srgbClr val="000000"/>
                              </a:solidFill>
                              <a:latin typeface="Cambria Math" panose="02040503050406030204" pitchFamily="18" charset="0"/>
                            </a:rPr>
                          </m:ctrlPr>
                        </m:fPr>
                        <m:num>
                          <m:sSub>
                            <m:sSubPr>
                              <m:ctrlPr>
                                <a:rPr lang="en-US" altLang="zh-CN" sz="2800" b="1" i="1">
                                  <a:solidFill>
                                    <a:srgbClr val="000000"/>
                                  </a:solidFill>
                                  <a:latin typeface="Cambria Math" panose="02040503050406030204" pitchFamily="18" charset="0"/>
                                </a:rPr>
                              </m:ctrlPr>
                            </m:sSubPr>
                            <m:e>
                              <m:r>
                                <a:rPr lang="en-US" altLang="zh-CN" sz="2800" b="1" i="1" smtClean="0">
                                  <a:solidFill>
                                    <a:srgbClr val="000000"/>
                                  </a:solidFill>
                                  <a:latin typeface="Cambria Math" panose="02040503050406030204" pitchFamily="18" charset="0"/>
                                </a:rPr>
                                <m:t>𝑩</m:t>
                              </m:r>
                            </m:e>
                            <m:sub>
                              <m:r>
                                <a:rPr lang="en-US" altLang="zh-CN" sz="2800" b="1" i="1">
                                  <a:solidFill>
                                    <a:srgbClr val="000000"/>
                                  </a:solidFill>
                                  <a:latin typeface="Cambria Math" panose="02040503050406030204" pitchFamily="18" charset="0"/>
                                </a:rPr>
                                <m:t>𝟏</m:t>
                              </m:r>
                              <m:r>
                                <a:rPr lang="en-US" altLang="zh-CN" sz="2800" b="1" i="1">
                                  <a:solidFill>
                                    <a:srgbClr val="000000"/>
                                  </a:solidFill>
                                  <a:latin typeface="Cambria Math" panose="02040503050406030204" pitchFamily="18" charset="0"/>
                                </a:rPr>
                                <m:t>𝒕</m:t>
                              </m:r>
                            </m:sub>
                          </m:sSub>
                        </m:num>
                        <m:den>
                          <m:sSub>
                            <m:sSubPr>
                              <m:ctrlPr>
                                <a:rPr lang="en-US" altLang="zh-CN" sz="2800" b="1" i="1">
                                  <a:solidFill>
                                    <a:srgbClr val="000000"/>
                                  </a:solidFill>
                                  <a:latin typeface="Cambria Math" panose="02040503050406030204" pitchFamily="18" charset="0"/>
                                </a:rPr>
                              </m:ctrlPr>
                            </m:sSubPr>
                            <m:e>
                              <m:r>
                                <a:rPr lang="en-US" altLang="zh-CN" sz="2800" b="1" i="1" smtClean="0">
                                  <a:solidFill>
                                    <a:srgbClr val="000000"/>
                                  </a:solidFill>
                                  <a:latin typeface="Cambria Math" panose="02040503050406030204" pitchFamily="18" charset="0"/>
                                </a:rPr>
                                <m:t>𝑩</m:t>
                              </m:r>
                            </m:e>
                            <m:sub>
                              <m:r>
                                <a:rPr lang="en-US" altLang="zh-CN" sz="2800" b="1" i="1">
                                  <a:solidFill>
                                    <a:srgbClr val="000000"/>
                                  </a:solidFill>
                                  <a:latin typeface="Cambria Math" panose="02040503050406030204" pitchFamily="18" charset="0"/>
                                </a:rPr>
                                <m:t>𝟐</m:t>
                              </m:r>
                              <m:r>
                                <a:rPr lang="en-US" altLang="zh-CN" sz="2800" b="1" i="1">
                                  <a:solidFill>
                                    <a:srgbClr val="000000"/>
                                  </a:solidFill>
                                  <a:latin typeface="Cambria Math" panose="02040503050406030204" pitchFamily="18" charset="0"/>
                                </a:rPr>
                                <m:t>𝒕</m:t>
                              </m:r>
                            </m:sub>
                          </m:sSub>
                        </m:den>
                      </m:f>
                      <m:r>
                        <a:rPr lang="en-US" altLang="zh-CN" sz="2800" b="1" i="1">
                          <a:solidFill>
                            <a:srgbClr val="000000"/>
                          </a:solidFill>
                          <a:latin typeface="Cambria Math" panose="02040503050406030204" pitchFamily="18" charset="0"/>
                        </a:rPr>
                        <m:t>=</m:t>
                      </m:r>
                      <m:f>
                        <m:fPr>
                          <m:ctrlPr>
                            <a:rPr lang="en-US" altLang="zh-CN" sz="2800" b="1" i="1">
                              <a:solidFill>
                                <a:srgbClr val="000000"/>
                              </a:solidFill>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𝜇</m:t>
                              </m:r>
                            </m:e>
                            <m:sub>
                              <m:r>
                                <a:rPr lang="en-US" altLang="zh-CN" sz="2800" i="1">
                                  <a:latin typeface="Cambria Math" panose="02040503050406030204" pitchFamily="18" charset="0"/>
                                </a:rPr>
                                <m:t>𝑟</m:t>
                              </m:r>
                              <m:r>
                                <a:rPr lang="en-US" altLang="zh-CN" sz="2800" b="0" i="1" smtClean="0">
                                  <a:latin typeface="Cambria Math" panose="02040503050406030204" pitchFamily="18" charset="0"/>
                                </a:rPr>
                                <m:t>1</m:t>
                              </m:r>
                            </m:sub>
                          </m:sSub>
                          <m:sSub>
                            <m:sSubPr>
                              <m:ctrlPr>
                                <a:rPr lang="en-US" altLang="zh-CN" sz="2800" b="1" i="1">
                                  <a:solidFill>
                                    <a:srgbClr val="000000"/>
                                  </a:solidFill>
                                  <a:latin typeface="Cambria Math" panose="02040503050406030204" pitchFamily="18" charset="0"/>
                                </a:rPr>
                              </m:ctrlPr>
                            </m:sSubPr>
                            <m:e>
                              <m:r>
                                <a:rPr lang="en-US" altLang="zh-CN" sz="2800" b="1" i="1" smtClean="0">
                                  <a:solidFill>
                                    <a:srgbClr val="000000"/>
                                  </a:solidFill>
                                  <a:latin typeface="Cambria Math" panose="02040503050406030204" pitchFamily="18" charset="0"/>
                                </a:rPr>
                                <m:t>𝑯</m:t>
                              </m:r>
                            </m:e>
                            <m:sub>
                              <m:r>
                                <a:rPr lang="en-US" altLang="zh-CN" sz="2800" b="1" i="1">
                                  <a:solidFill>
                                    <a:srgbClr val="000000"/>
                                  </a:solidFill>
                                  <a:latin typeface="Cambria Math" panose="02040503050406030204" pitchFamily="18" charset="0"/>
                                </a:rPr>
                                <m:t>𝟏</m:t>
                              </m:r>
                              <m:r>
                                <a:rPr lang="en-US" altLang="zh-CN" sz="2800" b="1" i="1">
                                  <a:solidFill>
                                    <a:srgbClr val="000000"/>
                                  </a:solidFill>
                                  <a:latin typeface="Cambria Math" panose="02040503050406030204" pitchFamily="18" charset="0"/>
                                </a:rPr>
                                <m:t>𝒕</m:t>
                              </m:r>
                            </m:sub>
                          </m:sSub>
                        </m:num>
                        <m:den>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𝜇</m:t>
                              </m:r>
                            </m:e>
                            <m:sub>
                              <m:r>
                                <a:rPr lang="en-US" altLang="zh-CN" sz="2800" i="1">
                                  <a:latin typeface="Cambria Math" panose="02040503050406030204" pitchFamily="18" charset="0"/>
                                </a:rPr>
                                <m:t>𝑟</m:t>
                              </m:r>
                              <m:r>
                                <a:rPr lang="en-US" altLang="zh-CN" sz="2800" b="0" i="1" smtClean="0">
                                  <a:latin typeface="Cambria Math" panose="02040503050406030204" pitchFamily="18" charset="0"/>
                                </a:rPr>
                                <m:t>2</m:t>
                              </m:r>
                            </m:sub>
                          </m:sSub>
                          <m:sSub>
                            <m:sSubPr>
                              <m:ctrlPr>
                                <a:rPr lang="en-US" altLang="zh-CN" sz="2800" b="1" i="1">
                                  <a:solidFill>
                                    <a:srgbClr val="000000"/>
                                  </a:solidFill>
                                  <a:latin typeface="Cambria Math" panose="02040503050406030204" pitchFamily="18" charset="0"/>
                                </a:rPr>
                              </m:ctrlPr>
                            </m:sSubPr>
                            <m:e>
                              <m:r>
                                <a:rPr lang="en-US" altLang="zh-CN" sz="2800" b="1" i="1">
                                  <a:solidFill>
                                    <a:srgbClr val="000000"/>
                                  </a:solidFill>
                                  <a:latin typeface="Cambria Math" panose="02040503050406030204" pitchFamily="18" charset="0"/>
                                </a:rPr>
                                <m:t>𝑯</m:t>
                              </m:r>
                            </m:e>
                            <m:sub>
                              <m:r>
                                <a:rPr lang="en-US" altLang="zh-CN" sz="2800" b="1" i="1" smtClean="0">
                                  <a:solidFill>
                                    <a:srgbClr val="000000"/>
                                  </a:solidFill>
                                  <a:latin typeface="Cambria Math" panose="02040503050406030204" pitchFamily="18" charset="0"/>
                                </a:rPr>
                                <m:t>𝟐</m:t>
                              </m:r>
                              <m:r>
                                <a:rPr lang="en-US" altLang="zh-CN" sz="2800" b="1" i="1">
                                  <a:solidFill>
                                    <a:srgbClr val="000000"/>
                                  </a:solidFill>
                                  <a:latin typeface="Cambria Math" panose="02040503050406030204" pitchFamily="18" charset="0"/>
                                </a:rPr>
                                <m:t>𝒕</m:t>
                              </m:r>
                            </m:sub>
                          </m:sSub>
                        </m:den>
                      </m:f>
                      <m:r>
                        <a:rPr lang="en-US" altLang="zh-CN" sz="2800" b="1" i="1">
                          <a:solidFill>
                            <a:srgbClr val="000000"/>
                          </a:solidFill>
                          <a:latin typeface="Cambria Math" panose="02040503050406030204" pitchFamily="18" charset="0"/>
                        </a:rPr>
                        <m:t>=</m:t>
                      </m:r>
                      <m:f>
                        <m:fPr>
                          <m:ctrlPr>
                            <a:rPr lang="en-US" altLang="zh-CN" sz="2800" b="1" i="1">
                              <a:solidFill>
                                <a:srgbClr val="000000"/>
                              </a:solidFill>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𝜇</m:t>
                              </m:r>
                            </m:e>
                            <m:sub>
                              <m:r>
                                <a:rPr lang="en-US" altLang="zh-CN" sz="2800" i="1">
                                  <a:latin typeface="Cambria Math" panose="02040503050406030204" pitchFamily="18" charset="0"/>
                                </a:rPr>
                                <m:t>𝑟</m:t>
                              </m:r>
                              <m:r>
                                <a:rPr lang="en-US" altLang="zh-CN" sz="2800" i="1">
                                  <a:latin typeface="Cambria Math" panose="02040503050406030204" pitchFamily="18" charset="0"/>
                                </a:rPr>
                                <m:t>1</m:t>
                              </m:r>
                            </m:sub>
                          </m:sSub>
                        </m:num>
                        <m:den>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𝜇</m:t>
                              </m:r>
                            </m:e>
                            <m:sub>
                              <m:r>
                                <a:rPr lang="en-US" altLang="zh-CN" sz="2800" i="1">
                                  <a:latin typeface="Cambria Math" panose="02040503050406030204" pitchFamily="18" charset="0"/>
                                </a:rPr>
                                <m:t>𝑟</m:t>
                              </m:r>
                              <m:r>
                                <a:rPr lang="en-US" altLang="zh-CN" sz="2800" i="1">
                                  <a:latin typeface="Cambria Math" panose="02040503050406030204" pitchFamily="18" charset="0"/>
                                </a:rPr>
                                <m:t>2</m:t>
                              </m:r>
                            </m:sub>
                          </m:sSub>
                        </m:den>
                      </m:f>
                    </m:oMath>
                  </m:oMathPara>
                </a14:m>
                <a:endParaRPr lang="zh-CN" altLang="en-US" b="1" dirty="0"/>
              </a:p>
            </p:txBody>
          </p:sp>
        </mc:Choice>
        <mc:Fallback xmlns="">
          <p:sp>
            <p:nvSpPr>
              <p:cNvPr id="21" name="矩形 20">
                <a:extLst>
                  <a:ext uri="{FF2B5EF4-FFF2-40B4-BE49-F238E27FC236}">
                    <a16:creationId xmlns:a16="http://schemas.microsoft.com/office/drawing/2014/main" id="{3EAAAD4F-4541-CBE9-FFCD-98D290BF423A}"/>
                  </a:ext>
                </a:extLst>
              </p:cNvPr>
              <p:cNvSpPr>
                <a:spLocks noRot="1" noChangeAspect="1" noMove="1" noResize="1" noEditPoints="1" noAdjustHandles="1" noChangeArrowheads="1" noChangeShapeType="1" noTextEdit="1"/>
              </p:cNvSpPr>
              <p:nvPr/>
            </p:nvSpPr>
            <p:spPr>
              <a:xfrm>
                <a:off x="4332411" y="1448608"/>
                <a:ext cx="7543800" cy="1009444"/>
              </a:xfrm>
              <a:prstGeom prst="rect">
                <a:avLst/>
              </a:prstGeom>
              <a:blipFill>
                <a:blip r:embed="rId16"/>
                <a:stretch>
                  <a:fillRect/>
                </a:stretch>
              </a:blipFill>
            </p:spPr>
            <p:txBody>
              <a:bodyPr/>
              <a:lstStyle/>
              <a:p>
                <a:r>
                  <a:rPr lang="zh-CN" altLang="en-US">
                    <a:noFill/>
                  </a:rPr>
                  <a:t> </a:t>
                </a:r>
              </a:p>
            </p:txBody>
          </p:sp>
        </mc:Fallback>
      </mc:AlternateContent>
      <p:sp>
        <p:nvSpPr>
          <p:cNvPr id="29" name="标题 7">
            <a:extLst>
              <a:ext uri="{FF2B5EF4-FFF2-40B4-BE49-F238E27FC236}">
                <a16:creationId xmlns:a16="http://schemas.microsoft.com/office/drawing/2014/main" id="{29C4DC84-32BC-46B7-94DD-A6C1B37774A3}"/>
              </a:ext>
            </a:extLst>
          </p:cNvPr>
          <p:cNvSpPr txBox="1">
            <a:spLocks/>
          </p:cNvSpPr>
          <p:nvPr/>
        </p:nvSpPr>
        <p:spPr>
          <a:xfrm>
            <a:off x="719721" y="280249"/>
            <a:ext cx="888147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稳恒磁场在物质分界面上的边界条件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3262"/>
                                        </p:tgtEl>
                                        <p:attrNameLst>
                                          <p:attrName>style.visibility</p:attrName>
                                        </p:attrNameLst>
                                      </p:cBhvr>
                                      <p:to>
                                        <p:strVal val="visible"/>
                                      </p:to>
                                    </p:set>
                                    <p:animEffect transition="in" filter="wipe(left)">
                                      <p:cBhvr>
                                        <p:cTn id="19" dur="500"/>
                                        <p:tgtEl>
                                          <p:spTgt spid="53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3257" name="Object 9">
                <a:extLst>
                  <a:ext uri="{FF2B5EF4-FFF2-40B4-BE49-F238E27FC236}">
                    <a16:creationId xmlns:a16="http://schemas.microsoft.com/office/drawing/2014/main" id="{4288E584-61D1-4B35-B191-D7C7D252EFEB}"/>
                  </a:ext>
                </a:extLst>
              </p:cNvPr>
              <p:cNvSpPr txBox="1"/>
              <p:nvPr/>
            </p:nvSpPr>
            <p:spPr bwMode="auto">
              <a:xfrm>
                <a:off x="1047104" y="6001176"/>
                <a:ext cx="3012018" cy="5238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𝜃</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≠0</m:t>
                      </m:r>
                      <m:r>
                        <a:rPr lang="zh-CN" altLang="en-US" sz="2800" i="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53257" name="Object 9">
                <a:extLst>
                  <a:ext uri="{FF2B5EF4-FFF2-40B4-BE49-F238E27FC236}">
                    <a16:creationId xmlns:a16="http://schemas.microsoft.com/office/drawing/2014/main" id="{4288E584-61D1-4B35-B191-D7C7D252EFEB}"/>
                  </a:ext>
                </a:extLst>
              </p:cNvPr>
              <p:cNvSpPr txBox="1">
                <a:spLocks noRot="1" noChangeAspect="1" noMove="1" noResize="1" noEditPoints="1" noAdjustHandles="1" noChangeArrowheads="1" noChangeShapeType="1" noTextEdit="1"/>
              </p:cNvSpPr>
              <p:nvPr/>
            </p:nvSpPr>
            <p:spPr bwMode="auto">
              <a:xfrm>
                <a:off x="1047104" y="6001176"/>
                <a:ext cx="3012018" cy="523875"/>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737" name="Object 19">
                <a:extLst>
                  <a:ext uri="{FF2B5EF4-FFF2-40B4-BE49-F238E27FC236}">
                    <a16:creationId xmlns:a16="http://schemas.microsoft.com/office/drawing/2014/main" id="{20A47288-073D-4D4D-B191-EA421B293CC9}"/>
                  </a:ext>
                </a:extLst>
              </p:cNvPr>
              <p:cNvSpPr txBox="1"/>
              <p:nvPr/>
            </p:nvSpPr>
            <p:spPr bwMode="auto">
              <a:xfrm>
                <a:off x="1389175" y="3896357"/>
                <a:ext cx="1721555" cy="61785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&gt;&gt;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𝜇</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xmlns="">
          <p:sp>
            <p:nvSpPr>
              <p:cNvPr id="29737" name="Object 19">
                <a:extLst>
                  <a:ext uri="{FF2B5EF4-FFF2-40B4-BE49-F238E27FC236}">
                    <a16:creationId xmlns:a16="http://schemas.microsoft.com/office/drawing/2014/main" id="{20A47288-073D-4D4D-B191-EA421B293CC9}"/>
                  </a:ext>
                </a:extLst>
              </p:cNvPr>
              <p:cNvSpPr txBox="1">
                <a:spLocks noRot="1" noChangeAspect="1" noMove="1" noResize="1" noEditPoints="1" noAdjustHandles="1" noChangeArrowheads="1" noChangeShapeType="1" noTextEdit="1"/>
              </p:cNvSpPr>
              <p:nvPr/>
            </p:nvSpPr>
            <p:spPr bwMode="auto">
              <a:xfrm>
                <a:off x="1389175" y="3896357"/>
                <a:ext cx="1721555" cy="617856"/>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270" name="Object 22">
                <a:extLst>
                  <a:ext uri="{FF2B5EF4-FFF2-40B4-BE49-F238E27FC236}">
                    <a16:creationId xmlns:a16="http://schemas.microsoft.com/office/drawing/2014/main" id="{BC4091A1-1362-44AB-8E3F-628D7B189D65}"/>
                  </a:ext>
                </a:extLst>
              </p:cNvPr>
              <p:cNvSpPr txBox="1"/>
              <p:nvPr/>
            </p:nvSpPr>
            <p:spPr bwMode="auto">
              <a:xfrm>
                <a:off x="2741414" y="5851702"/>
                <a:ext cx="3799418" cy="10985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𝜃</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m:rPr>
                              <m:sty m:val="p"/>
                            </m:rPr>
                            <a:rPr lang="zh-CN" altLang="en-US" sz="2800" i="1">
                              <a:solidFill>
                                <a:srgbClr val="000000"/>
                              </a:solidFill>
                              <a:latin typeface="Cambria Math" panose="02040503050406030204" pitchFamily="18" charset="0"/>
                            </a:rPr>
                            <m:t>π</m:t>
                          </m:r>
                        </m:num>
                        <m:den>
                          <m:r>
                            <a:rPr lang="zh-CN" altLang="en-US" sz="2800" i="1">
                              <a:solidFill>
                                <a:srgbClr val="000000"/>
                              </a:solidFill>
                              <a:latin typeface="Cambria Math" panose="02040503050406030204" pitchFamily="18" charset="0"/>
                            </a:rPr>
                            <m:t>2</m:t>
                          </m:r>
                        </m:den>
                      </m:f>
                    </m:oMath>
                  </m:oMathPara>
                </a14:m>
                <a:endParaRPr lang="zh-CN" altLang="en-US" sz="2800" dirty="0"/>
              </a:p>
            </p:txBody>
          </p:sp>
        </mc:Choice>
        <mc:Fallback xmlns="">
          <p:sp>
            <p:nvSpPr>
              <p:cNvPr id="53270" name="Object 22">
                <a:extLst>
                  <a:ext uri="{FF2B5EF4-FFF2-40B4-BE49-F238E27FC236}">
                    <a16:creationId xmlns:a16="http://schemas.microsoft.com/office/drawing/2014/main" id="{BC4091A1-1362-44AB-8E3F-628D7B189D65}"/>
                  </a:ext>
                </a:extLst>
              </p:cNvPr>
              <p:cNvSpPr txBox="1">
                <a:spLocks noRot="1" noChangeAspect="1" noMove="1" noResize="1" noEditPoints="1" noAdjustHandles="1" noChangeArrowheads="1" noChangeShapeType="1" noTextEdit="1"/>
              </p:cNvSpPr>
              <p:nvPr/>
            </p:nvSpPr>
            <p:spPr bwMode="auto">
              <a:xfrm>
                <a:off x="2741414" y="5851702"/>
                <a:ext cx="3799418" cy="1098550"/>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271" name="Object 23">
                <a:extLst>
                  <a:ext uri="{FF2B5EF4-FFF2-40B4-BE49-F238E27FC236}">
                    <a16:creationId xmlns:a16="http://schemas.microsoft.com/office/drawing/2014/main" id="{E931ECC7-63D2-45EE-9891-BE9BD133CF21}"/>
                  </a:ext>
                </a:extLst>
              </p:cNvPr>
              <p:cNvSpPr txBox="1"/>
              <p:nvPr/>
            </p:nvSpPr>
            <p:spPr bwMode="auto">
              <a:xfrm>
                <a:off x="866285" y="4641620"/>
                <a:ext cx="4168618" cy="10826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tg</m:t>
                          </m:r>
                        </m:fName>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𝜃</m:t>
                              </m:r>
                            </m:e>
                            <m:sub>
                              <m:r>
                                <a:rPr lang="zh-CN" altLang="en-US" sz="2800" i="1">
                                  <a:solidFill>
                                    <a:srgbClr val="000000"/>
                                  </a:solidFill>
                                  <a:latin typeface="Cambria Math" panose="02040503050406030204" pitchFamily="18" charset="0"/>
                                </a:rPr>
                                <m:t>1</m:t>
                              </m:r>
                            </m:sub>
                          </m:sSub>
                        </m:e>
                      </m:func>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𝜇</m:t>
                              </m:r>
                            </m:e>
                            <m:sub>
                              <m:r>
                                <a:rPr lang="zh-CN" altLang="en-US" sz="2800" i="1">
                                  <a:solidFill>
                                    <a:srgbClr val="000000"/>
                                  </a:solidFill>
                                  <a:latin typeface="Cambria Math" panose="02040503050406030204" pitchFamily="18" charset="0"/>
                                </a:rPr>
                                <m:t>1</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𝜇</m:t>
                              </m:r>
                            </m:e>
                            <m:sub>
                              <m:r>
                                <a:rPr lang="zh-CN" altLang="en-US" sz="2800" i="1">
                                  <a:solidFill>
                                    <a:srgbClr val="000000"/>
                                  </a:solidFill>
                                  <a:latin typeface="Cambria Math" panose="02040503050406030204" pitchFamily="18" charset="0"/>
                                </a:rPr>
                                <m:t>2</m:t>
                              </m:r>
                            </m:sub>
                          </m:sSub>
                        </m:den>
                      </m:f>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tg</m:t>
                          </m:r>
                        </m:fName>
                        <m:e>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𝜃</m:t>
                              </m:r>
                            </m:e>
                            <m:sub>
                              <m:r>
                                <a:rPr lang="zh-CN" altLang="en-US" sz="2800" i="1">
                                  <a:solidFill>
                                    <a:srgbClr val="000000"/>
                                  </a:solidFill>
                                  <a:latin typeface="Cambria Math" panose="02040503050406030204" pitchFamily="18" charset="0"/>
                                </a:rPr>
                                <m:t>2</m:t>
                              </m:r>
                            </m:sub>
                          </m:sSub>
                        </m:e>
                      </m:func>
                      <m:r>
                        <a:rPr lang="zh-CN" altLang="en-US" sz="2800" i="1">
                          <a:solidFill>
                            <a:srgbClr val="000000"/>
                          </a:solidFill>
                          <a:latin typeface="Cambria Math" panose="02040503050406030204" pitchFamily="18" charset="0"/>
                        </a:rPr>
                        <m:t>&gt;&gt;1</m:t>
                      </m:r>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53271" name="Object 23">
                <a:extLst>
                  <a:ext uri="{FF2B5EF4-FFF2-40B4-BE49-F238E27FC236}">
                    <a16:creationId xmlns:a16="http://schemas.microsoft.com/office/drawing/2014/main" id="{E931ECC7-63D2-45EE-9891-BE9BD133CF21}"/>
                  </a:ext>
                </a:extLst>
              </p:cNvPr>
              <p:cNvSpPr txBox="1">
                <a:spLocks noRot="1" noChangeAspect="1" noMove="1" noResize="1" noEditPoints="1" noAdjustHandles="1" noChangeArrowheads="1" noChangeShapeType="1" noTextEdit="1"/>
              </p:cNvSpPr>
              <p:nvPr/>
            </p:nvSpPr>
            <p:spPr bwMode="auto">
              <a:xfrm>
                <a:off x="866285" y="4641620"/>
                <a:ext cx="4168618" cy="1082675"/>
              </a:xfrm>
              <a:prstGeom prst="rect">
                <a:avLst/>
              </a:prstGeom>
              <a:blipFill>
                <a:blip r:embed="rId6"/>
                <a:stretch>
                  <a:fillRect/>
                </a:stretch>
              </a:blipFill>
              <a:ln>
                <a:noFill/>
              </a:ln>
              <a:effectLst/>
            </p:spPr>
            <p:txBody>
              <a:bodyPr/>
              <a:lstStyle/>
              <a:p>
                <a:r>
                  <a:rPr lang="zh-CN" altLang="en-US">
                    <a:noFill/>
                  </a:rPr>
                  <a:t> </a:t>
                </a:r>
              </a:p>
            </p:txBody>
          </p:sp>
        </mc:Fallback>
      </mc:AlternateContent>
      <p:grpSp>
        <p:nvGrpSpPr>
          <p:cNvPr id="53288" name="Group 40">
            <a:extLst>
              <a:ext uri="{FF2B5EF4-FFF2-40B4-BE49-F238E27FC236}">
                <a16:creationId xmlns:a16="http://schemas.microsoft.com/office/drawing/2014/main" id="{9DBF366F-C742-41BA-9E92-ED648EA16426}"/>
              </a:ext>
            </a:extLst>
          </p:cNvPr>
          <p:cNvGrpSpPr>
            <a:grpSpLocks/>
          </p:cNvGrpSpPr>
          <p:nvPr/>
        </p:nvGrpSpPr>
        <p:grpSpPr bwMode="auto">
          <a:xfrm>
            <a:off x="708182" y="1314450"/>
            <a:ext cx="3708400" cy="2114550"/>
            <a:chOff x="36" y="1741"/>
            <a:chExt cx="2570" cy="1466"/>
          </a:xfrm>
        </p:grpSpPr>
        <p:sp>
          <p:nvSpPr>
            <p:cNvPr id="29709" name="Rectangle 41">
              <a:extLst>
                <a:ext uri="{FF2B5EF4-FFF2-40B4-BE49-F238E27FC236}">
                  <a16:creationId xmlns:a16="http://schemas.microsoft.com/office/drawing/2014/main" id="{F094A0EB-649F-46D4-916D-2B97CF7C1DFE}"/>
                </a:ext>
              </a:extLst>
            </p:cNvPr>
            <p:cNvSpPr>
              <a:spLocks noChangeArrowheads="1"/>
            </p:cNvSpPr>
            <p:nvPr/>
          </p:nvSpPr>
          <p:spPr bwMode="auto">
            <a:xfrm>
              <a:off x="1248" y="2256"/>
              <a:ext cx="96" cy="144"/>
            </a:xfrm>
            <a:prstGeom prst="rect">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dirty="0">
                <a:ea typeface="华文楷体" panose="02010600040101010101" pitchFamily="2" charset="-122"/>
              </a:endParaRPr>
            </a:p>
          </p:txBody>
        </p:sp>
        <p:sp>
          <p:nvSpPr>
            <p:cNvPr id="29710" name="Freeform 42">
              <a:extLst>
                <a:ext uri="{FF2B5EF4-FFF2-40B4-BE49-F238E27FC236}">
                  <a16:creationId xmlns:a16="http://schemas.microsoft.com/office/drawing/2014/main" id="{F470777A-6D9E-4792-A85C-89ABECA879B6}"/>
                </a:ext>
              </a:extLst>
            </p:cNvPr>
            <p:cNvSpPr>
              <a:spLocks/>
            </p:cNvSpPr>
            <p:nvPr/>
          </p:nvSpPr>
          <p:spPr bwMode="auto">
            <a:xfrm>
              <a:off x="72" y="2388"/>
              <a:ext cx="2304" cy="168"/>
            </a:xfrm>
            <a:custGeom>
              <a:avLst/>
              <a:gdLst>
                <a:gd name="T0" fmla="*/ 0 w 2304"/>
                <a:gd name="T1" fmla="*/ 168 h 168"/>
                <a:gd name="T2" fmla="*/ 864 w 2304"/>
                <a:gd name="T3" fmla="*/ 24 h 168"/>
                <a:gd name="T4" fmla="*/ 1536 w 2304"/>
                <a:gd name="T5" fmla="*/ 24 h 168"/>
                <a:gd name="T6" fmla="*/ 2304 w 2304"/>
                <a:gd name="T7" fmla="*/ 168 h 1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04" h="168">
                  <a:moveTo>
                    <a:pt x="0" y="168"/>
                  </a:moveTo>
                  <a:cubicBezTo>
                    <a:pt x="304" y="108"/>
                    <a:pt x="608" y="48"/>
                    <a:pt x="864" y="24"/>
                  </a:cubicBezTo>
                  <a:cubicBezTo>
                    <a:pt x="1120" y="0"/>
                    <a:pt x="1296" y="0"/>
                    <a:pt x="1536" y="24"/>
                  </a:cubicBezTo>
                  <a:cubicBezTo>
                    <a:pt x="1776" y="48"/>
                    <a:pt x="2040" y="108"/>
                    <a:pt x="2304" y="168"/>
                  </a:cubicBez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1" name="Line 43">
              <a:extLst>
                <a:ext uri="{FF2B5EF4-FFF2-40B4-BE49-F238E27FC236}">
                  <a16:creationId xmlns:a16="http://schemas.microsoft.com/office/drawing/2014/main" id="{D8AA662C-126C-4361-8B32-C6B6863D7BDE}"/>
                </a:ext>
              </a:extLst>
            </p:cNvPr>
            <p:cNvSpPr>
              <a:spLocks noChangeShapeType="1"/>
            </p:cNvSpPr>
            <p:nvPr/>
          </p:nvSpPr>
          <p:spPr bwMode="auto">
            <a:xfrm flipH="1" flipV="1">
              <a:off x="1245" y="1875"/>
              <a:ext cx="0" cy="1296"/>
            </a:xfrm>
            <a:prstGeom prst="line">
              <a:avLst/>
            </a:prstGeom>
            <a:noFill/>
            <a:ln w="28575">
              <a:solidFill>
                <a:srgbClr val="FF33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2" name="Line 44">
              <a:extLst>
                <a:ext uri="{FF2B5EF4-FFF2-40B4-BE49-F238E27FC236}">
                  <a16:creationId xmlns:a16="http://schemas.microsoft.com/office/drawing/2014/main" id="{94E00504-0096-4121-B1FE-064128B29CCB}"/>
                </a:ext>
              </a:extLst>
            </p:cNvPr>
            <p:cNvSpPr>
              <a:spLocks noChangeShapeType="1"/>
            </p:cNvSpPr>
            <p:nvPr/>
          </p:nvSpPr>
          <p:spPr bwMode="auto">
            <a:xfrm flipV="1">
              <a:off x="729" y="2391"/>
              <a:ext cx="528" cy="816"/>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29713" name="Object 45">
              <a:extLst>
                <a:ext uri="{FF2B5EF4-FFF2-40B4-BE49-F238E27FC236}">
                  <a16:creationId xmlns:a16="http://schemas.microsoft.com/office/drawing/2014/main" id="{6CE03C3C-E5EC-4776-BFF8-F7020D311437}"/>
                </a:ext>
              </a:extLst>
            </p:cNvPr>
            <p:cNvGraphicFramePr>
              <a:graphicFrameLocks noChangeAspect="1"/>
            </p:cNvGraphicFramePr>
            <p:nvPr/>
          </p:nvGraphicFramePr>
          <p:xfrm>
            <a:off x="980" y="1741"/>
            <a:ext cx="256" cy="322"/>
          </p:xfrm>
          <a:graphic>
            <a:graphicData uri="http://schemas.openxmlformats.org/presentationml/2006/ole">
              <mc:AlternateContent xmlns:mc="http://schemas.openxmlformats.org/markup-compatibility/2006">
                <mc:Choice xmlns:v="urn:schemas-microsoft-com:vml" Requires="v">
                  <p:oleObj spid="_x0000_s10302" name="公式" r:id="rId7" imgW="53378" imgH="91368" progId="Equation.3">
                    <p:embed/>
                  </p:oleObj>
                </mc:Choice>
                <mc:Fallback>
                  <p:oleObj name="公式" r:id="rId7" imgW="53378" imgH="91368" progId="Equation.3">
                    <p:embed/>
                    <p:pic>
                      <p:nvPicPr>
                        <p:cNvPr id="29713" name="Object 45">
                          <a:extLst>
                            <a:ext uri="{FF2B5EF4-FFF2-40B4-BE49-F238E27FC236}">
                              <a16:creationId xmlns:a16="http://schemas.microsoft.com/office/drawing/2014/main" id="{6CE03C3C-E5EC-4776-BFF8-F7020D3114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0" y="1741"/>
                          <a:ext cx="256"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14" name="Object 46">
              <a:extLst>
                <a:ext uri="{FF2B5EF4-FFF2-40B4-BE49-F238E27FC236}">
                  <a16:creationId xmlns:a16="http://schemas.microsoft.com/office/drawing/2014/main" id="{2827BC90-ACAA-4B27-84DB-DAE0750EA63E}"/>
                </a:ext>
              </a:extLst>
            </p:cNvPr>
            <p:cNvGraphicFramePr>
              <a:graphicFrameLocks noChangeAspect="1"/>
            </p:cNvGraphicFramePr>
            <p:nvPr/>
          </p:nvGraphicFramePr>
          <p:xfrm>
            <a:off x="2088" y="2124"/>
            <a:ext cx="518" cy="364"/>
          </p:xfrm>
          <a:graphic>
            <a:graphicData uri="http://schemas.openxmlformats.org/presentationml/2006/ole">
              <mc:AlternateContent xmlns:mc="http://schemas.openxmlformats.org/markup-compatibility/2006">
                <mc:Choice xmlns:v="urn:schemas-microsoft-com:vml" Requires="v">
                  <p:oleObj spid="_x0000_s10303" name="公式" r:id="rId9" imgW="259112" imgH="160056" progId="Equation.3">
                    <p:embed/>
                  </p:oleObj>
                </mc:Choice>
                <mc:Fallback>
                  <p:oleObj name="公式" r:id="rId9" imgW="259112" imgH="160056" progId="Equation.3">
                    <p:embed/>
                    <p:pic>
                      <p:nvPicPr>
                        <p:cNvPr id="29714" name="Object 46">
                          <a:extLst>
                            <a:ext uri="{FF2B5EF4-FFF2-40B4-BE49-F238E27FC236}">
                              <a16:creationId xmlns:a16="http://schemas.microsoft.com/office/drawing/2014/main" id="{2827BC90-ACAA-4B27-84DB-DAE0750EA63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88" y="2124"/>
                          <a:ext cx="518"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15" name="Object 47">
              <a:extLst>
                <a:ext uri="{FF2B5EF4-FFF2-40B4-BE49-F238E27FC236}">
                  <a16:creationId xmlns:a16="http://schemas.microsoft.com/office/drawing/2014/main" id="{9AC2E7E0-AD34-4817-9D7B-5F0FFC5E4519}"/>
                </a:ext>
              </a:extLst>
            </p:cNvPr>
            <p:cNvGraphicFramePr>
              <a:graphicFrameLocks noChangeAspect="1"/>
            </p:cNvGraphicFramePr>
            <p:nvPr/>
          </p:nvGraphicFramePr>
          <p:xfrm>
            <a:off x="213" y="2835"/>
            <a:ext cx="536" cy="364"/>
          </p:xfrm>
          <a:graphic>
            <a:graphicData uri="http://schemas.openxmlformats.org/presentationml/2006/ole">
              <mc:AlternateContent xmlns:mc="http://schemas.openxmlformats.org/markup-compatibility/2006">
                <mc:Choice xmlns:v="urn:schemas-microsoft-com:vml" Requires="v">
                  <p:oleObj spid="_x0000_s10304" name="公式" r:id="rId11" imgW="274239" imgH="160056" progId="Equation.3">
                    <p:embed/>
                  </p:oleObj>
                </mc:Choice>
                <mc:Fallback>
                  <p:oleObj name="公式" r:id="rId11" imgW="274239" imgH="160056" progId="Equation.3">
                    <p:embed/>
                    <p:pic>
                      <p:nvPicPr>
                        <p:cNvPr id="29715" name="Object 47">
                          <a:extLst>
                            <a:ext uri="{FF2B5EF4-FFF2-40B4-BE49-F238E27FC236}">
                              <a16:creationId xmlns:a16="http://schemas.microsoft.com/office/drawing/2014/main" id="{9AC2E7E0-AD34-4817-9D7B-5F0FFC5E451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 y="2835"/>
                          <a:ext cx="536"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6" name="Text Box 48">
              <a:extLst>
                <a:ext uri="{FF2B5EF4-FFF2-40B4-BE49-F238E27FC236}">
                  <a16:creationId xmlns:a16="http://schemas.microsoft.com/office/drawing/2014/main" id="{A7DFF488-7C0D-4ABD-89C9-0E1B7469E223}"/>
                </a:ext>
              </a:extLst>
            </p:cNvPr>
            <p:cNvSpPr txBox="1">
              <a:spLocks noChangeArrowheads="1"/>
            </p:cNvSpPr>
            <p:nvPr/>
          </p:nvSpPr>
          <p:spPr bwMode="auto">
            <a:xfrm>
              <a:off x="36" y="2064"/>
              <a:ext cx="1116"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dirty="0">
                  <a:ea typeface="华文楷体" panose="02010600040101010101" pitchFamily="2" charset="-122"/>
                  <a:sym typeface="Symbol" panose="05050102010706020507" pitchFamily="18" charset="2"/>
                </a:rPr>
                <a:t></a:t>
              </a:r>
              <a:r>
                <a:rPr lang="en-US" altLang="zh-CN" b="0" baseline="-25000" dirty="0">
                  <a:ea typeface="华文楷体" panose="02010600040101010101" pitchFamily="2" charset="-122"/>
                  <a:sym typeface="Symbol" panose="05050102010706020507" pitchFamily="18" charset="2"/>
                </a:rPr>
                <a:t>1</a:t>
              </a:r>
              <a:r>
                <a:rPr lang="en-US" altLang="zh-CN" b="0" dirty="0">
                  <a:ea typeface="华文楷体" panose="02010600040101010101" pitchFamily="2" charset="-122"/>
                  <a:sym typeface="Symbol" panose="05050102010706020507" pitchFamily="18" charset="2"/>
                </a:rPr>
                <a:t>&gt;&gt; </a:t>
              </a:r>
              <a:r>
                <a:rPr lang="en-US" altLang="zh-CN" b="0" i="1" dirty="0">
                  <a:ea typeface="华文楷体" panose="02010600040101010101" pitchFamily="2" charset="-122"/>
                  <a:sym typeface="Symbol" panose="05050102010706020507" pitchFamily="18" charset="2"/>
                </a:rPr>
                <a:t></a:t>
              </a:r>
              <a:r>
                <a:rPr lang="en-US" altLang="zh-CN" b="0" baseline="-25000" dirty="0">
                  <a:ea typeface="华文楷体" panose="02010600040101010101" pitchFamily="2" charset="-122"/>
                  <a:sym typeface="Symbol" panose="05050102010706020507" pitchFamily="18" charset="2"/>
                </a:rPr>
                <a:t>2</a:t>
              </a:r>
            </a:p>
          </p:txBody>
        </p:sp>
        <p:sp>
          <p:nvSpPr>
            <p:cNvPr id="29717" name="Text Box 49">
              <a:extLst>
                <a:ext uri="{FF2B5EF4-FFF2-40B4-BE49-F238E27FC236}">
                  <a16:creationId xmlns:a16="http://schemas.microsoft.com/office/drawing/2014/main" id="{D73DB2BA-A652-4D63-8622-19C50F595663}"/>
                </a:ext>
              </a:extLst>
            </p:cNvPr>
            <p:cNvSpPr txBox="1">
              <a:spLocks noChangeArrowheads="1"/>
            </p:cNvSpPr>
            <p:nvPr/>
          </p:nvSpPr>
          <p:spPr bwMode="auto">
            <a:xfrm>
              <a:off x="97" y="2436"/>
              <a:ext cx="815"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dirty="0">
                  <a:ea typeface="华文楷体" panose="02010600040101010101" pitchFamily="2" charset="-122"/>
                  <a:sym typeface="Symbol" panose="05050102010706020507" pitchFamily="18" charset="2"/>
                </a:rPr>
                <a:t></a:t>
              </a:r>
              <a:r>
                <a:rPr lang="en-US" altLang="zh-CN" b="0" baseline="-25000" dirty="0">
                  <a:ea typeface="华文楷体" panose="02010600040101010101" pitchFamily="2" charset="-122"/>
                  <a:sym typeface="Symbol" panose="05050102010706020507" pitchFamily="18" charset="2"/>
                </a:rPr>
                <a:t>2</a:t>
              </a:r>
              <a:endParaRPr lang="en-US" altLang="zh-CN" b="0" dirty="0">
                <a:ea typeface="华文楷体" panose="02010600040101010101" pitchFamily="2" charset="-122"/>
              </a:endParaRPr>
            </a:p>
          </p:txBody>
        </p:sp>
        <p:sp>
          <p:nvSpPr>
            <p:cNvPr id="29718" name="Line 50">
              <a:extLst>
                <a:ext uri="{FF2B5EF4-FFF2-40B4-BE49-F238E27FC236}">
                  <a16:creationId xmlns:a16="http://schemas.microsoft.com/office/drawing/2014/main" id="{A8E147EE-7B66-465B-BE51-1F3B8261A1CE}"/>
                </a:ext>
              </a:extLst>
            </p:cNvPr>
            <p:cNvSpPr>
              <a:spLocks noChangeShapeType="1"/>
            </p:cNvSpPr>
            <p:nvPr/>
          </p:nvSpPr>
          <p:spPr bwMode="auto">
            <a:xfrm flipV="1">
              <a:off x="1272" y="2364"/>
              <a:ext cx="816" cy="24"/>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19" name="Text Box 51">
              <a:extLst>
                <a:ext uri="{FF2B5EF4-FFF2-40B4-BE49-F238E27FC236}">
                  <a16:creationId xmlns:a16="http://schemas.microsoft.com/office/drawing/2014/main" id="{8CD27FE1-2C4E-4FDC-956D-3209F26585CE}"/>
                </a:ext>
              </a:extLst>
            </p:cNvPr>
            <p:cNvSpPr txBox="1">
              <a:spLocks noChangeArrowheads="1"/>
            </p:cNvSpPr>
            <p:nvPr/>
          </p:nvSpPr>
          <p:spPr bwMode="auto">
            <a:xfrm>
              <a:off x="1161" y="1996"/>
              <a:ext cx="1071"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b="0" i="1" dirty="0">
                  <a:ea typeface="华文楷体" panose="02010600040101010101" pitchFamily="2" charset="-122"/>
                  <a:sym typeface="Symbol" panose="05050102010706020507" pitchFamily="18" charset="2"/>
                </a:rPr>
                <a:t></a:t>
              </a:r>
              <a:r>
                <a:rPr lang="en-US" altLang="zh-CN" sz="2400" b="0" baseline="-25000" dirty="0">
                  <a:ea typeface="华文楷体" panose="02010600040101010101" pitchFamily="2" charset="-122"/>
                  <a:sym typeface="Symbol" panose="05050102010706020507" pitchFamily="18" charset="2"/>
                </a:rPr>
                <a:t>1</a:t>
              </a:r>
              <a:r>
                <a:rPr lang="en-US" altLang="zh-CN" sz="2400" b="0" dirty="0">
                  <a:ea typeface="华文楷体" panose="02010600040101010101" pitchFamily="2" charset="-122"/>
                  <a:sym typeface="Symbol" panose="05050102010706020507" pitchFamily="18" charset="2"/>
                </a:rPr>
                <a:t>90°</a:t>
              </a:r>
              <a:endParaRPr lang="en-US" altLang="zh-CN" sz="2400" b="0" dirty="0">
                <a:ea typeface="华文楷体" panose="02010600040101010101" pitchFamily="2" charset="-122"/>
              </a:endParaRPr>
            </a:p>
          </p:txBody>
        </p:sp>
        <p:sp>
          <p:nvSpPr>
            <p:cNvPr id="29720" name="Freeform 52">
              <a:extLst>
                <a:ext uri="{FF2B5EF4-FFF2-40B4-BE49-F238E27FC236}">
                  <a16:creationId xmlns:a16="http://schemas.microsoft.com/office/drawing/2014/main" id="{49E8D734-F03C-4870-AA7C-DAABA040BF26}"/>
                </a:ext>
              </a:extLst>
            </p:cNvPr>
            <p:cNvSpPr>
              <a:spLocks/>
            </p:cNvSpPr>
            <p:nvPr/>
          </p:nvSpPr>
          <p:spPr bwMode="auto">
            <a:xfrm>
              <a:off x="1053" y="2715"/>
              <a:ext cx="192" cy="112"/>
            </a:xfrm>
            <a:custGeom>
              <a:avLst/>
              <a:gdLst>
                <a:gd name="T0" fmla="*/ 0 w 192"/>
                <a:gd name="T1" fmla="*/ 0 h 112"/>
                <a:gd name="T2" fmla="*/ 48 w 192"/>
                <a:gd name="T3" fmla="*/ 96 h 112"/>
                <a:gd name="T4" fmla="*/ 192 w 192"/>
                <a:gd name="T5" fmla="*/ 96 h 112"/>
                <a:gd name="T6" fmla="*/ 0 60000 65536"/>
                <a:gd name="T7" fmla="*/ 0 60000 65536"/>
                <a:gd name="T8" fmla="*/ 0 60000 65536"/>
              </a:gdLst>
              <a:ahLst/>
              <a:cxnLst>
                <a:cxn ang="T6">
                  <a:pos x="T0" y="T1"/>
                </a:cxn>
                <a:cxn ang="T7">
                  <a:pos x="T2" y="T3"/>
                </a:cxn>
                <a:cxn ang="T8">
                  <a:pos x="T4" y="T5"/>
                </a:cxn>
              </a:cxnLst>
              <a:rect l="0" t="0" r="r" b="b"/>
              <a:pathLst>
                <a:path w="192" h="112">
                  <a:moveTo>
                    <a:pt x="0" y="0"/>
                  </a:moveTo>
                  <a:cubicBezTo>
                    <a:pt x="8" y="40"/>
                    <a:pt x="16" y="80"/>
                    <a:pt x="48" y="96"/>
                  </a:cubicBezTo>
                  <a:cubicBezTo>
                    <a:pt x="80" y="112"/>
                    <a:pt x="136" y="104"/>
                    <a:pt x="192" y="96"/>
                  </a:cubicBez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721" name="Text Box 53">
              <a:extLst>
                <a:ext uri="{FF2B5EF4-FFF2-40B4-BE49-F238E27FC236}">
                  <a16:creationId xmlns:a16="http://schemas.microsoft.com/office/drawing/2014/main" id="{EB617943-6633-4A6C-83E1-0FFF14DE4B40}"/>
                </a:ext>
              </a:extLst>
            </p:cNvPr>
            <p:cNvSpPr txBox="1">
              <a:spLocks noChangeArrowheads="1"/>
            </p:cNvSpPr>
            <p:nvPr/>
          </p:nvSpPr>
          <p:spPr bwMode="auto">
            <a:xfrm>
              <a:off x="813" y="2775"/>
              <a:ext cx="528"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b="0" i="1" dirty="0">
                  <a:ea typeface="华文楷体" panose="02010600040101010101" pitchFamily="2" charset="-122"/>
                  <a:sym typeface="Symbol" panose="05050102010706020507" pitchFamily="18" charset="2"/>
                </a:rPr>
                <a:t></a:t>
              </a:r>
              <a:r>
                <a:rPr lang="en-US" altLang="zh-CN" b="0" baseline="-25000" dirty="0">
                  <a:ea typeface="华文楷体" panose="02010600040101010101" pitchFamily="2" charset="-122"/>
                  <a:sym typeface="Symbol" panose="05050102010706020507" pitchFamily="18" charset="2"/>
                </a:rPr>
                <a:t>2</a:t>
              </a:r>
              <a:endParaRPr lang="en-US" altLang="zh-CN" b="0" dirty="0">
                <a:ea typeface="华文楷体" panose="02010600040101010101" pitchFamily="2" charset="-122"/>
              </a:endParaRPr>
            </a:p>
          </p:txBody>
        </p:sp>
      </p:grpSp>
      <p:grpSp>
        <p:nvGrpSpPr>
          <p:cNvPr id="2" name="组合 1">
            <a:extLst>
              <a:ext uri="{FF2B5EF4-FFF2-40B4-BE49-F238E27FC236}">
                <a16:creationId xmlns:a16="http://schemas.microsoft.com/office/drawing/2014/main" id="{89F15E6A-6A59-4A75-96AD-0D87065F9E1C}"/>
              </a:ext>
            </a:extLst>
          </p:cNvPr>
          <p:cNvGrpSpPr/>
          <p:nvPr/>
        </p:nvGrpSpPr>
        <p:grpSpPr>
          <a:xfrm>
            <a:off x="5879992" y="1507730"/>
            <a:ext cx="5071852" cy="4104150"/>
            <a:chOff x="5879992" y="1547170"/>
            <a:chExt cx="5071852" cy="4104150"/>
          </a:xfrm>
        </p:grpSpPr>
        <p:graphicFrame>
          <p:nvGraphicFramePr>
            <p:cNvPr id="54" name="Object 4">
              <a:extLst>
                <a:ext uri="{FF2B5EF4-FFF2-40B4-BE49-F238E27FC236}">
                  <a16:creationId xmlns:a16="http://schemas.microsoft.com/office/drawing/2014/main" id="{40C56639-E825-4749-812F-5DBAB0655414}"/>
                </a:ext>
              </a:extLst>
            </p:cNvPr>
            <p:cNvGraphicFramePr>
              <a:graphicFrameLocks noChangeAspect="1"/>
            </p:cNvGraphicFramePr>
            <p:nvPr/>
          </p:nvGraphicFramePr>
          <p:xfrm>
            <a:off x="5879992" y="1547170"/>
            <a:ext cx="5071852" cy="3527819"/>
          </p:xfrm>
          <a:graphic>
            <a:graphicData uri="http://schemas.openxmlformats.org/presentationml/2006/ole">
              <mc:AlternateContent xmlns:mc="http://schemas.openxmlformats.org/markup-compatibility/2006">
                <mc:Choice xmlns:v="urn:schemas-microsoft-com:vml" Requires="v">
                  <p:oleObj spid="_x0000_s10305" name="文档" r:id="rId13" imgW="3106420" imgH="2159000" progId="Word.Document.8">
                    <p:embed/>
                  </p:oleObj>
                </mc:Choice>
                <mc:Fallback>
                  <p:oleObj name="文档" r:id="rId13" imgW="3106420" imgH="2159000" progId="Word.Document.8">
                    <p:embed/>
                    <p:pic>
                      <p:nvPicPr>
                        <p:cNvPr id="54" name="Object 4">
                          <a:extLst>
                            <a:ext uri="{FF2B5EF4-FFF2-40B4-BE49-F238E27FC236}">
                              <a16:creationId xmlns:a16="http://schemas.microsoft.com/office/drawing/2014/main" id="{40C56639-E825-4749-812F-5DBAB065541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79992" y="1547170"/>
                          <a:ext cx="5071852" cy="3527819"/>
                        </a:xfrm>
                        <a:prstGeom prst="rect">
                          <a:avLst/>
                        </a:prstGeom>
                        <a:noFill/>
                        <a:ln>
                          <a:noFill/>
                        </a:ln>
                        <a:effectLst/>
                      </p:spPr>
                    </p:pic>
                  </p:oleObj>
                </mc:Fallback>
              </mc:AlternateContent>
            </a:graphicData>
          </a:graphic>
        </p:graphicFrame>
        <p:sp>
          <p:nvSpPr>
            <p:cNvPr id="53" name="Text Box 16">
              <a:extLst>
                <a:ext uri="{FF2B5EF4-FFF2-40B4-BE49-F238E27FC236}">
                  <a16:creationId xmlns:a16="http://schemas.microsoft.com/office/drawing/2014/main" id="{A35A0D2F-F335-4802-B3DB-7C20B7CD52E9}"/>
                </a:ext>
              </a:extLst>
            </p:cNvPr>
            <p:cNvSpPr txBox="1">
              <a:spLocks noChangeArrowheads="1"/>
            </p:cNvSpPr>
            <p:nvPr/>
          </p:nvSpPr>
          <p:spPr bwMode="auto">
            <a:xfrm>
              <a:off x="7228568" y="5128100"/>
              <a:ext cx="295275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dirty="0">
                  <a:solidFill>
                    <a:srgbClr val="0066FF"/>
                  </a:solidFill>
                  <a:ea typeface="华文楷体" panose="02010600040101010101" pitchFamily="2" charset="-122"/>
                  <a:cs typeface="Times New Roman" panose="02020603050405020304" pitchFamily="18" charset="0"/>
                </a:rPr>
                <a:t> </a:t>
              </a:r>
              <a:r>
                <a:rPr lang="zh-CN" altLang="en-US" dirty="0">
                  <a:solidFill>
                    <a:srgbClr val="0066FF"/>
                  </a:solidFill>
                  <a:ea typeface="华文楷体" panose="02010600040101010101" pitchFamily="2" charset="-122"/>
                </a:rPr>
                <a:t>静磁屏蔽</a:t>
              </a:r>
              <a:endParaRPr lang="zh-CN" altLang="en-US" b="0" dirty="0">
                <a:solidFill>
                  <a:srgbClr val="0066FF"/>
                </a:solidFill>
                <a:ea typeface="华文楷体" panose="02010600040101010101" pitchFamily="2" charset="-122"/>
              </a:endParaRPr>
            </a:p>
          </p:txBody>
        </p:sp>
      </p:grpSp>
      <p:sp>
        <p:nvSpPr>
          <p:cNvPr id="24" name="标题 7">
            <a:extLst>
              <a:ext uri="{FF2B5EF4-FFF2-40B4-BE49-F238E27FC236}">
                <a16:creationId xmlns:a16="http://schemas.microsoft.com/office/drawing/2014/main" id="{28A013D8-2E69-4DAD-A2B9-EC510C37D353}"/>
              </a:ext>
            </a:extLst>
          </p:cNvPr>
          <p:cNvSpPr txBox="1">
            <a:spLocks/>
          </p:cNvSpPr>
          <p:nvPr/>
        </p:nvSpPr>
        <p:spPr>
          <a:xfrm>
            <a:off x="719721" y="280249"/>
            <a:ext cx="888147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静磁屏蔽</a:t>
            </a:r>
          </a:p>
        </p:txBody>
      </p:sp>
    </p:spTree>
    <p:extLst>
      <p:ext uri="{BB962C8B-B14F-4D97-AF65-F5344CB8AC3E}">
        <p14:creationId xmlns:p14="http://schemas.microsoft.com/office/powerpoint/2010/main" val="194633250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2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27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7" grpId="0"/>
      <p:bldP spid="29737" grpId="0"/>
      <p:bldP spid="53270" grpId="0"/>
      <p:bldP spid="5327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864459" y="2209692"/>
            <a:ext cx="5194384" cy="4135335"/>
          </a:xfrm>
          <a:prstGeom prst="rect">
            <a:avLst/>
          </a:prstGeom>
        </p:spPr>
      </p:pic>
      <p:sp>
        <p:nvSpPr>
          <p:cNvPr id="5" name="矩形 4"/>
          <p:cNvSpPr/>
          <p:nvPr/>
        </p:nvSpPr>
        <p:spPr>
          <a:xfrm>
            <a:off x="1472670" y="1374641"/>
            <a:ext cx="10046230" cy="523220"/>
          </a:xfrm>
          <a:prstGeom prst="rect">
            <a:avLst/>
          </a:prstGeom>
        </p:spPr>
        <p:txBody>
          <a:bodyPr wrap="square">
            <a:spAutoFit/>
          </a:bodyPr>
          <a:lstStyle/>
          <a:p>
            <a:r>
              <a:rPr kumimoji="1" lang="zh-CN" altLang="en-US" sz="28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磁通：由铁芯（或一定的间隙）构成的磁感应线集中的通路。</a:t>
            </a:r>
            <a:endParaRPr lang="zh-CN" altLang="en-US" dirty="0">
              <a:latin typeface="华文楷体" panose="02010600040101010101" pitchFamily="2" charset="-122"/>
              <a:ea typeface="华文楷体" panose="02010600040101010101" pitchFamily="2" charset="-122"/>
            </a:endParaRPr>
          </a:p>
        </p:txBody>
      </p:sp>
      <p:sp>
        <p:nvSpPr>
          <p:cNvPr id="48" name="Text Box 15">
            <a:extLst>
              <a:ext uri="{FF2B5EF4-FFF2-40B4-BE49-F238E27FC236}">
                <a16:creationId xmlns:a16="http://schemas.microsoft.com/office/drawing/2014/main" id="{9D8C856E-701A-CAA4-57D1-8E172967719A}"/>
              </a:ext>
            </a:extLst>
          </p:cNvPr>
          <p:cNvSpPr txBox="1">
            <a:spLocks noChangeArrowheads="1"/>
          </p:cNvSpPr>
          <p:nvPr/>
        </p:nvSpPr>
        <p:spPr bwMode="auto">
          <a:xfrm>
            <a:off x="6701913" y="4691078"/>
            <a:ext cx="498208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600" b="0" dirty="0">
                <a:latin typeface="+mn-lt"/>
                <a:ea typeface="+mn-ea"/>
              </a:rPr>
              <a:t>铁芯外部相对较弱的磁场叫漏磁。</a:t>
            </a:r>
          </a:p>
        </p:txBody>
      </p:sp>
      <p:sp>
        <p:nvSpPr>
          <p:cNvPr id="49" name="Text Box 18">
            <a:extLst>
              <a:ext uri="{FF2B5EF4-FFF2-40B4-BE49-F238E27FC236}">
                <a16:creationId xmlns:a16="http://schemas.microsoft.com/office/drawing/2014/main" id="{12A88358-A2D1-70F1-DCBC-4AD501FE5565}"/>
              </a:ext>
            </a:extLst>
          </p:cNvPr>
          <p:cNvSpPr txBox="1">
            <a:spLocks noChangeArrowheads="1"/>
          </p:cNvSpPr>
          <p:nvPr/>
        </p:nvSpPr>
        <p:spPr bwMode="auto">
          <a:xfrm>
            <a:off x="6413235" y="3728240"/>
            <a:ext cx="657701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600" b="0" i="1" dirty="0">
                <a:latin typeface="+mn-lt"/>
                <a:ea typeface="+mn-ea"/>
              </a:rPr>
              <a:t>B</a:t>
            </a:r>
            <a:r>
              <a:rPr lang="zh-CN" altLang="en-US" sz="2600" b="0" dirty="0">
                <a:latin typeface="+mn-lt"/>
                <a:ea typeface="+mn-ea"/>
              </a:rPr>
              <a:t>处处相等、铁芯内</a:t>
            </a:r>
            <a:r>
              <a:rPr lang="en-US" altLang="zh-CN" sz="2600" b="0" i="1" dirty="0">
                <a:latin typeface="+mn-lt"/>
                <a:ea typeface="+mn-ea"/>
              </a:rPr>
              <a:t>H</a:t>
            </a:r>
            <a:r>
              <a:rPr lang="zh-CN" altLang="en-US" sz="2600" b="0" dirty="0">
                <a:latin typeface="+mn-lt"/>
                <a:ea typeface="+mn-ea"/>
              </a:rPr>
              <a:t>小，气隙处</a:t>
            </a:r>
            <a:r>
              <a:rPr lang="en-US" altLang="zh-CN" sz="2600" b="0" i="1" dirty="0">
                <a:latin typeface="+mn-lt"/>
                <a:ea typeface="+mn-ea"/>
              </a:rPr>
              <a:t>H</a:t>
            </a:r>
            <a:r>
              <a:rPr lang="zh-CN" altLang="en-US" sz="2600" b="0" dirty="0">
                <a:latin typeface="+mn-lt"/>
                <a:ea typeface="+mn-ea"/>
              </a:rPr>
              <a:t>大</a:t>
            </a:r>
          </a:p>
        </p:txBody>
      </p:sp>
      <p:graphicFrame>
        <p:nvGraphicFramePr>
          <p:cNvPr id="50" name="Object 1">
            <a:extLst>
              <a:ext uri="{FF2B5EF4-FFF2-40B4-BE49-F238E27FC236}">
                <a16:creationId xmlns:a16="http://schemas.microsoft.com/office/drawing/2014/main" id="{FB326B42-0EFB-E95C-71DD-1A6538910FF4}"/>
              </a:ext>
            </a:extLst>
          </p:cNvPr>
          <p:cNvGraphicFramePr>
            <a:graphicFrameLocks/>
          </p:cNvGraphicFramePr>
          <p:nvPr/>
        </p:nvGraphicFramePr>
        <p:xfrm>
          <a:off x="7653338" y="2714789"/>
          <a:ext cx="1849539" cy="593366"/>
        </p:xfrm>
        <a:graphic>
          <a:graphicData uri="http://schemas.openxmlformats.org/presentationml/2006/ole">
            <mc:AlternateContent xmlns:mc="http://schemas.openxmlformats.org/markup-compatibility/2006">
              <mc:Choice xmlns:v="urn:schemas-microsoft-com:vml" Requires="v">
                <p:oleObj spid="_x0000_s13326" name="公式" r:id="rId4" imgW="825500" imgH="228600" progId="Equation.3">
                  <p:embed/>
                </p:oleObj>
              </mc:Choice>
              <mc:Fallback>
                <p:oleObj name="公式" r:id="rId4" imgW="825500" imgH="228600" progId="Equation.3">
                  <p:embed/>
                  <p:pic>
                    <p:nvPicPr>
                      <p:cNvPr id="50" name="Object 1">
                        <a:extLst>
                          <a:ext uri="{FF2B5EF4-FFF2-40B4-BE49-F238E27FC236}">
                            <a16:creationId xmlns:a16="http://schemas.microsoft.com/office/drawing/2014/main" id="{FB326B42-0EFB-E95C-71DD-1A6538910FF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3338" y="2714789"/>
                        <a:ext cx="1849539" cy="593366"/>
                      </a:xfrm>
                      <a:prstGeom prst="rect">
                        <a:avLst/>
                      </a:prstGeom>
                      <a:noFill/>
                      <a:ln>
                        <a:noFill/>
                      </a:ln>
                    </p:spPr>
                  </p:pic>
                </p:oleObj>
              </mc:Fallback>
            </mc:AlternateContent>
          </a:graphicData>
        </a:graphic>
      </p:graphicFrame>
      <p:sp>
        <p:nvSpPr>
          <p:cNvPr id="8" name="标题 7">
            <a:extLst>
              <a:ext uri="{FF2B5EF4-FFF2-40B4-BE49-F238E27FC236}">
                <a16:creationId xmlns:a16="http://schemas.microsoft.com/office/drawing/2014/main" id="{21A08F64-6E2A-4949-A011-B85AED236AF3}"/>
              </a:ext>
            </a:extLst>
          </p:cNvPr>
          <p:cNvSpPr txBox="1">
            <a:spLocks/>
          </p:cNvSpPr>
          <p:nvPr/>
        </p:nvSpPr>
        <p:spPr>
          <a:xfrm>
            <a:off x="719721" y="280249"/>
            <a:ext cx="888147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简单磁路</a:t>
            </a:r>
          </a:p>
        </p:txBody>
      </p:sp>
    </p:spTree>
    <p:extLst>
      <p:ext uri="{BB962C8B-B14F-4D97-AF65-F5344CB8AC3E}">
        <p14:creationId xmlns:p14="http://schemas.microsoft.com/office/powerpoint/2010/main" val="347511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8" grpId="0" autoUpdateAnimBg="0"/>
      <p:bldP spid="48" grpId="1"/>
      <p:bldP spid="49" grpId="0" autoUpdateAnimBg="0"/>
      <p:bldP spid="49"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864459" y="2209692"/>
            <a:ext cx="5194384" cy="4135335"/>
          </a:xfrm>
          <a:prstGeom prst="rect">
            <a:avLst/>
          </a:prstGeom>
        </p:spPr>
      </p:pic>
      <p:sp>
        <p:nvSpPr>
          <p:cNvPr id="5" name="矩形 4"/>
          <p:cNvSpPr/>
          <p:nvPr/>
        </p:nvSpPr>
        <p:spPr>
          <a:xfrm>
            <a:off x="1472670" y="1374641"/>
            <a:ext cx="10046230" cy="523220"/>
          </a:xfrm>
          <a:prstGeom prst="rect">
            <a:avLst/>
          </a:prstGeom>
        </p:spPr>
        <p:txBody>
          <a:bodyPr wrap="square">
            <a:spAutoFit/>
          </a:bodyPr>
          <a:lstStyle/>
          <a:p>
            <a:r>
              <a:rPr kumimoji="1" lang="zh-CN" altLang="en-US" sz="2800" dirty="0">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磁通：由铁芯（或一定的间隙）构成的磁感应线集中的通路。</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7" name="矩形 6"/>
              <p:cNvSpPr/>
              <p:nvPr/>
            </p:nvSpPr>
            <p:spPr>
              <a:xfrm>
                <a:off x="4530687" y="4215058"/>
                <a:ext cx="8423351" cy="106048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b="0" i="1" smtClean="0">
                          <a:latin typeface="Cambria Math" panose="02040503050406030204" pitchFamily="18" charset="0"/>
                        </a:rPr>
                        <m:t>𝛷</m:t>
                      </m:r>
                      <m:d>
                        <m:dPr>
                          <m:ctrlPr>
                            <a:rPr lang="en-US" altLang="zh-CN" sz="2800" i="1">
                              <a:latin typeface="Cambria Math" panose="02040503050406030204" pitchFamily="18" charset="0"/>
                            </a:rPr>
                          </m:ctrlPr>
                        </m:dPr>
                        <m:e>
                          <m:f>
                            <m:fPr>
                              <m:ctrlPr>
                                <a:rPr lang="en-US" altLang="zh-CN" sz="2800" i="1">
                                  <a:latin typeface="Cambria Math" panose="02040503050406030204" pitchFamily="18" charset="0"/>
                                </a:rPr>
                              </m:ctrlPr>
                            </m:fPr>
                            <m:num>
                              <m:r>
                                <a:rPr lang="en-US" altLang="zh-CN" sz="2800" b="0" i="1">
                                  <a:latin typeface="Cambria Math" panose="02040503050406030204" pitchFamily="18" charset="0"/>
                                </a:rPr>
                                <m:t>𝑙</m:t>
                              </m:r>
                            </m:num>
                            <m:den>
                              <m:sSub>
                                <m:sSubPr>
                                  <m:ctrlPr>
                                    <a:rPr lang="en-US" altLang="zh-CN" sz="2800" i="1">
                                      <a:latin typeface="Cambria Math" panose="02040503050406030204" pitchFamily="18" charset="0"/>
                                    </a:rPr>
                                  </m:ctrlPr>
                                </m:sSubPr>
                                <m:e>
                                  <m:r>
                                    <a:rPr lang="zh-CN" altLang="en-US" sz="2800" b="0" i="1">
                                      <a:latin typeface="Cambria Math" panose="02040503050406030204" pitchFamily="18" charset="0"/>
                                    </a:rPr>
                                    <m:t>𝜇</m:t>
                                  </m:r>
                                </m:e>
                                <m:sub>
                                  <m:r>
                                    <a:rPr lang="en-US" altLang="zh-CN" sz="2800" b="0" i="1">
                                      <a:latin typeface="Cambria Math" panose="02040503050406030204" pitchFamily="18" charset="0"/>
                                    </a:rPr>
                                    <m:t>0</m:t>
                                  </m:r>
                                </m:sub>
                              </m:sSub>
                              <m:sSub>
                                <m:sSubPr>
                                  <m:ctrlPr>
                                    <a:rPr lang="en-US" altLang="zh-CN" sz="2800" i="1">
                                      <a:latin typeface="Cambria Math" panose="02040503050406030204" pitchFamily="18" charset="0"/>
                                    </a:rPr>
                                  </m:ctrlPr>
                                </m:sSubPr>
                                <m:e>
                                  <m:r>
                                    <a:rPr lang="zh-CN" altLang="en-US" sz="2800" b="0" i="1">
                                      <a:latin typeface="Cambria Math" panose="02040503050406030204" pitchFamily="18" charset="0"/>
                                    </a:rPr>
                                    <m:t>𝜇</m:t>
                                  </m:r>
                                </m:e>
                                <m:sub>
                                  <m:r>
                                    <a:rPr lang="en-US" altLang="zh-CN" sz="2800" b="0" i="1">
                                      <a:latin typeface="Cambria Math" panose="02040503050406030204" pitchFamily="18" charset="0"/>
                                    </a:rPr>
                                    <m:t>𝑟</m:t>
                                  </m:r>
                                </m:sub>
                              </m:sSub>
                              <m:r>
                                <a:rPr lang="en-US" altLang="zh-CN" sz="2800" b="0" i="1" smtClean="0">
                                  <a:latin typeface="Cambria Math" panose="02040503050406030204" pitchFamily="18" charset="0"/>
                                </a:rPr>
                                <m:t>𝑆</m:t>
                              </m:r>
                            </m:den>
                          </m:f>
                          <m:r>
                            <a:rPr lang="en-US" altLang="zh-CN" sz="2800" b="0" i="1">
                              <a:latin typeface="Cambria Math" panose="02040503050406030204" pitchFamily="18" charset="0"/>
                            </a:rPr>
                            <m:t>+</m:t>
                          </m:r>
                          <m:f>
                            <m:fPr>
                              <m:ctrlPr>
                                <a:rPr lang="en-US" altLang="zh-CN" sz="2800" i="1">
                                  <a:latin typeface="Cambria Math" panose="02040503050406030204" pitchFamily="18" charset="0"/>
                                </a:rPr>
                              </m:ctrlPr>
                            </m:fPr>
                            <m:num>
                              <m:r>
                                <a:rPr lang="zh-CN" altLang="en-US" sz="2800" b="0" i="1">
                                  <a:latin typeface="Cambria Math" panose="02040503050406030204" pitchFamily="18" charset="0"/>
                                </a:rPr>
                                <m:t>𝛿</m:t>
                              </m:r>
                            </m:num>
                            <m:den>
                              <m:sSub>
                                <m:sSubPr>
                                  <m:ctrlPr>
                                    <a:rPr lang="en-US" altLang="zh-CN" sz="2800" i="1">
                                      <a:latin typeface="Cambria Math" panose="02040503050406030204" pitchFamily="18" charset="0"/>
                                    </a:rPr>
                                  </m:ctrlPr>
                                </m:sSubPr>
                                <m:e>
                                  <m:r>
                                    <a:rPr lang="zh-CN" altLang="en-US" sz="2800" b="0" i="1">
                                      <a:latin typeface="Cambria Math" panose="02040503050406030204" pitchFamily="18" charset="0"/>
                                    </a:rPr>
                                    <m:t>𝜇</m:t>
                                  </m:r>
                                </m:e>
                                <m:sub>
                                  <m:r>
                                    <a:rPr lang="en-US" altLang="zh-CN" sz="2800" b="0" i="1">
                                      <a:latin typeface="Cambria Math" panose="02040503050406030204" pitchFamily="18" charset="0"/>
                                    </a:rPr>
                                    <m:t>0</m:t>
                                  </m:r>
                                </m:sub>
                              </m:sSub>
                              <m:r>
                                <a:rPr lang="en-US" altLang="zh-CN" sz="2800" b="0" i="1" smtClean="0">
                                  <a:latin typeface="Cambria Math" panose="02040503050406030204" pitchFamily="18" charset="0"/>
                                </a:rPr>
                                <m:t>𝑆</m:t>
                              </m:r>
                            </m:den>
                          </m:f>
                        </m:e>
                      </m:d>
                      <m:r>
                        <a:rPr lang="en-US" altLang="zh-CN" sz="2800" b="0" i="1">
                          <a:latin typeface="Cambria Math" panose="02040503050406030204" pitchFamily="18" charset="0"/>
                        </a:rPr>
                        <m:t>=</m:t>
                      </m:r>
                      <m:r>
                        <a:rPr lang="en-US" altLang="zh-CN" sz="2800" b="0" i="1">
                          <a:latin typeface="Cambria Math" panose="02040503050406030204" pitchFamily="18" charset="0"/>
                        </a:rPr>
                        <m:t>𝑁𝐼</m:t>
                      </m:r>
                    </m:oMath>
                  </m:oMathPara>
                </a14:m>
                <a:endParaRPr lang="zh-CN" altLang="en-US" i="1" dirty="0"/>
              </a:p>
            </p:txBody>
          </p:sp>
        </mc:Choice>
        <mc:Fallback xmlns="">
          <p:sp>
            <p:nvSpPr>
              <p:cNvPr id="7" name="矩形 6"/>
              <p:cNvSpPr>
                <a:spLocks noRot="1" noChangeAspect="1" noMove="1" noResize="1" noEditPoints="1" noAdjustHandles="1" noChangeArrowheads="1" noChangeShapeType="1" noTextEdit="1"/>
              </p:cNvSpPr>
              <p:nvPr/>
            </p:nvSpPr>
            <p:spPr>
              <a:xfrm>
                <a:off x="4530687" y="4215058"/>
                <a:ext cx="8423351" cy="1060483"/>
              </a:xfrm>
              <a:prstGeom prst="rect">
                <a:avLst/>
              </a:prstGeom>
              <a:blipFill>
                <a:blip r:embed="rId4"/>
                <a:stretch>
                  <a:fillRect/>
                </a:stretch>
              </a:blipFill>
            </p:spPr>
            <p:txBody>
              <a:bodyPr/>
              <a:lstStyle/>
              <a:p>
                <a:r>
                  <a:rPr lang="en-US">
                    <a:noFill/>
                  </a:rPr>
                  <a:t> </a:t>
                </a:r>
              </a:p>
            </p:txBody>
          </p:sp>
        </mc:Fallback>
      </mc:AlternateContent>
      <p:sp>
        <p:nvSpPr>
          <p:cNvPr id="2" name="文本框 1">
            <a:extLst>
              <a:ext uri="{FF2B5EF4-FFF2-40B4-BE49-F238E27FC236}">
                <a16:creationId xmlns:a16="http://schemas.microsoft.com/office/drawing/2014/main" id="{6EF477A5-2846-3C53-D99B-2CF208E11483}"/>
              </a:ext>
            </a:extLst>
          </p:cNvPr>
          <p:cNvSpPr txBox="1"/>
          <p:nvPr/>
        </p:nvSpPr>
        <p:spPr>
          <a:xfrm>
            <a:off x="8154220" y="5342971"/>
            <a:ext cx="902811" cy="523220"/>
          </a:xfrm>
          <a:prstGeom prst="rect">
            <a:avLst/>
          </a:prstGeom>
          <a:noFill/>
        </p:spPr>
        <p:txBody>
          <a:bodyPr wrap="none" rtlCol="0">
            <a:spAutoFit/>
          </a:bodyPr>
          <a:lstStyle/>
          <a:p>
            <a:r>
              <a:rPr lang="zh-CN" altLang="en-US" sz="2800" dirty="0"/>
              <a:t>磁阻</a:t>
            </a:r>
          </a:p>
        </p:txBody>
      </p:sp>
      <p:sp>
        <p:nvSpPr>
          <p:cNvPr id="6" name="文本框 5">
            <a:extLst>
              <a:ext uri="{FF2B5EF4-FFF2-40B4-BE49-F238E27FC236}">
                <a16:creationId xmlns:a16="http://schemas.microsoft.com/office/drawing/2014/main" id="{4308516A-0E09-4966-4AFB-98B7D332D7BD}"/>
              </a:ext>
            </a:extLst>
          </p:cNvPr>
          <p:cNvSpPr txBox="1"/>
          <p:nvPr/>
        </p:nvSpPr>
        <p:spPr>
          <a:xfrm>
            <a:off x="9754196" y="5342971"/>
            <a:ext cx="1261884" cy="523220"/>
          </a:xfrm>
          <a:prstGeom prst="rect">
            <a:avLst/>
          </a:prstGeom>
          <a:noFill/>
        </p:spPr>
        <p:txBody>
          <a:bodyPr wrap="square" rtlCol="0">
            <a:spAutoFit/>
          </a:bodyPr>
          <a:lstStyle/>
          <a:p>
            <a:r>
              <a:rPr lang="zh-CN" altLang="en-US" sz="2800" dirty="0"/>
              <a:t>磁动势</a:t>
            </a:r>
          </a:p>
        </p:txBody>
      </p:sp>
      <p:graphicFrame>
        <p:nvGraphicFramePr>
          <p:cNvPr id="28" name="Object 17">
            <a:extLst>
              <a:ext uri="{FF2B5EF4-FFF2-40B4-BE49-F238E27FC236}">
                <a16:creationId xmlns:a16="http://schemas.microsoft.com/office/drawing/2014/main" id="{9D0C6CC5-1EBE-9593-06BF-83E03A3B0103}"/>
              </a:ext>
            </a:extLst>
          </p:cNvPr>
          <p:cNvGraphicFramePr>
            <a:graphicFrameLocks noChangeAspect="1"/>
          </p:cNvGraphicFramePr>
          <p:nvPr/>
        </p:nvGraphicFramePr>
        <p:xfrm>
          <a:off x="7212013" y="2193925"/>
          <a:ext cx="1276350" cy="966788"/>
        </p:xfrm>
        <a:graphic>
          <a:graphicData uri="http://schemas.openxmlformats.org/presentationml/2006/ole">
            <mc:AlternateContent xmlns:mc="http://schemas.openxmlformats.org/markup-compatibility/2006">
              <mc:Choice xmlns:v="urn:schemas-microsoft-com:vml" Requires="v">
                <p:oleObj spid="_x0000_s14374" name="Equation" r:id="rId5" imgW="520474" imgH="393529" progId="Equation.DSMT4">
                  <p:embed/>
                </p:oleObj>
              </mc:Choice>
              <mc:Fallback>
                <p:oleObj name="Equation" r:id="rId5" imgW="520474" imgH="393529" progId="Equation.DSMT4">
                  <p:embed/>
                  <p:pic>
                    <p:nvPicPr>
                      <p:cNvPr id="28" name="Object 17">
                        <a:extLst>
                          <a:ext uri="{FF2B5EF4-FFF2-40B4-BE49-F238E27FC236}">
                            <a16:creationId xmlns:a16="http://schemas.microsoft.com/office/drawing/2014/main" id="{9D0C6CC5-1EBE-9593-06BF-83E03A3B01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2013" y="2193925"/>
                        <a:ext cx="1276350" cy="966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 name="Group 18">
            <a:extLst>
              <a:ext uri="{FF2B5EF4-FFF2-40B4-BE49-F238E27FC236}">
                <a16:creationId xmlns:a16="http://schemas.microsoft.com/office/drawing/2014/main" id="{43DA0B6A-1FC1-9D88-F3CB-D438F4E750E1}"/>
              </a:ext>
            </a:extLst>
          </p:cNvPr>
          <p:cNvGrpSpPr>
            <a:grpSpLocks/>
          </p:cNvGrpSpPr>
          <p:nvPr/>
        </p:nvGrpSpPr>
        <p:grpSpPr bwMode="auto">
          <a:xfrm>
            <a:off x="9422303" y="2111620"/>
            <a:ext cx="2593975" cy="2268538"/>
            <a:chOff x="3900" y="300"/>
            <a:chExt cx="1634" cy="1429"/>
          </a:xfrm>
        </p:grpSpPr>
        <p:grpSp>
          <p:nvGrpSpPr>
            <p:cNvPr id="30" name="Group 19">
              <a:extLst>
                <a:ext uri="{FF2B5EF4-FFF2-40B4-BE49-F238E27FC236}">
                  <a16:creationId xmlns:a16="http://schemas.microsoft.com/office/drawing/2014/main" id="{64D85CE0-EF20-982D-7826-0A26DF50307C}"/>
                </a:ext>
              </a:extLst>
            </p:cNvPr>
            <p:cNvGrpSpPr>
              <a:grpSpLocks/>
            </p:cNvGrpSpPr>
            <p:nvPr/>
          </p:nvGrpSpPr>
          <p:grpSpPr bwMode="auto">
            <a:xfrm>
              <a:off x="3900" y="300"/>
              <a:ext cx="1361" cy="1133"/>
              <a:chOff x="3288" y="437"/>
              <a:chExt cx="1361" cy="1133"/>
            </a:xfrm>
          </p:grpSpPr>
          <p:sp>
            <p:nvSpPr>
              <p:cNvPr id="38" name="Line 20">
                <a:extLst>
                  <a:ext uri="{FF2B5EF4-FFF2-40B4-BE49-F238E27FC236}">
                    <a16:creationId xmlns:a16="http://schemas.microsoft.com/office/drawing/2014/main" id="{C55DB8E5-CDB4-9E1F-BF8F-E6BA843912C9}"/>
                  </a:ext>
                </a:extLst>
              </p:cNvPr>
              <p:cNvSpPr>
                <a:spLocks noChangeShapeType="1"/>
              </p:cNvSpPr>
              <p:nvPr/>
            </p:nvSpPr>
            <p:spPr bwMode="auto">
              <a:xfrm>
                <a:off x="3946" y="1207"/>
                <a:ext cx="0" cy="3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21">
                <a:extLst>
                  <a:ext uri="{FF2B5EF4-FFF2-40B4-BE49-F238E27FC236}">
                    <a16:creationId xmlns:a16="http://schemas.microsoft.com/office/drawing/2014/main" id="{69ECD0CB-32F3-01D0-E22B-EF9D3D085991}"/>
                  </a:ext>
                </a:extLst>
              </p:cNvPr>
              <p:cNvSpPr>
                <a:spLocks noChangeShapeType="1"/>
              </p:cNvSpPr>
              <p:nvPr/>
            </p:nvSpPr>
            <p:spPr bwMode="auto">
              <a:xfrm>
                <a:off x="4037" y="1298"/>
                <a:ext cx="0" cy="20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22">
                <a:extLst>
                  <a:ext uri="{FF2B5EF4-FFF2-40B4-BE49-F238E27FC236}">
                    <a16:creationId xmlns:a16="http://schemas.microsoft.com/office/drawing/2014/main" id="{6EE5229C-561A-6B36-122E-44752AC65914}"/>
                  </a:ext>
                </a:extLst>
              </p:cNvPr>
              <p:cNvSpPr>
                <a:spLocks noChangeShapeType="1"/>
              </p:cNvSpPr>
              <p:nvPr/>
            </p:nvSpPr>
            <p:spPr bwMode="auto">
              <a:xfrm>
                <a:off x="4037" y="1412"/>
                <a:ext cx="6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23">
                <a:extLst>
                  <a:ext uri="{FF2B5EF4-FFF2-40B4-BE49-F238E27FC236}">
                    <a16:creationId xmlns:a16="http://schemas.microsoft.com/office/drawing/2014/main" id="{D60FE311-08AE-C27D-ED09-AE559BDCF412}"/>
                  </a:ext>
                </a:extLst>
              </p:cNvPr>
              <p:cNvSpPr>
                <a:spLocks noChangeShapeType="1"/>
              </p:cNvSpPr>
              <p:nvPr/>
            </p:nvSpPr>
            <p:spPr bwMode="auto">
              <a:xfrm flipV="1">
                <a:off x="4649" y="527"/>
                <a:ext cx="0" cy="88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Rectangle 24">
                <a:extLst>
                  <a:ext uri="{FF2B5EF4-FFF2-40B4-BE49-F238E27FC236}">
                    <a16:creationId xmlns:a16="http://schemas.microsoft.com/office/drawing/2014/main" id="{3A6A9D85-B3A9-FF15-6533-A568E4C39E4A}"/>
                  </a:ext>
                </a:extLst>
              </p:cNvPr>
              <p:cNvSpPr>
                <a:spLocks noChangeArrowheads="1"/>
              </p:cNvSpPr>
              <p:nvPr/>
            </p:nvSpPr>
            <p:spPr bwMode="auto">
              <a:xfrm>
                <a:off x="3787" y="437"/>
                <a:ext cx="454" cy="15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3" name="Line 25">
                <a:extLst>
                  <a:ext uri="{FF2B5EF4-FFF2-40B4-BE49-F238E27FC236}">
                    <a16:creationId xmlns:a16="http://schemas.microsoft.com/office/drawing/2014/main" id="{555EC685-AE12-D334-7884-A89CB2B65D2F}"/>
                  </a:ext>
                </a:extLst>
              </p:cNvPr>
              <p:cNvSpPr>
                <a:spLocks noChangeShapeType="1"/>
              </p:cNvSpPr>
              <p:nvPr/>
            </p:nvSpPr>
            <p:spPr bwMode="auto">
              <a:xfrm flipH="1">
                <a:off x="4241" y="527"/>
                <a:ext cx="40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6">
                <a:extLst>
                  <a:ext uri="{FF2B5EF4-FFF2-40B4-BE49-F238E27FC236}">
                    <a16:creationId xmlns:a16="http://schemas.microsoft.com/office/drawing/2014/main" id="{81EA7602-77DF-5C0D-8CC6-1F39C47D349B}"/>
                  </a:ext>
                </a:extLst>
              </p:cNvPr>
              <p:cNvSpPr>
                <a:spLocks noChangeShapeType="1"/>
              </p:cNvSpPr>
              <p:nvPr/>
            </p:nvSpPr>
            <p:spPr bwMode="auto">
              <a:xfrm flipH="1">
                <a:off x="3288" y="527"/>
                <a:ext cx="49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7">
                <a:extLst>
                  <a:ext uri="{FF2B5EF4-FFF2-40B4-BE49-F238E27FC236}">
                    <a16:creationId xmlns:a16="http://schemas.microsoft.com/office/drawing/2014/main" id="{BA1FDDF7-6D65-FC39-4E65-39CB0ED1F418}"/>
                  </a:ext>
                </a:extLst>
              </p:cNvPr>
              <p:cNvSpPr>
                <a:spLocks noChangeShapeType="1"/>
              </p:cNvSpPr>
              <p:nvPr/>
            </p:nvSpPr>
            <p:spPr bwMode="auto">
              <a:xfrm>
                <a:off x="3288" y="527"/>
                <a:ext cx="0" cy="90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28">
                <a:extLst>
                  <a:ext uri="{FF2B5EF4-FFF2-40B4-BE49-F238E27FC236}">
                    <a16:creationId xmlns:a16="http://schemas.microsoft.com/office/drawing/2014/main" id="{677C30FB-5293-CDE2-9EB6-E5A333E3BB5C}"/>
                  </a:ext>
                </a:extLst>
              </p:cNvPr>
              <p:cNvSpPr>
                <a:spLocks noChangeShapeType="1"/>
              </p:cNvSpPr>
              <p:nvPr/>
            </p:nvSpPr>
            <p:spPr bwMode="auto">
              <a:xfrm>
                <a:off x="3288" y="1412"/>
                <a:ext cx="65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31" name="Object 29">
              <a:extLst>
                <a:ext uri="{FF2B5EF4-FFF2-40B4-BE49-F238E27FC236}">
                  <a16:creationId xmlns:a16="http://schemas.microsoft.com/office/drawing/2014/main" id="{F5782E69-8164-07F6-B41F-B3E75E74866E}"/>
                </a:ext>
              </a:extLst>
            </p:cNvPr>
            <p:cNvGraphicFramePr>
              <a:graphicFrameLocks noChangeAspect="1"/>
            </p:cNvGraphicFramePr>
            <p:nvPr/>
          </p:nvGraphicFramePr>
          <p:xfrm>
            <a:off x="4490" y="1457"/>
            <a:ext cx="248" cy="272"/>
          </p:xfrm>
          <a:graphic>
            <a:graphicData uri="http://schemas.openxmlformats.org/presentationml/2006/ole">
              <mc:AlternateContent xmlns:mc="http://schemas.openxmlformats.org/markup-compatibility/2006">
                <mc:Choice xmlns:v="urn:schemas-microsoft-com:vml" Requires="v">
                  <p:oleObj spid="_x0000_s14375" name="Equation" r:id="rId7" imgW="126835" imgH="139518" progId="Equation.DSMT4">
                    <p:embed/>
                  </p:oleObj>
                </mc:Choice>
                <mc:Fallback>
                  <p:oleObj name="Equation" r:id="rId7" imgW="126835" imgH="139518" progId="Equation.DSMT4">
                    <p:embed/>
                    <p:pic>
                      <p:nvPicPr>
                        <p:cNvPr id="31" name="Object 29">
                          <a:extLst>
                            <a:ext uri="{FF2B5EF4-FFF2-40B4-BE49-F238E27FC236}">
                              <a16:creationId xmlns:a16="http://schemas.microsoft.com/office/drawing/2014/main" id="{F5782E69-8164-07F6-B41F-B3E75E74866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90" y="1457"/>
                          <a:ext cx="24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Text Box 30">
              <a:extLst>
                <a:ext uri="{FF2B5EF4-FFF2-40B4-BE49-F238E27FC236}">
                  <a16:creationId xmlns:a16="http://schemas.microsoft.com/office/drawing/2014/main" id="{0D0B52E9-39F5-B2A2-1F16-EF2EB54528F6}"/>
                </a:ext>
              </a:extLst>
            </p:cNvPr>
            <p:cNvSpPr txBox="1">
              <a:spLocks noChangeArrowheads="1"/>
            </p:cNvSpPr>
            <p:nvPr/>
          </p:nvSpPr>
          <p:spPr bwMode="auto">
            <a:xfrm>
              <a:off x="4455" y="440"/>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t>R</a:t>
              </a:r>
            </a:p>
          </p:txBody>
        </p:sp>
        <p:sp>
          <p:nvSpPr>
            <p:cNvPr id="33" name="Line 31">
              <a:extLst>
                <a:ext uri="{FF2B5EF4-FFF2-40B4-BE49-F238E27FC236}">
                  <a16:creationId xmlns:a16="http://schemas.microsoft.com/office/drawing/2014/main" id="{2A5BB0B6-320B-25CC-CF84-53C70699E065}"/>
                </a:ext>
              </a:extLst>
            </p:cNvPr>
            <p:cNvSpPr>
              <a:spLocks noChangeShapeType="1"/>
            </p:cNvSpPr>
            <p:nvPr/>
          </p:nvSpPr>
          <p:spPr bwMode="auto">
            <a:xfrm flipH="1">
              <a:off x="4082" y="1275"/>
              <a:ext cx="22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32">
              <a:extLst>
                <a:ext uri="{FF2B5EF4-FFF2-40B4-BE49-F238E27FC236}">
                  <a16:creationId xmlns:a16="http://schemas.microsoft.com/office/drawing/2014/main" id="{8CC76D20-0878-1638-AA5E-FDBBE6774A92}"/>
                </a:ext>
              </a:extLst>
            </p:cNvPr>
            <p:cNvSpPr>
              <a:spLocks noChangeShapeType="1"/>
            </p:cNvSpPr>
            <p:nvPr/>
          </p:nvSpPr>
          <p:spPr bwMode="auto">
            <a:xfrm>
              <a:off x="5261" y="686"/>
              <a:ext cx="0" cy="24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Text Box 33">
              <a:extLst>
                <a:ext uri="{FF2B5EF4-FFF2-40B4-BE49-F238E27FC236}">
                  <a16:creationId xmlns:a16="http://schemas.microsoft.com/office/drawing/2014/main" id="{58365B3B-F623-153A-7C40-D3B3E91FDF8C}"/>
                </a:ext>
              </a:extLst>
            </p:cNvPr>
            <p:cNvSpPr txBox="1">
              <a:spLocks noChangeArrowheads="1"/>
            </p:cNvSpPr>
            <p:nvPr/>
          </p:nvSpPr>
          <p:spPr bwMode="auto">
            <a:xfrm>
              <a:off x="5339" y="689"/>
              <a:ext cx="19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t>I</a:t>
              </a:r>
            </a:p>
          </p:txBody>
        </p:sp>
        <p:sp>
          <p:nvSpPr>
            <p:cNvPr id="36" name="Rectangle 34">
              <a:extLst>
                <a:ext uri="{FF2B5EF4-FFF2-40B4-BE49-F238E27FC236}">
                  <a16:creationId xmlns:a16="http://schemas.microsoft.com/office/drawing/2014/main" id="{2BEAE3AC-5C24-63B8-CA20-CB81A8242260}"/>
                </a:ext>
              </a:extLst>
            </p:cNvPr>
            <p:cNvSpPr>
              <a:spLocks noChangeArrowheads="1"/>
            </p:cNvSpPr>
            <p:nvPr/>
          </p:nvSpPr>
          <p:spPr bwMode="auto">
            <a:xfrm>
              <a:off x="4830" y="1207"/>
              <a:ext cx="295" cy="114"/>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7" name="Text Box 35">
              <a:extLst>
                <a:ext uri="{FF2B5EF4-FFF2-40B4-BE49-F238E27FC236}">
                  <a16:creationId xmlns:a16="http://schemas.microsoft.com/office/drawing/2014/main" id="{DECA837E-F128-7CA1-F5F5-6CF6EDCEBBBA}"/>
                </a:ext>
              </a:extLst>
            </p:cNvPr>
            <p:cNvSpPr txBox="1">
              <a:spLocks noChangeArrowheads="1"/>
            </p:cNvSpPr>
            <p:nvPr/>
          </p:nvSpPr>
          <p:spPr bwMode="auto">
            <a:xfrm>
              <a:off x="4954" y="1302"/>
              <a:ext cx="2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dirty="0"/>
                <a:t>r</a:t>
              </a:r>
            </a:p>
          </p:txBody>
        </p:sp>
      </p:grpSp>
      <p:graphicFrame>
        <p:nvGraphicFramePr>
          <p:cNvPr id="47" name="Object 36">
            <a:extLst>
              <a:ext uri="{FF2B5EF4-FFF2-40B4-BE49-F238E27FC236}">
                <a16:creationId xmlns:a16="http://schemas.microsoft.com/office/drawing/2014/main" id="{5583DBCB-A4B9-1ED0-8818-2334C66B6DEE}"/>
              </a:ext>
            </a:extLst>
          </p:cNvPr>
          <p:cNvGraphicFramePr>
            <a:graphicFrameLocks noChangeAspect="1"/>
          </p:cNvGraphicFramePr>
          <p:nvPr/>
        </p:nvGraphicFramePr>
        <p:xfrm>
          <a:off x="7103759" y="3383208"/>
          <a:ext cx="2008188" cy="527050"/>
        </p:xfrm>
        <a:graphic>
          <a:graphicData uri="http://schemas.openxmlformats.org/presentationml/2006/ole">
            <mc:AlternateContent xmlns:mc="http://schemas.openxmlformats.org/markup-compatibility/2006">
              <mc:Choice xmlns:v="urn:schemas-microsoft-com:vml" Requires="v">
                <p:oleObj spid="_x0000_s14376" name="Equation" r:id="rId9" imgW="774364" imgH="203112" progId="Equation.DSMT4">
                  <p:embed/>
                </p:oleObj>
              </mc:Choice>
              <mc:Fallback>
                <p:oleObj name="Equation" r:id="rId9" imgW="774364" imgH="203112" progId="Equation.DSMT4">
                  <p:embed/>
                  <p:pic>
                    <p:nvPicPr>
                      <p:cNvPr id="47" name="Object 36">
                        <a:extLst>
                          <a:ext uri="{FF2B5EF4-FFF2-40B4-BE49-F238E27FC236}">
                            <a16:creationId xmlns:a16="http://schemas.microsoft.com/office/drawing/2014/main" id="{5583DBCB-A4B9-1ED0-8818-2334C66B6DE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03759" y="3383208"/>
                        <a:ext cx="2008188"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 name="标题 7">
            <a:extLst>
              <a:ext uri="{FF2B5EF4-FFF2-40B4-BE49-F238E27FC236}">
                <a16:creationId xmlns:a16="http://schemas.microsoft.com/office/drawing/2014/main" id="{C7E8FE4C-7008-4810-98BE-EF4348DB8309}"/>
              </a:ext>
            </a:extLst>
          </p:cNvPr>
          <p:cNvSpPr txBox="1">
            <a:spLocks/>
          </p:cNvSpPr>
          <p:nvPr/>
        </p:nvSpPr>
        <p:spPr>
          <a:xfrm>
            <a:off x="719721" y="280249"/>
            <a:ext cx="8881478" cy="8113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kumimoji="1" lang="zh-CN" altLang="en-US" sz="3200" b="1" kern="0" dirty="0">
                <a:solidFill>
                  <a:srgbClr val="0066FF"/>
                </a:solidFill>
              </a:rPr>
              <a:t>简单磁路</a:t>
            </a:r>
          </a:p>
        </p:txBody>
      </p:sp>
      <p:sp>
        <p:nvSpPr>
          <p:cNvPr id="49" name="文本框 48">
            <a:extLst>
              <a:ext uri="{FF2B5EF4-FFF2-40B4-BE49-F238E27FC236}">
                <a16:creationId xmlns:a16="http://schemas.microsoft.com/office/drawing/2014/main" id="{8751D90B-6E05-4F2B-9263-12AEE868A416}"/>
              </a:ext>
            </a:extLst>
          </p:cNvPr>
          <p:cNvSpPr txBox="1"/>
          <p:nvPr/>
        </p:nvSpPr>
        <p:spPr>
          <a:xfrm>
            <a:off x="7159322" y="6035060"/>
            <a:ext cx="4694237" cy="523220"/>
          </a:xfrm>
          <a:prstGeom prst="rect">
            <a:avLst/>
          </a:prstGeom>
          <a:noFill/>
        </p:spPr>
        <p:txBody>
          <a:bodyPr wrap="square" rtlCol="0">
            <a:spAutoFit/>
          </a:bodyPr>
          <a:lstStyle/>
          <a:p>
            <a:r>
              <a:rPr lang="zh-CN" altLang="en-US" sz="2800" dirty="0"/>
              <a:t>服从相应的串并联规律</a:t>
            </a:r>
          </a:p>
        </p:txBody>
      </p:sp>
    </p:spTree>
    <p:extLst>
      <p:ext uri="{BB962C8B-B14F-4D97-AF65-F5344CB8AC3E}">
        <p14:creationId xmlns:p14="http://schemas.microsoft.com/office/powerpoint/2010/main" val="3213459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down)">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wipe(down)">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6" grpId="0"/>
      <p:bldP spid="4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EE6B56-DBAD-4460-85C8-B9D868FF6142}"/>
              </a:ext>
            </a:extLst>
          </p:cNvPr>
          <p:cNvSpPr/>
          <p:nvPr/>
        </p:nvSpPr>
        <p:spPr>
          <a:xfrm>
            <a:off x="1027946" y="2393618"/>
            <a:ext cx="10136108"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作业 ：课后习题</a:t>
            </a:r>
            <a:r>
              <a:rPr lang="en-US" altLang="zh-CN" sz="3200" kern="0" dirty="0">
                <a:solidFill>
                  <a:srgbClr val="000000"/>
                </a:solidFill>
                <a:latin typeface="+mj-lt"/>
                <a:ea typeface="+mj-ea"/>
                <a:cs typeface="宋体" panose="02010600030101010101" pitchFamily="2" charset="-122"/>
              </a:rPr>
              <a:t>18.2</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18.14</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18.22</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18.26</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19.6</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19.8</a:t>
            </a:r>
            <a:endParaRPr lang="en-US" sz="3200" kern="100" dirty="0">
              <a:effectLst/>
              <a:latin typeface="+mj-lt"/>
              <a:ea typeface="+mj-ea"/>
              <a:cs typeface="Times New Roman" panose="02020603050405020304" pitchFamily="18" charset="0"/>
            </a:endParaRPr>
          </a:p>
        </p:txBody>
      </p:sp>
      <p:sp>
        <p:nvSpPr>
          <p:cNvPr id="3" name="矩形 2">
            <a:extLst>
              <a:ext uri="{FF2B5EF4-FFF2-40B4-BE49-F238E27FC236}">
                <a16:creationId xmlns:a16="http://schemas.microsoft.com/office/drawing/2014/main" id="{557FC185-3475-403F-A50E-0427321BF6DE}"/>
              </a:ext>
            </a:extLst>
          </p:cNvPr>
          <p:cNvSpPr/>
          <p:nvPr/>
        </p:nvSpPr>
        <p:spPr>
          <a:xfrm>
            <a:off x="2348143" y="3617037"/>
            <a:ext cx="5622052"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截止时间： </a:t>
            </a:r>
            <a:r>
              <a:rPr lang="en-US" altLang="zh-CN" sz="3200" kern="0" dirty="0">
                <a:solidFill>
                  <a:srgbClr val="000000"/>
                </a:solidFill>
                <a:latin typeface="+mj-lt"/>
                <a:ea typeface="+mj-ea"/>
                <a:cs typeface="宋体" panose="02010600030101010101" pitchFamily="2" charset="-122"/>
              </a:rPr>
              <a:t>5</a:t>
            </a:r>
            <a:r>
              <a:rPr lang="zh-CN" altLang="en-US" sz="3200" kern="0" dirty="0">
                <a:solidFill>
                  <a:srgbClr val="000000"/>
                </a:solidFill>
                <a:latin typeface="+mj-lt"/>
                <a:ea typeface="+mj-ea"/>
                <a:cs typeface="宋体" panose="02010600030101010101" pitchFamily="2" charset="-122"/>
              </a:rPr>
              <a:t>月</a:t>
            </a:r>
            <a:r>
              <a:rPr lang="en-US" altLang="zh-CN" sz="3200" kern="0" dirty="0">
                <a:solidFill>
                  <a:srgbClr val="000000"/>
                </a:solidFill>
                <a:latin typeface="+mj-lt"/>
                <a:ea typeface="+mj-ea"/>
                <a:cs typeface="宋体" panose="02010600030101010101" pitchFamily="2" charset="-122"/>
              </a:rPr>
              <a:t>9</a:t>
            </a:r>
            <a:r>
              <a:rPr lang="zh-CN" altLang="en-US" sz="3200" kern="0" dirty="0">
                <a:solidFill>
                  <a:srgbClr val="000000"/>
                </a:solidFill>
                <a:latin typeface="+mj-lt"/>
                <a:ea typeface="+mj-ea"/>
                <a:cs typeface="宋体" panose="02010600030101010101" pitchFamily="2" charset="-122"/>
              </a:rPr>
              <a:t>日上午</a:t>
            </a:r>
            <a:r>
              <a:rPr lang="en-US" altLang="zh-CN" sz="3200" kern="0" dirty="0">
                <a:solidFill>
                  <a:srgbClr val="000000"/>
                </a:solidFill>
                <a:latin typeface="+mj-lt"/>
                <a:ea typeface="+mj-ea"/>
                <a:cs typeface="宋体" panose="02010600030101010101" pitchFamily="2" charset="-122"/>
              </a:rPr>
              <a:t>10</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10</a:t>
            </a:r>
            <a:endParaRPr lang="en-US" sz="3200" kern="100" dirty="0">
              <a:effectLst/>
              <a:latin typeface="+mj-lt"/>
              <a:ea typeface="+mj-ea"/>
              <a:cs typeface="Times New Roman" panose="02020603050405020304" pitchFamily="18" charset="0"/>
            </a:endParaRPr>
          </a:p>
        </p:txBody>
      </p:sp>
    </p:spTree>
    <p:extLst>
      <p:ext uri="{BB962C8B-B14F-4D97-AF65-F5344CB8AC3E}">
        <p14:creationId xmlns:p14="http://schemas.microsoft.com/office/powerpoint/2010/main" val="142537365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Ite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4033</TotalTime>
  <Words>1943</Words>
  <Application>Microsoft Office PowerPoint</Application>
  <PresentationFormat>宽屏</PresentationFormat>
  <Paragraphs>338</Paragraphs>
  <Slides>31</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31</vt:i4>
      </vt:variant>
    </vt:vector>
  </HeadingPairs>
  <TitlesOfParts>
    <vt:vector size="43" baseType="lpstr">
      <vt:lpstr>Monotype Sorts</vt:lpstr>
      <vt:lpstr>华文楷体</vt:lpstr>
      <vt:lpstr>Microsoft Yahei</vt:lpstr>
      <vt:lpstr>Arial</vt:lpstr>
      <vt:lpstr>Calibri</vt:lpstr>
      <vt:lpstr>Cambria Math</vt:lpstr>
      <vt:lpstr>Times New Roman</vt:lpstr>
      <vt:lpstr>Wingdings</vt:lpstr>
      <vt:lpstr>Office 主题​​</vt:lpstr>
      <vt:lpstr>公式</vt:lpstr>
      <vt:lpstr>Equation</vt:lpstr>
      <vt:lpstr>文档</vt:lpstr>
      <vt:lpstr>PowerPoint 演示文稿</vt:lpstr>
      <vt:lpstr>PowerPoint 演示文稿</vt:lpstr>
      <vt:lpstr>PowerPoint 演示文稿</vt:lpstr>
      <vt:lpstr>PowerPoint 演示文稿</vt:lpstr>
      <vt:lpstr>PowerPoint 演示文稿</vt:lpstr>
      <vt:lpstr>PowerPoint 演示文稿</vt:lpstr>
      <vt:lpstr>磁化电流与磁化强度</vt:lpstr>
      <vt:lpstr>PowerPoint 演示文稿</vt:lpstr>
      <vt:lpstr>PowerPoint 演示文稿</vt:lpstr>
      <vt:lpstr>PowerPoint 演示文稿</vt:lpstr>
      <vt:lpstr>PowerPoint 演示文稿</vt:lpstr>
      <vt:lpstr>PowerPoint 演示文稿</vt:lpstr>
      <vt:lpstr>一无限长直螺线管充满相对磁导率为μ_r的均匀磁介质。当导线内通以电量I时，求管内的磁感应强度和磁介质表面的面束缚电流密度。</vt:lpstr>
      <vt:lpstr>一无限长直螺线管充满相对磁导率为μ_r的均匀磁介质。当导线内通以电量I时，求管内的磁感应强度和磁介质表面的面束缚电流密度。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li</cp:lastModifiedBy>
  <cp:revision>83</cp:revision>
  <dcterms:created xsi:type="dcterms:W3CDTF">2021-11-10T02:13:51Z</dcterms:created>
  <dcterms:modified xsi:type="dcterms:W3CDTF">2024-04-30T04:39:46Z</dcterms:modified>
</cp:coreProperties>
</file>