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1310" r:id="rId2"/>
    <p:sldId id="426" r:id="rId3"/>
    <p:sldId id="435" r:id="rId4"/>
    <p:sldId id="350" r:id="rId5"/>
    <p:sldId id="447" r:id="rId6"/>
    <p:sldId id="448" r:id="rId7"/>
    <p:sldId id="353" r:id="rId8"/>
    <p:sldId id="437" r:id="rId9"/>
    <p:sldId id="1315" r:id="rId10"/>
    <p:sldId id="440" r:id="rId11"/>
    <p:sldId id="322" r:id="rId12"/>
    <p:sldId id="874" r:id="rId13"/>
    <p:sldId id="981" r:id="rId14"/>
    <p:sldId id="877" r:id="rId15"/>
    <p:sldId id="756" r:id="rId16"/>
    <p:sldId id="758" r:id="rId17"/>
    <p:sldId id="979" r:id="rId18"/>
    <p:sldId id="332" r:id="rId19"/>
    <p:sldId id="333" r:id="rId20"/>
    <p:sldId id="880" r:id="rId21"/>
    <p:sldId id="398" r:id="rId22"/>
    <p:sldId id="1314" r:id="rId23"/>
    <p:sldId id="402" r:id="rId24"/>
    <p:sldId id="405" r:id="rId25"/>
    <p:sldId id="764" r:id="rId26"/>
    <p:sldId id="983" r:id="rId27"/>
    <p:sldId id="984" r:id="rId28"/>
    <p:sldId id="988" r:id="rId29"/>
    <p:sldId id="985" r:id="rId30"/>
    <p:sldId id="768" r:id="rId31"/>
    <p:sldId id="1313" r:id="rId32"/>
    <p:sldId id="769" r:id="rId33"/>
    <p:sldId id="987" r:id="rId34"/>
    <p:sldId id="774" r:id="rId35"/>
    <p:sldId id="989" r:id="rId36"/>
    <p:sldId id="77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22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54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19DC8F-7E6E-4C86-AFD2-2FE7F1BB79E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F1264-27F5-4021-A6C2-F2408707A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871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注意角度，面元及积分路径取向需重点注意</a:t>
            </a:r>
          </a:p>
        </p:txBody>
      </p:sp>
      <p:sp>
        <p:nvSpPr>
          <p:cNvPr id="1157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4B66796-ED7C-44C2-9932-21D25460FCBE}" type="slidenum">
              <a:rPr lang="en-US" altLang="zh-CN" b="0" i="0" u="none">
                <a:latin typeface="Times New Roman" panose="02020603050405020304" pitchFamily="18" charset="0"/>
              </a:rPr>
              <a:pPr eaLnBrk="1" hangingPunct="1"/>
              <a:t>15</a:t>
            </a:fld>
            <a:endParaRPr lang="en-US" altLang="zh-CN" b="0" i="0" u="none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612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4547B9B-674C-4A38-97AC-D8E99EBA2C86}" type="slidenum">
              <a:rPr lang="en-US" altLang="zh-CN" b="0" i="0" u="none">
                <a:latin typeface="Times New Roman" panose="02020603050405020304" pitchFamily="18" charset="0"/>
              </a:rPr>
              <a:pPr eaLnBrk="1" hangingPunct="1"/>
              <a:t>25</a:t>
            </a:fld>
            <a:endParaRPr lang="en-US" altLang="zh-CN" b="0" i="0" u="none">
              <a:latin typeface="Times New Roman" panose="02020603050405020304" pitchFamily="18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4213"/>
            <a:ext cx="6097588" cy="3430587"/>
          </a:xfrm>
          <a:solidFill>
            <a:srgbClr val="FFFFFF"/>
          </a:solidFill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638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8920" tIns="49460" rIns="98920" bIns="49460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8775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55F7E47-F7C8-4AD3-B36E-25F7F4059173}" type="slidenum">
              <a:rPr lang="en-US" altLang="zh-CN" b="0" i="0" u="none">
                <a:latin typeface="Times New Roman" panose="02020603050405020304" pitchFamily="18" charset="0"/>
              </a:rPr>
              <a:pPr eaLnBrk="1" hangingPunct="1"/>
              <a:t>26</a:t>
            </a:fld>
            <a:endParaRPr lang="en-US" altLang="zh-CN" b="0" i="0" u="none">
              <a:latin typeface="Times New Roman" panose="02020603050405020304" pitchFamily="18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4213"/>
            <a:ext cx="6097588" cy="3430587"/>
          </a:xfrm>
          <a:solidFill>
            <a:srgbClr val="FFFFFF"/>
          </a:solidFill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638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8920" tIns="49460" rIns="98920" bIns="49460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3802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DF9372-3186-49D2-BE14-0F2C2664D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DD0190-32C5-4A23-A679-9158527C4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720DE7-EC50-4261-83A2-7A1C56433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81791F-D5D8-4441-A509-22FD7FBDF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3E3BF8-181F-4F11-9F53-FD1AC33CF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45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07ACBE-5096-4CBF-9597-4518D8F47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AF6E69-C5FD-4D8F-BBE9-A30A1DED7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1CD208-620C-4935-A3F2-1512713A0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FEA9E-3B66-46FC-AFD7-598CDB31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90EC5F-9549-4C7C-8972-6DD06461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06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2608F6-A982-4F8A-B888-47419D36A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042824-92E4-4518-92F2-A9EC9A35C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A972EB-3B2D-419F-AE65-D86FB3444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D91898-82F3-4255-A8F3-088DEBAA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42DA89-36C9-4F20-A733-EF67D9E88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231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E1E200-362B-4BA1-AEC5-8C055D16A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F7B3EF-2134-4727-88A1-171F20F2F7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90DCB7-B15E-4A5F-979F-F80D90613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5BC6BE-7250-48F0-8445-719E87322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FFF620-0C79-4A21-99AB-766A1435E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178A5E-55AB-4860-A4C0-D4801E853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38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C6E9C8-5B53-4B2F-AB78-78B0ED46A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79C18E-6370-4EE3-B5D3-766B96319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2C69E3-AA9E-460C-A6FE-ACA904BF3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68C27AE-A656-4AE3-BE93-17FB1D3A70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5E8AF52-2F56-48B7-BAA5-22982EB23E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AC1B7CD-C77D-41F3-B061-E8925EB31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E0A0C25-B5E3-457D-86A8-FB234BAF7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91558B5-C5B9-468B-91D0-6C07F9444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31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A559C4-2E06-4F50-8397-82E23170A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DE4228-F2DF-44BD-91E7-288F0A35D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07DA846-1818-46CA-8059-A5D81EA6A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092C00-581C-4997-BA62-335933DCC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58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7174687-FA5B-4962-A8D1-8162F98F6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0FD31E-63D3-42BC-90FA-90F525EDD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9AE7DC-2839-4F53-821A-FAD567E03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253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9A577C-00A9-4C2C-84D9-027A0DFE9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C97CA0-10D3-4D6E-B58E-1A074CC37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C778BC-2386-42FA-8349-C4378EA0A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346933-85D0-4632-8624-D593E16D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F85808-B7CF-4F23-BA45-A498E38CD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F7176D-FF1A-4A99-9D1F-14FBCA8DB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932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23ACCA-02D7-4C51-B0CE-3624A8739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C5821B6-FFD4-4FAA-95CC-E99188962A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2421ED-DDE6-4F65-A769-07FBA8315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AF6AAF-8665-4C6A-B97E-4ACE74AD4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EDC923-6B04-4840-B38D-21C572C86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15CF2A-C5FA-4FAE-B3DE-752AC8A16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59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68D44E-4CED-4B30-8881-96B2BB6CA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F75B3E-7FA6-493D-B22F-E3CADE4EC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7E4E1F-0E74-4D98-9188-1D6A34D5B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1A9BB7-15F6-4768-AAFC-3DC6B7FB5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D937BF-79AA-4183-843E-0BA1E1993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42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6E7BDF-9716-40BF-9281-B043DC609A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C84A71-1A7D-4474-8164-92B5DC233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2BC74E-AEE3-449C-9B3B-643608EDB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BB5688-D438-42DC-A276-C8215FF1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3682BB-5C1A-43BD-95BE-587CCC0B1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402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DE2BFC8-DCA8-4B51-86E2-14A569BF4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48A60C-B56D-4E5B-B99B-E5CA33CD8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425342-48A6-46C9-9307-FB2D8290BE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BEF70-6723-4DF9-B7F5-82CA1ED1A29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01B266-A39D-49B8-830D-9DA9F4169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7E6119-DBB6-48BC-86F1-2FE709E5E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643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5" Type="http://schemas.openxmlformats.org/officeDocument/2006/relationships/image" Target="../media/image15.png"/><Relationship Id="rId4" Type="http://schemas.openxmlformats.org/officeDocument/2006/relationships/image" Target="../media/image10.pn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20.png"/><Relationship Id="rId18" Type="http://schemas.openxmlformats.org/officeDocument/2006/relationships/image" Target="../media/image2010.png"/><Relationship Id="rId3" Type="http://schemas.openxmlformats.org/officeDocument/2006/relationships/image" Target="../media/image17.png"/><Relationship Id="rId7" Type="http://schemas.openxmlformats.org/officeDocument/2006/relationships/image" Target="../media/image83.png"/><Relationship Id="rId12" Type="http://schemas.openxmlformats.org/officeDocument/2006/relationships/image" Target="../media/image19.png"/><Relationship Id="rId2" Type="http://schemas.openxmlformats.org/officeDocument/2006/relationships/image" Target="../media/image16.png"/><Relationship Id="rId16" Type="http://schemas.openxmlformats.org/officeDocument/2006/relationships/image" Target="../media/image21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8.png"/><Relationship Id="rId15" Type="http://schemas.openxmlformats.org/officeDocument/2006/relationships/image" Target="../media/image1910.png"/><Relationship Id="rId10" Type="http://schemas.openxmlformats.org/officeDocument/2006/relationships/image" Target="../media/image93.png"/><Relationship Id="rId9" Type="http://schemas.openxmlformats.org/officeDocument/2006/relationships/image" Target="../media/image8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88.png"/><Relationship Id="rId18" Type="http://schemas.openxmlformats.org/officeDocument/2006/relationships/image" Target="../media/image99.png"/><Relationship Id="rId3" Type="http://schemas.openxmlformats.org/officeDocument/2006/relationships/image" Target="../media/image17.png"/><Relationship Id="rId21" Type="http://schemas.openxmlformats.org/officeDocument/2006/relationships/image" Target="../media/image108.png"/><Relationship Id="rId7" Type="http://schemas.openxmlformats.org/officeDocument/2006/relationships/image" Target="../media/image750.png"/><Relationship Id="rId12" Type="http://schemas.openxmlformats.org/officeDocument/2006/relationships/image" Target="../media/image98.png"/><Relationship Id="rId17" Type="http://schemas.openxmlformats.org/officeDocument/2006/relationships/image" Target="../media/image95.png"/><Relationship Id="rId25" Type="http://schemas.openxmlformats.org/officeDocument/2006/relationships/image" Target="../media/image700.png"/><Relationship Id="rId2" Type="http://schemas.openxmlformats.org/officeDocument/2006/relationships/image" Target="../media/image16.png"/><Relationship Id="rId16" Type="http://schemas.openxmlformats.org/officeDocument/2006/relationships/image" Target="../media/image22.png"/><Relationship Id="rId20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97.png"/><Relationship Id="rId24" Type="http://schemas.openxmlformats.org/officeDocument/2006/relationships/image" Target="../media/image104.png"/><Relationship Id="rId15" Type="http://schemas.openxmlformats.org/officeDocument/2006/relationships/image" Target="../media/image92.png"/><Relationship Id="rId23" Type="http://schemas.openxmlformats.org/officeDocument/2006/relationships/image" Target="../media/image103.png"/><Relationship Id="rId19" Type="http://schemas.openxmlformats.org/officeDocument/2006/relationships/image" Target="../media/image100.png"/><Relationship Id="rId9" Type="http://schemas.openxmlformats.org/officeDocument/2006/relationships/image" Target="../media/image214.png"/><Relationship Id="rId14" Type="http://schemas.openxmlformats.org/officeDocument/2006/relationships/image" Target="../media/image90.png"/><Relationship Id="rId22" Type="http://schemas.openxmlformats.org/officeDocument/2006/relationships/image" Target="../media/image10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image" Target="../media/image490.png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2.bin"/><Relationship Id="rId5" Type="http://schemas.openxmlformats.org/officeDocument/2006/relationships/oleObject" Target="../embeddings/oleObject1.bin"/><Relationship Id="rId10" Type="http://schemas.openxmlformats.org/officeDocument/2006/relationships/oleObject" Target="../embeddings/oleObject2.bin"/><Relationship Id="rId4" Type="http://schemas.openxmlformats.org/officeDocument/2006/relationships/image" Target="../media/image23.png"/><Relationship Id="rId9" Type="http://schemas.openxmlformats.org/officeDocument/2006/relationships/image" Target="../media/image5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image" Target="../media/image230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.png"/><Relationship Id="rId18" Type="http://schemas.openxmlformats.org/officeDocument/2006/relationships/image" Target="../media/image6.jpe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32.png"/><Relationship Id="rId15" Type="http://schemas.openxmlformats.org/officeDocument/2006/relationships/image" Target="../media/image36.png"/><Relationship Id="rId19" Type="http://schemas.openxmlformats.org/officeDocument/2006/relationships/image" Target="../media/image1.gif"/><Relationship Id="rId1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9.png"/><Relationship Id="rId4" Type="http://schemas.openxmlformats.org/officeDocument/2006/relationships/image" Target="../media/image7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3.jpeg"/><Relationship Id="rId4" Type="http://schemas.openxmlformats.org/officeDocument/2006/relationships/image" Target="../media/image540.png"/><Relationship Id="rId9" Type="http://schemas.openxmlformats.org/officeDocument/2006/relationships/image" Target="../media/image5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0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0.png"/><Relationship Id="rId9" Type="http://schemas.openxmlformats.org/officeDocument/2006/relationships/image" Target="../media/image6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570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2" Type="http://schemas.openxmlformats.org/officeDocument/2006/relationships/image" Target="../media/image67.png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59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58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85.png"/><Relationship Id="rId7" Type="http://schemas.openxmlformats.org/officeDocument/2006/relationships/image" Target="../media/image107.png"/><Relationship Id="rId12" Type="http://schemas.openxmlformats.org/officeDocument/2006/relationships/image" Target="../media/image111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11" Type="http://schemas.openxmlformats.org/officeDocument/2006/relationships/image" Target="../media/image110.png"/><Relationship Id="rId5" Type="http://schemas.openxmlformats.org/officeDocument/2006/relationships/image" Target="../media/image87.png"/><Relationship Id="rId10" Type="http://schemas.openxmlformats.org/officeDocument/2006/relationships/image" Target="../media/image109.png"/><Relationship Id="rId4" Type="http://schemas.openxmlformats.org/officeDocument/2006/relationships/image" Target="../media/image86.png"/><Relationship Id="rId9" Type="http://schemas.openxmlformats.org/officeDocument/2006/relationships/image" Target="../media/image10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30.png"/><Relationship Id="rId1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24.png"/><Relationship Id="rId17" Type="http://schemas.openxmlformats.org/officeDocument/2006/relationships/image" Target="../media/image118.png"/><Relationship Id="rId2" Type="http://schemas.openxmlformats.org/officeDocument/2006/relationships/image" Target="../media/image113.png"/><Relationship Id="rId16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3.png"/><Relationship Id="rId5" Type="http://schemas.openxmlformats.org/officeDocument/2006/relationships/image" Target="../media/image121.png"/><Relationship Id="rId15" Type="http://schemas.openxmlformats.org/officeDocument/2006/relationships/image" Target="../media/image116.png"/><Relationship Id="rId19" Type="http://schemas.openxmlformats.org/officeDocument/2006/relationships/image" Target="../media/image120.png"/><Relationship Id="rId4" Type="http://schemas.openxmlformats.org/officeDocument/2006/relationships/image" Target="../media/image115.png"/><Relationship Id="rId14" Type="http://schemas.openxmlformats.org/officeDocument/2006/relationships/image" Target="../media/image1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45.png"/><Relationship Id="rId18" Type="http://schemas.openxmlformats.org/officeDocument/2006/relationships/image" Target="../media/image150.png"/><Relationship Id="rId26" Type="http://schemas.openxmlformats.org/officeDocument/2006/relationships/image" Target="../media/image158.png"/><Relationship Id="rId3" Type="http://schemas.openxmlformats.org/officeDocument/2006/relationships/image" Target="../media/image135.png"/><Relationship Id="rId21" Type="http://schemas.openxmlformats.org/officeDocument/2006/relationships/image" Target="../media/image153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17" Type="http://schemas.openxmlformats.org/officeDocument/2006/relationships/image" Target="../media/image149.png"/><Relationship Id="rId25" Type="http://schemas.openxmlformats.org/officeDocument/2006/relationships/image" Target="../media/image157.png"/><Relationship Id="rId2" Type="http://schemas.openxmlformats.org/officeDocument/2006/relationships/image" Target="../media/image126.png"/><Relationship Id="rId16" Type="http://schemas.openxmlformats.org/officeDocument/2006/relationships/image" Target="../media/image148.png"/><Relationship Id="rId20" Type="http://schemas.openxmlformats.org/officeDocument/2006/relationships/image" Target="../media/image1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24" Type="http://schemas.openxmlformats.org/officeDocument/2006/relationships/image" Target="../media/image156.png"/><Relationship Id="rId5" Type="http://schemas.openxmlformats.org/officeDocument/2006/relationships/image" Target="../media/image137.png"/><Relationship Id="rId15" Type="http://schemas.openxmlformats.org/officeDocument/2006/relationships/image" Target="../media/image147.png"/><Relationship Id="rId23" Type="http://schemas.openxmlformats.org/officeDocument/2006/relationships/image" Target="../media/image155.png"/><Relationship Id="rId10" Type="http://schemas.openxmlformats.org/officeDocument/2006/relationships/image" Target="../media/image142.png"/><Relationship Id="rId19" Type="http://schemas.openxmlformats.org/officeDocument/2006/relationships/image" Target="../media/image151.png"/><Relationship Id="rId4" Type="http://schemas.openxmlformats.org/officeDocument/2006/relationships/image" Target="../media/image136.png"/><Relationship Id="rId9" Type="http://schemas.openxmlformats.org/officeDocument/2006/relationships/image" Target="../media/image141.png"/><Relationship Id="rId14" Type="http://schemas.openxmlformats.org/officeDocument/2006/relationships/image" Target="../media/image146.png"/><Relationship Id="rId22" Type="http://schemas.openxmlformats.org/officeDocument/2006/relationships/image" Target="../media/image15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eg"/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gif"/><Relationship Id="rId2" Type="http://schemas.openxmlformats.org/officeDocument/2006/relationships/image" Target="../media/image125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129.tmp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28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3" Type="http://schemas.openxmlformats.org/officeDocument/2006/relationships/image" Target="../media/image173.png"/><Relationship Id="rId7" Type="http://schemas.openxmlformats.org/officeDocument/2006/relationships/image" Target="../media/image176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32.png"/><Relationship Id="rId9" Type="http://schemas.openxmlformats.org/officeDocument/2006/relationships/image" Target="../media/image17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/><Relationship Id="rId3" Type="http://schemas.openxmlformats.org/officeDocument/2006/relationships/image" Target="../media/image132.png"/><Relationship Id="rId7" Type="http://schemas.openxmlformats.org/officeDocument/2006/relationships/image" Target="../media/image182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1.png"/><Relationship Id="rId5" Type="http://schemas.openxmlformats.org/officeDocument/2006/relationships/image" Target="../media/image180.png"/><Relationship Id="rId4" Type="http://schemas.openxmlformats.org/officeDocument/2006/relationships/image" Target="../media/image17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85.png"/><Relationship Id="rId7" Type="http://schemas.openxmlformats.org/officeDocument/2006/relationships/image" Target="../media/image133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8.png"/><Relationship Id="rId5" Type="http://schemas.openxmlformats.org/officeDocument/2006/relationships/image" Target="../media/image187.png"/><Relationship Id="rId4" Type="http://schemas.openxmlformats.org/officeDocument/2006/relationships/image" Target="../media/image18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3" Type="http://schemas.openxmlformats.org/officeDocument/2006/relationships/image" Target="../media/image192.png"/><Relationship Id="rId7" Type="http://schemas.openxmlformats.org/officeDocument/2006/relationships/image" Target="../media/image196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5.png"/><Relationship Id="rId11" Type="http://schemas.openxmlformats.org/officeDocument/2006/relationships/image" Target="../media/image200.png"/><Relationship Id="rId5" Type="http://schemas.openxmlformats.org/officeDocument/2006/relationships/image" Target="../media/image194.png"/><Relationship Id="rId10" Type="http://schemas.openxmlformats.org/officeDocument/2006/relationships/image" Target="../media/image199.png"/><Relationship Id="rId4" Type="http://schemas.openxmlformats.org/officeDocument/2006/relationships/image" Target="../media/image193.png"/><Relationship Id="rId9" Type="http://schemas.openxmlformats.org/officeDocument/2006/relationships/image" Target="../media/image19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13" Type="http://schemas.openxmlformats.org/officeDocument/2006/relationships/image" Target="../media/image197.png"/><Relationship Id="rId18" Type="http://schemas.openxmlformats.org/officeDocument/2006/relationships/image" Target="../media/image211.png"/><Relationship Id="rId3" Type="http://schemas.openxmlformats.org/officeDocument/2006/relationships/image" Target="../media/image192.png"/><Relationship Id="rId7" Type="http://schemas.openxmlformats.org/officeDocument/2006/relationships/image" Target="../media/image204.png"/><Relationship Id="rId12" Type="http://schemas.openxmlformats.org/officeDocument/2006/relationships/image" Target="../media/image196.png"/><Relationship Id="rId17" Type="http://schemas.openxmlformats.org/officeDocument/2006/relationships/image" Target="../media/image210.png"/><Relationship Id="rId2" Type="http://schemas.openxmlformats.org/officeDocument/2006/relationships/image" Target="../media/image191.png"/><Relationship Id="rId16" Type="http://schemas.openxmlformats.org/officeDocument/2006/relationships/image" Target="../media/image20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3.png"/><Relationship Id="rId11" Type="http://schemas.openxmlformats.org/officeDocument/2006/relationships/image" Target="../media/image195.png"/><Relationship Id="rId5" Type="http://schemas.openxmlformats.org/officeDocument/2006/relationships/image" Target="../media/image202.png"/><Relationship Id="rId15" Type="http://schemas.openxmlformats.org/officeDocument/2006/relationships/image" Target="../media/image208.png"/><Relationship Id="rId10" Type="http://schemas.openxmlformats.org/officeDocument/2006/relationships/image" Target="../media/image194.png"/><Relationship Id="rId19" Type="http://schemas.openxmlformats.org/officeDocument/2006/relationships/image" Target="../media/image193.png"/><Relationship Id="rId4" Type="http://schemas.openxmlformats.org/officeDocument/2006/relationships/image" Target="../media/image201.png"/><Relationship Id="rId9" Type="http://schemas.openxmlformats.org/officeDocument/2006/relationships/image" Target="../media/image206.png"/><Relationship Id="rId14" Type="http://schemas.openxmlformats.org/officeDocument/2006/relationships/image" Target="../media/image20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13" Type="http://schemas.openxmlformats.org/officeDocument/2006/relationships/image" Target="../media/image212.png"/><Relationship Id="rId3" Type="http://schemas.openxmlformats.org/officeDocument/2006/relationships/image" Target="../media/image192.png"/><Relationship Id="rId7" Type="http://schemas.openxmlformats.org/officeDocument/2006/relationships/image" Target="../media/image206.png"/><Relationship Id="rId12" Type="http://schemas.openxmlformats.org/officeDocument/2006/relationships/image" Target="../media/image207.png"/><Relationship Id="rId17" Type="http://schemas.openxmlformats.org/officeDocument/2006/relationships/image" Target="../media/image193.png"/><Relationship Id="rId2" Type="http://schemas.openxmlformats.org/officeDocument/2006/relationships/image" Target="../media/image191.png"/><Relationship Id="rId16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5.png"/><Relationship Id="rId11" Type="http://schemas.openxmlformats.org/officeDocument/2006/relationships/image" Target="../media/image197.png"/><Relationship Id="rId5" Type="http://schemas.openxmlformats.org/officeDocument/2006/relationships/image" Target="../media/image204.png"/><Relationship Id="rId15" Type="http://schemas.openxmlformats.org/officeDocument/2006/relationships/image" Target="../media/image160.png"/><Relationship Id="rId10" Type="http://schemas.openxmlformats.org/officeDocument/2006/relationships/image" Target="../media/image196.png"/><Relationship Id="rId4" Type="http://schemas.openxmlformats.org/officeDocument/2006/relationships/image" Target="../media/image203.png"/><Relationship Id="rId9" Type="http://schemas.openxmlformats.org/officeDocument/2006/relationships/image" Target="../media/image195.png"/><Relationship Id="rId14" Type="http://schemas.openxmlformats.org/officeDocument/2006/relationships/image" Target="../media/image21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13" Type="http://schemas.openxmlformats.org/officeDocument/2006/relationships/image" Target="../media/image227.png"/><Relationship Id="rId3" Type="http://schemas.openxmlformats.org/officeDocument/2006/relationships/image" Target="../media/image217.png"/><Relationship Id="rId7" Type="http://schemas.openxmlformats.org/officeDocument/2006/relationships/image" Target="../media/image221.png"/><Relationship Id="rId12" Type="http://schemas.openxmlformats.org/officeDocument/2006/relationships/image" Target="../media/image226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0.png"/><Relationship Id="rId11" Type="http://schemas.openxmlformats.org/officeDocument/2006/relationships/image" Target="../media/image225.png"/><Relationship Id="rId5" Type="http://schemas.openxmlformats.org/officeDocument/2006/relationships/image" Target="../media/image219.png"/><Relationship Id="rId10" Type="http://schemas.openxmlformats.org/officeDocument/2006/relationships/image" Target="../media/image224.png"/><Relationship Id="rId4" Type="http://schemas.openxmlformats.org/officeDocument/2006/relationships/image" Target="../media/image218.png"/><Relationship Id="rId9" Type="http://schemas.openxmlformats.org/officeDocument/2006/relationships/image" Target="../media/image1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8C2B31D-6590-4FF5-8A1D-E5BDA6006C25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AFA0A3EB-F728-4376-B314-3CBC41359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6413" y="240063"/>
            <a:ext cx="59477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第</a:t>
            </a:r>
            <a:r>
              <a:rPr lang="en-US" altLang="zh-CN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20</a:t>
            </a: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章     电磁感应</a:t>
            </a:r>
            <a:endParaRPr lang="zh-CN" altLang="en-US" sz="3200" b="1" dirty="0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5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A0014B31-1C4D-4F7E-80C8-CA7A195F6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9351" y="1471014"/>
            <a:ext cx="5231995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法拉第电磁感应定律</a:t>
            </a:r>
          </a:p>
        </p:txBody>
      </p:sp>
      <p:sp>
        <p:nvSpPr>
          <p:cNvPr id="27" name="Text Box 18">
            <a:hlinkClick r:id="" action="ppaction://noaction"/>
            <a:extLst>
              <a:ext uri="{FF2B5EF4-FFF2-40B4-BE49-F238E27FC236}">
                <a16:creationId xmlns:a16="http://schemas.microsoft.com/office/drawing/2014/main" id="{48306CEC-1F29-4EDE-9B28-0F8312ACF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9352" y="2766414"/>
            <a:ext cx="553883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3  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感生电动势和感生电场</a:t>
            </a:r>
          </a:p>
        </p:txBody>
      </p:sp>
      <p:sp>
        <p:nvSpPr>
          <p:cNvPr id="28" name="Text Box 19">
            <a:hlinkClick r:id="" action="ppaction://noaction"/>
            <a:extLst>
              <a:ext uri="{FF2B5EF4-FFF2-40B4-BE49-F238E27FC236}">
                <a16:creationId xmlns:a16="http://schemas.microsoft.com/office/drawing/2014/main" id="{ECF120C4-50E2-4E26-B5D3-6D094BEFC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828" y="3415700"/>
            <a:ext cx="14606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4  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互感</a:t>
            </a:r>
          </a:p>
        </p:txBody>
      </p:sp>
      <p:sp>
        <p:nvSpPr>
          <p:cNvPr id="32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690E4B17-0680-49D8-B393-01C57F5D0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9353" y="2118714"/>
            <a:ext cx="6154243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2  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动生电动势</a:t>
            </a:r>
          </a:p>
        </p:txBody>
      </p:sp>
      <p:sp>
        <p:nvSpPr>
          <p:cNvPr id="35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0264BFE7-0025-4536-83F4-1ECBBD36D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8351" y="4079504"/>
            <a:ext cx="6283480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5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自感</a:t>
            </a:r>
          </a:p>
        </p:txBody>
      </p:sp>
      <p:sp>
        <p:nvSpPr>
          <p:cNvPr id="2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D7118994-66C2-EFBA-0AE9-420204C07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9828" y="4774325"/>
            <a:ext cx="6283480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6 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磁场的能量</a:t>
            </a:r>
          </a:p>
        </p:txBody>
      </p:sp>
      <p:pic>
        <p:nvPicPr>
          <p:cNvPr id="3" name="Picture 4" descr="你了解朝夕相处的发电机嘛~（含动画视频）">
            <a:extLst>
              <a:ext uri="{FF2B5EF4-FFF2-40B4-BE49-F238E27FC236}">
                <a16:creationId xmlns:a16="http://schemas.microsoft.com/office/drawing/2014/main" id="{6838DA96-1D44-A6BC-A550-EA4DFACFCD7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136" y="1763723"/>
            <a:ext cx="4257723" cy="3297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7139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374" name="image16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943" y="5010448"/>
            <a:ext cx="3475324" cy="149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373" name="image17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33" y="1113538"/>
            <a:ext cx="3630606" cy="1489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6" name="矩形 255"/>
          <p:cNvSpPr/>
          <p:nvPr/>
        </p:nvSpPr>
        <p:spPr>
          <a:xfrm>
            <a:off x="4281787" y="1441103"/>
            <a:ext cx="2037466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6360">
              <a:lnSpc>
                <a:spcPts val="3005"/>
              </a:lnSpc>
              <a:spcBef>
                <a:spcPts val="800"/>
              </a:spcBef>
              <a:spcAft>
                <a:spcPts val="0"/>
              </a:spcAft>
            </a:pPr>
            <a:r>
              <a:rPr lang="zh-CN" altLang="zh-CN" sz="2600" dirty="0">
                <a:latin typeface="+mn-ea"/>
                <a:cs typeface="宋体" panose="02010600030101010101" pitchFamily="2" charset="-122"/>
              </a:rPr>
              <a:t>磁场的变化</a:t>
            </a:r>
          </a:p>
        </p:txBody>
      </p:sp>
      <p:sp>
        <p:nvSpPr>
          <p:cNvPr id="259" name="矩形 258"/>
          <p:cNvSpPr/>
          <p:nvPr/>
        </p:nvSpPr>
        <p:spPr>
          <a:xfrm>
            <a:off x="4130816" y="5344021"/>
            <a:ext cx="236356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dirty="0">
                <a:latin typeface="+mn-ea"/>
              </a:rPr>
              <a:t>导体回路在磁场中运动</a:t>
            </a:r>
            <a:endParaRPr lang="en-US" sz="2600" dirty="0">
              <a:latin typeface="+mn-ea"/>
            </a:endParaRPr>
          </a:p>
        </p:txBody>
      </p:sp>
      <p:sp>
        <p:nvSpPr>
          <p:cNvPr id="261" name="矩形 260"/>
          <p:cNvSpPr/>
          <p:nvPr/>
        </p:nvSpPr>
        <p:spPr>
          <a:xfrm>
            <a:off x="4310447" y="2928494"/>
            <a:ext cx="2267112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dirty="0">
                <a:latin typeface="+mn-ea"/>
              </a:rPr>
              <a:t>回路中一部导体做切 割磁力线运动</a:t>
            </a:r>
            <a:endParaRPr lang="en-US" sz="2600" dirty="0">
              <a:latin typeface="+mn-ea"/>
            </a:endParaRPr>
          </a:p>
        </p:txBody>
      </p:sp>
      <p:sp>
        <p:nvSpPr>
          <p:cNvPr id="262" name="矩形 261"/>
          <p:cNvSpPr/>
          <p:nvPr/>
        </p:nvSpPr>
        <p:spPr>
          <a:xfrm>
            <a:off x="8344248" y="871139"/>
            <a:ext cx="2316019" cy="5699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" marR="106680">
              <a:lnSpc>
                <a:spcPts val="4000"/>
              </a:lnSpc>
              <a:spcBef>
                <a:spcPts val="45"/>
              </a:spcBef>
              <a:spcAft>
                <a:spcPts val="0"/>
              </a:spcAft>
            </a:pPr>
            <a:r>
              <a:rPr lang="zh-CN" altLang="zh-CN" sz="2600" dirty="0">
                <a:latin typeface="+mn-ea"/>
                <a:cs typeface="宋体" panose="02010600030101010101" pitchFamily="2" charset="-122"/>
              </a:rPr>
              <a:t>磁通量的变化</a:t>
            </a:r>
          </a:p>
        </p:txBody>
      </p:sp>
      <p:sp>
        <p:nvSpPr>
          <p:cNvPr id="208" name="矩形 207"/>
          <p:cNvSpPr/>
          <p:nvPr/>
        </p:nvSpPr>
        <p:spPr>
          <a:xfrm>
            <a:off x="429537" y="349407"/>
            <a:ext cx="480131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+mn-ea"/>
              </a:rPr>
              <a:t>法拉第电磁感应定律</a:t>
            </a:r>
            <a:endParaRPr lang="en-US" sz="3600" b="1" dirty="0">
              <a:solidFill>
                <a:srgbClr val="0066FF"/>
              </a:solidFill>
              <a:latin typeface="+mn-ea"/>
            </a:endParaRPr>
          </a:p>
        </p:txBody>
      </p:sp>
      <p:pic>
        <p:nvPicPr>
          <p:cNvPr id="72" name="Picture 2" descr="Electromagnetic Induction - 3d Animation GIF | Gfycat">
            <a:extLst>
              <a:ext uri="{FF2B5EF4-FFF2-40B4-BE49-F238E27FC236}">
                <a16:creationId xmlns:a16="http://schemas.microsoft.com/office/drawing/2014/main" id="{2B3172B4-F9F9-401B-877D-2ECA9EA674E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981" y="2649157"/>
            <a:ext cx="3829248" cy="2159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62">
                <a:extLst>
                  <a:ext uri="{FF2B5EF4-FFF2-40B4-BE49-F238E27FC236}">
                    <a16:creationId xmlns:a16="http://schemas.microsoft.com/office/drawing/2014/main" id="{CBDCDC98-1045-41A3-9CBA-9C4300541065}"/>
                  </a:ext>
                </a:extLst>
              </p:cNvPr>
              <p:cNvSpPr txBox="1"/>
              <p:nvPr/>
            </p:nvSpPr>
            <p:spPr bwMode="auto">
              <a:xfrm>
                <a:off x="8240583" y="1918157"/>
                <a:ext cx="2120900" cy="1220787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𝜺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𝜱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Object 62">
                <a:extLst>
                  <a:ext uri="{FF2B5EF4-FFF2-40B4-BE49-F238E27FC236}">
                    <a16:creationId xmlns:a16="http://schemas.microsoft.com/office/drawing/2014/main" id="{CBDCDC98-1045-41A3-9CBA-9C4300541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40583" y="1918157"/>
                <a:ext cx="2120900" cy="12207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>
            <a:extLst>
              <a:ext uri="{FF2B5EF4-FFF2-40B4-BE49-F238E27FC236}">
                <a16:creationId xmlns:a16="http://schemas.microsoft.com/office/drawing/2014/main" id="{EB752D27-164F-4AA4-8957-94DCB09F3833}"/>
              </a:ext>
            </a:extLst>
          </p:cNvPr>
          <p:cNvSpPr/>
          <p:nvPr/>
        </p:nvSpPr>
        <p:spPr>
          <a:xfrm>
            <a:off x="7845178" y="2912248"/>
            <a:ext cx="3185487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法拉第电磁感应定律</a:t>
            </a:r>
            <a:endParaRPr lang="en-US" altLang="zh-CN" sz="26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82E162-1708-4511-9DE4-DB74215D7E30}"/>
              </a:ext>
            </a:extLst>
          </p:cNvPr>
          <p:cNvSpPr/>
          <p:nvPr/>
        </p:nvSpPr>
        <p:spPr>
          <a:xfrm>
            <a:off x="7112916" y="3937669"/>
            <a:ext cx="25385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楞次定律</a:t>
            </a:r>
            <a:endParaRPr lang="en-US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439F1AE3-FFCF-435D-9BF3-6E30A092317C}"/>
              </a:ext>
            </a:extLst>
          </p:cNvPr>
          <p:cNvSpPr txBox="1"/>
          <p:nvPr/>
        </p:nvSpPr>
        <p:spPr>
          <a:xfrm>
            <a:off x="7338251" y="4786532"/>
            <a:ext cx="44778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闭合回路中，感应电流的方向总是使得它自身所产生的磁通量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反抗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引起感应电流的磁通量的变化。</a:t>
            </a:r>
          </a:p>
        </p:txBody>
      </p:sp>
    </p:spTree>
    <p:extLst>
      <p:ext uri="{BB962C8B-B14F-4D97-AF65-F5344CB8AC3E}">
        <p14:creationId xmlns:p14="http://schemas.microsoft.com/office/powerpoint/2010/main" val="353944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" grpId="0"/>
      <p:bldP spid="15" grpId="0" animBg="1"/>
      <p:bldP spid="16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16.jpeg">
            <a:extLst>
              <a:ext uri="{FF2B5EF4-FFF2-40B4-BE49-F238E27FC236}">
                <a16:creationId xmlns:a16="http://schemas.microsoft.com/office/drawing/2014/main" id="{935F9B75-75F8-450C-948F-67AF9F9BB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8" y="5269243"/>
            <a:ext cx="3475324" cy="149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17.jpeg">
            <a:extLst>
              <a:ext uri="{FF2B5EF4-FFF2-40B4-BE49-F238E27FC236}">
                <a16:creationId xmlns:a16="http://schemas.microsoft.com/office/drawing/2014/main" id="{B25651C6-0926-4A02-834A-D13A469ED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367" y="1415619"/>
            <a:ext cx="3630606" cy="1489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1208735" y="3187990"/>
            <a:ext cx="2942463" cy="1866071"/>
            <a:chOff x="-1425830" y="4221771"/>
            <a:chExt cx="4748521" cy="3258362"/>
          </a:xfrm>
        </p:grpSpPr>
        <p:sp>
          <p:nvSpPr>
            <p:cNvPr id="11" name="Line 22">
              <a:extLst>
                <a:ext uri="{FF2B5EF4-FFF2-40B4-BE49-F238E27FC236}">
                  <a16:creationId xmlns:a16="http://schemas.microsoft.com/office/drawing/2014/main" id="{D5181892-9A61-4F30-BB67-C6BBF76AC6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61808" y="5598007"/>
              <a:ext cx="0" cy="66245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7B5E4732-C69C-4D60-837E-F485E79C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425830" y="5137449"/>
              <a:ext cx="331124" cy="752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800" i="1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L</a:t>
              </a:r>
              <a:endParaRPr kumimoji="1"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3" name="Rectangle 24">
              <a:extLst>
                <a:ext uri="{FF2B5EF4-FFF2-40B4-BE49-F238E27FC236}">
                  <a16:creationId xmlns:a16="http://schemas.microsoft.com/office/drawing/2014/main" id="{F609A8D2-697F-4126-9A60-1FD3CE261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6820" y="6591654"/>
              <a:ext cx="507786" cy="63825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4715E0DA-0303-4D6E-B4AF-DBF04554D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366" y="6488300"/>
              <a:ext cx="254830" cy="4261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5FF7DC70-03BE-47A8-88B7-BCED8A2A1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1319" y="6346868"/>
              <a:ext cx="1019320" cy="1067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16" name="Text Box 29">
              <a:extLst>
                <a:ext uri="{FF2B5EF4-FFF2-40B4-BE49-F238E27FC236}">
                  <a16:creationId xmlns:a16="http://schemas.microsoft.com/office/drawing/2014/main" id="{C3E2B9B6-CC29-4CCB-AB11-B8145D84F7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2679" y="4690399"/>
              <a:ext cx="304892" cy="9135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8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endPara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Line 30">
              <a:extLst>
                <a:ext uri="{FF2B5EF4-FFF2-40B4-BE49-F238E27FC236}">
                  <a16:creationId xmlns:a16="http://schemas.microsoft.com/office/drawing/2014/main" id="{D7CB72D9-D9C8-40FA-9705-CF9A933D8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002362" y="4397654"/>
              <a:ext cx="38261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18" name="Line 31">
              <a:extLst>
                <a:ext uri="{FF2B5EF4-FFF2-40B4-BE49-F238E27FC236}">
                  <a16:creationId xmlns:a16="http://schemas.microsoft.com/office/drawing/2014/main" id="{E73BE306-0297-4AEC-BCD6-4389FA1152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002362" y="4397654"/>
              <a:ext cx="0" cy="28793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19" name="Line 32">
              <a:extLst>
                <a:ext uri="{FF2B5EF4-FFF2-40B4-BE49-F238E27FC236}">
                  <a16:creationId xmlns:a16="http://schemas.microsoft.com/office/drawing/2014/main" id="{2EADAD08-131F-4A18-9757-E4E21F07AF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002362" y="7277052"/>
              <a:ext cx="37400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latin typeface="华文楷体" panose="02010600040101010101" pitchFamily="2" charset="-122"/>
              </a:endParaRPr>
            </a:p>
          </p:txBody>
        </p:sp>
        <p:grpSp>
          <p:nvGrpSpPr>
            <p:cNvPr id="20" name="Group 33">
              <a:extLst>
                <a:ext uri="{FF2B5EF4-FFF2-40B4-BE49-F238E27FC236}">
                  <a16:creationId xmlns:a16="http://schemas.microsoft.com/office/drawing/2014/main" id="{B44629CD-7C4B-4BA2-94AD-74B6C7F5BC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490829" y="4858212"/>
              <a:ext cx="168638" cy="739795"/>
              <a:chOff x="3470" y="3158"/>
              <a:chExt cx="90" cy="408"/>
            </a:xfrm>
          </p:grpSpPr>
          <p:grpSp>
            <p:nvGrpSpPr>
              <p:cNvPr id="63" name="Group 34">
                <a:extLst>
                  <a:ext uri="{FF2B5EF4-FFF2-40B4-BE49-F238E27FC236}">
                    <a16:creationId xmlns:a16="http://schemas.microsoft.com/office/drawing/2014/main" id="{402FBFB8-8B67-4E0F-9E7A-44F169954F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70" y="3158"/>
                <a:ext cx="90" cy="91"/>
                <a:chOff x="3470" y="3158"/>
                <a:chExt cx="90" cy="91"/>
              </a:xfrm>
            </p:grpSpPr>
            <p:sp>
              <p:nvSpPr>
                <p:cNvPr id="67" name="Line 35">
                  <a:extLst>
                    <a:ext uri="{FF2B5EF4-FFF2-40B4-BE49-F238E27FC236}">
                      <a16:creationId xmlns:a16="http://schemas.microsoft.com/office/drawing/2014/main" id="{9561044D-098A-4543-A184-624328C0F9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70" y="315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>
                    <a:latin typeface="华文楷体" panose="02010600040101010101" pitchFamily="2" charset="-122"/>
                  </a:endParaRPr>
                </a:p>
              </p:txBody>
            </p:sp>
            <p:sp>
              <p:nvSpPr>
                <p:cNvPr id="68" name="Line 36">
                  <a:extLst>
                    <a:ext uri="{FF2B5EF4-FFF2-40B4-BE49-F238E27FC236}">
                      <a16:creationId xmlns:a16="http://schemas.microsoft.com/office/drawing/2014/main" id="{CE0DA8B0-C3DF-4D56-B4FD-6037C6188F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70" y="315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>
                    <a:latin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64" name="Group 37">
                <a:extLst>
                  <a:ext uri="{FF2B5EF4-FFF2-40B4-BE49-F238E27FC236}">
                    <a16:creationId xmlns:a16="http://schemas.microsoft.com/office/drawing/2014/main" id="{295BFA0B-3738-440E-A95A-926C122D5E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70" y="3475"/>
                <a:ext cx="90" cy="91"/>
                <a:chOff x="3470" y="3158"/>
                <a:chExt cx="90" cy="91"/>
              </a:xfrm>
            </p:grpSpPr>
            <p:sp>
              <p:nvSpPr>
                <p:cNvPr id="65" name="Line 38">
                  <a:extLst>
                    <a:ext uri="{FF2B5EF4-FFF2-40B4-BE49-F238E27FC236}">
                      <a16:creationId xmlns:a16="http://schemas.microsoft.com/office/drawing/2014/main" id="{13D954B1-5B39-4C0F-AC9F-94A627ED95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70" y="315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>
                    <a:latin typeface="华文楷体" panose="02010600040101010101" pitchFamily="2" charset="-122"/>
                  </a:endParaRPr>
                </a:p>
              </p:txBody>
            </p:sp>
            <p:sp>
              <p:nvSpPr>
                <p:cNvPr id="66" name="Line 39">
                  <a:extLst>
                    <a:ext uri="{FF2B5EF4-FFF2-40B4-BE49-F238E27FC236}">
                      <a16:creationId xmlns:a16="http://schemas.microsoft.com/office/drawing/2014/main" id="{06490946-FB34-4621-A28C-6AE0D9007E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70" y="315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>
                    <a:latin typeface="华文楷体" panose="02010600040101010101" pitchFamily="2" charset="-122"/>
                  </a:endParaRPr>
                </a:p>
              </p:txBody>
            </p:sp>
          </p:grpSp>
        </p:grpSp>
        <p:grpSp>
          <p:nvGrpSpPr>
            <p:cNvPr id="21" name="Group 40">
              <a:extLst>
                <a:ext uri="{FF2B5EF4-FFF2-40B4-BE49-F238E27FC236}">
                  <a16:creationId xmlns:a16="http://schemas.microsoft.com/office/drawing/2014/main" id="{E1DE6537-AD0D-454B-9471-C56944145A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490829" y="6091204"/>
              <a:ext cx="168638" cy="739795"/>
              <a:chOff x="3470" y="3158"/>
              <a:chExt cx="90" cy="408"/>
            </a:xfrm>
          </p:grpSpPr>
          <p:grpSp>
            <p:nvGrpSpPr>
              <p:cNvPr id="57" name="Group 41">
                <a:extLst>
                  <a:ext uri="{FF2B5EF4-FFF2-40B4-BE49-F238E27FC236}">
                    <a16:creationId xmlns:a16="http://schemas.microsoft.com/office/drawing/2014/main" id="{D3018099-8D11-4D66-9B38-5CBC788D85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70" y="3158"/>
                <a:ext cx="90" cy="91"/>
                <a:chOff x="3470" y="3158"/>
                <a:chExt cx="90" cy="91"/>
              </a:xfrm>
            </p:grpSpPr>
            <p:sp>
              <p:nvSpPr>
                <p:cNvPr id="61" name="Line 42">
                  <a:extLst>
                    <a:ext uri="{FF2B5EF4-FFF2-40B4-BE49-F238E27FC236}">
                      <a16:creationId xmlns:a16="http://schemas.microsoft.com/office/drawing/2014/main" id="{A5EFC0E6-4C34-435C-8F16-D2D018504E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70" y="315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>
                    <a:latin typeface="华文楷体" panose="02010600040101010101" pitchFamily="2" charset="-122"/>
                  </a:endParaRPr>
                </a:p>
              </p:txBody>
            </p:sp>
            <p:sp>
              <p:nvSpPr>
                <p:cNvPr id="62" name="Line 43">
                  <a:extLst>
                    <a:ext uri="{FF2B5EF4-FFF2-40B4-BE49-F238E27FC236}">
                      <a16:creationId xmlns:a16="http://schemas.microsoft.com/office/drawing/2014/main" id="{1E050FC1-47A0-476B-867F-8BFD777FE1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70" y="315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>
                    <a:latin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58" name="Group 44">
                <a:extLst>
                  <a:ext uri="{FF2B5EF4-FFF2-40B4-BE49-F238E27FC236}">
                    <a16:creationId xmlns:a16="http://schemas.microsoft.com/office/drawing/2014/main" id="{74343CB2-5E51-4E73-9EF6-AA73CA54AA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70" y="3475"/>
                <a:ext cx="90" cy="91"/>
                <a:chOff x="3470" y="3158"/>
                <a:chExt cx="90" cy="91"/>
              </a:xfrm>
            </p:grpSpPr>
            <p:sp>
              <p:nvSpPr>
                <p:cNvPr id="59" name="Line 45">
                  <a:extLst>
                    <a:ext uri="{FF2B5EF4-FFF2-40B4-BE49-F238E27FC236}">
                      <a16:creationId xmlns:a16="http://schemas.microsoft.com/office/drawing/2014/main" id="{F1B235C8-D515-4F8C-8727-27D99FB3C8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70" y="315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>
                    <a:latin typeface="华文楷体" panose="02010600040101010101" pitchFamily="2" charset="-122"/>
                  </a:endParaRPr>
                </a:p>
              </p:txBody>
            </p:sp>
            <p:sp>
              <p:nvSpPr>
                <p:cNvPr id="60" name="Line 46">
                  <a:extLst>
                    <a:ext uri="{FF2B5EF4-FFF2-40B4-BE49-F238E27FC236}">
                      <a16:creationId xmlns:a16="http://schemas.microsoft.com/office/drawing/2014/main" id="{63FD1C95-A553-4932-B428-75F5862CB7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70" y="315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>
                    <a:latin typeface="华文楷体" panose="02010600040101010101" pitchFamily="2" charset="-122"/>
                  </a:endParaRPr>
                </a:p>
              </p:txBody>
            </p:sp>
          </p:grpSp>
        </p:grpSp>
        <p:grpSp>
          <p:nvGrpSpPr>
            <p:cNvPr id="22" name="Group 47">
              <a:extLst>
                <a:ext uri="{FF2B5EF4-FFF2-40B4-BE49-F238E27FC236}">
                  <a16:creationId xmlns:a16="http://schemas.microsoft.com/office/drawing/2014/main" id="{672BFDC4-B875-4FC0-998A-919A341609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810" y="4809255"/>
              <a:ext cx="168638" cy="739795"/>
              <a:chOff x="3470" y="3158"/>
              <a:chExt cx="90" cy="408"/>
            </a:xfrm>
          </p:grpSpPr>
          <p:grpSp>
            <p:nvGrpSpPr>
              <p:cNvPr id="51" name="Group 48">
                <a:extLst>
                  <a:ext uri="{FF2B5EF4-FFF2-40B4-BE49-F238E27FC236}">
                    <a16:creationId xmlns:a16="http://schemas.microsoft.com/office/drawing/2014/main" id="{CDB2AB8F-2E62-4E58-90DD-52682F0A12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70" y="3158"/>
                <a:ext cx="90" cy="91"/>
                <a:chOff x="3470" y="3158"/>
                <a:chExt cx="90" cy="91"/>
              </a:xfrm>
            </p:grpSpPr>
            <p:sp>
              <p:nvSpPr>
                <p:cNvPr id="55" name="Line 49">
                  <a:extLst>
                    <a:ext uri="{FF2B5EF4-FFF2-40B4-BE49-F238E27FC236}">
                      <a16:creationId xmlns:a16="http://schemas.microsoft.com/office/drawing/2014/main" id="{B074816A-962F-4A85-B8B3-5D83A27E29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70" y="315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>
                    <a:latin typeface="华文楷体" panose="02010600040101010101" pitchFamily="2" charset="-122"/>
                  </a:endParaRPr>
                </a:p>
              </p:txBody>
            </p:sp>
            <p:sp>
              <p:nvSpPr>
                <p:cNvPr id="56" name="Line 50">
                  <a:extLst>
                    <a:ext uri="{FF2B5EF4-FFF2-40B4-BE49-F238E27FC236}">
                      <a16:creationId xmlns:a16="http://schemas.microsoft.com/office/drawing/2014/main" id="{8ACEC353-F17C-4F51-9009-9CACBBB736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70" y="315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>
                    <a:latin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8F724993-A154-45BE-AD6D-8E6B7BEDA0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70" y="3475"/>
                <a:ext cx="90" cy="91"/>
                <a:chOff x="3470" y="3158"/>
                <a:chExt cx="90" cy="91"/>
              </a:xfrm>
            </p:grpSpPr>
            <p:sp>
              <p:nvSpPr>
                <p:cNvPr id="53" name="Line 52">
                  <a:extLst>
                    <a:ext uri="{FF2B5EF4-FFF2-40B4-BE49-F238E27FC236}">
                      <a16:creationId xmlns:a16="http://schemas.microsoft.com/office/drawing/2014/main" id="{33B5A792-38BD-4211-BCE0-600AB4B724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70" y="315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>
                    <a:latin typeface="华文楷体" panose="02010600040101010101" pitchFamily="2" charset="-122"/>
                  </a:endParaRPr>
                </a:p>
              </p:txBody>
            </p:sp>
            <p:sp>
              <p:nvSpPr>
                <p:cNvPr id="54" name="Line 53">
                  <a:extLst>
                    <a:ext uri="{FF2B5EF4-FFF2-40B4-BE49-F238E27FC236}">
                      <a16:creationId xmlns:a16="http://schemas.microsoft.com/office/drawing/2014/main" id="{9AF5A175-F145-494D-8504-B656CF50CC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70" y="315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>
                    <a:latin typeface="华文楷体" panose="02010600040101010101" pitchFamily="2" charset="-122"/>
                  </a:endParaRPr>
                </a:p>
              </p:txBody>
            </p:sp>
          </p:grpSp>
        </p:grpSp>
        <p:grpSp>
          <p:nvGrpSpPr>
            <p:cNvPr id="23" name="Group 55">
              <a:extLst>
                <a:ext uri="{FF2B5EF4-FFF2-40B4-BE49-F238E27FC236}">
                  <a16:creationId xmlns:a16="http://schemas.microsoft.com/office/drawing/2014/main" id="{588AF079-4308-4F57-B84C-510096528F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810" y="6042237"/>
              <a:ext cx="168638" cy="165003"/>
              <a:chOff x="3470" y="3158"/>
              <a:chExt cx="90" cy="91"/>
            </a:xfrm>
          </p:grpSpPr>
          <p:sp>
            <p:nvSpPr>
              <p:cNvPr id="49" name="Line 56">
                <a:extLst>
                  <a:ext uri="{FF2B5EF4-FFF2-40B4-BE49-F238E27FC236}">
                    <a16:creationId xmlns:a16="http://schemas.microsoft.com/office/drawing/2014/main" id="{B333AC8D-084A-44D1-A979-B1E4D62580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华文楷体" panose="02010600040101010101" pitchFamily="2" charset="-122"/>
                </a:endParaRPr>
              </a:p>
            </p:txBody>
          </p:sp>
          <p:sp>
            <p:nvSpPr>
              <p:cNvPr id="50" name="Line 57">
                <a:extLst>
                  <a:ext uri="{FF2B5EF4-FFF2-40B4-BE49-F238E27FC236}">
                    <a16:creationId xmlns:a16="http://schemas.microsoft.com/office/drawing/2014/main" id="{1F288037-2F26-47F2-B63B-34FE19FA3C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华文楷体" panose="02010600040101010101" pitchFamily="2" charset="-122"/>
                </a:endParaRPr>
              </a:p>
            </p:txBody>
          </p:sp>
        </p:grpSp>
        <p:grpSp>
          <p:nvGrpSpPr>
            <p:cNvPr id="24" name="Group 61">
              <a:extLst>
                <a:ext uri="{FF2B5EF4-FFF2-40B4-BE49-F238E27FC236}">
                  <a16:creationId xmlns:a16="http://schemas.microsoft.com/office/drawing/2014/main" id="{BA349E1F-7B8C-4DFD-9D07-DEF6CFB63D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8494" y="4809255"/>
              <a:ext cx="168638" cy="739795"/>
              <a:chOff x="3470" y="3158"/>
              <a:chExt cx="90" cy="408"/>
            </a:xfrm>
          </p:grpSpPr>
          <p:grpSp>
            <p:nvGrpSpPr>
              <p:cNvPr id="43" name="Group 62">
                <a:extLst>
                  <a:ext uri="{FF2B5EF4-FFF2-40B4-BE49-F238E27FC236}">
                    <a16:creationId xmlns:a16="http://schemas.microsoft.com/office/drawing/2014/main" id="{BD8766E0-CCCB-4ABB-9233-16A47A8701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70" y="3158"/>
                <a:ext cx="90" cy="91"/>
                <a:chOff x="3470" y="3158"/>
                <a:chExt cx="90" cy="91"/>
              </a:xfrm>
            </p:grpSpPr>
            <p:sp>
              <p:nvSpPr>
                <p:cNvPr id="47" name="Line 63">
                  <a:extLst>
                    <a:ext uri="{FF2B5EF4-FFF2-40B4-BE49-F238E27FC236}">
                      <a16:creationId xmlns:a16="http://schemas.microsoft.com/office/drawing/2014/main" id="{6FFA6483-B3EF-4A59-8EAF-2961A15B7F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70" y="315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>
                    <a:latin typeface="华文楷体" panose="02010600040101010101" pitchFamily="2" charset="-122"/>
                  </a:endParaRPr>
                </a:p>
              </p:txBody>
            </p:sp>
            <p:sp>
              <p:nvSpPr>
                <p:cNvPr id="48" name="Line 64">
                  <a:extLst>
                    <a:ext uri="{FF2B5EF4-FFF2-40B4-BE49-F238E27FC236}">
                      <a16:creationId xmlns:a16="http://schemas.microsoft.com/office/drawing/2014/main" id="{5115B071-B768-4F7A-85F7-8EF22D2D2A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70" y="315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>
                    <a:latin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44" name="Group 65">
                <a:extLst>
                  <a:ext uri="{FF2B5EF4-FFF2-40B4-BE49-F238E27FC236}">
                    <a16:creationId xmlns:a16="http://schemas.microsoft.com/office/drawing/2014/main" id="{68913245-6A6D-4C7B-85BD-073367E1C8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70" y="3475"/>
                <a:ext cx="90" cy="91"/>
                <a:chOff x="3470" y="3158"/>
                <a:chExt cx="90" cy="91"/>
              </a:xfrm>
            </p:grpSpPr>
            <p:sp>
              <p:nvSpPr>
                <p:cNvPr id="45" name="Line 66">
                  <a:extLst>
                    <a:ext uri="{FF2B5EF4-FFF2-40B4-BE49-F238E27FC236}">
                      <a16:creationId xmlns:a16="http://schemas.microsoft.com/office/drawing/2014/main" id="{CA03F53E-F39A-4001-9C1D-33D3542602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70" y="315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>
                    <a:latin typeface="华文楷体" panose="02010600040101010101" pitchFamily="2" charset="-122"/>
                  </a:endParaRPr>
                </a:p>
              </p:txBody>
            </p:sp>
            <p:sp>
              <p:nvSpPr>
                <p:cNvPr id="46" name="Line 67">
                  <a:extLst>
                    <a:ext uri="{FF2B5EF4-FFF2-40B4-BE49-F238E27FC236}">
                      <a16:creationId xmlns:a16="http://schemas.microsoft.com/office/drawing/2014/main" id="{9B53B335-F576-4434-BA72-7D42EB4604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70" y="315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>
                    <a:latin typeface="华文楷体" panose="02010600040101010101" pitchFamily="2" charset="-122"/>
                  </a:endParaRPr>
                </a:p>
              </p:txBody>
            </p:sp>
          </p:grpSp>
        </p:grpSp>
        <p:grpSp>
          <p:nvGrpSpPr>
            <p:cNvPr id="25" name="Group 68">
              <a:extLst>
                <a:ext uri="{FF2B5EF4-FFF2-40B4-BE49-F238E27FC236}">
                  <a16:creationId xmlns:a16="http://schemas.microsoft.com/office/drawing/2014/main" id="{C540A970-2FD5-42A0-AECC-B7D016284A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8494" y="6042247"/>
              <a:ext cx="168638" cy="739795"/>
              <a:chOff x="3470" y="3158"/>
              <a:chExt cx="90" cy="408"/>
            </a:xfrm>
          </p:grpSpPr>
          <p:grpSp>
            <p:nvGrpSpPr>
              <p:cNvPr id="37" name="Group 69">
                <a:extLst>
                  <a:ext uri="{FF2B5EF4-FFF2-40B4-BE49-F238E27FC236}">
                    <a16:creationId xmlns:a16="http://schemas.microsoft.com/office/drawing/2014/main" id="{91E809FD-7FF4-40C0-A3FB-0F28BED1D5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70" y="3158"/>
                <a:ext cx="90" cy="91"/>
                <a:chOff x="3470" y="3158"/>
                <a:chExt cx="90" cy="91"/>
              </a:xfrm>
            </p:grpSpPr>
            <p:sp>
              <p:nvSpPr>
                <p:cNvPr id="41" name="Line 70">
                  <a:extLst>
                    <a:ext uri="{FF2B5EF4-FFF2-40B4-BE49-F238E27FC236}">
                      <a16:creationId xmlns:a16="http://schemas.microsoft.com/office/drawing/2014/main" id="{14547036-78F2-4C42-AF38-37A91405B7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70" y="315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>
                    <a:latin typeface="华文楷体" panose="02010600040101010101" pitchFamily="2" charset="-122"/>
                  </a:endParaRPr>
                </a:p>
              </p:txBody>
            </p:sp>
            <p:sp>
              <p:nvSpPr>
                <p:cNvPr id="42" name="Line 71">
                  <a:extLst>
                    <a:ext uri="{FF2B5EF4-FFF2-40B4-BE49-F238E27FC236}">
                      <a16:creationId xmlns:a16="http://schemas.microsoft.com/office/drawing/2014/main" id="{7D181B57-054D-45B7-96FC-95CB3F74F3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70" y="315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>
                    <a:latin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38" name="Group 72">
                <a:extLst>
                  <a:ext uri="{FF2B5EF4-FFF2-40B4-BE49-F238E27FC236}">
                    <a16:creationId xmlns:a16="http://schemas.microsoft.com/office/drawing/2014/main" id="{E8D80D87-788D-436C-8C04-FBC3C1D832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70" y="3475"/>
                <a:ext cx="90" cy="91"/>
                <a:chOff x="3470" y="3158"/>
                <a:chExt cx="90" cy="91"/>
              </a:xfrm>
            </p:grpSpPr>
            <p:sp>
              <p:nvSpPr>
                <p:cNvPr id="39" name="Line 73">
                  <a:extLst>
                    <a:ext uri="{FF2B5EF4-FFF2-40B4-BE49-F238E27FC236}">
                      <a16:creationId xmlns:a16="http://schemas.microsoft.com/office/drawing/2014/main" id="{A12038E8-3E03-4AC2-84E9-740313435B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70" y="315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>
                    <a:latin typeface="华文楷体" panose="02010600040101010101" pitchFamily="2" charset="-122"/>
                  </a:endParaRPr>
                </a:p>
              </p:txBody>
            </p:sp>
            <p:sp>
              <p:nvSpPr>
                <p:cNvPr id="40" name="Line 74">
                  <a:extLst>
                    <a:ext uri="{FF2B5EF4-FFF2-40B4-BE49-F238E27FC236}">
                      <a16:creationId xmlns:a16="http://schemas.microsoft.com/office/drawing/2014/main" id="{2B760EA4-5CF0-40EA-B076-C880AE8F3D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70" y="315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>
                    <a:latin typeface="华文楷体" panose="02010600040101010101" pitchFamily="2" charset="-122"/>
                  </a:endParaRPr>
                </a:p>
              </p:txBody>
            </p:sp>
          </p:grpSp>
        </p:grpSp>
        <p:sp>
          <p:nvSpPr>
            <p:cNvPr id="26" name="AutoShape 75">
              <a:extLst>
                <a:ext uri="{FF2B5EF4-FFF2-40B4-BE49-F238E27FC236}">
                  <a16:creationId xmlns:a16="http://schemas.microsoft.com/office/drawing/2014/main" id="{C4390590-E989-4371-8E24-6FB11AFB9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2641" y="4221771"/>
              <a:ext cx="341023" cy="325836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27" name="Line 76">
              <a:extLst>
                <a:ext uri="{FF2B5EF4-FFF2-40B4-BE49-F238E27FC236}">
                  <a16:creationId xmlns:a16="http://schemas.microsoft.com/office/drawing/2014/main" id="{D8164FD2-DDC6-4C32-A8A5-995A7E890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2301" y="5795649"/>
              <a:ext cx="59585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latin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Object 78">
                  <a:extLst>
                    <a:ext uri="{FF2B5EF4-FFF2-40B4-BE49-F238E27FC236}">
                      <a16:creationId xmlns:a16="http://schemas.microsoft.com/office/drawing/2014/main" id="{2ADD874F-B92E-4431-9B59-DE460EE67F5E}"/>
                    </a:ext>
                  </a:extLst>
                </p:cNvPr>
                <p:cNvSpPr txBox="1"/>
                <p:nvPr/>
              </p:nvSpPr>
              <p:spPr bwMode="auto">
                <a:xfrm>
                  <a:off x="2861748" y="5482741"/>
                  <a:ext cx="460943" cy="6255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8" name="Object 78">
                  <a:extLst>
                    <a:ext uri="{FF2B5EF4-FFF2-40B4-BE49-F238E27FC236}">
                      <a16:creationId xmlns:a16="http://schemas.microsoft.com/office/drawing/2014/main" id="{2ADD874F-B92E-4431-9B59-DE460EE67F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61748" y="5482741"/>
                  <a:ext cx="460943" cy="625562"/>
                </a:xfrm>
                <a:prstGeom prst="rect">
                  <a:avLst/>
                </a:prstGeom>
                <a:blipFill>
                  <a:blip r:embed="rId4"/>
                  <a:stretch>
                    <a:fillRect t="-11864" r="-1702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Line 79">
              <a:extLst>
                <a:ext uri="{FF2B5EF4-FFF2-40B4-BE49-F238E27FC236}">
                  <a16:creationId xmlns:a16="http://schemas.microsoft.com/office/drawing/2014/main" id="{E61B1258-76F6-401A-8907-4D2BCDFA75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1002362" y="5220857"/>
              <a:ext cx="0" cy="7397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latin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Object 80">
                  <a:extLst>
                    <a:ext uri="{FF2B5EF4-FFF2-40B4-BE49-F238E27FC236}">
                      <a16:creationId xmlns:a16="http://schemas.microsoft.com/office/drawing/2014/main" id="{94EF2F7B-DF8D-41BD-A9B1-1B4A21F70CF3}"/>
                    </a:ext>
                  </a:extLst>
                </p:cNvPr>
                <p:cNvSpPr txBox="1"/>
                <p:nvPr/>
              </p:nvSpPr>
              <p:spPr bwMode="auto">
                <a:xfrm>
                  <a:off x="-235999" y="4562657"/>
                  <a:ext cx="599600" cy="7144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0" name="Object 80">
                  <a:extLst>
                    <a:ext uri="{FF2B5EF4-FFF2-40B4-BE49-F238E27FC236}">
                      <a16:creationId xmlns:a16="http://schemas.microsoft.com/office/drawing/2014/main" id="{94EF2F7B-DF8D-41BD-A9B1-1B4A21F70C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-235999" y="4562657"/>
                  <a:ext cx="599600" cy="7144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1" name="Group 55">
              <a:extLst>
                <a:ext uri="{FF2B5EF4-FFF2-40B4-BE49-F238E27FC236}">
                  <a16:creationId xmlns:a16="http://schemas.microsoft.com/office/drawing/2014/main" id="{588AF079-4308-4F57-B84C-510096528F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7555" y="6646957"/>
              <a:ext cx="168638" cy="165003"/>
              <a:chOff x="3470" y="3158"/>
              <a:chExt cx="90" cy="91"/>
            </a:xfrm>
          </p:grpSpPr>
          <p:sp>
            <p:nvSpPr>
              <p:cNvPr id="35" name="Line 56">
                <a:extLst>
                  <a:ext uri="{FF2B5EF4-FFF2-40B4-BE49-F238E27FC236}">
                    <a16:creationId xmlns:a16="http://schemas.microsoft.com/office/drawing/2014/main" id="{B333AC8D-084A-44D1-A979-B1E4D62580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华文楷体" panose="02010600040101010101" pitchFamily="2" charset="-122"/>
                </a:endParaRPr>
              </a:p>
            </p:txBody>
          </p:sp>
          <p:sp>
            <p:nvSpPr>
              <p:cNvPr id="36" name="Line 57">
                <a:extLst>
                  <a:ext uri="{FF2B5EF4-FFF2-40B4-BE49-F238E27FC236}">
                    <a16:creationId xmlns:a16="http://schemas.microsoft.com/office/drawing/2014/main" id="{1F288037-2F26-47F2-B63B-34FE19FA3C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华文楷体" panose="02010600040101010101" pitchFamily="2" charset="-122"/>
                </a:endParaRPr>
              </a:p>
            </p:txBody>
          </p:sp>
        </p:grpSp>
        <p:grpSp>
          <p:nvGrpSpPr>
            <p:cNvPr id="32" name="Group 55">
              <a:extLst>
                <a:ext uri="{FF2B5EF4-FFF2-40B4-BE49-F238E27FC236}">
                  <a16:creationId xmlns:a16="http://schemas.microsoft.com/office/drawing/2014/main" id="{588AF079-4308-4F57-B84C-510096528F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24143" y="6659645"/>
              <a:ext cx="168638" cy="165003"/>
              <a:chOff x="3470" y="3158"/>
              <a:chExt cx="90" cy="91"/>
            </a:xfrm>
          </p:grpSpPr>
          <p:sp>
            <p:nvSpPr>
              <p:cNvPr id="33" name="Line 56">
                <a:extLst>
                  <a:ext uri="{FF2B5EF4-FFF2-40B4-BE49-F238E27FC236}">
                    <a16:creationId xmlns:a16="http://schemas.microsoft.com/office/drawing/2014/main" id="{B333AC8D-084A-44D1-A979-B1E4D62580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华文楷体" panose="02010600040101010101" pitchFamily="2" charset="-122"/>
                </a:endParaRPr>
              </a:p>
            </p:txBody>
          </p:sp>
          <p:sp>
            <p:nvSpPr>
              <p:cNvPr id="34" name="Line 57">
                <a:extLst>
                  <a:ext uri="{FF2B5EF4-FFF2-40B4-BE49-F238E27FC236}">
                    <a16:creationId xmlns:a16="http://schemas.microsoft.com/office/drawing/2014/main" id="{1F288037-2F26-47F2-B63B-34FE19FA3C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华文楷体" panose="02010600040101010101" pitchFamily="2" charset="-122"/>
                </a:endParaRPr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6558650" y="1929542"/>
            <a:ext cx="518603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导体静止，因磁场随时间变化而生</a:t>
            </a:r>
            <a:endParaRPr lang="en-US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408539" y="4656956"/>
            <a:ext cx="437799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导体在稳恒磁场中运动而生</a:t>
            </a:r>
          </a:p>
        </p:txBody>
      </p:sp>
      <p:cxnSp>
        <p:nvCxnSpPr>
          <p:cNvPr id="69" name="Straight Arrow Connector 4">
            <a:extLst>
              <a:ext uri="{FF2B5EF4-FFF2-40B4-BE49-F238E27FC236}">
                <a16:creationId xmlns:a16="http://schemas.microsoft.com/office/drawing/2014/main" id="{D561DA44-B335-4A4B-947D-5784FF7EE1F3}"/>
              </a:ext>
            </a:extLst>
          </p:cNvPr>
          <p:cNvCxnSpPr/>
          <p:nvPr/>
        </p:nvCxnSpPr>
        <p:spPr>
          <a:xfrm>
            <a:off x="4916533" y="2147167"/>
            <a:ext cx="1492006" cy="314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90">
            <a:extLst>
              <a:ext uri="{FF2B5EF4-FFF2-40B4-BE49-F238E27FC236}">
                <a16:creationId xmlns:a16="http://schemas.microsoft.com/office/drawing/2014/main" id="{6E88D0BB-6AD6-4CCB-9836-C2BD87532D51}"/>
              </a:ext>
            </a:extLst>
          </p:cNvPr>
          <p:cNvCxnSpPr>
            <a:cxnSpLocks/>
          </p:cNvCxnSpPr>
          <p:nvPr/>
        </p:nvCxnSpPr>
        <p:spPr>
          <a:xfrm>
            <a:off x="4516036" y="3886630"/>
            <a:ext cx="1325964" cy="7984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92">
            <a:extLst>
              <a:ext uri="{FF2B5EF4-FFF2-40B4-BE49-F238E27FC236}">
                <a16:creationId xmlns:a16="http://schemas.microsoft.com/office/drawing/2014/main" id="{CA5AE68F-A178-4278-AD2A-0C3F57518A78}"/>
              </a:ext>
            </a:extLst>
          </p:cNvPr>
          <p:cNvCxnSpPr>
            <a:cxnSpLocks/>
          </p:cNvCxnSpPr>
          <p:nvPr/>
        </p:nvCxnSpPr>
        <p:spPr>
          <a:xfrm flipV="1">
            <a:off x="4629523" y="4976904"/>
            <a:ext cx="1212477" cy="8967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>
            <a:off x="6417733" y="4121026"/>
            <a:ext cx="6096000" cy="48987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100"/>
              </a:lnSpc>
            </a:pP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动生电动势 </a:t>
            </a:r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endParaRPr lang="zh-CN" altLang="en-US" sz="26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105194" y="1453766"/>
            <a:ext cx="6096000" cy="48987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100"/>
              </a:lnSpc>
            </a:pP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感生电动势 </a:t>
            </a:r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6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6246223" y="626588"/>
            <a:ext cx="526939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它们各自对应的非静电力是什么？ </a:t>
            </a:r>
            <a:endParaRPr lang="en-US" sz="2600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6646333" y="5421415"/>
            <a:ext cx="41402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导体动，导体中电荷动</a:t>
            </a:r>
            <a:endParaRPr lang="en-US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6620205" y="5968145"/>
            <a:ext cx="2518638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运动电荷受力，</a:t>
            </a:r>
            <a:endParaRPr lang="en-US" altLang="zh-CN" sz="2600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8949962" y="5968145"/>
            <a:ext cx="256565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洛伦兹力？？</a:t>
            </a:r>
            <a:endParaRPr lang="en-US" sz="2600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7027333" y="2556933"/>
            <a:ext cx="39561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导体静止，静止电荷受力</a:t>
            </a:r>
            <a:endParaRPr lang="en-US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7001933" y="3102577"/>
            <a:ext cx="3185487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电场力，有非静电场</a:t>
            </a:r>
            <a:endParaRPr lang="en-US" sz="26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矩形 8">
            <a:extLst>
              <a:ext uri="{FF2B5EF4-FFF2-40B4-BE49-F238E27FC236}">
                <a16:creationId xmlns:a16="http://schemas.microsoft.com/office/drawing/2014/main" id="{444FAA3C-4F6D-81AC-02AD-7FD13546E330}"/>
              </a:ext>
            </a:extLst>
          </p:cNvPr>
          <p:cNvSpPr/>
          <p:nvPr/>
        </p:nvSpPr>
        <p:spPr>
          <a:xfrm>
            <a:off x="975888" y="574184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感应电动势</a:t>
            </a:r>
            <a:endParaRPr lang="en-US" sz="36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119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23">
            <a:extLst>
              <a:ext uri="{FF2B5EF4-FFF2-40B4-BE49-F238E27FC236}">
                <a16:creationId xmlns:a16="http://schemas.microsoft.com/office/drawing/2014/main" id="{7B5E4732-C69C-4D60-837E-F485E79C7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978" y="3373346"/>
            <a:ext cx="1859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6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endParaRPr kumimoji="1" lang="en-US" altLang="zh-CN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6" name="Rectangle 24">
            <a:extLst>
              <a:ext uri="{FF2B5EF4-FFF2-40B4-BE49-F238E27FC236}">
                <a16:creationId xmlns:a16="http://schemas.microsoft.com/office/drawing/2014/main" id="{F609A8D2-697F-4126-9A60-1FD3CE261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5628" y="4827551"/>
            <a:ext cx="507786" cy="63825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7" name="Rectangle 25">
            <a:extLst>
              <a:ext uri="{FF2B5EF4-FFF2-40B4-BE49-F238E27FC236}">
                <a16:creationId xmlns:a16="http://schemas.microsoft.com/office/drawing/2014/main" id="{4715E0DA-0303-4D6E-B4AF-DBF04554D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174" y="4724197"/>
            <a:ext cx="254830" cy="42610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8" name="Rectangle 28">
            <a:extLst>
              <a:ext uri="{FF2B5EF4-FFF2-40B4-BE49-F238E27FC236}">
                <a16:creationId xmlns:a16="http://schemas.microsoft.com/office/drawing/2014/main" id="{5FF7DC70-03BE-47A8-88B7-BCED8A2A1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0127" y="4582765"/>
            <a:ext cx="1019320" cy="106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" name="Line 30">
            <a:extLst>
              <a:ext uri="{FF2B5EF4-FFF2-40B4-BE49-F238E27FC236}">
                <a16:creationId xmlns:a16="http://schemas.microsoft.com/office/drawing/2014/main" id="{D7CB72D9-D9C8-40FA-9705-CF9A933D8C64}"/>
              </a:ext>
            </a:extLst>
          </p:cNvPr>
          <p:cNvSpPr>
            <a:spLocks noChangeShapeType="1"/>
          </p:cNvSpPr>
          <p:nvPr/>
        </p:nvSpPr>
        <p:spPr bwMode="auto">
          <a:xfrm>
            <a:off x="916446" y="2633551"/>
            <a:ext cx="382619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" name="Line 31">
            <a:extLst>
              <a:ext uri="{FF2B5EF4-FFF2-40B4-BE49-F238E27FC236}">
                <a16:creationId xmlns:a16="http://schemas.microsoft.com/office/drawing/2014/main" id="{E73BE306-0297-4AEC-BCD6-4389FA11526F}"/>
              </a:ext>
            </a:extLst>
          </p:cNvPr>
          <p:cNvSpPr>
            <a:spLocks noChangeShapeType="1"/>
          </p:cNvSpPr>
          <p:nvPr/>
        </p:nvSpPr>
        <p:spPr bwMode="auto">
          <a:xfrm>
            <a:off x="916446" y="2633551"/>
            <a:ext cx="0" cy="287939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4" name="Line 32">
            <a:extLst>
              <a:ext uri="{FF2B5EF4-FFF2-40B4-BE49-F238E27FC236}">
                <a16:creationId xmlns:a16="http://schemas.microsoft.com/office/drawing/2014/main" id="{2EADAD08-131F-4A18-9757-E4E21F07A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916446" y="5512949"/>
            <a:ext cx="374000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5" name="Group 33">
            <a:extLst>
              <a:ext uri="{FF2B5EF4-FFF2-40B4-BE49-F238E27FC236}">
                <a16:creationId xmlns:a16="http://schemas.microsoft.com/office/drawing/2014/main" id="{B44629CD-7C4B-4BA2-94AD-74B6C7F5BCB4}"/>
              </a:ext>
            </a:extLst>
          </p:cNvPr>
          <p:cNvGrpSpPr>
            <a:grpSpLocks/>
          </p:cNvGrpSpPr>
          <p:nvPr/>
        </p:nvGrpSpPr>
        <p:grpSpPr bwMode="auto">
          <a:xfrm>
            <a:off x="1427979" y="3094109"/>
            <a:ext cx="168638" cy="739795"/>
            <a:chOff x="3470" y="3158"/>
            <a:chExt cx="90" cy="408"/>
          </a:xfrm>
        </p:grpSpPr>
        <p:grpSp>
          <p:nvGrpSpPr>
            <p:cNvPr id="96" name="Group 34">
              <a:extLst>
                <a:ext uri="{FF2B5EF4-FFF2-40B4-BE49-F238E27FC236}">
                  <a16:creationId xmlns:a16="http://schemas.microsoft.com/office/drawing/2014/main" id="{402FBFB8-8B67-4E0F-9E7A-44F169954F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158"/>
              <a:ext cx="90" cy="91"/>
              <a:chOff x="3470" y="3158"/>
              <a:chExt cx="90" cy="91"/>
            </a:xfrm>
          </p:grpSpPr>
          <p:sp>
            <p:nvSpPr>
              <p:cNvPr id="100" name="Line 35">
                <a:extLst>
                  <a:ext uri="{FF2B5EF4-FFF2-40B4-BE49-F238E27FC236}">
                    <a16:creationId xmlns:a16="http://schemas.microsoft.com/office/drawing/2014/main" id="{9561044D-098A-4543-A184-624328C0F9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1" name="Line 36">
                <a:extLst>
                  <a:ext uri="{FF2B5EF4-FFF2-40B4-BE49-F238E27FC236}">
                    <a16:creationId xmlns:a16="http://schemas.microsoft.com/office/drawing/2014/main" id="{CE0DA8B0-C3DF-4D56-B4FD-6037C6188F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7" name="Group 37">
              <a:extLst>
                <a:ext uri="{FF2B5EF4-FFF2-40B4-BE49-F238E27FC236}">
                  <a16:creationId xmlns:a16="http://schemas.microsoft.com/office/drawing/2014/main" id="{295BFA0B-3738-440E-A95A-926C122D5E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475"/>
              <a:ext cx="90" cy="91"/>
              <a:chOff x="3470" y="3158"/>
              <a:chExt cx="90" cy="91"/>
            </a:xfrm>
          </p:grpSpPr>
          <p:sp>
            <p:nvSpPr>
              <p:cNvPr id="98" name="Line 38">
                <a:extLst>
                  <a:ext uri="{FF2B5EF4-FFF2-40B4-BE49-F238E27FC236}">
                    <a16:creationId xmlns:a16="http://schemas.microsoft.com/office/drawing/2014/main" id="{13D954B1-5B39-4C0F-AC9F-94A627ED95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9" name="Line 39">
                <a:extLst>
                  <a:ext uri="{FF2B5EF4-FFF2-40B4-BE49-F238E27FC236}">
                    <a16:creationId xmlns:a16="http://schemas.microsoft.com/office/drawing/2014/main" id="{06490946-FB34-4621-A28C-6AE0D9007E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02" name="Group 40">
            <a:extLst>
              <a:ext uri="{FF2B5EF4-FFF2-40B4-BE49-F238E27FC236}">
                <a16:creationId xmlns:a16="http://schemas.microsoft.com/office/drawing/2014/main" id="{E1DE6537-AD0D-454B-9471-C56944145A6C}"/>
              </a:ext>
            </a:extLst>
          </p:cNvPr>
          <p:cNvGrpSpPr>
            <a:grpSpLocks/>
          </p:cNvGrpSpPr>
          <p:nvPr/>
        </p:nvGrpSpPr>
        <p:grpSpPr bwMode="auto">
          <a:xfrm>
            <a:off x="1427979" y="4327101"/>
            <a:ext cx="168638" cy="739795"/>
            <a:chOff x="3470" y="3158"/>
            <a:chExt cx="90" cy="408"/>
          </a:xfrm>
        </p:grpSpPr>
        <p:grpSp>
          <p:nvGrpSpPr>
            <p:cNvPr id="103" name="Group 41">
              <a:extLst>
                <a:ext uri="{FF2B5EF4-FFF2-40B4-BE49-F238E27FC236}">
                  <a16:creationId xmlns:a16="http://schemas.microsoft.com/office/drawing/2014/main" id="{D3018099-8D11-4D66-9B38-5CBC788D85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158"/>
              <a:ext cx="90" cy="91"/>
              <a:chOff x="3470" y="3158"/>
              <a:chExt cx="90" cy="91"/>
            </a:xfrm>
          </p:grpSpPr>
          <p:sp>
            <p:nvSpPr>
              <p:cNvPr id="107" name="Line 42">
                <a:extLst>
                  <a:ext uri="{FF2B5EF4-FFF2-40B4-BE49-F238E27FC236}">
                    <a16:creationId xmlns:a16="http://schemas.microsoft.com/office/drawing/2014/main" id="{A5EFC0E6-4C34-435C-8F16-D2D018504E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" name="Line 43">
                <a:extLst>
                  <a:ext uri="{FF2B5EF4-FFF2-40B4-BE49-F238E27FC236}">
                    <a16:creationId xmlns:a16="http://schemas.microsoft.com/office/drawing/2014/main" id="{1E050FC1-47A0-476B-867F-8BFD777FE1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4" name="Group 44">
              <a:extLst>
                <a:ext uri="{FF2B5EF4-FFF2-40B4-BE49-F238E27FC236}">
                  <a16:creationId xmlns:a16="http://schemas.microsoft.com/office/drawing/2014/main" id="{74343CB2-5E51-4E73-9EF6-AA73CA54AA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475"/>
              <a:ext cx="90" cy="91"/>
              <a:chOff x="3470" y="3158"/>
              <a:chExt cx="90" cy="91"/>
            </a:xfrm>
          </p:grpSpPr>
          <p:sp>
            <p:nvSpPr>
              <p:cNvPr id="105" name="Line 45">
                <a:extLst>
                  <a:ext uri="{FF2B5EF4-FFF2-40B4-BE49-F238E27FC236}">
                    <a16:creationId xmlns:a16="http://schemas.microsoft.com/office/drawing/2014/main" id="{F1B235C8-D515-4F8C-8727-27D99FB3C8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6" name="Line 46">
                <a:extLst>
                  <a:ext uri="{FF2B5EF4-FFF2-40B4-BE49-F238E27FC236}">
                    <a16:creationId xmlns:a16="http://schemas.microsoft.com/office/drawing/2014/main" id="{63FD1C95-A553-4932-B428-75F5862CB7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09" name="Group 47">
            <a:extLst>
              <a:ext uri="{FF2B5EF4-FFF2-40B4-BE49-F238E27FC236}">
                <a16:creationId xmlns:a16="http://schemas.microsoft.com/office/drawing/2014/main" id="{672BFDC4-B875-4FC0-998A-919A34160997}"/>
              </a:ext>
            </a:extLst>
          </p:cNvPr>
          <p:cNvGrpSpPr>
            <a:grpSpLocks/>
          </p:cNvGrpSpPr>
          <p:nvPr/>
        </p:nvGrpSpPr>
        <p:grpSpPr bwMode="auto">
          <a:xfrm>
            <a:off x="2531618" y="3045152"/>
            <a:ext cx="168638" cy="739795"/>
            <a:chOff x="3470" y="3158"/>
            <a:chExt cx="90" cy="408"/>
          </a:xfrm>
        </p:grpSpPr>
        <p:grpSp>
          <p:nvGrpSpPr>
            <p:cNvPr id="110" name="Group 48">
              <a:extLst>
                <a:ext uri="{FF2B5EF4-FFF2-40B4-BE49-F238E27FC236}">
                  <a16:creationId xmlns:a16="http://schemas.microsoft.com/office/drawing/2014/main" id="{CDB2AB8F-2E62-4E58-90DD-52682F0A12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158"/>
              <a:ext cx="90" cy="91"/>
              <a:chOff x="3470" y="3158"/>
              <a:chExt cx="90" cy="91"/>
            </a:xfrm>
          </p:grpSpPr>
          <p:sp>
            <p:nvSpPr>
              <p:cNvPr id="114" name="Line 49">
                <a:extLst>
                  <a:ext uri="{FF2B5EF4-FFF2-40B4-BE49-F238E27FC236}">
                    <a16:creationId xmlns:a16="http://schemas.microsoft.com/office/drawing/2014/main" id="{B074816A-962F-4A85-B8B3-5D83A27E29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" name="Line 50">
                <a:extLst>
                  <a:ext uri="{FF2B5EF4-FFF2-40B4-BE49-F238E27FC236}">
                    <a16:creationId xmlns:a16="http://schemas.microsoft.com/office/drawing/2014/main" id="{8ACEC353-F17C-4F51-9009-9CACBBB736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1" name="Group 51">
              <a:extLst>
                <a:ext uri="{FF2B5EF4-FFF2-40B4-BE49-F238E27FC236}">
                  <a16:creationId xmlns:a16="http://schemas.microsoft.com/office/drawing/2014/main" id="{8F724993-A154-45BE-AD6D-8E6B7BEDA0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475"/>
              <a:ext cx="90" cy="91"/>
              <a:chOff x="3470" y="3158"/>
              <a:chExt cx="90" cy="91"/>
            </a:xfrm>
          </p:grpSpPr>
          <p:sp>
            <p:nvSpPr>
              <p:cNvPr id="112" name="Line 52">
                <a:extLst>
                  <a:ext uri="{FF2B5EF4-FFF2-40B4-BE49-F238E27FC236}">
                    <a16:creationId xmlns:a16="http://schemas.microsoft.com/office/drawing/2014/main" id="{33B5A792-38BD-4211-BCE0-600AB4B724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" name="Line 53">
                <a:extLst>
                  <a:ext uri="{FF2B5EF4-FFF2-40B4-BE49-F238E27FC236}">
                    <a16:creationId xmlns:a16="http://schemas.microsoft.com/office/drawing/2014/main" id="{9AF5A175-F145-494D-8504-B656CF50C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16" name="Group 55">
            <a:extLst>
              <a:ext uri="{FF2B5EF4-FFF2-40B4-BE49-F238E27FC236}">
                <a16:creationId xmlns:a16="http://schemas.microsoft.com/office/drawing/2014/main" id="{588AF079-4308-4F57-B84C-510096528F70}"/>
              </a:ext>
            </a:extLst>
          </p:cNvPr>
          <p:cNvGrpSpPr>
            <a:grpSpLocks/>
          </p:cNvGrpSpPr>
          <p:nvPr/>
        </p:nvGrpSpPr>
        <p:grpSpPr bwMode="auto">
          <a:xfrm>
            <a:off x="2531618" y="4278134"/>
            <a:ext cx="168638" cy="165003"/>
            <a:chOff x="3470" y="3158"/>
            <a:chExt cx="90" cy="91"/>
          </a:xfrm>
        </p:grpSpPr>
        <p:sp>
          <p:nvSpPr>
            <p:cNvPr id="117" name="Line 56">
              <a:extLst>
                <a:ext uri="{FF2B5EF4-FFF2-40B4-BE49-F238E27FC236}">
                  <a16:creationId xmlns:a16="http://schemas.microsoft.com/office/drawing/2014/main" id="{B333AC8D-084A-44D1-A979-B1E4D62580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" y="3158"/>
              <a:ext cx="9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8" name="Line 57">
              <a:extLst>
                <a:ext uri="{FF2B5EF4-FFF2-40B4-BE49-F238E27FC236}">
                  <a16:creationId xmlns:a16="http://schemas.microsoft.com/office/drawing/2014/main" id="{1F288037-2F26-47F2-B63B-34FE19FA3C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3158"/>
              <a:ext cx="9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9" name="Group 61">
            <a:extLst>
              <a:ext uri="{FF2B5EF4-FFF2-40B4-BE49-F238E27FC236}">
                <a16:creationId xmlns:a16="http://schemas.microsoft.com/office/drawing/2014/main" id="{BA349E1F-7B8C-4DFD-9D07-DEF6CFB63DA1}"/>
              </a:ext>
            </a:extLst>
          </p:cNvPr>
          <p:cNvGrpSpPr>
            <a:grpSpLocks/>
          </p:cNvGrpSpPr>
          <p:nvPr/>
        </p:nvGrpSpPr>
        <p:grpSpPr bwMode="auto">
          <a:xfrm>
            <a:off x="4317302" y="3045152"/>
            <a:ext cx="168638" cy="739795"/>
            <a:chOff x="3470" y="3158"/>
            <a:chExt cx="90" cy="408"/>
          </a:xfrm>
        </p:grpSpPr>
        <p:grpSp>
          <p:nvGrpSpPr>
            <p:cNvPr id="120" name="Group 62">
              <a:extLst>
                <a:ext uri="{FF2B5EF4-FFF2-40B4-BE49-F238E27FC236}">
                  <a16:creationId xmlns:a16="http://schemas.microsoft.com/office/drawing/2014/main" id="{BD8766E0-CCCB-4ABB-9233-16A47A8701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158"/>
              <a:ext cx="90" cy="91"/>
              <a:chOff x="3470" y="3158"/>
              <a:chExt cx="90" cy="91"/>
            </a:xfrm>
          </p:grpSpPr>
          <p:sp>
            <p:nvSpPr>
              <p:cNvPr id="124" name="Line 63">
                <a:extLst>
                  <a:ext uri="{FF2B5EF4-FFF2-40B4-BE49-F238E27FC236}">
                    <a16:creationId xmlns:a16="http://schemas.microsoft.com/office/drawing/2014/main" id="{6FFA6483-B3EF-4A59-8EAF-2961A15B7F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" name="Line 64">
                <a:extLst>
                  <a:ext uri="{FF2B5EF4-FFF2-40B4-BE49-F238E27FC236}">
                    <a16:creationId xmlns:a16="http://schemas.microsoft.com/office/drawing/2014/main" id="{5115B071-B768-4F7A-85F7-8EF22D2D2A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1" name="Group 65">
              <a:extLst>
                <a:ext uri="{FF2B5EF4-FFF2-40B4-BE49-F238E27FC236}">
                  <a16:creationId xmlns:a16="http://schemas.microsoft.com/office/drawing/2014/main" id="{68913245-6A6D-4C7B-85BD-073367E1C8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475"/>
              <a:ext cx="90" cy="91"/>
              <a:chOff x="3470" y="3158"/>
              <a:chExt cx="90" cy="91"/>
            </a:xfrm>
          </p:grpSpPr>
          <p:sp>
            <p:nvSpPr>
              <p:cNvPr id="122" name="Line 66">
                <a:extLst>
                  <a:ext uri="{FF2B5EF4-FFF2-40B4-BE49-F238E27FC236}">
                    <a16:creationId xmlns:a16="http://schemas.microsoft.com/office/drawing/2014/main" id="{CA03F53E-F39A-4001-9C1D-33D3542602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3" name="Line 67">
                <a:extLst>
                  <a:ext uri="{FF2B5EF4-FFF2-40B4-BE49-F238E27FC236}">
                    <a16:creationId xmlns:a16="http://schemas.microsoft.com/office/drawing/2014/main" id="{9B53B335-F576-4434-BA72-7D42EB4604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26" name="Group 68">
            <a:extLst>
              <a:ext uri="{FF2B5EF4-FFF2-40B4-BE49-F238E27FC236}">
                <a16:creationId xmlns:a16="http://schemas.microsoft.com/office/drawing/2014/main" id="{C540A970-2FD5-42A0-AECC-B7D016284A90}"/>
              </a:ext>
            </a:extLst>
          </p:cNvPr>
          <p:cNvGrpSpPr>
            <a:grpSpLocks/>
          </p:cNvGrpSpPr>
          <p:nvPr/>
        </p:nvGrpSpPr>
        <p:grpSpPr bwMode="auto">
          <a:xfrm>
            <a:off x="4317302" y="4278144"/>
            <a:ext cx="168638" cy="739795"/>
            <a:chOff x="3470" y="3158"/>
            <a:chExt cx="90" cy="408"/>
          </a:xfrm>
        </p:grpSpPr>
        <p:grpSp>
          <p:nvGrpSpPr>
            <p:cNvPr id="127" name="Group 69">
              <a:extLst>
                <a:ext uri="{FF2B5EF4-FFF2-40B4-BE49-F238E27FC236}">
                  <a16:creationId xmlns:a16="http://schemas.microsoft.com/office/drawing/2014/main" id="{91E809FD-7FF4-40C0-A3FB-0F28BED1D5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158"/>
              <a:ext cx="90" cy="91"/>
              <a:chOff x="3470" y="3158"/>
              <a:chExt cx="90" cy="91"/>
            </a:xfrm>
          </p:grpSpPr>
          <p:sp>
            <p:nvSpPr>
              <p:cNvPr id="131" name="Line 70">
                <a:extLst>
                  <a:ext uri="{FF2B5EF4-FFF2-40B4-BE49-F238E27FC236}">
                    <a16:creationId xmlns:a16="http://schemas.microsoft.com/office/drawing/2014/main" id="{14547036-78F2-4C42-AF38-37A91405B7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2" name="Line 71">
                <a:extLst>
                  <a:ext uri="{FF2B5EF4-FFF2-40B4-BE49-F238E27FC236}">
                    <a16:creationId xmlns:a16="http://schemas.microsoft.com/office/drawing/2014/main" id="{7D181B57-054D-45B7-96FC-95CB3F74F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8" name="Group 72">
              <a:extLst>
                <a:ext uri="{FF2B5EF4-FFF2-40B4-BE49-F238E27FC236}">
                  <a16:creationId xmlns:a16="http://schemas.microsoft.com/office/drawing/2014/main" id="{E8D80D87-788D-436C-8C04-FBC3C1D832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475"/>
              <a:ext cx="90" cy="91"/>
              <a:chOff x="3470" y="3158"/>
              <a:chExt cx="90" cy="91"/>
            </a:xfrm>
          </p:grpSpPr>
          <p:sp>
            <p:nvSpPr>
              <p:cNvPr id="129" name="Line 73">
                <a:extLst>
                  <a:ext uri="{FF2B5EF4-FFF2-40B4-BE49-F238E27FC236}">
                    <a16:creationId xmlns:a16="http://schemas.microsoft.com/office/drawing/2014/main" id="{A12038E8-3E03-4AC2-84E9-740313435B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0" name="Line 74">
                <a:extLst>
                  <a:ext uri="{FF2B5EF4-FFF2-40B4-BE49-F238E27FC236}">
                    <a16:creationId xmlns:a16="http://schemas.microsoft.com/office/drawing/2014/main" id="{2B760EA4-5CF0-40EA-B076-C880AE8F3D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33" name="AutoShape 75">
            <a:extLst>
              <a:ext uri="{FF2B5EF4-FFF2-40B4-BE49-F238E27FC236}">
                <a16:creationId xmlns:a16="http://schemas.microsoft.com/office/drawing/2014/main" id="{C4390590-E989-4371-8E24-6FB11AFB9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9340" y="2444069"/>
            <a:ext cx="556339" cy="325836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4" name="Line 76">
            <a:extLst>
              <a:ext uri="{FF2B5EF4-FFF2-40B4-BE49-F238E27FC236}">
                <a16:creationId xmlns:a16="http://schemas.microsoft.com/office/drawing/2014/main" id="{D8164FD2-DDC6-4C32-A8A5-995A7E890E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16286" y="3194363"/>
            <a:ext cx="833161" cy="97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Object 78">
                <a:extLst>
                  <a:ext uri="{FF2B5EF4-FFF2-40B4-BE49-F238E27FC236}">
                    <a16:creationId xmlns:a16="http://schemas.microsoft.com/office/drawing/2014/main" id="{2ADD874F-B92E-4431-9B59-DE460EE67F5E}"/>
                  </a:ext>
                </a:extLst>
              </p:cNvPr>
              <p:cNvSpPr txBox="1"/>
              <p:nvPr/>
            </p:nvSpPr>
            <p:spPr bwMode="auto">
              <a:xfrm>
                <a:off x="4849447" y="2886679"/>
                <a:ext cx="460943" cy="6255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 sz="2600"/>
              </a:p>
            </p:txBody>
          </p:sp>
        </mc:Choice>
        <mc:Fallback xmlns="">
          <p:sp>
            <p:nvSpPr>
              <p:cNvPr id="135" name="Object 78">
                <a:extLst>
                  <a:ext uri="{FF2B5EF4-FFF2-40B4-BE49-F238E27FC236}">
                    <a16:creationId xmlns:a16="http://schemas.microsoft.com/office/drawing/2014/main" id="{2ADD874F-B92E-4431-9B59-DE460EE67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49447" y="2886679"/>
                <a:ext cx="460943" cy="6255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Line 79">
            <a:extLst>
              <a:ext uri="{FF2B5EF4-FFF2-40B4-BE49-F238E27FC236}">
                <a16:creationId xmlns:a16="http://schemas.microsoft.com/office/drawing/2014/main" id="{E61B1258-76F6-401A-8907-4D2BCDFA75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6446" y="3456754"/>
            <a:ext cx="0" cy="739795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Object 80">
                <a:extLst>
                  <a:ext uri="{FF2B5EF4-FFF2-40B4-BE49-F238E27FC236}">
                    <a16:creationId xmlns:a16="http://schemas.microsoft.com/office/drawing/2014/main" id="{94EF2F7B-DF8D-41BD-A9B1-1B4A21F70CF3}"/>
                  </a:ext>
                </a:extLst>
              </p:cNvPr>
              <p:cNvSpPr txBox="1"/>
              <p:nvPr/>
            </p:nvSpPr>
            <p:spPr bwMode="auto">
              <a:xfrm>
                <a:off x="1682809" y="2798554"/>
                <a:ext cx="599600" cy="7144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sz="2600"/>
              </a:p>
            </p:txBody>
          </p:sp>
        </mc:Choice>
        <mc:Fallback xmlns="">
          <p:sp>
            <p:nvSpPr>
              <p:cNvPr id="137" name="Object 80">
                <a:extLst>
                  <a:ext uri="{FF2B5EF4-FFF2-40B4-BE49-F238E27FC236}">
                    <a16:creationId xmlns:a16="http://schemas.microsoft.com/office/drawing/2014/main" id="{94EF2F7B-DF8D-41BD-A9B1-1B4A21F70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82809" y="2798554"/>
                <a:ext cx="599600" cy="7144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2" name="Group 55">
            <a:extLst>
              <a:ext uri="{FF2B5EF4-FFF2-40B4-BE49-F238E27FC236}">
                <a16:creationId xmlns:a16="http://schemas.microsoft.com/office/drawing/2014/main" id="{588AF079-4308-4F57-B84C-510096528F70}"/>
              </a:ext>
            </a:extLst>
          </p:cNvPr>
          <p:cNvGrpSpPr>
            <a:grpSpLocks/>
          </p:cNvGrpSpPr>
          <p:nvPr/>
        </p:nvGrpSpPr>
        <p:grpSpPr bwMode="auto">
          <a:xfrm>
            <a:off x="2541478" y="4909427"/>
            <a:ext cx="168638" cy="165003"/>
            <a:chOff x="3470" y="3158"/>
            <a:chExt cx="90" cy="91"/>
          </a:xfrm>
        </p:grpSpPr>
        <p:sp>
          <p:nvSpPr>
            <p:cNvPr id="143" name="Line 56">
              <a:extLst>
                <a:ext uri="{FF2B5EF4-FFF2-40B4-BE49-F238E27FC236}">
                  <a16:creationId xmlns:a16="http://schemas.microsoft.com/office/drawing/2014/main" id="{B333AC8D-084A-44D1-A979-B1E4D62580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" y="3158"/>
              <a:ext cx="9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4" name="Line 57">
              <a:extLst>
                <a:ext uri="{FF2B5EF4-FFF2-40B4-BE49-F238E27FC236}">
                  <a16:creationId xmlns:a16="http://schemas.microsoft.com/office/drawing/2014/main" id="{1F288037-2F26-47F2-B63B-34FE19FA3C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3158"/>
              <a:ext cx="9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Object 4"/>
              <p:cNvSpPr txBox="1"/>
              <p:nvPr/>
            </p:nvSpPr>
            <p:spPr bwMode="auto">
              <a:xfrm>
                <a:off x="6221870" y="1534113"/>
                <a:ext cx="3551237" cy="2206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ε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dΦ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21870" y="1534113"/>
                <a:ext cx="3551237" cy="22066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6" name="Group 6"/>
          <p:cNvGrpSpPr>
            <a:grpSpLocks/>
          </p:cNvGrpSpPr>
          <p:nvPr/>
        </p:nvGrpSpPr>
        <p:grpSpPr bwMode="auto">
          <a:xfrm>
            <a:off x="6293308" y="3983624"/>
            <a:ext cx="3995738" cy="1039813"/>
            <a:chOff x="3199" y="2432"/>
            <a:chExt cx="2517" cy="655"/>
          </a:xfrm>
        </p:grpSpPr>
        <p:sp>
          <p:nvSpPr>
            <p:cNvPr id="147" name="Text Box 7"/>
            <p:cNvSpPr txBox="1">
              <a:spLocks noChangeArrowheads="1"/>
            </p:cNvSpPr>
            <p:nvPr/>
          </p:nvSpPr>
          <p:spPr bwMode="auto">
            <a:xfrm>
              <a:off x="3335" y="2432"/>
              <a:ext cx="1471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6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 </a:t>
              </a:r>
              <a:r>
                <a:rPr kumimoji="1" lang="zh-CN" alt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的</a:t>
              </a:r>
              <a:r>
                <a:rPr kumimoji="1" lang="zh-CN" alt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方向</a:t>
              </a:r>
              <a:r>
                <a:rPr kumimoji="1" lang="en-US" altLang="zh-CN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: </a:t>
              </a:r>
              <a:r>
                <a:rPr kumimoji="1" lang="en-US" altLang="zh-CN" sz="26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b</a:t>
              </a:r>
              <a:r>
                <a:rPr kumimoji="1" lang="en-US" altLang="zh-CN" sz="26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26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</a:t>
              </a:r>
              <a:endParaRPr kumimoji="1" lang="en-US" altLang="zh-CN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8" name="Text Box 8"/>
            <p:cNvSpPr txBox="1">
              <a:spLocks noChangeArrowheads="1"/>
            </p:cNvSpPr>
            <p:nvPr/>
          </p:nvSpPr>
          <p:spPr bwMode="auto">
            <a:xfrm>
              <a:off x="3199" y="2777"/>
              <a:ext cx="2007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感应电流的方向也是</a:t>
              </a:r>
            </a:p>
          </p:txBody>
        </p:sp>
        <p:sp>
          <p:nvSpPr>
            <p:cNvPr id="149" name="Text Box 9"/>
            <p:cNvSpPr txBox="1">
              <a:spLocks noChangeArrowheads="1"/>
            </p:cNvSpPr>
            <p:nvPr/>
          </p:nvSpPr>
          <p:spPr bwMode="auto">
            <a:xfrm>
              <a:off x="5130" y="2757"/>
              <a:ext cx="586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6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b</a:t>
              </a:r>
              <a:r>
                <a:rPr kumimoji="1" lang="en-US" altLang="zh-CN" sz="26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26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</a:t>
              </a:r>
              <a:endParaRPr kumimoji="1" lang="en-US" altLang="zh-CN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50" name="Rectangle 13"/>
          <p:cNvSpPr>
            <a:spLocks noChangeArrowheads="1"/>
          </p:cNvSpPr>
          <p:nvPr/>
        </p:nvSpPr>
        <p:spPr bwMode="auto">
          <a:xfrm>
            <a:off x="3443833" y="1858335"/>
            <a:ext cx="1667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6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endParaRPr kumimoji="1" lang="en-US" altLang="zh-CN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52" name="Group 15"/>
          <p:cNvGrpSpPr>
            <a:grpSpLocks/>
          </p:cNvGrpSpPr>
          <p:nvPr/>
        </p:nvGrpSpPr>
        <p:grpSpPr bwMode="auto">
          <a:xfrm>
            <a:off x="2922699" y="3876947"/>
            <a:ext cx="386978" cy="636010"/>
            <a:chOff x="3560" y="3067"/>
            <a:chExt cx="273" cy="441"/>
          </a:xfrm>
        </p:grpSpPr>
        <p:sp>
          <p:nvSpPr>
            <p:cNvPr id="156" name="Line 16"/>
            <p:cNvSpPr>
              <a:spLocks noChangeShapeType="1"/>
            </p:cNvSpPr>
            <p:nvPr/>
          </p:nvSpPr>
          <p:spPr bwMode="auto">
            <a:xfrm>
              <a:off x="3560" y="3249"/>
              <a:ext cx="27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600" dirty="0">
                <a:latin typeface="华文楷体" panose="02010600040101010101" pitchFamily="2" charset="-122"/>
              </a:endParaRPr>
            </a:p>
          </p:txBody>
        </p:sp>
        <p:sp>
          <p:nvSpPr>
            <p:cNvPr id="157" name="Line 17"/>
            <p:cNvSpPr>
              <a:spLocks noChangeShapeType="1"/>
            </p:cNvSpPr>
            <p:nvPr/>
          </p:nvSpPr>
          <p:spPr bwMode="auto">
            <a:xfrm>
              <a:off x="3664" y="3307"/>
              <a:ext cx="91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600" dirty="0">
                <a:latin typeface="华文楷体" panose="02010600040101010101" pitchFamily="2" charset="-122"/>
              </a:endParaRPr>
            </a:p>
          </p:txBody>
        </p:sp>
        <p:sp>
          <p:nvSpPr>
            <p:cNvPr id="158" name="Line 18"/>
            <p:cNvSpPr>
              <a:spLocks noChangeShapeType="1"/>
            </p:cNvSpPr>
            <p:nvPr/>
          </p:nvSpPr>
          <p:spPr bwMode="auto">
            <a:xfrm flipV="1">
              <a:off x="3709" y="3067"/>
              <a:ext cx="0" cy="18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600" dirty="0">
                <a:latin typeface="华文楷体" panose="02010600040101010101" pitchFamily="2" charset="-122"/>
              </a:endParaRPr>
            </a:p>
          </p:txBody>
        </p:sp>
        <p:sp>
          <p:nvSpPr>
            <p:cNvPr id="159" name="Line 19"/>
            <p:cNvSpPr>
              <a:spLocks noChangeShapeType="1"/>
            </p:cNvSpPr>
            <p:nvPr/>
          </p:nvSpPr>
          <p:spPr bwMode="auto">
            <a:xfrm flipV="1">
              <a:off x="3703" y="3326"/>
              <a:ext cx="0" cy="18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600" dirty="0">
                <a:latin typeface="华文楷体" panose="02010600040101010101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Object 20"/>
              <p:cNvSpPr txBox="1"/>
              <p:nvPr/>
            </p:nvSpPr>
            <p:spPr bwMode="auto">
              <a:xfrm>
                <a:off x="2644943" y="3748591"/>
                <a:ext cx="348705" cy="39083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600"/>
              </a:p>
            </p:txBody>
          </p:sp>
        </mc:Choice>
        <mc:Fallback xmlns="">
          <p:sp>
            <p:nvSpPr>
              <p:cNvPr id="153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4943" y="3748591"/>
                <a:ext cx="348705" cy="3908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" name="Rectangle 27"/>
          <p:cNvSpPr>
            <a:spLocks noChangeArrowheads="1"/>
          </p:cNvSpPr>
          <p:nvPr/>
        </p:nvSpPr>
        <p:spPr bwMode="auto">
          <a:xfrm>
            <a:off x="3476114" y="5760184"/>
            <a:ext cx="1699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6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endParaRPr kumimoji="1" lang="en-US" altLang="zh-CN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792645" y="1369339"/>
                <a:ext cx="4647086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600" dirty="0">
                    <a:latin typeface="+mn-ea"/>
                    <a:cs typeface="Times New Roman" panose="02020603050405020304" pitchFamily="18" charset="0"/>
                  </a:rPr>
                  <a:t>一个长为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6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600" dirty="0">
                    <a:latin typeface="+mn-ea"/>
                    <a:cs typeface="Times New Roman" panose="02020603050405020304" pitchFamily="18" charset="0"/>
                  </a:rPr>
                  <a:t>导体匀速在磁场中向右运动</a:t>
                </a:r>
                <a:endParaRPr lang="en-US" sz="2600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645" y="1369339"/>
                <a:ext cx="4647086" cy="892552"/>
              </a:xfrm>
              <a:prstGeom prst="rect">
                <a:avLst/>
              </a:prstGeom>
              <a:blipFill>
                <a:blip r:embed="rId6"/>
                <a:stretch>
                  <a:fillRect l="-2362" t="-6849" b="-16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Line 79">
            <a:extLst>
              <a:ext uri="{FF2B5EF4-FFF2-40B4-BE49-F238E27FC236}">
                <a16:creationId xmlns:a16="http://schemas.microsoft.com/office/drawing/2014/main" id="{E61B1258-76F6-401A-8907-4D2BCDFA75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65303" y="2933202"/>
            <a:ext cx="0" cy="571997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2790453" y="2995335"/>
            <a:ext cx="27885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endParaRPr lang="en-US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8">
            <a:extLst>
              <a:ext uri="{FF2B5EF4-FFF2-40B4-BE49-F238E27FC236}">
                <a16:creationId xmlns:a16="http://schemas.microsoft.com/office/drawing/2014/main" id="{FBA4AAFF-077B-1805-8D87-F7DF0C06133D}"/>
              </a:ext>
            </a:extLst>
          </p:cNvPr>
          <p:cNvSpPr/>
          <p:nvPr/>
        </p:nvSpPr>
        <p:spPr>
          <a:xfrm>
            <a:off x="975888" y="574184"/>
            <a:ext cx="38247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动生电动势 </a:t>
            </a:r>
            <a:endParaRPr lang="en-US" sz="36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902AD294-02F0-417B-8859-1366A727531C}"/>
                  </a:ext>
                </a:extLst>
              </p:cNvPr>
              <p:cNvSpPr txBox="1"/>
              <p:nvPr/>
            </p:nvSpPr>
            <p:spPr>
              <a:xfrm>
                <a:off x="7483774" y="1539063"/>
                <a:ext cx="2253649" cy="910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902AD294-02F0-417B-8859-1366A7275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3774" y="1539063"/>
                <a:ext cx="2253649" cy="91057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C3F98C9A-55C8-47F6-ABFA-BD9FAAD7DBB5}"/>
                  </a:ext>
                </a:extLst>
              </p:cNvPr>
              <p:cNvSpPr txBox="1"/>
              <p:nvPr/>
            </p:nvSpPr>
            <p:spPr>
              <a:xfrm>
                <a:off x="6372860" y="2784922"/>
                <a:ext cx="1694180" cy="910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ldx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C3F98C9A-55C8-47F6-ABFA-BD9FAAD7D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860" y="2784922"/>
                <a:ext cx="1694180" cy="910570"/>
              </a:xfrm>
              <a:prstGeom prst="rect">
                <a:avLst/>
              </a:prstGeom>
              <a:blipFill>
                <a:blip r:embed="rId14"/>
                <a:stretch>
                  <a:fillRect r="-17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F1843DE8-115A-4392-83E7-F9A5CAE37B0C}"/>
                  </a:ext>
                </a:extLst>
              </p:cNvPr>
              <p:cNvSpPr txBox="1"/>
              <p:nvPr/>
            </p:nvSpPr>
            <p:spPr>
              <a:xfrm>
                <a:off x="8218030" y="2981979"/>
                <a:ext cx="137075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Blv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F1843DE8-115A-4392-83E7-F9A5CAE37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8030" y="2981979"/>
                <a:ext cx="1370754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7324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/>
      <p:bldP spid="75" grpId="0" animBg="1"/>
      <p:bldP spid="76" grpId="0"/>
      <p:bldP spid="89" grpId="0"/>
      <p:bldP spid="90" grpId="0"/>
      <p:bldP spid="9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7908357" y="4179391"/>
            <a:ext cx="2436425" cy="8873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5" name="Rectangle 23">
            <a:extLst>
              <a:ext uri="{FF2B5EF4-FFF2-40B4-BE49-F238E27FC236}">
                <a16:creationId xmlns:a16="http://schemas.microsoft.com/office/drawing/2014/main" id="{7B5E4732-C69C-4D60-837E-F485E79C7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419" y="3337317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endParaRPr kumimoji="1" lang="en-US" altLang="zh-CN" sz="28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6" name="Rectangle 24">
            <a:extLst>
              <a:ext uri="{FF2B5EF4-FFF2-40B4-BE49-F238E27FC236}">
                <a16:creationId xmlns:a16="http://schemas.microsoft.com/office/drawing/2014/main" id="{F609A8D2-697F-4126-9A60-1FD3CE261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6069" y="4791522"/>
            <a:ext cx="507786" cy="63825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7" name="Rectangle 25">
            <a:extLst>
              <a:ext uri="{FF2B5EF4-FFF2-40B4-BE49-F238E27FC236}">
                <a16:creationId xmlns:a16="http://schemas.microsoft.com/office/drawing/2014/main" id="{4715E0DA-0303-4D6E-B4AF-DBF04554D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4615" y="4688168"/>
            <a:ext cx="254830" cy="42610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8" name="Rectangle 28">
            <a:extLst>
              <a:ext uri="{FF2B5EF4-FFF2-40B4-BE49-F238E27FC236}">
                <a16:creationId xmlns:a16="http://schemas.microsoft.com/office/drawing/2014/main" id="{5FF7DC70-03BE-47A8-88B7-BCED8A2A1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0568" y="4546736"/>
            <a:ext cx="1019320" cy="106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" name="Line 30">
            <a:extLst>
              <a:ext uri="{FF2B5EF4-FFF2-40B4-BE49-F238E27FC236}">
                <a16:creationId xmlns:a16="http://schemas.microsoft.com/office/drawing/2014/main" id="{D7CB72D9-D9C8-40FA-9705-CF9A933D8C6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887" y="2597522"/>
            <a:ext cx="382619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" name="Line 31">
            <a:extLst>
              <a:ext uri="{FF2B5EF4-FFF2-40B4-BE49-F238E27FC236}">
                <a16:creationId xmlns:a16="http://schemas.microsoft.com/office/drawing/2014/main" id="{E73BE306-0297-4AEC-BCD6-4389FA11526F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887" y="2597522"/>
            <a:ext cx="0" cy="287939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4" name="Line 32">
            <a:extLst>
              <a:ext uri="{FF2B5EF4-FFF2-40B4-BE49-F238E27FC236}">
                <a16:creationId xmlns:a16="http://schemas.microsoft.com/office/drawing/2014/main" id="{2EADAD08-131F-4A18-9757-E4E21F07A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887" y="5476920"/>
            <a:ext cx="374000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5" name="Group 33">
            <a:extLst>
              <a:ext uri="{FF2B5EF4-FFF2-40B4-BE49-F238E27FC236}">
                <a16:creationId xmlns:a16="http://schemas.microsoft.com/office/drawing/2014/main" id="{B44629CD-7C4B-4BA2-94AD-74B6C7F5BCB4}"/>
              </a:ext>
            </a:extLst>
          </p:cNvPr>
          <p:cNvGrpSpPr>
            <a:grpSpLocks/>
          </p:cNvGrpSpPr>
          <p:nvPr/>
        </p:nvGrpSpPr>
        <p:grpSpPr bwMode="auto">
          <a:xfrm>
            <a:off x="1378420" y="3058080"/>
            <a:ext cx="168638" cy="739795"/>
            <a:chOff x="3470" y="3158"/>
            <a:chExt cx="90" cy="408"/>
          </a:xfrm>
        </p:grpSpPr>
        <p:grpSp>
          <p:nvGrpSpPr>
            <p:cNvPr id="96" name="Group 34">
              <a:extLst>
                <a:ext uri="{FF2B5EF4-FFF2-40B4-BE49-F238E27FC236}">
                  <a16:creationId xmlns:a16="http://schemas.microsoft.com/office/drawing/2014/main" id="{402FBFB8-8B67-4E0F-9E7A-44F169954F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158"/>
              <a:ext cx="90" cy="91"/>
              <a:chOff x="3470" y="3158"/>
              <a:chExt cx="90" cy="91"/>
            </a:xfrm>
          </p:grpSpPr>
          <p:sp>
            <p:nvSpPr>
              <p:cNvPr id="100" name="Line 35">
                <a:extLst>
                  <a:ext uri="{FF2B5EF4-FFF2-40B4-BE49-F238E27FC236}">
                    <a16:creationId xmlns:a16="http://schemas.microsoft.com/office/drawing/2014/main" id="{9561044D-098A-4543-A184-624328C0F9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1" name="Line 36">
                <a:extLst>
                  <a:ext uri="{FF2B5EF4-FFF2-40B4-BE49-F238E27FC236}">
                    <a16:creationId xmlns:a16="http://schemas.microsoft.com/office/drawing/2014/main" id="{CE0DA8B0-C3DF-4D56-B4FD-6037C6188F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7" name="Group 37">
              <a:extLst>
                <a:ext uri="{FF2B5EF4-FFF2-40B4-BE49-F238E27FC236}">
                  <a16:creationId xmlns:a16="http://schemas.microsoft.com/office/drawing/2014/main" id="{295BFA0B-3738-440E-A95A-926C122D5E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475"/>
              <a:ext cx="90" cy="91"/>
              <a:chOff x="3470" y="3158"/>
              <a:chExt cx="90" cy="91"/>
            </a:xfrm>
          </p:grpSpPr>
          <p:sp>
            <p:nvSpPr>
              <p:cNvPr id="98" name="Line 38">
                <a:extLst>
                  <a:ext uri="{FF2B5EF4-FFF2-40B4-BE49-F238E27FC236}">
                    <a16:creationId xmlns:a16="http://schemas.microsoft.com/office/drawing/2014/main" id="{13D954B1-5B39-4C0F-AC9F-94A627ED95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9" name="Line 39">
                <a:extLst>
                  <a:ext uri="{FF2B5EF4-FFF2-40B4-BE49-F238E27FC236}">
                    <a16:creationId xmlns:a16="http://schemas.microsoft.com/office/drawing/2014/main" id="{06490946-FB34-4621-A28C-6AE0D9007E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02" name="Group 40">
            <a:extLst>
              <a:ext uri="{FF2B5EF4-FFF2-40B4-BE49-F238E27FC236}">
                <a16:creationId xmlns:a16="http://schemas.microsoft.com/office/drawing/2014/main" id="{E1DE6537-AD0D-454B-9471-C56944145A6C}"/>
              </a:ext>
            </a:extLst>
          </p:cNvPr>
          <p:cNvGrpSpPr>
            <a:grpSpLocks/>
          </p:cNvGrpSpPr>
          <p:nvPr/>
        </p:nvGrpSpPr>
        <p:grpSpPr bwMode="auto">
          <a:xfrm>
            <a:off x="1378420" y="4291072"/>
            <a:ext cx="168638" cy="739795"/>
            <a:chOff x="3470" y="3158"/>
            <a:chExt cx="90" cy="408"/>
          </a:xfrm>
        </p:grpSpPr>
        <p:grpSp>
          <p:nvGrpSpPr>
            <p:cNvPr id="103" name="Group 41">
              <a:extLst>
                <a:ext uri="{FF2B5EF4-FFF2-40B4-BE49-F238E27FC236}">
                  <a16:creationId xmlns:a16="http://schemas.microsoft.com/office/drawing/2014/main" id="{D3018099-8D11-4D66-9B38-5CBC788D85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158"/>
              <a:ext cx="90" cy="91"/>
              <a:chOff x="3470" y="3158"/>
              <a:chExt cx="90" cy="91"/>
            </a:xfrm>
          </p:grpSpPr>
          <p:sp>
            <p:nvSpPr>
              <p:cNvPr id="107" name="Line 42">
                <a:extLst>
                  <a:ext uri="{FF2B5EF4-FFF2-40B4-BE49-F238E27FC236}">
                    <a16:creationId xmlns:a16="http://schemas.microsoft.com/office/drawing/2014/main" id="{A5EFC0E6-4C34-435C-8F16-D2D018504E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" name="Line 43">
                <a:extLst>
                  <a:ext uri="{FF2B5EF4-FFF2-40B4-BE49-F238E27FC236}">
                    <a16:creationId xmlns:a16="http://schemas.microsoft.com/office/drawing/2014/main" id="{1E050FC1-47A0-476B-867F-8BFD777FE1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4" name="Group 44">
              <a:extLst>
                <a:ext uri="{FF2B5EF4-FFF2-40B4-BE49-F238E27FC236}">
                  <a16:creationId xmlns:a16="http://schemas.microsoft.com/office/drawing/2014/main" id="{74343CB2-5E51-4E73-9EF6-AA73CA54AA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475"/>
              <a:ext cx="90" cy="91"/>
              <a:chOff x="3470" y="3158"/>
              <a:chExt cx="90" cy="91"/>
            </a:xfrm>
          </p:grpSpPr>
          <p:sp>
            <p:nvSpPr>
              <p:cNvPr id="105" name="Line 45">
                <a:extLst>
                  <a:ext uri="{FF2B5EF4-FFF2-40B4-BE49-F238E27FC236}">
                    <a16:creationId xmlns:a16="http://schemas.microsoft.com/office/drawing/2014/main" id="{F1B235C8-D515-4F8C-8727-27D99FB3C8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6" name="Line 46">
                <a:extLst>
                  <a:ext uri="{FF2B5EF4-FFF2-40B4-BE49-F238E27FC236}">
                    <a16:creationId xmlns:a16="http://schemas.microsoft.com/office/drawing/2014/main" id="{63FD1C95-A553-4932-B428-75F5862CB7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09" name="Group 47">
            <a:extLst>
              <a:ext uri="{FF2B5EF4-FFF2-40B4-BE49-F238E27FC236}">
                <a16:creationId xmlns:a16="http://schemas.microsoft.com/office/drawing/2014/main" id="{672BFDC4-B875-4FC0-998A-919A34160997}"/>
              </a:ext>
            </a:extLst>
          </p:cNvPr>
          <p:cNvGrpSpPr>
            <a:grpSpLocks/>
          </p:cNvGrpSpPr>
          <p:nvPr/>
        </p:nvGrpSpPr>
        <p:grpSpPr bwMode="auto">
          <a:xfrm>
            <a:off x="2482059" y="3009123"/>
            <a:ext cx="168638" cy="739795"/>
            <a:chOff x="3470" y="3158"/>
            <a:chExt cx="90" cy="408"/>
          </a:xfrm>
        </p:grpSpPr>
        <p:grpSp>
          <p:nvGrpSpPr>
            <p:cNvPr id="110" name="Group 48">
              <a:extLst>
                <a:ext uri="{FF2B5EF4-FFF2-40B4-BE49-F238E27FC236}">
                  <a16:creationId xmlns:a16="http://schemas.microsoft.com/office/drawing/2014/main" id="{CDB2AB8F-2E62-4E58-90DD-52682F0A12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158"/>
              <a:ext cx="90" cy="91"/>
              <a:chOff x="3470" y="3158"/>
              <a:chExt cx="90" cy="91"/>
            </a:xfrm>
          </p:grpSpPr>
          <p:sp>
            <p:nvSpPr>
              <p:cNvPr id="114" name="Line 49">
                <a:extLst>
                  <a:ext uri="{FF2B5EF4-FFF2-40B4-BE49-F238E27FC236}">
                    <a16:creationId xmlns:a16="http://schemas.microsoft.com/office/drawing/2014/main" id="{B074816A-962F-4A85-B8B3-5D83A27E29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" name="Line 50">
                <a:extLst>
                  <a:ext uri="{FF2B5EF4-FFF2-40B4-BE49-F238E27FC236}">
                    <a16:creationId xmlns:a16="http://schemas.microsoft.com/office/drawing/2014/main" id="{8ACEC353-F17C-4F51-9009-9CACBBB736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1" name="Group 51">
              <a:extLst>
                <a:ext uri="{FF2B5EF4-FFF2-40B4-BE49-F238E27FC236}">
                  <a16:creationId xmlns:a16="http://schemas.microsoft.com/office/drawing/2014/main" id="{8F724993-A154-45BE-AD6D-8E6B7BEDA0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475"/>
              <a:ext cx="90" cy="91"/>
              <a:chOff x="3470" y="3158"/>
              <a:chExt cx="90" cy="91"/>
            </a:xfrm>
          </p:grpSpPr>
          <p:sp>
            <p:nvSpPr>
              <p:cNvPr id="112" name="Line 52">
                <a:extLst>
                  <a:ext uri="{FF2B5EF4-FFF2-40B4-BE49-F238E27FC236}">
                    <a16:creationId xmlns:a16="http://schemas.microsoft.com/office/drawing/2014/main" id="{33B5A792-38BD-4211-BCE0-600AB4B724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" name="Line 53">
                <a:extLst>
                  <a:ext uri="{FF2B5EF4-FFF2-40B4-BE49-F238E27FC236}">
                    <a16:creationId xmlns:a16="http://schemas.microsoft.com/office/drawing/2014/main" id="{9AF5A175-F145-494D-8504-B656CF50C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16" name="Group 55">
            <a:extLst>
              <a:ext uri="{FF2B5EF4-FFF2-40B4-BE49-F238E27FC236}">
                <a16:creationId xmlns:a16="http://schemas.microsoft.com/office/drawing/2014/main" id="{588AF079-4308-4F57-B84C-510096528F70}"/>
              </a:ext>
            </a:extLst>
          </p:cNvPr>
          <p:cNvGrpSpPr>
            <a:grpSpLocks/>
          </p:cNvGrpSpPr>
          <p:nvPr/>
        </p:nvGrpSpPr>
        <p:grpSpPr bwMode="auto">
          <a:xfrm>
            <a:off x="2482059" y="4242105"/>
            <a:ext cx="168638" cy="165003"/>
            <a:chOff x="3470" y="3158"/>
            <a:chExt cx="90" cy="91"/>
          </a:xfrm>
        </p:grpSpPr>
        <p:sp>
          <p:nvSpPr>
            <p:cNvPr id="117" name="Line 56">
              <a:extLst>
                <a:ext uri="{FF2B5EF4-FFF2-40B4-BE49-F238E27FC236}">
                  <a16:creationId xmlns:a16="http://schemas.microsoft.com/office/drawing/2014/main" id="{B333AC8D-084A-44D1-A979-B1E4D62580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" y="3158"/>
              <a:ext cx="9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8" name="Line 57">
              <a:extLst>
                <a:ext uri="{FF2B5EF4-FFF2-40B4-BE49-F238E27FC236}">
                  <a16:creationId xmlns:a16="http://schemas.microsoft.com/office/drawing/2014/main" id="{1F288037-2F26-47F2-B63B-34FE19FA3C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3158"/>
              <a:ext cx="9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9" name="Group 61">
            <a:extLst>
              <a:ext uri="{FF2B5EF4-FFF2-40B4-BE49-F238E27FC236}">
                <a16:creationId xmlns:a16="http://schemas.microsoft.com/office/drawing/2014/main" id="{BA349E1F-7B8C-4DFD-9D07-DEF6CFB63DA1}"/>
              </a:ext>
            </a:extLst>
          </p:cNvPr>
          <p:cNvGrpSpPr>
            <a:grpSpLocks/>
          </p:cNvGrpSpPr>
          <p:nvPr/>
        </p:nvGrpSpPr>
        <p:grpSpPr bwMode="auto">
          <a:xfrm>
            <a:off x="4267743" y="3009123"/>
            <a:ext cx="168638" cy="739795"/>
            <a:chOff x="3470" y="3158"/>
            <a:chExt cx="90" cy="408"/>
          </a:xfrm>
        </p:grpSpPr>
        <p:grpSp>
          <p:nvGrpSpPr>
            <p:cNvPr id="120" name="Group 62">
              <a:extLst>
                <a:ext uri="{FF2B5EF4-FFF2-40B4-BE49-F238E27FC236}">
                  <a16:creationId xmlns:a16="http://schemas.microsoft.com/office/drawing/2014/main" id="{BD8766E0-CCCB-4ABB-9233-16A47A8701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158"/>
              <a:ext cx="90" cy="91"/>
              <a:chOff x="3470" y="3158"/>
              <a:chExt cx="90" cy="91"/>
            </a:xfrm>
          </p:grpSpPr>
          <p:sp>
            <p:nvSpPr>
              <p:cNvPr id="124" name="Line 63">
                <a:extLst>
                  <a:ext uri="{FF2B5EF4-FFF2-40B4-BE49-F238E27FC236}">
                    <a16:creationId xmlns:a16="http://schemas.microsoft.com/office/drawing/2014/main" id="{6FFA6483-B3EF-4A59-8EAF-2961A15B7F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" name="Line 64">
                <a:extLst>
                  <a:ext uri="{FF2B5EF4-FFF2-40B4-BE49-F238E27FC236}">
                    <a16:creationId xmlns:a16="http://schemas.microsoft.com/office/drawing/2014/main" id="{5115B071-B768-4F7A-85F7-8EF22D2D2A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1" name="Group 65">
              <a:extLst>
                <a:ext uri="{FF2B5EF4-FFF2-40B4-BE49-F238E27FC236}">
                  <a16:creationId xmlns:a16="http://schemas.microsoft.com/office/drawing/2014/main" id="{68913245-6A6D-4C7B-85BD-073367E1C8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475"/>
              <a:ext cx="90" cy="91"/>
              <a:chOff x="3470" y="3158"/>
              <a:chExt cx="90" cy="91"/>
            </a:xfrm>
          </p:grpSpPr>
          <p:sp>
            <p:nvSpPr>
              <p:cNvPr id="122" name="Line 66">
                <a:extLst>
                  <a:ext uri="{FF2B5EF4-FFF2-40B4-BE49-F238E27FC236}">
                    <a16:creationId xmlns:a16="http://schemas.microsoft.com/office/drawing/2014/main" id="{CA03F53E-F39A-4001-9C1D-33D3542602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3" name="Line 67">
                <a:extLst>
                  <a:ext uri="{FF2B5EF4-FFF2-40B4-BE49-F238E27FC236}">
                    <a16:creationId xmlns:a16="http://schemas.microsoft.com/office/drawing/2014/main" id="{9B53B335-F576-4434-BA72-7D42EB4604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26" name="Group 68">
            <a:extLst>
              <a:ext uri="{FF2B5EF4-FFF2-40B4-BE49-F238E27FC236}">
                <a16:creationId xmlns:a16="http://schemas.microsoft.com/office/drawing/2014/main" id="{C540A970-2FD5-42A0-AECC-B7D016284A90}"/>
              </a:ext>
            </a:extLst>
          </p:cNvPr>
          <p:cNvGrpSpPr>
            <a:grpSpLocks/>
          </p:cNvGrpSpPr>
          <p:nvPr/>
        </p:nvGrpSpPr>
        <p:grpSpPr bwMode="auto">
          <a:xfrm>
            <a:off x="4267743" y="4242115"/>
            <a:ext cx="168638" cy="739795"/>
            <a:chOff x="3470" y="3158"/>
            <a:chExt cx="90" cy="408"/>
          </a:xfrm>
        </p:grpSpPr>
        <p:grpSp>
          <p:nvGrpSpPr>
            <p:cNvPr id="127" name="Group 69">
              <a:extLst>
                <a:ext uri="{FF2B5EF4-FFF2-40B4-BE49-F238E27FC236}">
                  <a16:creationId xmlns:a16="http://schemas.microsoft.com/office/drawing/2014/main" id="{91E809FD-7FF4-40C0-A3FB-0F28BED1D5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158"/>
              <a:ext cx="90" cy="91"/>
              <a:chOff x="3470" y="3158"/>
              <a:chExt cx="90" cy="91"/>
            </a:xfrm>
          </p:grpSpPr>
          <p:sp>
            <p:nvSpPr>
              <p:cNvPr id="131" name="Line 70">
                <a:extLst>
                  <a:ext uri="{FF2B5EF4-FFF2-40B4-BE49-F238E27FC236}">
                    <a16:creationId xmlns:a16="http://schemas.microsoft.com/office/drawing/2014/main" id="{14547036-78F2-4C42-AF38-37A91405B7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2" name="Line 71">
                <a:extLst>
                  <a:ext uri="{FF2B5EF4-FFF2-40B4-BE49-F238E27FC236}">
                    <a16:creationId xmlns:a16="http://schemas.microsoft.com/office/drawing/2014/main" id="{7D181B57-054D-45B7-96FC-95CB3F74F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8" name="Group 72">
              <a:extLst>
                <a:ext uri="{FF2B5EF4-FFF2-40B4-BE49-F238E27FC236}">
                  <a16:creationId xmlns:a16="http://schemas.microsoft.com/office/drawing/2014/main" id="{E8D80D87-788D-436C-8C04-FBC3C1D832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475"/>
              <a:ext cx="90" cy="91"/>
              <a:chOff x="3470" y="3158"/>
              <a:chExt cx="90" cy="91"/>
            </a:xfrm>
          </p:grpSpPr>
          <p:sp>
            <p:nvSpPr>
              <p:cNvPr id="129" name="Line 73">
                <a:extLst>
                  <a:ext uri="{FF2B5EF4-FFF2-40B4-BE49-F238E27FC236}">
                    <a16:creationId xmlns:a16="http://schemas.microsoft.com/office/drawing/2014/main" id="{A12038E8-3E03-4AC2-84E9-740313435B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0" name="Line 74">
                <a:extLst>
                  <a:ext uri="{FF2B5EF4-FFF2-40B4-BE49-F238E27FC236}">
                    <a16:creationId xmlns:a16="http://schemas.microsoft.com/office/drawing/2014/main" id="{2B760EA4-5CF0-40EA-B076-C880AE8F3D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33" name="AutoShape 75">
            <a:extLst>
              <a:ext uri="{FF2B5EF4-FFF2-40B4-BE49-F238E27FC236}">
                <a16:creationId xmlns:a16="http://schemas.microsoft.com/office/drawing/2014/main" id="{C4390590-E989-4371-8E24-6FB11AFB9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9781" y="2408040"/>
            <a:ext cx="556339" cy="325836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4" name="Line 76">
            <a:extLst>
              <a:ext uri="{FF2B5EF4-FFF2-40B4-BE49-F238E27FC236}">
                <a16:creationId xmlns:a16="http://schemas.microsoft.com/office/drawing/2014/main" id="{D8164FD2-DDC6-4C32-A8A5-995A7E890E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40540" y="3993703"/>
            <a:ext cx="833161" cy="97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Object 78">
                <a:extLst>
                  <a:ext uri="{FF2B5EF4-FFF2-40B4-BE49-F238E27FC236}">
                    <a16:creationId xmlns:a16="http://schemas.microsoft.com/office/drawing/2014/main" id="{2ADD874F-B92E-4431-9B59-DE460EE67F5E}"/>
                  </a:ext>
                </a:extLst>
              </p:cNvPr>
              <p:cNvSpPr txBox="1"/>
              <p:nvPr/>
            </p:nvSpPr>
            <p:spPr bwMode="auto">
              <a:xfrm>
                <a:off x="4773701" y="3686019"/>
                <a:ext cx="460943" cy="6255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5" name="Object 78">
                <a:extLst>
                  <a:ext uri="{FF2B5EF4-FFF2-40B4-BE49-F238E27FC236}">
                    <a16:creationId xmlns:a16="http://schemas.microsoft.com/office/drawing/2014/main" id="{2ADD874F-B92E-4431-9B59-DE460EE67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73701" y="3686019"/>
                <a:ext cx="460943" cy="625562"/>
              </a:xfrm>
              <a:prstGeom prst="rect">
                <a:avLst/>
              </a:prstGeom>
              <a:blipFill>
                <a:blip r:embed="rId2"/>
                <a:stretch>
                  <a:fillRect t="-12745" r="-1710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Line 79">
            <a:extLst>
              <a:ext uri="{FF2B5EF4-FFF2-40B4-BE49-F238E27FC236}">
                <a16:creationId xmlns:a16="http://schemas.microsoft.com/office/drawing/2014/main" id="{E61B1258-76F6-401A-8907-4D2BCDFA75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6887" y="3420725"/>
            <a:ext cx="0" cy="739795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Object 80">
                <a:extLst>
                  <a:ext uri="{FF2B5EF4-FFF2-40B4-BE49-F238E27FC236}">
                    <a16:creationId xmlns:a16="http://schemas.microsoft.com/office/drawing/2014/main" id="{94EF2F7B-DF8D-41BD-A9B1-1B4A21F70CF3}"/>
                  </a:ext>
                </a:extLst>
              </p:cNvPr>
              <p:cNvSpPr txBox="1"/>
              <p:nvPr/>
            </p:nvSpPr>
            <p:spPr bwMode="auto">
              <a:xfrm>
                <a:off x="1633250" y="2762525"/>
                <a:ext cx="599600" cy="7144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7" name="Object 80">
                <a:extLst>
                  <a:ext uri="{FF2B5EF4-FFF2-40B4-BE49-F238E27FC236}">
                    <a16:creationId xmlns:a16="http://schemas.microsoft.com/office/drawing/2014/main" id="{94EF2F7B-DF8D-41BD-A9B1-1B4A21F70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3250" y="2762525"/>
                <a:ext cx="599600" cy="7144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2" name="Group 55">
            <a:extLst>
              <a:ext uri="{FF2B5EF4-FFF2-40B4-BE49-F238E27FC236}">
                <a16:creationId xmlns:a16="http://schemas.microsoft.com/office/drawing/2014/main" id="{588AF079-4308-4F57-B84C-510096528F70}"/>
              </a:ext>
            </a:extLst>
          </p:cNvPr>
          <p:cNvGrpSpPr>
            <a:grpSpLocks/>
          </p:cNvGrpSpPr>
          <p:nvPr/>
        </p:nvGrpSpPr>
        <p:grpSpPr bwMode="auto">
          <a:xfrm>
            <a:off x="2491919" y="4873398"/>
            <a:ext cx="168638" cy="165003"/>
            <a:chOff x="3470" y="3158"/>
            <a:chExt cx="90" cy="91"/>
          </a:xfrm>
        </p:grpSpPr>
        <p:sp>
          <p:nvSpPr>
            <p:cNvPr id="143" name="Line 56">
              <a:extLst>
                <a:ext uri="{FF2B5EF4-FFF2-40B4-BE49-F238E27FC236}">
                  <a16:creationId xmlns:a16="http://schemas.microsoft.com/office/drawing/2014/main" id="{B333AC8D-084A-44D1-A979-B1E4D62580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" y="3158"/>
              <a:ext cx="9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4" name="Line 57">
              <a:extLst>
                <a:ext uri="{FF2B5EF4-FFF2-40B4-BE49-F238E27FC236}">
                  <a16:creationId xmlns:a16="http://schemas.microsoft.com/office/drawing/2014/main" id="{1F288037-2F26-47F2-B63B-34FE19FA3C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3158"/>
              <a:ext cx="9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50" name="Rectangle 13"/>
          <p:cNvSpPr>
            <a:spLocks noChangeArrowheads="1"/>
          </p:cNvSpPr>
          <p:nvPr/>
        </p:nvSpPr>
        <p:spPr bwMode="auto">
          <a:xfrm>
            <a:off x="3394274" y="1822306"/>
            <a:ext cx="20518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32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endParaRPr kumimoji="1" lang="en-US" altLang="zh-CN" sz="32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0" name="Rectangle 27"/>
          <p:cNvSpPr>
            <a:spLocks noChangeArrowheads="1"/>
          </p:cNvSpPr>
          <p:nvPr/>
        </p:nvSpPr>
        <p:spPr bwMode="auto">
          <a:xfrm>
            <a:off x="3426555" y="5724155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endParaRPr kumimoji="1" lang="en-US" altLang="zh-CN" sz="28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814447" y="1099219"/>
            <a:ext cx="293541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非静电力是什么？ </a:t>
            </a:r>
            <a:endParaRPr lang="en-US" altLang="zh-CN" sz="2600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6601329" y="1145385"/>
                <a:ext cx="1555169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𝐵𝑙𝑣</m:t>
                      </m:r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1329" y="1145385"/>
                <a:ext cx="155516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椭圆 73"/>
          <p:cNvSpPr/>
          <p:nvPr/>
        </p:nvSpPr>
        <p:spPr>
          <a:xfrm>
            <a:off x="3440815" y="3849921"/>
            <a:ext cx="298392" cy="327556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3497965" y="4013699"/>
            <a:ext cx="15902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7908357" y="2311652"/>
                <a:ext cx="3129910" cy="4140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altLang="zh-CN" sz="2400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acc>
                        <m:accPr>
                          <m:chr m:val="⃗"/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357" y="2311652"/>
                <a:ext cx="3129910" cy="414088"/>
              </a:xfrm>
              <a:prstGeom prst="rect">
                <a:avLst/>
              </a:prstGeom>
              <a:blipFill>
                <a:blip r:embed="rId8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5943037" y="2227178"/>
            <a:ext cx="280126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运动电荷在磁场中受洛伦兹力：</a:t>
            </a:r>
            <a:endParaRPr lang="en-US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6" name="Line 79">
            <a:extLst>
              <a:ext uri="{FF2B5EF4-FFF2-40B4-BE49-F238E27FC236}">
                <a16:creationId xmlns:a16="http://schemas.microsoft.com/office/drawing/2014/main" id="{E61B1258-76F6-401A-8907-4D2BCDFA7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9445" y="4168201"/>
            <a:ext cx="0" cy="592261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8925214" y="2706921"/>
                <a:ext cx="1868204" cy="5410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26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𝒆</m:t>
                      </m:r>
                      <m:acc>
                        <m:accPr>
                          <m:chr m:val="⃗"/>
                          <m:ctrlP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  <m:r>
                        <a:rPr lang="en-US" altLang="zh-CN" sz="26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</m:oMath>
                  </m:oMathPara>
                </a14:m>
                <a:endParaRPr 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5214" y="2706921"/>
                <a:ext cx="1868204" cy="5410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394570" y="4754946"/>
                <a:ext cx="511679" cy="4029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570" y="4754946"/>
                <a:ext cx="511679" cy="402931"/>
              </a:xfrm>
              <a:prstGeom prst="rect">
                <a:avLst/>
              </a:prstGeom>
              <a:blipFill>
                <a:blip r:embed="rId10"/>
                <a:stretch>
                  <a:fillRect r="-8333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Rectangle 31"/>
          <p:cNvSpPr>
            <a:spLocks noChangeArrowheads="1"/>
          </p:cNvSpPr>
          <p:nvPr/>
        </p:nvSpPr>
        <p:spPr bwMode="auto">
          <a:xfrm>
            <a:off x="6410892" y="3516169"/>
            <a:ext cx="244792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非静电场场强：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Object 41"/>
              <p:cNvSpPr txBox="1"/>
              <p:nvPr/>
            </p:nvSpPr>
            <p:spPr bwMode="auto">
              <a:xfrm>
                <a:off x="8763044" y="3261989"/>
                <a:ext cx="3165567" cy="962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num>
                        <m:den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den>
                      </m:f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acc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acc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80" name="Object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63044" y="3261989"/>
                <a:ext cx="3165567" cy="96202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7908357" y="5260582"/>
                <a:ext cx="2125968" cy="4924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6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𝐵𝑙𝑣</m:t>
                      </m:r>
                    </m:oMath>
                  </m:oMathPara>
                </a14:m>
                <a:endParaRPr lang="en-US" altLang="zh-CN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357" y="5260582"/>
                <a:ext cx="2125968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Line 79">
            <a:extLst>
              <a:ext uri="{FF2B5EF4-FFF2-40B4-BE49-F238E27FC236}">
                <a16:creationId xmlns:a16="http://schemas.microsoft.com/office/drawing/2014/main" id="{E61B1258-76F6-401A-8907-4D2BCDFA75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99812" y="3176921"/>
            <a:ext cx="0" cy="571997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10264260" y="4384417"/>
                <a:ext cx="1623137" cy="8649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𝐵𝑣𝑑𝑙</m:t>
                          </m:r>
                        </m:e>
                      </m:nary>
                    </m:oMath>
                  </m:oMathPara>
                </a14:m>
                <a:endParaRPr 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4260" y="4384417"/>
                <a:ext cx="1623137" cy="86498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8" name="Group 15"/>
          <p:cNvGrpSpPr>
            <a:grpSpLocks/>
          </p:cNvGrpSpPr>
          <p:nvPr/>
        </p:nvGrpSpPr>
        <p:grpSpPr bwMode="auto">
          <a:xfrm>
            <a:off x="2845572" y="3833015"/>
            <a:ext cx="386978" cy="636010"/>
            <a:chOff x="3560" y="3067"/>
            <a:chExt cx="273" cy="441"/>
          </a:xfrm>
        </p:grpSpPr>
        <p:sp>
          <p:nvSpPr>
            <p:cNvPr id="139" name="Line 16"/>
            <p:cNvSpPr>
              <a:spLocks noChangeShapeType="1"/>
            </p:cNvSpPr>
            <p:nvPr/>
          </p:nvSpPr>
          <p:spPr bwMode="auto">
            <a:xfrm>
              <a:off x="3560" y="3249"/>
              <a:ext cx="27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0" name="Line 17"/>
            <p:cNvSpPr>
              <a:spLocks noChangeShapeType="1"/>
            </p:cNvSpPr>
            <p:nvPr/>
          </p:nvSpPr>
          <p:spPr bwMode="auto">
            <a:xfrm>
              <a:off x="3664" y="3307"/>
              <a:ext cx="91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1" name="Line 18"/>
            <p:cNvSpPr>
              <a:spLocks noChangeShapeType="1"/>
            </p:cNvSpPr>
            <p:nvPr/>
          </p:nvSpPr>
          <p:spPr bwMode="auto">
            <a:xfrm flipV="1">
              <a:off x="3709" y="3067"/>
              <a:ext cx="0" cy="18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5" name="Line 19"/>
            <p:cNvSpPr>
              <a:spLocks noChangeShapeType="1"/>
            </p:cNvSpPr>
            <p:nvPr/>
          </p:nvSpPr>
          <p:spPr bwMode="auto">
            <a:xfrm flipV="1">
              <a:off x="3703" y="3326"/>
              <a:ext cx="0" cy="18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Object 20"/>
              <p:cNvSpPr txBox="1"/>
              <p:nvPr/>
            </p:nvSpPr>
            <p:spPr bwMode="auto">
              <a:xfrm>
                <a:off x="2567816" y="3704659"/>
                <a:ext cx="348705" cy="39083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46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7816" y="3704659"/>
                <a:ext cx="348705" cy="39083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3404961" y="2734367"/>
                <a:ext cx="408382" cy="4140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961" y="2734367"/>
                <a:ext cx="408382" cy="41408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/>
          <p:cNvSpPr/>
          <p:nvPr/>
        </p:nvSpPr>
        <p:spPr>
          <a:xfrm>
            <a:off x="7140110" y="5924209"/>
            <a:ext cx="3852337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非静电力是洛伦兹力！！</a:t>
            </a:r>
            <a:endParaRPr lang="en-US" sz="26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5353905" y="4327607"/>
            <a:ext cx="4930009" cy="989184"/>
            <a:chOff x="6471551" y="4327607"/>
            <a:chExt cx="3812363" cy="9891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Object 54"/>
                <p:cNvSpPr txBox="1"/>
                <p:nvPr/>
              </p:nvSpPr>
              <p:spPr bwMode="auto">
                <a:xfrm>
                  <a:off x="6471551" y="4327607"/>
                  <a:ext cx="3812363" cy="807619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ε</m:t>
                            </m:r>
                          </m:e>
                          <m:sub>
                            <m: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动</m:t>
                            </m:r>
                          </m:sub>
                        </m:sSub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limLoc m:val="undOvr"/>
                            <m:supHide m:val="on"/>
                            <m:ctrl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2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E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非</m:t>
                                </m:r>
                              </m:sub>
                            </m:sSub>
                            <m: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m:rPr>
                                <m:sty m:val="p"/>
                              </m:r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acc>
                              <m:accPr>
                                <m:chr m:val="⃗"/>
                                <m:ctrlPr>
                                  <a:rPr 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</m:e>
                            </m:acc>
                          </m:e>
                        </m:nary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limLoc m:val="undOvr"/>
                            <m:supHide m:val="on"/>
                            <m:ctrl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sub>
                          <m:sup/>
                          <m:e>
                            <m:d>
                              <m:dPr>
                                <m:ctrlPr>
                                  <a:rPr 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2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</m:acc>
                                <m:r>
                                  <a:rPr 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sz="2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m:rPr>
                                <m:sty m:val="p"/>
                              </m:r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acc>
                              <m:accPr>
                                <m:chr m:val="⃗"/>
                                <m:ctrlPr>
                                  <a:rPr 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</m:e>
                            </m:acc>
                          </m:e>
                        </m:nary>
                      </m:oMath>
                    </m:oMathPara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81" name="Object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71551" y="4327607"/>
                  <a:ext cx="3812363" cy="807619"/>
                </a:xfrm>
                <a:prstGeom prst="rect">
                  <a:avLst/>
                </a:prstGeom>
                <a:blipFill>
                  <a:blip r:embed="rId18"/>
                  <a:stretch>
                    <a:fillRect b="-34848"/>
                  </a:stretch>
                </a:blipFill>
                <a:ln w="2857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文本框 16"/>
            <p:cNvSpPr txBox="1"/>
            <p:nvPr/>
          </p:nvSpPr>
          <p:spPr>
            <a:xfrm>
              <a:off x="7664786" y="4824348"/>
              <a:ext cx="287867" cy="4924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600" dirty="0">
                  <a:latin typeface="华文楷体" panose="02010600040101010101" pitchFamily="2" charset="-122"/>
                </a:rPr>
                <a:t>k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62FD91E9-51B7-4FF1-AA17-E713B71E999A}"/>
                  </a:ext>
                </a:extLst>
              </p:cNvPr>
              <p:cNvSpPr txBox="1"/>
              <p:nvPr/>
            </p:nvSpPr>
            <p:spPr>
              <a:xfrm>
                <a:off x="706819" y="1319784"/>
                <a:ext cx="4647086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600" dirty="0">
                    <a:latin typeface="+mn-ea"/>
                    <a:cs typeface="Times New Roman" panose="02020603050405020304" pitchFamily="18" charset="0"/>
                  </a:rPr>
                  <a:t>一个长为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6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600" dirty="0">
                    <a:latin typeface="+mn-ea"/>
                    <a:cs typeface="Times New Roman" panose="02020603050405020304" pitchFamily="18" charset="0"/>
                  </a:rPr>
                  <a:t>导体匀速在磁场中向右运动</a:t>
                </a:r>
                <a:endParaRPr lang="en-US" sz="2600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62FD91E9-51B7-4FF1-AA17-E713B71E9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19" y="1319784"/>
                <a:ext cx="4647086" cy="892552"/>
              </a:xfrm>
              <a:prstGeom prst="rect">
                <a:avLst/>
              </a:prstGeom>
              <a:blipFill>
                <a:blip r:embed="rId20"/>
                <a:stretch>
                  <a:fillRect l="-2362" t="-6849" b="-16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8">
            <a:extLst>
              <a:ext uri="{FF2B5EF4-FFF2-40B4-BE49-F238E27FC236}">
                <a16:creationId xmlns:a16="http://schemas.microsoft.com/office/drawing/2014/main" id="{7D2517D1-12EE-0EDF-2ED2-47FC2016190B}"/>
              </a:ext>
            </a:extLst>
          </p:cNvPr>
          <p:cNvSpPr/>
          <p:nvPr/>
        </p:nvSpPr>
        <p:spPr>
          <a:xfrm>
            <a:off x="975888" y="574184"/>
            <a:ext cx="307007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动生电动势 </a:t>
            </a:r>
            <a:endParaRPr lang="en-US" sz="36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204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2" grpId="0"/>
      <p:bldP spid="76" grpId="0" animBg="1"/>
      <p:bldP spid="9" grpId="0"/>
      <p:bldP spid="10" grpId="0"/>
      <p:bldP spid="78" grpId="0"/>
      <p:bldP spid="80" grpId="0"/>
      <p:bldP spid="13" grpId="0"/>
      <p:bldP spid="92" grpId="0" animBg="1"/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23">
            <a:extLst>
              <a:ext uri="{FF2B5EF4-FFF2-40B4-BE49-F238E27FC236}">
                <a16:creationId xmlns:a16="http://schemas.microsoft.com/office/drawing/2014/main" id="{7B5E4732-C69C-4D60-837E-F485E79C7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419" y="3337317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endParaRPr kumimoji="1" lang="en-US" altLang="zh-CN" sz="28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6" name="Rectangle 24">
            <a:extLst>
              <a:ext uri="{FF2B5EF4-FFF2-40B4-BE49-F238E27FC236}">
                <a16:creationId xmlns:a16="http://schemas.microsoft.com/office/drawing/2014/main" id="{F609A8D2-697F-4126-9A60-1FD3CE261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6069" y="4791522"/>
            <a:ext cx="507786" cy="63825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7" name="Rectangle 25">
            <a:extLst>
              <a:ext uri="{FF2B5EF4-FFF2-40B4-BE49-F238E27FC236}">
                <a16:creationId xmlns:a16="http://schemas.microsoft.com/office/drawing/2014/main" id="{4715E0DA-0303-4D6E-B4AF-DBF04554D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4615" y="4688168"/>
            <a:ext cx="254830" cy="42610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8" name="Rectangle 28">
            <a:extLst>
              <a:ext uri="{FF2B5EF4-FFF2-40B4-BE49-F238E27FC236}">
                <a16:creationId xmlns:a16="http://schemas.microsoft.com/office/drawing/2014/main" id="{5FF7DC70-03BE-47A8-88B7-BCED8A2A1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0568" y="4546736"/>
            <a:ext cx="1019320" cy="106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" name="Line 30">
            <a:extLst>
              <a:ext uri="{FF2B5EF4-FFF2-40B4-BE49-F238E27FC236}">
                <a16:creationId xmlns:a16="http://schemas.microsoft.com/office/drawing/2014/main" id="{D7CB72D9-D9C8-40FA-9705-CF9A933D8C6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887" y="2597522"/>
            <a:ext cx="382619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" name="Line 31">
            <a:extLst>
              <a:ext uri="{FF2B5EF4-FFF2-40B4-BE49-F238E27FC236}">
                <a16:creationId xmlns:a16="http://schemas.microsoft.com/office/drawing/2014/main" id="{E73BE306-0297-4AEC-BCD6-4389FA11526F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887" y="2597522"/>
            <a:ext cx="0" cy="287939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4" name="Line 32">
            <a:extLst>
              <a:ext uri="{FF2B5EF4-FFF2-40B4-BE49-F238E27FC236}">
                <a16:creationId xmlns:a16="http://schemas.microsoft.com/office/drawing/2014/main" id="{2EADAD08-131F-4A18-9757-E4E21F07A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887" y="5476920"/>
            <a:ext cx="374000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5" name="Group 33">
            <a:extLst>
              <a:ext uri="{FF2B5EF4-FFF2-40B4-BE49-F238E27FC236}">
                <a16:creationId xmlns:a16="http://schemas.microsoft.com/office/drawing/2014/main" id="{B44629CD-7C4B-4BA2-94AD-74B6C7F5BCB4}"/>
              </a:ext>
            </a:extLst>
          </p:cNvPr>
          <p:cNvGrpSpPr>
            <a:grpSpLocks/>
          </p:cNvGrpSpPr>
          <p:nvPr/>
        </p:nvGrpSpPr>
        <p:grpSpPr bwMode="auto">
          <a:xfrm>
            <a:off x="1378420" y="3058080"/>
            <a:ext cx="168638" cy="739795"/>
            <a:chOff x="3470" y="3158"/>
            <a:chExt cx="90" cy="408"/>
          </a:xfrm>
        </p:grpSpPr>
        <p:grpSp>
          <p:nvGrpSpPr>
            <p:cNvPr id="96" name="Group 34">
              <a:extLst>
                <a:ext uri="{FF2B5EF4-FFF2-40B4-BE49-F238E27FC236}">
                  <a16:creationId xmlns:a16="http://schemas.microsoft.com/office/drawing/2014/main" id="{402FBFB8-8B67-4E0F-9E7A-44F169954F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158"/>
              <a:ext cx="90" cy="91"/>
              <a:chOff x="3470" y="3158"/>
              <a:chExt cx="90" cy="91"/>
            </a:xfrm>
          </p:grpSpPr>
          <p:sp>
            <p:nvSpPr>
              <p:cNvPr id="100" name="Line 35">
                <a:extLst>
                  <a:ext uri="{FF2B5EF4-FFF2-40B4-BE49-F238E27FC236}">
                    <a16:creationId xmlns:a16="http://schemas.microsoft.com/office/drawing/2014/main" id="{9561044D-098A-4543-A184-624328C0F9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1" name="Line 36">
                <a:extLst>
                  <a:ext uri="{FF2B5EF4-FFF2-40B4-BE49-F238E27FC236}">
                    <a16:creationId xmlns:a16="http://schemas.microsoft.com/office/drawing/2014/main" id="{CE0DA8B0-C3DF-4D56-B4FD-6037C6188F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7" name="Group 37">
              <a:extLst>
                <a:ext uri="{FF2B5EF4-FFF2-40B4-BE49-F238E27FC236}">
                  <a16:creationId xmlns:a16="http://schemas.microsoft.com/office/drawing/2014/main" id="{295BFA0B-3738-440E-A95A-926C122D5E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475"/>
              <a:ext cx="90" cy="91"/>
              <a:chOff x="3470" y="3158"/>
              <a:chExt cx="90" cy="91"/>
            </a:xfrm>
          </p:grpSpPr>
          <p:sp>
            <p:nvSpPr>
              <p:cNvPr id="98" name="Line 38">
                <a:extLst>
                  <a:ext uri="{FF2B5EF4-FFF2-40B4-BE49-F238E27FC236}">
                    <a16:creationId xmlns:a16="http://schemas.microsoft.com/office/drawing/2014/main" id="{13D954B1-5B39-4C0F-AC9F-94A627ED95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9" name="Line 39">
                <a:extLst>
                  <a:ext uri="{FF2B5EF4-FFF2-40B4-BE49-F238E27FC236}">
                    <a16:creationId xmlns:a16="http://schemas.microsoft.com/office/drawing/2014/main" id="{06490946-FB34-4621-A28C-6AE0D9007E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02" name="Group 40">
            <a:extLst>
              <a:ext uri="{FF2B5EF4-FFF2-40B4-BE49-F238E27FC236}">
                <a16:creationId xmlns:a16="http://schemas.microsoft.com/office/drawing/2014/main" id="{E1DE6537-AD0D-454B-9471-C56944145A6C}"/>
              </a:ext>
            </a:extLst>
          </p:cNvPr>
          <p:cNvGrpSpPr>
            <a:grpSpLocks/>
          </p:cNvGrpSpPr>
          <p:nvPr/>
        </p:nvGrpSpPr>
        <p:grpSpPr bwMode="auto">
          <a:xfrm>
            <a:off x="1378420" y="4291072"/>
            <a:ext cx="168638" cy="739795"/>
            <a:chOff x="3470" y="3158"/>
            <a:chExt cx="90" cy="408"/>
          </a:xfrm>
        </p:grpSpPr>
        <p:grpSp>
          <p:nvGrpSpPr>
            <p:cNvPr id="103" name="Group 41">
              <a:extLst>
                <a:ext uri="{FF2B5EF4-FFF2-40B4-BE49-F238E27FC236}">
                  <a16:creationId xmlns:a16="http://schemas.microsoft.com/office/drawing/2014/main" id="{D3018099-8D11-4D66-9B38-5CBC788D85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158"/>
              <a:ext cx="90" cy="91"/>
              <a:chOff x="3470" y="3158"/>
              <a:chExt cx="90" cy="91"/>
            </a:xfrm>
          </p:grpSpPr>
          <p:sp>
            <p:nvSpPr>
              <p:cNvPr id="107" name="Line 42">
                <a:extLst>
                  <a:ext uri="{FF2B5EF4-FFF2-40B4-BE49-F238E27FC236}">
                    <a16:creationId xmlns:a16="http://schemas.microsoft.com/office/drawing/2014/main" id="{A5EFC0E6-4C34-435C-8F16-D2D018504E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" name="Line 43">
                <a:extLst>
                  <a:ext uri="{FF2B5EF4-FFF2-40B4-BE49-F238E27FC236}">
                    <a16:creationId xmlns:a16="http://schemas.microsoft.com/office/drawing/2014/main" id="{1E050FC1-47A0-476B-867F-8BFD777FE1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4" name="Group 44">
              <a:extLst>
                <a:ext uri="{FF2B5EF4-FFF2-40B4-BE49-F238E27FC236}">
                  <a16:creationId xmlns:a16="http://schemas.microsoft.com/office/drawing/2014/main" id="{74343CB2-5E51-4E73-9EF6-AA73CA54AA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475"/>
              <a:ext cx="90" cy="91"/>
              <a:chOff x="3470" y="3158"/>
              <a:chExt cx="90" cy="91"/>
            </a:xfrm>
          </p:grpSpPr>
          <p:sp>
            <p:nvSpPr>
              <p:cNvPr id="105" name="Line 45">
                <a:extLst>
                  <a:ext uri="{FF2B5EF4-FFF2-40B4-BE49-F238E27FC236}">
                    <a16:creationId xmlns:a16="http://schemas.microsoft.com/office/drawing/2014/main" id="{F1B235C8-D515-4F8C-8727-27D99FB3C8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6" name="Line 46">
                <a:extLst>
                  <a:ext uri="{FF2B5EF4-FFF2-40B4-BE49-F238E27FC236}">
                    <a16:creationId xmlns:a16="http://schemas.microsoft.com/office/drawing/2014/main" id="{63FD1C95-A553-4932-B428-75F5862CB7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09" name="Group 47">
            <a:extLst>
              <a:ext uri="{FF2B5EF4-FFF2-40B4-BE49-F238E27FC236}">
                <a16:creationId xmlns:a16="http://schemas.microsoft.com/office/drawing/2014/main" id="{672BFDC4-B875-4FC0-998A-919A34160997}"/>
              </a:ext>
            </a:extLst>
          </p:cNvPr>
          <p:cNvGrpSpPr>
            <a:grpSpLocks/>
          </p:cNvGrpSpPr>
          <p:nvPr/>
        </p:nvGrpSpPr>
        <p:grpSpPr bwMode="auto">
          <a:xfrm>
            <a:off x="2482059" y="3009123"/>
            <a:ext cx="168638" cy="739795"/>
            <a:chOff x="3470" y="3158"/>
            <a:chExt cx="90" cy="408"/>
          </a:xfrm>
        </p:grpSpPr>
        <p:grpSp>
          <p:nvGrpSpPr>
            <p:cNvPr id="110" name="Group 48">
              <a:extLst>
                <a:ext uri="{FF2B5EF4-FFF2-40B4-BE49-F238E27FC236}">
                  <a16:creationId xmlns:a16="http://schemas.microsoft.com/office/drawing/2014/main" id="{CDB2AB8F-2E62-4E58-90DD-52682F0A12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158"/>
              <a:ext cx="90" cy="91"/>
              <a:chOff x="3470" y="3158"/>
              <a:chExt cx="90" cy="91"/>
            </a:xfrm>
          </p:grpSpPr>
          <p:sp>
            <p:nvSpPr>
              <p:cNvPr id="114" name="Line 49">
                <a:extLst>
                  <a:ext uri="{FF2B5EF4-FFF2-40B4-BE49-F238E27FC236}">
                    <a16:creationId xmlns:a16="http://schemas.microsoft.com/office/drawing/2014/main" id="{B074816A-962F-4A85-B8B3-5D83A27E29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" name="Line 50">
                <a:extLst>
                  <a:ext uri="{FF2B5EF4-FFF2-40B4-BE49-F238E27FC236}">
                    <a16:creationId xmlns:a16="http://schemas.microsoft.com/office/drawing/2014/main" id="{8ACEC353-F17C-4F51-9009-9CACBBB736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1" name="Group 51">
              <a:extLst>
                <a:ext uri="{FF2B5EF4-FFF2-40B4-BE49-F238E27FC236}">
                  <a16:creationId xmlns:a16="http://schemas.microsoft.com/office/drawing/2014/main" id="{8F724993-A154-45BE-AD6D-8E6B7BEDA0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475"/>
              <a:ext cx="90" cy="91"/>
              <a:chOff x="3470" y="3158"/>
              <a:chExt cx="90" cy="91"/>
            </a:xfrm>
          </p:grpSpPr>
          <p:sp>
            <p:nvSpPr>
              <p:cNvPr id="112" name="Line 52">
                <a:extLst>
                  <a:ext uri="{FF2B5EF4-FFF2-40B4-BE49-F238E27FC236}">
                    <a16:creationId xmlns:a16="http://schemas.microsoft.com/office/drawing/2014/main" id="{33B5A792-38BD-4211-BCE0-600AB4B724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" name="Line 53">
                <a:extLst>
                  <a:ext uri="{FF2B5EF4-FFF2-40B4-BE49-F238E27FC236}">
                    <a16:creationId xmlns:a16="http://schemas.microsoft.com/office/drawing/2014/main" id="{9AF5A175-F145-494D-8504-B656CF50C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16" name="Group 55">
            <a:extLst>
              <a:ext uri="{FF2B5EF4-FFF2-40B4-BE49-F238E27FC236}">
                <a16:creationId xmlns:a16="http://schemas.microsoft.com/office/drawing/2014/main" id="{588AF079-4308-4F57-B84C-510096528F70}"/>
              </a:ext>
            </a:extLst>
          </p:cNvPr>
          <p:cNvGrpSpPr>
            <a:grpSpLocks/>
          </p:cNvGrpSpPr>
          <p:nvPr/>
        </p:nvGrpSpPr>
        <p:grpSpPr bwMode="auto">
          <a:xfrm>
            <a:off x="2482059" y="4242105"/>
            <a:ext cx="168638" cy="165003"/>
            <a:chOff x="3470" y="3158"/>
            <a:chExt cx="90" cy="91"/>
          </a:xfrm>
        </p:grpSpPr>
        <p:sp>
          <p:nvSpPr>
            <p:cNvPr id="117" name="Line 56">
              <a:extLst>
                <a:ext uri="{FF2B5EF4-FFF2-40B4-BE49-F238E27FC236}">
                  <a16:creationId xmlns:a16="http://schemas.microsoft.com/office/drawing/2014/main" id="{B333AC8D-084A-44D1-A979-B1E4D62580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" y="3158"/>
              <a:ext cx="9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8" name="Line 57">
              <a:extLst>
                <a:ext uri="{FF2B5EF4-FFF2-40B4-BE49-F238E27FC236}">
                  <a16:creationId xmlns:a16="http://schemas.microsoft.com/office/drawing/2014/main" id="{1F288037-2F26-47F2-B63B-34FE19FA3C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3158"/>
              <a:ext cx="9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9" name="Group 61">
            <a:extLst>
              <a:ext uri="{FF2B5EF4-FFF2-40B4-BE49-F238E27FC236}">
                <a16:creationId xmlns:a16="http://schemas.microsoft.com/office/drawing/2014/main" id="{BA349E1F-7B8C-4DFD-9D07-DEF6CFB63DA1}"/>
              </a:ext>
            </a:extLst>
          </p:cNvPr>
          <p:cNvGrpSpPr>
            <a:grpSpLocks/>
          </p:cNvGrpSpPr>
          <p:nvPr/>
        </p:nvGrpSpPr>
        <p:grpSpPr bwMode="auto">
          <a:xfrm>
            <a:off x="4267743" y="3009123"/>
            <a:ext cx="168638" cy="739795"/>
            <a:chOff x="3470" y="3158"/>
            <a:chExt cx="90" cy="408"/>
          </a:xfrm>
        </p:grpSpPr>
        <p:grpSp>
          <p:nvGrpSpPr>
            <p:cNvPr id="120" name="Group 62">
              <a:extLst>
                <a:ext uri="{FF2B5EF4-FFF2-40B4-BE49-F238E27FC236}">
                  <a16:creationId xmlns:a16="http://schemas.microsoft.com/office/drawing/2014/main" id="{BD8766E0-CCCB-4ABB-9233-16A47A8701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158"/>
              <a:ext cx="90" cy="91"/>
              <a:chOff x="3470" y="3158"/>
              <a:chExt cx="90" cy="91"/>
            </a:xfrm>
          </p:grpSpPr>
          <p:sp>
            <p:nvSpPr>
              <p:cNvPr id="124" name="Line 63">
                <a:extLst>
                  <a:ext uri="{FF2B5EF4-FFF2-40B4-BE49-F238E27FC236}">
                    <a16:creationId xmlns:a16="http://schemas.microsoft.com/office/drawing/2014/main" id="{6FFA6483-B3EF-4A59-8EAF-2961A15B7F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" name="Line 64">
                <a:extLst>
                  <a:ext uri="{FF2B5EF4-FFF2-40B4-BE49-F238E27FC236}">
                    <a16:creationId xmlns:a16="http://schemas.microsoft.com/office/drawing/2014/main" id="{5115B071-B768-4F7A-85F7-8EF22D2D2A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1" name="Group 65">
              <a:extLst>
                <a:ext uri="{FF2B5EF4-FFF2-40B4-BE49-F238E27FC236}">
                  <a16:creationId xmlns:a16="http://schemas.microsoft.com/office/drawing/2014/main" id="{68913245-6A6D-4C7B-85BD-073367E1C8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475"/>
              <a:ext cx="90" cy="91"/>
              <a:chOff x="3470" y="3158"/>
              <a:chExt cx="90" cy="91"/>
            </a:xfrm>
          </p:grpSpPr>
          <p:sp>
            <p:nvSpPr>
              <p:cNvPr id="122" name="Line 66">
                <a:extLst>
                  <a:ext uri="{FF2B5EF4-FFF2-40B4-BE49-F238E27FC236}">
                    <a16:creationId xmlns:a16="http://schemas.microsoft.com/office/drawing/2014/main" id="{CA03F53E-F39A-4001-9C1D-33D3542602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3" name="Line 67">
                <a:extLst>
                  <a:ext uri="{FF2B5EF4-FFF2-40B4-BE49-F238E27FC236}">
                    <a16:creationId xmlns:a16="http://schemas.microsoft.com/office/drawing/2014/main" id="{9B53B335-F576-4434-BA72-7D42EB4604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26" name="Group 68">
            <a:extLst>
              <a:ext uri="{FF2B5EF4-FFF2-40B4-BE49-F238E27FC236}">
                <a16:creationId xmlns:a16="http://schemas.microsoft.com/office/drawing/2014/main" id="{C540A970-2FD5-42A0-AECC-B7D016284A90}"/>
              </a:ext>
            </a:extLst>
          </p:cNvPr>
          <p:cNvGrpSpPr>
            <a:grpSpLocks/>
          </p:cNvGrpSpPr>
          <p:nvPr/>
        </p:nvGrpSpPr>
        <p:grpSpPr bwMode="auto">
          <a:xfrm>
            <a:off x="4267743" y="4242115"/>
            <a:ext cx="168638" cy="739795"/>
            <a:chOff x="3470" y="3158"/>
            <a:chExt cx="90" cy="408"/>
          </a:xfrm>
        </p:grpSpPr>
        <p:grpSp>
          <p:nvGrpSpPr>
            <p:cNvPr id="127" name="Group 69">
              <a:extLst>
                <a:ext uri="{FF2B5EF4-FFF2-40B4-BE49-F238E27FC236}">
                  <a16:creationId xmlns:a16="http://schemas.microsoft.com/office/drawing/2014/main" id="{91E809FD-7FF4-40C0-A3FB-0F28BED1D5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158"/>
              <a:ext cx="90" cy="91"/>
              <a:chOff x="3470" y="3158"/>
              <a:chExt cx="90" cy="91"/>
            </a:xfrm>
          </p:grpSpPr>
          <p:sp>
            <p:nvSpPr>
              <p:cNvPr id="131" name="Line 70">
                <a:extLst>
                  <a:ext uri="{FF2B5EF4-FFF2-40B4-BE49-F238E27FC236}">
                    <a16:creationId xmlns:a16="http://schemas.microsoft.com/office/drawing/2014/main" id="{14547036-78F2-4C42-AF38-37A91405B7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2" name="Line 71">
                <a:extLst>
                  <a:ext uri="{FF2B5EF4-FFF2-40B4-BE49-F238E27FC236}">
                    <a16:creationId xmlns:a16="http://schemas.microsoft.com/office/drawing/2014/main" id="{7D181B57-054D-45B7-96FC-95CB3F74F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8" name="Group 72">
              <a:extLst>
                <a:ext uri="{FF2B5EF4-FFF2-40B4-BE49-F238E27FC236}">
                  <a16:creationId xmlns:a16="http://schemas.microsoft.com/office/drawing/2014/main" id="{E8D80D87-788D-436C-8C04-FBC3C1D832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475"/>
              <a:ext cx="90" cy="91"/>
              <a:chOff x="3470" y="3158"/>
              <a:chExt cx="90" cy="91"/>
            </a:xfrm>
          </p:grpSpPr>
          <p:sp>
            <p:nvSpPr>
              <p:cNvPr id="129" name="Line 73">
                <a:extLst>
                  <a:ext uri="{FF2B5EF4-FFF2-40B4-BE49-F238E27FC236}">
                    <a16:creationId xmlns:a16="http://schemas.microsoft.com/office/drawing/2014/main" id="{A12038E8-3E03-4AC2-84E9-740313435B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0" name="Line 74">
                <a:extLst>
                  <a:ext uri="{FF2B5EF4-FFF2-40B4-BE49-F238E27FC236}">
                    <a16:creationId xmlns:a16="http://schemas.microsoft.com/office/drawing/2014/main" id="{2B760EA4-5CF0-40EA-B076-C880AE8F3D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33" name="AutoShape 75">
            <a:extLst>
              <a:ext uri="{FF2B5EF4-FFF2-40B4-BE49-F238E27FC236}">
                <a16:creationId xmlns:a16="http://schemas.microsoft.com/office/drawing/2014/main" id="{C4390590-E989-4371-8E24-6FB11AFB9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9781" y="2408040"/>
            <a:ext cx="556339" cy="325836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4" name="Line 76">
            <a:extLst>
              <a:ext uri="{FF2B5EF4-FFF2-40B4-BE49-F238E27FC236}">
                <a16:creationId xmlns:a16="http://schemas.microsoft.com/office/drawing/2014/main" id="{D8164FD2-DDC6-4C32-A8A5-995A7E890E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40540" y="3993703"/>
            <a:ext cx="833161" cy="97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Object 78">
                <a:extLst>
                  <a:ext uri="{FF2B5EF4-FFF2-40B4-BE49-F238E27FC236}">
                    <a16:creationId xmlns:a16="http://schemas.microsoft.com/office/drawing/2014/main" id="{2ADD874F-B92E-4431-9B59-DE460EE67F5E}"/>
                  </a:ext>
                </a:extLst>
              </p:cNvPr>
              <p:cNvSpPr txBox="1"/>
              <p:nvPr/>
            </p:nvSpPr>
            <p:spPr bwMode="auto">
              <a:xfrm>
                <a:off x="4773701" y="3686019"/>
                <a:ext cx="460943" cy="6255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5" name="Object 78">
                <a:extLst>
                  <a:ext uri="{FF2B5EF4-FFF2-40B4-BE49-F238E27FC236}">
                    <a16:creationId xmlns:a16="http://schemas.microsoft.com/office/drawing/2014/main" id="{2ADD874F-B92E-4431-9B59-DE460EE67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73701" y="3686019"/>
                <a:ext cx="460943" cy="625562"/>
              </a:xfrm>
              <a:prstGeom prst="rect">
                <a:avLst/>
              </a:prstGeom>
              <a:blipFill>
                <a:blip r:embed="rId2"/>
                <a:stretch>
                  <a:fillRect t="-12745" r="-1710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Line 79">
            <a:extLst>
              <a:ext uri="{FF2B5EF4-FFF2-40B4-BE49-F238E27FC236}">
                <a16:creationId xmlns:a16="http://schemas.microsoft.com/office/drawing/2014/main" id="{E61B1258-76F6-401A-8907-4D2BCDFA75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6887" y="3420725"/>
            <a:ext cx="0" cy="739795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Object 80">
                <a:extLst>
                  <a:ext uri="{FF2B5EF4-FFF2-40B4-BE49-F238E27FC236}">
                    <a16:creationId xmlns:a16="http://schemas.microsoft.com/office/drawing/2014/main" id="{94EF2F7B-DF8D-41BD-A9B1-1B4A21F70CF3}"/>
                  </a:ext>
                </a:extLst>
              </p:cNvPr>
              <p:cNvSpPr txBox="1"/>
              <p:nvPr/>
            </p:nvSpPr>
            <p:spPr bwMode="auto">
              <a:xfrm>
                <a:off x="1633250" y="2762525"/>
                <a:ext cx="599600" cy="7144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7" name="Object 80">
                <a:extLst>
                  <a:ext uri="{FF2B5EF4-FFF2-40B4-BE49-F238E27FC236}">
                    <a16:creationId xmlns:a16="http://schemas.microsoft.com/office/drawing/2014/main" id="{94EF2F7B-DF8D-41BD-A9B1-1B4A21F70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3250" y="2762525"/>
                <a:ext cx="599600" cy="7144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2" name="Group 55">
            <a:extLst>
              <a:ext uri="{FF2B5EF4-FFF2-40B4-BE49-F238E27FC236}">
                <a16:creationId xmlns:a16="http://schemas.microsoft.com/office/drawing/2014/main" id="{588AF079-4308-4F57-B84C-510096528F70}"/>
              </a:ext>
            </a:extLst>
          </p:cNvPr>
          <p:cNvGrpSpPr>
            <a:grpSpLocks/>
          </p:cNvGrpSpPr>
          <p:nvPr/>
        </p:nvGrpSpPr>
        <p:grpSpPr bwMode="auto">
          <a:xfrm>
            <a:off x="2491919" y="4873398"/>
            <a:ext cx="168638" cy="165003"/>
            <a:chOff x="3470" y="3158"/>
            <a:chExt cx="90" cy="91"/>
          </a:xfrm>
        </p:grpSpPr>
        <p:sp>
          <p:nvSpPr>
            <p:cNvPr id="143" name="Line 56">
              <a:extLst>
                <a:ext uri="{FF2B5EF4-FFF2-40B4-BE49-F238E27FC236}">
                  <a16:creationId xmlns:a16="http://schemas.microsoft.com/office/drawing/2014/main" id="{B333AC8D-084A-44D1-A979-B1E4D62580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" y="3158"/>
              <a:ext cx="9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4" name="Line 57">
              <a:extLst>
                <a:ext uri="{FF2B5EF4-FFF2-40B4-BE49-F238E27FC236}">
                  <a16:creationId xmlns:a16="http://schemas.microsoft.com/office/drawing/2014/main" id="{1F288037-2F26-47F2-B63B-34FE19FA3C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3158"/>
              <a:ext cx="9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50" name="Rectangle 13"/>
          <p:cNvSpPr>
            <a:spLocks noChangeArrowheads="1"/>
          </p:cNvSpPr>
          <p:nvPr/>
        </p:nvSpPr>
        <p:spPr bwMode="auto">
          <a:xfrm>
            <a:off x="3394274" y="1822306"/>
            <a:ext cx="20518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32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endParaRPr kumimoji="1" lang="en-US" altLang="zh-CN" sz="32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0" name="Rectangle 27"/>
          <p:cNvSpPr>
            <a:spLocks noChangeArrowheads="1"/>
          </p:cNvSpPr>
          <p:nvPr/>
        </p:nvSpPr>
        <p:spPr bwMode="auto">
          <a:xfrm>
            <a:off x="3426555" y="5724155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endParaRPr kumimoji="1" lang="en-US" altLang="zh-CN" sz="28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6426457" y="1053053"/>
                <a:ext cx="2020745" cy="5539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altLang="zh-CN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𝐵𝑙𝑣</m:t>
                      </m:r>
                    </m:oMath>
                  </m:oMathPara>
                </a14:m>
                <a:endParaRPr lang="en-US" sz="3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457" y="1053053"/>
                <a:ext cx="2020745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椭圆 73"/>
          <p:cNvSpPr/>
          <p:nvPr/>
        </p:nvSpPr>
        <p:spPr>
          <a:xfrm>
            <a:off x="3440815" y="3849921"/>
            <a:ext cx="298392" cy="327556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3497965" y="4013699"/>
            <a:ext cx="15902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Line 79">
            <a:extLst>
              <a:ext uri="{FF2B5EF4-FFF2-40B4-BE49-F238E27FC236}">
                <a16:creationId xmlns:a16="http://schemas.microsoft.com/office/drawing/2014/main" id="{E61B1258-76F6-401A-8907-4D2BCDFA7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9445" y="4168201"/>
            <a:ext cx="0" cy="592261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394570" y="4754946"/>
                <a:ext cx="532518" cy="4029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acc>
                      <m:r>
                        <a:rPr lang="en-US" altLang="zh-CN" b="1" i="1" baseline="-250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570" y="4754946"/>
                <a:ext cx="532518" cy="4029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/>
          <p:cNvSpPr/>
          <p:nvPr/>
        </p:nvSpPr>
        <p:spPr>
          <a:xfrm>
            <a:off x="8621792" y="1107553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非静电力是洛伦兹力！！</a:t>
            </a:r>
            <a:endParaRPr 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28242" y="1911806"/>
            <a:ext cx="215053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电功率： </a:t>
            </a:r>
            <a:endParaRPr lang="en-US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8959032" y="1961730"/>
                <a:ext cx="918072" cy="400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600" i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600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9032" y="1961730"/>
                <a:ext cx="918072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729552" y="3358303"/>
            <a:ext cx="304800" cy="8830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华文楷体" panose="0201060004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04666" y="3252450"/>
            <a:ext cx="321476" cy="4924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600" dirty="0">
                <a:latin typeface="华文楷体" panose="02010600040101010101" pitchFamily="2" charset="-122"/>
                <a:ea typeface="华文楷体" panose="02010600040101010101" pitchFamily="2" charset="-122"/>
              </a:rPr>
              <a:t>R</a:t>
            </a:r>
            <a:endParaRPr lang="en-US" sz="2600" dirty="0">
              <a:latin typeface="华文楷体" panose="0201060004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731672" y="2545957"/>
            <a:ext cx="49106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洛伦兹力不做功，电能从何而来？</a:t>
            </a:r>
            <a:endParaRPr lang="en-US" sz="2600" dirty="0">
              <a:solidFill>
                <a:srgbClr val="0000FF"/>
              </a:solidFill>
              <a:latin typeface="华文楷体" panose="02010600040101010101" pitchFamily="2" charset="-122"/>
            </a:endParaRPr>
          </a:p>
        </p:txBody>
      </p:sp>
      <p:sp>
        <p:nvSpPr>
          <p:cNvPr id="152" name="Line 76">
            <a:extLst>
              <a:ext uri="{FF2B5EF4-FFF2-40B4-BE49-F238E27FC236}">
                <a16:creationId xmlns:a16="http://schemas.microsoft.com/office/drawing/2014/main" id="{D8164FD2-DDC6-4C32-A8A5-995A7E890EEF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3082901" y="4436013"/>
            <a:ext cx="632208" cy="5659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4" name="Line 79">
            <a:extLst>
              <a:ext uri="{FF2B5EF4-FFF2-40B4-BE49-F238E27FC236}">
                <a16:creationId xmlns:a16="http://schemas.microsoft.com/office/drawing/2014/main" id="{E61B1258-76F6-401A-8907-4D2BCDFA75F9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044387" y="3754491"/>
            <a:ext cx="0" cy="592261"/>
          </a:xfrm>
          <a:prstGeom prst="line">
            <a:avLst/>
          </a:prstGeom>
          <a:noFill/>
          <a:ln w="50800">
            <a:solidFill>
              <a:srgbClr val="FF0000"/>
            </a:solidFill>
            <a:prstDash val="sysDash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9">
                <a:extLst>
                  <a:ext uri="{FF2B5EF4-FFF2-40B4-BE49-F238E27FC236}">
                    <a16:creationId xmlns:a16="http://schemas.microsoft.com/office/drawing/2014/main" id="{18A2B2F4-D536-4191-A9A0-77913777C63E}"/>
                  </a:ext>
                </a:extLst>
              </p:cNvPr>
              <p:cNvSpPr/>
              <p:nvPr/>
            </p:nvSpPr>
            <p:spPr>
              <a:xfrm>
                <a:off x="2705112" y="4254609"/>
                <a:ext cx="554895" cy="4029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</m:acc>
                        </m:e>
                        <m:sub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9">
                <a:extLst>
                  <a:ext uri="{FF2B5EF4-FFF2-40B4-BE49-F238E27FC236}">
                    <a16:creationId xmlns:a16="http://schemas.microsoft.com/office/drawing/2014/main" id="{18A2B2F4-D536-4191-A9A0-77913777C6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112" y="4254609"/>
                <a:ext cx="554895" cy="4029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D85EEE1-7D1B-4CC0-A832-C33303F46640}"/>
                  </a:ext>
                </a:extLst>
              </p:cNvPr>
              <p:cNvSpPr txBox="1"/>
              <p:nvPr/>
            </p:nvSpPr>
            <p:spPr>
              <a:xfrm>
                <a:off x="2962231" y="4665172"/>
                <a:ext cx="32220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acc>
                    </m:oMath>
                  </m:oMathPara>
                </a14:m>
                <a:endParaRPr lang="en-US" sz="2800" b="1" dirty="0">
                  <a:solidFill>
                    <a:srgbClr val="0000FF"/>
                  </a:solidFill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D85EEE1-7D1B-4CC0-A832-C33303F46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231" y="4665172"/>
                <a:ext cx="322204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6514B5-0041-46EA-89AF-037929BC7F58}"/>
                  </a:ext>
                </a:extLst>
              </p:cNvPr>
              <p:cNvSpPr txBox="1"/>
              <p:nvPr/>
            </p:nvSpPr>
            <p:spPr>
              <a:xfrm>
                <a:off x="6587019" y="3201184"/>
                <a:ext cx="2105509" cy="4487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altLang="zh-CN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</m:acc>
                          <m:r>
                            <a:rPr lang="en-US" altLang="zh-CN" sz="2600" b="1" i="1" baseline="-25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6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altLang="zh-CN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</m:acc>
                        </m:e>
                        <m:sub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  <m:sup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2600" dirty="0"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6514B5-0041-46EA-89AF-037929BC7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019" y="3201184"/>
                <a:ext cx="2105509" cy="44871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92612E2-3F7D-470F-BC7D-A622953CE278}"/>
                  </a:ext>
                </a:extLst>
              </p:cNvPr>
              <p:cNvSpPr txBox="1"/>
              <p:nvPr/>
            </p:nvSpPr>
            <p:spPr>
              <a:xfrm>
                <a:off x="8591720" y="3161058"/>
                <a:ext cx="2570768" cy="4487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𝒆</m:t>
                      </m:r>
                      <m:r>
                        <a:rPr lang="en-US" altLang="zh-CN" sz="2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n-US" altLang="zh-CN" sz="2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  <m:r>
                        <a:rPr lang="en-US" altLang="zh-CN" sz="2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zh-CN" sz="2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acc>
                      <m:r>
                        <a:rPr lang="en-US" sz="2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sz="2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</m:oMath>
                  </m:oMathPara>
                </a14:m>
                <a:endParaRPr lang="en-US" sz="2600" b="1" dirty="0">
                  <a:solidFill>
                    <a:schemeClr val="tx1"/>
                  </a:solidFill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92612E2-3F7D-470F-BC7D-A622953CE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720" y="3161058"/>
                <a:ext cx="2570768" cy="44871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163C7E-12FF-444F-A056-661578301D09}"/>
                  </a:ext>
                </a:extLst>
              </p:cNvPr>
              <p:cNvSpPr txBox="1"/>
              <p:nvPr/>
            </p:nvSpPr>
            <p:spPr>
              <a:xfrm>
                <a:off x="6464717" y="3849921"/>
                <a:ext cx="2263825" cy="4487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n-US" sz="2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zh-CN" sz="2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26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6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acc>
                          <m:r>
                            <a:rPr lang="en-US" altLang="zh-CN" sz="2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altLang="zh-CN" sz="26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6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acc>
                        </m:e>
                      </m:d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600" dirty="0"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163C7E-12FF-444F-A056-661578301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717" y="3849921"/>
                <a:ext cx="2263825" cy="44871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BA952F1-3B50-4928-BC6C-047A70612A45}"/>
                  </a:ext>
                </a:extLst>
              </p:cNvPr>
              <p:cNvSpPr txBox="1"/>
              <p:nvPr/>
            </p:nvSpPr>
            <p:spPr>
              <a:xfrm>
                <a:off x="8779110" y="3784217"/>
                <a:ext cx="3047491" cy="541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2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acc>
                      <m:r>
                        <a:rPr lang="en-US" altLang="zh-CN" sz="2600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zh-CN" sz="2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acc>
                      <m:r>
                        <a:rPr lang="en-US" altLang="zh-CN" sz="2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altLang="zh-CN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</m:acc>
                        </m:e>
                        <m:sub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  <m:sup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zh-CN" sz="2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  <m:r>
                        <a:rPr lang="en-US" altLang="zh-CN" sz="2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BA952F1-3B50-4928-BC6C-047A70612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9110" y="3784217"/>
                <a:ext cx="3047491" cy="54104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01B9014-F3A0-4F00-A06D-E57898177CAD}"/>
                  </a:ext>
                </a:extLst>
              </p:cNvPr>
              <p:cNvSpPr txBox="1"/>
              <p:nvPr/>
            </p:nvSpPr>
            <p:spPr>
              <a:xfrm>
                <a:off x="6052144" y="4499709"/>
                <a:ext cx="4343946" cy="4487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altLang="zh-CN" sz="26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</m:acc>
                    <m:r>
                      <a:rPr lang="en-US" altLang="zh-CN" sz="2600" b="1" i="1" baseline="-25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26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6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altLang="zh-CN" sz="26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Sup>
                      <m:sSubSupPr>
                        <m:ctrlPr>
                          <a:rPr lang="en-US" altLang="zh-CN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altLang="zh-CN" sz="2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</m:acc>
                      </m:e>
                      <m:sub>
                        <m:r>
                          <a:rPr lang="en-US" altLang="zh-CN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  <m:sup>
                        <m:r>
                          <a:rPr lang="en-US" altLang="zh-CN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26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6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altLang="zh-CN" sz="26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</m:acc>
                    <m:r>
                      <a:rPr lang="zh-CN" altLang="en-US" sz="2600" b="1" i="1" baseline="-25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外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26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6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endParaRPr lang="en-US" sz="2600" dirty="0"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01B9014-F3A0-4F00-A06D-E57898177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144" y="4499709"/>
                <a:ext cx="4343946" cy="448713"/>
              </a:xfrm>
              <a:prstGeom prst="rect">
                <a:avLst/>
              </a:prstGeom>
              <a:blipFill>
                <a:blip r:embed="rId17"/>
                <a:stretch>
                  <a:fillRect b="-4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7EA189-A024-4A85-AB6B-055242DDBB40}"/>
                  </a:ext>
                </a:extLst>
              </p:cNvPr>
              <p:cNvSpPr txBox="1"/>
              <p:nvPr/>
            </p:nvSpPr>
            <p:spPr>
              <a:xfrm>
                <a:off x="9782747" y="5149657"/>
                <a:ext cx="640560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𝑛𝑆𝑙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600" dirty="0"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7EA189-A024-4A85-AB6B-055242DDB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2747" y="5149657"/>
                <a:ext cx="640560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2D8FA66-A272-48C4-9385-8D5FD3C9992D}"/>
                  </a:ext>
                </a:extLst>
              </p:cNvPr>
              <p:cNvSpPr txBox="1"/>
              <p:nvPr/>
            </p:nvSpPr>
            <p:spPr>
              <a:xfrm>
                <a:off x="5199312" y="5057588"/>
                <a:ext cx="1978949" cy="541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altLang="zh-CN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</m:acc>
                        </m:e>
                        <m:sub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  <m:sup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sz="2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2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𝒆𝒖𝑩</m:t>
                      </m:r>
                    </m:oMath>
                  </m:oMathPara>
                </a14:m>
                <a:endParaRPr lang="en-US" sz="2600" dirty="0"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2D8FA66-A272-48C4-9385-8D5FD3C99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312" y="5057588"/>
                <a:ext cx="1978949" cy="54104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A052305-0CF1-4995-89B5-30706215D071}"/>
              </a:ext>
            </a:extLst>
          </p:cNvPr>
          <p:cNvSpPr txBox="1"/>
          <p:nvPr/>
        </p:nvSpPr>
        <p:spPr>
          <a:xfrm>
            <a:off x="7212359" y="5114275"/>
            <a:ext cx="23267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导体电荷总量：</a:t>
            </a:r>
            <a:endParaRPr lang="en-US" sz="2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DFF919C-8A62-4BC0-A9AE-A76E6D38C858}"/>
              </a:ext>
            </a:extLst>
          </p:cNvPr>
          <p:cNvCxnSpPr>
            <a:cxnSpLocks/>
          </p:cNvCxnSpPr>
          <p:nvPr/>
        </p:nvCxnSpPr>
        <p:spPr>
          <a:xfrm flipV="1">
            <a:off x="9967905" y="4873399"/>
            <a:ext cx="524514" cy="400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A9511C6-AE7A-4A95-A9B8-1FB8D10CE720}"/>
              </a:ext>
            </a:extLst>
          </p:cNvPr>
          <p:cNvSpPr txBox="1"/>
          <p:nvPr/>
        </p:nvSpPr>
        <p:spPr>
          <a:xfrm>
            <a:off x="10406896" y="4715681"/>
            <a:ext cx="198855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dirty="0">
                <a:latin typeface="华文楷体" panose="02010600040101010101" pitchFamily="2" charset="-122"/>
                <a:ea typeface="华文楷体" panose="02010600040101010101" pitchFamily="2" charset="-122"/>
              </a:rPr>
              <a:t>载流子浓度</a:t>
            </a:r>
            <a:endParaRPr lang="en-US" sz="2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154F2C45-AAC4-443A-994E-5E84B876386A}"/>
              </a:ext>
            </a:extLst>
          </p:cNvPr>
          <p:cNvCxnSpPr>
            <a:cxnSpLocks/>
          </p:cNvCxnSpPr>
          <p:nvPr/>
        </p:nvCxnSpPr>
        <p:spPr>
          <a:xfrm>
            <a:off x="10109285" y="5474949"/>
            <a:ext cx="300194" cy="166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2CAE19D-145A-4677-BE10-4BBE11B835B4}"/>
              </a:ext>
            </a:extLst>
          </p:cNvPr>
          <p:cNvSpPr txBox="1"/>
          <p:nvPr/>
        </p:nvSpPr>
        <p:spPr>
          <a:xfrm>
            <a:off x="10365075" y="5281426"/>
            <a:ext cx="18581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导体截面积</a:t>
            </a:r>
            <a:endParaRPr lang="en-US" sz="2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C5C5C6E-76FD-400E-A64C-0E3D9F1A3D39}"/>
                  </a:ext>
                </a:extLst>
              </p:cNvPr>
              <p:cNvSpPr txBox="1"/>
              <p:nvPr/>
            </p:nvSpPr>
            <p:spPr>
              <a:xfrm>
                <a:off x="5381339" y="5714302"/>
                <a:ext cx="1738105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𝑛𝑆𝑙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𝑒𝑢𝐵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600" dirty="0"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C5C5C6E-76FD-400E-A64C-0E3D9F1A3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1339" y="5714302"/>
                <a:ext cx="1738105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202C482F-7975-4FFC-8FBB-67D90E23E677}"/>
              </a:ext>
            </a:extLst>
          </p:cNvPr>
          <p:cNvSpPr txBox="1"/>
          <p:nvPr/>
        </p:nvSpPr>
        <p:spPr>
          <a:xfrm>
            <a:off x="5024387" y="6273056"/>
            <a:ext cx="426421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外力做功转换为对电路做功</a:t>
            </a:r>
            <a:endParaRPr lang="en-US" sz="2600" dirty="0">
              <a:solidFill>
                <a:srgbClr val="FF0000"/>
              </a:solidFill>
              <a:latin typeface="华文楷体" panose="02010600040101010101" pitchFamily="2" charset="-122"/>
            </a:endParaRPr>
          </a:p>
        </p:txBody>
      </p:sp>
      <p:sp>
        <p:nvSpPr>
          <p:cNvPr id="65" name="文本框 13">
            <a:extLst>
              <a:ext uri="{FF2B5EF4-FFF2-40B4-BE49-F238E27FC236}">
                <a16:creationId xmlns:a16="http://schemas.microsoft.com/office/drawing/2014/main" id="{EE993193-3D7A-4D14-AF67-675F959FB4D3}"/>
              </a:ext>
            </a:extLst>
          </p:cNvPr>
          <p:cNvSpPr txBox="1"/>
          <p:nvPr/>
        </p:nvSpPr>
        <p:spPr>
          <a:xfrm>
            <a:off x="9188744" y="6222350"/>
            <a:ext cx="299401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动能         电能</a:t>
            </a:r>
            <a:endParaRPr lang="en-US" sz="26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6" name="左右箭头 14">
            <a:extLst>
              <a:ext uri="{FF2B5EF4-FFF2-40B4-BE49-F238E27FC236}">
                <a16:creationId xmlns:a16="http://schemas.microsoft.com/office/drawing/2014/main" id="{5AA74BC7-A2E3-4DCB-A34D-11820A53FF33}"/>
              </a:ext>
            </a:extLst>
          </p:cNvPr>
          <p:cNvSpPr/>
          <p:nvPr/>
        </p:nvSpPr>
        <p:spPr>
          <a:xfrm>
            <a:off x="9967905" y="6358780"/>
            <a:ext cx="652602" cy="198295"/>
          </a:xfrm>
          <a:prstGeom prst="leftRight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D1903AEA-E698-4D39-8F93-03749D512DAA}"/>
                  </a:ext>
                </a:extLst>
              </p:cNvPr>
              <p:cNvSpPr txBox="1"/>
              <p:nvPr/>
            </p:nvSpPr>
            <p:spPr>
              <a:xfrm>
                <a:off x="4290228" y="4254609"/>
                <a:ext cx="1013660" cy="402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</m:acc>
                      <m:r>
                        <a:rPr lang="zh-CN" altLang="en-US" b="1" i="1" baseline="-250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外</m:t>
                      </m:r>
                    </m:oMath>
                  </m:oMathPara>
                </a14:m>
                <a:endParaRPr lang="en-US" dirty="0"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D1903AEA-E698-4D39-8F93-03749D512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228" y="4254609"/>
                <a:ext cx="1013660" cy="402931"/>
              </a:xfrm>
              <a:prstGeom prst="rect">
                <a:avLst/>
              </a:prstGeom>
              <a:blipFill>
                <a:blip r:embed="rId21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Line 79">
            <a:extLst>
              <a:ext uri="{FF2B5EF4-FFF2-40B4-BE49-F238E27FC236}">
                <a16:creationId xmlns:a16="http://schemas.microsoft.com/office/drawing/2014/main" id="{5A132900-5634-4076-9C21-21A88368EDA0}"/>
              </a:ext>
            </a:extLst>
          </p:cNvPr>
          <p:cNvSpPr>
            <a:spLocks noChangeShapeType="1"/>
          </p:cNvSpPr>
          <p:nvPr/>
        </p:nvSpPr>
        <p:spPr bwMode="auto">
          <a:xfrm rot="5400000" flipH="1" flipV="1">
            <a:off x="4207647" y="3909845"/>
            <a:ext cx="1104" cy="601038"/>
          </a:xfrm>
          <a:prstGeom prst="line">
            <a:avLst/>
          </a:prstGeom>
          <a:noFill/>
          <a:ln w="50800">
            <a:solidFill>
              <a:srgbClr val="FF0000"/>
            </a:solidFill>
            <a:prstDash val="sysDash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7819AD76-0978-4BB3-B638-6A25F057BB8B}"/>
                  </a:ext>
                </a:extLst>
              </p:cNvPr>
              <p:cNvSpPr txBox="1"/>
              <p:nvPr/>
            </p:nvSpPr>
            <p:spPr>
              <a:xfrm>
                <a:off x="6972890" y="5648125"/>
                <a:ext cx="1685890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𝑛𝑒𝑢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𝑣𝐵𝑙</m:t>
                      </m:r>
                    </m:oMath>
                  </m:oMathPara>
                </a14:m>
                <a:endParaRPr lang="en-US" sz="2600" dirty="0"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7819AD76-0978-4BB3-B638-6A25F057B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2890" y="5648125"/>
                <a:ext cx="1685890" cy="492443"/>
              </a:xfrm>
              <a:prstGeom prst="rect">
                <a:avLst/>
              </a:prstGeom>
              <a:blipFill>
                <a:blip r:embed="rId22"/>
                <a:stretch>
                  <a:fillRect r="-21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8CD257F8-F7DB-47CE-A8A1-2E5AD66736C6}"/>
                  </a:ext>
                </a:extLst>
              </p:cNvPr>
              <p:cNvSpPr txBox="1"/>
              <p:nvPr/>
            </p:nvSpPr>
            <p:spPr>
              <a:xfrm>
                <a:off x="9033904" y="5650127"/>
                <a:ext cx="661375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600" dirty="0"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8CD257F8-F7DB-47CE-A8A1-2E5AD6673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3904" y="5650127"/>
                <a:ext cx="661375" cy="492443"/>
              </a:xfrm>
              <a:prstGeom prst="rect">
                <a:avLst/>
              </a:prstGeom>
              <a:blipFill>
                <a:blip r:embed="rId23"/>
                <a:stretch>
                  <a:fillRect r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86ACC88F-74C7-474F-8414-D4BFAD1C1C9D}"/>
                  </a:ext>
                </a:extLst>
              </p:cNvPr>
              <p:cNvSpPr txBox="1"/>
              <p:nvPr/>
            </p:nvSpPr>
            <p:spPr>
              <a:xfrm>
                <a:off x="9555191" y="5606718"/>
                <a:ext cx="1495331" cy="541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</m:acc>
                      <m:r>
                        <a:rPr lang="zh-CN" altLang="en-US" sz="2600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外</m:t>
                      </m:r>
                      <m:r>
                        <a:rPr lang="en-US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zh-CN" sz="2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</m:oMath>
                  </m:oMathPara>
                </a14:m>
                <a:endParaRPr lang="en-US" sz="2600" dirty="0"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86ACC88F-74C7-474F-8414-D4BFAD1C1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5191" y="5606718"/>
                <a:ext cx="1495331" cy="541046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F8ECB6B-A8E6-4922-A00F-AF8D27AC8789}"/>
              </a:ext>
            </a:extLst>
          </p:cNvPr>
          <p:cNvCxnSpPr>
            <a:cxnSpLocks/>
          </p:cNvCxnSpPr>
          <p:nvPr/>
        </p:nvCxnSpPr>
        <p:spPr>
          <a:xfrm>
            <a:off x="7390626" y="6083634"/>
            <a:ext cx="105657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6B0BCB90-81FF-4847-8006-1EEE8DBBC273}"/>
              </a:ext>
            </a:extLst>
          </p:cNvPr>
          <p:cNvCxnSpPr>
            <a:cxnSpLocks/>
          </p:cNvCxnSpPr>
          <p:nvPr/>
        </p:nvCxnSpPr>
        <p:spPr>
          <a:xfrm>
            <a:off x="8555440" y="6083634"/>
            <a:ext cx="47846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85A3F9DD-708F-42A4-ABB5-A09FA26BEA46}"/>
                  </a:ext>
                </a:extLst>
              </p:cNvPr>
              <p:cNvSpPr txBox="1"/>
              <p:nvPr/>
            </p:nvSpPr>
            <p:spPr>
              <a:xfrm>
                <a:off x="706819" y="1319784"/>
                <a:ext cx="464708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atin typeface="+mn-ea"/>
                    <a:cs typeface="Times New Roman" panose="02020603050405020304" pitchFamily="18" charset="0"/>
                  </a:rPr>
                  <a:t>一个长为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400" dirty="0">
                    <a:latin typeface="+mn-ea"/>
                    <a:cs typeface="Times New Roman" panose="02020603050405020304" pitchFamily="18" charset="0"/>
                  </a:rPr>
                  <a:t>导体匀速在磁场中向右运动</a:t>
                </a:r>
                <a:endParaRPr lang="en-US" sz="2400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85A3F9DD-708F-42A4-ABB5-A09FA26BE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19" y="1319784"/>
                <a:ext cx="4647086" cy="830997"/>
              </a:xfrm>
              <a:prstGeom prst="rect">
                <a:avLst/>
              </a:prstGeom>
              <a:blipFill>
                <a:blip r:embed="rId25"/>
                <a:stretch>
                  <a:fillRect l="-2100" t="-5882" r="-1444" b="-154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8">
            <a:extLst>
              <a:ext uri="{FF2B5EF4-FFF2-40B4-BE49-F238E27FC236}">
                <a16:creationId xmlns:a16="http://schemas.microsoft.com/office/drawing/2014/main" id="{1ABE1196-9833-4170-C680-A12E27C58A3D}"/>
              </a:ext>
            </a:extLst>
          </p:cNvPr>
          <p:cNvSpPr/>
          <p:nvPr/>
        </p:nvSpPr>
        <p:spPr>
          <a:xfrm>
            <a:off x="975888" y="574184"/>
            <a:ext cx="307007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动生电动势 </a:t>
            </a:r>
            <a:endParaRPr lang="en-US" sz="36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625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2" grpId="0" animBg="1"/>
      <p:bldP spid="20" grpId="0"/>
      <p:bldP spid="152" grpId="0" animBg="1"/>
      <p:bldP spid="154" grpId="0" animBg="1"/>
      <p:bldP spid="2" grpId="0"/>
      <p:bldP spid="4" grpId="0"/>
      <p:bldP spid="9" grpId="0"/>
      <p:bldP spid="11" grpId="0"/>
      <p:bldP spid="13" grpId="0"/>
      <p:bldP spid="82" grpId="0"/>
      <p:bldP spid="15" grpId="0"/>
      <p:bldP spid="17" grpId="0"/>
      <p:bldP spid="89" grpId="0"/>
      <p:bldP spid="19" grpId="0"/>
      <p:bldP spid="24" grpId="0"/>
      <p:bldP spid="27" grpId="0"/>
      <p:bldP spid="30" grpId="0"/>
      <p:bldP spid="31" grpId="0"/>
      <p:bldP spid="65" grpId="0"/>
      <p:bldP spid="66" grpId="0" animBg="1"/>
      <p:bldP spid="151" grpId="0"/>
      <p:bldP spid="155" grpId="0" animBg="1"/>
      <p:bldP spid="156" grpId="0"/>
      <p:bldP spid="157" grpId="0"/>
      <p:bldP spid="15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9" name="Text Box 3"/>
          <p:cNvSpPr txBox="1">
            <a:spLocks noChangeArrowheads="1"/>
          </p:cNvSpPr>
          <p:nvPr/>
        </p:nvSpPr>
        <p:spPr bwMode="auto">
          <a:xfrm>
            <a:off x="630432" y="3243423"/>
            <a:ext cx="300018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由电动势的定义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4260" name="Object 4"/>
              <p:cNvSpPr txBox="1"/>
              <p:nvPr/>
            </p:nvSpPr>
            <p:spPr bwMode="auto">
              <a:xfrm>
                <a:off x="3441830" y="3068758"/>
                <a:ext cx="5570330" cy="9636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动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pHide m:val="on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非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</m:acc>
                        </m:e>
                      </m:nary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pHide m:val="on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</m:acc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</m:acc>
                            </m:e>
                          </m:d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426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41830" y="3068758"/>
                <a:ext cx="5570330" cy="963613"/>
              </a:xfrm>
              <a:prstGeom prst="rect">
                <a:avLst/>
              </a:prstGeom>
              <a:blipFill>
                <a:blip r:embed="rId3"/>
                <a:stretch>
                  <a:fillRect b="-2088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4269" name="Rectangle 13"/>
          <p:cNvSpPr>
            <a:spLocks noChangeArrowheads="1"/>
          </p:cNvSpPr>
          <p:nvPr/>
        </p:nvSpPr>
        <p:spPr bwMode="auto">
          <a:xfrm>
            <a:off x="2144714" y="5526089"/>
            <a:ext cx="6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kumimoji="1" lang="zh-CN" altLang="en-US" sz="2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24270" name="Rectangle 14"/>
          <p:cNvSpPr>
            <a:spLocks noChangeArrowheads="1"/>
          </p:cNvSpPr>
          <p:nvPr/>
        </p:nvSpPr>
        <p:spPr bwMode="auto">
          <a:xfrm>
            <a:off x="3346451" y="5197476"/>
            <a:ext cx="6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kumimoji="1" lang="zh-CN" altLang="en-US" sz="2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24271" name="Rectangle 15"/>
          <p:cNvSpPr>
            <a:spLocks noChangeArrowheads="1"/>
          </p:cNvSpPr>
          <p:nvPr/>
        </p:nvSpPr>
        <p:spPr bwMode="auto">
          <a:xfrm>
            <a:off x="3630614" y="5802314"/>
            <a:ext cx="6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kumimoji="1" lang="zh-CN" altLang="en-US" sz="2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24272" name="Rectangle 16"/>
          <p:cNvSpPr>
            <a:spLocks noChangeArrowheads="1"/>
          </p:cNvSpPr>
          <p:nvPr/>
        </p:nvSpPr>
        <p:spPr bwMode="auto">
          <a:xfrm>
            <a:off x="3475039" y="4965701"/>
            <a:ext cx="6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kumimoji="1" lang="zh-CN" altLang="en-US" sz="2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24273" name="Rectangle 17"/>
          <p:cNvSpPr>
            <a:spLocks noChangeArrowheads="1"/>
          </p:cNvSpPr>
          <p:nvPr/>
        </p:nvSpPr>
        <p:spPr bwMode="auto">
          <a:xfrm>
            <a:off x="3455989" y="6075364"/>
            <a:ext cx="6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kumimoji="1" lang="zh-CN" altLang="en-US" sz="2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24274" name="Text Box 18"/>
          <p:cNvSpPr txBox="1">
            <a:spLocks noChangeArrowheads="1"/>
          </p:cNvSpPr>
          <p:nvPr/>
        </p:nvSpPr>
        <p:spPr bwMode="auto">
          <a:xfrm>
            <a:off x="630432" y="1870826"/>
            <a:ext cx="4213699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由法拉第电磁感应定律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4275" name="Object 19"/>
              <p:cNvSpPr txBox="1"/>
              <p:nvPr/>
            </p:nvSpPr>
            <p:spPr bwMode="auto">
              <a:xfrm>
                <a:off x="4570653" y="1603109"/>
                <a:ext cx="2187575" cy="97155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动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4275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0653" y="1603109"/>
                <a:ext cx="2187575" cy="971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4277" name="Text Box 21"/>
          <p:cNvSpPr txBox="1">
            <a:spLocks noChangeArrowheads="1"/>
          </p:cNvSpPr>
          <p:nvPr/>
        </p:nvSpPr>
        <p:spPr bwMode="auto">
          <a:xfrm>
            <a:off x="6817190" y="1790765"/>
            <a:ext cx="354820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（考虑</a:t>
            </a:r>
            <a:r>
              <a:rPr kumimoji="1" lang="zh-CN" altLang="en-US" sz="2800" i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</a:t>
            </a:r>
            <a:r>
              <a:rPr kumimoji="1"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时，须设计</a:t>
            </a:r>
            <a:br>
              <a:rPr kumimoji="1"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kumimoji="1"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kumimoji="1"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一个闭合回路）</a:t>
            </a:r>
          </a:p>
        </p:txBody>
      </p:sp>
      <p:sp>
        <p:nvSpPr>
          <p:cNvPr id="224268" name="Text Box 12"/>
          <p:cNvSpPr txBox="1">
            <a:spLocks noChangeArrowheads="1"/>
          </p:cNvSpPr>
          <p:nvPr/>
        </p:nvSpPr>
        <p:spPr bwMode="auto">
          <a:xfrm>
            <a:off x="4741864" y="4682011"/>
            <a:ext cx="7240588" cy="1059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所以对不均匀磁场、或导线上各个</a:t>
            </a:r>
          </a:p>
          <a:p>
            <a:pPr>
              <a:lnSpc>
                <a:spcPct val="115000"/>
              </a:lnSpc>
            </a:pPr>
            <a:r>
              <a:rPr kumimoji="1"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部分速度不同的情况，原则上都能求。</a:t>
            </a:r>
          </a:p>
        </p:txBody>
      </p:sp>
      <p:grpSp>
        <p:nvGrpSpPr>
          <p:cNvPr id="224261" name="Group 5"/>
          <p:cNvGrpSpPr>
            <a:grpSpLocks/>
          </p:cNvGrpSpPr>
          <p:nvPr/>
        </p:nvGrpSpPr>
        <p:grpSpPr bwMode="auto">
          <a:xfrm>
            <a:off x="8769290" y="3238978"/>
            <a:ext cx="2663985" cy="1050926"/>
            <a:chOff x="1728" y="2024"/>
            <a:chExt cx="1596" cy="662"/>
          </a:xfrm>
        </p:grpSpPr>
        <p:sp>
          <p:nvSpPr>
            <p:cNvPr id="224262" name="Text Box 6"/>
            <p:cNvSpPr txBox="1">
              <a:spLocks noChangeArrowheads="1"/>
            </p:cNvSpPr>
            <p:nvPr/>
          </p:nvSpPr>
          <p:spPr bwMode="auto">
            <a:xfrm>
              <a:off x="1728" y="2024"/>
              <a:ext cx="75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式中的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24263" name="Object 7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252416268"/>
                    </p:ext>
                  </p:extLst>
                </p:nvPr>
              </p:nvGraphicFramePr>
              <p:xfrm>
                <a:off x="2432" y="2041"/>
                <a:ext cx="367" cy="291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32" name="公式" r:id="rId5" imgW="304560" imgH="228600" progId="Equation.3">
                        <p:embed/>
                      </p:oleObj>
                    </mc:Choice>
                    <mc:Fallback>
                      <p:oleObj name="公式" r:id="rId5" imgW="304560" imgH="228600" progId="Equation.3">
                        <p:embed/>
                        <p:pic>
                          <p:nvPicPr>
                            <p:cNvPr id="224263" name="Object 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32" y="2041"/>
                              <a:ext cx="367" cy="29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24263" name="Object 7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252416268"/>
                    </p:ext>
                  </p:extLst>
                </p:nvPr>
              </p:nvGraphicFramePr>
              <p:xfrm>
                <a:off x="2432" y="2041"/>
                <a:ext cx="367" cy="291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4351" name="公式" r:id="rId7" imgW="304560" imgH="228600" progId="Equation.3">
                        <p:embed/>
                      </p:oleObj>
                    </mc:Choice>
                    <mc:Fallback>
                      <p:oleObj name="公式" r:id="rId7" imgW="304560" imgH="228600" progId="Equation.3">
                        <p:embed/>
                        <p:pic>
                          <p:nvPicPr>
                            <p:cNvPr id="224263" name="Object 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32" y="2041"/>
                              <a:ext cx="367" cy="29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224264" name="Text Box 8"/>
            <p:cNvSpPr txBox="1">
              <a:spLocks noChangeArrowheads="1"/>
            </p:cNvSpPr>
            <p:nvPr/>
          </p:nvSpPr>
          <p:spPr bwMode="auto">
            <a:xfrm>
              <a:off x="2783" y="2041"/>
              <a:ext cx="541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都是</a:t>
              </a:r>
            </a:p>
            <a:p>
              <a:endParaRPr kumimoji="1"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265" name="Object 9"/>
                <p:cNvSpPr txBox="1"/>
                <p:nvPr/>
              </p:nvSpPr>
              <p:spPr bwMode="auto">
                <a:xfrm>
                  <a:off x="1922" y="2323"/>
                  <a:ext cx="367" cy="3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func>
                              <m:funcPr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8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fName>
                              <m:e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func>
                          </m:e>
                        </m:acc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24265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22" y="2323"/>
                  <a:ext cx="367" cy="36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4266" name="Text Box 10"/>
            <p:cNvSpPr txBox="1">
              <a:spLocks noChangeArrowheads="1"/>
            </p:cNvSpPr>
            <p:nvPr/>
          </p:nvSpPr>
          <p:spPr bwMode="auto">
            <a:xfrm>
              <a:off x="2157" y="2312"/>
              <a:ext cx="91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处的      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24267" name="Object 11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992674330"/>
                    </p:ext>
                  </p:extLst>
                </p:nvPr>
              </p:nvGraphicFramePr>
              <p:xfrm>
                <a:off x="2663" y="2314"/>
                <a:ext cx="411" cy="326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33" name="公式" r:id="rId10" imgW="304560" imgH="228600" progId="Equation.3">
                        <p:embed/>
                      </p:oleObj>
                    </mc:Choice>
                    <mc:Fallback>
                      <p:oleObj name="公式" r:id="rId10" imgW="304560" imgH="228600" progId="Equation.3">
                        <p:embed/>
                        <p:pic>
                          <p:nvPicPr>
                            <p:cNvPr id="224267" name="Object 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663" y="2314"/>
                              <a:ext cx="411" cy="32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24267" name="Object 11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992674330"/>
                    </p:ext>
                  </p:extLst>
                </p:nvPr>
              </p:nvGraphicFramePr>
              <p:xfrm>
                <a:off x="2663" y="2314"/>
                <a:ext cx="411" cy="326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4352" name="公式" r:id="rId11" imgW="304560" imgH="228600" progId="Equation.3">
                        <p:embed/>
                      </p:oleObj>
                    </mc:Choice>
                    <mc:Fallback>
                      <p:oleObj name="公式" r:id="rId11" imgW="304560" imgH="228600" progId="Equation.3">
                        <p:embed/>
                        <p:pic>
                          <p:nvPicPr>
                            <p:cNvPr id="224267" name="Object 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663" y="2314"/>
                              <a:ext cx="411" cy="32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sp>
        <p:nvSpPr>
          <p:cNvPr id="27" name="矩形 8">
            <a:extLst>
              <a:ext uri="{FF2B5EF4-FFF2-40B4-BE49-F238E27FC236}">
                <a16:creationId xmlns:a16="http://schemas.microsoft.com/office/drawing/2014/main" id="{E8A9FDD4-252E-434D-8EC0-57F54D5230E3}"/>
              </a:ext>
            </a:extLst>
          </p:cNvPr>
          <p:cNvSpPr/>
          <p:nvPr/>
        </p:nvSpPr>
        <p:spPr>
          <a:xfrm>
            <a:off x="975888" y="574184"/>
            <a:ext cx="38247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动生电动势 </a:t>
            </a:r>
            <a:endParaRPr lang="en-US" sz="36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91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59" grpId="0"/>
      <p:bldP spid="224260" grpId="0"/>
      <p:bldP spid="224277" grpId="0"/>
      <p:bldP spid="22426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034" name="Group 2"/>
          <p:cNvGrpSpPr>
            <a:grpSpLocks/>
          </p:cNvGrpSpPr>
          <p:nvPr/>
        </p:nvGrpSpPr>
        <p:grpSpPr bwMode="auto">
          <a:xfrm>
            <a:off x="6690453" y="955675"/>
            <a:ext cx="3767138" cy="4873625"/>
            <a:chOff x="3065" y="626"/>
            <a:chExt cx="2373" cy="30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035" name="Object 3"/>
                <p:cNvSpPr txBox="1"/>
                <p:nvPr/>
              </p:nvSpPr>
              <p:spPr bwMode="auto">
                <a:xfrm>
                  <a:off x="4656" y="2976"/>
                  <a:ext cx="336" cy="3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72035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56" y="2976"/>
                  <a:ext cx="336" cy="36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2036" name="Group 4"/>
            <p:cNvGrpSpPr>
              <a:grpSpLocks/>
            </p:cNvGrpSpPr>
            <p:nvPr/>
          </p:nvGrpSpPr>
          <p:grpSpPr bwMode="auto">
            <a:xfrm>
              <a:off x="3521" y="960"/>
              <a:ext cx="1713" cy="1319"/>
              <a:chOff x="1296" y="1152"/>
              <a:chExt cx="2592" cy="1536"/>
            </a:xfrm>
          </p:grpSpPr>
          <p:sp>
            <p:nvSpPr>
              <p:cNvPr id="172037" name="Line 5"/>
              <p:cNvSpPr>
                <a:spLocks noChangeShapeType="1"/>
              </p:cNvSpPr>
              <p:nvPr/>
            </p:nvSpPr>
            <p:spPr bwMode="auto">
              <a:xfrm>
                <a:off x="1296" y="1152"/>
                <a:ext cx="2592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400" dirty="0">
                  <a:latin typeface="华文楷体" panose="02010600040101010101" pitchFamily="2" charset="-122"/>
                </a:endParaRPr>
              </a:p>
            </p:txBody>
          </p:sp>
          <p:sp>
            <p:nvSpPr>
              <p:cNvPr id="172038" name="Line 6"/>
              <p:cNvSpPr>
                <a:spLocks noChangeShapeType="1"/>
              </p:cNvSpPr>
              <p:nvPr/>
            </p:nvSpPr>
            <p:spPr bwMode="auto">
              <a:xfrm>
                <a:off x="1296" y="1459"/>
                <a:ext cx="2592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400" dirty="0">
                  <a:latin typeface="华文楷体" panose="02010600040101010101" pitchFamily="2" charset="-122"/>
                </a:endParaRPr>
              </a:p>
            </p:txBody>
          </p:sp>
          <p:sp>
            <p:nvSpPr>
              <p:cNvPr id="172039" name="Line 7"/>
              <p:cNvSpPr>
                <a:spLocks noChangeShapeType="1"/>
              </p:cNvSpPr>
              <p:nvPr/>
            </p:nvSpPr>
            <p:spPr bwMode="auto">
              <a:xfrm>
                <a:off x="1296" y="1766"/>
                <a:ext cx="2592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400" dirty="0">
                  <a:latin typeface="华文楷体" panose="02010600040101010101" pitchFamily="2" charset="-122"/>
                </a:endParaRPr>
              </a:p>
            </p:txBody>
          </p:sp>
          <p:sp>
            <p:nvSpPr>
              <p:cNvPr id="172040" name="Line 8"/>
              <p:cNvSpPr>
                <a:spLocks noChangeShapeType="1"/>
              </p:cNvSpPr>
              <p:nvPr/>
            </p:nvSpPr>
            <p:spPr bwMode="auto">
              <a:xfrm>
                <a:off x="1296" y="2074"/>
                <a:ext cx="2592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400" dirty="0">
                  <a:latin typeface="华文楷体" panose="02010600040101010101" pitchFamily="2" charset="-122"/>
                </a:endParaRPr>
              </a:p>
            </p:txBody>
          </p:sp>
          <p:sp>
            <p:nvSpPr>
              <p:cNvPr id="172041" name="Line 9"/>
              <p:cNvSpPr>
                <a:spLocks noChangeShapeType="1"/>
              </p:cNvSpPr>
              <p:nvPr/>
            </p:nvSpPr>
            <p:spPr bwMode="auto">
              <a:xfrm>
                <a:off x="1296" y="2381"/>
                <a:ext cx="2592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400" dirty="0">
                  <a:latin typeface="华文楷体" panose="02010600040101010101" pitchFamily="2" charset="-122"/>
                </a:endParaRPr>
              </a:p>
            </p:txBody>
          </p:sp>
          <p:sp>
            <p:nvSpPr>
              <p:cNvPr id="172042" name="Line 10"/>
              <p:cNvSpPr>
                <a:spLocks noChangeShapeType="1"/>
              </p:cNvSpPr>
              <p:nvPr/>
            </p:nvSpPr>
            <p:spPr bwMode="auto">
              <a:xfrm>
                <a:off x="1296" y="2688"/>
                <a:ext cx="2592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400" dirty="0">
                  <a:latin typeface="华文楷体" panose="02010600040101010101" pitchFamily="2" charset="-122"/>
                </a:endParaRPr>
              </a:p>
            </p:txBody>
          </p:sp>
        </p:grpSp>
        <p:sp>
          <p:nvSpPr>
            <p:cNvPr id="172043" name="Line 11"/>
            <p:cNvSpPr>
              <a:spLocks noChangeShapeType="1"/>
            </p:cNvSpPr>
            <p:nvPr/>
          </p:nvSpPr>
          <p:spPr bwMode="auto">
            <a:xfrm>
              <a:off x="4377" y="960"/>
              <a:ext cx="123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400" dirty="0">
                <a:latin typeface="华文楷体" panose="02010600040101010101" pitchFamily="2" charset="-122"/>
              </a:endParaRPr>
            </a:p>
          </p:txBody>
        </p:sp>
        <p:sp>
          <p:nvSpPr>
            <p:cNvPr id="172044" name="Line 12"/>
            <p:cNvSpPr>
              <a:spLocks noChangeShapeType="1"/>
            </p:cNvSpPr>
            <p:nvPr/>
          </p:nvSpPr>
          <p:spPr bwMode="auto">
            <a:xfrm>
              <a:off x="4010" y="1488"/>
              <a:ext cx="123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400" dirty="0">
                <a:latin typeface="华文楷体" panose="02010600040101010101" pitchFamily="2" charset="-122"/>
              </a:endParaRPr>
            </a:p>
          </p:txBody>
        </p:sp>
        <p:sp>
          <p:nvSpPr>
            <p:cNvPr id="172045" name="Rectangle 13"/>
            <p:cNvSpPr>
              <a:spLocks noChangeArrowheads="1"/>
            </p:cNvSpPr>
            <p:nvPr/>
          </p:nvSpPr>
          <p:spPr bwMode="auto">
            <a:xfrm>
              <a:off x="4214" y="1200"/>
              <a:ext cx="82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dirty="0">
                <a:latin typeface="华文楷体" panose="02010600040101010101" pitchFamily="2" charset="-122"/>
              </a:endParaRPr>
            </a:p>
          </p:txBody>
        </p:sp>
        <p:sp>
          <p:nvSpPr>
            <p:cNvPr id="172046" name="Rectangle 14"/>
            <p:cNvSpPr>
              <a:spLocks noChangeArrowheads="1"/>
            </p:cNvSpPr>
            <p:nvPr/>
          </p:nvSpPr>
          <p:spPr bwMode="auto">
            <a:xfrm>
              <a:off x="3847" y="1728"/>
              <a:ext cx="82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dirty="0">
                <a:latin typeface="华文楷体" panose="02010600040101010101" pitchFamily="2" charset="-122"/>
              </a:endParaRPr>
            </a:p>
          </p:txBody>
        </p:sp>
        <p:sp>
          <p:nvSpPr>
            <p:cNvPr id="172047" name="Rectangle 15"/>
            <p:cNvSpPr>
              <a:spLocks noChangeArrowheads="1"/>
            </p:cNvSpPr>
            <p:nvPr/>
          </p:nvSpPr>
          <p:spPr bwMode="auto">
            <a:xfrm>
              <a:off x="3888" y="1968"/>
              <a:ext cx="122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dirty="0">
                <a:latin typeface="华文楷体" panose="02010600040101010101" pitchFamily="2" charset="-122"/>
              </a:endParaRPr>
            </a:p>
          </p:txBody>
        </p:sp>
        <p:sp>
          <p:nvSpPr>
            <p:cNvPr id="172048" name="Rectangle 16"/>
            <p:cNvSpPr>
              <a:spLocks noChangeArrowheads="1"/>
            </p:cNvSpPr>
            <p:nvPr/>
          </p:nvSpPr>
          <p:spPr bwMode="auto">
            <a:xfrm>
              <a:off x="3521" y="2208"/>
              <a:ext cx="571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dirty="0">
                <a:latin typeface="华文楷体" panose="02010600040101010101" pitchFamily="2" charset="-122"/>
              </a:endParaRPr>
            </a:p>
          </p:txBody>
        </p:sp>
        <p:grpSp>
          <p:nvGrpSpPr>
            <p:cNvPr id="172049" name="Group 17"/>
            <p:cNvGrpSpPr>
              <a:grpSpLocks/>
            </p:cNvGrpSpPr>
            <p:nvPr/>
          </p:nvGrpSpPr>
          <p:grpSpPr bwMode="auto">
            <a:xfrm rot="-456532">
              <a:off x="3317" y="960"/>
              <a:ext cx="1711" cy="1872"/>
              <a:chOff x="1330" y="1056"/>
              <a:chExt cx="2174" cy="2180"/>
            </a:xfrm>
          </p:grpSpPr>
          <p:sp>
            <p:nvSpPr>
              <p:cNvPr id="172050" name="Line 18"/>
              <p:cNvSpPr>
                <a:spLocks noChangeShapeType="1"/>
              </p:cNvSpPr>
              <p:nvPr/>
            </p:nvSpPr>
            <p:spPr bwMode="auto">
              <a:xfrm flipV="1">
                <a:off x="1776" y="2440"/>
                <a:ext cx="621" cy="6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400" dirty="0">
                  <a:latin typeface="华文楷体" panose="02010600040101010101" pitchFamily="2" charset="-122"/>
                </a:endParaRPr>
              </a:p>
            </p:txBody>
          </p:sp>
          <p:grpSp>
            <p:nvGrpSpPr>
              <p:cNvPr id="172051" name="Group 19"/>
              <p:cNvGrpSpPr>
                <a:grpSpLocks/>
              </p:cNvGrpSpPr>
              <p:nvPr/>
            </p:nvGrpSpPr>
            <p:grpSpPr bwMode="auto">
              <a:xfrm>
                <a:off x="1330" y="2544"/>
                <a:ext cx="830" cy="692"/>
                <a:chOff x="1167" y="2208"/>
                <a:chExt cx="753" cy="599"/>
              </a:xfrm>
            </p:grpSpPr>
            <p:grpSp>
              <p:nvGrpSpPr>
                <p:cNvPr id="172052" name="Group 20"/>
                <p:cNvGrpSpPr>
                  <a:grpSpLocks/>
                </p:cNvGrpSpPr>
                <p:nvPr/>
              </p:nvGrpSpPr>
              <p:grpSpPr bwMode="auto">
                <a:xfrm rot="2516868">
                  <a:off x="1440" y="2208"/>
                  <a:ext cx="480" cy="288"/>
                  <a:chOff x="1200" y="2688"/>
                  <a:chExt cx="432" cy="240"/>
                </a:xfrm>
              </p:grpSpPr>
              <p:sp>
                <p:nvSpPr>
                  <p:cNvPr id="172053" name="Oval 21"/>
                  <p:cNvSpPr>
                    <a:spLocks noChangeArrowheads="1"/>
                  </p:cNvSpPr>
                  <p:nvPr/>
                </p:nvSpPr>
                <p:spPr bwMode="auto">
                  <a:xfrm>
                    <a:off x="1200" y="2688"/>
                    <a:ext cx="432" cy="16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2400" dirty="0">
                      <a:latin typeface="华文楷体" panose="02010600040101010101" pitchFamily="2" charset="-122"/>
                    </a:endParaRPr>
                  </a:p>
                </p:txBody>
              </p:sp>
              <p:sp>
                <p:nvSpPr>
                  <p:cNvPr id="172054" name="Freeform 22"/>
                  <p:cNvSpPr>
                    <a:spLocks/>
                  </p:cNvSpPr>
                  <p:nvPr/>
                </p:nvSpPr>
                <p:spPr bwMode="auto">
                  <a:xfrm>
                    <a:off x="1207" y="2741"/>
                    <a:ext cx="425" cy="80"/>
                  </a:xfrm>
                  <a:custGeom>
                    <a:avLst/>
                    <a:gdLst>
                      <a:gd name="T0" fmla="*/ 0 w 614"/>
                      <a:gd name="T1" fmla="*/ 134 h 144"/>
                      <a:gd name="T2" fmla="*/ 48 w 614"/>
                      <a:gd name="T3" fmla="*/ 58 h 144"/>
                      <a:gd name="T4" fmla="*/ 288 w 614"/>
                      <a:gd name="T5" fmla="*/ 0 h 144"/>
                      <a:gd name="T6" fmla="*/ 537 w 614"/>
                      <a:gd name="T7" fmla="*/ 58 h 144"/>
                      <a:gd name="T8" fmla="*/ 614 w 614"/>
                      <a:gd name="T9" fmla="*/ 144 h 1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14" h="144">
                        <a:moveTo>
                          <a:pt x="0" y="134"/>
                        </a:moveTo>
                        <a:cubicBezTo>
                          <a:pt x="8" y="122"/>
                          <a:pt x="0" y="80"/>
                          <a:pt x="48" y="58"/>
                        </a:cubicBezTo>
                        <a:cubicBezTo>
                          <a:pt x="96" y="36"/>
                          <a:pt x="207" y="0"/>
                          <a:pt x="288" y="0"/>
                        </a:cubicBezTo>
                        <a:cubicBezTo>
                          <a:pt x="369" y="0"/>
                          <a:pt x="483" y="34"/>
                          <a:pt x="537" y="58"/>
                        </a:cubicBezTo>
                        <a:cubicBezTo>
                          <a:pt x="591" y="82"/>
                          <a:pt x="598" y="126"/>
                          <a:pt x="614" y="144"/>
                        </a:cubicBez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sz="2400" dirty="0">
                      <a:latin typeface="华文楷体" panose="02010600040101010101" pitchFamily="2" charset="-122"/>
                    </a:endParaRPr>
                  </a:p>
                </p:txBody>
              </p:sp>
              <p:sp>
                <p:nvSpPr>
                  <p:cNvPr id="172055" name="Oval 23"/>
                  <p:cNvSpPr>
                    <a:spLocks noChangeArrowheads="1"/>
                  </p:cNvSpPr>
                  <p:nvPr/>
                </p:nvSpPr>
                <p:spPr bwMode="auto">
                  <a:xfrm>
                    <a:off x="1200" y="2768"/>
                    <a:ext cx="432" cy="16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2400" dirty="0">
                      <a:latin typeface="华文楷体" panose="02010600040101010101" pitchFamily="2" charset="-122"/>
                    </a:endParaRPr>
                  </a:p>
                </p:txBody>
              </p:sp>
              <p:sp>
                <p:nvSpPr>
                  <p:cNvPr id="172056" name="Freeform 24"/>
                  <p:cNvSpPr>
                    <a:spLocks/>
                  </p:cNvSpPr>
                  <p:nvPr/>
                </p:nvSpPr>
                <p:spPr bwMode="auto">
                  <a:xfrm>
                    <a:off x="1207" y="2715"/>
                    <a:ext cx="425" cy="80"/>
                  </a:xfrm>
                  <a:custGeom>
                    <a:avLst/>
                    <a:gdLst>
                      <a:gd name="T0" fmla="*/ 0 w 614"/>
                      <a:gd name="T1" fmla="*/ 134 h 144"/>
                      <a:gd name="T2" fmla="*/ 48 w 614"/>
                      <a:gd name="T3" fmla="*/ 58 h 144"/>
                      <a:gd name="T4" fmla="*/ 288 w 614"/>
                      <a:gd name="T5" fmla="*/ 0 h 144"/>
                      <a:gd name="T6" fmla="*/ 537 w 614"/>
                      <a:gd name="T7" fmla="*/ 58 h 144"/>
                      <a:gd name="T8" fmla="*/ 614 w 614"/>
                      <a:gd name="T9" fmla="*/ 144 h 1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14" h="144">
                        <a:moveTo>
                          <a:pt x="0" y="134"/>
                        </a:moveTo>
                        <a:cubicBezTo>
                          <a:pt x="8" y="122"/>
                          <a:pt x="0" y="80"/>
                          <a:pt x="48" y="58"/>
                        </a:cubicBezTo>
                        <a:cubicBezTo>
                          <a:pt x="96" y="36"/>
                          <a:pt x="207" y="0"/>
                          <a:pt x="288" y="0"/>
                        </a:cubicBezTo>
                        <a:cubicBezTo>
                          <a:pt x="369" y="0"/>
                          <a:pt x="483" y="34"/>
                          <a:pt x="537" y="58"/>
                        </a:cubicBezTo>
                        <a:cubicBezTo>
                          <a:pt x="591" y="82"/>
                          <a:pt x="598" y="126"/>
                          <a:pt x="614" y="144"/>
                        </a:cubicBez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sz="2400" dirty="0">
                      <a:latin typeface="华文楷体" panose="02010600040101010101" pitchFamily="2" charset="-122"/>
                    </a:endParaRPr>
                  </a:p>
                </p:txBody>
              </p:sp>
            </p:grpSp>
            <p:sp>
              <p:nvSpPr>
                <p:cNvPr id="172057" name="Oval 25"/>
                <p:cNvSpPr>
                  <a:spLocks noChangeArrowheads="1"/>
                </p:cNvSpPr>
                <p:nvPr/>
              </p:nvSpPr>
              <p:spPr bwMode="auto">
                <a:xfrm rot="2516868">
                  <a:off x="1232" y="2544"/>
                  <a:ext cx="480" cy="19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2400" dirty="0">
                    <a:latin typeface="华文楷体" panose="02010600040101010101" pitchFamily="2" charset="-122"/>
                  </a:endParaRPr>
                </a:p>
              </p:txBody>
            </p:sp>
            <p:sp>
              <p:nvSpPr>
                <p:cNvPr id="172058" name="Freeform 26"/>
                <p:cNvSpPr>
                  <a:spLocks/>
                </p:cNvSpPr>
                <p:nvPr/>
              </p:nvSpPr>
              <p:spPr bwMode="auto">
                <a:xfrm rot="2516868">
                  <a:off x="1228" y="2606"/>
                  <a:ext cx="472" cy="96"/>
                </a:xfrm>
                <a:custGeom>
                  <a:avLst/>
                  <a:gdLst>
                    <a:gd name="T0" fmla="*/ 0 w 614"/>
                    <a:gd name="T1" fmla="*/ 134 h 144"/>
                    <a:gd name="T2" fmla="*/ 48 w 614"/>
                    <a:gd name="T3" fmla="*/ 58 h 144"/>
                    <a:gd name="T4" fmla="*/ 288 w 614"/>
                    <a:gd name="T5" fmla="*/ 0 h 144"/>
                    <a:gd name="T6" fmla="*/ 537 w 614"/>
                    <a:gd name="T7" fmla="*/ 58 h 144"/>
                    <a:gd name="T8" fmla="*/ 614 w 614"/>
                    <a:gd name="T9" fmla="*/ 144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4" h="144">
                      <a:moveTo>
                        <a:pt x="0" y="134"/>
                      </a:moveTo>
                      <a:cubicBezTo>
                        <a:pt x="8" y="122"/>
                        <a:pt x="0" y="80"/>
                        <a:pt x="48" y="58"/>
                      </a:cubicBezTo>
                      <a:cubicBezTo>
                        <a:pt x="96" y="36"/>
                        <a:pt x="207" y="0"/>
                        <a:pt x="288" y="0"/>
                      </a:cubicBezTo>
                      <a:cubicBezTo>
                        <a:pt x="369" y="0"/>
                        <a:pt x="483" y="34"/>
                        <a:pt x="537" y="58"/>
                      </a:cubicBezTo>
                      <a:cubicBezTo>
                        <a:pt x="591" y="82"/>
                        <a:pt x="598" y="126"/>
                        <a:pt x="614" y="144"/>
                      </a:cubicBez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sz="2400" dirty="0">
                    <a:latin typeface="华文楷体" panose="02010600040101010101" pitchFamily="2" charset="-122"/>
                  </a:endParaRPr>
                </a:p>
              </p:txBody>
            </p:sp>
            <p:sp>
              <p:nvSpPr>
                <p:cNvPr id="172059" name="Oval 27"/>
                <p:cNvSpPr>
                  <a:spLocks noChangeArrowheads="1"/>
                </p:cNvSpPr>
                <p:nvPr/>
              </p:nvSpPr>
              <p:spPr bwMode="auto">
                <a:xfrm rot="2516868">
                  <a:off x="1167" y="2615"/>
                  <a:ext cx="480" cy="19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2400" dirty="0">
                    <a:latin typeface="华文楷体" panose="02010600040101010101" pitchFamily="2" charset="-122"/>
                  </a:endParaRPr>
                </a:p>
              </p:txBody>
            </p:sp>
            <p:sp>
              <p:nvSpPr>
                <p:cNvPr id="172060" name="Freeform 28"/>
                <p:cNvSpPr>
                  <a:spLocks/>
                </p:cNvSpPr>
                <p:nvPr/>
              </p:nvSpPr>
              <p:spPr bwMode="auto">
                <a:xfrm rot="2516868">
                  <a:off x="1249" y="2583"/>
                  <a:ext cx="472" cy="96"/>
                </a:xfrm>
                <a:custGeom>
                  <a:avLst/>
                  <a:gdLst>
                    <a:gd name="T0" fmla="*/ 0 w 614"/>
                    <a:gd name="T1" fmla="*/ 134 h 144"/>
                    <a:gd name="T2" fmla="*/ 48 w 614"/>
                    <a:gd name="T3" fmla="*/ 58 h 144"/>
                    <a:gd name="T4" fmla="*/ 288 w 614"/>
                    <a:gd name="T5" fmla="*/ 0 h 144"/>
                    <a:gd name="T6" fmla="*/ 537 w 614"/>
                    <a:gd name="T7" fmla="*/ 58 h 144"/>
                    <a:gd name="T8" fmla="*/ 614 w 614"/>
                    <a:gd name="T9" fmla="*/ 144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4" h="144">
                      <a:moveTo>
                        <a:pt x="0" y="134"/>
                      </a:moveTo>
                      <a:cubicBezTo>
                        <a:pt x="8" y="122"/>
                        <a:pt x="0" y="80"/>
                        <a:pt x="48" y="58"/>
                      </a:cubicBezTo>
                      <a:cubicBezTo>
                        <a:pt x="96" y="36"/>
                        <a:pt x="207" y="0"/>
                        <a:pt x="288" y="0"/>
                      </a:cubicBezTo>
                      <a:cubicBezTo>
                        <a:pt x="369" y="0"/>
                        <a:pt x="483" y="34"/>
                        <a:pt x="537" y="58"/>
                      </a:cubicBezTo>
                      <a:cubicBezTo>
                        <a:pt x="591" y="82"/>
                        <a:pt x="598" y="126"/>
                        <a:pt x="614" y="144"/>
                      </a:cubicBez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sz="2400" dirty="0">
                    <a:latin typeface="华文楷体" panose="02010600040101010101" pitchFamily="2" charset="-122"/>
                  </a:endParaRPr>
                </a:p>
              </p:txBody>
            </p:sp>
          </p:grpSp>
          <p:sp>
            <p:nvSpPr>
              <p:cNvPr id="172061" name="Line 29"/>
              <p:cNvSpPr>
                <a:spLocks noChangeShapeType="1"/>
              </p:cNvSpPr>
              <p:nvPr/>
            </p:nvSpPr>
            <p:spPr bwMode="auto">
              <a:xfrm>
                <a:off x="2397" y="2440"/>
                <a:ext cx="208" cy="34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400" dirty="0">
                  <a:latin typeface="华文楷体" panose="02010600040101010101" pitchFamily="2" charset="-122"/>
                </a:endParaRPr>
              </a:p>
            </p:txBody>
          </p:sp>
          <p:sp>
            <p:nvSpPr>
              <p:cNvPr id="172062" name="Line 30"/>
              <p:cNvSpPr>
                <a:spLocks noChangeShapeType="1"/>
              </p:cNvSpPr>
              <p:nvPr/>
            </p:nvSpPr>
            <p:spPr bwMode="auto">
              <a:xfrm flipV="1">
                <a:off x="2605" y="1886"/>
                <a:ext cx="899" cy="9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400" dirty="0">
                  <a:latin typeface="华文楷体" panose="02010600040101010101" pitchFamily="2" charset="-122"/>
                </a:endParaRPr>
              </a:p>
            </p:txBody>
          </p:sp>
          <p:sp>
            <p:nvSpPr>
              <p:cNvPr id="172063" name="Line 31"/>
              <p:cNvSpPr>
                <a:spLocks noChangeShapeType="1"/>
              </p:cNvSpPr>
              <p:nvPr/>
            </p:nvSpPr>
            <p:spPr bwMode="auto">
              <a:xfrm flipH="1" flipV="1">
                <a:off x="3020" y="1056"/>
                <a:ext cx="484" cy="83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400" dirty="0">
                  <a:latin typeface="华文楷体" panose="02010600040101010101" pitchFamily="2" charset="-122"/>
                </a:endParaRPr>
              </a:p>
            </p:txBody>
          </p:sp>
          <p:sp>
            <p:nvSpPr>
              <p:cNvPr id="172064" name="Line 32"/>
              <p:cNvSpPr>
                <a:spLocks noChangeShapeType="1"/>
              </p:cNvSpPr>
              <p:nvPr/>
            </p:nvSpPr>
            <p:spPr bwMode="auto">
              <a:xfrm flipV="1">
                <a:off x="2051" y="1056"/>
                <a:ext cx="969" cy="96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400" dirty="0">
                  <a:latin typeface="华文楷体" panose="02010600040101010101" pitchFamily="2" charset="-122"/>
                </a:endParaRPr>
              </a:p>
            </p:txBody>
          </p:sp>
          <p:sp>
            <p:nvSpPr>
              <p:cNvPr id="172065" name="Line 33"/>
              <p:cNvSpPr>
                <a:spLocks noChangeShapeType="1"/>
              </p:cNvSpPr>
              <p:nvPr/>
            </p:nvSpPr>
            <p:spPr bwMode="auto">
              <a:xfrm flipH="1" flipV="1">
                <a:off x="2051" y="2025"/>
                <a:ext cx="485" cy="76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400" dirty="0">
                  <a:latin typeface="华文楷体" panose="02010600040101010101" pitchFamily="2" charset="-122"/>
                </a:endParaRPr>
              </a:p>
            </p:txBody>
          </p:sp>
          <p:sp>
            <p:nvSpPr>
              <p:cNvPr id="172066" name="Line 34"/>
              <p:cNvSpPr>
                <a:spLocks noChangeShapeType="1"/>
              </p:cNvSpPr>
              <p:nvPr/>
            </p:nvSpPr>
            <p:spPr bwMode="auto">
              <a:xfrm flipV="1">
                <a:off x="2536" y="1886"/>
                <a:ext cx="899" cy="9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400" dirty="0">
                  <a:latin typeface="华文楷体" panose="02010600040101010101" pitchFamily="2" charset="-122"/>
                </a:endParaRPr>
              </a:p>
            </p:txBody>
          </p:sp>
          <p:sp>
            <p:nvSpPr>
              <p:cNvPr id="172067" name="Line 35"/>
              <p:cNvSpPr>
                <a:spLocks noChangeShapeType="1"/>
              </p:cNvSpPr>
              <p:nvPr/>
            </p:nvSpPr>
            <p:spPr bwMode="auto">
              <a:xfrm flipH="1" flipV="1">
                <a:off x="2951" y="1056"/>
                <a:ext cx="484" cy="83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400" dirty="0">
                  <a:latin typeface="华文楷体" panose="02010600040101010101" pitchFamily="2" charset="-122"/>
                </a:endParaRPr>
              </a:p>
            </p:txBody>
          </p:sp>
          <p:sp>
            <p:nvSpPr>
              <p:cNvPr id="172068" name="Line 36"/>
              <p:cNvSpPr>
                <a:spLocks noChangeShapeType="1"/>
              </p:cNvSpPr>
              <p:nvPr/>
            </p:nvSpPr>
            <p:spPr bwMode="auto">
              <a:xfrm flipV="1">
                <a:off x="1982" y="1056"/>
                <a:ext cx="969" cy="96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400" dirty="0">
                  <a:latin typeface="华文楷体" panose="02010600040101010101" pitchFamily="2" charset="-122"/>
                </a:endParaRPr>
              </a:p>
            </p:txBody>
          </p:sp>
          <p:sp>
            <p:nvSpPr>
              <p:cNvPr id="172069" name="Line 37"/>
              <p:cNvSpPr>
                <a:spLocks noChangeShapeType="1"/>
              </p:cNvSpPr>
              <p:nvPr/>
            </p:nvSpPr>
            <p:spPr bwMode="auto">
              <a:xfrm flipH="1" flipV="1">
                <a:off x="1982" y="2025"/>
                <a:ext cx="484" cy="76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400" dirty="0">
                  <a:latin typeface="华文楷体" panose="02010600040101010101" pitchFamily="2" charset="-122"/>
                </a:endParaRPr>
              </a:p>
            </p:txBody>
          </p:sp>
          <p:sp>
            <p:nvSpPr>
              <p:cNvPr id="172070" name="Line 38"/>
              <p:cNvSpPr>
                <a:spLocks noChangeShapeType="1"/>
              </p:cNvSpPr>
              <p:nvPr/>
            </p:nvSpPr>
            <p:spPr bwMode="auto">
              <a:xfrm flipV="1">
                <a:off x="2466" y="1886"/>
                <a:ext cx="900" cy="9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400" dirty="0">
                  <a:latin typeface="华文楷体" panose="02010600040101010101" pitchFamily="2" charset="-122"/>
                </a:endParaRPr>
              </a:p>
            </p:txBody>
          </p:sp>
          <p:sp>
            <p:nvSpPr>
              <p:cNvPr id="172071" name="Line 39"/>
              <p:cNvSpPr>
                <a:spLocks noChangeShapeType="1"/>
              </p:cNvSpPr>
              <p:nvPr/>
            </p:nvSpPr>
            <p:spPr bwMode="auto">
              <a:xfrm flipH="1" flipV="1">
                <a:off x="2881" y="1056"/>
                <a:ext cx="485" cy="83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400" dirty="0">
                  <a:latin typeface="华文楷体" panose="02010600040101010101" pitchFamily="2" charset="-122"/>
                </a:endParaRPr>
              </a:p>
            </p:txBody>
          </p:sp>
          <p:sp>
            <p:nvSpPr>
              <p:cNvPr id="172072" name="Line 40"/>
              <p:cNvSpPr>
                <a:spLocks noChangeShapeType="1"/>
              </p:cNvSpPr>
              <p:nvPr/>
            </p:nvSpPr>
            <p:spPr bwMode="auto">
              <a:xfrm flipV="1">
                <a:off x="1913" y="1056"/>
                <a:ext cx="968" cy="96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400" dirty="0">
                  <a:latin typeface="华文楷体" panose="02010600040101010101" pitchFamily="2" charset="-122"/>
                </a:endParaRPr>
              </a:p>
            </p:txBody>
          </p:sp>
          <p:sp>
            <p:nvSpPr>
              <p:cNvPr id="172073" name="Line 41"/>
              <p:cNvSpPr>
                <a:spLocks noChangeShapeType="1"/>
              </p:cNvSpPr>
              <p:nvPr/>
            </p:nvSpPr>
            <p:spPr bwMode="auto">
              <a:xfrm>
                <a:off x="1913" y="2025"/>
                <a:ext cx="207" cy="34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400" dirty="0">
                  <a:latin typeface="华文楷体" panose="02010600040101010101" pitchFamily="2" charset="-122"/>
                </a:endParaRPr>
              </a:p>
            </p:txBody>
          </p:sp>
          <p:sp>
            <p:nvSpPr>
              <p:cNvPr id="172074" name="Line 42"/>
              <p:cNvSpPr>
                <a:spLocks noChangeShapeType="1"/>
              </p:cNvSpPr>
              <p:nvPr/>
            </p:nvSpPr>
            <p:spPr bwMode="auto">
              <a:xfrm flipV="1">
                <a:off x="1920" y="2371"/>
                <a:ext cx="200" cy="17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400" dirty="0">
                  <a:latin typeface="华文楷体" panose="02010600040101010101" pitchFamily="2" charset="-122"/>
                </a:endParaRPr>
              </a:p>
            </p:txBody>
          </p:sp>
        </p:grpSp>
        <p:sp>
          <p:nvSpPr>
            <p:cNvPr id="172075" name="Line 43"/>
            <p:cNvSpPr>
              <a:spLocks noChangeShapeType="1"/>
            </p:cNvSpPr>
            <p:nvPr/>
          </p:nvSpPr>
          <p:spPr bwMode="auto">
            <a:xfrm flipV="1">
              <a:off x="3984" y="2830"/>
              <a:ext cx="609" cy="2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400" dirty="0">
                <a:latin typeface="华文楷体" panose="02010600040101010101" pitchFamily="2" charset="-122"/>
              </a:endParaRPr>
            </a:p>
          </p:txBody>
        </p:sp>
        <p:sp>
          <p:nvSpPr>
            <p:cNvPr id="172076" name="Line 44"/>
            <p:cNvSpPr>
              <a:spLocks noChangeShapeType="1"/>
            </p:cNvSpPr>
            <p:nvPr/>
          </p:nvSpPr>
          <p:spPr bwMode="auto">
            <a:xfrm>
              <a:off x="3847" y="3456"/>
              <a:ext cx="746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400" dirty="0">
                <a:latin typeface="华文楷体" panose="02010600040101010101" pitchFamily="2" charset="-122"/>
              </a:endParaRPr>
            </a:p>
          </p:txBody>
        </p:sp>
        <p:sp>
          <p:nvSpPr>
            <p:cNvPr id="172077" name="Line 45"/>
            <p:cNvSpPr>
              <a:spLocks noChangeShapeType="1"/>
            </p:cNvSpPr>
            <p:nvPr/>
          </p:nvSpPr>
          <p:spPr bwMode="auto">
            <a:xfrm>
              <a:off x="4593" y="2830"/>
              <a:ext cx="0" cy="163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400" dirty="0">
                <a:latin typeface="华文楷体" panose="02010600040101010101" pitchFamily="2" charset="-122"/>
              </a:endParaRPr>
            </a:p>
          </p:txBody>
        </p:sp>
        <p:sp>
          <p:nvSpPr>
            <p:cNvPr id="172078" name="Line 46"/>
            <p:cNvSpPr>
              <a:spLocks noChangeShapeType="1"/>
            </p:cNvSpPr>
            <p:nvPr/>
          </p:nvSpPr>
          <p:spPr bwMode="auto">
            <a:xfrm>
              <a:off x="4581" y="3293"/>
              <a:ext cx="0" cy="163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400" dirty="0">
                <a:latin typeface="华文楷体" panose="02010600040101010101" pitchFamily="2" charset="-122"/>
              </a:endParaRPr>
            </a:p>
          </p:txBody>
        </p:sp>
        <p:sp>
          <p:nvSpPr>
            <p:cNvPr id="172079" name="Rectangle 47"/>
            <p:cNvSpPr>
              <a:spLocks noChangeArrowheads="1"/>
            </p:cNvSpPr>
            <p:nvPr/>
          </p:nvSpPr>
          <p:spPr bwMode="auto">
            <a:xfrm>
              <a:off x="4541" y="2993"/>
              <a:ext cx="81" cy="319"/>
            </a:xfrm>
            <a:prstGeom prst="rect">
              <a:avLst/>
            </a:prstGeom>
            <a:gradFill rotWithShape="0">
              <a:gsLst>
                <a:gs pos="0">
                  <a:srgbClr val="003366"/>
                </a:gs>
                <a:gs pos="50000">
                  <a:srgbClr val="003366">
                    <a:gamma/>
                    <a:tint val="23529"/>
                    <a:invGamma/>
                  </a:srgbClr>
                </a:gs>
                <a:gs pos="100000">
                  <a:srgbClr val="003366"/>
                </a:gs>
              </a:gsLst>
              <a:lin ang="0" scaled="1"/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dirty="0">
                <a:latin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080" name="Object 48"/>
                <p:cNvSpPr txBox="1"/>
                <p:nvPr/>
              </p:nvSpPr>
              <p:spPr bwMode="auto">
                <a:xfrm>
                  <a:off x="3765" y="1202"/>
                  <a:ext cx="286" cy="33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72080" name="Object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65" y="1202"/>
                  <a:ext cx="286" cy="33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081" name="Object 49"/>
                <p:cNvSpPr txBox="1"/>
                <p:nvPr/>
              </p:nvSpPr>
              <p:spPr bwMode="auto">
                <a:xfrm>
                  <a:off x="4992" y="626"/>
                  <a:ext cx="384" cy="33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72081" name="Object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92" y="626"/>
                  <a:ext cx="384" cy="33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082" name="Object 50"/>
                <p:cNvSpPr txBox="1"/>
                <p:nvPr/>
              </p:nvSpPr>
              <p:spPr bwMode="auto">
                <a:xfrm>
                  <a:off x="3245" y="3391"/>
                  <a:ext cx="238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72082" name="Object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45" y="3391"/>
                  <a:ext cx="238" cy="30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2083" name="Oval 51"/>
            <p:cNvSpPr>
              <a:spLocks noChangeArrowheads="1"/>
            </p:cNvSpPr>
            <p:nvPr/>
          </p:nvSpPr>
          <p:spPr bwMode="auto">
            <a:xfrm rot="1952563">
              <a:off x="3164" y="3171"/>
              <a:ext cx="244" cy="192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dirty="0">
                <a:latin typeface="华文楷体" panose="02010600040101010101" pitchFamily="2" charset="-122"/>
              </a:endParaRPr>
            </a:p>
          </p:txBody>
        </p:sp>
        <p:sp>
          <p:nvSpPr>
            <p:cNvPr id="172084" name="Rectangle 52"/>
            <p:cNvSpPr>
              <a:spLocks noChangeArrowheads="1"/>
            </p:cNvSpPr>
            <p:nvPr/>
          </p:nvSpPr>
          <p:spPr bwMode="auto">
            <a:xfrm>
              <a:off x="3194" y="3264"/>
              <a:ext cx="123" cy="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dirty="0">
                <a:latin typeface="华文楷体" panose="02010600040101010101" pitchFamily="2" charset="-122"/>
              </a:endParaRPr>
            </a:p>
          </p:txBody>
        </p:sp>
        <p:sp>
          <p:nvSpPr>
            <p:cNvPr id="172085" name="Line 53"/>
            <p:cNvSpPr>
              <a:spLocks noChangeShapeType="1"/>
            </p:cNvSpPr>
            <p:nvPr/>
          </p:nvSpPr>
          <p:spPr bwMode="auto">
            <a:xfrm flipH="1">
              <a:off x="3153" y="816"/>
              <a:ext cx="1836" cy="26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400" dirty="0">
                <a:latin typeface="华文楷体" panose="02010600040101010101" pitchFamily="2" charset="-122"/>
              </a:endParaRPr>
            </a:p>
          </p:txBody>
        </p:sp>
        <p:sp>
          <p:nvSpPr>
            <p:cNvPr id="172086" name="Freeform 54"/>
            <p:cNvSpPr>
              <a:spLocks/>
            </p:cNvSpPr>
            <p:nvPr/>
          </p:nvSpPr>
          <p:spPr bwMode="auto">
            <a:xfrm>
              <a:off x="3158" y="3165"/>
              <a:ext cx="98" cy="147"/>
            </a:xfrm>
            <a:custGeom>
              <a:avLst/>
              <a:gdLst>
                <a:gd name="T0" fmla="*/ 116 w 116"/>
                <a:gd name="T1" fmla="*/ 0 h 147"/>
                <a:gd name="T2" fmla="*/ 66 w 116"/>
                <a:gd name="T3" fmla="*/ 20 h 147"/>
                <a:gd name="T4" fmla="*/ 7 w 116"/>
                <a:gd name="T5" fmla="*/ 69 h 147"/>
                <a:gd name="T6" fmla="*/ 26 w 116"/>
                <a:gd name="T7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6" h="147">
                  <a:moveTo>
                    <a:pt x="116" y="0"/>
                  </a:moveTo>
                  <a:cubicBezTo>
                    <a:pt x="108" y="3"/>
                    <a:pt x="84" y="9"/>
                    <a:pt x="66" y="20"/>
                  </a:cubicBezTo>
                  <a:cubicBezTo>
                    <a:pt x="48" y="31"/>
                    <a:pt x="14" y="48"/>
                    <a:pt x="7" y="69"/>
                  </a:cubicBezTo>
                  <a:cubicBezTo>
                    <a:pt x="0" y="90"/>
                    <a:pt x="22" y="131"/>
                    <a:pt x="26" y="147"/>
                  </a:cubicBezTo>
                </a:path>
              </a:pathLst>
            </a:custGeom>
            <a:noFill/>
            <a:ln w="9525">
              <a:solidFill>
                <a:srgbClr val="CC0000"/>
              </a:solidFill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400" dirty="0">
                <a:latin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087" name="Object 55"/>
                <p:cNvSpPr txBox="1"/>
                <p:nvPr/>
              </p:nvSpPr>
              <p:spPr bwMode="auto">
                <a:xfrm flipH="1">
                  <a:off x="3065" y="2911"/>
                  <a:ext cx="292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72087" name="Object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 flipH="1">
                  <a:off x="3065" y="2911"/>
                  <a:ext cx="292" cy="30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2088" name="Line 56"/>
            <p:cNvSpPr>
              <a:spLocks noChangeShapeType="1"/>
            </p:cNvSpPr>
            <p:nvPr/>
          </p:nvSpPr>
          <p:spPr bwMode="auto">
            <a:xfrm>
              <a:off x="4459" y="2976"/>
              <a:ext cx="0" cy="33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400" dirty="0">
                <a:latin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089" name="Object 57"/>
                <p:cNvSpPr txBox="1"/>
                <p:nvPr/>
              </p:nvSpPr>
              <p:spPr bwMode="auto">
                <a:xfrm>
                  <a:off x="4332" y="2805"/>
                  <a:ext cx="168" cy="3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72089" name="Object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32" y="2805"/>
                  <a:ext cx="168" cy="36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090" name="Object 58"/>
                <p:cNvSpPr txBox="1"/>
                <p:nvPr/>
              </p:nvSpPr>
              <p:spPr bwMode="auto">
                <a:xfrm>
                  <a:off x="5193" y="1152"/>
                  <a:ext cx="245" cy="3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72090" name="Object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93" y="1152"/>
                  <a:ext cx="245" cy="35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2091" name="Line 59"/>
            <p:cNvSpPr>
              <a:spLocks noChangeShapeType="1"/>
            </p:cNvSpPr>
            <p:nvPr/>
          </p:nvSpPr>
          <p:spPr bwMode="auto">
            <a:xfrm flipV="1">
              <a:off x="4296" y="1296"/>
              <a:ext cx="775" cy="4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400" dirty="0">
                <a:latin typeface="华文楷体" panose="02010600040101010101" pitchFamily="2" charset="-122"/>
              </a:endParaRPr>
            </a:p>
          </p:txBody>
        </p:sp>
        <p:sp>
          <p:nvSpPr>
            <p:cNvPr id="172092" name="Freeform 60"/>
            <p:cNvSpPr>
              <a:spLocks/>
            </p:cNvSpPr>
            <p:nvPr/>
          </p:nvSpPr>
          <p:spPr bwMode="auto">
            <a:xfrm>
              <a:off x="4576" y="1602"/>
              <a:ext cx="49" cy="144"/>
            </a:xfrm>
            <a:custGeom>
              <a:avLst/>
              <a:gdLst>
                <a:gd name="T0" fmla="*/ 0 w 57"/>
                <a:gd name="T1" fmla="*/ 0 h 144"/>
                <a:gd name="T2" fmla="*/ 36 w 57"/>
                <a:gd name="T3" fmla="*/ 36 h 144"/>
                <a:gd name="T4" fmla="*/ 54 w 57"/>
                <a:gd name="T5" fmla="*/ 78 h 144"/>
                <a:gd name="T6" fmla="*/ 54 w 57"/>
                <a:gd name="T7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" h="144">
                  <a:moveTo>
                    <a:pt x="0" y="0"/>
                  </a:moveTo>
                  <a:cubicBezTo>
                    <a:pt x="6" y="6"/>
                    <a:pt x="27" y="23"/>
                    <a:pt x="36" y="36"/>
                  </a:cubicBezTo>
                  <a:cubicBezTo>
                    <a:pt x="45" y="49"/>
                    <a:pt x="51" y="60"/>
                    <a:pt x="54" y="78"/>
                  </a:cubicBezTo>
                  <a:cubicBezTo>
                    <a:pt x="57" y="96"/>
                    <a:pt x="54" y="130"/>
                    <a:pt x="54" y="144"/>
                  </a:cubicBezTo>
                </a:path>
              </a:pathLst>
            </a:custGeom>
            <a:noFill/>
            <a:ln w="28575" cmpd="sng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400" dirty="0">
                <a:latin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093" name="Object 61"/>
                <p:cNvSpPr txBox="1"/>
                <p:nvPr/>
              </p:nvSpPr>
              <p:spPr bwMode="auto">
                <a:xfrm>
                  <a:off x="4622" y="1490"/>
                  <a:ext cx="175" cy="2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72093" name="Object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22" y="1490"/>
                  <a:ext cx="175" cy="286"/>
                </a:xfrm>
                <a:prstGeom prst="rect">
                  <a:avLst/>
                </a:prstGeom>
                <a:blipFill>
                  <a:blip r:embed="rId9"/>
                  <a:stretch>
                    <a:fillRect r="-652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094" name="Object 62"/>
                <p:cNvSpPr txBox="1"/>
                <p:nvPr/>
              </p:nvSpPr>
              <p:spPr bwMode="auto">
                <a:xfrm>
                  <a:off x="4851" y="947"/>
                  <a:ext cx="265" cy="4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72094" name="Object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51" y="947"/>
                  <a:ext cx="265" cy="405"/>
                </a:xfrm>
                <a:prstGeom prst="rect">
                  <a:avLst/>
                </a:prstGeom>
                <a:blipFill>
                  <a:blip r:embed="rId10"/>
                  <a:stretch>
                    <a:fillRect t="-2830" r="-434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2096" name="Line 64"/>
            <p:cNvSpPr>
              <a:spLocks noChangeShapeType="1"/>
            </p:cNvSpPr>
            <p:nvPr/>
          </p:nvSpPr>
          <p:spPr bwMode="auto">
            <a:xfrm flipV="1">
              <a:off x="3984" y="2496"/>
              <a:ext cx="0" cy="33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400" dirty="0">
                <a:latin typeface="华文楷体" panose="02010600040101010101" pitchFamily="2" charset="-122"/>
              </a:endParaRPr>
            </a:p>
          </p:txBody>
        </p:sp>
        <p:sp>
          <p:nvSpPr>
            <p:cNvPr id="172097" name="Line 65"/>
            <p:cNvSpPr>
              <a:spLocks noChangeShapeType="1"/>
            </p:cNvSpPr>
            <p:nvPr/>
          </p:nvSpPr>
          <p:spPr bwMode="auto">
            <a:xfrm flipV="1">
              <a:off x="3840" y="2784"/>
              <a:ext cx="0" cy="672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400" dirty="0">
                <a:latin typeface="华文楷体" panose="02010600040101010101" pitchFamily="2" charset="-122"/>
              </a:endParaRPr>
            </a:p>
          </p:txBody>
        </p:sp>
      </p:grpSp>
      <p:grpSp>
        <p:nvGrpSpPr>
          <p:cNvPr id="172098" name="Group 66"/>
          <p:cNvGrpSpPr>
            <a:grpSpLocks/>
          </p:cNvGrpSpPr>
          <p:nvPr/>
        </p:nvGrpSpPr>
        <p:grpSpPr bwMode="auto">
          <a:xfrm>
            <a:off x="363668" y="956083"/>
            <a:ext cx="5905529" cy="1292225"/>
            <a:chOff x="-599" y="818"/>
            <a:chExt cx="3413" cy="814"/>
          </a:xfrm>
        </p:grpSpPr>
        <p:sp>
          <p:nvSpPr>
            <p:cNvPr id="172099" name="Text Box 67"/>
            <p:cNvSpPr txBox="1">
              <a:spLocks noChangeArrowheads="1"/>
            </p:cNvSpPr>
            <p:nvPr/>
          </p:nvSpPr>
          <p:spPr bwMode="auto">
            <a:xfrm>
              <a:off x="-599" y="818"/>
              <a:ext cx="3413" cy="8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600" dirty="0">
                  <a:solidFill>
                    <a:srgbClr val="1C1C1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在匀强磁场中,  置有面积为 </a:t>
              </a:r>
              <a:r>
                <a:rPr lang="en-US" altLang="zh-CN" sz="2600" i="1" dirty="0">
                  <a:solidFill>
                    <a:srgbClr val="1C1C1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S </a:t>
              </a:r>
              <a:r>
                <a:rPr lang="zh-CN" altLang="en-US" sz="2600" dirty="0">
                  <a:solidFill>
                    <a:srgbClr val="1C1C1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的可绕轴转动的</a:t>
              </a:r>
              <a:r>
                <a:rPr lang="en-US" altLang="zh-CN" sz="2600" i="1" dirty="0">
                  <a:solidFill>
                    <a:srgbClr val="1C1C1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N </a:t>
              </a:r>
              <a:r>
                <a:rPr lang="zh-CN" altLang="en-US" sz="2600" dirty="0">
                  <a:solidFill>
                    <a:srgbClr val="1C1C1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匝线圈。若线圈以角速度     作匀速转动。</a:t>
              </a:r>
              <a:r>
                <a:rPr lang="zh-CN" altLang="en-US" sz="26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求</a:t>
              </a:r>
              <a:r>
                <a:rPr lang="zh-CN" altLang="en-US" sz="2600" dirty="0">
                  <a:solidFill>
                    <a:srgbClr val="1C1C1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线圈 中的感应电动势。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100" name="Object 68"/>
                <p:cNvSpPr txBox="1"/>
                <p:nvPr/>
              </p:nvSpPr>
              <p:spPr bwMode="auto">
                <a:xfrm>
                  <a:off x="2345" y="1054"/>
                  <a:ext cx="180" cy="1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172100" name="Object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45" y="1054"/>
                  <a:ext cx="180" cy="142"/>
                </a:xfrm>
                <a:prstGeom prst="rect">
                  <a:avLst/>
                </a:prstGeom>
                <a:blipFill>
                  <a:blip r:embed="rId11"/>
                  <a:stretch>
                    <a:fillRect r="-1961" b="-6486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7E9491-1A8C-4748-A9A5-01BAAAA95D04}"/>
                  </a:ext>
                </a:extLst>
              </p:cNvPr>
              <p:cNvSpPr txBox="1"/>
              <p:nvPr/>
            </p:nvSpPr>
            <p:spPr>
              <a:xfrm>
                <a:off x="703113" y="2537747"/>
                <a:ext cx="4878423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en-US" sz="2600" i="1">
                        <a:latin typeface="Cambria Math" panose="02040503050406030204" pitchFamily="18" charset="0"/>
                      </a:rPr>
                      <m:t>时</m:t>
                    </m:r>
                  </m:oMath>
                </a14:m>
                <a:r>
                  <a:rPr lang="zh-CN" altLang="en-US" sz="2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，线圈法线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600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acc>
                    <m:r>
                      <a:rPr lang="en-US" altLang="zh-CN" sz="2600" b="0" i="1" baseline="-2500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方向和磁场方向重合，则</a:t>
                </a:r>
                <a14:m>
                  <m:oMath xmlns:m="http://schemas.openxmlformats.org/officeDocument/2006/math">
                    <m:r>
                      <a:rPr lang="zh-CN" altLang="en-US" sz="260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600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en-US" sz="26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sz="2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:endParaRPr lang="en-US" sz="2600" dirty="0"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7E9491-1A8C-4748-A9A5-01BAAAA95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113" y="2537747"/>
                <a:ext cx="4878423" cy="892552"/>
              </a:xfrm>
              <a:prstGeom prst="rect">
                <a:avLst/>
              </a:prstGeom>
              <a:blipFill>
                <a:blip r:embed="rId12"/>
                <a:stretch>
                  <a:fillRect l="-2247" t="-6122" r="-1498" b="-16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Object 18">
                <a:extLst>
                  <a:ext uri="{FF2B5EF4-FFF2-40B4-BE49-F238E27FC236}">
                    <a16:creationId xmlns:a16="http://schemas.microsoft.com/office/drawing/2014/main" id="{C460F9D5-AC8E-48D5-9900-FA6AA4E83682}"/>
                  </a:ext>
                </a:extLst>
              </p:cNvPr>
              <p:cNvSpPr txBox="1"/>
              <p:nvPr/>
            </p:nvSpPr>
            <p:spPr bwMode="auto">
              <a:xfrm>
                <a:off x="2062229" y="3614764"/>
                <a:ext cx="4318823" cy="4572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𝑁𝐵𝑆</m:t>
                      </m:r>
                      <m:func>
                        <m:func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func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2" name="Object 18">
                <a:extLst>
                  <a:ext uri="{FF2B5EF4-FFF2-40B4-BE49-F238E27FC236}">
                    <a16:creationId xmlns:a16="http://schemas.microsoft.com/office/drawing/2014/main" id="{C460F9D5-AC8E-48D5-9900-FA6AA4E83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2229" y="3614764"/>
                <a:ext cx="4318823" cy="45728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72ED8EB-62F0-4323-BDCC-22F7B6ED18F7}"/>
              </a:ext>
            </a:extLst>
          </p:cNvPr>
          <p:cNvSpPr txBox="1"/>
          <p:nvPr/>
        </p:nvSpPr>
        <p:spPr>
          <a:xfrm>
            <a:off x="615374" y="3603263"/>
            <a:ext cx="15679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磁通量：</a:t>
            </a:r>
            <a:endParaRPr lang="en-US" sz="2600" dirty="0">
              <a:latin typeface="华文楷体" panose="02010600040101010101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B39B7E-3003-4F72-A322-D6C524884F23}"/>
              </a:ext>
            </a:extLst>
          </p:cNvPr>
          <p:cNvSpPr txBox="1"/>
          <p:nvPr/>
        </p:nvSpPr>
        <p:spPr>
          <a:xfrm>
            <a:off x="664769" y="4355068"/>
            <a:ext cx="192495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dirty="0">
                <a:latin typeface="华文楷体" panose="02010600040101010101" pitchFamily="2" charset="-122"/>
                <a:ea typeface="华文楷体" panose="02010600040101010101" pitchFamily="2" charset="-122"/>
              </a:rPr>
              <a:t>感应电动势：</a:t>
            </a:r>
            <a:endParaRPr lang="en-US" sz="2600" dirty="0">
              <a:latin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Object 19">
                <a:extLst>
                  <a:ext uri="{FF2B5EF4-FFF2-40B4-BE49-F238E27FC236}">
                    <a16:creationId xmlns:a16="http://schemas.microsoft.com/office/drawing/2014/main" id="{EAF401B5-E06C-40E0-861D-6AC6AEAA7C36}"/>
                  </a:ext>
                </a:extLst>
              </p:cNvPr>
              <p:cNvSpPr txBox="1"/>
              <p:nvPr/>
            </p:nvSpPr>
            <p:spPr bwMode="auto">
              <a:xfrm>
                <a:off x="2770951" y="4140200"/>
                <a:ext cx="4027879" cy="7953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𝑁𝐵𝑆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func>
                        <m:func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func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73" name="Object 19">
                <a:extLst>
                  <a:ext uri="{FF2B5EF4-FFF2-40B4-BE49-F238E27FC236}">
                    <a16:creationId xmlns:a16="http://schemas.microsoft.com/office/drawing/2014/main" id="{EAF401B5-E06C-40E0-861D-6AC6AEAA7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0951" y="4140200"/>
                <a:ext cx="4027879" cy="795338"/>
              </a:xfrm>
              <a:prstGeom prst="rect">
                <a:avLst/>
              </a:prstGeom>
              <a:blipFill>
                <a:blip r:embed="rId14"/>
                <a:stretch>
                  <a:fillRect b="-7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EFC398B-19B4-4E04-9F89-A6E5A7182BCB}"/>
                  </a:ext>
                </a:extLst>
              </p:cNvPr>
              <p:cNvSpPr txBox="1"/>
              <p:nvPr/>
            </p:nvSpPr>
            <p:spPr>
              <a:xfrm>
                <a:off x="2859957" y="5189958"/>
                <a:ext cx="1056379" cy="39151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得到</m:t>
                      </m:r>
                      <m:r>
                        <a:rPr lang="zh-CN" altLang="en-US" sz="2600" i="1" smtClean="0">
                          <a:latin typeface="Cambria Math" panose="02040503050406030204" pitchFamily="18" charset="0"/>
                        </a:rPr>
                        <m:t>：</m:t>
                      </m:r>
                    </m:oMath>
                  </m:oMathPara>
                </a14:m>
                <a:endParaRPr lang="en-US" sz="2600" baseline="-25000" dirty="0">
                  <a:latin typeface="+mn-ea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EFC398B-19B4-4E04-9F89-A6E5A7182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957" y="5189958"/>
                <a:ext cx="1056379" cy="391517"/>
              </a:xfrm>
              <a:prstGeom prst="rect">
                <a:avLst/>
              </a:prstGeom>
              <a:blipFill>
                <a:blip r:embed="rId15"/>
                <a:stretch>
                  <a:fillRect l="-10983" r="-4624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BCD585-15B4-478C-8CFE-6576A463337B}"/>
                  </a:ext>
                </a:extLst>
              </p:cNvPr>
              <p:cNvSpPr txBox="1"/>
              <p:nvPr/>
            </p:nvSpPr>
            <p:spPr>
              <a:xfrm>
                <a:off x="3796154" y="5188415"/>
                <a:ext cx="1958998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unc>
                        <m:func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m:rPr>
                              <m:sty m:val="p"/>
                            </m:rPr>
                            <a:rPr lang="en-US" altLang="zh-CN" sz="2600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func>
                    </m:oMath>
                  </m:oMathPara>
                </a14:m>
                <a:endParaRPr lang="en-US" sz="2600" dirty="0">
                  <a:latin typeface="+mn-ea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BCD585-15B4-478C-8CFE-6576A4633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6154" y="5188415"/>
                <a:ext cx="195899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561773" y="5142249"/>
                <a:ext cx="2301720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600" dirty="0">
                    <a:latin typeface="+mn-ea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6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600" i="1">
                        <a:latin typeface="Cambria Math" panose="02040503050406030204" pitchFamily="18" charset="0"/>
                      </a:rPr>
                      <m:t>𝑁𝐵𝑆</m:t>
                    </m:r>
                    <m:r>
                      <a:rPr lang="zh-CN" altLang="en-US" sz="26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26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600" dirty="0">
                  <a:latin typeface="+mn-ea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773" y="5142249"/>
                <a:ext cx="2301720" cy="492443"/>
              </a:xfrm>
              <a:prstGeom prst="rect">
                <a:avLst/>
              </a:prstGeom>
              <a:blipFill>
                <a:blip r:embed="rId17"/>
                <a:stretch>
                  <a:fillRect l="-4762" t="-12500" b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9743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2" grpId="0"/>
      <p:bldP spid="4" grpId="0"/>
      <p:bldP spid="5" grpId="0"/>
      <p:bldP spid="73" grpId="0"/>
      <p:bldP spid="8" grpId="0" animBg="1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098" name="Group 66"/>
          <p:cNvGrpSpPr>
            <a:grpSpLocks/>
          </p:cNvGrpSpPr>
          <p:nvPr/>
        </p:nvGrpSpPr>
        <p:grpSpPr bwMode="auto">
          <a:xfrm>
            <a:off x="363668" y="956083"/>
            <a:ext cx="5905529" cy="1292225"/>
            <a:chOff x="-599" y="818"/>
            <a:chExt cx="3413" cy="814"/>
          </a:xfrm>
        </p:grpSpPr>
        <p:sp>
          <p:nvSpPr>
            <p:cNvPr id="172099" name="Text Box 67"/>
            <p:cNvSpPr txBox="1">
              <a:spLocks noChangeArrowheads="1"/>
            </p:cNvSpPr>
            <p:nvPr/>
          </p:nvSpPr>
          <p:spPr bwMode="auto">
            <a:xfrm>
              <a:off x="-599" y="818"/>
              <a:ext cx="3413" cy="8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600" dirty="0">
                  <a:solidFill>
                    <a:srgbClr val="1C1C1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在匀强磁场中,  置有面积为 </a:t>
              </a:r>
              <a:r>
                <a:rPr lang="en-US" altLang="zh-CN" sz="2600" i="1" dirty="0">
                  <a:solidFill>
                    <a:srgbClr val="1C1C1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S </a:t>
              </a:r>
              <a:r>
                <a:rPr lang="zh-CN" altLang="en-US" sz="2600" dirty="0">
                  <a:solidFill>
                    <a:srgbClr val="1C1C1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的可绕轴转动的</a:t>
              </a:r>
              <a:r>
                <a:rPr lang="en-US" altLang="zh-CN" sz="2600" i="1" dirty="0">
                  <a:solidFill>
                    <a:srgbClr val="1C1C1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N </a:t>
              </a:r>
              <a:r>
                <a:rPr lang="zh-CN" altLang="en-US" sz="2600" dirty="0">
                  <a:solidFill>
                    <a:srgbClr val="1C1C1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匝线圈。若线圈以角速度     作匀速转动。</a:t>
              </a:r>
              <a:r>
                <a:rPr lang="zh-CN" altLang="en-US" sz="26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求</a:t>
              </a:r>
              <a:r>
                <a:rPr lang="zh-CN" altLang="en-US" sz="2600" dirty="0">
                  <a:solidFill>
                    <a:srgbClr val="1C1C1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线圈 中的感应电动势。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100" name="Object 68"/>
                <p:cNvSpPr txBox="1"/>
                <p:nvPr/>
              </p:nvSpPr>
              <p:spPr bwMode="auto">
                <a:xfrm>
                  <a:off x="2345" y="1054"/>
                  <a:ext cx="180" cy="1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172100" name="Object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45" y="1054"/>
                  <a:ext cx="180" cy="142"/>
                </a:xfrm>
                <a:prstGeom prst="rect">
                  <a:avLst/>
                </a:prstGeom>
                <a:blipFill>
                  <a:blip r:embed="rId11"/>
                  <a:stretch>
                    <a:fillRect r="-1961" b="-6486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7E9491-1A8C-4748-A9A5-01BAAAA95D04}"/>
                  </a:ext>
                </a:extLst>
              </p:cNvPr>
              <p:cNvSpPr txBox="1"/>
              <p:nvPr/>
            </p:nvSpPr>
            <p:spPr>
              <a:xfrm>
                <a:off x="703113" y="2537747"/>
                <a:ext cx="4878423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en-US" sz="2600" i="1">
                        <a:latin typeface="Cambria Math" panose="02040503050406030204" pitchFamily="18" charset="0"/>
                      </a:rPr>
                      <m:t>时</m:t>
                    </m:r>
                  </m:oMath>
                </a14:m>
                <a:r>
                  <a:rPr lang="zh-CN" altLang="en-US" sz="2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，线圈法线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600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acc>
                    <m:r>
                      <a:rPr lang="en-US" altLang="zh-CN" sz="2600" b="0" i="1" baseline="-2500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方向和磁场方向重合，则</a:t>
                </a:r>
                <a14:m>
                  <m:oMath xmlns:m="http://schemas.openxmlformats.org/officeDocument/2006/math">
                    <m:r>
                      <a:rPr lang="zh-CN" altLang="en-US" sz="260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600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en-US" sz="26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sz="2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:endParaRPr lang="en-US" sz="2600" dirty="0"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7E9491-1A8C-4748-A9A5-01BAAAA95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113" y="2537747"/>
                <a:ext cx="4878423" cy="892552"/>
              </a:xfrm>
              <a:prstGeom prst="rect">
                <a:avLst/>
              </a:prstGeom>
              <a:blipFill>
                <a:blip r:embed="rId12"/>
                <a:stretch>
                  <a:fillRect l="-2247" t="-6122" r="-1498" b="-16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Object 18">
                <a:extLst>
                  <a:ext uri="{FF2B5EF4-FFF2-40B4-BE49-F238E27FC236}">
                    <a16:creationId xmlns:a16="http://schemas.microsoft.com/office/drawing/2014/main" id="{C460F9D5-AC8E-48D5-9900-FA6AA4E83682}"/>
                  </a:ext>
                </a:extLst>
              </p:cNvPr>
              <p:cNvSpPr txBox="1"/>
              <p:nvPr/>
            </p:nvSpPr>
            <p:spPr bwMode="auto">
              <a:xfrm>
                <a:off x="2062229" y="3614764"/>
                <a:ext cx="4318823" cy="4572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𝑁𝐵𝑆</m:t>
                      </m:r>
                      <m:func>
                        <m:func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func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2" name="Object 18">
                <a:extLst>
                  <a:ext uri="{FF2B5EF4-FFF2-40B4-BE49-F238E27FC236}">
                    <a16:creationId xmlns:a16="http://schemas.microsoft.com/office/drawing/2014/main" id="{C460F9D5-AC8E-48D5-9900-FA6AA4E83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2229" y="3614764"/>
                <a:ext cx="4318823" cy="45728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72ED8EB-62F0-4323-BDCC-22F7B6ED18F7}"/>
              </a:ext>
            </a:extLst>
          </p:cNvPr>
          <p:cNvSpPr txBox="1"/>
          <p:nvPr/>
        </p:nvSpPr>
        <p:spPr>
          <a:xfrm>
            <a:off x="615374" y="3603263"/>
            <a:ext cx="15679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磁通量：</a:t>
            </a:r>
            <a:endParaRPr lang="en-US" sz="2600" dirty="0">
              <a:latin typeface="华文楷体" panose="02010600040101010101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B39B7E-3003-4F72-A322-D6C524884F23}"/>
              </a:ext>
            </a:extLst>
          </p:cNvPr>
          <p:cNvSpPr txBox="1"/>
          <p:nvPr/>
        </p:nvSpPr>
        <p:spPr>
          <a:xfrm>
            <a:off x="664769" y="4355068"/>
            <a:ext cx="192495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dirty="0">
                <a:latin typeface="华文楷体" panose="02010600040101010101" pitchFamily="2" charset="-122"/>
                <a:ea typeface="华文楷体" panose="02010600040101010101" pitchFamily="2" charset="-122"/>
              </a:rPr>
              <a:t>感应电动势：</a:t>
            </a:r>
            <a:endParaRPr lang="en-US" sz="2600" dirty="0">
              <a:latin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Object 19">
                <a:extLst>
                  <a:ext uri="{FF2B5EF4-FFF2-40B4-BE49-F238E27FC236}">
                    <a16:creationId xmlns:a16="http://schemas.microsoft.com/office/drawing/2014/main" id="{EAF401B5-E06C-40E0-861D-6AC6AEAA7C36}"/>
                  </a:ext>
                </a:extLst>
              </p:cNvPr>
              <p:cNvSpPr txBox="1"/>
              <p:nvPr/>
            </p:nvSpPr>
            <p:spPr bwMode="auto">
              <a:xfrm>
                <a:off x="2770951" y="4140200"/>
                <a:ext cx="4027879" cy="7953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𝑁𝐵𝑆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func>
                        <m:func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func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73" name="Object 19">
                <a:extLst>
                  <a:ext uri="{FF2B5EF4-FFF2-40B4-BE49-F238E27FC236}">
                    <a16:creationId xmlns:a16="http://schemas.microsoft.com/office/drawing/2014/main" id="{EAF401B5-E06C-40E0-861D-6AC6AEAA7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0951" y="4140200"/>
                <a:ext cx="4027879" cy="795338"/>
              </a:xfrm>
              <a:prstGeom prst="rect">
                <a:avLst/>
              </a:prstGeom>
              <a:blipFill>
                <a:blip r:embed="rId14"/>
                <a:stretch>
                  <a:fillRect b="-7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EFC398B-19B4-4E04-9F89-A6E5A7182BCB}"/>
                  </a:ext>
                </a:extLst>
              </p:cNvPr>
              <p:cNvSpPr txBox="1"/>
              <p:nvPr/>
            </p:nvSpPr>
            <p:spPr>
              <a:xfrm>
                <a:off x="2859957" y="5189958"/>
                <a:ext cx="1056379" cy="39151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得到</m:t>
                      </m:r>
                      <m:r>
                        <a:rPr lang="zh-CN" altLang="en-US" sz="2600" i="1" smtClean="0">
                          <a:latin typeface="Cambria Math" panose="02040503050406030204" pitchFamily="18" charset="0"/>
                        </a:rPr>
                        <m:t>：</m:t>
                      </m:r>
                    </m:oMath>
                  </m:oMathPara>
                </a14:m>
                <a:endParaRPr lang="en-US" sz="2600" baseline="-25000" dirty="0">
                  <a:latin typeface="+mn-ea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EFC398B-19B4-4E04-9F89-A6E5A7182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957" y="5189958"/>
                <a:ext cx="1056379" cy="391517"/>
              </a:xfrm>
              <a:prstGeom prst="rect">
                <a:avLst/>
              </a:prstGeom>
              <a:blipFill>
                <a:blip r:embed="rId15"/>
                <a:stretch>
                  <a:fillRect l="-10983" r="-4624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BCD585-15B4-478C-8CFE-6576A463337B}"/>
                  </a:ext>
                </a:extLst>
              </p:cNvPr>
              <p:cNvSpPr txBox="1"/>
              <p:nvPr/>
            </p:nvSpPr>
            <p:spPr>
              <a:xfrm>
                <a:off x="3796154" y="5188415"/>
                <a:ext cx="1958998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unc>
                        <m:func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m:rPr>
                              <m:sty m:val="p"/>
                            </m:rPr>
                            <a:rPr lang="en-US" altLang="zh-CN" sz="2600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func>
                    </m:oMath>
                  </m:oMathPara>
                </a14:m>
                <a:endParaRPr lang="en-US" sz="2600" dirty="0">
                  <a:latin typeface="+mn-ea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BCD585-15B4-478C-8CFE-6576A4633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6154" y="5188415"/>
                <a:ext cx="195899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561773" y="5142249"/>
                <a:ext cx="2301720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600" dirty="0">
                    <a:latin typeface="+mn-ea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6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600" i="1">
                        <a:latin typeface="Cambria Math" panose="02040503050406030204" pitchFamily="18" charset="0"/>
                      </a:rPr>
                      <m:t>𝑁𝐵𝑆</m:t>
                    </m:r>
                    <m:r>
                      <a:rPr lang="zh-CN" altLang="en-US" sz="26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26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600" dirty="0">
                  <a:latin typeface="+mn-ea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773" y="5142249"/>
                <a:ext cx="2301720" cy="492443"/>
              </a:xfrm>
              <a:prstGeom prst="rect">
                <a:avLst/>
              </a:prstGeom>
              <a:blipFill>
                <a:blip r:embed="rId17"/>
                <a:stretch>
                  <a:fillRect l="-4762" t="-12500" b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7" name="Picture 2" descr="12-7">
            <a:extLst>
              <a:ext uri="{FF2B5EF4-FFF2-40B4-BE49-F238E27FC236}">
                <a16:creationId xmlns:a16="http://schemas.microsoft.com/office/drawing/2014/main" id="{9F6D3FB4-A19A-405A-ABE2-A377F6243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3712" y="3452803"/>
            <a:ext cx="5963682" cy="2236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" name="TextBox 85">
            <a:extLst>
              <a:ext uri="{FF2B5EF4-FFF2-40B4-BE49-F238E27FC236}">
                <a16:creationId xmlns:a16="http://schemas.microsoft.com/office/drawing/2014/main" id="{9A06F690-D5D0-4D0B-8B5A-E1A9A8774119}"/>
              </a:ext>
            </a:extLst>
          </p:cNvPr>
          <p:cNvSpPr txBox="1"/>
          <p:nvPr/>
        </p:nvSpPr>
        <p:spPr>
          <a:xfrm>
            <a:off x="6160716" y="5708788"/>
            <a:ext cx="6096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dirty="0">
                <a:solidFill>
                  <a:srgbClr val="1C1C1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在匀强磁场中匀速转动的线圈内的感应电流是时间的正弦函数 </a:t>
            </a:r>
            <a:r>
              <a:rPr lang="en-US" altLang="zh-CN" sz="2600" dirty="0">
                <a:solidFill>
                  <a:srgbClr val="1C1C1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-- </a:t>
            </a:r>
            <a:r>
              <a:rPr lang="zh-CN" altLang="en-US" sz="2600" dirty="0">
                <a:solidFill>
                  <a:srgbClr val="CC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交流电</a:t>
            </a:r>
            <a:endParaRPr lang="en-US" sz="2600" dirty="0">
              <a:latin typeface="华文楷体" panose="02010600040101010101" pitchFamily="2" charset="-122"/>
            </a:endParaRPr>
          </a:p>
        </p:txBody>
      </p:sp>
      <p:pic>
        <p:nvPicPr>
          <p:cNvPr id="79" name="Picture 4" descr="你了解朝夕相处的发电机嘛~（含动画视频）">
            <a:extLst>
              <a:ext uri="{FF2B5EF4-FFF2-40B4-BE49-F238E27FC236}">
                <a16:creationId xmlns:a16="http://schemas.microsoft.com/office/drawing/2014/main" id="{F7301209-82CD-4C43-995A-DB24E44680C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36" y="548700"/>
            <a:ext cx="3325525" cy="2575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698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110" name="Object 6"/>
          <p:cNvGraphicFramePr>
            <a:graphicFrameLocks noChangeAspect="1"/>
          </p:cNvGraphicFramePr>
          <p:nvPr/>
        </p:nvGraphicFramePr>
        <p:xfrm>
          <a:off x="334590" y="714373"/>
          <a:ext cx="11522820" cy="423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r:id="rId3" imgW="3676650" imgH="1352550" progId="Word.Picture.8">
                  <p:embed/>
                </p:oleObj>
              </mc:Choice>
              <mc:Fallback>
                <p:oleObj r:id="rId3" imgW="3676650" imgH="1352550" progId="Word.Picture.8">
                  <p:embed/>
                  <p:pic>
                    <p:nvPicPr>
                      <p:cNvPr id="1751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590" y="714373"/>
                        <a:ext cx="11522820" cy="42370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5115" name="Group 11"/>
          <p:cNvGrpSpPr>
            <a:grpSpLocks/>
          </p:cNvGrpSpPr>
          <p:nvPr/>
        </p:nvGrpSpPr>
        <p:grpSpPr bwMode="auto">
          <a:xfrm>
            <a:off x="677862" y="5005391"/>
            <a:ext cx="11609388" cy="1852614"/>
            <a:chOff x="-533" y="3153"/>
            <a:chExt cx="7313" cy="1167"/>
          </a:xfrm>
        </p:grpSpPr>
        <p:sp>
          <p:nvSpPr>
            <p:cNvPr id="175112" name="Text Box 8"/>
            <p:cNvSpPr txBox="1">
              <a:spLocks noChangeArrowheads="1"/>
            </p:cNvSpPr>
            <p:nvPr/>
          </p:nvSpPr>
          <p:spPr bwMode="auto">
            <a:xfrm>
              <a:off x="-533" y="3153"/>
              <a:ext cx="7197" cy="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400" b="0" i="0" dirty="0">
                  <a:effectLst/>
                  <a:latin typeface="Arial" panose="020B0604020202020204" pitchFamily="34" charset="0"/>
                  <a:ea typeface="华文楷体" panose="02010600040101010101" pitchFamily="2" charset="-122"/>
                </a:rPr>
                <a:t>三峡水电站共安装</a:t>
              </a:r>
              <a:r>
                <a:rPr lang="en-US" altLang="zh-CN" sz="2400" b="0" i="0" dirty="0">
                  <a:effectLst/>
                  <a:latin typeface="Arial" panose="020B0604020202020204" pitchFamily="34" charset="0"/>
                  <a:ea typeface="华文楷体" panose="02010600040101010101" pitchFamily="2" charset="-122"/>
                </a:rPr>
                <a:t>32</a:t>
              </a:r>
              <a:r>
                <a:rPr lang="zh-CN" altLang="en-US" sz="2400" b="0" i="0" dirty="0">
                  <a:effectLst/>
                  <a:latin typeface="Arial" panose="020B0604020202020204" pitchFamily="34" charset="0"/>
                  <a:ea typeface="华文楷体" panose="02010600040101010101" pitchFamily="2" charset="-122"/>
                </a:rPr>
                <a:t>台</a:t>
              </a:r>
              <a:r>
                <a:rPr lang="en-US" altLang="zh-CN" sz="2400" b="0" i="0" dirty="0">
                  <a:effectLst/>
                  <a:latin typeface="Arial" panose="020B0604020202020204" pitchFamily="34" charset="0"/>
                  <a:ea typeface="华文楷体" panose="02010600040101010101" pitchFamily="2" charset="-122"/>
                </a:rPr>
                <a:t>70</a:t>
              </a:r>
              <a:r>
                <a:rPr lang="zh-CN" altLang="en-US" sz="2400" b="0" i="0" dirty="0">
                  <a:effectLst/>
                  <a:latin typeface="Arial" panose="020B0604020202020204" pitchFamily="34" charset="0"/>
                  <a:ea typeface="华文楷体" panose="02010600040101010101" pitchFamily="2" charset="-122"/>
                </a:rPr>
                <a:t>万千瓦（</a:t>
              </a:r>
              <a:r>
                <a:rPr lang="en-US" altLang="zh-CN" sz="2400" b="0" i="0" dirty="0">
                  <a:effectLst/>
                  <a:latin typeface="Arial" panose="020B0604020202020204" pitchFamily="34" charset="0"/>
                  <a:ea typeface="华文楷体" panose="02010600040101010101" pitchFamily="2" charset="-122"/>
                </a:rPr>
                <a:t>700MW</a:t>
              </a:r>
              <a:r>
                <a:rPr lang="zh-CN" altLang="en-US" sz="2400" b="0" i="0" dirty="0">
                  <a:effectLst/>
                  <a:latin typeface="Arial" panose="020B0604020202020204" pitchFamily="34" charset="0"/>
                  <a:ea typeface="华文楷体" panose="02010600040101010101" pitchFamily="2" charset="-122"/>
                </a:rPr>
                <a:t>）水轮发电机组，另外还有</a:t>
              </a:r>
              <a:r>
                <a:rPr lang="en-US" altLang="zh-CN" sz="2400" b="0" i="0" dirty="0">
                  <a:effectLst/>
                  <a:latin typeface="Arial" panose="020B0604020202020204" pitchFamily="34" charset="0"/>
                  <a:ea typeface="华文楷体" panose="02010600040101010101" pitchFamily="2" charset="-122"/>
                </a:rPr>
                <a:t>2</a:t>
              </a:r>
              <a:r>
                <a:rPr lang="zh-CN" altLang="en-US" sz="2400" b="0" i="0" dirty="0">
                  <a:effectLst/>
                  <a:latin typeface="Arial" panose="020B0604020202020204" pitchFamily="34" charset="0"/>
                  <a:ea typeface="华文楷体" panose="02010600040101010101" pitchFamily="2" charset="-122"/>
                </a:rPr>
                <a:t>台</a:t>
              </a:r>
              <a:r>
                <a:rPr lang="en-US" altLang="zh-CN" sz="2400" b="0" i="0" dirty="0">
                  <a:effectLst/>
                  <a:latin typeface="Arial" panose="020B0604020202020204" pitchFamily="34" charset="0"/>
                  <a:ea typeface="华文楷体" panose="02010600040101010101" pitchFamily="2" charset="-122"/>
                </a:rPr>
                <a:t>5</a:t>
              </a:r>
              <a:r>
                <a:rPr lang="zh-CN" altLang="en-US" sz="2400" b="0" i="0" dirty="0">
                  <a:effectLst/>
                  <a:latin typeface="Arial" panose="020B0604020202020204" pitchFamily="34" charset="0"/>
                  <a:ea typeface="华文楷体" panose="02010600040101010101" pitchFamily="2" charset="-122"/>
                </a:rPr>
                <a:t>万千瓦的电源机组，总装机容量</a:t>
              </a:r>
              <a:r>
                <a:rPr lang="en-US" altLang="zh-CN" sz="2400" b="0" i="0" dirty="0">
                  <a:effectLst/>
                  <a:latin typeface="Arial" panose="020B0604020202020204" pitchFamily="34" charset="0"/>
                  <a:ea typeface="华文楷体" panose="02010600040101010101" pitchFamily="2" charset="-122"/>
                </a:rPr>
                <a:t>2,250</a:t>
              </a:r>
              <a:r>
                <a:rPr lang="zh-CN" altLang="en-US" sz="2400" b="0" i="0" dirty="0">
                  <a:effectLst/>
                  <a:latin typeface="Arial" panose="020B0604020202020204" pitchFamily="34" charset="0"/>
                  <a:ea typeface="华文楷体" panose="02010600040101010101" pitchFamily="2" charset="-122"/>
                </a:rPr>
                <a:t>万千瓦，年发电量约</a:t>
              </a:r>
              <a:r>
                <a:rPr lang="en-US" altLang="zh-CN" sz="2400" b="0" i="0" dirty="0">
                  <a:effectLst/>
                  <a:latin typeface="Arial" panose="020B0604020202020204" pitchFamily="34" charset="0"/>
                  <a:ea typeface="华文楷体" panose="02010600040101010101" pitchFamily="2" charset="-122"/>
                </a:rPr>
                <a:t>1,000</a:t>
              </a:r>
              <a:r>
                <a:rPr lang="zh-CN" altLang="en-US" sz="2400" b="0" i="0" dirty="0">
                  <a:effectLst/>
                  <a:latin typeface="Arial" panose="020B0604020202020204" pitchFamily="34" charset="0"/>
                  <a:ea typeface="华文楷体" panose="02010600040101010101" pitchFamily="2" charset="-122"/>
                </a:rPr>
                <a:t>亿</a:t>
              </a:r>
              <a:r>
                <a:rPr lang="zh-CN" altLang="en-US" sz="2400" dirty="0">
                  <a:latin typeface="Arial" panose="020B0604020202020204" pitchFamily="34" charset="0"/>
                  <a:ea typeface="华文楷体" panose="02010600040101010101" pitchFamily="2" charset="-122"/>
                </a:rPr>
                <a:t>千瓦</a:t>
              </a:r>
              <a:r>
                <a:rPr lang="en-US" altLang="zh-CN" sz="2400" dirty="0">
                  <a:latin typeface="Arial" panose="020B0604020202020204" pitchFamily="34" charset="0"/>
                  <a:ea typeface="华文楷体" panose="02010600040101010101" pitchFamily="2" charset="-122"/>
                </a:rPr>
                <a:t>·</a:t>
              </a:r>
              <a:r>
                <a:rPr lang="zh-CN" altLang="en-US" sz="2400" dirty="0">
                  <a:latin typeface="Arial" panose="020B0604020202020204" pitchFamily="34" charset="0"/>
                  <a:ea typeface="华文楷体" panose="02010600040101010101" pitchFamily="2" charset="-122"/>
                </a:rPr>
                <a:t>时</a:t>
              </a:r>
              <a:r>
                <a:rPr lang="zh-CN" altLang="en-US" sz="2400" b="0" i="0" dirty="0">
                  <a:effectLst/>
                  <a:latin typeface="Arial" panose="020B0604020202020204" pitchFamily="34" charset="0"/>
                  <a:ea typeface="华文楷体" panose="02010600040101010101" pitchFamily="2" charset="-122"/>
                </a:rPr>
                <a:t>，相当于计热电发电效率后燃烧标煤</a:t>
              </a:r>
              <a:r>
                <a:rPr lang="en-US" altLang="zh-CN" sz="2400" b="0" i="0" dirty="0">
                  <a:effectLst/>
                  <a:latin typeface="Arial" panose="020B0604020202020204" pitchFamily="34" charset="0"/>
                  <a:ea typeface="华文楷体" panose="02010600040101010101" pitchFamily="2" charset="-122"/>
                </a:rPr>
                <a:t>0.319</a:t>
              </a:r>
              <a:r>
                <a:rPr lang="zh-CN" altLang="en-US" sz="2400" b="0" i="0" dirty="0">
                  <a:effectLst/>
                  <a:latin typeface="Arial" panose="020B0604020202020204" pitchFamily="34" charset="0"/>
                  <a:ea typeface="华文楷体" panose="02010600040101010101" pitchFamily="2" charset="-122"/>
                </a:rPr>
                <a:t>亿吨的发电量，年直接减排二氧化碳</a:t>
              </a:r>
              <a:r>
                <a:rPr lang="en-US" altLang="zh-CN" sz="2400" b="0" i="0" dirty="0">
                  <a:effectLst/>
                  <a:latin typeface="Arial" panose="020B0604020202020204" pitchFamily="34" charset="0"/>
                  <a:ea typeface="华文楷体" panose="02010600040101010101" pitchFamily="2" charset="-122"/>
                </a:rPr>
                <a:t>0.858</a:t>
              </a:r>
              <a:r>
                <a:rPr lang="zh-CN" altLang="en-US" sz="2400" b="0" i="0" dirty="0">
                  <a:effectLst/>
                  <a:latin typeface="Arial" panose="020B0604020202020204" pitchFamily="34" charset="0"/>
                  <a:ea typeface="华文楷体" panose="02010600040101010101" pitchFamily="2" charset="-122"/>
                </a:rPr>
                <a:t>亿吨。</a:t>
              </a:r>
              <a:endPara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113" name="Object 9"/>
                <p:cNvSpPr txBox="1"/>
                <p:nvPr/>
              </p:nvSpPr>
              <p:spPr bwMode="auto">
                <a:xfrm>
                  <a:off x="5270" y="4016"/>
                  <a:ext cx="1510" cy="3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393×1</m:t>
                        </m:r>
                        <m:sSup>
                          <m:sSupPr>
                            <m:ctrl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sSup>
                          <m:sSupPr>
                            <m:ctrl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6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en-US" sz="26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oMath>
                    </m:oMathPara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175113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70" y="4016"/>
                  <a:ext cx="1510" cy="30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72693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9443" name="Object 3"/>
              <p:cNvSpPr txBox="1"/>
              <p:nvPr/>
            </p:nvSpPr>
            <p:spPr>
              <a:xfrm>
                <a:off x="3847445" y="3210140"/>
                <a:ext cx="1558925" cy="52705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944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445" y="3210140"/>
                <a:ext cx="1558925" cy="5270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444" name="Object 4"/>
              <p:cNvSpPr txBox="1"/>
              <p:nvPr/>
            </p:nvSpPr>
            <p:spPr>
              <a:xfrm>
                <a:off x="3231403" y="4228946"/>
                <a:ext cx="2349500" cy="92551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𝑙𝐵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944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1403" y="4228946"/>
                <a:ext cx="2349500" cy="925512"/>
              </a:xfrm>
              <a:prstGeom prst="rect">
                <a:avLst/>
              </a:prstGeom>
              <a:blipFill>
                <a:blip r:embed="rId3"/>
                <a:stretch>
                  <a:fillRect b="-8553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445" name="Object 5"/>
              <p:cNvSpPr txBox="1"/>
              <p:nvPr/>
            </p:nvSpPr>
            <p:spPr>
              <a:xfrm>
                <a:off x="1291384" y="4176795"/>
                <a:ext cx="2622550" cy="98742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944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1384" y="4176795"/>
                <a:ext cx="2622550" cy="9874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446" name="Object 6"/>
              <p:cNvSpPr txBox="1"/>
              <p:nvPr/>
            </p:nvSpPr>
            <p:spPr>
              <a:xfrm>
                <a:off x="3333750" y="5409879"/>
                <a:ext cx="2514600" cy="106521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944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0" y="5409879"/>
                <a:ext cx="2514600" cy="10652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447" name="Object 7"/>
              <p:cNvSpPr txBox="1"/>
              <p:nvPr/>
            </p:nvSpPr>
            <p:spPr>
              <a:xfrm>
                <a:off x="1121708" y="3171775"/>
                <a:ext cx="3505200" cy="728663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acc>
                        <m:accPr>
                          <m:chr m:val="⃑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acc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⃑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acc>
                        <m:accPr>
                          <m:chr m:val="⃑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944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708" y="3171775"/>
                <a:ext cx="3505200" cy="7286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848" name="Group 8"/>
          <p:cNvGrpSpPr/>
          <p:nvPr/>
        </p:nvGrpSpPr>
        <p:grpSpPr>
          <a:xfrm>
            <a:off x="953293" y="468372"/>
            <a:ext cx="10380663" cy="941388"/>
            <a:chOff x="288" y="449"/>
            <a:chExt cx="6539" cy="593"/>
          </a:xfrm>
        </p:grpSpPr>
        <p:sp>
          <p:nvSpPr>
            <p:cNvPr id="35871" name="Text Box 9"/>
            <p:cNvSpPr txBox="1"/>
            <p:nvPr/>
          </p:nvSpPr>
          <p:spPr>
            <a:xfrm>
              <a:off x="288" y="480"/>
              <a:ext cx="6539" cy="5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50000"/>
                </a:spcBef>
                <a:buNone/>
              </a:pPr>
              <a:r>
                <a:rPr lang="zh-CN" altLang="en-US" sz="2600" dirty="0">
                  <a:latin typeface="Times New Roman" panose="02020603050405020304" pitchFamily="18" charset="0"/>
                </a:rPr>
                <a:t>例</a:t>
              </a:r>
              <a:r>
                <a:rPr lang="en-US" altLang="zh-CN" sz="2600" dirty="0">
                  <a:latin typeface="Times New Roman" panose="02020603050405020304" pitchFamily="18" charset="0"/>
                </a:rPr>
                <a:t>:   </a:t>
              </a:r>
              <a:r>
                <a:rPr lang="zh-CN" altLang="en-US" sz="2600" dirty="0">
                  <a:latin typeface="Times New Roman" panose="02020603050405020304" pitchFamily="18" charset="0"/>
                </a:rPr>
                <a:t>一长为     的铜棒在磁感强度为      的均匀磁场中</a:t>
              </a:r>
              <a:r>
                <a:rPr lang="en-US" altLang="zh-CN" sz="2600" dirty="0">
                  <a:latin typeface="Times New Roman" panose="02020603050405020304" pitchFamily="18" charset="0"/>
                </a:rPr>
                <a:t>,</a:t>
              </a:r>
              <a:r>
                <a:rPr lang="zh-CN" altLang="en-US" sz="2600" dirty="0">
                  <a:latin typeface="Times New Roman" panose="02020603050405020304" pitchFamily="18" charset="0"/>
                </a:rPr>
                <a:t>以角速度      在与磁场方向垂直的平面上绕棒的一端转动，求铜棒两端的感应电动势</a:t>
              </a:r>
              <a:endParaRPr lang="en-US" altLang="zh-CN" sz="2600" dirty="0">
                <a:latin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872" name="Object 10"/>
                <p:cNvSpPr txBox="1"/>
                <p:nvPr/>
              </p:nvSpPr>
              <p:spPr>
                <a:xfrm>
                  <a:off x="6026" y="478"/>
                  <a:ext cx="288" cy="267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en-US" sz="2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872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6" y="478"/>
                  <a:ext cx="288" cy="26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873" name="Object 11"/>
                <p:cNvSpPr txBox="1"/>
                <p:nvPr/>
              </p:nvSpPr>
              <p:spPr>
                <a:xfrm>
                  <a:off x="1433" y="467"/>
                  <a:ext cx="283" cy="337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US" sz="2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873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3" y="467"/>
                  <a:ext cx="283" cy="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874" name="Object 12"/>
                <p:cNvSpPr txBox="1"/>
                <p:nvPr/>
              </p:nvSpPr>
              <p:spPr>
                <a:xfrm>
                  <a:off x="3592" y="449"/>
                  <a:ext cx="253" cy="31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en-US" sz="2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en-US" sz="2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874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2" y="449"/>
                  <a:ext cx="253" cy="31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849" name="Group 13"/>
          <p:cNvGrpSpPr/>
          <p:nvPr/>
        </p:nvGrpSpPr>
        <p:grpSpPr>
          <a:xfrm>
            <a:off x="6553200" y="2286000"/>
            <a:ext cx="3276600" cy="2819400"/>
            <a:chOff x="3168" y="1440"/>
            <a:chExt cx="2064" cy="1776"/>
          </a:xfrm>
        </p:grpSpPr>
        <p:sp>
          <p:nvSpPr>
            <p:cNvPr id="35861" name="Rectangle 15"/>
            <p:cNvSpPr/>
            <p:nvPr/>
          </p:nvSpPr>
          <p:spPr>
            <a:xfrm>
              <a:off x="3168" y="1488"/>
              <a:ext cx="2064" cy="16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3333CC"/>
                  </a:solidFill>
                  <a:latin typeface="Times New Roman" panose="02020603050405020304" pitchFamily="18" charset="0"/>
                </a:rPr>
                <a:t>+    +    +    +    +    +    +    </a:t>
              </a:r>
            </a:p>
            <a:p>
              <a:pPr mar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3333CC"/>
                  </a:solidFill>
                  <a:latin typeface="Times New Roman" panose="02020603050405020304" pitchFamily="18" charset="0"/>
                </a:rPr>
                <a:t>+    +    +    +    +    +    +    </a:t>
              </a:r>
            </a:p>
            <a:p>
              <a:pPr mar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3333CC"/>
                  </a:solidFill>
                  <a:latin typeface="Times New Roman" panose="02020603050405020304" pitchFamily="18" charset="0"/>
                </a:rPr>
                <a:t>+    +    +    +    +    +    +    </a:t>
              </a:r>
            </a:p>
            <a:p>
              <a:pPr mar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3333CC"/>
                  </a:solidFill>
                  <a:latin typeface="Times New Roman" panose="02020603050405020304" pitchFamily="18" charset="0"/>
                </a:rPr>
                <a:t>+    +    +    +    +    +    +    </a:t>
              </a:r>
            </a:p>
            <a:p>
              <a:pPr mar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3333CC"/>
                  </a:solidFill>
                  <a:latin typeface="Times New Roman" panose="02020603050405020304" pitchFamily="18" charset="0"/>
                </a:rPr>
                <a:t>+    +    +    +    +    +    +</a:t>
              </a:r>
            </a:p>
          </p:txBody>
        </p:sp>
        <p:sp>
          <p:nvSpPr>
            <p:cNvPr id="35862" name="Oval 16"/>
            <p:cNvSpPr/>
            <p:nvPr/>
          </p:nvSpPr>
          <p:spPr>
            <a:xfrm>
              <a:off x="3264" y="1440"/>
              <a:ext cx="1776" cy="1776"/>
            </a:xfrm>
            <a:prstGeom prst="ellipse">
              <a:avLst/>
            </a:prstGeom>
            <a:noFill/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863" name="Oval 17"/>
            <p:cNvSpPr/>
            <p:nvPr/>
          </p:nvSpPr>
          <p:spPr>
            <a:xfrm>
              <a:off x="3264" y="1440"/>
              <a:ext cx="1776" cy="177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864" name="Rectangle 18"/>
            <p:cNvSpPr/>
            <p:nvPr/>
          </p:nvSpPr>
          <p:spPr>
            <a:xfrm rot="-2284107">
              <a:off x="4080" y="2064"/>
              <a:ext cx="864" cy="48"/>
            </a:xfrm>
            <a:prstGeom prst="rect">
              <a:avLst/>
            </a:prstGeom>
            <a:solidFill>
              <a:srgbClr val="CC9900"/>
            </a:solidFill>
            <a:ln w="19050" cap="flat" cmpd="sng">
              <a:solidFill>
                <a:srgbClr val="99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865" name="AutoShape 19"/>
            <p:cNvSpPr/>
            <p:nvPr/>
          </p:nvSpPr>
          <p:spPr>
            <a:xfrm>
              <a:off x="3936" y="2160"/>
              <a:ext cx="384" cy="432"/>
            </a:xfrm>
            <a:custGeom>
              <a:avLst/>
              <a:gdLst>
                <a:gd name="txL" fmla="*/ 3150 w 21600"/>
                <a:gd name="txT" fmla="*/ 3150 h 21600"/>
                <a:gd name="txR" fmla="*/ 18450 w 21600"/>
                <a:gd name="txB" fmla="*/ 18450 h 21600"/>
              </a:gdLst>
              <a:ahLst/>
              <a:cxnLst>
                <a:cxn ang="0">
                  <a:pos x="3" y="0"/>
                </a:cxn>
                <a:cxn ang="0">
                  <a:pos x="0" y="5"/>
                </a:cxn>
                <a:cxn ang="0">
                  <a:pos x="3" y="1"/>
                </a:cxn>
                <a:cxn ang="0">
                  <a:pos x="8" y="3"/>
                </a:cxn>
                <a:cxn ang="0">
                  <a:pos x="7" y="5"/>
                </a:cxn>
                <a:cxn ang="0">
                  <a:pos x="5" y="4"/>
                </a:cxn>
              </a:cxnLst>
              <a:rect l="txL" t="txT" r="txR" b="txB"/>
              <a:pathLst>
                <a:path w="21600" h="21600">
                  <a:moveTo>
                    <a:pt x="19349" y="8600"/>
                  </a:moveTo>
                  <a:cubicBezTo>
                    <a:pt x="18345" y="4698"/>
                    <a:pt x="14828" y="1972"/>
                    <a:pt x="10800" y="1972"/>
                  </a:cubicBezTo>
                  <a:cubicBezTo>
                    <a:pt x="5924" y="1972"/>
                    <a:pt x="1972" y="5924"/>
                    <a:pt x="1972" y="10800"/>
                  </a:cubicBezTo>
                  <a:cubicBezTo>
                    <a:pt x="1971" y="11088"/>
                    <a:pt x="1986" y="11375"/>
                    <a:pt x="2014" y="11662"/>
                  </a:cubicBezTo>
                  <a:lnTo>
                    <a:pt x="51" y="11855"/>
                  </a:lnTo>
                  <a:cubicBezTo>
                    <a:pt x="17" y="11504"/>
                    <a:pt x="0" y="11152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5728" y="-1"/>
                    <a:pt x="20031" y="3336"/>
                    <a:pt x="21259" y="8108"/>
                  </a:cubicBezTo>
                  <a:lnTo>
                    <a:pt x="23874" y="7435"/>
                  </a:lnTo>
                  <a:lnTo>
                    <a:pt x="21222" y="11924"/>
                  </a:lnTo>
                  <a:lnTo>
                    <a:pt x="16734" y="9272"/>
                  </a:lnTo>
                  <a:lnTo>
                    <a:pt x="19349" y="8600"/>
                  </a:lnTo>
                  <a:close/>
                </a:path>
              </a:pathLst>
            </a:custGeom>
            <a:solidFill>
              <a:srgbClr val="FF66FF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7" name="Text Box 21"/>
            <p:cNvSpPr txBox="1"/>
            <p:nvPr/>
          </p:nvSpPr>
          <p:spPr>
            <a:xfrm>
              <a:off x="3984" y="2304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i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sz="28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5868" name="Text Box 22"/>
            <p:cNvSpPr txBox="1"/>
            <p:nvPr/>
          </p:nvSpPr>
          <p:spPr>
            <a:xfrm>
              <a:off x="4848" y="1632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869" name="Object 23"/>
                <p:cNvSpPr txBox="1"/>
                <p:nvPr/>
              </p:nvSpPr>
              <p:spPr>
                <a:xfrm>
                  <a:off x="4212" y="2382"/>
                  <a:ext cx="336" cy="311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35869" name="Object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2" y="2382"/>
                  <a:ext cx="336" cy="31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870" name="Object 24"/>
                <p:cNvSpPr txBox="1"/>
                <p:nvPr/>
              </p:nvSpPr>
              <p:spPr>
                <a:xfrm>
                  <a:off x="3329" y="2400"/>
                  <a:ext cx="223" cy="276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en-US" sz="2600"/>
                </a:p>
              </p:txBody>
            </p:sp>
          </mc:Choice>
          <mc:Fallback xmlns="">
            <p:sp>
              <p:nvSpPr>
                <p:cNvPr id="35870" name="Object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9" y="2400"/>
                  <a:ext cx="223" cy="27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9465" name="Text Box 25"/>
          <p:cNvSpPr txBox="1"/>
          <p:nvPr/>
        </p:nvSpPr>
        <p:spPr>
          <a:xfrm>
            <a:off x="5430043" y="5973183"/>
            <a:ext cx="5903913" cy="49244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50000"/>
              </a:spcBef>
              <a:buNone/>
            </a:pPr>
            <a:r>
              <a:rPr lang="zh-CN" altLang="zh-CN" sz="2600" b="1" dirty="0">
                <a:latin typeface="Times New Roman" panose="02020603050405020304" pitchFamily="18" charset="0"/>
              </a:rPr>
              <a:t>（</a:t>
            </a:r>
            <a:r>
              <a:rPr lang="zh-CN" altLang="en-US" sz="2600" b="1" dirty="0">
                <a:latin typeface="Times New Roman" panose="02020603050405020304" pitchFamily="18" charset="0"/>
              </a:rPr>
              <a:t>点 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600" b="1" dirty="0">
                <a:latin typeface="Times New Roman" panose="02020603050405020304" pitchFamily="18" charset="0"/>
              </a:rPr>
              <a:t>  </a:t>
            </a:r>
            <a:r>
              <a:rPr lang="zh-CN" altLang="en-US" sz="2600" b="1" dirty="0">
                <a:latin typeface="Times New Roman" panose="02020603050405020304" pitchFamily="18" charset="0"/>
              </a:rPr>
              <a:t>的电势高于点 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O</a:t>
            </a:r>
            <a:r>
              <a:rPr lang="en-US" altLang="zh-CN" sz="2600" b="1" dirty="0">
                <a:latin typeface="Times New Roman" panose="02020603050405020304" pitchFamily="18" charset="0"/>
              </a:rPr>
              <a:t>  </a:t>
            </a:r>
            <a:r>
              <a:rPr lang="zh-CN" altLang="en-US" sz="2600" b="1" dirty="0">
                <a:latin typeface="Times New Roman" panose="02020603050405020304" pitchFamily="18" charset="0"/>
              </a:rPr>
              <a:t>的电势）</a:t>
            </a:r>
          </a:p>
        </p:txBody>
      </p:sp>
      <p:grpSp>
        <p:nvGrpSpPr>
          <p:cNvPr id="4" name="Group 26"/>
          <p:cNvGrpSpPr/>
          <p:nvPr/>
        </p:nvGrpSpPr>
        <p:grpSpPr>
          <a:xfrm>
            <a:off x="6419850" y="5331992"/>
            <a:ext cx="3581400" cy="641350"/>
            <a:chOff x="3024" y="3360"/>
            <a:chExt cx="2256" cy="404"/>
          </a:xfrm>
        </p:grpSpPr>
        <p:sp>
          <p:nvSpPr>
            <p:cNvPr id="35857" name="Text Box 27"/>
            <p:cNvSpPr txBox="1"/>
            <p:nvPr/>
          </p:nvSpPr>
          <p:spPr>
            <a:xfrm>
              <a:off x="3024" y="3360"/>
              <a:ext cx="2256" cy="310"/>
            </a:xfrm>
            <a:prstGeom prst="rect">
              <a:avLst/>
            </a:prstGeom>
            <a:noFill/>
            <a:ln w="9525" cap="flat" cmpd="sng">
              <a:noFill/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50000"/>
                </a:spcBef>
                <a:buNone/>
              </a:pPr>
              <a:r>
                <a:rPr lang="en-US" altLang="zh-CN" sz="2600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       </a:t>
              </a:r>
              <a:r>
                <a:rPr lang="zh-CN" altLang="en-US" sz="2600" b="1" dirty="0">
                  <a:latin typeface="Times New Roman" panose="02020603050405020304" pitchFamily="18" charset="0"/>
                </a:rPr>
                <a:t>方向  </a:t>
              </a:r>
              <a:r>
                <a:rPr lang="en-US" altLang="zh-CN" sz="2600" b="1" i="1" dirty="0">
                  <a:latin typeface="Times New Roman" panose="02020603050405020304" pitchFamily="18" charset="0"/>
                </a:rPr>
                <a:t>O</a:t>
              </a:r>
              <a:r>
                <a:rPr lang="en-US" altLang="zh-CN" sz="2600" b="1" dirty="0">
                  <a:latin typeface="Times New Roman" panose="02020603050405020304" pitchFamily="18" charset="0"/>
                </a:rPr>
                <a:t>            </a:t>
              </a:r>
              <a:r>
                <a:rPr lang="en-US" altLang="zh-CN" sz="2600" b="1" i="1" dirty="0">
                  <a:latin typeface="Times New Roman" panose="02020603050405020304" pitchFamily="18" charset="0"/>
                </a:rPr>
                <a:t>P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858" name="Object 28"/>
                <p:cNvSpPr txBox="1"/>
                <p:nvPr/>
              </p:nvSpPr>
              <p:spPr>
                <a:xfrm>
                  <a:off x="3204" y="3360"/>
                  <a:ext cx="340" cy="40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600" i="1">
                            <a:latin typeface="Cambria Math" panose="02040503050406030204" pitchFamily="18" charset="0"/>
                          </a:rPr>
                          <m:t>𝜀</m:t>
                        </m:r>
                      </m:oMath>
                    </m:oMathPara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35858" name="Object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4" y="3360"/>
                  <a:ext cx="340" cy="40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859" name="Line 29"/>
            <p:cNvSpPr/>
            <p:nvPr/>
          </p:nvSpPr>
          <p:spPr>
            <a:xfrm>
              <a:off x="4212" y="3515"/>
              <a:ext cx="528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" name="Group 30"/>
          <p:cNvGrpSpPr/>
          <p:nvPr/>
        </p:nvGrpSpPr>
        <p:grpSpPr>
          <a:xfrm>
            <a:off x="8229601" y="2698750"/>
            <a:ext cx="1204913" cy="1568450"/>
            <a:chOff x="4224" y="1708"/>
            <a:chExt cx="759" cy="988"/>
          </a:xfrm>
        </p:grpSpPr>
        <p:sp>
          <p:nvSpPr>
            <p:cNvPr id="35853" name="Line 31"/>
            <p:cNvSpPr/>
            <p:nvPr/>
          </p:nvSpPr>
          <p:spPr>
            <a:xfrm>
              <a:off x="4512" y="2118"/>
              <a:ext cx="240" cy="33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854" name="Object 32"/>
                <p:cNvSpPr txBox="1"/>
                <p:nvPr/>
              </p:nvSpPr>
              <p:spPr>
                <a:xfrm>
                  <a:off x="4704" y="2304"/>
                  <a:ext cx="279" cy="39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</m:acc>
                      </m:oMath>
                    </m:oMathPara>
                  </a14:m>
                  <a:endParaRPr lang="en-US" sz="2600"/>
                </a:p>
              </p:txBody>
            </p:sp>
          </mc:Choice>
          <mc:Fallback xmlns="">
            <p:sp>
              <p:nvSpPr>
                <p:cNvPr id="35854" name="Object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4" y="2304"/>
                  <a:ext cx="279" cy="39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855" name="Object 33"/>
                <p:cNvSpPr txBox="1"/>
                <p:nvPr/>
              </p:nvSpPr>
              <p:spPr>
                <a:xfrm>
                  <a:off x="4224" y="1708"/>
                  <a:ext cx="336" cy="32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6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acc>
                          <m:accPr>
                            <m:chr m:val="⃑"/>
                            <m:ctrl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oMath>
                    </m:oMathPara>
                  </a14:m>
                  <a:endParaRPr lang="en-US" sz="2600"/>
                </a:p>
              </p:txBody>
            </p:sp>
          </mc:Choice>
          <mc:Fallback xmlns="">
            <p:sp>
              <p:nvSpPr>
                <p:cNvPr id="35855" name="Object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4" y="1708"/>
                  <a:ext cx="336" cy="32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856" name="AutoShape 34"/>
            <p:cNvSpPr/>
            <p:nvPr/>
          </p:nvSpPr>
          <p:spPr>
            <a:xfrm rot="2782869">
              <a:off x="4488" y="1944"/>
              <a:ext cx="96" cy="240"/>
            </a:xfrm>
            <a:prstGeom prst="upArrow">
              <a:avLst>
                <a:gd name="adj1" fmla="val 42703"/>
                <a:gd name="adj2" fmla="val 134375"/>
              </a:avLst>
            </a:prstGeom>
            <a:solidFill>
              <a:srgbClr val="FFFF99"/>
            </a:solidFill>
            <a:ln w="28575" cap="flat" cmpd="sng">
              <a:solidFill>
                <a:srgbClr val="66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endParaRPr lang="zh-CN" altLang="en-US" sz="2600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2BD706C1-B954-2F76-3E42-9307275A67BA}"/>
                  </a:ext>
                </a:extLst>
              </p:cNvPr>
              <p:cNvSpPr/>
              <p:nvPr/>
            </p:nvSpPr>
            <p:spPr>
              <a:xfrm>
                <a:off x="3864884" y="1838980"/>
                <a:ext cx="212596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altLang="zh-CN" sz="2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𝐵𝑙𝑣</m:t>
                      </m:r>
                    </m:oMath>
                  </m:oMathPara>
                </a14:m>
                <a:endParaRPr lang="en-US" altLang="zh-CN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2BD706C1-B954-2F76-3E42-9307275A67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884" y="1838980"/>
                <a:ext cx="2125968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4">
                <a:extLst>
                  <a:ext uri="{FF2B5EF4-FFF2-40B4-BE49-F238E27FC236}">
                    <a16:creationId xmlns:a16="http://schemas.microsoft.com/office/drawing/2014/main" id="{142D5B4F-2E6B-854C-0FCC-A5839B44F44B}"/>
                  </a:ext>
                </a:extLst>
              </p:cNvPr>
              <p:cNvSpPr txBox="1"/>
              <p:nvPr/>
            </p:nvSpPr>
            <p:spPr bwMode="auto">
              <a:xfrm>
                <a:off x="1121708" y="1583796"/>
                <a:ext cx="3342509" cy="80761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动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pHide m:val="on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</m:acc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</m:acc>
                            </m:e>
                          </m:d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Object 54">
                <a:extLst>
                  <a:ext uri="{FF2B5EF4-FFF2-40B4-BE49-F238E27FC236}">
                    <a16:creationId xmlns:a16="http://schemas.microsoft.com/office/drawing/2014/main" id="{142D5B4F-2E6B-854C-0FCC-A5839B44F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1708" y="1583796"/>
                <a:ext cx="3342509" cy="807619"/>
              </a:xfrm>
              <a:prstGeom prst="rect">
                <a:avLst/>
              </a:prstGeom>
              <a:blipFill>
                <a:blip r:embed="rId16"/>
                <a:stretch>
                  <a:fillRect b="-44697"/>
                </a:stretch>
              </a:blip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3" grpId="0"/>
      <p:bldP spid="189444" grpId="0"/>
      <p:bldP spid="189445" grpId="0"/>
      <p:bldP spid="189446" grpId="0"/>
      <p:bldP spid="189447" grpId="0"/>
      <p:bldP spid="189465" grpId="0"/>
      <p:bldP spid="2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3" name="Text Box 1027"/>
          <p:cNvSpPr txBox="1">
            <a:spLocks noChangeArrowheads="1"/>
          </p:cNvSpPr>
          <p:nvPr/>
        </p:nvSpPr>
        <p:spPr bwMode="auto">
          <a:xfrm>
            <a:off x="522073" y="583154"/>
            <a:ext cx="86409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/>
            <a:r>
              <a:rPr kumimoji="0" lang="zh-CN" altLang="en-US" sz="2800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例：法拉第金属圆盘（简易直流发电机）</a:t>
            </a:r>
            <a:endParaRPr lang="zh-CN" altLang="en-US" sz="2800" b="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50886" name="Rectangle 1030"/>
          <p:cNvSpPr>
            <a:spLocks noChangeArrowheads="1"/>
          </p:cNvSpPr>
          <p:nvPr/>
        </p:nvSpPr>
        <p:spPr bwMode="auto">
          <a:xfrm>
            <a:off x="6096000" y="4974430"/>
            <a:ext cx="2236539" cy="63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kumimoji="0" lang="zh-CN" altLang="en-US" sz="2600" b="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直流电机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5125" b="27010"/>
          <a:stretch/>
        </p:blipFill>
        <p:spPr>
          <a:xfrm>
            <a:off x="2378054" y="1401881"/>
            <a:ext cx="5332062" cy="27363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455F844-3554-4179-B00E-106137F12FB3}"/>
                  </a:ext>
                </a:extLst>
              </p:cNvPr>
              <p:cNvSpPr txBox="1"/>
              <p:nvPr/>
            </p:nvSpPr>
            <p:spPr>
              <a:xfrm>
                <a:off x="876185" y="4433692"/>
                <a:ext cx="6109797" cy="1545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kumimoji="0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kumimoji="0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kumimoji="0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  <m:e>
                          <m:r>
                            <a:rPr kumimoji="0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kumimoji="0"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kumimoji="0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𝑟𝑑𝑟</m:t>
                          </m:r>
                        </m:e>
                      </m:nary>
                      <m:r>
                        <a:rPr kumimoji="0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0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kumimoji="0"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sSup>
                        <m:sSupPr>
                          <m:ctrlPr>
                            <a:rPr kumimoji="0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kumimoji="0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0"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455F844-3554-4179-B00E-106137F12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185" y="4433692"/>
                <a:ext cx="6109797" cy="15459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3">
            <a:extLst>
              <a:ext uri="{FF2B5EF4-FFF2-40B4-BE49-F238E27FC236}">
                <a16:creationId xmlns:a16="http://schemas.microsoft.com/office/drawing/2014/main" id="{5D9090A9-12B8-4C80-8CC5-4D849581F201}"/>
              </a:ext>
            </a:extLst>
          </p:cNvPr>
          <p:cNvSpPr txBox="1">
            <a:spLocks/>
          </p:cNvSpPr>
          <p:nvPr/>
        </p:nvSpPr>
        <p:spPr>
          <a:xfrm>
            <a:off x="8691563" y="5130523"/>
            <a:ext cx="2738437" cy="849105"/>
          </a:xfrm>
          <a:prstGeom prst="rect">
            <a:avLst/>
          </a:prstGeo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zh-CN" altLang="en-US" sz="2400" dirty="0"/>
              <a:t>法拉第圆盘发电机</a:t>
            </a:r>
            <a:endParaRPr lang="en-US" altLang="zh-CN" sz="2400" dirty="0"/>
          </a:p>
        </p:txBody>
      </p:sp>
      <p:pic>
        <p:nvPicPr>
          <p:cNvPr id="14" name="Picture 4" descr="slide0094_image052">
            <a:extLst>
              <a:ext uri="{FF2B5EF4-FFF2-40B4-BE49-F238E27FC236}">
                <a16:creationId xmlns:a16="http://schemas.microsoft.com/office/drawing/2014/main" id="{3DC92F61-6A0A-46DA-A4F5-55331B22A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1563" y="984430"/>
            <a:ext cx="2454275" cy="393065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060411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6" grpId="0" autoUpdateAnimBg="0"/>
      <p:bldP spid="12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4">
                <a:extLst>
                  <a:ext uri="{FF2B5EF4-FFF2-40B4-BE49-F238E27FC236}">
                    <a16:creationId xmlns:a16="http://schemas.microsoft.com/office/drawing/2014/main" id="{866BF65B-1CF9-4B9E-89EB-C3CDAD9092DB}"/>
                  </a:ext>
                </a:extLst>
              </p:cNvPr>
              <p:cNvSpPr txBox="1"/>
              <p:nvPr/>
            </p:nvSpPr>
            <p:spPr bwMode="auto">
              <a:xfrm>
                <a:off x="3255168" y="2852737"/>
                <a:ext cx="2592387" cy="10318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/>
                        <m:e>
                          <m:r>
                            <m:rPr>
                              <m:sty m:val="p"/>
                            </m:r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func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2" name="Object 4">
                <a:extLst>
                  <a:ext uri="{FF2B5EF4-FFF2-40B4-BE49-F238E27FC236}">
                    <a16:creationId xmlns:a16="http://schemas.microsoft.com/office/drawing/2014/main" id="{866BF65B-1CF9-4B9E-89EB-C3CDAD909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5168" y="2852737"/>
                <a:ext cx="2592387" cy="1031875"/>
              </a:xfrm>
              <a:prstGeom prst="rect">
                <a:avLst/>
              </a:prstGeom>
              <a:blipFill>
                <a:blip r:embed="rId2"/>
                <a:stretch>
                  <a:fillRect b="-53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27">
                <a:extLst>
                  <a:ext uri="{FF2B5EF4-FFF2-40B4-BE49-F238E27FC236}">
                    <a16:creationId xmlns:a16="http://schemas.microsoft.com/office/drawing/2014/main" id="{FD94BF23-66C1-429A-A1B2-2A871BD86632}"/>
                  </a:ext>
                </a:extLst>
              </p:cNvPr>
              <p:cNvSpPr txBox="1"/>
              <p:nvPr/>
            </p:nvSpPr>
            <p:spPr bwMode="auto">
              <a:xfrm>
                <a:off x="1325741" y="2909245"/>
                <a:ext cx="1752600" cy="11525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m:rPr>
                                  <m:sty m:val="p"/>
                                </m:r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3" name="Object 27">
                <a:extLst>
                  <a:ext uri="{FF2B5EF4-FFF2-40B4-BE49-F238E27FC236}">
                    <a16:creationId xmlns:a16="http://schemas.microsoft.com/office/drawing/2014/main" id="{FD94BF23-66C1-429A-A1B2-2A871BD86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25741" y="2909245"/>
                <a:ext cx="1752600" cy="11525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2">
            <a:extLst>
              <a:ext uri="{FF2B5EF4-FFF2-40B4-BE49-F238E27FC236}">
                <a16:creationId xmlns:a16="http://schemas.microsoft.com/office/drawing/2014/main" id="{11E0DDD3-788A-42E5-8076-B82CD436DF36}"/>
              </a:ext>
            </a:extLst>
          </p:cNvPr>
          <p:cNvGrpSpPr>
            <a:grpSpLocks/>
          </p:cNvGrpSpPr>
          <p:nvPr/>
        </p:nvGrpSpPr>
        <p:grpSpPr bwMode="auto">
          <a:xfrm>
            <a:off x="1227511" y="4113430"/>
            <a:ext cx="3197225" cy="1455738"/>
            <a:chOff x="3015" y="1029"/>
            <a:chExt cx="2014" cy="9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bject 29">
                  <a:extLst>
                    <a:ext uri="{FF2B5EF4-FFF2-40B4-BE49-F238E27FC236}">
                      <a16:creationId xmlns:a16="http://schemas.microsoft.com/office/drawing/2014/main" id="{99F29FF7-1DEF-4FBA-9A11-A1BE061E3914}"/>
                    </a:ext>
                  </a:extLst>
                </p:cNvPr>
                <p:cNvSpPr txBox="1"/>
                <p:nvPr/>
              </p:nvSpPr>
              <p:spPr bwMode="auto">
                <a:xfrm>
                  <a:off x="3267" y="1029"/>
                  <a:ext cx="1762" cy="91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nary>
                          <m:naryPr>
                            <m:chr m:val="∬"/>
                            <m:limLoc m:val="undOvr"/>
                            <m:supHide m:val="on"/>
                            <m:ctrl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  <m:sup/>
                          <m:e>
                            <m:f>
                              <m:fPr>
                                <m:ctrlPr>
                                  <a:rPr 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sz="2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num>
                              <m:den>
                                <m:r>
                                  <a:rPr 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  <m: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acc>
                              <m:accPr>
                                <m:chr m:val="⃗"/>
                                <m:ctrlPr>
                                  <a:rPr 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acc>
                          </m:e>
                        </m:nary>
                      </m:oMath>
                    </m:oMathPara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5" name="Object 29">
                  <a:extLst>
                    <a:ext uri="{FF2B5EF4-FFF2-40B4-BE49-F238E27FC236}">
                      <a16:creationId xmlns:a16="http://schemas.microsoft.com/office/drawing/2014/main" id="{99F29FF7-1DEF-4FBA-9A11-A1BE061E39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67" y="1029"/>
                  <a:ext cx="1762" cy="91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AutoShape 30">
              <a:extLst>
                <a:ext uri="{FF2B5EF4-FFF2-40B4-BE49-F238E27FC236}">
                  <a16:creationId xmlns:a16="http://schemas.microsoft.com/office/drawing/2014/main" id="{5C528177-12E8-4934-9043-96FBCB7A3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5" y="1358"/>
              <a:ext cx="240" cy="96"/>
            </a:xfrm>
            <a:prstGeom prst="rightArrow">
              <a:avLst>
                <a:gd name="adj1" fmla="val 50000"/>
                <a:gd name="adj2" fmla="val 62500"/>
              </a:avLst>
            </a:prstGeom>
            <a:solidFill>
              <a:srgbClr val="0000CC"/>
            </a:solidFill>
            <a:ln w="12700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600"/>
            </a:p>
          </p:txBody>
        </p:sp>
      </p:grpSp>
      <p:sp>
        <p:nvSpPr>
          <p:cNvPr id="9" name="Rectangle 4">
            <a:extLst>
              <a:ext uri="{FF2B5EF4-FFF2-40B4-BE49-F238E27FC236}">
                <a16:creationId xmlns:a16="http://schemas.microsoft.com/office/drawing/2014/main" id="{AE61C032-949B-45A3-A3F0-05AD8492A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6386" y="1383156"/>
            <a:ext cx="6821804" cy="1164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zh-CN" altLang="en-US" sz="2800" b="0" i="0" u="none" dirty="0">
                <a:solidFill>
                  <a:srgbClr val="000000"/>
                </a:solidFill>
                <a:latin typeface="+mn-lt"/>
                <a:ea typeface="华文楷体" panose="02010600040101010101" pitchFamily="2" charset="-122"/>
              </a:rPr>
              <a:t>导体回路不动，由磁场变化引起磁通量改变而产生的感应电动势，叫做</a:t>
            </a:r>
            <a:r>
              <a:rPr kumimoji="1" lang="zh-CN" altLang="en-US" sz="2800" b="0" i="0" u="none" dirty="0">
                <a:solidFill>
                  <a:srgbClr val="FF0000"/>
                </a:solidFill>
                <a:latin typeface="+mn-lt"/>
                <a:ea typeface="华文楷体" panose="02010600040101010101" pitchFamily="2" charset="-122"/>
              </a:rPr>
              <a:t>感生电动势</a:t>
            </a:r>
          </a:p>
        </p:txBody>
      </p:sp>
      <p:pic>
        <p:nvPicPr>
          <p:cNvPr id="10" name="image17.jpeg">
            <a:extLst>
              <a:ext uri="{FF2B5EF4-FFF2-40B4-BE49-F238E27FC236}">
                <a16:creationId xmlns:a16="http://schemas.microsoft.com/office/drawing/2014/main" id="{C1C272BD-EC6F-4235-A0C3-079CAF143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888" y="1220515"/>
            <a:ext cx="3630606" cy="1489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57A1AC8-75E4-4B8B-ACBE-2948A88DC53D}"/>
                  </a:ext>
                </a:extLst>
              </p:cNvPr>
              <p:cNvSpPr txBox="1"/>
              <p:nvPr/>
            </p:nvSpPr>
            <p:spPr>
              <a:xfrm>
                <a:off x="4926386" y="3783634"/>
                <a:ext cx="7188201" cy="16024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25000"/>
                  </a:lnSpc>
                  <a:buClr>
                    <a:srgbClr val="00FF00"/>
                  </a:buClr>
                  <a:buSzPct val="130000"/>
                  <a:buFont typeface="Monotype Sorts" pitchFamily="2" charset="2"/>
                  <a:buNone/>
                </a:pPr>
                <a:r>
                  <a:rPr kumimoji="1" lang="zh-CN" altLang="en-US" sz="2600" b="1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麦克斯韦假设：</a:t>
                </a:r>
              </a:p>
              <a:p>
                <a:pPr algn="just" eaLnBrk="1" hangingPunct="1">
                  <a:lnSpc>
                    <a:spcPct val="125000"/>
                  </a:lnSpc>
                </a:pPr>
                <a:r>
                  <a:rPr kumimoji="1" lang="zh-CN" altLang="en-US" sz="2600" b="1" i="0" u="none" dirty="0">
                    <a:solidFill>
                      <a:schemeClr val="tx1"/>
                    </a:solidFill>
                    <a:ea typeface="华文楷体" panose="02010600040101010101" pitchFamily="2" charset="-122"/>
                  </a:rPr>
                  <a:t>变化的磁场在其周围空间会激发一种涡旋状的电场，称为涡旋电场或感生电场，其场强记作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600" b="1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kumimoji="1" lang="en-US" altLang="zh-CN" sz="2600" b="1" i="1" u="none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kumimoji="1" lang="en-US" altLang="zh-CN" sz="2600" b="1" i="1" u="none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𝑬</m:t>
                            </m:r>
                          </m:e>
                        </m:acc>
                      </m:e>
                      <m:sub>
                        <m:r>
                          <a:rPr kumimoji="1" lang="en-US" altLang="zh-CN" sz="2600" b="1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endParaRPr lang="zh-CN" altLang="en-US" sz="2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57A1AC8-75E4-4B8B-ACBE-2948A88DC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6386" y="3783634"/>
                <a:ext cx="7188201" cy="1602490"/>
              </a:xfrm>
              <a:prstGeom prst="rect">
                <a:avLst/>
              </a:prstGeom>
              <a:blipFill>
                <a:blip r:embed="rId6"/>
                <a:stretch>
                  <a:fillRect l="-1527" r="-1527" b="-87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56FAC64F-6F86-4DF1-B821-114F7A5D65A0}"/>
                  </a:ext>
                </a:extLst>
              </p:cNvPr>
              <p:cNvSpPr/>
              <p:nvPr/>
            </p:nvSpPr>
            <p:spPr>
              <a:xfrm>
                <a:off x="1813728" y="5300782"/>
                <a:ext cx="8750710" cy="13634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25000"/>
                  </a:lnSpc>
                  <a:buClr>
                    <a:srgbClr val="00FF00"/>
                  </a:buClr>
                  <a:buSzPct val="13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8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∮"/>
                          <m:ctrlP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kumimoji="1" lang="en-US" altLang="zh-CN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2800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zh-CN" sz="2800" b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kumimoji="1" lang="en-US" altLang="zh-C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kumimoji="1" lang="en-US" altLang="zh-CN" sz="28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nary>
                        <m:naryPr>
                          <m:chr m:val="∬"/>
                          <m:ctrlP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𝑆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kumimoji="1"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  <m:acc>
                                <m:accPr>
                                  <m:chr m:val="⃗"/>
                                  <m:ctrlPr>
                                    <a:rPr kumimoji="1" lang="en-US" altLang="zh-CN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2800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𝐵</m:t>
                                  </m:r>
                                </m:e>
                              </m:acc>
                            </m:num>
                            <m:den>
                              <m:r>
                                <a:rPr kumimoji="1" lang="en-US" altLang="zh-C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  <m:r>
                                <a:rPr kumimoji="1" lang="en-US" altLang="zh-C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den>
                          </m:f>
                          <m:r>
                            <a:rPr kumimoji="1" lang="en-US" altLang="zh-C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kumimoji="1" lang="en-US" altLang="zh-C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56FAC64F-6F86-4DF1-B821-114F7A5D65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728" y="5300782"/>
                <a:ext cx="8750710" cy="13634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8">
            <a:extLst>
              <a:ext uri="{FF2B5EF4-FFF2-40B4-BE49-F238E27FC236}">
                <a16:creationId xmlns:a16="http://schemas.microsoft.com/office/drawing/2014/main" id="{A9B2EFC0-6182-416A-BA4C-A156BD5BD119}"/>
              </a:ext>
            </a:extLst>
          </p:cNvPr>
          <p:cNvSpPr/>
          <p:nvPr/>
        </p:nvSpPr>
        <p:spPr>
          <a:xfrm>
            <a:off x="975888" y="574184"/>
            <a:ext cx="38247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感生电动势 </a:t>
            </a:r>
            <a:endParaRPr lang="en-US" sz="36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4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9" grpId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162112" y="2324418"/>
            <a:ext cx="9134414" cy="390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FontTx/>
              <a:buChar char="-"/>
            </a:pPr>
            <a:r>
              <a:rPr kumimoji="1" lang="zh-CN" altLang="en-US" sz="2800" b="0" i="0" u="none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变化的磁场产生电场</a:t>
            </a:r>
            <a:endParaRPr kumimoji="1" lang="en-US" altLang="zh-CN" sz="2800" b="0" i="0" u="none" dirty="0"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 marL="457200" indent="-457200" eaLnBrk="1" hangingPunct="1">
              <a:lnSpc>
                <a:spcPct val="150000"/>
              </a:lnSpc>
              <a:buFontTx/>
              <a:buChar char="-"/>
            </a:pPr>
            <a:r>
              <a:rPr kumimoji="1" lang="zh-CN" altLang="en-US" sz="2800" b="0" i="0" u="none" dirty="0">
                <a:latin typeface="华文楷体" panose="02010600040101010101" pitchFamily="2" charset="-122"/>
                <a:ea typeface="华文楷体" panose="02010600040101010101" pitchFamily="2" charset="-122"/>
              </a:rPr>
              <a:t>感生电场是有旋场，是非保守力场</a:t>
            </a:r>
            <a:endParaRPr kumimoji="1" lang="en-US" altLang="zh-CN" sz="2800" b="0" i="0" u="none" dirty="0"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2800" b="0" i="0" u="none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-    </a:t>
            </a:r>
            <a:r>
              <a:rPr kumimoji="1" lang="zh-CN" altLang="en-US" sz="2800" b="0" i="0" u="none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场的存在并不取决于空间有无导体回路存在，变化的 </a:t>
            </a:r>
            <a:br>
              <a:rPr kumimoji="1" lang="en-US" altLang="zh-CN" sz="2800" b="0" i="0" u="none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</a:br>
            <a:r>
              <a:rPr kumimoji="1" lang="en-US" altLang="zh-CN" sz="2800" b="0" i="0" u="none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</a:t>
            </a:r>
            <a:r>
              <a:rPr kumimoji="1" lang="zh-CN" altLang="en-US" sz="2800" b="0" i="0" u="none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磁场总是在空间激发电场</a:t>
            </a:r>
            <a:endParaRPr kumimoji="1" lang="en-US" altLang="zh-CN" sz="2800" b="0" i="0" u="none" dirty="0"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2800" b="0" i="0" u="none" dirty="0">
                <a:latin typeface="华文楷体" panose="02010600040101010101" pitchFamily="2" charset="-122"/>
                <a:ea typeface="华文楷体" panose="02010600040101010101" pitchFamily="2" charset="-122"/>
              </a:rPr>
              <a:t>-    </a:t>
            </a:r>
            <a:r>
              <a:rPr kumimoji="1" lang="zh-CN" altLang="en-US" sz="2800" b="0" i="0" u="none" dirty="0">
                <a:latin typeface="华文楷体" panose="02010600040101010101" pitchFamily="2" charset="-122"/>
                <a:ea typeface="华文楷体" panose="02010600040101010101" pitchFamily="2" charset="-122"/>
              </a:rPr>
              <a:t>当闭合导线处于变化的磁场中时，感生电场作用于导 </a:t>
            </a:r>
            <a:br>
              <a:rPr kumimoji="1" lang="en-US" altLang="zh-CN" sz="2800" b="0" i="0" u="none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kumimoji="1" lang="en-US" altLang="zh-CN" sz="2800" b="0" i="0" u="none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r>
              <a:rPr kumimoji="1" lang="zh-CN" altLang="en-US" sz="2800" b="0" i="0" u="none" dirty="0">
                <a:latin typeface="华文楷体" panose="02010600040101010101" pitchFamily="2" charset="-122"/>
                <a:ea typeface="华文楷体" panose="02010600040101010101" pitchFamily="2" charset="-122"/>
              </a:rPr>
              <a:t>体中自由电荷使其定向运动，从而显示出感生电流</a:t>
            </a:r>
            <a:endParaRPr kumimoji="1" lang="en-US" altLang="zh-CN" sz="2800" b="0" i="0" u="none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A48B1D97-5881-4ED3-84DD-CA0748C30EE8}"/>
                  </a:ext>
                </a:extLst>
              </p:cNvPr>
              <p:cNvSpPr/>
              <p:nvPr/>
            </p:nvSpPr>
            <p:spPr>
              <a:xfrm>
                <a:off x="1545815" y="837798"/>
                <a:ext cx="8750710" cy="13634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25000"/>
                  </a:lnSpc>
                  <a:buClr>
                    <a:srgbClr val="00FF00"/>
                  </a:buClr>
                  <a:buSzPct val="13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𝜺</m:t>
                          </m:r>
                        </m:e>
                        <m:sub>
                          <m: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𝒊</m:t>
                          </m:r>
                        </m:sub>
                      </m:sSub>
                      <m:r>
                        <a:rPr kumimoji="1" lang="en-US" altLang="zh-CN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∮"/>
                          <m:ctrlP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𝑳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kumimoji="1" lang="en-US" altLang="zh-CN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28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𝑬</m:t>
                                  </m:r>
                                </m:e>
                              </m:acc>
                            </m:e>
                            <m:sub>
                              <m:r>
                                <a:rPr kumimoji="1" lang="en-US" altLang="zh-CN" sz="2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𝒊</m:t>
                              </m:r>
                            </m:sub>
                          </m:sSub>
                          <m:r>
                            <a:rPr kumimoji="1" lang="en-US" altLang="zh-CN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kumimoji="1" lang="en-US" altLang="zh-CN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𝒍</m:t>
                              </m:r>
                            </m:e>
                          </m:acc>
                        </m:e>
                      </m:nary>
                      <m:r>
                        <a:rPr kumimoji="1" lang="en-US" altLang="zh-CN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nary>
                        <m:naryPr>
                          <m:chr m:val="∬"/>
                          <m:ctrlP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𝑺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kumimoji="1"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𝝏</m:t>
                              </m:r>
                              <m:acc>
                                <m:accPr>
                                  <m:chr m:val="⃗"/>
                                  <m:ctrlPr>
                                    <a:rPr kumimoji="1" lang="en-US" altLang="zh-CN" sz="28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28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𝑩</m:t>
                                  </m:r>
                                </m:e>
                              </m:acc>
                            </m:num>
                            <m:den>
                              <m:r>
                                <a:rPr kumimoji="1"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𝝏</m:t>
                              </m:r>
                              <m:r>
                                <a:rPr kumimoji="1"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𝒕</m:t>
                              </m:r>
                            </m:den>
                          </m:f>
                          <m: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A48B1D97-5881-4ED3-84DD-CA0748C30E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815" y="837798"/>
                <a:ext cx="8750710" cy="13634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8">
            <a:extLst>
              <a:ext uri="{FF2B5EF4-FFF2-40B4-BE49-F238E27FC236}">
                <a16:creationId xmlns:a16="http://schemas.microsoft.com/office/drawing/2014/main" id="{62D2F147-CAE4-4AA5-9D18-132F049554C8}"/>
              </a:ext>
            </a:extLst>
          </p:cNvPr>
          <p:cNvSpPr/>
          <p:nvPr/>
        </p:nvSpPr>
        <p:spPr>
          <a:xfrm>
            <a:off x="975888" y="574184"/>
            <a:ext cx="38247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感生电动势 </a:t>
            </a:r>
            <a:endParaRPr lang="en-US" sz="36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Picture 2" descr="FG30_08">
            <a:extLst>
              <a:ext uri="{FF2B5EF4-FFF2-40B4-BE49-F238E27FC236}">
                <a16:creationId xmlns:a16="http://schemas.microsoft.com/office/drawing/2014/main" id="{D744236D-3C9E-B1F9-237C-EB918F3189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656" b="18998"/>
          <a:stretch/>
        </p:blipFill>
        <p:spPr bwMode="auto">
          <a:xfrm>
            <a:off x="8921749" y="-435119"/>
            <a:ext cx="1612901" cy="4191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4531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594049" y="2630551"/>
            <a:ext cx="3455989" cy="2117725"/>
            <a:chOff x="1215" y="668"/>
            <a:chExt cx="2177" cy="13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735" name="Object 15"/>
                <p:cNvSpPr txBox="1"/>
                <p:nvPr/>
              </p:nvSpPr>
              <p:spPr bwMode="auto">
                <a:xfrm>
                  <a:off x="1561" y="668"/>
                  <a:ext cx="1831" cy="1226"/>
                </a:xfrm>
                <a:prstGeom prst="rect">
                  <a:avLst/>
                </a:prstGeom>
                <a:noFill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  ×  ×  ×</m:t>
                        </m:r>
                      </m:oMath>
                      <m:oMath xmlns:m="http://schemas.openxmlformats.org/officeDocument/2006/math">
                        <m: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  <m:oMath xmlns:m="http://schemas.openxmlformats.org/officeDocument/2006/math">
                        <m: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  <m:oMath xmlns:m="http://schemas.openxmlformats.org/officeDocument/2006/math">
                        <m: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  ×  ×  ×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30735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61" y="668"/>
                  <a:ext cx="1831" cy="1226"/>
                </a:xfrm>
                <a:prstGeom prst="rect">
                  <a:avLst/>
                </a:prstGeom>
                <a:blipFill>
                  <a:blip r:embed="rId3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733" name="Object 13"/>
                <p:cNvSpPr txBox="1"/>
                <p:nvPr/>
              </p:nvSpPr>
              <p:spPr bwMode="auto">
                <a:xfrm>
                  <a:off x="1215" y="867"/>
                  <a:ext cx="274" cy="345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0733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15" y="867"/>
                  <a:ext cx="274" cy="34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750" name="Line 5"/>
            <p:cNvSpPr>
              <a:spLocks noChangeShapeType="1"/>
            </p:cNvSpPr>
            <p:nvPr/>
          </p:nvSpPr>
          <p:spPr bwMode="auto">
            <a:xfrm flipH="1">
              <a:off x="1677" y="1392"/>
              <a:ext cx="571" cy="61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oval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736" name="Object 16"/>
                <p:cNvSpPr txBox="1"/>
                <p:nvPr/>
              </p:nvSpPr>
              <p:spPr bwMode="auto">
                <a:xfrm>
                  <a:off x="1508" y="1712"/>
                  <a:ext cx="254" cy="254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0736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08" y="1712"/>
                  <a:ext cx="254" cy="2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0954" name="Oval 10"/>
          <p:cNvSpPr>
            <a:spLocks noChangeArrowheads="1"/>
          </p:cNvSpPr>
          <p:nvPr/>
        </p:nvSpPr>
        <p:spPr bwMode="auto">
          <a:xfrm>
            <a:off x="8189812" y="2920206"/>
            <a:ext cx="1869660" cy="1752600"/>
          </a:xfrm>
          <a:prstGeom prst="ellips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en-US" altLang="zh-CN" sz="2800" b="0" u="none" dirty="0">
              <a:latin typeface="+mn-lt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956" name="Text Box 12"/>
              <p:cNvSpPr txBox="1">
                <a:spLocks noChangeArrowheads="1"/>
              </p:cNvSpPr>
              <p:nvPr/>
            </p:nvSpPr>
            <p:spPr bwMode="auto">
              <a:xfrm>
                <a:off x="1591195" y="3887"/>
                <a:ext cx="9002192" cy="12587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</a:pPr>
                <a:r>
                  <a:rPr kumimoji="1" lang="zh-CN" altLang="en-US" sz="2800" b="0" i="0" u="none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例：</a:t>
                </a:r>
                <a:r>
                  <a:rPr kumimoji="1" lang="zh-CN" altLang="en-US" sz="2800" b="0" i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局限于半径 </a:t>
                </a:r>
                <a:r>
                  <a:rPr kumimoji="1" lang="en-US" altLang="zh-CN" sz="2800" b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R</a:t>
                </a:r>
                <a:r>
                  <a:rPr kumimoji="1" lang="en-US" altLang="zh-CN" sz="2800" b="0" i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 </a:t>
                </a:r>
                <a:r>
                  <a:rPr kumimoji="1" lang="zh-CN" altLang="en-US" sz="2800" b="0" i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的圆柱形空间内分布的均匀磁场，方向如图。磁场的变化率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800" b="0" i="1" u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fPr>
                      <m:num>
                        <m:r>
                          <a:rPr kumimoji="1" lang="en-US" altLang="zh-CN" sz="2800" b="0" i="1" u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𝜕</m:t>
                        </m:r>
                        <m:r>
                          <a:rPr kumimoji="1" lang="en-US" altLang="zh-CN" sz="2800" b="0" i="1" u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𝐵</m:t>
                        </m:r>
                      </m:num>
                      <m:den>
                        <m:r>
                          <a:rPr kumimoji="1" lang="en-US" altLang="zh-CN" sz="2800" b="0" i="1" u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𝜕</m:t>
                        </m:r>
                        <m:r>
                          <a:rPr kumimoji="1" lang="en-US" altLang="zh-CN" sz="2800" b="0" i="1" u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</m:den>
                    </m:f>
                    <m:r>
                      <a:rPr kumimoji="1" lang="en-US" altLang="zh-CN" sz="2800" b="0" u="none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</m:oMath>
                </a14:m>
                <a:r>
                  <a:rPr kumimoji="1" lang="zh-CN" altLang="en-US" sz="2800" b="0" i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常数</a:t>
                </a:r>
                <a:r>
                  <a:rPr kumimoji="1" lang="en-US" altLang="zh-CN" sz="2800" b="0" i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&gt;0</a:t>
                </a:r>
                <a:endParaRPr kumimoji="1" lang="zh-CN" altLang="en-US" sz="2800" b="0" i="0" u="none" dirty="0">
                  <a:solidFill>
                    <a:srgbClr val="000000"/>
                  </a:solidFill>
                  <a:latin typeface="+mn-lt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10956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91195" y="3887"/>
                <a:ext cx="9002192" cy="1258743"/>
              </a:xfrm>
              <a:prstGeom prst="rect">
                <a:avLst/>
              </a:prstGeom>
              <a:blipFill>
                <a:blip r:embed="rId6"/>
                <a:stretch>
                  <a:fillRect l="-1354" t="-4369" b="-63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48" name="Rectangle 15"/>
              <p:cNvSpPr>
                <a:spLocks noChangeArrowheads="1"/>
              </p:cNvSpPr>
              <p:nvPr/>
            </p:nvSpPr>
            <p:spPr bwMode="auto">
              <a:xfrm>
                <a:off x="1604221" y="1152303"/>
                <a:ext cx="4500398" cy="5754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zh-CN" altLang="en-US" sz="2800" b="0" i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求：圆柱内、外的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u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kumimoji="1" lang="en-US" altLang="zh-CN" sz="2800" b="0" i="1" u="non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800" b="0" i="1" u="non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kumimoji="1" lang="en-US" altLang="zh-CN" sz="2800" b="0" i="1" u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zh-CN" altLang="en-US" sz="2800" b="0" i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分布。</a:t>
                </a:r>
              </a:p>
            </p:txBody>
          </p:sp>
        </mc:Choice>
        <mc:Fallback xmlns="">
          <p:sp>
            <p:nvSpPr>
              <p:cNvPr id="30748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4221" y="1152303"/>
                <a:ext cx="4500398" cy="575479"/>
              </a:xfrm>
              <a:prstGeom prst="rect">
                <a:avLst/>
              </a:prstGeom>
              <a:blipFill>
                <a:blip r:embed="rId7"/>
                <a:stretch>
                  <a:fillRect l="-1491" t="-1064" r="-1626" b="-2978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9217858" y="3681499"/>
            <a:ext cx="641350" cy="697705"/>
            <a:chOff x="4343" y="2210"/>
            <a:chExt cx="530" cy="4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731" name="Object 11"/>
                <p:cNvSpPr txBox="1"/>
                <p:nvPr/>
              </p:nvSpPr>
              <p:spPr bwMode="auto">
                <a:xfrm>
                  <a:off x="4583" y="2210"/>
                  <a:ext cx="290" cy="323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0731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83" y="2210"/>
                  <a:ext cx="290" cy="32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747" name="Line 19"/>
            <p:cNvSpPr>
              <a:spLocks noChangeShapeType="1"/>
            </p:cNvSpPr>
            <p:nvPr/>
          </p:nvSpPr>
          <p:spPr bwMode="auto">
            <a:xfrm>
              <a:off x="4343" y="2258"/>
              <a:ext cx="480" cy="38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0972" name="Text Box 28"/>
              <p:cNvSpPr txBox="1">
                <a:spLocks noChangeArrowheads="1"/>
              </p:cNvSpPr>
              <p:nvPr/>
            </p:nvSpPr>
            <p:spPr bwMode="auto">
              <a:xfrm>
                <a:off x="7496558" y="5351414"/>
                <a:ext cx="3115365" cy="4420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  <a:spcBef>
                    <a:spcPct val="500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zh-CN" altLang="en-US" sz="2800" b="0" i="1" u="none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kumimoji="1" lang="en-US" altLang="zh-CN" sz="2800" b="0" i="1" u="none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𝐿</m:t>
                        </m:r>
                      </m:e>
                    </m:acc>
                  </m:oMath>
                </a14:m>
                <a:r>
                  <a:rPr kumimoji="1" lang="zh-CN" altLang="en-US" sz="2800" b="0" i="0" u="none" dirty="0">
                    <a:latin typeface="+mn-lt"/>
                    <a:ea typeface="华文楷体" panose="02010600040101010101" pitchFamily="2" charset="-122"/>
                  </a:rPr>
                  <a:t>正方向：逆时针</a:t>
                </a:r>
              </a:p>
            </p:txBody>
          </p:sp>
        </mc:Choice>
        <mc:Fallback xmlns="">
          <p:sp>
            <p:nvSpPr>
              <p:cNvPr id="210972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6558" y="5351414"/>
                <a:ext cx="3115365" cy="442044"/>
              </a:xfrm>
              <a:prstGeom prst="rect">
                <a:avLst/>
              </a:prstGeom>
              <a:blipFill>
                <a:blip r:embed="rId9"/>
                <a:stretch>
                  <a:fillRect t="-33333" b="-3888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箭头连接符 7"/>
          <p:cNvCxnSpPr/>
          <p:nvPr/>
        </p:nvCxnSpPr>
        <p:spPr bwMode="auto">
          <a:xfrm flipV="1">
            <a:off x="8571710" y="2845210"/>
            <a:ext cx="315742" cy="230835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2" name="文本框 11"/>
          <p:cNvSpPr txBox="1"/>
          <p:nvPr/>
        </p:nvSpPr>
        <p:spPr>
          <a:xfrm>
            <a:off x="8988579" y="2457121"/>
            <a:ext cx="404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ea typeface="华文楷体" panose="02010600040101010101" pitchFamily="2" charset="-122"/>
              </a:rPr>
              <a:t>L</a:t>
            </a:r>
            <a:endParaRPr lang="zh-CN" altLang="en-US" sz="2800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621322" y="1746592"/>
                <a:ext cx="9042532" cy="1088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解：以磁场轴线为中心选取任一半径为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𝑟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的圆形闭合回路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（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）当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𝑟</m:t>
                    </m:r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&lt;</m:t>
                    </m:r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𝑅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时，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322" y="1746592"/>
                <a:ext cx="9042532" cy="1088824"/>
              </a:xfrm>
              <a:prstGeom prst="rect">
                <a:avLst/>
              </a:prstGeom>
              <a:blipFill>
                <a:blip r:embed="rId10"/>
                <a:stretch>
                  <a:fillRect l="-1416" t="-1124" r="-270" b="-15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val 10"/>
          <p:cNvSpPr>
            <a:spLocks noChangeArrowheads="1"/>
          </p:cNvSpPr>
          <p:nvPr/>
        </p:nvSpPr>
        <p:spPr bwMode="auto">
          <a:xfrm>
            <a:off x="7890362" y="2565665"/>
            <a:ext cx="2499273" cy="2495899"/>
          </a:xfrm>
          <a:prstGeom prst="ellipse">
            <a:avLst/>
          </a:prstGeom>
          <a:noFill/>
          <a:ln w="38100">
            <a:solidFill>
              <a:srgbClr val="A5002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en-US" altLang="zh-CN" sz="2800" b="0" u="none" dirty="0">
              <a:latin typeface="+mn-lt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1955015" y="6046792"/>
                <a:ext cx="8029417" cy="4831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∵</m:t>
                    </m:r>
                    <m:f>
                      <m:fPr>
                        <m:type m:val="lin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&gt;0</m:t>
                    </m:r>
                    <m:r>
                      <a:rPr lang="zh-CN" altLang="en-US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∴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，与</a:t>
                </a:r>
                <a14:m>
                  <m:oMath xmlns:m="http://schemas.openxmlformats.org/officeDocument/2006/math">
                    <m:r>
                      <a:rPr lang="en-US" altLang="zh-CN" sz="28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𝐿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反向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沿顺时针方向</a:t>
                </a: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015" y="6046792"/>
                <a:ext cx="8029417" cy="483146"/>
              </a:xfrm>
              <a:prstGeom prst="rect">
                <a:avLst/>
              </a:prstGeom>
              <a:blipFill>
                <a:blip r:embed="rId11"/>
                <a:stretch>
                  <a:fillRect t="-11392" b="-44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702291" y="2708920"/>
                <a:ext cx="5806580" cy="33116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kumimoji="1"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kumimoji="1"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zh-CN" sz="2800" b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kumimoji="1" lang="en-US" altLang="zh-CN" sz="2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nary>
                        <m:naryPr>
                          <m:chr m:val="∬"/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𝑆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  <m:acc>
                                <m:accPr>
                                  <m:chr m:val="⃗"/>
                                  <m:ctrlPr>
                                    <a:rPr kumimoji="1"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𝐵</m:t>
                                  </m:r>
                                </m:e>
                              </m:acc>
                            </m:num>
                            <m:den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den>
                          </m:f>
                          <m:r>
                            <a:rPr kumimoji="1" lang="en-US" altLang="zh-CN" sz="2800" b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𝐸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2</m:t>
                      </m:r>
                      <m:r>
                        <a:rPr kumimoji="1"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𝜋</m:t>
                      </m:r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𝑟</m:t>
                      </m:r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num>
                        <m:den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𝜋</m:t>
                      </m:r>
                      <m:sSup>
                        <m:sSupPr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  <m:sup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zh-CN" sz="2800" dirty="0">
                  <a:solidFill>
                    <a:schemeClr val="tx1"/>
                  </a:solidFill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𝐸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num>
                        <m:den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num>
                        <m:den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2291" y="2708920"/>
                <a:ext cx="5806580" cy="331167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01449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10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54" grpId="0" animBg="1" autoUpdateAnimBg="0"/>
      <p:bldP spid="30748" grpId="0"/>
      <p:bldP spid="210972" grpId="0" autoUpdateAnimBg="0"/>
      <p:bldP spid="12" grpId="0"/>
      <p:bldP spid="5" grpId="0"/>
      <p:bldP spid="30" grpId="0" animBg="1" autoUpdateAnimBg="0"/>
      <p:bldP spid="7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233624" y="1237855"/>
                <a:ext cx="4594001" cy="400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26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（</a:t>
                </a:r>
                <a:r>
                  <a:rPr lang="en-US" altLang="zh-CN" sz="26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2</a:t>
                </a:r>
                <a:r>
                  <a:rPr lang="zh-CN" altLang="en-US" sz="26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）当</a:t>
                </a:r>
                <a14:m>
                  <m:oMath xmlns:m="http://schemas.openxmlformats.org/officeDocument/2006/math">
                    <m:r>
                      <a:rPr lang="en-US" altLang="zh-CN" sz="2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600" b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6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时，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624" y="1237855"/>
                <a:ext cx="4594001" cy="400110"/>
              </a:xfrm>
              <a:prstGeom prst="rect">
                <a:avLst/>
              </a:prstGeom>
              <a:blipFill>
                <a:blip r:embed="rId2"/>
                <a:stretch>
                  <a:fillRect l="-4377" t="-25758" b="-48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455888" y="877779"/>
                <a:ext cx="6212818" cy="2125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𝐸</m:t>
                          </m:r>
                        </m:e>
                        <m:sub>
                          <m:r>
                            <a:rPr kumimoji="1" lang="en-US" altLang="zh-CN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2</m:t>
                      </m:r>
                      <m:r>
                        <a:rPr kumimoji="1" lang="zh-CN" altLang="en-US" sz="2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𝜋</m:t>
                      </m:r>
                      <m:r>
                        <a:rPr kumimoji="1" lang="en-US" altLang="zh-CN" sz="2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𝑟</m:t>
                      </m:r>
                      <m:r>
                        <a:rPr kumimoji="1" lang="en-US" altLang="zh-CN" sz="26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kumimoji="1" lang="en-US" altLang="zh-CN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en-US" altLang="zh-CN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en-US" altLang="zh-CN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num>
                        <m:den>
                          <m:r>
                            <a:rPr kumimoji="1" lang="en-US" altLang="zh-CN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en-US" altLang="zh-CN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𝜋</m:t>
                      </m:r>
                      <m:sSup>
                        <m:sSupPr>
                          <m:ctrlPr>
                            <a:rPr kumimoji="1" lang="en-US" altLang="zh-CN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en-US" altLang="zh-CN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𝑅</m:t>
                          </m:r>
                        </m:e>
                        <m:sup>
                          <m:r>
                            <a:rPr kumimoji="1" lang="en-US" altLang="zh-CN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6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6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→</m:t>
                      </m:r>
                      <m:sSub>
                        <m:sSubPr>
                          <m:ctrlPr>
                            <a:rPr kumimoji="1" lang="en-US" altLang="zh-CN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𝐸</m:t>
                          </m:r>
                        </m:e>
                        <m:sub>
                          <m:r>
                            <a:rPr kumimoji="1" lang="en-US" altLang="zh-CN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6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kumimoji="1" lang="en-US" altLang="zh-CN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𝑅</m:t>
                              </m:r>
                            </m:e>
                            <m:sup>
                              <m:r>
                                <a:rPr kumimoji="1" lang="en-US" altLang="zh-CN" sz="2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kumimoji="1" lang="en-US" altLang="zh-CN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  <m:r>
                            <a:rPr kumimoji="1" lang="en-US" altLang="zh-CN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den>
                      </m:f>
                      <m:f>
                        <m:fPr>
                          <m:ctrlPr>
                            <a:rPr kumimoji="1" lang="en-US" altLang="zh-CN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en-US" altLang="zh-CN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en-US" altLang="zh-CN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num>
                        <m:den>
                          <m:r>
                            <a:rPr kumimoji="1" lang="en-US" altLang="zh-CN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en-US" altLang="zh-CN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zh-CN" altLang="en-US" sz="2600" dirty="0">
                  <a:solidFill>
                    <a:schemeClr val="tx1"/>
                  </a:solidFill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888" y="877779"/>
                <a:ext cx="6212818" cy="21253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 Box 8"/>
          <p:cNvSpPr txBox="1">
            <a:spLocks noChangeArrowheads="1"/>
          </p:cNvSpPr>
          <p:nvPr/>
        </p:nvSpPr>
        <p:spPr bwMode="auto">
          <a:xfrm>
            <a:off x="3948138" y="3122960"/>
            <a:ext cx="3054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2600" b="0" i="0" u="none" dirty="0">
                <a:latin typeface="+mn-lt"/>
                <a:ea typeface="华文楷体" panose="02010600040101010101" pitchFamily="2" charset="-122"/>
              </a:rPr>
              <a:t>方向：逆时针方向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2"/>
              <p:cNvSpPr txBox="1"/>
              <p:nvPr/>
            </p:nvSpPr>
            <p:spPr bwMode="auto">
              <a:xfrm>
                <a:off x="7599413" y="5159278"/>
                <a:ext cx="1219200" cy="108743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en-US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2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99413" y="5159278"/>
                <a:ext cx="1219200" cy="10874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3"/>
              <p:cNvSpPr txBox="1"/>
              <p:nvPr/>
            </p:nvSpPr>
            <p:spPr bwMode="auto">
              <a:xfrm>
                <a:off x="9428213" y="5451378"/>
                <a:ext cx="1143000" cy="4921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28213" y="5451378"/>
                <a:ext cx="1143000" cy="4921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bject 4"/>
              <p:cNvSpPr txBox="1"/>
              <p:nvPr/>
            </p:nvSpPr>
            <p:spPr bwMode="auto">
              <a:xfrm>
                <a:off x="7447013" y="3940077"/>
                <a:ext cx="1447800" cy="10731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f>
                        <m:fPr>
                          <m:ctrlPr>
                            <a:rPr lang="en-US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en-US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2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47013" y="3940077"/>
                <a:ext cx="1447800" cy="10731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bject 5"/>
              <p:cNvSpPr txBox="1"/>
              <p:nvPr/>
            </p:nvSpPr>
            <p:spPr bwMode="auto">
              <a:xfrm>
                <a:off x="9352013" y="4190903"/>
                <a:ext cx="1143000" cy="4921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52013" y="4190903"/>
                <a:ext cx="1143000" cy="4921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6"/>
              <p:cNvSpPr txBox="1"/>
              <p:nvPr/>
            </p:nvSpPr>
            <p:spPr bwMode="auto">
              <a:xfrm>
                <a:off x="6181751" y="4762848"/>
                <a:ext cx="958850" cy="6286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81751" y="4762848"/>
                <a:ext cx="958850" cy="6286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AutoShape 13"/>
          <p:cNvSpPr>
            <a:spLocks/>
          </p:cNvSpPr>
          <p:nvPr/>
        </p:nvSpPr>
        <p:spPr bwMode="auto">
          <a:xfrm>
            <a:off x="7218413" y="4319489"/>
            <a:ext cx="228600" cy="1624013"/>
          </a:xfrm>
          <a:prstGeom prst="leftBrace">
            <a:avLst>
              <a:gd name="adj1" fmla="val 75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600" b="0"/>
          </a:p>
        </p:txBody>
      </p:sp>
      <p:grpSp>
        <p:nvGrpSpPr>
          <p:cNvPr id="44" name="Group 18"/>
          <p:cNvGrpSpPr>
            <a:grpSpLocks/>
          </p:cNvGrpSpPr>
          <p:nvPr/>
        </p:nvGrpSpPr>
        <p:grpSpPr bwMode="auto">
          <a:xfrm>
            <a:off x="1984400" y="3385691"/>
            <a:ext cx="4184650" cy="3201988"/>
            <a:chOff x="242" y="218"/>
            <a:chExt cx="2636" cy="2017"/>
          </a:xfrm>
        </p:grpSpPr>
        <p:sp>
          <p:nvSpPr>
            <p:cNvPr id="45" name="Line 3"/>
            <p:cNvSpPr>
              <a:spLocks noChangeShapeType="1"/>
            </p:cNvSpPr>
            <p:nvPr/>
          </p:nvSpPr>
          <p:spPr bwMode="auto">
            <a:xfrm>
              <a:off x="539" y="384"/>
              <a:ext cx="0" cy="15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600"/>
            </a:p>
          </p:txBody>
        </p:sp>
        <p:sp>
          <p:nvSpPr>
            <p:cNvPr id="46" name="Line 4"/>
            <p:cNvSpPr>
              <a:spLocks noChangeShapeType="1"/>
            </p:cNvSpPr>
            <p:nvPr/>
          </p:nvSpPr>
          <p:spPr bwMode="auto">
            <a:xfrm>
              <a:off x="539" y="1968"/>
              <a:ext cx="22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600"/>
            </a:p>
          </p:txBody>
        </p:sp>
        <p:sp>
          <p:nvSpPr>
            <p:cNvPr id="47" name="Arc 5"/>
            <p:cNvSpPr>
              <a:spLocks/>
            </p:cNvSpPr>
            <p:nvPr/>
          </p:nvSpPr>
          <p:spPr bwMode="auto">
            <a:xfrm>
              <a:off x="1354" y="816"/>
              <a:ext cx="1394" cy="978"/>
            </a:xfrm>
            <a:custGeom>
              <a:avLst/>
              <a:gdLst>
                <a:gd name="T0" fmla="*/ 0 w 20903"/>
                <a:gd name="T1" fmla="*/ 0 h 20963"/>
                <a:gd name="T2" fmla="*/ 0 w 20903"/>
                <a:gd name="T3" fmla="*/ 0 h 20963"/>
                <a:gd name="T4" fmla="*/ 0 w 20903"/>
                <a:gd name="T5" fmla="*/ 0 h 20963"/>
                <a:gd name="T6" fmla="*/ 0 60000 65536"/>
                <a:gd name="T7" fmla="*/ 0 60000 65536"/>
                <a:gd name="T8" fmla="*/ 0 60000 65536"/>
                <a:gd name="T9" fmla="*/ 0 w 20903"/>
                <a:gd name="T10" fmla="*/ 0 h 20963"/>
                <a:gd name="T11" fmla="*/ 20903 w 20903"/>
                <a:gd name="T12" fmla="*/ 20963 h 209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903" h="20963" fill="none" extrusionOk="0">
                  <a:moveTo>
                    <a:pt x="15696" y="20963"/>
                  </a:moveTo>
                  <a:cubicBezTo>
                    <a:pt x="8015" y="19055"/>
                    <a:pt x="1993" y="13100"/>
                    <a:pt x="-1" y="5441"/>
                  </a:cubicBezTo>
                </a:path>
                <a:path w="20903" h="20963" stroke="0" extrusionOk="0">
                  <a:moveTo>
                    <a:pt x="15696" y="20963"/>
                  </a:moveTo>
                  <a:cubicBezTo>
                    <a:pt x="8015" y="19055"/>
                    <a:pt x="1993" y="13100"/>
                    <a:pt x="-1" y="5441"/>
                  </a:cubicBezTo>
                  <a:lnTo>
                    <a:pt x="20903" y="0"/>
                  </a:lnTo>
                  <a:close/>
                </a:path>
              </a:pathLst>
            </a:custGeom>
            <a:noFill/>
            <a:ln w="57150" cap="rnd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600"/>
            </a:p>
          </p:txBody>
        </p:sp>
        <p:sp>
          <p:nvSpPr>
            <p:cNvPr id="48" name="Line 6"/>
            <p:cNvSpPr>
              <a:spLocks noChangeShapeType="1"/>
            </p:cNvSpPr>
            <p:nvPr/>
          </p:nvSpPr>
          <p:spPr bwMode="auto">
            <a:xfrm>
              <a:off x="1355" y="1056"/>
              <a:ext cx="0" cy="9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600"/>
            </a:p>
          </p:txBody>
        </p:sp>
        <p:sp>
          <p:nvSpPr>
            <p:cNvPr id="49" name="Line 7"/>
            <p:cNvSpPr>
              <a:spLocks noChangeShapeType="1"/>
            </p:cNvSpPr>
            <p:nvPr/>
          </p:nvSpPr>
          <p:spPr bwMode="auto">
            <a:xfrm flipV="1">
              <a:off x="539" y="1056"/>
              <a:ext cx="816" cy="912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Object 7"/>
                <p:cNvSpPr txBox="1"/>
                <p:nvPr/>
              </p:nvSpPr>
              <p:spPr bwMode="auto">
                <a:xfrm>
                  <a:off x="242" y="218"/>
                  <a:ext cx="272" cy="347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6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2" y="218"/>
                  <a:ext cx="272" cy="34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Object 8"/>
                <p:cNvSpPr txBox="1"/>
                <p:nvPr/>
              </p:nvSpPr>
              <p:spPr bwMode="auto">
                <a:xfrm>
                  <a:off x="350" y="1920"/>
                  <a:ext cx="214" cy="231"/>
                </a:xfrm>
                <a:prstGeom prst="rect">
                  <a:avLst/>
                </a:prstGeom>
                <a:noFill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en-US" sz="26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0" y="1920"/>
                  <a:ext cx="214" cy="2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Object 9"/>
                <p:cNvSpPr txBox="1"/>
                <p:nvPr/>
              </p:nvSpPr>
              <p:spPr bwMode="auto">
                <a:xfrm>
                  <a:off x="1216" y="1948"/>
                  <a:ext cx="263" cy="264"/>
                </a:xfrm>
                <a:prstGeom prst="rect">
                  <a:avLst/>
                </a:prstGeom>
                <a:noFill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sz="26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16" y="1948"/>
                  <a:ext cx="263" cy="26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Object 10"/>
                <p:cNvSpPr txBox="1"/>
                <p:nvPr/>
              </p:nvSpPr>
              <p:spPr bwMode="auto">
                <a:xfrm>
                  <a:off x="2643" y="1975"/>
                  <a:ext cx="235" cy="260"/>
                </a:xfrm>
                <a:prstGeom prst="rect">
                  <a:avLst/>
                </a:prstGeom>
                <a:noFill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26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43" y="1975"/>
                  <a:ext cx="235" cy="26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">
            <a:extLst>
              <a:ext uri="{FF2B5EF4-FFF2-40B4-BE49-F238E27FC236}">
                <a16:creationId xmlns:a16="http://schemas.microsoft.com/office/drawing/2014/main" id="{BC6BBB33-8360-4D08-B389-A175F0E2103A}"/>
              </a:ext>
            </a:extLst>
          </p:cNvPr>
          <p:cNvGrpSpPr>
            <a:grpSpLocks/>
          </p:cNvGrpSpPr>
          <p:nvPr/>
        </p:nvGrpSpPr>
        <p:grpSpPr bwMode="auto">
          <a:xfrm>
            <a:off x="8345020" y="1266766"/>
            <a:ext cx="3455989" cy="2117725"/>
            <a:chOff x="1215" y="668"/>
            <a:chExt cx="2177" cy="13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bject 15">
                  <a:extLst>
                    <a:ext uri="{FF2B5EF4-FFF2-40B4-BE49-F238E27FC236}">
                      <a16:creationId xmlns:a16="http://schemas.microsoft.com/office/drawing/2014/main" id="{ADBFAF07-4579-4D39-8951-DFE7FF7D9E54}"/>
                    </a:ext>
                  </a:extLst>
                </p:cNvPr>
                <p:cNvSpPr txBox="1"/>
                <p:nvPr/>
              </p:nvSpPr>
              <p:spPr bwMode="auto">
                <a:xfrm>
                  <a:off x="1561" y="668"/>
                  <a:ext cx="1831" cy="1226"/>
                </a:xfrm>
                <a:prstGeom prst="rect">
                  <a:avLst/>
                </a:prstGeom>
                <a:noFill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  ×  ×  ×</m:t>
                        </m:r>
                      </m:oMath>
                      <m:oMath xmlns:m="http://schemas.openxmlformats.org/officeDocument/2006/math">
                        <m: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  <m:oMath xmlns:m="http://schemas.openxmlformats.org/officeDocument/2006/math">
                        <m: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  <m:oMath xmlns:m="http://schemas.openxmlformats.org/officeDocument/2006/math">
                        <m: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  ×  ×  ×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30735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61" y="668"/>
                  <a:ext cx="1831" cy="1226"/>
                </a:xfrm>
                <a:prstGeom prst="rect">
                  <a:avLst/>
                </a:prstGeom>
                <a:blipFill>
                  <a:blip r:embed="rId13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bject 13">
                  <a:extLst>
                    <a:ext uri="{FF2B5EF4-FFF2-40B4-BE49-F238E27FC236}">
                      <a16:creationId xmlns:a16="http://schemas.microsoft.com/office/drawing/2014/main" id="{BA2DCABA-ADAC-454C-94A6-ABF8FADC816D}"/>
                    </a:ext>
                  </a:extLst>
                </p:cNvPr>
                <p:cNvSpPr txBox="1"/>
                <p:nvPr/>
              </p:nvSpPr>
              <p:spPr bwMode="auto">
                <a:xfrm>
                  <a:off x="1215" y="867"/>
                  <a:ext cx="274" cy="345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0733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15" y="867"/>
                  <a:ext cx="274" cy="34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Line 5">
              <a:extLst>
                <a:ext uri="{FF2B5EF4-FFF2-40B4-BE49-F238E27FC236}">
                  <a16:creationId xmlns:a16="http://schemas.microsoft.com/office/drawing/2014/main" id="{B13FACFA-3D2F-4C9B-B01D-17E9114F0F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77" y="1392"/>
              <a:ext cx="571" cy="61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oval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bject 16">
                  <a:extLst>
                    <a:ext uri="{FF2B5EF4-FFF2-40B4-BE49-F238E27FC236}">
                      <a16:creationId xmlns:a16="http://schemas.microsoft.com/office/drawing/2014/main" id="{89249FD2-4737-409A-9106-187DC61C9919}"/>
                    </a:ext>
                  </a:extLst>
                </p:cNvPr>
                <p:cNvSpPr txBox="1"/>
                <p:nvPr/>
              </p:nvSpPr>
              <p:spPr bwMode="auto">
                <a:xfrm>
                  <a:off x="1508" y="1712"/>
                  <a:ext cx="254" cy="254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0736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08" y="1712"/>
                  <a:ext cx="254" cy="25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Oval 10">
            <a:extLst>
              <a:ext uri="{FF2B5EF4-FFF2-40B4-BE49-F238E27FC236}">
                <a16:creationId xmlns:a16="http://schemas.microsoft.com/office/drawing/2014/main" id="{984C8C1C-B169-4CC8-A1C2-74FDC0F69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7963" y="648498"/>
            <a:ext cx="3425697" cy="3493477"/>
          </a:xfrm>
          <a:prstGeom prst="ellips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en-US" altLang="zh-CN" sz="2800" b="0" u="none" dirty="0">
              <a:latin typeface="+mn-lt"/>
              <a:ea typeface="华文楷体" panose="02010600040101010101" pitchFamily="2" charset="-122"/>
            </a:endParaRPr>
          </a:p>
        </p:txBody>
      </p:sp>
      <p:grpSp>
        <p:nvGrpSpPr>
          <p:cNvPr id="28" name="Group 17">
            <a:extLst>
              <a:ext uri="{FF2B5EF4-FFF2-40B4-BE49-F238E27FC236}">
                <a16:creationId xmlns:a16="http://schemas.microsoft.com/office/drawing/2014/main" id="{C1AD9EF3-CFAA-4DDB-B2DE-3FFD0AAB92AC}"/>
              </a:ext>
            </a:extLst>
          </p:cNvPr>
          <p:cNvGrpSpPr>
            <a:grpSpLocks/>
          </p:cNvGrpSpPr>
          <p:nvPr/>
        </p:nvGrpSpPr>
        <p:grpSpPr bwMode="auto">
          <a:xfrm>
            <a:off x="9968829" y="2317714"/>
            <a:ext cx="1201554" cy="1380065"/>
            <a:chOff x="4343" y="2210"/>
            <a:chExt cx="530" cy="4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bject 11">
                  <a:extLst>
                    <a:ext uri="{FF2B5EF4-FFF2-40B4-BE49-F238E27FC236}">
                      <a16:creationId xmlns:a16="http://schemas.microsoft.com/office/drawing/2014/main" id="{CD1A0671-1920-4BA5-91FC-D59542FD4458}"/>
                    </a:ext>
                  </a:extLst>
                </p:cNvPr>
                <p:cNvSpPr txBox="1"/>
                <p:nvPr/>
              </p:nvSpPr>
              <p:spPr bwMode="auto">
                <a:xfrm>
                  <a:off x="4583" y="2210"/>
                  <a:ext cx="290" cy="323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0731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83" y="2210"/>
                  <a:ext cx="290" cy="323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Line 19">
              <a:extLst>
                <a:ext uri="{FF2B5EF4-FFF2-40B4-BE49-F238E27FC236}">
                  <a16:creationId xmlns:a16="http://schemas.microsoft.com/office/drawing/2014/main" id="{EFEE7A8D-45C1-49E1-B428-C992ED1507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" y="2258"/>
              <a:ext cx="480" cy="38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</p:grp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CF8C924D-EFE2-40DA-A9BA-F854870BC064}"/>
              </a:ext>
            </a:extLst>
          </p:cNvPr>
          <p:cNvCxnSpPr/>
          <p:nvPr/>
        </p:nvCxnSpPr>
        <p:spPr bwMode="auto">
          <a:xfrm flipV="1">
            <a:off x="9322681" y="1481425"/>
            <a:ext cx="315742" cy="230835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ABA11F5-51D0-42E9-988B-E1866CE19DD9}"/>
              </a:ext>
            </a:extLst>
          </p:cNvPr>
          <p:cNvSpPr txBox="1"/>
          <p:nvPr/>
        </p:nvSpPr>
        <p:spPr>
          <a:xfrm>
            <a:off x="9739550" y="1093336"/>
            <a:ext cx="404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ea typeface="华文楷体" panose="02010600040101010101" pitchFamily="2" charset="-122"/>
              </a:rPr>
              <a:t>L</a:t>
            </a:r>
            <a:endParaRPr lang="zh-CN" altLang="en-US" sz="2800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33" name="Oval 10">
            <a:extLst>
              <a:ext uri="{FF2B5EF4-FFF2-40B4-BE49-F238E27FC236}">
                <a16:creationId xmlns:a16="http://schemas.microsoft.com/office/drawing/2014/main" id="{7561A5DB-F24C-46DE-96AF-587893B92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1333" y="1201880"/>
            <a:ext cx="2499273" cy="2495899"/>
          </a:xfrm>
          <a:prstGeom prst="ellipse">
            <a:avLst/>
          </a:prstGeom>
          <a:noFill/>
          <a:ln w="38100">
            <a:solidFill>
              <a:srgbClr val="A5002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en-US" altLang="zh-CN" sz="2800" b="0" u="none" dirty="0">
              <a:latin typeface="+mn-lt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31229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7" grpId="0"/>
      <p:bldP spid="38" grpId="0"/>
      <p:bldP spid="39" grpId="0"/>
      <p:bldP spid="40" grpId="0"/>
      <p:bldP spid="41" grpId="0"/>
      <p:bldP spid="42" grpId="0"/>
      <p:bldP spid="4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6" y="980728"/>
            <a:ext cx="4449714" cy="359556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59697" y="5013177"/>
            <a:ext cx="5410135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磁场以恒定速率增强时的感生电场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662" y="1600845"/>
            <a:ext cx="2448272" cy="249079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57B751F-932C-40D8-8C12-BAD683C097B8}"/>
              </a:ext>
            </a:extLst>
          </p:cNvPr>
          <p:cNvSpPr txBox="1"/>
          <p:nvPr/>
        </p:nvSpPr>
        <p:spPr>
          <a:xfrm>
            <a:off x="10201124" y="2600022"/>
            <a:ext cx="15183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b="1" dirty="0">
                <a:solidFill>
                  <a:srgbClr val="FF0000"/>
                </a:solidFill>
              </a:rPr>
              <a:t>左手螺旋</a:t>
            </a:r>
            <a:endParaRPr lang="en-US" sz="2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469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30" name="Group 2"/>
          <p:cNvGrpSpPr/>
          <p:nvPr/>
        </p:nvGrpSpPr>
        <p:grpSpPr>
          <a:xfrm>
            <a:off x="563562" y="296864"/>
            <a:ext cx="10544176" cy="1725613"/>
            <a:chOff x="-557" y="379"/>
            <a:chExt cx="6642" cy="1087"/>
          </a:xfrm>
        </p:grpSpPr>
        <p:sp>
          <p:nvSpPr>
            <p:cNvPr id="48173" name="Text Box 3"/>
            <p:cNvSpPr txBox="1"/>
            <p:nvPr/>
          </p:nvSpPr>
          <p:spPr>
            <a:xfrm>
              <a:off x="-557" y="400"/>
              <a:ext cx="6642" cy="10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50000"/>
                </a:spcBef>
                <a:buNone/>
              </a:pPr>
              <a:r>
                <a:rPr lang="zh-CN" altLang="en-US" sz="2600" dirty="0">
                  <a:latin typeface="Times New Roman" panose="02020603050405020304" pitchFamily="18" charset="0"/>
                </a:rPr>
                <a:t>例 ：设有一半径为</a:t>
              </a:r>
              <a:r>
                <a:rPr lang="en-US" altLang="zh-CN" sz="2600" i="1" dirty="0">
                  <a:latin typeface="Times New Roman" panose="02020603050405020304" pitchFamily="18" charset="0"/>
                </a:rPr>
                <a:t>R </a:t>
              </a:r>
              <a:r>
                <a:rPr lang="zh-CN" altLang="en-US" sz="2600" dirty="0">
                  <a:latin typeface="Times New Roman" panose="02020603050405020304" pitchFamily="18" charset="0"/>
                </a:rPr>
                <a:t>，高度为</a:t>
              </a:r>
              <a:r>
                <a:rPr lang="en-US" altLang="zh-CN" sz="2600" i="1" dirty="0">
                  <a:latin typeface="Times New Roman" panose="02020603050405020304" pitchFamily="18" charset="0"/>
                </a:rPr>
                <a:t>h </a:t>
              </a:r>
              <a:r>
                <a:rPr lang="zh-CN" altLang="en-US" sz="2600" dirty="0">
                  <a:latin typeface="Times New Roman" panose="02020603050405020304" pitchFamily="18" charset="0"/>
                </a:rPr>
                <a:t>的铝圆盘，其电导率为     。把圆盘放在磁感强度为     的均匀磁场中，磁场方向垂直盘面。设磁场随时间变化，且                       为一常量。求盘内的感应电流值。（圆盘内感应电流自己的磁场略去不计）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174" name="Object 4"/>
                <p:cNvSpPr txBox="1"/>
                <p:nvPr/>
              </p:nvSpPr>
              <p:spPr>
                <a:xfrm>
                  <a:off x="4428" y="379"/>
                  <a:ext cx="520" cy="28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48174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8" y="379"/>
                  <a:ext cx="520" cy="288"/>
                </a:xfrm>
                <a:prstGeom prst="rect">
                  <a:avLst/>
                </a:prstGeom>
                <a:blipFill>
                  <a:blip r:embed="rId2"/>
                  <a:stretch>
                    <a:fillRect l="-2222" b="-10667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175" name="Object 5"/>
                <p:cNvSpPr txBox="1"/>
                <p:nvPr/>
              </p:nvSpPr>
              <p:spPr>
                <a:xfrm>
                  <a:off x="528" y="644"/>
                  <a:ext cx="315" cy="336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48175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" y="644"/>
                  <a:ext cx="315" cy="33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176" name="Object 6"/>
                <p:cNvSpPr txBox="1"/>
                <p:nvPr/>
              </p:nvSpPr>
              <p:spPr>
                <a:xfrm>
                  <a:off x="-171" y="886"/>
                  <a:ext cx="1296" cy="36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type m:val="lin"/>
                            <m:ctrl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26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26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en-US" sz="2600"/>
                </a:p>
              </p:txBody>
            </p:sp>
          </mc:Choice>
          <mc:Fallback xmlns="">
            <p:sp>
              <p:nvSpPr>
                <p:cNvPr id="48176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71" y="886"/>
                  <a:ext cx="1296" cy="36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131" name="Group 7"/>
          <p:cNvGrpSpPr/>
          <p:nvPr/>
        </p:nvGrpSpPr>
        <p:grpSpPr>
          <a:xfrm>
            <a:off x="1726407" y="2794002"/>
            <a:ext cx="3352800" cy="3124200"/>
            <a:chOff x="288" y="1920"/>
            <a:chExt cx="2112" cy="1968"/>
          </a:xfrm>
        </p:grpSpPr>
        <p:sp>
          <p:nvSpPr>
            <p:cNvPr id="48157" name="Rectangle 8"/>
            <p:cNvSpPr/>
            <p:nvPr/>
          </p:nvSpPr>
          <p:spPr>
            <a:xfrm>
              <a:off x="288" y="1920"/>
              <a:ext cx="2112" cy="1968"/>
            </a:xfrm>
            <a:prstGeom prst="rect">
              <a:avLst/>
            </a:prstGeom>
            <a:solidFill>
              <a:schemeClr val="bg1"/>
            </a:solidFill>
            <a:ln w="9525" cap="flat" cmpd="sng">
              <a:noFill/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endParaRPr lang="zh-CN" altLang="en-US" sz="2600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48158" name="Group 9"/>
            <p:cNvGrpSpPr/>
            <p:nvPr/>
          </p:nvGrpSpPr>
          <p:grpSpPr>
            <a:xfrm>
              <a:off x="480" y="2016"/>
              <a:ext cx="1863" cy="1776"/>
              <a:chOff x="480" y="2016"/>
              <a:chExt cx="1863" cy="1776"/>
            </a:xfrm>
          </p:grpSpPr>
          <p:sp>
            <p:nvSpPr>
              <p:cNvPr id="48159" name="Line 10"/>
              <p:cNvSpPr/>
              <p:nvPr/>
            </p:nvSpPr>
            <p:spPr>
              <a:xfrm>
                <a:off x="1200" y="3168"/>
                <a:ext cx="0" cy="528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48160" name="Oval 11"/>
              <p:cNvSpPr/>
              <p:nvPr/>
            </p:nvSpPr>
            <p:spPr>
              <a:xfrm>
                <a:off x="480" y="2400"/>
                <a:ext cx="1488" cy="768"/>
              </a:xfrm>
              <a:prstGeom prst="ellipse">
                <a:avLst/>
              </a:prstGeom>
              <a:gradFill rotWithShape="0">
                <a:gsLst>
                  <a:gs pos="0">
                    <a:srgbClr val="97831F"/>
                  </a:gs>
                  <a:gs pos="50000">
                    <a:srgbClr val="F9ECBB"/>
                  </a:gs>
                  <a:gs pos="100000">
                    <a:srgbClr val="97831F"/>
                  </a:gs>
                </a:gsLst>
                <a:lin ang="0" scaled="1"/>
                <a:tileRect/>
              </a:gradFill>
              <a:ln w="28575" cap="flat" cmpd="sng">
                <a:solidFill>
                  <a:srgbClr val="AA7D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None/>
                </a:pPr>
                <a:endParaRPr lang="zh-CN" altLang="en-US" sz="2600" dirty="0">
                  <a:solidFill>
                    <a:srgbClr val="1C1C1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161" name="Oval 12"/>
              <p:cNvSpPr/>
              <p:nvPr/>
            </p:nvSpPr>
            <p:spPr>
              <a:xfrm>
                <a:off x="480" y="2304"/>
                <a:ext cx="1488" cy="768"/>
              </a:xfrm>
              <a:prstGeom prst="ellipse">
                <a:avLst/>
              </a:prstGeom>
              <a:gradFill rotWithShape="0">
                <a:gsLst>
                  <a:gs pos="0">
                    <a:srgbClr val="CDCD73"/>
                  </a:gs>
                  <a:gs pos="100000">
                    <a:schemeClr val="bg2"/>
                  </a:gs>
                </a:gsLst>
                <a:path path="rect">
                  <a:fillToRect t="100000" r="100000"/>
                </a:path>
                <a:tileRect/>
              </a:gradFill>
              <a:ln w="28575" cap="flat" cmpd="sng">
                <a:solidFill>
                  <a:srgbClr val="AA7D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algn="ctr" eaLnBrk="1" hangingPunct="1">
                  <a:spcBef>
                    <a:spcPct val="0"/>
                  </a:spcBef>
                  <a:buNone/>
                </a:pPr>
                <a:endParaRPr lang="zh-CN" altLang="zh-CN" sz="2600" b="1" dirty="0">
                  <a:solidFill>
                    <a:srgbClr val="C2AA68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162" name="Line 13"/>
              <p:cNvSpPr/>
              <p:nvPr/>
            </p:nvSpPr>
            <p:spPr>
              <a:xfrm rot="-10494445">
                <a:off x="855" y="2360"/>
                <a:ext cx="336" cy="336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dash"/>
                <a:headEnd type="none" w="med" len="med"/>
                <a:tailEnd type="triangl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163" name="Object 14"/>
                  <p:cNvSpPr txBox="1"/>
                  <p:nvPr/>
                </p:nvSpPr>
                <p:spPr>
                  <a:xfrm>
                    <a:off x="816" y="2496"/>
                    <a:ext cx="227" cy="24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en-US" sz="2600" dirty="0"/>
                  </a:p>
                </p:txBody>
              </p:sp>
            </mc:Choice>
            <mc:Fallback xmlns="">
              <p:sp>
                <p:nvSpPr>
                  <p:cNvPr id="48163" name="Object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6" y="2496"/>
                    <a:ext cx="227" cy="24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8164" name="Line 15"/>
              <p:cNvSpPr/>
              <p:nvPr/>
            </p:nvSpPr>
            <p:spPr>
              <a:xfrm>
                <a:off x="480" y="2688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65" name="Line 16"/>
              <p:cNvSpPr/>
              <p:nvPr/>
            </p:nvSpPr>
            <p:spPr>
              <a:xfrm>
                <a:off x="1968" y="2688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66" name="Line 17"/>
              <p:cNvSpPr/>
              <p:nvPr/>
            </p:nvSpPr>
            <p:spPr>
              <a:xfrm flipV="1">
                <a:off x="1200" y="2016"/>
                <a:ext cx="0" cy="72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167" name="Object 18"/>
                  <p:cNvSpPr txBox="1"/>
                  <p:nvPr/>
                </p:nvSpPr>
                <p:spPr>
                  <a:xfrm>
                    <a:off x="1296" y="3408"/>
                    <a:ext cx="307" cy="384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acc>
                            <m:accPr>
                              <m:chr m:val="⃑"/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oMath>
                      </m:oMathPara>
                    </a14:m>
                    <a:endParaRPr lang="en-US" sz="2600"/>
                  </a:p>
                </p:txBody>
              </p:sp>
            </mc:Choice>
            <mc:Fallback xmlns="">
              <p:sp>
                <p:nvSpPr>
                  <p:cNvPr id="48167" name="Object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96" y="3408"/>
                    <a:ext cx="307" cy="38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8168" name="Line 19"/>
              <p:cNvSpPr/>
              <p:nvPr/>
            </p:nvSpPr>
            <p:spPr>
              <a:xfrm>
                <a:off x="1968" y="2688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69" name="Line 20"/>
              <p:cNvSpPr/>
              <p:nvPr/>
            </p:nvSpPr>
            <p:spPr>
              <a:xfrm>
                <a:off x="1968" y="2832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70" name="Line 21"/>
              <p:cNvSpPr/>
              <p:nvPr/>
            </p:nvSpPr>
            <p:spPr>
              <a:xfrm>
                <a:off x="2064" y="2304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48171" name="Line 22"/>
              <p:cNvSpPr/>
              <p:nvPr/>
            </p:nvSpPr>
            <p:spPr>
              <a:xfrm flipV="1">
                <a:off x="2064" y="2832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172" name="Object 23"/>
                  <p:cNvSpPr txBox="1"/>
                  <p:nvPr/>
                </p:nvSpPr>
                <p:spPr>
                  <a:xfrm>
                    <a:off x="2112" y="2592"/>
                    <a:ext cx="231" cy="323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sz="2600"/>
                  </a:p>
                </p:txBody>
              </p:sp>
            </mc:Choice>
            <mc:Fallback xmlns="">
              <p:sp>
                <p:nvSpPr>
                  <p:cNvPr id="48172" name="Object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12" y="2592"/>
                    <a:ext cx="231" cy="32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132" name="Group 24"/>
          <p:cNvGrpSpPr/>
          <p:nvPr/>
        </p:nvGrpSpPr>
        <p:grpSpPr>
          <a:xfrm>
            <a:off x="6781800" y="2384425"/>
            <a:ext cx="3276600" cy="4092575"/>
            <a:chOff x="3264" y="1502"/>
            <a:chExt cx="2064" cy="2578"/>
          </a:xfrm>
        </p:grpSpPr>
        <p:grpSp>
          <p:nvGrpSpPr>
            <p:cNvPr id="48133" name="Group 25"/>
            <p:cNvGrpSpPr/>
            <p:nvPr/>
          </p:nvGrpSpPr>
          <p:grpSpPr>
            <a:xfrm>
              <a:off x="3504" y="1502"/>
              <a:ext cx="1776" cy="2487"/>
              <a:chOff x="3504" y="1502"/>
              <a:chExt cx="1776" cy="2487"/>
            </a:xfrm>
          </p:grpSpPr>
          <p:sp>
            <p:nvSpPr>
              <p:cNvPr id="48135" name="Line 26"/>
              <p:cNvSpPr/>
              <p:nvPr/>
            </p:nvSpPr>
            <p:spPr>
              <a:xfrm flipV="1">
                <a:off x="4800" y="1781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36" name="Line 27"/>
              <p:cNvSpPr/>
              <p:nvPr/>
            </p:nvSpPr>
            <p:spPr>
              <a:xfrm flipV="1">
                <a:off x="4656" y="1781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37" name="Rectangle 28"/>
              <p:cNvSpPr/>
              <p:nvPr/>
            </p:nvSpPr>
            <p:spPr>
              <a:xfrm>
                <a:off x="4656" y="1877"/>
                <a:ext cx="144" cy="192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ysDot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None/>
                </a:pPr>
                <a:endParaRPr lang="zh-CN" altLang="en-US" sz="2600" dirty="0">
                  <a:solidFill>
                    <a:srgbClr val="1C1C1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138" name="Rectangle 29"/>
              <p:cNvSpPr/>
              <p:nvPr/>
            </p:nvSpPr>
            <p:spPr>
              <a:xfrm>
                <a:off x="3696" y="1877"/>
                <a:ext cx="144" cy="192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ysDot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None/>
                </a:pPr>
                <a:endParaRPr lang="zh-CN" altLang="en-US" sz="2600" dirty="0">
                  <a:solidFill>
                    <a:srgbClr val="1C1C1C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8139" name="Group 30"/>
              <p:cNvGrpSpPr/>
              <p:nvPr/>
            </p:nvGrpSpPr>
            <p:grpSpPr>
              <a:xfrm>
                <a:off x="3504" y="2213"/>
                <a:ext cx="1680" cy="1776"/>
                <a:chOff x="3504" y="2213"/>
                <a:chExt cx="1680" cy="1776"/>
              </a:xfrm>
            </p:grpSpPr>
            <p:sp>
              <p:nvSpPr>
                <p:cNvPr id="48150" name="Line 31"/>
                <p:cNvSpPr/>
                <p:nvPr/>
              </p:nvSpPr>
              <p:spPr>
                <a:xfrm>
                  <a:off x="4272" y="3077"/>
                  <a:ext cx="371" cy="1"/>
                </a:xfrm>
                <a:prstGeom prst="line">
                  <a:avLst/>
                </a:prstGeom>
                <a:ln w="19050" cap="flat" cmpd="sng">
                  <a:solidFill>
                    <a:srgbClr val="FF0066"/>
                  </a:solidFill>
                  <a:prstDash val="dash"/>
                  <a:headEnd type="triangle" w="sm" len="lg"/>
                  <a:tailEnd type="triangle" w="sm" len="lg"/>
                </a:ln>
              </p:spPr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151" name="Object 32"/>
                    <p:cNvSpPr txBox="1"/>
                    <p:nvPr/>
                  </p:nvSpPr>
                  <p:spPr>
                    <a:xfrm>
                      <a:off x="4390" y="2837"/>
                      <a:ext cx="170" cy="199"/>
                    </a:xfrm>
                    <a:prstGeom prst="rect">
                      <a:avLst/>
                    </a:prstGeom>
                    <a:noFill/>
                    <a:ln w="38100">
                      <a:noFill/>
                      <a:miter/>
                    </a:ln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oMath>
                        </m:oMathPara>
                      </a14:m>
                      <a:endParaRPr lang="en-US" sz="2600"/>
                    </a:p>
                  </p:txBody>
                </p:sp>
              </mc:Choice>
              <mc:Fallback xmlns="">
                <p:sp>
                  <p:nvSpPr>
                    <p:cNvPr id="48151" name="Object 3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90" y="2837"/>
                      <a:ext cx="170" cy="1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15385"/>
                      </a:stretch>
                    </a:blipFill>
                    <a:ln w="38100">
                      <a:noFill/>
                      <a:miter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8152" name="AutoShape 33"/>
                <p:cNvSpPr/>
                <p:nvPr/>
              </p:nvSpPr>
              <p:spPr>
                <a:xfrm>
                  <a:off x="3696" y="2541"/>
                  <a:ext cx="1112" cy="1112"/>
                </a:xfrm>
                <a:custGeom>
                  <a:avLst/>
                  <a:gdLst>
                    <a:gd name="txL" fmla="*/ 3166 w 21600"/>
                    <a:gd name="txT" fmla="*/ 3166 h 21600"/>
                    <a:gd name="txR" fmla="*/ 18434 w 21600"/>
                    <a:gd name="txB" fmla="*/ 18434 h 21600"/>
                  </a:gdLst>
                  <a:ahLst/>
                  <a:cxnLst>
                    <a:cxn ang="0">
                      <a:pos x="29" y="0"/>
                    </a:cxn>
                    <a:cxn ang="0">
                      <a:pos x="8" y="8"/>
                    </a:cxn>
                    <a:cxn ang="0">
                      <a:pos x="0" y="29"/>
                    </a:cxn>
                    <a:cxn ang="0">
                      <a:pos x="8" y="49"/>
                    </a:cxn>
                    <a:cxn ang="0">
                      <a:pos x="29" y="57"/>
                    </a:cxn>
                    <a:cxn ang="0">
                      <a:pos x="49" y="49"/>
                    </a:cxn>
                    <a:cxn ang="0">
                      <a:pos x="57" y="29"/>
                    </a:cxn>
                    <a:cxn ang="0">
                      <a:pos x="49" y="8"/>
                    </a:cxn>
                  </a:cxnLst>
                  <a:rect l="txL" t="txT" r="txR" b="txB"/>
                  <a:pathLst>
                    <a:path w="21600" h="21600">
                      <a:moveTo>
                        <a:pt x="0" y="10800"/>
                      </a:move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5" y="0"/>
                        <a:pt x="21600" y="4835"/>
                        <a:pt x="21600" y="10800"/>
                      </a:cubicBezTo>
                      <a:cubicBezTo>
                        <a:pt x="21600" y="16765"/>
                        <a:pt x="16765" y="21600"/>
                        <a:pt x="10800" y="21600"/>
                      </a:cubicBezTo>
                      <a:cubicBezTo>
                        <a:pt x="4835" y="21600"/>
                        <a:pt x="0" y="16765"/>
                        <a:pt x="0" y="10800"/>
                      </a:cubicBezTo>
                      <a:close/>
                      <a:moveTo>
                        <a:pt x="2721" y="10800"/>
                      </a:moveTo>
                      <a:cubicBezTo>
                        <a:pt x="2721" y="15262"/>
                        <a:pt x="6338" y="18879"/>
                        <a:pt x="10800" y="18879"/>
                      </a:cubicBezTo>
                      <a:cubicBezTo>
                        <a:pt x="15262" y="18879"/>
                        <a:pt x="18879" y="15262"/>
                        <a:pt x="18879" y="10800"/>
                      </a:cubicBezTo>
                      <a:cubicBezTo>
                        <a:pt x="18879" y="6338"/>
                        <a:pt x="15262" y="2721"/>
                        <a:pt x="10800" y="2721"/>
                      </a:cubicBezTo>
                      <a:cubicBezTo>
                        <a:pt x="6338" y="2721"/>
                        <a:pt x="2721" y="6338"/>
                        <a:pt x="2721" y="10800"/>
                      </a:cubicBezTo>
                      <a:close/>
                    </a:path>
                  </a:pathLst>
                </a:custGeom>
                <a:solidFill>
                  <a:schemeClr val="accent1">
                    <a:alpha val="100000"/>
                  </a:schemeClr>
                </a:solidFill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sz="2600"/>
                </a:p>
              </p:txBody>
            </p:sp>
            <p:sp>
              <p:nvSpPr>
                <p:cNvPr id="48153" name="Oval 34"/>
                <p:cNvSpPr/>
                <p:nvPr/>
              </p:nvSpPr>
              <p:spPr>
                <a:xfrm>
                  <a:off x="3504" y="2309"/>
                  <a:ext cx="1488" cy="1536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indent="0" eaLnBrk="1" hangingPunct="1">
                    <a:spcBef>
                      <a:spcPct val="0"/>
                    </a:spcBef>
                    <a:buNone/>
                  </a:pPr>
                  <a:endParaRPr lang="zh-CN" altLang="en-US" sz="2600" dirty="0">
                    <a:solidFill>
                      <a:srgbClr val="1C1C1C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154" name="Line 35"/>
                <p:cNvSpPr/>
                <p:nvPr/>
              </p:nvSpPr>
              <p:spPr>
                <a:xfrm>
                  <a:off x="4813" y="3077"/>
                  <a:ext cx="371" cy="1"/>
                </a:xfrm>
                <a:prstGeom prst="line">
                  <a:avLst/>
                </a:prstGeom>
                <a:ln w="19050" cap="flat" cmpd="sng">
                  <a:solidFill>
                    <a:srgbClr val="FF0066"/>
                  </a:solidFill>
                  <a:prstDash val="dash"/>
                  <a:headEnd type="triangle" w="sm" len="lg"/>
                  <a:tailEnd type="none" w="sm" len="lg"/>
                </a:ln>
              </p:spPr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155" name="Object 36"/>
                    <p:cNvSpPr txBox="1"/>
                    <p:nvPr/>
                  </p:nvSpPr>
                  <p:spPr>
                    <a:xfrm>
                      <a:off x="4752" y="2833"/>
                      <a:ext cx="260" cy="244"/>
                    </a:xfrm>
                    <a:prstGeom prst="rect">
                      <a:avLst/>
                    </a:prstGeom>
                    <a:noFill/>
                    <a:ln w="38100">
                      <a:noFill/>
                      <a:miter/>
                    </a:ln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US" sz="26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oMath>
                        </m:oMathPara>
                      </a14:m>
                      <a:endParaRPr lang="en-US" sz="2600"/>
                    </a:p>
                  </p:txBody>
                </p:sp>
              </mc:Choice>
              <mc:Fallback xmlns="">
                <p:sp>
                  <p:nvSpPr>
                    <p:cNvPr id="48155" name="Object 3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52" y="2833"/>
                      <a:ext cx="260" cy="244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r="-2941"/>
                      </a:stretch>
                    </a:blipFill>
                    <a:ln w="38100">
                      <a:noFill/>
                      <a:miter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8156" name="Line 37"/>
                <p:cNvSpPr/>
                <p:nvPr/>
              </p:nvSpPr>
              <p:spPr>
                <a:xfrm>
                  <a:off x="4272" y="2213"/>
                  <a:ext cx="0" cy="177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8140" name="Rectangle 38"/>
              <p:cNvSpPr/>
              <p:nvPr/>
            </p:nvSpPr>
            <p:spPr>
              <a:xfrm>
                <a:off x="3504" y="1877"/>
                <a:ext cx="1488" cy="19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None/>
                </a:pPr>
                <a:endParaRPr lang="zh-CN" altLang="en-US" sz="2600" dirty="0">
                  <a:solidFill>
                    <a:srgbClr val="1C1C1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141" name="Line 39"/>
              <p:cNvSpPr/>
              <p:nvPr/>
            </p:nvSpPr>
            <p:spPr>
              <a:xfrm>
                <a:off x="4272" y="1781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Dot"/>
                <a:headEnd type="none" w="med" len="med"/>
                <a:tailEnd type="none" w="med" len="med"/>
              </a:ln>
            </p:spPr>
          </p:sp>
          <p:sp>
            <p:nvSpPr>
              <p:cNvPr id="48142" name="Line 40"/>
              <p:cNvSpPr/>
              <p:nvPr/>
            </p:nvSpPr>
            <p:spPr>
              <a:xfrm>
                <a:off x="4272" y="1829"/>
                <a:ext cx="371" cy="1"/>
              </a:xfrm>
              <a:prstGeom prst="line">
                <a:avLst/>
              </a:prstGeom>
              <a:ln w="19050" cap="flat" cmpd="sng">
                <a:solidFill>
                  <a:srgbClr val="FF0066"/>
                </a:solidFill>
                <a:prstDash val="dash"/>
                <a:headEnd type="triangle" w="sm" len="lg"/>
                <a:tailEnd type="triangl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143" name="Object 41"/>
                  <p:cNvSpPr txBox="1"/>
                  <p:nvPr/>
                </p:nvSpPr>
                <p:spPr>
                  <a:xfrm>
                    <a:off x="4355" y="1507"/>
                    <a:ext cx="170" cy="199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en-US" sz="2600"/>
                  </a:p>
                </p:txBody>
              </p:sp>
            </mc:Choice>
            <mc:Fallback xmlns="">
              <p:sp>
                <p:nvSpPr>
                  <p:cNvPr id="48143" name="Object 4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5" y="1507"/>
                    <a:ext cx="170" cy="1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5385"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8144" name="Line 42"/>
              <p:cNvSpPr/>
              <p:nvPr/>
            </p:nvSpPr>
            <p:spPr>
              <a:xfrm>
                <a:off x="4833" y="1828"/>
                <a:ext cx="255" cy="1"/>
              </a:xfrm>
              <a:prstGeom prst="line">
                <a:avLst/>
              </a:prstGeom>
              <a:ln w="19050" cap="flat" cmpd="sng">
                <a:solidFill>
                  <a:srgbClr val="FF0066"/>
                </a:solidFill>
                <a:prstDash val="dash"/>
                <a:headEnd type="triangle" w="sm" len="lg"/>
                <a:tailEnd type="non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145" name="Object 43"/>
                  <p:cNvSpPr txBox="1"/>
                  <p:nvPr/>
                </p:nvSpPr>
                <p:spPr>
                  <a:xfrm>
                    <a:off x="4573" y="1502"/>
                    <a:ext cx="260" cy="244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en-US" sz="2600" dirty="0"/>
                  </a:p>
                </p:txBody>
              </p:sp>
            </mc:Choice>
            <mc:Fallback xmlns="">
              <p:sp>
                <p:nvSpPr>
                  <p:cNvPr id="48145" name="Object 4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73" y="1502"/>
                    <a:ext cx="260" cy="24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4412"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8146" name="Line 44"/>
              <p:cNvSpPr/>
              <p:nvPr/>
            </p:nvSpPr>
            <p:spPr>
              <a:xfrm>
                <a:off x="4944" y="1877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47" name="Line 45"/>
              <p:cNvSpPr/>
              <p:nvPr/>
            </p:nvSpPr>
            <p:spPr>
              <a:xfrm>
                <a:off x="4944" y="2069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48" name="Line 46"/>
              <p:cNvSpPr/>
              <p:nvPr/>
            </p:nvSpPr>
            <p:spPr>
              <a:xfrm rot="5363083">
                <a:off x="4996" y="1968"/>
                <a:ext cx="185" cy="2"/>
              </a:xfrm>
              <a:prstGeom prst="line">
                <a:avLst/>
              </a:prstGeom>
              <a:ln w="9525" cap="flat" cmpd="sng">
                <a:solidFill>
                  <a:srgbClr val="FF0066"/>
                </a:solidFill>
                <a:prstDash val="dash"/>
                <a:headEnd type="triangle" w="sm" len="sm"/>
                <a:tailEnd type="triangle" w="sm" len="sm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149" name="Object 47"/>
                  <p:cNvSpPr txBox="1"/>
                  <p:nvPr/>
                </p:nvSpPr>
                <p:spPr>
                  <a:xfrm>
                    <a:off x="5109" y="1829"/>
                    <a:ext cx="171" cy="24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sz="2600"/>
                  </a:p>
                </p:txBody>
              </p:sp>
            </mc:Choice>
            <mc:Fallback xmlns="">
              <p:sp>
                <p:nvSpPr>
                  <p:cNvPr id="48149" name="Object 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09" y="1829"/>
                    <a:ext cx="171" cy="24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8134" name="Rectangle 48"/>
            <p:cNvSpPr/>
            <p:nvPr/>
          </p:nvSpPr>
          <p:spPr>
            <a:xfrm>
              <a:off x="3264" y="1536"/>
              <a:ext cx="2064" cy="2544"/>
            </a:xfrm>
            <a:prstGeom prst="rect">
              <a:avLst/>
            </a:prstGeom>
            <a:noFill/>
            <a:ln w="9525" cap="flat" cmpd="sng">
              <a:noFill/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endParaRPr lang="zh-CN" altLang="en-US" sz="2600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1"/>
          <p:cNvGrpSpPr/>
          <p:nvPr/>
        </p:nvGrpSpPr>
        <p:grpSpPr>
          <a:xfrm>
            <a:off x="869950" y="1069977"/>
            <a:ext cx="6642101" cy="900113"/>
            <a:chOff x="-451" y="744"/>
            <a:chExt cx="4184" cy="567"/>
          </a:xfrm>
        </p:grpSpPr>
        <p:sp>
          <p:nvSpPr>
            <p:cNvPr id="49194" name="Text Box 13"/>
            <p:cNvSpPr txBox="1"/>
            <p:nvPr/>
          </p:nvSpPr>
          <p:spPr>
            <a:xfrm>
              <a:off x="-451" y="749"/>
              <a:ext cx="4184" cy="5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50000"/>
                </a:spcBef>
                <a:buNone/>
              </a:pPr>
              <a:r>
                <a:rPr lang="zh-CN" altLang="en-US" sz="2600" dirty="0">
                  <a:latin typeface="Times New Roman" panose="02020603050405020304" pitchFamily="18" charset="0"/>
                </a:rPr>
                <a:t>如图取一半径为    ，宽度为     ，高度为    的圆环</a:t>
              </a:r>
              <a:endParaRPr lang="en-US" altLang="zh-CN" sz="2600" dirty="0">
                <a:latin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195" name="Object 14"/>
                <p:cNvSpPr txBox="1"/>
                <p:nvPr/>
              </p:nvSpPr>
              <p:spPr>
                <a:xfrm>
                  <a:off x="1046" y="749"/>
                  <a:ext cx="254" cy="26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2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195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6" y="749"/>
                  <a:ext cx="254" cy="26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196" name="Object 15"/>
                <p:cNvSpPr txBox="1"/>
                <p:nvPr/>
              </p:nvSpPr>
              <p:spPr>
                <a:xfrm>
                  <a:off x="2053" y="751"/>
                  <a:ext cx="387" cy="36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2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2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196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3" y="751"/>
                  <a:ext cx="387" cy="36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197" name="Object 16"/>
                <p:cNvSpPr txBox="1"/>
                <p:nvPr/>
              </p:nvSpPr>
              <p:spPr>
                <a:xfrm>
                  <a:off x="3178" y="744"/>
                  <a:ext cx="335" cy="36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6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6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197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8" y="744"/>
                  <a:ext cx="335" cy="36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17"/>
          <p:cNvGrpSpPr/>
          <p:nvPr/>
        </p:nvGrpSpPr>
        <p:grpSpPr>
          <a:xfrm>
            <a:off x="1822417" y="2027263"/>
            <a:ext cx="4876800" cy="1600200"/>
            <a:chOff x="192" y="1872"/>
            <a:chExt cx="3120" cy="1038"/>
          </a:xfrm>
        </p:grpSpPr>
        <p:sp>
          <p:nvSpPr>
            <p:cNvPr id="49191" name="Text Box 18"/>
            <p:cNvSpPr txBox="1"/>
            <p:nvPr/>
          </p:nvSpPr>
          <p:spPr>
            <a:xfrm>
              <a:off x="192" y="1872"/>
              <a:ext cx="3120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50000"/>
                </a:spcBef>
                <a:buNone/>
              </a:pPr>
              <a:r>
                <a:rPr lang="zh-CN" altLang="en-US" sz="2600" dirty="0">
                  <a:latin typeface="Times New Roman" panose="02020603050405020304" pitchFamily="18" charset="0"/>
                </a:rPr>
                <a:t>则圆环中的感生电动势的值为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192" name="Object 19"/>
                <p:cNvSpPr txBox="1"/>
                <p:nvPr/>
              </p:nvSpPr>
              <p:spPr>
                <a:xfrm>
                  <a:off x="336" y="2149"/>
                  <a:ext cx="2832" cy="761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∮"/>
                            <m:supHide m:val="on"/>
                            <m:ctrlP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⃑"/>
                                    <m:ctrlPr>
                                      <a:rPr lang="en-US" sz="2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600" b="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  <m:r>
                              <a:rPr lang="en-US" sz="2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m:rPr>
                                <m:sty m:val="p"/>
                              </m:rPr>
                              <a:rPr lang="en-US" sz="26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acc>
                              <m:accPr>
                                <m:chr m:val="⃑"/>
                                <m:ctrlPr>
                                  <a:rPr lang="en-US" sz="2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acc>
                          </m:e>
                        </m:nary>
                        <m:r>
                          <a:rPr lang="en-US" sz="2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supHide m:val="on"/>
                            <m:ctrlP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  <m:sup/>
                          <m:e>
                            <m:f>
                              <m:fPr>
                                <m:ctrlPr>
                                  <a:rPr lang="en-US" sz="2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sz="2600" b="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acc>
                                  <m:accPr>
                                    <m:chr m:val="⃑"/>
                                    <m:ctrlPr>
                                      <a:rPr lang="en-US" sz="2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sz="2600" b="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sz="2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  <m:r>
                              <a:rPr lang="en-US" sz="2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m:rPr>
                                <m:sty m:val="p"/>
                              </m:rPr>
                              <a:rPr lang="en-US" sz="26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acc>
                              <m:accPr>
                                <m:chr m:val="⃑"/>
                                <m:ctrlPr>
                                  <a:rPr lang="en-US" sz="2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acc>
                          </m:e>
                        </m:nary>
                      </m:oMath>
                    </m:oMathPara>
                  </a14:m>
                  <a:endParaRPr lang="en-US" sz="2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192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" y="2149"/>
                  <a:ext cx="2832" cy="76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20"/>
          <p:cNvGrpSpPr/>
          <p:nvPr/>
        </p:nvGrpSpPr>
        <p:grpSpPr>
          <a:xfrm>
            <a:off x="1095632" y="3665605"/>
            <a:ext cx="7010400" cy="1123950"/>
            <a:chOff x="144" y="2796"/>
            <a:chExt cx="4464" cy="756"/>
          </a:xfrm>
        </p:grpSpPr>
        <p:sp>
          <p:nvSpPr>
            <p:cNvPr id="49189" name="Text Box 21"/>
            <p:cNvSpPr txBox="1"/>
            <p:nvPr/>
          </p:nvSpPr>
          <p:spPr>
            <a:xfrm>
              <a:off x="144" y="2937"/>
              <a:ext cx="1824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50000"/>
                </a:spcBef>
                <a:buNone/>
              </a:pPr>
              <a:r>
                <a:rPr lang="zh-CN" altLang="en-US" sz="2600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代入已知条件得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190" name="Object 22"/>
                <p:cNvSpPr txBox="1"/>
                <p:nvPr/>
              </p:nvSpPr>
              <p:spPr>
                <a:xfrm>
                  <a:off x="2064" y="2796"/>
                  <a:ext cx="2544" cy="756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2600" b="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2600" b="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nary>
                          <m:naryPr>
                            <m:supHide m:val="on"/>
                            <m:ctrl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sz="2600" b="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nary>
                        <m:r>
                          <a:rPr lang="en-US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nor/>
                          </m:rPr>
                          <a:rPr lang="en-US" sz="26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6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sSupPr>
                            <m:ctrl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49190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4" y="2796"/>
                  <a:ext cx="2544" cy="75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23"/>
          <p:cNvGrpSpPr/>
          <p:nvPr/>
        </p:nvGrpSpPr>
        <p:grpSpPr>
          <a:xfrm>
            <a:off x="878417" y="4673969"/>
            <a:ext cx="3124200" cy="1144588"/>
            <a:chOff x="192" y="3359"/>
            <a:chExt cx="2064" cy="817"/>
          </a:xfrm>
        </p:grpSpPr>
        <p:sp>
          <p:nvSpPr>
            <p:cNvPr id="49187" name="Text Box 24"/>
            <p:cNvSpPr txBox="1"/>
            <p:nvPr/>
          </p:nvSpPr>
          <p:spPr>
            <a:xfrm>
              <a:off x="192" y="3561"/>
              <a:ext cx="768" cy="3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50000"/>
                </a:spcBef>
                <a:buNone/>
              </a:pPr>
              <a:r>
                <a:rPr lang="zh-CN" altLang="en-US" sz="2600" dirty="0">
                  <a:latin typeface="Times New Roman" panose="02020603050405020304" pitchFamily="18" charset="0"/>
                </a:rPr>
                <a:t>又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188" name="Object 25"/>
                <p:cNvSpPr txBox="1"/>
                <p:nvPr/>
              </p:nvSpPr>
              <p:spPr>
                <a:xfrm>
                  <a:off x="672" y="3359"/>
                  <a:ext cx="1584" cy="817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2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6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den>
                        </m:f>
                        <m:f>
                          <m:fPr>
                            <m:ctrlP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en-US" sz="26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6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US" sz="2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US" sz="2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m:rPr>
                                <m:sty m:val="p"/>
                              </m:rPr>
                              <a:rPr lang="en-US" sz="26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sz="2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oMath>
                    </m:oMathPara>
                  </a14:m>
                  <a:endParaRPr lang="en-US" sz="26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188" name="Object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" y="3359"/>
                  <a:ext cx="1584" cy="81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26"/>
          <p:cNvGrpSpPr/>
          <p:nvPr/>
        </p:nvGrpSpPr>
        <p:grpSpPr>
          <a:xfrm>
            <a:off x="4110858" y="4701750"/>
            <a:ext cx="3733800" cy="1089025"/>
            <a:chOff x="2976" y="3394"/>
            <a:chExt cx="2448" cy="768"/>
          </a:xfrm>
        </p:grpSpPr>
        <p:sp>
          <p:nvSpPr>
            <p:cNvPr id="49185" name="Text Box 27"/>
            <p:cNvSpPr txBox="1"/>
            <p:nvPr/>
          </p:nvSpPr>
          <p:spPr>
            <a:xfrm>
              <a:off x="2976" y="3587"/>
              <a:ext cx="1152" cy="34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50000"/>
                </a:spcBef>
                <a:buNone/>
              </a:pPr>
              <a:r>
                <a:rPr lang="zh-CN" altLang="en-US" sz="2600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所以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186" name="Object 28"/>
                <p:cNvSpPr txBox="1"/>
                <p:nvPr/>
              </p:nvSpPr>
              <p:spPr>
                <a:xfrm>
                  <a:off x="3648" y="3394"/>
                  <a:ext cx="1776" cy="76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600" b="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600" b="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𝑘h</m:t>
                            </m:r>
                            <m:r>
                              <a:rPr lang="en-US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num>
                          <m:den>
                            <m:r>
                              <a:rPr lang="en-US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US" sz="2600" b="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49186" name="Object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8" y="3394"/>
                  <a:ext cx="1776" cy="76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" name="Group 5">
            <a:extLst>
              <a:ext uri="{FF2B5EF4-FFF2-40B4-BE49-F238E27FC236}">
                <a16:creationId xmlns:a16="http://schemas.microsoft.com/office/drawing/2014/main" id="{E439AEDC-B832-448C-8A4A-FCEA74C6DD60}"/>
              </a:ext>
            </a:extLst>
          </p:cNvPr>
          <p:cNvGrpSpPr/>
          <p:nvPr/>
        </p:nvGrpSpPr>
        <p:grpSpPr>
          <a:xfrm>
            <a:off x="1095632" y="5798590"/>
            <a:ext cx="8141171" cy="1219200"/>
            <a:chOff x="-1645" y="2352"/>
            <a:chExt cx="4747" cy="768"/>
          </a:xfrm>
        </p:grpSpPr>
        <p:sp>
          <p:nvSpPr>
            <p:cNvPr id="79" name="Text Box 6">
              <a:extLst>
                <a:ext uri="{FF2B5EF4-FFF2-40B4-BE49-F238E27FC236}">
                  <a16:creationId xmlns:a16="http://schemas.microsoft.com/office/drawing/2014/main" id="{2A793870-6220-4000-AE5E-98B1F7CE1F06}"/>
                </a:ext>
              </a:extLst>
            </p:cNvPr>
            <p:cNvSpPr txBox="1"/>
            <p:nvPr/>
          </p:nvSpPr>
          <p:spPr>
            <a:xfrm>
              <a:off x="-1645" y="2531"/>
              <a:ext cx="2736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50000"/>
                </a:spcBef>
                <a:buNone/>
              </a:pPr>
              <a:r>
                <a:rPr lang="zh-CN" altLang="en-US" sz="2600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圆盘中的感应电流为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Object 7">
                  <a:extLst>
                    <a:ext uri="{FF2B5EF4-FFF2-40B4-BE49-F238E27FC236}">
                      <a16:creationId xmlns:a16="http://schemas.microsoft.com/office/drawing/2014/main" id="{52B61F82-DFB6-4BD6-9294-24BA903B8315}"/>
                    </a:ext>
                  </a:extLst>
                </p:cNvPr>
                <p:cNvSpPr txBox="1"/>
                <p:nvPr/>
              </p:nvSpPr>
              <p:spPr>
                <a:xfrm>
                  <a:off x="240" y="2352"/>
                  <a:ext cx="2862" cy="76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subHide m:val="on"/>
                            <m:supHide m:val="on"/>
                            <m:ctrl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sz="2600" b="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nary>
                        <m:r>
                          <a:rPr lang="en-US" sz="2600" b="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𝑘h</m:t>
                            </m:r>
                            <m:r>
                              <a:rPr lang="en-US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num>
                          <m:den>
                            <m:r>
                              <a:rPr lang="en-US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nary>
                          <m:naryPr>
                            <m:ctrl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  <m:e>
                            <m:r>
                              <a:rPr lang="en-US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US" sz="2600" b="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nary>
                      </m:oMath>
                    </m:oMathPara>
                  </a14:m>
                  <a:endParaRPr lang="en-US" sz="2600"/>
                </a:p>
              </p:txBody>
            </p:sp>
          </mc:Choice>
          <mc:Fallback xmlns="">
            <p:sp>
              <p:nvSpPr>
                <p:cNvPr id="80" name="Object 7">
                  <a:extLst>
                    <a:ext uri="{FF2B5EF4-FFF2-40B4-BE49-F238E27FC236}">
                      <a16:creationId xmlns:a16="http://schemas.microsoft.com/office/drawing/2014/main" id="{52B61F82-DFB6-4BD6-9294-24BA903B83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" y="2352"/>
                  <a:ext cx="2862" cy="76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Object 8">
                <a:extLst>
                  <a:ext uri="{FF2B5EF4-FFF2-40B4-BE49-F238E27FC236}">
                    <a16:creationId xmlns:a16="http://schemas.microsoft.com/office/drawing/2014/main" id="{C3B11B0B-1643-419A-8893-230354DDFCB1}"/>
                  </a:ext>
                </a:extLst>
              </p:cNvPr>
              <p:cNvSpPr txBox="1"/>
              <p:nvPr/>
            </p:nvSpPr>
            <p:spPr>
              <a:xfrm>
                <a:off x="7678211" y="5878166"/>
                <a:ext cx="2362200" cy="12192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p>
                        <m:sSup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81" name="Object 8">
                <a:extLst>
                  <a:ext uri="{FF2B5EF4-FFF2-40B4-BE49-F238E27FC236}">
                    <a16:creationId xmlns:a16="http://schemas.microsoft.com/office/drawing/2014/main" id="{C3B11B0B-1643-419A-8893-230354DDF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211" y="5878166"/>
                <a:ext cx="2362200" cy="1219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24">
            <a:extLst>
              <a:ext uri="{FF2B5EF4-FFF2-40B4-BE49-F238E27FC236}">
                <a16:creationId xmlns:a16="http://schemas.microsoft.com/office/drawing/2014/main" id="{54878010-6E31-83CE-4182-B454B75613DD}"/>
              </a:ext>
            </a:extLst>
          </p:cNvPr>
          <p:cNvGrpSpPr/>
          <p:nvPr/>
        </p:nvGrpSpPr>
        <p:grpSpPr>
          <a:xfrm>
            <a:off x="7977718" y="994589"/>
            <a:ext cx="3276600" cy="4092575"/>
            <a:chOff x="3264" y="1502"/>
            <a:chExt cx="2064" cy="2578"/>
          </a:xfrm>
        </p:grpSpPr>
        <p:grpSp>
          <p:nvGrpSpPr>
            <p:cNvPr id="8" name="Group 25">
              <a:extLst>
                <a:ext uri="{FF2B5EF4-FFF2-40B4-BE49-F238E27FC236}">
                  <a16:creationId xmlns:a16="http://schemas.microsoft.com/office/drawing/2014/main" id="{195E49FA-EBE4-84C4-80BE-938AAA4A1924}"/>
                </a:ext>
              </a:extLst>
            </p:cNvPr>
            <p:cNvGrpSpPr/>
            <p:nvPr/>
          </p:nvGrpSpPr>
          <p:grpSpPr>
            <a:xfrm>
              <a:off x="3504" y="1502"/>
              <a:ext cx="1776" cy="2487"/>
              <a:chOff x="3504" y="1502"/>
              <a:chExt cx="1776" cy="2487"/>
            </a:xfrm>
          </p:grpSpPr>
          <p:sp>
            <p:nvSpPr>
              <p:cNvPr id="10" name="Line 26">
                <a:extLst>
                  <a:ext uri="{FF2B5EF4-FFF2-40B4-BE49-F238E27FC236}">
                    <a16:creationId xmlns:a16="http://schemas.microsoft.com/office/drawing/2014/main" id="{18AA485B-C56C-477B-86F8-3C48E38D2DC0}"/>
                  </a:ext>
                </a:extLst>
              </p:cNvPr>
              <p:cNvSpPr/>
              <p:nvPr/>
            </p:nvSpPr>
            <p:spPr>
              <a:xfrm flipV="1">
                <a:off x="4800" y="1781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" name="Line 27">
                <a:extLst>
                  <a:ext uri="{FF2B5EF4-FFF2-40B4-BE49-F238E27FC236}">
                    <a16:creationId xmlns:a16="http://schemas.microsoft.com/office/drawing/2014/main" id="{0ED8E0E4-8766-8D7C-E996-919FCD8FA0A7}"/>
                  </a:ext>
                </a:extLst>
              </p:cNvPr>
              <p:cNvSpPr/>
              <p:nvPr/>
            </p:nvSpPr>
            <p:spPr>
              <a:xfrm flipV="1">
                <a:off x="4656" y="1781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" name="Rectangle 28">
                <a:extLst>
                  <a:ext uri="{FF2B5EF4-FFF2-40B4-BE49-F238E27FC236}">
                    <a16:creationId xmlns:a16="http://schemas.microsoft.com/office/drawing/2014/main" id="{E4FD0D11-3788-4A75-3AA0-F43E499F50DB}"/>
                  </a:ext>
                </a:extLst>
              </p:cNvPr>
              <p:cNvSpPr/>
              <p:nvPr/>
            </p:nvSpPr>
            <p:spPr>
              <a:xfrm>
                <a:off x="4656" y="1877"/>
                <a:ext cx="144" cy="192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ysDot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None/>
                </a:pPr>
                <a:endParaRPr lang="zh-CN" altLang="en-US" sz="2600" dirty="0">
                  <a:solidFill>
                    <a:srgbClr val="1C1C1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29">
                <a:extLst>
                  <a:ext uri="{FF2B5EF4-FFF2-40B4-BE49-F238E27FC236}">
                    <a16:creationId xmlns:a16="http://schemas.microsoft.com/office/drawing/2014/main" id="{66C772F6-592D-0BDB-657C-271D8FFFE865}"/>
                  </a:ext>
                </a:extLst>
              </p:cNvPr>
              <p:cNvSpPr/>
              <p:nvPr/>
            </p:nvSpPr>
            <p:spPr>
              <a:xfrm>
                <a:off x="3696" y="1877"/>
                <a:ext cx="144" cy="192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ysDot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None/>
                </a:pPr>
                <a:endParaRPr lang="zh-CN" altLang="en-US" sz="2600" dirty="0">
                  <a:solidFill>
                    <a:srgbClr val="1C1C1C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4" name="Group 30">
                <a:extLst>
                  <a:ext uri="{FF2B5EF4-FFF2-40B4-BE49-F238E27FC236}">
                    <a16:creationId xmlns:a16="http://schemas.microsoft.com/office/drawing/2014/main" id="{A9E7560A-8C3D-769E-454C-B1EC4EBE81B6}"/>
                  </a:ext>
                </a:extLst>
              </p:cNvPr>
              <p:cNvGrpSpPr/>
              <p:nvPr/>
            </p:nvGrpSpPr>
            <p:grpSpPr>
              <a:xfrm>
                <a:off x="3504" y="2213"/>
                <a:ext cx="1680" cy="1776"/>
                <a:chOff x="3504" y="2213"/>
                <a:chExt cx="1680" cy="1776"/>
              </a:xfrm>
            </p:grpSpPr>
            <p:sp>
              <p:nvSpPr>
                <p:cNvPr id="25" name="Line 31">
                  <a:extLst>
                    <a:ext uri="{FF2B5EF4-FFF2-40B4-BE49-F238E27FC236}">
                      <a16:creationId xmlns:a16="http://schemas.microsoft.com/office/drawing/2014/main" id="{BBE509C4-C2FA-42FA-ED73-1283F7CB6DA4}"/>
                    </a:ext>
                  </a:extLst>
                </p:cNvPr>
                <p:cNvSpPr/>
                <p:nvPr/>
              </p:nvSpPr>
              <p:spPr>
                <a:xfrm>
                  <a:off x="4272" y="3077"/>
                  <a:ext cx="371" cy="1"/>
                </a:xfrm>
                <a:prstGeom prst="line">
                  <a:avLst/>
                </a:prstGeom>
                <a:ln w="19050" cap="flat" cmpd="sng">
                  <a:solidFill>
                    <a:srgbClr val="FF0066"/>
                  </a:solidFill>
                  <a:prstDash val="dash"/>
                  <a:headEnd type="triangle" w="sm" len="lg"/>
                  <a:tailEnd type="triangle" w="sm" len="lg"/>
                </a:ln>
              </p:spPr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Object 32">
                      <a:extLst>
                        <a:ext uri="{FF2B5EF4-FFF2-40B4-BE49-F238E27FC236}">
                          <a16:creationId xmlns:a16="http://schemas.microsoft.com/office/drawing/2014/main" id="{76787165-7908-55D0-BFDF-46AC4DAB5BB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90" y="2837"/>
                      <a:ext cx="170" cy="199"/>
                    </a:xfrm>
                    <a:prstGeom prst="rect">
                      <a:avLst/>
                    </a:prstGeom>
                    <a:noFill/>
                    <a:ln w="38100">
                      <a:noFill/>
                      <a:miter/>
                    </a:ln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oMath>
                        </m:oMathPara>
                      </a14:m>
                      <a:endParaRPr lang="en-US" sz="2600"/>
                    </a:p>
                  </p:txBody>
                </p:sp>
              </mc:Choice>
              <mc:Fallback xmlns="">
                <p:sp>
                  <p:nvSpPr>
                    <p:cNvPr id="26" name="Object 32">
                      <a:extLst>
                        <a:ext uri="{FF2B5EF4-FFF2-40B4-BE49-F238E27FC236}">
                          <a16:creationId xmlns:a16="http://schemas.microsoft.com/office/drawing/2014/main" id="{76787165-7908-55D0-BFDF-46AC4DAB5BB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90" y="2837"/>
                      <a:ext cx="170" cy="199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b="-15385"/>
                      </a:stretch>
                    </a:blipFill>
                    <a:ln w="38100">
                      <a:noFill/>
                      <a:miter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7" name="AutoShape 33">
                  <a:extLst>
                    <a:ext uri="{FF2B5EF4-FFF2-40B4-BE49-F238E27FC236}">
                      <a16:creationId xmlns:a16="http://schemas.microsoft.com/office/drawing/2014/main" id="{002D8FCE-1851-5C8C-D998-1B0128986CAE}"/>
                    </a:ext>
                  </a:extLst>
                </p:cNvPr>
                <p:cNvSpPr/>
                <p:nvPr/>
              </p:nvSpPr>
              <p:spPr>
                <a:xfrm>
                  <a:off x="3696" y="2541"/>
                  <a:ext cx="1112" cy="1112"/>
                </a:xfrm>
                <a:custGeom>
                  <a:avLst/>
                  <a:gdLst>
                    <a:gd name="txL" fmla="*/ 3166 w 21600"/>
                    <a:gd name="txT" fmla="*/ 3166 h 21600"/>
                    <a:gd name="txR" fmla="*/ 18434 w 21600"/>
                    <a:gd name="txB" fmla="*/ 18434 h 21600"/>
                  </a:gdLst>
                  <a:ahLst/>
                  <a:cxnLst>
                    <a:cxn ang="0">
                      <a:pos x="29" y="0"/>
                    </a:cxn>
                    <a:cxn ang="0">
                      <a:pos x="8" y="8"/>
                    </a:cxn>
                    <a:cxn ang="0">
                      <a:pos x="0" y="29"/>
                    </a:cxn>
                    <a:cxn ang="0">
                      <a:pos x="8" y="49"/>
                    </a:cxn>
                    <a:cxn ang="0">
                      <a:pos x="29" y="57"/>
                    </a:cxn>
                    <a:cxn ang="0">
                      <a:pos x="49" y="49"/>
                    </a:cxn>
                    <a:cxn ang="0">
                      <a:pos x="57" y="29"/>
                    </a:cxn>
                    <a:cxn ang="0">
                      <a:pos x="49" y="8"/>
                    </a:cxn>
                  </a:cxnLst>
                  <a:rect l="txL" t="txT" r="txR" b="txB"/>
                  <a:pathLst>
                    <a:path w="21600" h="21600">
                      <a:moveTo>
                        <a:pt x="0" y="10800"/>
                      </a:move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5" y="0"/>
                        <a:pt x="21600" y="4835"/>
                        <a:pt x="21600" y="10800"/>
                      </a:cubicBezTo>
                      <a:cubicBezTo>
                        <a:pt x="21600" y="16765"/>
                        <a:pt x="16765" y="21600"/>
                        <a:pt x="10800" y="21600"/>
                      </a:cubicBezTo>
                      <a:cubicBezTo>
                        <a:pt x="4835" y="21600"/>
                        <a:pt x="0" y="16765"/>
                        <a:pt x="0" y="10800"/>
                      </a:cubicBezTo>
                      <a:close/>
                      <a:moveTo>
                        <a:pt x="2721" y="10800"/>
                      </a:moveTo>
                      <a:cubicBezTo>
                        <a:pt x="2721" y="15262"/>
                        <a:pt x="6338" y="18879"/>
                        <a:pt x="10800" y="18879"/>
                      </a:cubicBezTo>
                      <a:cubicBezTo>
                        <a:pt x="15262" y="18879"/>
                        <a:pt x="18879" y="15262"/>
                        <a:pt x="18879" y="10800"/>
                      </a:cubicBezTo>
                      <a:cubicBezTo>
                        <a:pt x="18879" y="6338"/>
                        <a:pt x="15262" y="2721"/>
                        <a:pt x="10800" y="2721"/>
                      </a:cubicBezTo>
                      <a:cubicBezTo>
                        <a:pt x="6338" y="2721"/>
                        <a:pt x="2721" y="6338"/>
                        <a:pt x="2721" y="10800"/>
                      </a:cubicBezTo>
                      <a:close/>
                    </a:path>
                  </a:pathLst>
                </a:custGeom>
                <a:solidFill>
                  <a:schemeClr val="accent1">
                    <a:alpha val="100000"/>
                  </a:schemeClr>
                </a:solidFill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sz="2600"/>
                </a:p>
              </p:txBody>
            </p:sp>
            <p:sp>
              <p:nvSpPr>
                <p:cNvPr id="28" name="Oval 34">
                  <a:extLst>
                    <a:ext uri="{FF2B5EF4-FFF2-40B4-BE49-F238E27FC236}">
                      <a16:creationId xmlns:a16="http://schemas.microsoft.com/office/drawing/2014/main" id="{CC7B387A-D328-6194-C192-8D1AF984D7B1}"/>
                    </a:ext>
                  </a:extLst>
                </p:cNvPr>
                <p:cNvSpPr/>
                <p:nvPr/>
              </p:nvSpPr>
              <p:spPr>
                <a:xfrm>
                  <a:off x="3504" y="2309"/>
                  <a:ext cx="1488" cy="1536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indent="0" eaLnBrk="1" hangingPunct="1">
                    <a:spcBef>
                      <a:spcPct val="0"/>
                    </a:spcBef>
                    <a:buNone/>
                  </a:pPr>
                  <a:endParaRPr lang="zh-CN" altLang="en-US" sz="2600" dirty="0">
                    <a:solidFill>
                      <a:srgbClr val="1C1C1C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" name="Line 35">
                  <a:extLst>
                    <a:ext uri="{FF2B5EF4-FFF2-40B4-BE49-F238E27FC236}">
                      <a16:creationId xmlns:a16="http://schemas.microsoft.com/office/drawing/2014/main" id="{AEA44EC2-EFCA-6E5C-265B-CEBBC63654A0}"/>
                    </a:ext>
                  </a:extLst>
                </p:cNvPr>
                <p:cNvSpPr/>
                <p:nvPr/>
              </p:nvSpPr>
              <p:spPr>
                <a:xfrm>
                  <a:off x="4813" y="3077"/>
                  <a:ext cx="371" cy="1"/>
                </a:xfrm>
                <a:prstGeom prst="line">
                  <a:avLst/>
                </a:prstGeom>
                <a:ln w="19050" cap="flat" cmpd="sng">
                  <a:solidFill>
                    <a:srgbClr val="FF0066"/>
                  </a:solidFill>
                  <a:prstDash val="dash"/>
                  <a:headEnd type="triangle" w="sm" len="lg"/>
                  <a:tailEnd type="none" w="sm" len="lg"/>
                </a:ln>
              </p:spPr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Object 36">
                      <a:extLst>
                        <a:ext uri="{FF2B5EF4-FFF2-40B4-BE49-F238E27FC236}">
                          <a16:creationId xmlns:a16="http://schemas.microsoft.com/office/drawing/2014/main" id="{475FA7BA-B9F5-37FB-1990-B7864D02072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52" y="2833"/>
                      <a:ext cx="260" cy="244"/>
                    </a:xfrm>
                    <a:prstGeom prst="rect">
                      <a:avLst/>
                    </a:prstGeom>
                    <a:noFill/>
                    <a:ln w="38100">
                      <a:noFill/>
                      <a:miter/>
                    </a:ln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US" sz="26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oMath>
                        </m:oMathPara>
                      </a14:m>
                      <a:endParaRPr lang="en-US" sz="2600"/>
                    </a:p>
                  </p:txBody>
                </p:sp>
              </mc:Choice>
              <mc:Fallback xmlns="">
                <p:sp>
                  <p:nvSpPr>
                    <p:cNvPr id="30" name="Object 36">
                      <a:extLst>
                        <a:ext uri="{FF2B5EF4-FFF2-40B4-BE49-F238E27FC236}">
                          <a16:creationId xmlns:a16="http://schemas.microsoft.com/office/drawing/2014/main" id="{475FA7BA-B9F5-37FB-1990-B7864D02072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52" y="2833"/>
                      <a:ext cx="260" cy="244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r="-2941"/>
                      </a:stretch>
                    </a:blipFill>
                    <a:ln w="38100">
                      <a:noFill/>
                      <a:miter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1" name="Line 37">
                  <a:extLst>
                    <a:ext uri="{FF2B5EF4-FFF2-40B4-BE49-F238E27FC236}">
                      <a16:creationId xmlns:a16="http://schemas.microsoft.com/office/drawing/2014/main" id="{BAB391DB-355B-DB8B-382B-50DD414E751E}"/>
                    </a:ext>
                  </a:extLst>
                </p:cNvPr>
                <p:cNvSpPr/>
                <p:nvPr/>
              </p:nvSpPr>
              <p:spPr>
                <a:xfrm>
                  <a:off x="4272" y="2213"/>
                  <a:ext cx="0" cy="177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5" name="Rectangle 38">
                <a:extLst>
                  <a:ext uri="{FF2B5EF4-FFF2-40B4-BE49-F238E27FC236}">
                    <a16:creationId xmlns:a16="http://schemas.microsoft.com/office/drawing/2014/main" id="{3AF8344D-036B-91F4-C1EA-E4113215FDD0}"/>
                  </a:ext>
                </a:extLst>
              </p:cNvPr>
              <p:cNvSpPr/>
              <p:nvPr/>
            </p:nvSpPr>
            <p:spPr>
              <a:xfrm>
                <a:off x="3504" y="1877"/>
                <a:ext cx="1488" cy="19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None/>
                </a:pPr>
                <a:endParaRPr lang="zh-CN" altLang="en-US" sz="2600" dirty="0">
                  <a:solidFill>
                    <a:srgbClr val="1C1C1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Line 39">
                <a:extLst>
                  <a:ext uri="{FF2B5EF4-FFF2-40B4-BE49-F238E27FC236}">
                    <a16:creationId xmlns:a16="http://schemas.microsoft.com/office/drawing/2014/main" id="{E22468C6-38F5-BB67-F006-806610E458BE}"/>
                  </a:ext>
                </a:extLst>
              </p:cNvPr>
              <p:cNvSpPr/>
              <p:nvPr/>
            </p:nvSpPr>
            <p:spPr>
              <a:xfrm>
                <a:off x="4272" y="1781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Dot"/>
                <a:headEnd type="none" w="med" len="med"/>
                <a:tailEnd type="none" w="med" len="med"/>
              </a:ln>
            </p:spPr>
          </p:sp>
          <p:sp>
            <p:nvSpPr>
              <p:cNvPr id="17" name="Line 40">
                <a:extLst>
                  <a:ext uri="{FF2B5EF4-FFF2-40B4-BE49-F238E27FC236}">
                    <a16:creationId xmlns:a16="http://schemas.microsoft.com/office/drawing/2014/main" id="{F0CA0F87-4059-E905-EA5C-FEEABFC06E89}"/>
                  </a:ext>
                </a:extLst>
              </p:cNvPr>
              <p:cNvSpPr/>
              <p:nvPr/>
            </p:nvSpPr>
            <p:spPr>
              <a:xfrm>
                <a:off x="4272" y="1829"/>
                <a:ext cx="371" cy="1"/>
              </a:xfrm>
              <a:prstGeom prst="line">
                <a:avLst/>
              </a:prstGeom>
              <a:ln w="19050" cap="flat" cmpd="sng">
                <a:solidFill>
                  <a:srgbClr val="FF0066"/>
                </a:solidFill>
                <a:prstDash val="dash"/>
                <a:headEnd type="triangle" w="sm" len="lg"/>
                <a:tailEnd type="triangl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Object 41">
                    <a:extLst>
                      <a:ext uri="{FF2B5EF4-FFF2-40B4-BE49-F238E27FC236}">
                        <a16:creationId xmlns:a16="http://schemas.microsoft.com/office/drawing/2014/main" id="{DC8E27A2-B99E-231A-DE25-5960866AB051}"/>
                      </a:ext>
                    </a:extLst>
                  </p:cNvPr>
                  <p:cNvSpPr txBox="1"/>
                  <p:nvPr/>
                </p:nvSpPr>
                <p:spPr>
                  <a:xfrm>
                    <a:off x="4355" y="1507"/>
                    <a:ext cx="170" cy="199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en-US" sz="2600"/>
                  </a:p>
                </p:txBody>
              </p:sp>
            </mc:Choice>
            <mc:Fallback xmlns="">
              <p:sp>
                <p:nvSpPr>
                  <p:cNvPr id="18" name="Object 41">
                    <a:extLst>
                      <a:ext uri="{FF2B5EF4-FFF2-40B4-BE49-F238E27FC236}">
                        <a16:creationId xmlns:a16="http://schemas.microsoft.com/office/drawing/2014/main" id="{DC8E27A2-B99E-231A-DE25-5960866AB0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5" y="1507"/>
                    <a:ext cx="170" cy="199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15385"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Line 42">
                <a:extLst>
                  <a:ext uri="{FF2B5EF4-FFF2-40B4-BE49-F238E27FC236}">
                    <a16:creationId xmlns:a16="http://schemas.microsoft.com/office/drawing/2014/main" id="{1C11003B-B444-E38C-F214-785C5FFF195F}"/>
                  </a:ext>
                </a:extLst>
              </p:cNvPr>
              <p:cNvSpPr/>
              <p:nvPr/>
            </p:nvSpPr>
            <p:spPr>
              <a:xfrm>
                <a:off x="4833" y="1828"/>
                <a:ext cx="255" cy="1"/>
              </a:xfrm>
              <a:prstGeom prst="line">
                <a:avLst/>
              </a:prstGeom>
              <a:ln w="19050" cap="flat" cmpd="sng">
                <a:solidFill>
                  <a:srgbClr val="FF0066"/>
                </a:solidFill>
                <a:prstDash val="dash"/>
                <a:headEnd type="triangle" w="sm" len="lg"/>
                <a:tailEnd type="non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Object 43">
                    <a:extLst>
                      <a:ext uri="{FF2B5EF4-FFF2-40B4-BE49-F238E27FC236}">
                        <a16:creationId xmlns:a16="http://schemas.microsoft.com/office/drawing/2014/main" id="{7E1A773D-5862-1491-6455-DBA16E31DF10}"/>
                      </a:ext>
                    </a:extLst>
                  </p:cNvPr>
                  <p:cNvSpPr txBox="1"/>
                  <p:nvPr/>
                </p:nvSpPr>
                <p:spPr>
                  <a:xfrm>
                    <a:off x="4573" y="1502"/>
                    <a:ext cx="260" cy="244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en-US" sz="2600" dirty="0"/>
                  </a:p>
                </p:txBody>
              </p:sp>
            </mc:Choice>
            <mc:Fallback xmlns="">
              <p:sp>
                <p:nvSpPr>
                  <p:cNvPr id="20" name="Object 43">
                    <a:extLst>
                      <a:ext uri="{FF2B5EF4-FFF2-40B4-BE49-F238E27FC236}">
                        <a16:creationId xmlns:a16="http://schemas.microsoft.com/office/drawing/2014/main" id="{7E1A773D-5862-1491-6455-DBA16E31DF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73" y="1502"/>
                    <a:ext cx="260" cy="244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r="-4478"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Line 44">
                <a:extLst>
                  <a:ext uri="{FF2B5EF4-FFF2-40B4-BE49-F238E27FC236}">
                    <a16:creationId xmlns:a16="http://schemas.microsoft.com/office/drawing/2014/main" id="{D2FC1133-FC69-6D8E-F9EC-B428F4F7588C}"/>
                  </a:ext>
                </a:extLst>
              </p:cNvPr>
              <p:cNvSpPr/>
              <p:nvPr/>
            </p:nvSpPr>
            <p:spPr>
              <a:xfrm>
                <a:off x="4944" y="1877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" name="Line 45">
                <a:extLst>
                  <a:ext uri="{FF2B5EF4-FFF2-40B4-BE49-F238E27FC236}">
                    <a16:creationId xmlns:a16="http://schemas.microsoft.com/office/drawing/2014/main" id="{6AF306C5-2C08-2281-BA9A-16F988C976DA}"/>
                  </a:ext>
                </a:extLst>
              </p:cNvPr>
              <p:cNvSpPr/>
              <p:nvPr/>
            </p:nvSpPr>
            <p:spPr>
              <a:xfrm>
                <a:off x="4944" y="2069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" name="Line 46">
                <a:extLst>
                  <a:ext uri="{FF2B5EF4-FFF2-40B4-BE49-F238E27FC236}">
                    <a16:creationId xmlns:a16="http://schemas.microsoft.com/office/drawing/2014/main" id="{A8271100-129E-5B22-6A48-366F0E588111}"/>
                  </a:ext>
                </a:extLst>
              </p:cNvPr>
              <p:cNvSpPr/>
              <p:nvPr/>
            </p:nvSpPr>
            <p:spPr>
              <a:xfrm rot="5363083">
                <a:off x="4996" y="1968"/>
                <a:ext cx="185" cy="2"/>
              </a:xfrm>
              <a:prstGeom prst="line">
                <a:avLst/>
              </a:prstGeom>
              <a:ln w="9525" cap="flat" cmpd="sng">
                <a:solidFill>
                  <a:srgbClr val="FF0066"/>
                </a:solidFill>
                <a:prstDash val="dash"/>
                <a:headEnd type="triangle" w="sm" len="sm"/>
                <a:tailEnd type="triangle" w="sm" len="sm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Object 47">
                    <a:extLst>
                      <a:ext uri="{FF2B5EF4-FFF2-40B4-BE49-F238E27FC236}">
                        <a16:creationId xmlns:a16="http://schemas.microsoft.com/office/drawing/2014/main" id="{9F332DF2-5EB7-4EA8-65CC-866329D08B27}"/>
                      </a:ext>
                    </a:extLst>
                  </p:cNvPr>
                  <p:cNvSpPr txBox="1"/>
                  <p:nvPr/>
                </p:nvSpPr>
                <p:spPr>
                  <a:xfrm>
                    <a:off x="5109" y="1829"/>
                    <a:ext cx="171" cy="24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sz="2600"/>
                  </a:p>
                </p:txBody>
              </p:sp>
            </mc:Choice>
            <mc:Fallback xmlns="">
              <p:sp>
                <p:nvSpPr>
                  <p:cNvPr id="24" name="Object 47">
                    <a:extLst>
                      <a:ext uri="{FF2B5EF4-FFF2-40B4-BE49-F238E27FC236}">
                        <a16:creationId xmlns:a16="http://schemas.microsoft.com/office/drawing/2014/main" id="{9F332DF2-5EB7-4EA8-65CC-866329D08B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09" y="1829"/>
                    <a:ext cx="171" cy="240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" name="Rectangle 48">
              <a:extLst>
                <a:ext uri="{FF2B5EF4-FFF2-40B4-BE49-F238E27FC236}">
                  <a16:creationId xmlns:a16="http://schemas.microsoft.com/office/drawing/2014/main" id="{1881C694-3505-2F1D-4A0E-176C19F238F9}"/>
                </a:ext>
              </a:extLst>
            </p:cNvPr>
            <p:cNvSpPr/>
            <p:nvPr/>
          </p:nvSpPr>
          <p:spPr>
            <a:xfrm>
              <a:off x="3264" y="1536"/>
              <a:ext cx="2064" cy="2544"/>
            </a:xfrm>
            <a:prstGeom prst="rect">
              <a:avLst/>
            </a:prstGeom>
            <a:noFill/>
            <a:ln w="9525" cap="flat" cmpd="sng">
              <a:noFill/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endParaRPr lang="zh-CN" altLang="en-US" sz="2600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432575" y="19930"/>
            <a:ext cx="4752528" cy="587158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545" y="1486820"/>
            <a:ext cx="2527173" cy="388435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70CC74D-74FB-4609-AE71-A7DBFAC95EE6}"/>
              </a:ext>
            </a:extLst>
          </p:cNvPr>
          <p:cNvSpPr txBox="1"/>
          <p:nvPr/>
        </p:nvSpPr>
        <p:spPr>
          <a:xfrm>
            <a:off x="1818240" y="5714533"/>
            <a:ext cx="895135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 i="0" dirty="0">
                <a:effectLst/>
                <a:latin typeface="Helvetica Neue"/>
              </a:rPr>
              <a:t>在磁场由弱变强的增长过程中，电子在真空盒里可回转几兆圈，被加速而获得几兆电子伏甚至上百兆电子伏的能量。</a:t>
            </a:r>
            <a:endParaRPr lang="zh-CN" altLang="en-US" sz="26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B4048B-EC0B-4FC2-8033-117088EA4CFA}"/>
              </a:ext>
            </a:extLst>
          </p:cNvPr>
          <p:cNvSpPr/>
          <p:nvPr/>
        </p:nvSpPr>
        <p:spPr>
          <a:xfrm>
            <a:off x="975888" y="574184"/>
            <a:ext cx="46527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电子感应加速器</a:t>
            </a:r>
          </a:p>
        </p:txBody>
      </p:sp>
    </p:spTree>
    <p:extLst>
      <p:ext uri="{BB962C8B-B14F-4D97-AF65-F5344CB8AC3E}">
        <p14:creationId xmlns:p14="http://schemas.microsoft.com/office/powerpoint/2010/main" val="93193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5458" name="Object 2"/>
              <p:cNvSpPr txBox="1"/>
              <p:nvPr/>
            </p:nvSpPr>
            <p:spPr>
              <a:xfrm>
                <a:off x="2573339" y="2192339"/>
                <a:ext cx="3546475" cy="1208087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𝐵</m:t>
                      </m:r>
                      <m:r>
                        <a:rPr lang="en-US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f>
                        <m:f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𝑚𝑣</m:t>
                          </m:r>
                        </m:num>
                        <m:den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𝑒𝑅</m:t>
                          </m:r>
                        </m:den>
                      </m:f>
                      <m:r>
                        <a:rPr lang="zh-CN" alt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，</m:t>
                      </m:r>
                      <m:r>
                        <a:rPr 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𝑅</m:t>
                      </m:r>
                      <m:r>
                        <a:rPr 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r>
                        <a:rPr 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𝑐𝑜𝑛𝑠𝑡</m:t>
                      </m:r>
                    </m:oMath>
                  </m:oMathPara>
                </a14:m>
                <a:endParaRPr lang="en-US" sz="2600" dirty="0">
                  <a:ea typeface="+mj-ea"/>
                </a:endParaRPr>
              </a:p>
            </p:txBody>
          </p:sp>
        </mc:Choice>
        <mc:Fallback xmlns="">
          <p:sp>
            <p:nvSpPr>
              <p:cNvPr id="27545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339" y="2192339"/>
                <a:ext cx="3546475" cy="12080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251" name="Text Box 4"/>
          <p:cNvSpPr txBox="1"/>
          <p:nvPr/>
        </p:nvSpPr>
        <p:spPr>
          <a:xfrm>
            <a:off x="878682" y="1227867"/>
            <a:ext cx="7335838" cy="89255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50000"/>
              </a:spcBef>
              <a:buNone/>
            </a:pPr>
            <a:r>
              <a:rPr lang="zh-CN" altLang="en-US" sz="2600" dirty="0">
                <a:ea typeface="+mj-ea"/>
              </a:rPr>
              <a:t>为了使电子在环形真空室中按一定的轨道运动，电磁铁在真空室处的磁场的     值必须满足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252" name="Object 5"/>
              <p:cNvSpPr txBox="1"/>
              <p:nvPr/>
            </p:nvSpPr>
            <p:spPr>
              <a:xfrm>
                <a:off x="4979327" y="1628946"/>
                <a:ext cx="411162" cy="417513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𝐵</m:t>
                      </m:r>
                    </m:oMath>
                  </m:oMathPara>
                </a14:m>
                <a:endParaRPr lang="en-US" sz="2600" dirty="0">
                  <a:ea typeface="+mj-ea"/>
                </a:endParaRPr>
              </a:p>
            </p:txBody>
          </p:sp>
        </mc:Choice>
        <mc:Fallback xmlns="">
          <p:sp>
            <p:nvSpPr>
              <p:cNvPr id="53252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327" y="1628946"/>
                <a:ext cx="411162" cy="4175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5462" name="Object 6"/>
              <p:cNvSpPr txBox="1"/>
              <p:nvPr/>
            </p:nvSpPr>
            <p:spPr>
              <a:xfrm>
                <a:off x="1043859" y="4010027"/>
                <a:ext cx="2590800" cy="922337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600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en-US" sz="2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𝐵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600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en-US" sz="2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𝑡</m:t>
                              </m:r>
                            </m:e>
                          </m:func>
                        </m:den>
                      </m:f>
                      <m:r>
                        <a:rPr 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f>
                        <m:f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1</m:t>
                          </m:r>
                        </m:num>
                        <m:den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𝑒𝑅</m:t>
                          </m:r>
                        </m:den>
                      </m:f>
                      <m:f>
                        <m:f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sty m:val="p"/>
                            </m:rPr>
                            <a:rPr lang="en-US" sz="26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d</m:t>
                          </m:r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func>
                            <m:func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600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en-US" sz="2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𝑡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600" dirty="0">
                  <a:ea typeface="+mj-ea"/>
                </a:endParaRPr>
              </a:p>
            </p:txBody>
          </p:sp>
        </mc:Choice>
        <mc:Fallback xmlns="">
          <p:sp>
            <p:nvSpPr>
              <p:cNvPr id="275462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859" y="4010027"/>
                <a:ext cx="2590800" cy="9223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7"/>
          <p:cNvGrpSpPr/>
          <p:nvPr/>
        </p:nvGrpSpPr>
        <p:grpSpPr>
          <a:xfrm>
            <a:off x="2135189" y="3141663"/>
            <a:ext cx="3935413" cy="492125"/>
            <a:chOff x="576" y="2016"/>
            <a:chExt cx="2479" cy="310"/>
          </a:xfrm>
        </p:grpSpPr>
        <p:sp>
          <p:nvSpPr>
            <p:cNvPr id="53316" name="Rectangle 8"/>
            <p:cNvSpPr/>
            <p:nvPr/>
          </p:nvSpPr>
          <p:spPr>
            <a:xfrm>
              <a:off x="576" y="2016"/>
              <a:ext cx="2479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r>
                <a:rPr lang="zh-CN" altLang="en-US" sz="2600" dirty="0">
                  <a:ea typeface="+mj-ea"/>
                </a:rPr>
                <a:t>将上式两边对     进行微分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317" name="Object 9"/>
                <p:cNvSpPr txBox="1"/>
                <p:nvPr/>
              </p:nvSpPr>
              <p:spPr>
                <a:xfrm>
                  <a:off x="1902" y="2027"/>
                  <a:ext cx="168" cy="28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𝑡</m:t>
                        </m:r>
                      </m:oMath>
                    </m:oMathPara>
                  </a14:m>
                  <a:endParaRPr lang="en-US" sz="2600" dirty="0">
                    <a:ea typeface="+mj-ea"/>
                  </a:endParaRPr>
                </a:p>
              </p:txBody>
            </p:sp>
          </mc:Choice>
          <mc:Fallback xmlns="">
            <p:sp>
              <p:nvSpPr>
                <p:cNvPr id="53317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2" y="2027"/>
                  <a:ext cx="168" cy="28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315" name="Object 12"/>
              <p:cNvSpPr txBox="1"/>
              <p:nvPr/>
            </p:nvSpPr>
            <p:spPr>
              <a:xfrm>
                <a:off x="3710054" y="4048426"/>
                <a:ext cx="1700988" cy="424851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𝑒𝐸</m:t>
                      </m:r>
                      <m:r>
                        <a:rPr 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f>
                        <m:f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sty m:val="p"/>
                            </m:rPr>
                            <a:rPr lang="en-US" sz="2600" b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func>
                            <m:func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600" b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en-US" sz="2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600" dirty="0">
                  <a:ea typeface="+mj-ea"/>
                </a:endParaRPr>
              </a:p>
            </p:txBody>
          </p:sp>
        </mc:Choice>
        <mc:Fallback xmlns="">
          <p:sp>
            <p:nvSpPr>
              <p:cNvPr id="53315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054" y="4048426"/>
                <a:ext cx="1700988" cy="424851"/>
              </a:xfrm>
              <a:prstGeom prst="rect">
                <a:avLst/>
              </a:prstGeom>
              <a:blipFill>
                <a:blip r:embed="rId6"/>
                <a:stretch>
                  <a:fillRect b="-88571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5469" name="Object 13"/>
              <p:cNvSpPr txBox="1"/>
              <p:nvPr/>
            </p:nvSpPr>
            <p:spPr>
              <a:xfrm>
                <a:off x="5814267" y="4030750"/>
                <a:ext cx="1371600" cy="966787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600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en-US" sz="2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𝐵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600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en-US" sz="2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𝑡</m:t>
                              </m:r>
                            </m:e>
                          </m:func>
                        </m:den>
                      </m:f>
                      <m:r>
                        <a:rPr 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f>
                        <m:f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𝐸</m:t>
                          </m:r>
                        </m:num>
                        <m:den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sz="2600" dirty="0">
                  <a:ea typeface="+mj-ea"/>
                </a:endParaRPr>
              </a:p>
            </p:txBody>
          </p:sp>
        </mc:Choice>
        <mc:Fallback xmlns="">
          <p:sp>
            <p:nvSpPr>
              <p:cNvPr id="275469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4267" y="4030750"/>
                <a:ext cx="1371600" cy="9667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313" name="Object 16"/>
              <p:cNvSpPr txBox="1"/>
              <p:nvPr/>
            </p:nvSpPr>
            <p:spPr>
              <a:xfrm>
                <a:off x="987397" y="5537201"/>
                <a:ext cx="2295584" cy="495336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𝐸</m:t>
                      </m:r>
                      <m:r>
                        <a:rPr 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f>
                        <m:f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1</m:t>
                          </m:r>
                        </m:num>
                        <m:den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2</m:t>
                          </m:r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𝜋</m:t>
                          </m:r>
                          <m:r>
                            <a:rPr lang="en-US" altLang="zh-C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f>
                        <m:f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600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en-US" sz="2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𝛷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600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en-US" sz="2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𝑡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600" dirty="0">
                  <a:ea typeface="+mj-ea"/>
                </a:endParaRPr>
              </a:p>
            </p:txBody>
          </p:sp>
        </mc:Choice>
        <mc:Fallback xmlns="">
          <p:sp>
            <p:nvSpPr>
              <p:cNvPr id="53313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397" y="5537201"/>
                <a:ext cx="2295584" cy="495336"/>
              </a:xfrm>
              <a:prstGeom prst="rect">
                <a:avLst/>
              </a:prstGeom>
              <a:blipFill>
                <a:blip r:embed="rId8"/>
                <a:stretch>
                  <a:fillRect b="-60976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5473" name="Object 17"/>
              <p:cNvSpPr txBox="1"/>
              <p:nvPr/>
            </p:nvSpPr>
            <p:spPr>
              <a:xfrm>
                <a:off x="3716471" y="5549143"/>
                <a:ext cx="2525713" cy="966787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600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en-US" sz="2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𝐵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600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en-US" sz="2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𝑡</m:t>
                              </m:r>
                            </m:e>
                          </m:func>
                        </m:den>
                      </m:f>
                      <m:r>
                        <a:rPr 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f>
                        <m:f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1</m:t>
                          </m:r>
                        </m:num>
                        <m:den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2</m:t>
                          </m:r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pPr>
                            <m:e>
                              <m:r>
                                <a:rPr lang="en-US" sz="2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600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en-US" sz="2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𝛷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600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en-US" sz="2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𝑡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600" dirty="0">
                  <a:ea typeface="+mj-ea"/>
                </a:endParaRPr>
              </a:p>
            </p:txBody>
          </p:sp>
        </mc:Choice>
        <mc:Fallback xmlns="">
          <p:sp>
            <p:nvSpPr>
              <p:cNvPr id="275473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471" y="5549143"/>
                <a:ext cx="2525713" cy="9667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18"/>
          <p:cNvGrpSpPr/>
          <p:nvPr/>
        </p:nvGrpSpPr>
        <p:grpSpPr>
          <a:xfrm>
            <a:off x="8153400" y="1614489"/>
            <a:ext cx="4084638" cy="2743200"/>
            <a:chOff x="3360" y="2160"/>
            <a:chExt cx="2573" cy="1728"/>
          </a:xfrm>
        </p:grpSpPr>
        <p:grpSp>
          <p:nvGrpSpPr>
            <p:cNvPr id="53260" name="Group 19"/>
            <p:cNvGrpSpPr/>
            <p:nvPr/>
          </p:nvGrpSpPr>
          <p:grpSpPr>
            <a:xfrm>
              <a:off x="3360" y="2160"/>
              <a:ext cx="1649" cy="1728"/>
              <a:chOff x="1584" y="2448"/>
              <a:chExt cx="1649" cy="1728"/>
            </a:xfrm>
          </p:grpSpPr>
          <p:grpSp>
            <p:nvGrpSpPr>
              <p:cNvPr id="53271" name="Group 20"/>
              <p:cNvGrpSpPr/>
              <p:nvPr/>
            </p:nvGrpSpPr>
            <p:grpSpPr>
              <a:xfrm>
                <a:off x="1584" y="2496"/>
                <a:ext cx="1619" cy="1619"/>
                <a:chOff x="1885" y="2544"/>
                <a:chExt cx="1619" cy="1619"/>
              </a:xfrm>
            </p:grpSpPr>
            <p:sp>
              <p:nvSpPr>
                <p:cNvPr id="53309" name="Oval 21"/>
                <p:cNvSpPr/>
                <p:nvPr/>
              </p:nvSpPr>
              <p:spPr>
                <a:xfrm>
                  <a:off x="1885" y="2544"/>
                  <a:ext cx="1619" cy="1619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indent="0" eaLnBrk="1" hangingPunct="1">
                    <a:spcBef>
                      <a:spcPct val="0"/>
                    </a:spcBef>
                    <a:buNone/>
                  </a:pPr>
                  <a:endParaRPr lang="zh-CN" altLang="en-US" sz="2600" dirty="0">
                    <a:solidFill>
                      <a:srgbClr val="1C1C1C"/>
                    </a:solidFill>
                    <a:ea typeface="+mj-ea"/>
                  </a:endParaRPr>
                </a:p>
              </p:txBody>
            </p:sp>
            <p:sp>
              <p:nvSpPr>
                <p:cNvPr id="53310" name="Oval 22"/>
                <p:cNvSpPr/>
                <p:nvPr/>
              </p:nvSpPr>
              <p:spPr>
                <a:xfrm>
                  <a:off x="2043" y="2688"/>
                  <a:ext cx="1317" cy="1317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FF0000"/>
                  </a:solidFill>
                  <a:prstDash val="sysDot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indent="0" eaLnBrk="1" hangingPunct="1">
                    <a:spcBef>
                      <a:spcPct val="0"/>
                    </a:spcBef>
                    <a:buNone/>
                  </a:pPr>
                  <a:endParaRPr lang="zh-CN" altLang="en-US" sz="2600" dirty="0">
                    <a:solidFill>
                      <a:srgbClr val="1C1C1C"/>
                    </a:solidFill>
                    <a:ea typeface="+mj-ea"/>
                  </a:endParaRPr>
                </a:p>
              </p:txBody>
            </p:sp>
            <p:sp>
              <p:nvSpPr>
                <p:cNvPr id="53311" name="Oval 23"/>
                <p:cNvSpPr/>
                <p:nvPr/>
              </p:nvSpPr>
              <p:spPr>
                <a:xfrm>
                  <a:off x="2160" y="2813"/>
                  <a:ext cx="1075" cy="1075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indent="0" eaLnBrk="1" hangingPunct="1">
                    <a:spcBef>
                      <a:spcPct val="0"/>
                    </a:spcBef>
                    <a:buNone/>
                  </a:pPr>
                  <a:endParaRPr lang="zh-CN" altLang="en-US" sz="2600" dirty="0">
                    <a:solidFill>
                      <a:srgbClr val="1C1C1C"/>
                    </a:solidFill>
                    <a:ea typeface="+mj-ea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72" name="Object 24"/>
                  <p:cNvSpPr txBox="1"/>
                  <p:nvPr/>
                </p:nvSpPr>
                <p:spPr>
                  <a:xfrm>
                    <a:off x="2064" y="3176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72" name="Object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64" y="3176"/>
                    <a:ext cx="209" cy="2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73" name="Object 25"/>
                  <p:cNvSpPr txBox="1"/>
                  <p:nvPr/>
                </p:nvSpPr>
                <p:spPr>
                  <a:xfrm>
                    <a:off x="2767" y="3176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73" name="Object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67" y="3176"/>
                    <a:ext cx="209" cy="2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74" name="Object 26"/>
                  <p:cNvSpPr txBox="1"/>
                  <p:nvPr/>
                </p:nvSpPr>
                <p:spPr>
                  <a:xfrm>
                    <a:off x="2304" y="3168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74" name="Object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04" y="3168"/>
                    <a:ext cx="209" cy="2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75" name="Object 27"/>
                  <p:cNvSpPr txBox="1"/>
                  <p:nvPr/>
                </p:nvSpPr>
                <p:spPr>
                  <a:xfrm>
                    <a:off x="2527" y="3168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75" name="Object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27" y="3168"/>
                    <a:ext cx="209" cy="2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76" name="Object 28"/>
                  <p:cNvSpPr txBox="1"/>
                  <p:nvPr/>
                </p:nvSpPr>
                <p:spPr>
                  <a:xfrm>
                    <a:off x="3024" y="3176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76" name="Object 2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24" y="3176"/>
                    <a:ext cx="209" cy="2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77" name="Object 29"/>
                  <p:cNvSpPr txBox="1"/>
                  <p:nvPr/>
                </p:nvSpPr>
                <p:spPr>
                  <a:xfrm>
                    <a:off x="1824" y="3168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77" name="Object 2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24" y="3168"/>
                    <a:ext cx="209" cy="2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78" name="Object 30"/>
                  <p:cNvSpPr txBox="1"/>
                  <p:nvPr/>
                </p:nvSpPr>
                <p:spPr>
                  <a:xfrm>
                    <a:off x="1584" y="3168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78" name="Object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84" y="3168"/>
                    <a:ext cx="209" cy="2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79" name="Object 31"/>
                  <p:cNvSpPr txBox="1"/>
                  <p:nvPr/>
                </p:nvSpPr>
                <p:spPr>
                  <a:xfrm>
                    <a:off x="2064" y="3416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79" name="Object 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64" y="3416"/>
                    <a:ext cx="209" cy="2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80" name="Object 32"/>
                  <p:cNvSpPr txBox="1"/>
                  <p:nvPr/>
                </p:nvSpPr>
                <p:spPr>
                  <a:xfrm>
                    <a:off x="2767" y="3416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80" name="Object 3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67" y="3416"/>
                    <a:ext cx="209" cy="2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81" name="Object 33"/>
                  <p:cNvSpPr txBox="1"/>
                  <p:nvPr/>
                </p:nvSpPr>
                <p:spPr>
                  <a:xfrm>
                    <a:off x="2304" y="3408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81" name="Object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04" y="3408"/>
                    <a:ext cx="209" cy="2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82" name="Object 34"/>
                  <p:cNvSpPr txBox="1"/>
                  <p:nvPr/>
                </p:nvSpPr>
                <p:spPr>
                  <a:xfrm>
                    <a:off x="2527" y="3408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82" name="Object 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27" y="3408"/>
                    <a:ext cx="209" cy="2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83" name="Object 35"/>
                  <p:cNvSpPr txBox="1"/>
                  <p:nvPr/>
                </p:nvSpPr>
                <p:spPr>
                  <a:xfrm>
                    <a:off x="3024" y="3416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83" name="Object 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24" y="3416"/>
                    <a:ext cx="209" cy="2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84" name="Object 36"/>
                  <p:cNvSpPr txBox="1"/>
                  <p:nvPr/>
                </p:nvSpPr>
                <p:spPr>
                  <a:xfrm>
                    <a:off x="1824" y="3408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84" name="Object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24" y="3408"/>
                    <a:ext cx="209" cy="2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85" name="Object 37"/>
                  <p:cNvSpPr txBox="1"/>
                  <p:nvPr/>
                </p:nvSpPr>
                <p:spPr>
                  <a:xfrm>
                    <a:off x="1584" y="3408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85" name="Object 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84" y="3408"/>
                    <a:ext cx="209" cy="2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86" name="Object 38"/>
                  <p:cNvSpPr txBox="1"/>
                  <p:nvPr/>
                </p:nvSpPr>
                <p:spPr>
                  <a:xfrm>
                    <a:off x="2064" y="2936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86" name="Object 3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64" y="2936"/>
                    <a:ext cx="209" cy="2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87" name="Object 39"/>
                  <p:cNvSpPr txBox="1"/>
                  <p:nvPr/>
                </p:nvSpPr>
                <p:spPr>
                  <a:xfrm>
                    <a:off x="2767" y="2936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87" name="Object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67" y="2936"/>
                    <a:ext cx="209" cy="2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88" name="Object 40"/>
                  <p:cNvSpPr txBox="1"/>
                  <p:nvPr/>
                </p:nvSpPr>
                <p:spPr>
                  <a:xfrm>
                    <a:off x="2304" y="2928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88" name="Object 4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04" y="2928"/>
                    <a:ext cx="209" cy="2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89" name="Object 41"/>
                  <p:cNvSpPr txBox="1"/>
                  <p:nvPr/>
                </p:nvSpPr>
                <p:spPr>
                  <a:xfrm>
                    <a:off x="2527" y="2928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89" name="Object 4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27" y="2928"/>
                    <a:ext cx="209" cy="2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90" name="Object 42"/>
                  <p:cNvSpPr txBox="1"/>
                  <p:nvPr/>
                </p:nvSpPr>
                <p:spPr>
                  <a:xfrm>
                    <a:off x="3024" y="2936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90" name="Object 4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24" y="2936"/>
                    <a:ext cx="209" cy="2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91" name="Object 43"/>
                  <p:cNvSpPr txBox="1"/>
                  <p:nvPr/>
                </p:nvSpPr>
                <p:spPr>
                  <a:xfrm>
                    <a:off x="1824" y="2928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91" name="Object 4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24" y="2928"/>
                    <a:ext cx="209" cy="2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92" name="Object 44"/>
                  <p:cNvSpPr txBox="1"/>
                  <p:nvPr/>
                </p:nvSpPr>
                <p:spPr>
                  <a:xfrm>
                    <a:off x="1584" y="2928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92" name="Object 4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84" y="2928"/>
                    <a:ext cx="209" cy="2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93" name="Object 45"/>
                  <p:cNvSpPr txBox="1"/>
                  <p:nvPr/>
                </p:nvSpPr>
                <p:spPr>
                  <a:xfrm>
                    <a:off x="2064" y="3704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93" name="Object 4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64" y="3704"/>
                    <a:ext cx="209" cy="2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94" name="Object 46"/>
                  <p:cNvSpPr txBox="1"/>
                  <p:nvPr/>
                </p:nvSpPr>
                <p:spPr>
                  <a:xfrm>
                    <a:off x="2767" y="3704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94" name="Object 4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67" y="3704"/>
                    <a:ext cx="209" cy="2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95" name="Object 47"/>
                  <p:cNvSpPr txBox="1"/>
                  <p:nvPr/>
                </p:nvSpPr>
                <p:spPr>
                  <a:xfrm>
                    <a:off x="2304" y="3696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95" name="Object 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04" y="3696"/>
                    <a:ext cx="209" cy="2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96" name="Object 48"/>
                  <p:cNvSpPr txBox="1"/>
                  <p:nvPr/>
                </p:nvSpPr>
                <p:spPr>
                  <a:xfrm>
                    <a:off x="2527" y="3696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96" name="Object 4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27" y="3696"/>
                    <a:ext cx="209" cy="2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97" name="Object 49"/>
                  <p:cNvSpPr txBox="1"/>
                  <p:nvPr/>
                </p:nvSpPr>
                <p:spPr>
                  <a:xfrm>
                    <a:off x="1824" y="3696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 dirty="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97" name="Object 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24" y="3696"/>
                    <a:ext cx="209" cy="2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98" name="Object 50"/>
                  <p:cNvSpPr txBox="1"/>
                  <p:nvPr/>
                </p:nvSpPr>
                <p:spPr>
                  <a:xfrm>
                    <a:off x="2064" y="2696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 dirty="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98" name="Object 5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64" y="2696"/>
                    <a:ext cx="209" cy="2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99" name="Object 51"/>
                  <p:cNvSpPr txBox="1"/>
                  <p:nvPr/>
                </p:nvSpPr>
                <p:spPr>
                  <a:xfrm>
                    <a:off x="2767" y="2696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99" name="Object 5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67" y="2696"/>
                    <a:ext cx="209" cy="2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300" name="Object 52"/>
                  <p:cNvSpPr txBox="1"/>
                  <p:nvPr/>
                </p:nvSpPr>
                <p:spPr>
                  <a:xfrm>
                    <a:off x="2304" y="2688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300" name="Object 5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04" y="2688"/>
                    <a:ext cx="209" cy="2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301" name="Object 53"/>
                  <p:cNvSpPr txBox="1"/>
                  <p:nvPr/>
                </p:nvSpPr>
                <p:spPr>
                  <a:xfrm>
                    <a:off x="2527" y="2688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 dirty="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301" name="Object 5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27" y="2688"/>
                    <a:ext cx="209" cy="2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302" name="Object 54"/>
                  <p:cNvSpPr txBox="1"/>
                  <p:nvPr/>
                </p:nvSpPr>
                <p:spPr>
                  <a:xfrm>
                    <a:off x="1824" y="2688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302" name="Object 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24" y="2688"/>
                    <a:ext cx="209" cy="2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303" name="Object 55"/>
                  <p:cNvSpPr txBox="1"/>
                  <p:nvPr/>
                </p:nvSpPr>
                <p:spPr>
                  <a:xfrm>
                    <a:off x="2064" y="2456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303" name="Object 5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64" y="2456"/>
                    <a:ext cx="209" cy="2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304" name="Object 56"/>
                  <p:cNvSpPr txBox="1"/>
                  <p:nvPr/>
                </p:nvSpPr>
                <p:spPr>
                  <a:xfrm>
                    <a:off x="2304" y="2448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304" name="Object 5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04" y="2448"/>
                    <a:ext cx="209" cy="2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305" name="Object 57"/>
                  <p:cNvSpPr txBox="1"/>
                  <p:nvPr/>
                </p:nvSpPr>
                <p:spPr>
                  <a:xfrm>
                    <a:off x="2527" y="2448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305" name="Object 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27" y="2448"/>
                    <a:ext cx="209" cy="2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306" name="Object 58"/>
                  <p:cNvSpPr txBox="1"/>
                  <p:nvPr/>
                </p:nvSpPr>
                <p:spPr>
                  <a:xfrm>
                    <a:off x="2287" y="3944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306" name="Object 5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87" y="3944"/>
                    <a:ext cx="209" cy="2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307" name="Object 59"/>
                  <p:cNvSpPr txBox="1"/>
                  <p:nvPr/>
                </p:nvSpPr>
                <p:spPr>
                  <a:xfrm>
                    <a:off x="2527" y="3936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307" name="Object 5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27" y="3936"/>
                    <a:ext cx="209" cy="2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308" name="Object 60"/>
                  <p:cNvSpPr txBox="1"/>
                  <p:nvPr/>
                </p:nvSpPr>
                <p:spPr>
                  <a:xfrm>
                    <a:off x="2047" y="3936"/>
                    <a:ext cx="209" cy="2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×</m:t>
                          </m:r>
                        </m:oMath>
                      </m:oMathPara>
                    </a14:m>
                    <a:endParaRPr lang="en-US" sz="260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308" name="Object 6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7" y="3936"/>
                    <a:ext cx="209" cy="2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3261" name="Group 61"/>
            <p:cNvGrpSpPr/>
            <p:nvPr/>
          </p:nvGrpSpPr>
          <p:grpSpPr>
            <a:xfrm>
              <a:off x="4769" y="2928"/>
              <a:ext cx="576" cy="235"/>
              <a:chOff x="3072" y="3168"/>
              <a:chExt cx="576" cy="235"/>
            </a:xfrm>
          </p:grpSpPr>
          <p:sp>
            <p:nvSpPr>
              <p:cNvPr id="53269" name="Oval 62"/>
              <p:cNvSpPr/>
              <p:nvPr/>
            </p:nvSpPr>
            <p:spPr>
              <a:xfrm>
                <a:off x="3072" y="326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None/>
                </a:pPr>
                <a:endParaRPr lang="zh-CN" altLang="en-US" sz="2600" dirty="0">
                  <a:solidFill>
                    <a:srgbClr val="1C1C1C"/>
                  </a:solidFill>
                  <a:ea typeface="+mj-ea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270" name="Object 63"/>
                  <p:cNvSpPr txBox="1"/>
                  <p:nvPr/>
                </p:nvSpPr>
                <p:spPr>
                  <a:xfrm>
                    <a:off x="3264" y="3168"/>
                    <a:ext cx="384" cy="235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−</m:t>
                          </m:r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𝑒</m:t>
                          </m:r>
                        </m:oMath>
                      </m:oMathPara>
                    </a14:m>
                    <a:endParaRPr lang="en-US" sz="2600" dirty="0">
                      <a:ea typeface="+mj-ea"/>
                    </a:endParaRPr>
                  </a:p>
                </p:txBody>
              </p:sp>
            </mc:Choice>
            <mc:Fallback xmlns="">
              <p:sp>
                <p:nvSpPr>
                  <p:cNvPr id="53270" name="Object 6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4" y="3168"/>
                    <a:ext cx="384" cy="235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3262" name="Line 64"/>
            <p:cNvSpPr/>
            <p:nvPr/>
          </p:nvSpPr>
          <p:spPr>
            <a:xfrm flipV="1">
              <a:off x="4817" y="2592"/>
              <a:ext cx="0" cy="4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263" name="Object 65"/>
                <p:cNvSpPr txBox="1"/>
                <p:nvPr/>
              </p:nvSpPr>
              <p:spPr>
                <a:xfrm>
                  <a:off x="4977" y="2395"/>
                  <a:ext cx="255" cy="34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accPr>
                          <m:e>
                            <m:r>
                              <a:rPr lang="en-US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𝐸</m:t>
                            </m:r>
                          </m:e>
                        </m:acc>
                      </m:oMath>
                    </m:oMathPara>
                  </a14:m>
                  <a:endParaRPr lang="en-US" sz="2600">
                    <a:ea typeface="+mj-ea"/>
                  </a:endParaRPr>
                </a:p>
              </p:txBody>
            </p:sp>
          </mc:Choice>
          <mc:Fallback xmlns="">
            <p:sp>
              <p:nvSpPr>
                <p:cNvPr id="53263" name="Object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7" y="2395"/>
                  <a:ext cx="255" cy="34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264" name="Line 66"/>
            <p:cNvSpPr/>
            <p:nvPr/>
          </p:nvSpPr>
          <p:spPr>
            <a:xfrm flipH="1">
              <a:off x="4385" y="3072"/>
              <a:ext cx="38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265" name="Object 67"/>
                <p:cNvSpPr txBox="1"/>
                <p:nvPr/>
              </p:nvSpPr>
              <p:spPr>
                <a:xfrm>
                  <a:off x="4283" y="2640"/>
                  <a:ext cx="299" cy="427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</m:ctrlPr>
                              </m:accPr>
                              <m:e>
                                <m:r>
                                  <a:rPr lang="en-US" sz="26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r>
                              <a:rPr lang="en-US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600" dirty="0">
                    <a:ea typeface="+mj-ea"/>
                  </a:endParaRPr>
                </a:p>
              </p:txBody>
            </p:sp>
          </mc:Choice>
          <mc:Fallback xmlns="">
            <p:sp>
              <p:nvSpPr>
                <p:cNvPr id="53265" name="Object 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3" y="2640"/>
                  <a:ext cx="299" cy="42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266" name="Line 68"/>
            <p:cNvSpPr/>
            <p:nvPr/>
          </p:nvSpPr>
          <p:spPr>
            <a:xfrm>
              <a:off x="4800" y="3072"/>
              <a:ext cx="0" cy="33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267" name="Object 69"/>
                <p:cNvSpPr txBox="1"/>
                <p:nvPr/>
              </p:nvSpPr>
              <p:spPr>
                <a:xfrm>
                  <a:off x="4896" y="3216"/>
                  <a:ext cx="1037" cy="28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accPr>
                          <m:e>
                            <m:r>
                              <a:rPr lang="en-US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𝐹</m:t>
                            </m:r>
                          </m:e>
                        </m:acc>
                        <m:r>
                          <a:rPr lang="en-US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=−</m:t>
                        </m:r>
                        <m:r>
                          <a:rPr lang="en-US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𝑒</m:t>
                        </m:r>
                        <m:acc>
                          <m:accPr>
                            <m:chr m:val="⃗"/>
                            <m:ctrl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accPr>
                          <m:e>
                            <m:r>
                              <a:rPr lang="en-US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𝐸</m:t>
                            </m:r>
                          </m:e>
                        </m:acc>
                      </m:oMath>
                    </m:oMathPara>
                  </a14:m>
                  <a:endParaRPr lang="en-US" sz="2600" dirty="0">
                    <a:ea typeface="+mj-ea"/>
                  </a:endParaRPr>
                </a:p>
              </p:txBody>
            </p:sp>
          </mc:Choice>
          <mc:Fallback xmlns="">
            <p:sp>
              <p:nvSpPr>
                <p:cNvPr id="53267" name="Object 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6" y="3216"/>
                  <a:ext cx="1037" cy="285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268" name="Line 70"/>
            <p:cNvSpPr/>
            <p:nvPr/>
          </p:nvSpPr>
          <p:spPr>
            <a:xfrm flipV="1">
              <a:off x="3600" y="2640"/>
              <a:ext cx="48" cy="48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Object 4">
                <a:extLst>
                  <a:ext uri="{FF2B5EF4-FFF2-40B4-BE49-F238E27FC236}">
                    <a16:creationId xmlns:a16="http://schemas.microsoft.com/office/drawing/2014/main" id="{5BE5F390-D4C3-4AF3-9B94-4A1F8838A6DA}"/>
                  </a:ext>
                </a:extLst>
              </p:cNvPr>
              <p:cNvSpPr txBox="1"/>
              <p:nvPr/>
            </p:nvSpPr>
            <p:spPr>
              <a:xfrm>
                <a:off x="7375468" y="5215492"/>
                <a:ext cx="2086826" cy="4099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𝛷</m:t>
                      </m:r>
                      <m:r>
                        <a:rPr 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̄"/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170" name="Object 4">
                <a:extLst>
                  <a:ext uri="{FF2B5EF4-FFF2-40B4-BE49-F238E27FC236}">
                    <a16:creationId xmlns:a16="http://schemas.microsoft.com/office/drawing/2014/main" id="{5BE5F390-D4C3-4AF3-9B94-4A1F8838A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5468" y="5215492"/>
                <a:ext cx="2086826" cy="40990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Object 5">
                <a:extLst>
                  <a:ext uri="{FF2B5EF4-FFF2-40B4-BE49-F238E27FC236}">
                    <a16:creationId xmlns:a16="http://schemas.microsoft.com/office/drawing/2014/main" id="{D92D00F5-B37F-4F26-AF98-4E72D82DED0E}"/>
                  </a:ext>
                </a:extLst>
              </p:cNvPr>
              <p:cNvSpPr txBox="1"/>
              <p:nvPr/>
            </p:nvSpPr>
            <p:spPr>
              <a:xfrm>
                <a:off x="9954168" y="4782898"/>
                <a:ext cx="2921501" cy="86518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600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en-US" sz="2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600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en-US" sz="2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</m:den>
                      </m:f>
                      <m:r>
                        <a:rPr 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̄"/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func>
                                <m:funcPr>
                                  <m:ctrlPr>
                                    <a:rPr lang="en-US" sz="26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600" b="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fName>
                                <m:e>
                                  <m:r>
                                    <a:rPr lang="en-US" sz="2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func>
                            </m:e>
                          </m:acc>
                        </m:num>
                        <m:den>
                          <m:func>
                            <m:func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600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en-US" sz="2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171" name="Object 5">
                <a:extLst>
                  <a:ext uri="{FF2B5EF4-FFF2-40B4-BE49-F238E27FC236}">
                    <a16:creationId xmlns:a16="http://schemas.microsoft.com/office/drawing/2014/main" id="{D92D00F5-B37F-4F26-AF98-4E72D82DE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4168" y="4782898"/>
                <a:ext cx="2921501" cy="865188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Object 6">
                <a:extLst>
                  <a:ext uri="{FF2B5EF4-FFF2-40B4-BE49-F238E27FC236}">
                    <a16:creationId xmlns:a16="http://schemas.microsoft.com/office/drawing/2014/main" id="{F49087C1-BED9-4655-8C84-EB55E8733A61}"/>
                  </a:ext>
                </a:extLst>
              </p:cNvPr>
              <p:cNvSpPr txBox="1"/>
              <p:nvPr/>
            </p:nvSpPr>
            <p:spPr>
              <a:xfrm>
                <a:off x="10163969" y="5955542"/>
                <a:ext cx="1517650" cy="112077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̄"/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172" name="Object 6">
                <a:extLst>
                  <a:ext uri="{FF2B5EF4-FFF2-40B4-BE49-F238E27FC236}">
                    <a16:creationId xmlns:a16="http://schemas.microsoft.com/office/drawing/2014/main" id="{F49087C1-BED9-4655-8C84-EB55E8733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3969" y="5955542"/>
                <a:ext cx="1517650" cy="112077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Text Box 24">
            <a:extLst>
              <a:ext uri="{FF2B5EF4-FFF2-40B4-BE49-F238E27FC236}">
                <a16:creationId xmlns:a16="http://schemas.microsoft.com/office/drawing/2014/main" id="{3E0378A4-018D-4657-815C-3ACC85C922D7}"/>
              </a:ext>
            </a:extLst>
          </p:cNvPr>
          <p:cNvSpPr txBox="1"/>
          <p:nvPr/>
        </p:nvSpPr>
        <p:spPr>
          <a:xfrm>
            <a:off x="6789256" y="5815076"/>
            <a:ext cx="3057247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1C1C1C"/>
                </a:solidFill>
                <a:latin typeface="Times New Roman" panose="02020603050405020304" pitchFamily="18" charset="0"/>
              </a:rPr>
              <a:t>平均磁感应强度。</a:t>
            </a: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DA3DF0AC-C2D4-47CF-8616-FE3BEE2D79F2}"/>
              </a:ext>
            </a:extLst>
          </p:cNvPr>
          <p:cNvSpPr/>
          <p:nvPr/>
        </p:nvSpPr>
        <p:spPr>
          <a:xfrm>
            <a:off x="975888" y="574184"/>
            <a:ext cx="46527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电子感应加速器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58" grpId="0"/>
      <p:bldP spid="53251" grpId="0"/>
      <p:bldP spid="53252" grpId="0"/>
      <p:bldP spid="275462" grpId="0"/>
      <p:bldP spid="53315" grpId="0"/>
      <p:bldP spid="275469" grpId="0"/>
      <p:bldP spid="53313" grpId="0"/>
      <p:bldP spid="275473" grpId="0"/>
      <p:bldP spid="170" grpId="0"/>
      <p:bldP spid="171" grpId="0"/>
      <p:bldP spid="172" grpId="0"/>
      <p:bldP spid="17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5"/>
          <p:cNvSpPr/>
          <p:nvPr/>
        </p:nvSpPr>
        <p:spPr>
          <a:xfrm>
            <a:off x="1415849" y="5152706"/>
            <a:ext cx="3468847" cy="89255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50000"/>
              </a:spcBef>
              <a:buNone/>
            </a:pPr>
            <a:r>
              <a:rPr lang="zh-CN" altLang="en-US" sz="2600" dirty="0">
                <a:solidFill>
                  <a:srgbClr val="1C1C1C"/>
                </a:solidFill>
                <a:latin typeface="Times New Roman" panose="02020603050405020304" pitchFamily="18" charset="0"/>
              </a:rPr>
              <a:t>北京正负电子对撞机的储存环（</a:t>
            </a:r>
            <a:r>
              <a:rPr lang="en-US" altLang="zh-CN" sz="2600" dirty="0">
                <a:solidFill>
                  <a:srgbClr val="1C1C1C"/>
                </a:solidFill>
                <a:latin typeface="Times New Roman" panose="02020603050405020304" pitchFamily="18" charset="0"/>
              </a:rPr>
              <a:t>240m</a:t>
            </a:r>
            <a:r>
              <a:rPr lang="zh-CN" altLang="en-US" sz="2600" dirty="0">
                <a:solidFill>
                  <a:srgbClr val="1C1C1C"/>
                </a:solidFill>
                <a:latin typeface="Times New Roman" panose="02020603050405020304" pitchFamily="18" charset="0"/>
              </a:rPr>
              <a:t>）</a:t>
            </a:r>
          </a:p>
        </p:txBody>
      </p:sp>
      <p:pic>
        <p:nvPicPr>
          <p:cNvPr id="56323" name="Picture 6" descr="slide0097_image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888" y="2147921"/>
            <a:ext cx="3847781" cy="280076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6324" name="Picture 7" descr="slide0097_image1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271" y="2185880"/>
            <a:ext cx="6378110" cy="280076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6CB71F3-95BE-4E2B-8180-A14C488D1592}"/>
              </a:ext>
            </a:extLst>
          </p:cNvPr>
          <p:cNvSpPr/>
          <p:nvPr/>
        </p:nvSpPr>
        <p:spPr>
          <a:xfrm>
            <a:off x="975888" y="574184"/>
            <a:ext cx="46527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电子感应加速器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0748E0-5603-B3D6-B4CF-DC998DB2939A}"/>
              </a:ext>
            </a:extLst>
          </p:cNvPr>
          <p:cNvSpPr txBox="1"/>
          <p:nvPr/>
        </p:nvSpPr>
        <p:spPr>
          <a:xfrm>
            <a:off x="5453342" y="5152706"/>
            <a:ext cx="609521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spcBef>
                <a:spcPct val="50000"/>
              </a:spcBef>
              <a:buNone/>
            </a:pPr>
            <a:r>
              <a:rPr lang="zh-CN" altLang="en-US" sz="2600" dirty="0">
                <a:solidFill>
                  <a:srgbClr val="1C1C1C"/>
                </a:solidFill>
                <a:latin typeface="Times New Roman" panose="02020603050405020304" pitchFamily="18" charset="0"/>
              </a:rPr>
              <a:t>直径 </a:t>
            </a:r>
            <a:r>
              <a:rPr lang="en-US" altLang="zh-CN" sz="2600" dirty="0">
                <a:solidFill>
                  <a:srgbClr val="1C1C1C"/>
                </a:solidFill>
                <a:latin typeface="Times New Roman" panose="02020603050405020304" pitchFamily="18" charset="0"/>
              </a:rPr>
              <a:t>2km </a:t>
            </a:r>
            <a:r>
              <a:rPr lang="zh-CN" altLang="en-US" sz="2600" dirty="0">
                <a:solidFill>
                  <a:srgbClr val="1C1C1C"/>
                </a:solidFill>
                <a:latin typeface="Times New Roman" panose="02020603050405020304" pitchFamily="18" charset="0"/>
              </a:rPr>
              <a:t>的美国费米国立加速器鸟瞰图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2">
                <a:extLst>
                  <a:ext uri="{FF2B5EF4-FFF2-40B4-BE49-F238E27FC236}">
                    <a16:creationId xmlns:a16="http://schemas.microsoft.com/office/drawing/2014/main" id="{D5353DBC-D6D3-4EDC-61CD-12063C527081}"/>
                  </a:ext>
                </a:extLst>
              </p:cNvPr>
              <p:cNvSpPr txBox="1"/>
              <p:nvPr/>
            </p:nvSpPr>
            <p:spPr>
              <a:xfrm>
                <a:off x="4151035" y="1212851"/>
                <a:ext cx="3546475" cy="1208087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𝐵</m:t>
                      </m:r>
                      <m:r>
                        <a:rPr lang="en-US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f>
                        <m:f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𝑚𝑣</m:t>
                          </m:r>
                        </m:num>
                        <m:den>
                          <m:r>
                            <a:rPr lang="en-US" sz="2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𝑒𝑅</m:t>
                          </m:r>
                        </m:den>
                      </m:f>
                      <m:r>
                        <a:rPr lang="zh-CN" alt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，</m:t>
                      </m:r>
                      <m:r>
                        <a:rPr 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𝑅</m:t>
                      </m:r>
                      <m:r>
                        <a:rPr 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r>
                        <a:rPr lang="en-US" sz="26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𝑐𝑜𝑛𝑠𝑡</m:t>
                      </m:r>
                    </m:oMath>
                  </m:oMathPara>
                </a14:m>
                <a:endParaRPr lang="en-US" sz="2600" dirty="0">
                  <a:ea typeface="+mj-ea"/>
                </a:endParaRPr>
              </a:p>
            </p:txBody>
          </p:sp>
        </mc:Choice>
        <mc:Fallback xmlns="">
          <p:sp>
            <p:nvSpPr>
              <p:cNvPr id="4" name="Object 2">
                <a:extLst>
                  <a:ext uri="{FF2B5EF4-FFF2-40B4-BE49-F238E27FC236}">
                    <a16:creationId xmlns:a16="http://schemas.microsoft.com/office/drawing/2014/main" id="{D5353DBC-D6D3-4EDC-61CD-12063C527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035" y="1212851"/>
                <a:ext cx="3546475" cy="12080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2778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5"/>
          <p:cNvSpPr/>
          <p:nvPr/>
        </p:nvSpPr>
        <p:spPr>
          <a:xfrm>
            <a:off x="1563379" y="4868434"/>
            <a:ext cx="3887788" cy="12926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50000"/>
              </a:spcBef>
              <a:buNone/>
            </a:pPr>
            <a:r>
              <a:rPr lang="zh-CN" altLang="en-US" sz="2600" dirty="0">
                <a:latin typeface="Times New Roman" panose="02020603050405020304" pitchFamily="18" charset="0"/>
              </a:rPr>
              <a:t>世界上最大的正负电子对撞机 </a:t>
            </a:r>
            <a:r>
              <a:rPr lang="en-US" altLang="zh-CN" sz="2600" dirty="0">
                <a:latin typeface="Times New Roman" panose="02020603050405020304" pitchFamily="18" charset="0"/>
              </a:rPr>
              <a:t>LEP(</a:t>
            </a:r>
            <a:r>
              <a:rPr lang="zh-CN" altLang="en-US" sz="2600" dirty="0">
                <a:latin typeface="Times New Roman" panose="02020603050405020304" pitchFamily="18" charset="0"/>
              </a:rPr>
              <a:t>周长</a:t>
            </a:r>
            <a:r>
              <a:rPr lang="en-US" altLang="zh-CN" sz="2600" dirty="0">
                <a:latin typeface="Times New Roman" panose="02020603050405020304" pitchFamily="18" charset="0"/>
              </a:rPr>
              <a:t>27</a:t>
            </a:r>
            <a:r>
              <a:rPr lang="zh-CN" altLang="en-US" sz="2600" dirty="0">
                <a:latin typeface="Times New Roman" panose="02020603050405020304" pitchFamily="18" charset="0"/>
              </a:rPr>
              <a:t>公里</a:t>
            </a:r>
            <a:r>
              <a:rPr lang="en-US" altLang="zh-CN" sz="2600" dirty="0">
                <a:latin typeface="Times New Roman" panose="02020603050405020304" pitchFamily="18" charset="0"/>
              </a:rPr>
              <a:t>) </a:t>
            </a:r>
            <a:r>
              <a:rPr lang="zh-CN" altLang="en-US" sz="2600" dirty="0">
                <a:latin typeface="Times New Roman" panose="02020603050405020304" pitchFamily="18" charset="0"/>
              </a:rPr>
              <a:t>和超级质子同步加速器 </a:t>
            </a:r>
            <a:r>
              <a:rPr lang="en-US" altLang="zh-CN" sz="2600" dirty="0">
                <a:latin typeface="Times New Roman" panose="02020603050405020304" pitchFamily="18" charset="0"/>
              </a:rPr>
              <a:t>SPS</a:t>
            </a:r>
            <a:r>
              <a:rPr lang="zh-CN" altLang="en-US" sz="2600" dirty="0">
                <a:latin typeface="Times New Roman" panose="02020603050405020304" pitchFamily="18" charset="0"/>
              </a:rPr>
              <a:t>。</a:t>
            </a:r>
          </a:p>
        </p:txBody>
      </p:sp>
      <p:pic>
        <p:nvPicPr>
          <p:cNvPr id="56325" name="Picture 8" descr="slide0097_image1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978" y="1618370"/>
            <a:ext cx="4737100" cy="30273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6CB71F3-95BE-4E2B-8180-A14C488D1592}"/>
              </a:ext>
            </a:extLst>
          </p:cNvPr>
          <p:cNvSpPr/>
          <p:nvPr/>
        </p:nvSpPr>
        <p:spPr>
          <a:xfrm>
            <a:off x="975888" y="574184"/>
            <a:ext cx="46527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电子感应加速器</a:t>
            </a:r>
          </a:p>
        </p:txBody>
      </p:sp>
      <p:pic>
        <p:nvPicPr>
          <p:cNvPr id="2" name="Picture 5" descr="2009726142811210">
            <a:extLst>
              <a:ext uri="{FF2B5EF4-FFF2-40B4-BE49-F238E27FC236}">
                <a16:creationId xmlns:a16="http://schemas.microsoft.com/office/drawing/2014/main" id="{E8560F9E-2C82-D61F-49F0-EB9BB9693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120" y="1351780"/>
            <a:ext cx="3487737" cy="37512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9">
            <a:extLst>
              <a:ext uri="{FF2B5EF4-FFF2-40B4-BE49-F238E27FC236}">
                <a16:creationId xmlns:a16="http://schemas.microsoft.com/office/drawing/2014/main" id="{3478FC3B-35A8-8EE2-6140-CBAE870ADD23}"/>
              </a:ext>
            </a:extLst>
          </p:cNvPr>
          <p:cNvSpPr txBox="1"/>
          <p:nvPr/>
        </p:nvSpPr>
        <p:spPr>
          <a:xfrm>
            <a:off x="5966255" y="5560352"/>
            <a:ext cx="634206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耗资</a:t>
            </a:r>
            <a:r>
              <a:rPr lang="en-US" altLang="zh-CN" sz="2800" dirty="0">
                <a:latin typeface="Times New Roman" panose="02020603050405020304" pitchFamily="18" charset="0"/>
              </a:rPr>
              <a:t>13</a:t>
            </a:r>
            <a:r>
              <a:rPr lang="zh-CN" altLang="en-US" sz="2800" dirty="0">
                <a:latin typeface="Times New Roman" panose="02020603050405020304" pitchFamily="18" charset="0"/>
              </a:rPr>
              <a:t>亿瑞士法郎，折合</a:t>
            </a:r>
            <a:r>
              <a:rPr lang="en-US" altLang="zh-CN" sz="2800" dirty="0">
                <a:latin typeface="Times New Roman" panose="02020603050405020304" pitchFamily="18" charset="0"/>
              </a:rPr>
              <a:t>86</a:t>
            </a:r>
            <a:r>
              <a:rPr lang="zh-CN" altLang="en-US" sz="2800" dirty="0">
                <a:latin typeface="Times New Roman" panose="02020603050405020304" pitchFamily="18" charset="0"/>
              </a:rPr>
              <a:t>亿人民币。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4"/>
          <p:cNvSpPr/>
          <p:nvPr/>
        </p:nvSpPr>
        <p:spPr>
          <a:xfrm>
            <a:off x="657440" y="1942924"/>
            <a:ext cx="10656483" cy="1982402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1C1C1C"/>
                </a:solidFill>
              </a:rPr>
              <a:t>- 2001</a:t>
            </a:r>
            <a:r>
              <a:rPr lang="zh-CN" altLang="en-US" sz="2600" dirty="0">
                <a:solidFill>
                  <a:srgbClr val="1C1C1C"/>
                </a:solidFill>
              </a:rPr>
              <a:t>年，</a:t>
            </a:r>
            <a:r>
              <a:rPr lang="en-US" altLang="zh-CN" sz="2600" dirty="0">
                <a:solidFill>
                  <a:srgbClr val="1C1C1C"/>
                </a:solidFill>
              </a:rPr>
              <a:t>LEP</a:t>
            </a:r>
            <a:r>
              <a:rPr lang="zh-CN" altLang="en-US" sz="2600" dirty="0">
                <a:solidFill>
                  <a:srgbClr val="1C1C1C"/>
                </a:solidFill>
              </a:rPr>
              <a:t>拆除原有的全部磁铁和设备，在隧道中安装超导磁铁</a:t>
            </a:r>
            <a:r>
              <a:rPr lang="en-US" altLang="zh-CN" sz="2600" dirty="0">
                <a:solidFill>
                  <a:srgbClr val="1C1C1C"/>
                </a:solidFill>
              </a:rPr>
              <a:t>(9.5</a:t>
            </a:r>
            <a:r>
              <a:rPr lang="zh-CN" altLang="en-US" sz="2600" dirty="0">
                <a:solidFill>
                  <a:srgbClr val="1C1C1C"/>
                </a:solidFill>
              </a:rPr>
              <a:t> </a:t>
            </a:r>
            <a:r>
              <a:rPr lang="en-US" altLang="zh-CN" sz="2600" dirty="0">
                <a:solidFill>
                  <a:srgbClr val="1C1C1C"/>
                </a:solidFill>
              </a:rPr>
              <a:t>T)</a:t>
            </a:r>
            <a:r>
              <a:rPr lang="zh-CN" altLang="en-US" sz="2600" dirty="0">
                <a:solidFill>
                  <a:srgbClr val="1C1C1C"/>
                </a:solidFill>
              </a:rPr>
              <a:t>，建造实现</a:t>
            </a:r>
            <a:r>
              <a:rPr lang="en-US" altLang="zh-CN" sz="2600" dirty="0">
                <a:solidFill>
                  <a:srgbClr val="1C1C1C"/>
                </a:solidFill>
              </a:rPr>
              <a:t>7.7TeV</a:t>
            </a:r>
            <a:r>
              <a:rPr lang="zh-CN" altLang="en-US" sz="2600" dirty="0">
                <a:solidFill>
                  <a:srgbClr val="1C1C1C"/>
                </a:solidFill>
              </a:rPr>
              <a:t>能量的质子</a:t>
            </a:r>
            <a:r>
              <a:rPr lang="en-US" altLang="zh-CN" sz="2600" dirty="0">
                <a:solidFill>
                  <a:srgbClr val="1C1C1C"/>
                </a:solidFill>
              </a:rPr>
              <a:t>-</a:t>
            </a:r>
            <a:r>
              <a:rPr lang="zh-CN" altLang="en-US" sz="2600" dirty="0">
                <a:solidFill>
                  <a:srgbClr val="1C1C1C"/>
                </a:solidFill>
              </a:rPr>
              <a:t>质子的对撞的大型强子对撞机</a:t>
            </a:r>
            <a:r>
              <a:rPr lang="en-US" altLang="zh-CN" sz="2600" dirty="0">
                <a:solidFill>
                  <a:srgbClr val="1C1C1C"/>
                </a:solidFill>
              </a:rPr>
              <a:t>LHC</a:t>
            </a:r>
            <a:r>
              <a:rPr lang="zh-CN" altLang="en-US" sz="2600" dirty="0">
                <a:solidFill>
                  <a:srgbClr val="1C1C1C"/>
                </a:solidFill>
              </a:rPr>
              <a:t>（</a:t>
            </a:r>
            <a:r>
              <a:rPr lang="en-US" altLang="zh-CN" sz="2600" dirty="0">
                <a:solidFill>
                  <a:srgbClr val="1C1C1C"/>
                </a:solidFill>
              </a:rPr>
              <a:t>Large Hadron Collider</a:t>
            </a:r>
            <a:r>
              <a:rPr lang="zh-CN" altLang="en-US" sz="2600" dirty="0">
                <a:solidFill>
                  <a:srgbClr val="1C1C1C"/>
                </a:solidFill>
              </a:rPr>
              <a:t>），投资</a:t>
            </a:r>
            <a:r>
              <a:rPr lang="en-US" altLang="zh-CN" sz="2600" dirty="0">
                <a:solidFill>
                  <a:srgbClr val="1C1C1C"/>
                </a:solidFill>
              </a:rPr>
              <a:t>48</a:t>
            </a:r>
            <a:r>
              <a:rPr lang="zh-CN" altLang="en-US" sz="2600" dirty="0">
                <a:solidFill>
                  <a:srgbClr val="1C1C1C"/>
                </a:solidFill>
              </a:rPr>
              <a:t>亿</a:t>
            </a:r>
            <a:r>
              <a:rPr lang="en-US" altLang="zh-CN" sz="2600" dirty="0">
                <a:solidFill>
                  <a:srgbClr val="1C1C1C"/>
                </a:solidFill>
              </a:rPr>
              <a:t>1</a:t>
            </a:r>
            <a:r>
              <a:rPr lang="zh-CN" altLang="en-US" sz="2600" dirty="0">
                <a:solidFill>
                  <a:srgbClr val="1C1C1C"/>
                </a:solidFill>
              </a:rPr>
              <a:t>千</a:t>
            </a:r>
            <a:r>
              <a:rPr lang="en-US" altLang="zh-CN" sz="2600" dirty="0">
                <a:solidFill>
                  <a:srgbClr val="1C1C1C"/>
                </a:solidFill>
              </a:rPr>
              <a:t>9</a:t>
            </a:r>
            <a:r>
              <a:rPr lang="zh-CN" altLang="en-US" sz="2600" dirty="0">
                <a:solidFill>
                  <a:srgbClr val="1C1C1C"/>
                </a:solidFill>
              </a:rPr>
              <a:t>百万瑞士法郎（由美国、日本、俄罗斯、印度等国共同出资），主要用于开展模拟宇宙大爆炸的实验。 </a:t>
            </a:r>
          </a:p>
        </p:txBody>
      </p:sp>
      <p:sp>
        <p:nvSpPr>
          <p:cNvPr id="58372" name="Rectangle 6"/>
          <p:cNvSpPr/>
          <p:nvPr/>
        </p:nvSpPr>
        <p:spPr>
          <a:xfrm>
            <a:off x="657440" y="1335498"/>
            <a:ext cx="6880794" cy="49244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2600" dirty="0">
                <a:solidFill>
                  <a:srgbClr val="1C1C1C"/>
                </a:solidFill>
                <a:latin typeface="Times New Roman" panose="02020603050405020304" pitchFamily="18" charset="0"/>
              </a:rPr>
              <a:t>大型强子对撞机</a:t>
            </a:r>
            <a:r>
              <a:rPr lang="en-US" altLang="zh-CN" sz="2600" dirty="0">
                <a:solidFill>
                  <a:srgbClr val="1C1C1C"/>
                </a:solidFill>
                <a:latin typeface="Times New Roman" panose="02020603050405020304" pitchFamily="18" charset="0"/>
              </a:rPr>
              <a:t>LHC</a:t>
            </a:r>
            <a:r>
              <a:rPr lang="zh-CN" altLang="en-US" sz="2600" dirty="0">
                <a:solidFill>
                  <a:srgbClr val="1C1C1C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600" dirty="0">
                <a:solidFill>
                  <a:srgbClr val="1C1C1C"/>
                </a:solidFill>
                <a:latin typeface="Times New Roman" panose="02020603050405020304" pitchFamily="18" charset="0"/>
              </a:rPr>
              <a:t>Large Hadron Collider</a:t>
            </a:r>
            <a:r>
              <a:rPr lang="zh-CN" altLang="en-US" sz="2600" dirty="0">
                <a:solidFill>
                  <a:srgbClr val="1C1C1C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58373" name="Rectangle 7"/>
          <p:cNvSpPr/>
          <p:nvPr/>
        </p:nvSpPr>
        <p:spPr>
          <a:xfrm>
            <a:off x="1881303" y="4119326"/>
            <a:ext cx="7103227" cy="49244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1C1C1C"/>
                </a:solidFill>
              </a:rPr>
              <a:t>34</a:t>
            </a:r>
            <a:r>
              <a:rPr lang="zh-CN" altLang="en-US" sz="2600" dirty="0">
                <a:solidFill>
                  <a:srgbClr val="1C1C1C"/>
                </a:solidFill>
              </a:rPr>
              <a:t>个国家</a:t>
            </a:r>
            <a:r>
              <a:rPr lang="en-US" altLang="zh-CN" sz="2600" dirty="0">
                <a:solidFill>
                  <a:srgbClr val="1C1C1C"/>
                </a:solidFill>
              </a:rPr>
              <a:t>150</a:t>
            </a:r>
            <a:r>
              <a:rPr lang="zh-CN" altLang="en-US" sz="2600" dirty="0">
                <a:solidFill>
                  <a:srgbClr val="1C1C1C"/>
                </a:solidFill>
              </a:rPr>
              <a:t>个研究实验室近</a:t>
            </a:r>
            <a:r>
              <a:rPr lang="en-US" altLang="zh-CN" sz="2600" dirty="0">
                <a:solidFill>
                  <a:srgbClr val="1C1C1C"/>
                </a:solidFill>
              </a:rPr>
              <a:t>2000</a:t>
            </a:r>
            <a:r>
              <a:rPr lang="zh-CN" altLang="en-US" sz="2600" dirty="0">
                <a:solidFill>
                  <a:srgbClr val="1C1C1C"/>
                </a:solidFill>
              </a:rPr>
              <a:t>名科学家参加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9BA1EF5-06C4-3894-0652-21C3D435DE99}"/>
              </a:ext>
            </a:extLst>
          </p:cNvPr>
          <p:cNvSpPr/>
          <p:nvPr/>
        </p:nvSpPr>
        <p:spPr>
          <a:xfrm>
            <a:off x="975888" y="574184"/>
            <a:ext cx="46527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电子感应加速器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64BF429-E9C2-F0C1-FAB4-744AC70DDEC3}"/>
              </a:ext>
            </a:extLst>
          </p:cNvPr>
          <p:cNvSpPr txBox="1"/>
          <p:nvPr/>
        </p:nvSpPr>
        <p:spPr>
          <a:xfrm>
            <a:off x="708337" y="4937249"/>
            <a:ext cx="1055468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/>
              <a:t>-  </a:t>
            </a:r>
            <a:r>
              <a:rPr lang="zh-CN" altLang="en-US" sz="2600" dirty="0"/>
              <a:t>LHC于2008年启动， 2012年发现“上帝粒子”希格斯玻色子（赋予其他粒子质量的基本粒子）。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/>
      <p:bldP spid="58373" grpId="0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5" name="Text Box 3"/>
          <p:cNvSpPr txBox="1">
            <a:spLocks noChangeArrowheads="1"/>
          </p:cNvSpPr>
          <p:nvPr/>
        </p:nvSpPr>
        <p:spPr bwMode="auto">
          <a:xfrm>
            <a:off x="1203845" y="1354376"/>
            <a:ext cx="8856984" cy="1608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800" b="0" i="0" u="none" dirty="0">
                <a:latin typeface="华文楷体" panose="02010600040101010101" pitchFamily="2" charset="-122"/>
                <a:ea typeface="华文楷体" panose="02010600040101010101" pitchFamily="2" charset="-122"/>
              </a:rPr>
              <a:t>大块的金属在磁场中运动，或处在变化的磁场中，金属内部也要产生感应电流，这种电流在金属内部自成闭合回路，称为涡电流或涡流。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1699" y="3609387"/>
            <a:ext cx="3628600" cy="2549826"/>
          </a:xfrm>
          <a:prstGeom prst="rect">
            <a:avLst/>
          </a:prstGeom>
        </p:spPr>
      </p:pic>
      <p:sp>
        <p:nvSpPr>
          <p:cNvPr id="6" name="矩形 8">
            <a:extLst>
              <a:ext uri="{FF2B5EF4-FFF2-40B4-BE49-F238E27FC236}">
                <a16:creationId xmlns:a16="http://schemas.microsoft.com/office/drawing/2014/main" id="{97DFE694-3F04-4E87-9AA6-E747BD1BFD79}"/>
              </a:ext>
            </a:extLst>
          </p:cNvPr>
          <p:cNvSpPr/>
          <p:nvPr/>
        </p:nvSpPr>
        <p:spPr>
          <a:xfrm>
            <a:off x="975888" y="574184"/>
            <a:ext cx="38247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涡电流（涡流）  </a:t>
            </a:r>
            <a:endParaRPr lang="en-US" sz="36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3833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5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1" r="4608"/>
          <a:stretch/>
        </p:blipFill>
        <p:spPr>
          <a:xfrm>
            <a:off x="882257" y="1483152"/>
            <a:ext cx="4581797" cy="2298872"/>
          </a:xfrm>
          <a:prstGeom prst="rect">
            <a:avLst/>
          </a:prstGeom>
        </p:spPr>
      </p:pic>
      <p:pic>
        <p:nvPicPr>
          <p:cNvPr id="5122" name="Picture 2" descr="高频感应炉">
            <a:extLst>
              <a:ext uri="{FF2B5EF4-FFF2-40B4-BE49-F238E27FC236}">
                <a16:creationId xmlns:a16="http://schemas.microsoft.com/office/drawing/2014/main" id="{E82EBFAA-992B-44E9-AA4E-B5DC8269E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902" y="1014035"/>
            <a:ext cx="3599744" cy="285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E4631C1-606A-4E49-8B5F-0F426FA891BA}"/>
              </a:ext>
            </a:extLst>
          </p:cNvPr>
          <p:cNvSpPr/>
          <p:nvPr/>
        </p:nvSpPr>
        <p:spPr>
          <a:xfrm>
            <a:off x="8052463" y="3921453"/>
            <a:ext cx="185178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b="0" i="0" dirty="0">
                <a:effectLst/>
                <a:ea typeface="+mj-ea"/>
              </a:rPr>
              <a:t>高频感应炉</a:t>
            </a:r>
            <a:endParaRPr lang="en-US" sz="2600" dirty="0">
              <a:ea typeface="+mj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93EAB4-E688-4096-96F8-5FFFB9B3FBA6}"/>
              </a:ext>
            </a:extLst>
          </p:cNvPr>
          <p:cNvSpPr/>
          <p:nvPr/>
        </p:nvSpPr>
        <p:spPr>
          <a:xfrm>
            <a:off x="8206351" y="4456690"/>
            <a:ext cx="151836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b="0" i="0" dirty="0">
                <a:effectLst/>
                <a:ea typeface="+mj-ea"/>
              </a:rPr>
              <a:t>冶炼金属</a:t>
            </a:r>
            <a:endParaRPr lang="en-US" sz="2600" dirty="0">
              <a:ea typeface="+mj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3572105-F038-4F01-A104-425B49E4BB65}"/>
              </a:ext>
            </a:extLst>
          </p:cNvPr>
          <p:cNvSpPr/>
          <p:nvPr/>
        </p:nvSpPr>
        <p:spPr>
          <a:xfrm>
            <a:off x="2502511" y="3975125"/>
            <a:ext cx="118494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dirty="0">
                <a:ea typeface="+mj-ea"/>
              </a:rPr>
              <a:t>电磁炉</a:t>
            </a:r>
            <a:endParaRPr lang="en-US" sz="2600" dirty="0">
              <a:ea typeface="+mj-ea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9D3BBA8-023E-4B9C-AF15-B7B2041A5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1977" y="4585606"/>
            <a:ext cx="2648607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600" b="0" i="0" u="none" strike="noStrike" cap="none" normalizeH="0" baseline="0" dirty="0">
                <a:ln>
                  <a:noFill/>
                </a:ln>
                <a:effectLst/>
                <a:ea typeface="+mj-ea"/>
              </a:rPr>
              <a:t>20KHz</a:t>
            </a:r>
            <a:r>
              <a:rPr kumimoji="0" lang="en-US" altLang="zh-CN" sz="2600" b="0" i="0" u="none" strike="noStrike" cap="none" normalizeH="0" baseline="0" dirty="0">
                <a:ln>
                  <a:noFill/>
                </a:ln>
                <a:effectLst/>
                <a:ea typeface="+mj-ea"/>
              </a:rPr>
              <a:t> </a:t>
            </a:r>
            <a:r>
              <a:rPr kumimoji="0" lang="zh-CN" altLang="zh-CN" sz="2600" b="0" i="0" u="none" strike="noStrike" cap="none" normalizeH="0" baseline="0" dirty="0">
                <a:ln>
                  <a:noFill/>
                </a:ln>
                <a:effectLst/>
                <a:ea typeface="+mj-ea"/>
              </a:rPr>
              <a:t>~</a:t>
            </a:r>
            <a:r>
              <a:rPr kumimoji="0" lang="en-US" altLang="zh-CN" sz="2600" b="0" i="0" u="none" strike="noStrike" cap="none" normalizeH="0" baseline="0" dirty="0">
                <a:ln>
                  <a:noFill/>
                </a:ln>
                <a:effectLst/>
                <a:ea typeface="+mj-ea"/>
              </a:rPr>
              <a:t> </a:t>
            </a:r>
            <a:r>
              <a:rPr kumimoji="0" lang="zh-CN" altLang="zh-CN" sz="2600" b="0" i="0" u="none" strike="noStrike" cap="none" normalizeH="0" baseline="0" dirty="0">
                <a:ln>
                  <a:noFill/>
                </a:ln>
                <a:effectLst/>
                <a:ea typeface="+mj-ea"/>
              </a:rPr>
              <a:t>30KHz</a:t>
            </a:r>
          </a:p>
        </p:txBody>
      </p:sp>
      <p:sp>
        <p:nvSpPr>
          <p:cNvPr id="10" name="Text Box 29">
            <a:extLst>
              <a:ext uri="{FF2B5EF4-FFF2-40B4-BE49-F238E27FC236}">
                <a16:creationId xmlns:a16="http://schemas.microsoft.com/office/drawing/2014/main" id="{1563DA91-6BD0-411D-8FCF-3C6A1BDE1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5851" y="5374848"/>
            <a:ext cx="7285923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2800" b="0" i="0" u="none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kumimoji="1" lang="zh-CN" altLang="en-US" sz="2800" b="0" i="0" u="none" dirty="0">
                <a:latin typeface="华文楷体" panose="02010600040101010101" pitchFamily="2" charset="-122"/>
                <a:ea typeface="华文楷体" panose="02010600040101010101" pitchFamily="2" charset="-122"/>
              </a:rPr>
              <a:t>易破坏绝缘，损耗电能，还可能造成事故</a:t>
            </a: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DCF787D0-2BA0-4864-A5C4-65A48A86E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6959" y="6070477"/>
            <a:ext cx="1977121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2800" b="0" i="0" u="none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减少涡流：</a:t>
            </a:r>
          </a:p>
        </p:txBody>
      </p:sp>
      <p:sp>
        <p:nvSpPr>
          <p:cNvPr id="12" name="Text Box 31">
            <a:extLst>
              <a:ext uri="{FF2B5EF4-FFF2-40B4-BE49-F238E27FC236}">
                <a16:creationId xmlns:a16="http://schemas.microsoft.com/office/drawing/2014/main" id="{25D54EB9-88C6-482E-85DD-1B7A1077D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6280" y="6063263"/>
            <a:ext cx="9827922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2800" b="0" i="0" u="none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0" i="0" u="none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、选择高阻值材料   </a:t>
            </a:r>
            <a:r>
              <a:rPr kumimoji="1" lang="en-US" altLang="zh-CN" sz="2800" b="0" i="0" u="none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0" i="0" u="none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、多片铁芯组合</a:t>
            </a:r>
          </a:p>
        </p:txBody>
      </p:sp>
      <p:sp>
        <p:nvSpPr>
          <p:cNvPr id="13" name="矩形 8">
            <a:extLst>
              <a:ext uri="{FF2B5EF4-FFF2-40B4-BE49-F238E27FC236}">
                <a16:creationId xmlns:a16="http://schemas.microsoft.com/office/drawing/2014/main" id="{5E663339-BE5A-42B1-908D-90FEE015EAB9}"/>
              </a:ext>
            </a:extLst>
          </p:cNvPr>
          <p:cNvSpPr/>
          <p:nvPr/>
        </p:nvSpPr>
        <p:spPr>
          <a:xfrm>
            <a:off x="975888" y="574184"/>
            <a:ext cx="43682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涡电流的热效应</a:t>
            </a:r>
          </a:p>
        </p:txBody>
      </p:sp>
    </p:spTree>
    <p:extLst>
      <p:ext uri="{BB962C8B-B14F-4D97-AF65-F5344CB8AC3E}">
        <p14:creationId xmlns:p14="http://schemas.microsoft.com/office/powerpoint/2010/main" val="1913170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  <p:bldP spid="5" grpId="0" animBg="1"/>
      <p:bldP spid="10" grpId="0" autoUpdateAnimBg="0"/>
      <p:bldP spid="11" grpId="0" autoUpdateAnimBg="0"/>
      <p:bldP spid="12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75">
            <a:extLst>
              <a:ext uri="{FF2B5EF4-FFF2-40B4-BE49-F238E27FC236}">
                <a16:creationId xmlns:a16="http://schemas.microsoft.com/office/drawing/2014/main" id="{70565DB3-BAA4-4713-BF53-7EA98E998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106" y="703046"/>
            <a:ext cx="29247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zh-CN" altLang="en-US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电磁阻尼</a:t>
            </a:r>
          </a:p>
        </p:txBody>
      </p:sp>
      <p:pic>
        <p:nvPicPr>
          <p:cNvPr id="31746" name="Picture 2" descr="How Eddy Current Brakes Work">
            <a:extLst>
              <a:ext uri="{FF2B5EF4-FFF2-40B4-BE49-F238E27FC236}">
                <a16:creationId xmlns:a16="http://schemas.microsoft.com/office/drawing/2014/main" id="{6BE227DA-BBD1-9D35-E6C9-D12AE1232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91" y="1783709"/>
            <a:ext cx="4950098" cy="3944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8" name="Picture 4">
            <a:extLst>
              <a:ext uri="{FF2B5EF4-FFF2-40B4-BE49-F238E27FC236}">
                <a16:creationId xmlns:a16="http://schemas.microsoft.com/office/drawing/2014/main" id="{AEEFD243-73F4-C4E8-36A4-685E2590E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322" y="2089844"/>
            <a:ext cx="4400654" cy="351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405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48882C4-113B-4A45-A426-FF4F96A762A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为电阻，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为线圈，则开关闭合后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421747-FFB0-4589-8CCA-1783250A89B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先亮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34B0DC-90A9-49EC-8DC1-23D6BCEF7ED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先亮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E66139-2ECD-43D5-BC21-9274CF79E14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两盏灯同时亮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21278A8-8DCE-4AEC-B654-FC3077E7FC6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以上说法都不对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BF20673-E66D-4811-AAFB-2EFE0B23C08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0DF1D3F-C03A-4753-B800-5ADF685DB74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4019901-B543-4370-9DDE-92D61286BB9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49B501F-11C7-4E88-9245-7F1C4D2E42B5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3FC6A94-43A2-4D60-821D-5F077CD0E727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DB674AA-6002-4B0A-B776-A1E1CC05209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35918" y="1016704"/>
            <a:ext cx="3606121" cy="4388031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3AA8B057-06C8-4B19-8EEC-F1EE8F4E915C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A4E4AF0E-39AB-458E-8A9B-2C753193683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5EBDABBE-ECA7-490D-B0B4-238E717C094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33144C02-1D87-4DAC-90D9-099A975D1872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FF20386E-1730-4161-88FF-DF4F8889B8C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F433466-5118-4859-9145-F8F46ED890D3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258912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9">
            <a:extLst>
              <a:ext uri="{FF2B5EF4-FFF2-40B4-BE49-F238E27FC236}">
                <a16:creationId xmlns:a16="http://schemas.microsoft.com/office/drawing/2014/main" id="{EEDF56D3-FA24-48F0-9937-C5F8DE49B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31" y="547209"/>
            <a:ext cx="2778477" cy="52322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2800" i="0" u="none" dirty="0">
                <a:solidFill>
                  <a:srgbClr val="0066FF"/>
                </a:solidFill>
                <a:latin typeface="+mn-lt"/>
                <a:ea typeface="华文楷体" panose="02010600040101010101" pitchFamily="2" charset="-122"/>
              </a:rPr>
              <a:t>自感现象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55AC06D6-6724-4DA0-B4FC-03AD0CC49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6310" y="4762736"/>
            <a:ext cx="899745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 b="0" i="0" u="none" dirty="0">
                <a:solidFill>
                  <a:srgbClr val="000000"/>
                </a:solidFill>
                <a:latin typeface="+mn-lt"/>
                <a:ea typeface="华文楷体" panose="02010600040101010101" pitchFamily="2" charset="-122"/>
              </a:rPr>
              <a:t>当线圈中电流变化时，它所激发的磁场通过线圈自身的磁通量也在变化，使线圈自身产生感应电动势的现象叫</a:t>
            </a:r>
            <a:r>
              <a:rPr lang="zh-CN" altLang="en-US" sz="2800" b="0" i="0" u="none" dirty="0">
                <a:solidFill>
                  <a:srgbClr val="0000FF"/>
                </a:solidFill>
                <a:latin typeface="+mn-lt"/>
                <a:ea typeface="华文楷体" panose="02010600040101010101" pitchFamily="2" charset="-122"/>
              </a:rPr>
              <a:t>自感现象，</a:t>
            </a:r>
            <a:r>
              <a:rPr lang="zh-CN" altLang="en-US" sz="2800" b="0" i="0" u="none" dirty="0">
                <a:solidFill>
                  <a:srgbClr val="000000"/>
                </a:solidFill>
                <a:latin typeface="+mn-lt"/>
                <a:ea typeface="华文楷体" panose="02010600040101010101" pitchFamily="2" charset="-122"/>
              </a:rPr>
              <a:t>该电动势称为</a:t>
            </a:r>
            <a:r>
              <a:rPr lang="zh-CN" altLang="en-US" sz="2800" b="0" i="0" u="none" dirty="0">
                <a:solidFill>
                  <a:srgbClr val="0000FF"/>
                </a:solidFill>
                <a:latin typeface="+mn-lt"/>
                <a:ea typeface="华文楷体" panose="02010600040101010101" pitchFamily="2" charset="-122"/>
              </a:rPr>
              <a:t>自感电动势</a:t>
            </a:r>
            <a:endParaRPr lang="zh-CN" altLang="en-US" sz="2800" b="0" i="0" u="none" dirty="0">
              <a:latin typeface="+mn-lt"/>
              <a:ea typeface="华文楷体" panose="0201060004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620EA00-D697-4AED-A6B8-8E5195053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55" y="1427905"/>
            <a:ext cx="8959214" cy="278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0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8150" name="Text Box 3"/>
              <p:cNvSpPr txBox="1">
                <a:spLocks noChangeArrowheads="1"/>
              </p:cNvSpPr>
              <p:nvPr/>
            </p:nvSpPr>
            <p:spPr bwMode="auto">
              <a:xfrm>
                <a:off x="554951" y="838163"/>
                <a:ext cx="7510127" cy="16106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spcBef>
                    <a:spcPct val="50000"/>
                  </a:spcBef>
                </a:pPr>
                <a:r>
                  <a:rPr kumimoji="1" lang="zh-CN" altLang="en-US" sz="2800" b="0" i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设长直螺线管长为</a:t>
                </a:r>
                <a14:m>
                  <m:oMath xmlns:m="http://schemas.openxmlformats.org/officeDocument/2006/math">
                    <m:r>
                      <a:rPr kumimoji="1" lang="en-US" altLang="zh-CN" sz="2800" b="0" i="1" u="none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𝑙</m:t>
                    </m:r>
                  </m:oMath>
                </a14:m>
                <a:r>
                  <a:rPr kumimoji="1" lang="zh-CN" altLang="en-US" sz="2800" b="0" i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，截面半径为</a:t>
                </a:r>
                <a:r>
                  <a:rPr kumimoji="1" lang="en-US" altLang="zh-CN" sz="2800" b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R</a:t>
                </a:r>
                <a:r>
                  <a:rPr kumimoji="1" lang="zh-CN" altLang="en-US" sz="2800" b="0" i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，管上绕组的总匝数为</a:t>
                </a:r>
                <a:r>
                  <a:rPr kumimoji="1" lang="en-US" altLang="zh-CN" sz="2800" b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N</a:t>
                </a:r>
                <a:r>
                  <a:rPr kumimoji="1" lang="zh-CN" altLang="en-US" sz="2800" b="0" i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，通有电流 </a:t>
                </a:r>
                <a14:m>
                  <m:oMath xmlns:m="http://schemas.openxmlformats.org/officeDocument/2006/math">
                    <m:r>
                      <a:rPr kumimoji="1" lang="en-US" altLang="zh-CN" sz="2800" b="0" i="1" u="none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𝐼</m:t>
                    </m:r>
                  </m:oMath>
                </a14:m>
                <a:r>
                  <a:rPr kumimoji="1" lang="zh-CN" altLang="en-US" sz="2800" b="0" i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，当电流变化时试求其自感电动势         </a:t>
                </a:r>
              </a:p>
            </p:txBody>
          </p:sp>
        </mc:Choice>
        <mc:Fallback xmlns="">
          <p:sp>
            <p:nvSpPr>
              <p:cNvPr id="48150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4951" y="838163"/>
                <a:ext cx="7510127" cy="1610697"/>
              </a:xfrm>
              <a:prstGeom prst="rect">
                <a:avLst/>
              </a:prstGeom>
              <a:blipFill>
                <a:blip r:embed="rId2"/>
                <a:stretch>
                  <a:fillRect l="-1623" t="-1132" r="-162" b="-943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148" name="Rectangle 15"/>
          <p:cNvSpPr>
            <a:spLocks noChangeArrowheads="1"/>
          </p:cNvSpPr>
          <p:nvPr/>
        </p:nvSpPr>
        <p:spPr bwMode="auto">
          <a:xfrm>
            <a:off x="1306138" y="4071008"/>
            <a:ext cx="8752262" cy="576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 b="0" i="0" u="none" dirty="0">
                <a:solidFill>
                  <a:srgbClr val="000000"/>
                </a:solidFill>
                <a:latin typeface="+mn-lt"/>
                <a:ea typeface="华文楷体" panose="02010600040101010101" pitchFamily="2" charset="-122"/>
              </a:rPr>
              <a:t>当线圈中的电流发生变化时，线圈中的自感电动势为：</a:t>
            </a:r>
            <a:endParaRPr lang="zh-CN" altLang="en-US" sz="2800" b="0" u="none" dirty="0">
              <a:solidFill>
                <a:srgbClr val="00009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2712422" y="2205335"/>
                <a:ext cx="2546786" cy="8065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422" y="2205335"/>
                <a:ext cx="2546786" cy="8065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0ED21332-B8D2-479B-BBEE-48CFB53589C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7491" r="63526"/>
          <a:stretch/>
        </p:blipFill>
        <p:spPr>
          <a:xfrm>
            <a:off x="8017781" y="1000221"/>
            <a:ext cx="3773209" cy="20116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4937658-4618-410B-A87E-CF70D64F00E1}"/>
                  </a:ext>
                </a:extLst>
              </p:cNvPr>
              <p:cNvSpPr txBox="1"/>
              <p:nvPr/>
            </p:nvSpPr>
            <p:spPr>
              <a:xfrm>
                <a:off x="2018938" y="3324893"/>
                <a:ext cx="382306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𝛷</m:t>
                      </m:r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𝑁𝐵𝑆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4937658-4618-410B-A87E-CF70D64F0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938" y="3324893"/>
                <a:ext cx="3823062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D0DC187-DC95-43CC-9CCA-30CC2F5B9EF9}"/>
                  </a:ext>
                </a:extLst>
              </p:cNvPr>
              <p:cNvSpPr txBox="1"/>
              <p:nvPr/>
            </p:nvSpPr>
            <p:spPr>
              <a:xfrm>
                <a:off x="4422006" y="3050769"/>
                <a:ext cx="2646200" cy="8755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zh-C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altLang="zh-C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zh-CN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D0DC187-DC95-43CC-9CCA-30CC2F5B9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006" y="3050769"/>
                <a:ext cx="2646200" cy="8755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8A95EA0-121B-40DA-9F59-3048F1B6CE34}"/>
                  </a:ext>
                </a:extLst>
              </p:cNvPr>
              <p:cNvSpPr txBox="1"/>
              <p:nvPr/>
            </p:nvSpPr>
            <p:spPr>
              <a:xfrm>
                <a:off x="6501526" y="3324892"/>
                <a:ext cx="136318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zh-CN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8A95EA0-121B-40DA-9F59-3048F1B6C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526" y="3324892"/>
                <a:ext cx="136318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5">
                <a:extLst>
                  <a:ext uri="{FF2B5EF4-FFF2-40B4-BE49-F238E27FC236}">
                    <a16:creationId xmlns:a16="http://schemas.microsoft.com/office/drawing/2014/main" id="{58173CD1-CAC6-4707-81DA-24D2767342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030" y="5000154"/>
                <a:ext cx="3731622" cy="1074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𝐿</m:t>
                          </m:r>
                        </m:sub>
                      </m:sSub>
                      <m:r>
                        <a:rPr kumimoji="1" lang="en-US" altLang="zh-CN" sz="2800" b="0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kumimoji="1"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𝑑</m:t>
                          </m:r>
                          <m:r>
                            <a:rPr kumimoji="1" lang="zh-CN" altLang="en-US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𝛷</m:t>
                          </m:r>
                        </m:num>
                        <m:den>
                          <m:r>
                            <a:rPr kumimoji="1"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𝑑𝑡</m:t>
                          </m:r>
                        </m:den>
                      </m:f>
                      <m:r>
                        <a:rPr kumimoji="1" lang="en-US" altLang="zh-CN" sz="2800" b="0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r>
                        <a:rPr lang="en-US" altLang="zh-CN" sz="2800" b="0" i="1" u="none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altLang="zh-CN" sz="2800" b="0" u="none" dirty="0">
                  <a:solidFill>
                    <a:srgbClr val="000099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5">
                <a:extLst>
                  <a:ext uri="{FF2B5EF4-FFF2-40B4-BE49-F238E27FC236}">
                    <a16:creationId xmlns:a16="http://schemas.microsoft.com/office/drawing/2014/main" id="{58173CD1-CAC6-4707-81DA-24D2767342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4030" y="5000154"/>
                <a:ext cx="3731622" cy="107401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5">
                <a:extLst>
                  <a:ext uri="{FF2B5EF4-FFF2-40B4-BE49-F238E27FC236}">
                    <a16:creationId xmlns:a16="http://schemas.microsoft.com/office/drawing/2014/main" id="{D5BD2A57-D55F-4C03-8F9D-1D5C3A1D5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5313" y="5000154"/>
                <a:ext cx="7898672" cy="10040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6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en-US" altLang="zh-CN" sz="26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𝑑𝐼</m:t>
                          </m:r>
                        </m:num>
                        <m:den>
                          <m:r>
                            <a:rPr lang="en-US" altLang="zh-CN" sz="26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𝑑𝑡</m:t>
                          </m:r>
                        </m:den>
                      </m:f>
                      <m:r>
                        <a:rPr lang="en-US" altLang="zh-CN" sz="2600" b="0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&gt;</m:t>
                      </m:r>
                      <m:r>
                        <a:rPr lang="en-US" altLang="zh-CN" sz="2600" b="0" i="1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0</m:t>
                      </m:r>
                      <m:r>
                        <a:rPr lang="en-US" altLang="zh-CN" sz="2600" b="0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→</m:t>
                      </m:r>
                      <m:sSub>
                        <m:sSubPr>
                          <m:ctrlPr>
                            <a:rPr kumimoji="1" lang="en-US" altLang="zh-CN" sz="26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1" lang="zh-CN" altLang="en-US" sz="26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sz="26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𝐿</m:t>
                          </m:r>
                        </m:sub>
                      </m:sSub>
                      <m:r>
                        <a:rPr kumimoji="1" lang="en-US" altLang="zh-CN" sz="2600" b="0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&lt;</m:t>
                      </m:r>
                      <m:r>
                        <a:rPr kumimoji="1" lang="en-US" altLang="zh-CN" sz="2600" b="0" i="1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0</m:t>
                      </m:r>
                      <m:r>
                        <a:rPr kumimoji="1" lang="en-US" altLang="zh-CN" sz="2600" b="0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, </m:t>
                      </m:r>
                      <m:r>
                        <a:rPr kumimoji="1" lang="zh-CN" altLang="en-US" sz="2600" b="0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与电流方向相反；</m:t>
                      </m:r>
                      <m:r>
                        <a:rPr kumimoji="1" lang="en-US" altLang="zh-CN" sz="2600" b="0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 </m:t>
                      </m:r>
                      <m:r>
                        <a:rPr kumimoji="1" lang="zh-CN" altLang="en-US" sz="2600" b="0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反之，相同</m:t>
                      </m:r>
                      <m:r>
                        <a:rPr kumimoji="1" lang="en-US" altLang="zh-CN" sz="2600" b="0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 </m:t>
                      </m:r>
                    </m:oMath>
                  </m:oMathPara>
                </a14:m>
                <a:endParaRPr lang="zh-CN" altLang="en-US" sz="2600" b="0" u="none" dirty="0">
                  <a:solidFill>
                    <a:srgbClr val="000099"/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Rectangle 15">
                <a:extLst>
                  <a:ext uri="{FF2B5EF4-FFF2-40B4-BE49-F238E27FC236}">
                    <a16:creationId xmlns:a16="http://schemas.microsoft.com/office/drawing/2014/main" id="{D5BD2A57-D55F-4C03-8F9D-1D5C3A1D52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25313" y="5000154"/>
                <a:ext cx="7898672" cy="100405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80198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48" grpId="0"/>
      <p:bldP spid="3" grpId="0"/>
      <p:bldP spid="7" grpId="0"/>
      <p:bldP spid="8" grpId="0"/>
      <p:bldP spid="10" grpId="0"/>
      <p:bldP spid="11" grpId="0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8150" name="Text Box 3"/>
              <p:cNvSpPr txBox="1">
                <a:spLocks noChangeArrowheads="1"/>
              </p:cNvSpPr>
              <p:nvPr/>
            </p:nvSpPr>
            <p:spPr bwMode="auto">
              <a:xfrm>
                <a:off x="554951" y="838163"/>
                <a:ext cx="7510127" cy="16106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spcBef>
                    <a:spcPct val="50000"/>
                  </a:spcBef>
                </a:pPr>
                <a:r>
                  <a:rPr kumimoji="1" lang="zh-CN" altLang="en-US" sz="2800" b="0" i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设长直螺线管长为</a:t>
                </a:r>
                <a14:m>
                  <m:oMath xmlns:m="http://schemas.openxmlformats.org/officeDocument/2006/math">
                    <m:r>
                      <a:rPr kumimoji="1" lang="en-US" altLang="zh-CN" sz="2800" b="0" i="1" u="none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𝑙</m:t>
                    </m:r>
                  </m:oMath>
                </a14:m>
                <a:r>
                  <a:rPr kumimoji="1" lang="zh-CN" altLang="en-US" sz="2800" b="0" i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，截面半径为</a:t>
                </a:r>
                <a:r>
                  <a:rPr kumimoji="1" lang="en-US" altLang="zh-CN" sz="2800" b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R</a:t>
                </a:r>
                <a:r>
                  <a:rPr kumimoji="1" lang="zh-CN" altLang="en-US" sz="2800" b="0" i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，管上绕组的总匝数为</a:t>
                </a:r>
                <a:r>
                  <a:rPr kumimoji="1" lang="en-US" altLang="zh-CN" sz="2800" b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N</a:t>
                </a:r>
                <a:r>
                  <a:rPr kumimoji="1" lang="zh-CN" altLang="en-US" sz="2800" b="0" i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，通有电流 </a:t>
                </a:r>
                <a14:m>
                  <m:oMath xmlns:m="http://schemas.openxmlformats.org/officeDocument/2006/math">
                    <m:r>
                      <a:rPr kumimoji="1" lang="en-US" altLang="zh-CN" sz="2800" b="0" i="1" u="none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𝐼</m:t>
                    </m:r>
                  </m:oMath>
                </a14:m>
                <a:r>
                  <a:rPr kumimoji="1" lang="zh-CN" altLang="en-US" sz="2800" b="0" i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，当电流变化时试求其自感电动势         </a:t>
                </a:r>
              </a:p>
            </p:txBody>
          </p:sp>
        </mc:Choice>
        <mc:Fallback xmlns="">
          <p:sp>
            <p:nvSpPr>
              <p:cNvPr id="48150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4951" y="838163"/>
                <a:ext cx="7510127" cy="1610697"/>
              </a:xfrm>
              <a:prstGeom prst="rect">
                <a:avLst/>
              </a:prstGeom>
              <a:blipFill>
                <a:blip r:embed="rId2"/>
                <a:stretch>
                  <a:fillRect l="-1623" t="-1132" r="-162" b="-943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0ED21332-B8D2-479B-BBEE-48CFB53589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7491" r="63526"/>
          <a:stretch/>
        </p:blipFill>
        <p:spPr>
          <a:xfrm>
            <a:off x="8017781" y="1000221"/>
            <a:ext cx="3773209" cy="20116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312954D7-FFE1-460E-B35D-80FEE7BB6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010" y="2532077"/>
                <a:ext cx="3731622" cy="1074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𝐿</m:t>
                          </m:r>
                        </m:sub>
                      </m:sSub>
                      <m:r>
                        <a:rPr kumimoji="1" lang="en-US" altLang="zh-CN" sz="2800" b="0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r>
                        <a:rPr lang="en-US" altLang="zh-CN" sz="2800" b="0" i="1" u="none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altLang="zh-CN" sz="2800" b="0" u="none" dirty="0">
                  <a:solidFill>
                    <a:srgbClr val="000099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312954D7-FFE1-460E-B35D-80FEE7BB6E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1010" y="2532077"/>
                <a:ext cx="3731622" cy="10740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70DA022-7D32-45EE-A64F-652EEA49E54B}"/>
                  </a:ext>
                </a:extLst>
              </p:cNvPr>
              <p:cNvSpPr/>
              <p:nvPr/>
            </p:nvSpPr>
            <p:spPr>
              <a:xfrm>
                <a:off x="815121" y="3918458"/>
                <a:ext cx="2381678" cy="9569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70DA022-7D32-45EE-A64F-652EEA49E5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121" y="3918458"/>
                <a:ext cx="2381678" cy="9569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EBC104F-91DA-4DE3-AEA5-F4E7AF8081A9}"/>
                  </a:ext>
                </a:extLst>
              </p:cNvPr>
              <p:cNvSpPr/>
              <p:nvPr/>
            </p:nvSpPr>
            <p:spPr>
              <a:xfrm>
                <a:off x="1179771" y="4815569"/>
                <a:ext cx="2666627" cy="9569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EBC104F-91DA-4DE3-AEA5-F4E7AF8081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771" y="4815569"/>
                <a:ext cx="2666627" cy="9569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54787B48-3CF4-4AEF-B817-A5A02E8D2268}"/>
                  </a:ext>
                </a:extLst>
              </p:cNvPr>
              <p:cNvSpPr/>
              <p:nvPr/>
            </p:nvSpPr>
            <p:spPr>
              <a:xfrm>
                <a:off x="1179771" y="6047832"/>
                <a:ext cx="162217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54787B48-3CF4-4AEF-B817-A5A02E8D22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771" y="6047832"/>
                <a:ext cx="162217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4">
                <a:extLst>
                  <a:ext uri="{FF2B5EF4-FFF2-40B4-BE49-F238E27FC236}">
                    <a16:creationId xmlns:a16="http://schemas.microsoft.com/office/drawing/2014/main" id="{FA0ED58F-D77E-4002-BFB7-EF939A5E2D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2730" y="3218503"/>
                <a:ext cx="7059707" cy="26776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r>
                      <a:rPr kumimoji="1" lang="en-US" altLang="zh-CN" sz="2800" b="0" i="1" u="none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kumimoji="1" lang="zh-CN" altLang="en-US" sz="2800" b="0" i="0" u="none" dirty="0">
                    <a:solidFill>
                      <a:schemeClr val="tx1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</a:rPr>
                  <a:t>：回路的自感系数，简称自感。</a:t>
                </a:r>
                <a:endParaRPr kumimoji="1" lang="en-US" altLang="zh-CN" sz="2800" b="0" i="0" u="none" dirty="0">
                  <a:solidFill>
                    <a:schemeClr val="tx1"/>
                  </a:solidFill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  <a:p>
                <a:pPr eaLnBrk="1" hangingPunct="1"/>
                <a:endParaRPr kumimoji="1" lang="en-US" altLang="zh-CN" sz="2800" b="0" i="0" u="none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 eaLnBrk="1" hangingPunct="1">
                  <a:buFontTx/>
                  <a:buChar char="-"/>
                </a:pPr>
                <a:r>
                  <a:rPr kumimoji="1" lang="zh-CN" altLang="en-US" sz="2800" b="0" i="0" u="none" dirty="0">
                    <a:solidFill>
                      <a:schemeClr val="tx1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</a:rPr>
                  <a:t>由回路的大小、形状、匝数以及周围磁介质的性质决定</a:t>
                </a:r>
                <a:endParaRPr kumimoji="1" lang="en-US" altLang="zh-CN" sz="2800" b="0" i="0" u="none" dirty="0">
                  <a:solidFill>
                    <a:schemeClr val="tx1"/>
                  </a:solidFill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  <a:p>
                <a:pPr eaLnBrk="1" hangingPunct="1"/>
                <a:r>
                  <a:rPr kumimoji="1" lang="en-US" altLang="zh-CN" sz="2800" b="0" i="0" u="none" dirty="0">
                    <a:solidFill>
                      <a:schemeClr val="tx1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</a:rPr>
                  <a:t>-     </a:t>
                </a:r>
                <a:r>
                  <a:rPr kumimoji="1" lang="zh-CN" altLang="en-US" sz="2800" b="0" i="0" u="none" dirty="0">
                    <a:solidFill>
                      <a:schemeClr val="tx1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</a:rPr>
                  <a:t>体现回路产生自感电动势来反抗电流改  </a:t>
                </a:r>
                <a:br>
                  <a:rPr kumimoji="1" lang="en-US" altLang="zh-CN" sz="2800" b="0" i="0" u="none" dirty="0">
                    <a:solidFill>
                      <a:schemeClr val="tx1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</a:rPr>
                </a:br>
                <a:r>
                  <a:rPr kumimoji="1" lang="en-US" altLang="zh-CN" sz="2800" b="0" i="0" u="none" dirty="0">
                    <a:solidFill>
                      <a:schemeClr val="tx1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</a:rPr>
                  <a:t>      </a:t>
                </a:r>
                <a:r>
                  <a:rPr kumimoji="1" lang="zh-CN" altLang="en-US" sz="2800" b="0" i="0" u="none" dirty="0">
                    <a:solidFill>
                      <a:schemeClr val="tx1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</a:rPr>
                  <a:t>变的能力，</a:t>
                </a:r>
                <a:r>
                  <a:rPr lang="zh-CN" altLang="en-US" sz="2800" b="0" i="0" u="none" dirty="0">
                    <a:solidFill>
                      <a:schemeClr val="tx1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</a:rPr>
                  <a:t>表征回路电磁惯性的大小</a:t>
                </a:r>
                <a:endParaRPr kumimoji="1" lang="zh-CN" altLang="en-US" sz="2800" b="0" i="0" u="none" dirty="0">
                  <a:solidFill>
                    <a:schemeClr val="tx1"/>
                  </a:solidFill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7" name="Rectangle 4">
                <a:extLst>
                  <a:ext uri="{FF2B5EF4-FFF2-40B4-BE49-F238E27FC236}">
                    <a16:creationId xmlns:a16="http://schemas.microsoft.com/office/drawing/2014/main" id="{FA0ED58F-D77E-4002-BFB7-EF939A5E2D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2730" y="3218503"/>
                <a:ext cx="7059707" cy="2677656"/>
              </a:xfrm>
              <a:prstGeom prst="rect">
                <a:avLst/>
              </a:prstGeom>
              <a:blipFill>
                <a:blip r:embed="rId8"/>
                <a:stretch>
                  <a:fillRect l="-1813" t="-2506" r="-1036" b="-54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88055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59462" name="Rectangle 6"/>
              <p:cNvSpPr>
                <a:spLocks noChangeArrowheads="1"/>
              </p:cNvSpPr>
              <p:nvPr/>
            </p:nvSpPr>
            <p:spPr bwMode="auto">
              <a:xfrm>
                <a:off x="667399" y="1369897"/>
                <a:ext cx="5428601" cy="319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kumimoji="1" lang="zh-CN" altLang="en-US" sz="2800" b="0" i="0" u="none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对于一个任意形状的回路</a:t>
                </a:r>
                <a:r>
                  <a:rPr kumimoji="1" lang="en-US" altLang="zh-CN" sz="2800" b="0" i="0" u="none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:</a:t>
                </a:r>
              </a:p>
              <a:p>
                <a:pPr eaLnBrk="1" hangingPunct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𝐿</m:t>
                          </m:r>
                        </m:sub>
                      </m:sSub>
                      <m:r>
                        <a:rPr kumimoji="1" lang="en-US" altLang="zh-CN" sz="2800" b="0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=−</m:t>
                      </m:r>
                      <m:f>
                        <m:fPr>
                          <m:ctrlPr>
                            <a:rPr kumimoji="1"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</m:t>
                          </m:r>
                          <m:sSub>
                            <m:sSubPr>
                              <m:ctrlPr>
                                <a:rPr kumimoji="1" lang="en-US" altLang="zh-CN" sz="2800" b="0" i="1" u="none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b="0" i="1" u="none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𝛷</m:t>
                              </m:r>
                            </m:e>
                            <m:sub>
                              <m:r>
                                <a:rPr kumimoji="1" lang="en-US" altLang="zh-CN" sz="2800" b="0" i="1" u="none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𝑁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𝑑𝑡</m:t>
                          </m:r>
                        </m:den>
                      </m:f>
                      <m:r>
                        <a:rPr kumimoji="1" lang="en-US" altLang="zh-CN" sz="2800" b="0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=−</m:t>
                      </m:r>
                      <m:f>
                        <m:fPr>
                          <m:ctrlPr>
                            <a:rPr kumimoji="1" lang="en-US" altLang="zh-CN" sz="2800" b="0" i="1" u="none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 u="none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</m:t>
                          </m:r>
                          <m:sSub>
                            <m:sSubPr>
                              <m:ctrlPr>
                                <a:rPr kumimoji="1" lang="en-US" altLang="zh-CN" sz="2800" b="0" i="1" u="none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b="0" i="1" u="none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𝛷</m:t>
                              </m:r>
                            </m:e>
                            <m:sub>
                              <m:r>
                                <a:rPr kumimoji="1" lang="en-US" altLang="zh-CN" sz="2800" b="0" i="1" u="none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𝑁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800" b="0" i="1" u="none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𝑑𝐼</m:t>
                          </m:r>
                        </m:den>
                      </m:f>
                      <m:f>
                        <m:fPr>
                          <m:ctrlPr>
                            <a:rPr kumimoji="1"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𝑑𝐼</m:t>
                          </m:r>
                        </m:num>
                        <m:den>
                          <m:r>
                            <a:rPr kumimoji="1"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𝑑𝑡</m:t>
                          </m:r>
                        </m:den>
                      </m:f>
                      <m:r>
                        <a:rPr kumimoji="1" lang="en-US" altLang="zh-CN" sz="2800" b="0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=−</m:t>
                      </m:r>
                      <m:r>
                        <a:rPr kumimoji="1" lang="en-US" altLang="zh-CN" sz="2800" b="0" i="1" u="none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𝐿</m:t>
                      </m:r>
                      <m:f>
                        <m:fPr>
                          <m:ctrlPr>
                            <a:rPr kumimoji="1"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𝑑𝐼</m:t>
                          </m:r>
                        </m:num>
                        <m:den>
                          <m:r>
                            <a:rPr kumimoji="1"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kumimoji="1" lang="en-US" altLang="zh-CN" sz="2800" b="0" i="0" u="none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1" hangingPunct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u="none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𝐿</m:t>
                      </m:r>
                      <m:r>
                        <a:rPr kumimoji="1" lang="en-US" altLang="zh-CN" sz="2800" b="0" i="1" u="none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u="none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 u="none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</m:t>
                          </m:r>
                          <m:sSub>
                            <m:sSubPr>
                              <m:ctrlPr>
                                <a:rPr kumimoji="1" lang="en-US" altLang="zh-CN" sz="2800" b="0" i="1" u="none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b="0" i="1" u="none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𝛷</m:t>
                              </m:r>
                            </m:e>
                            <m:sub>
                              <m:r>
                                <a:rPr kumimoji="1" lang="en-US" altLang="zh-CN" sz="2800" b="0" i="1" u="none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𝑁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800" b="0" i="1" u="none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𝑑𝐼</m:t>
                          </m:r>
                        </m:den>
                      </m:f>
                    </m:oMath>
                  </m:oMathPara>
                </a14:m>
                <a:endParaRPr kumimoji="1" lang="zh-CN" altLang="en-US" sz="2800" b="0" i="0" u="none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59462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7399" y="1369897"/>
                <a:ext cx="5428601" cy="3193888"/>
              </a:xfrm>
              <a:prstGeom prst="rect">
                <a:avLst/>
              </a:prstGeom>
              <a:blipFill>
                <a:blip r:embed="rId2"/>
                <a:stretch>
                  <a:fillRect l="-224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607279" y="5076816"/>
            <a:ext cx="5909135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0" i="0" u="none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自感系数：</a:t>
            </a:r>
            <a:r>
              <a:rPr kumimoji="1" lang="zh-CN" altLang="en-US" sz="2800" b="0" i="0" u="none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等于回路中的电流变化为单位值时，在回路本身所围面积内引起磁链数的改变值。</a:t>
            </a:r>
          </a:p>
        </p:txBody>
      </p:sp>
      <p:sp>
        <p:nvSpPr>
          <p:cNvPr id="4" name="Text Box 9">
            <a:extLst>
              <a:ext uri="{FF2B5EF4-FFF2-40B4-BE49-F238E27FC236}">
                <a16:creationId xmlns:a16="http://schemas.microsoft.com/office/drawing/2014/main" id="{CFD4A2D2-B73B-4024-8373-C8D492938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31" y="547209"/>
            <a:ext cx="2778477" cy="52322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2800" i="0" u="none" dirty="0">
                <a:solidFill>
                  <a:srgbClr val="0066FF"/>
                </a:solidFill>
                <a:latin typeface="+mn-lt"/>
                <a:ea typeface="华文楷体" panose="02010600040101010101" pitchFamily="2" charset="-122"/>
              </a:rPr>
              <a:t>自感系数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2">
                <a:extLst>
                  <a:ext uri="{FF2B5EF4-FFF2-40B4-BE49-F238E27FC236}">
                    <a16:creationId xmlns:a16="http://schemas.microsoft.com/office/drawing/2014/main" id="{DB71D7D1-029C-41EB-850F-B1078459117C}"/>
                  </a:ext>
                </a:extLst>
              </p:cNvPr>
              <p:cNvSpPr txBox="1"/>
              <p:nvPr/>
            </p:nvSpPr>
            <p:spPr bwMode="auto">
              <a:xfrm>
                <a:off x="8937625" y="6054725"/>
                <a:ext cx="3098800" cy="5810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6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sz="26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m:rPr>
                          <m:nor/>
                        </m:rPr>
                        <a:rPr lang="en-US" sz="26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sSup>
                        <m:sSup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sz="2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6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mH</m:t>
                      </m:r>
                      <m:r>
                        <m:rPr>
                          <m:nor/>
                        </m:rPr>
                        <a:rPr lang="en-US" sz="26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sSup>
                        <m:sSup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sz="2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6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μH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5" name="Object 2">
                <a:extLst>
                  <a:ext uri="{FF2B5EF4-FFF2-40B4-BE49-F238E27FC236}">
                    <a16:creationId xmlns:a16="http://schemas.microsoft.com/office/drawing/2014/main" id="{DB71D7D1-029C-41EB-850F-B10784591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37625" y="6054725"/>
                <a:ext cx="3098800" cy="5810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3">
            <a:extLst>
              <a:ext uri="{FF2B5EF4-FFF2-40B4-BE49-F238E27FC236}">
                <a16:creationId xmlns:a16="http://schemas.microsoft.com/office/drawing/2014/main" id="{0D8BE7F7-2F14-4F11-B168-B7999A5CA86D}"/>
              </a:ext>
            </a:extLst>
          </p:cNvPr>
          <p:cNvGrpSpPr>
            <a:grpSpLocks/>
          </p:cNvGrpSpPr>
          <p:nvPr/>
        </p:nvGrpSpPr>
        <p:grpSpPr bwMode="auto">
          <a:xfrm>
            <a:off x="7753838" y="5392445"/>
            <a:ext cx="2832100" cy="519113"/>
            <a:chOff x="768" y="2208"/>
            <a:chExt cx="1606" cy="3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bject 6">
                  <a:extLst>
                    <a:ext uri="{FF2B5EF4-FFF2-40B4-BE49-F238E27FC236}">
                      <a16:creationId xmlns:a16="http://schemas.microsoft.com/office/drawing/2014/main" id="{6F714714-DB5D-4F52-8283-E2C590B4F6CF}"/>
                    </a:ext>
                  </a:extLst>
                </p:cNvPr>
                <p:cNvSpPr txBox="1"/>
                <p:nvPr/>
              </p:nvSpPr>
              <p:spPr bwMode="auto">
                <a:xfrm>
                  <a:off x="2031" y="2257"/>
                  <a:ext cx="343" cy="274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" name="Object 6">
                  <a:extLst>
                    <a:ext uri="{FF2B5EF4-FFF2-40B4-BE49-F238E27FC236}">
                      <a16:creationId xmlns:a16="http://schemas.microsoft.com/office/drawing/2014/main" id="{6F714714-DB5D-4F52-8283-E2C590B4F6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31" y="2257"/>
                  <a:ext cx="343" cy="274"/>
                </a:xfrm>
                <a:prstGeom prst="rect">
                  <a:avLst/>
                </a:prstGeom>
                <a:blipFill>
                  <a:blip r:embed="rId4"/>
                  <a:stretch>
                    <a:fillRect l="-3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2B28A127-9571-4C70-9602-00664F872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208"/>
              <a:ext cx="1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 b="0" i="0" u="none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单位：亨利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3">
                <a:extLst>
                  <a:ext uri="{FF2B5EF4-FFF2-40B4-BE49-F238E27FC236}">
                    <a16:creationId xmlns:a16="http://schemas.microsoft.com/office/drawing/2014/main" id="{E5BDEB5E-F2DD-4EE2-8EAF-30D8DBF5987C}"/>
                  </a:ext>
                </a:extLst>
              </p:cNvPr>
              <p:cNvSpPr txBox="1"/>
              <p:nvPr/>
            </p:nvSpPr>
            <p:spPr bwMode="auto">
              <a:xfrm>
                <a:off x="6556375" y="6035675"/>
                <a:ext cx="2300288" cy="5492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6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sz="26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m:rPr>
                          <m:nor/>
                        </m:rPr>
                        <a:rPr lang="en-US" sz="26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m:rPr>
                          <m:nor/>
                        </m:rPr>
                        <a:rPr lang="en-US" sz="26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Wb</m:t>
                      </m:r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a:rPr lang="en-US" sz="2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9" name="Object 3">
                <a:extLst>
                  <a:ext uri="{FF2B5EF4-FFF2-40B4-BE49-F238E27FC236}">
                    <a16:creationId xmlns:a16="http://schemas.microsoft.com/office/drawing/2014/main" id="{E5BDEB5E-F2DD-4EE2-8EAF-30D8DBF59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5" y="6035675"/>
                <a:ext cx="2300288" cy="5492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6D0392AF-BC6D-4C4C-822B-F0EF97BA12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95557" y="2067199"/>
                <a:ext cx="2548662" cy="12980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u="non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𝐿</m:t>
                      </m:r>
                      <m:r>
                        <a:rPr kumimoji="1" lang="en-US" altLang="zh-CN" sz="2800" b="0" u="non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𝛷</m:t>
                              </m:r>
                            </m:e>
                            <m:sub>
                              <m:r>
                                <a:rPr kumimoji="1" lang="en-US" altLang="zh-CN" sz="28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𝑁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𝐼</m:t>
                          </m:r>
                        </m:den>
                      </m:f>
                    </m:oMath>
                  </m:oMathPara>
                </a14:m>
                <a:endParaRPr kumimoji="1" lang="zh-CN" altLang="en-US" sz="2800" b="0" i="0" u="none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6D0392AF-BC6D-4C4C-822B-F0EF97BA12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95557" y="2067199"/>
                <a:ext cx="2548662" cy="12980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C282A0D-0207-4313-9C06-F7F71EC582BC}"/>
                  </a:ext>
                </a:extLst>
              </p:cNvPr>
              <p:cNvSpPr txBox="1"/>
              <p:nvPr/>
            </p:nvSpPr>
            <p:spPr>
              <a:xfrm>
                <a:off x="6254907" y="4176296"/>
                <a:ext cx="382306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2800" dirty="0"/>
                  <a:t>真空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螺线管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zh-CN" alt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𝛷</m:t>
                    </m:r>
                    <m:r>
                      <a:rPr lang="en-US" altLang="zh-CN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𝑁𝐵𝑆</m:t>
                    </m:r>
                  </m:oMath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C282A0D-0207-4313-9C06-F7F71EC58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907" y="4176296"/>
                <a:ext cx="3823062" cy="430887"/>
              </a:xfrm>
              <a:prstGeom prst="rect">
                <a:avLst/>
              </a:prstGeom>
              <a:blipFill>
                <a:blip r:embed="rId7"/>
                <a:stretch>
                  <a:fillRect l="-5582" t="-25352" b="-49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47D16C6-FA61-4459-B52C-1C004AE35C12}"/>
                  </a:ext>
                </a:extLst>
              </p:cNvPr>
              <p:cNvSpPr txBox="1"/>
              <p:nvPr/>
            </p:nvSpPr>
            <p:spPr>
              <a:xfrm>
                <a:off x="9337914" y="3902172"/>
                <a:ext cx="2646200" cy="8755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zh-C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altLang="zh-C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zh-CN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47D16C6-FA61-4459-B52C-1C004AE35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7914" y="3902172"/>
                <a:ext cx="2646200" cy="8755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B045FF2C-64E4-48F9-80A4-649966F51C44}"/>
              </a:ext>
            </a:extLst>
          </p:cNvPr>
          <p:cNvSpPr txBox="1"/>
          <p:nvPr/>
        </p:nvSpPr>
        <p:spPr>
          <a:xfrm>
            <a:off x="6354640" y="946442"/>
            <a:ext cx="6096000" cy="12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kumimoji="1" lang="zh-CN" altLang="en-US" sz="2600" b="0" i="0" u="none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若回路的几何形状保持不变，而且在它的周围空间没有铁磁性物质：</a:t>
            </a:r>
            <a:endParaRPr kumimoji="1" lang="en-US" altLang="zh-CN" sz="2600" b="0" i="0" u="none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23130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9462" grpId="0" build="p" autoUpdateAnimBg="0"/>
      <p:bldP spid="12" grpId="0" build="p" autoUpdateAnimBg="0"/>
      <p:bldP spid="5" grpId="0"/>
      <p:bldP spid="9" grpId="0"/>
      <p:bldP spid="10" grpId="0" build="p" autoUpdateAnimBg="0"/>
      <p:bldP spid="15" grpId="0"/>
      <p:bldP spid="16" grpId="0"/>
      <p:bldP spid="1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96" name="Group 1026"/>
          <p:cNvGrpSpPr>
            <a:grpSpLocks/>
          </p:cNvGrpSpPr>
          <p:nvPr/>
        </p:nvGrpSpPr>
        <p:grpSpPr bwMode="auto">
          <a:xfrm>
            <a:off x="9224131" y="1380184"/>
            <a:ext cx="1281113" cy="3886200"/>
            <a:chOff x="3957" y="1440"/>
            <a:chExt cx="807" cy="2448"/>
          </a:xfrm>
        </p:grpSpPr>
        <p:sp>
          <p:nvSpPr>
            <p:cNvPr id="54326" name="AutoShape 1027"/>
            <p:cNvSpPr>
              <a:spLocks noChangeArrowheads="1"/>
            </p:cNvSpPr>
            <p:nvPr/>
          </p:nvSpPr>
          <p:spPr bwMode="auto">
            <a:xfrm>
              <a:off x="3957" y="1801"/>
              <a:ext cx="807" cy="1655"/>
            </a:xfrm>
            <a:prstGeom prst="can">
              <a:avLst>
                <a:gd name="adj" fmla="val 38310"/>
              </a:avLst>
            </a:prstGeom>
            <a:gradFill rotWithShape="0">
              <a:gsLst>
                <a:gs pos="0">
                  <a:srgbClr val="B6BDC2"/>
                </a:gs>
                <a:gs pos="50000">
                  <a:srgbClr val="EFF9FF"/>
                </a:gs>
                <a:gs pos="100000">
                  <a:srgbClr val="B6BDC2"/>
                </a:gs>
              </a:gsLst>
              <a:lin ang="0" scaled="1"/>
            </a:gradFill>
            <a:ln w="9525">
              <a:solidFill>
                <a:srgbClr val="0066FF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 i="0" u="none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327" name="Line 1028"/>
            <p:cNvSpPr>
              <a:spLocks noChangeShapeType="1"/>
            </p:cNvSpPr>
            <p:nvPr/>
          </p:nvSpPr>
          <p:spPr bwMode="auto">
            <a:xfrm>
              <a:off x="4368" y="1440"/>
              <a:ext cx="2" cy="244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Dot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94" name="Object 22"/>
                <p:cNvSpPr txBox="1"/>
                <p:nvPr/>
              </p:nvSpPr>
              <p:spPr bwMode="auto">
                <a:xfrm>
                  <a:off x="4072" y="1692"/>
                  <a:ext cx="291" cy="295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4294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72" y="1692"/>
                  <a:ext cx="291" cy="29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95" name="Object 23"/>
                <p:cNvSpPr txBox="1"/>
                <p:nvPr/>
              </p:nvSpPr>
              <p:spPr bwMode="auto">
                <a:xfrm>
                  <a:off x="3979" y="2251"/>
                  <a:ext cx="218" cy="221"/>
                </a:xfrm>
                <a:prstGeom prst="rect">
                  <a:avLst/>
                </a:prstGeom>
                <a:noFill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4295" name="Object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79" y="2251"/>
                  <a:ext cx="218" cy="22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328" name="Line 1031"/>
            <p:cNvSpPr>
              <a:spLocks noChangeShapeType="1"/>
            </p:cNvSpPr>
            <p:nvPr/>
          </p:nvSpPr>
          <p:spPr bwMode="auto">
            <a:xfrm rot="10788159">
              <a:off x="3968" y="2316"/>
              <a:ext cx="0" cy="4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329" name="Line 1032"/>
            <p:cNvSpPr>
              <a:spLocks noChangeShapeType="1"/>
            </p:cNvSpPr>
            <p:nvPr/>
          </p:nvSpPr>
          <p:spPr bwMode="auto">
            <a:xfrm flipH="1">
              <a:off x="3957" y="1968"/>
              <a:ext cx="413" cy="0"/>
            </a:xfrm>
            <a:prstGeom prst="line">
              <a:avLst/>
            </a:prstGeom>
            <a:noFill/>
            <a:ln w="19050">
              <a:solidFill>
                <a:srgbClr val="FF9933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325" name="Text Box 1035"/>
              <p:cNvSpPr txBox="1">
                <a:spLocks noChangeArrowheads="1"/>
              </p:cNvSpPr>
              <p:nvPr/>
            </p:nvSpPr>
            <p:spPr bwMode="auto">
              <a:xfrm>
                <a:off x="1163535" y="261868"/>
                <a:ext cx="10731479" cy="1093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spcBef>
                    <a:spcPct val="50000"/>
                  </a:spcBef>
                </a:pPr>
                <a:r>
                  <a:rPr lang="zh-CN" altLang="en-US" sz="2800" b="0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例：</a:t>
                </a:r>
                <a:r>
                  <a:rPr lang="zh-CN" altLang="en-US" sz="2800" b="0" i="0" u="none" dirty="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</a:rPr>
                  <a:t>设有两个共轴长圆筒，半径分别为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800" b="0" i="0" u="none" dirty="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800" b="0" i="0" u="none" dirty="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</a:rPr>
                  <a:t>。电流由内筒的一端流入，由外筒的另一端流回，求其单位长度的自感</a:t>
                </a:r>
                <a:endParaRPr lang="en-US" altLang="zh-CN" sz="2800" b="0" i="0" u="none" dirty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4325" name="Text Box 10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63535" y="261868"/>
                <a:ext cx="10731479" cy="1093633"/>
              </a:xfrm>
              <a:prstGeom prst="rect">
                <a:avLst/>
              </a:prstGeom>
              <a:blipFill>
                <a:blip r:embed="rId4"/>
                <a:stretch>
                  <a:fillRect l="-1193" t="-1117" b="-1508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302" name="Group 1060"/>
          <p:cNvGrpSpPr>
            <a:grpSpLocks/>
          </p:cNvGrpSpPr>
          <p:nvPr/>
        </p:nvGrpSpPr>
        <p:grpSpPr bwMode="auto">
          <a:xfrm>
            <a:off x="8508167" y="1704034"/>
            <a:ext cx="2884488" cy="3741738"/>
            <a:chOff x="3506" y="1644"/>
            <a:chExt cx="1817" cy="2357"/>
          </a:xfrm>
        </p:grpSpPr>
        <p:sp>
          <p:nvSpPr>
            <p:cNvPr id="54309" name="Line 1061"/>
            <p:cNvSpPr>
              <a:spLocks noChangeShapeType="1"/>
            </p:cNvSpPr>
            <p:nvPr/>
          </p:nvSpPr>
          <p:spPr bwMode="auto">
            <a:xfrm rot="10789799">
              <a:off x="3727" y="3743"/>
              <a:ext cx="646" cy="1"/>
            </a:xfrm>
            <a:prstGeom prst="line">
              <a:avLst/>
            </a:prstGeom>
            <a:noFill/>
            <a:ln w="19050">
              <a:solidFill>
                <a:srgbClr val="FF9933"/>
              </a:solidFill>
              <a:prstDash val="dash"/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77" name="Object 5"/>
                <p:cNvSpPr txBox="1"/>
                <p:nvPr/>
              </p:nvSpPr>
              <p:spPr bwMode="auto">
                <a:xfrm>
                  <a:off x="3929" y="3703"/>
                  <a:ext cx="297" cy="298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4277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29" y="3703"/>
                  <a:ext cx="297" cy="29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310" name="Line 1063"/>
            <p:cNvSpPr>
              <a:spLocks noChangeShapeType="1"/>
            </p:cNvSpPr>
            <p:nvPr/>
          </p:nvSpPr>
          <p:spPr bwMode="auto">
            <a:xfrm>
              <a:off x="5039" y="1963"/>
              <a:ext cx="183" cy="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311" name="Line 1064"/>
            <p:cNvSpPr>
              <a:spLocks noChangeShapeType="1"/>
            </p:cNvSpPr>
            <p:nvPr/>
          </p:nvSpPr>
          <p:spPr bwMode="auto">
            <a:xfrm flipV="1">
              <a:off x="5039" y="3310"/>
              <a:ext cx="201" cy="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312" name="Line 1065"/>
            <p:cNvSpPr>
              <a:spLocks noChangeShapeType="1"/>
            </p:cNvSpPr>
            <p:nvPr/>
          </p:nvSpPr>
          <p:spPr bwMode="auto">
            <a:xfrm>
              <a:off x="5168" y="1963"/>
              <a:ext cx="0" cy="1354"/>
            </a:xfrm>
            <a:prstGeom prst="line">
              <a:avLst/>
            </a:prstGeom>
            <a:noFill/>
            <a:ln w="19050">
              <a:solidFill>
                <a:srgbClr val="FF9933"/>
              </a:solidFill>
              <a:prstDash val="dash"/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78" name="Object 6"/>
                <p:cNvSpPr txBox="1"/>
                <p:nvPr/>
              </p:nvSpPr>
              <p:spPr bwMode="auto">
                <a:xfrm>
                  <a:off x="5131" y="2536"/>
                  <a:ext cx="192" cy="283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4278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31" y="2536"/>
                  <a:ext cx="192" cy="28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79" name="Object 7"/>
                <p:cNvSpPr txBox="1"/>
                <p:nvPr/>
              </p:nvSpPr>
              <p:spPr bwMode="auto">
                <a:xfrm>
                  <a:off x="3506" y="2426"/>
                  <a:ext cx="201" cy="204"/>
                </a:xfrm>
                <a:prstGeom prst="rect">
                  <a:avLst/>
                </a:prstGeom>
                <a:noFill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4279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06" y="2426"/>
                  <a:ext cx="201" cy="20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4315" name="Group 1070"/>
            <p:cNvGrpSpPr>
              <a:grpSpLocks/>
            </p:cNvGrpSpPr>
            <p:nvPr/>
          </p:nvGrpSpPr>
          <p:grpSpPr bwMode="auto">
            <a:xfrm>
              <a:off x="3792" y="2448"/>
              <a:ext cx="1152" cy="384"/>
              <a:chOff x="3792" y="2448"/>
              <a:chExt cx="1152" cy="384"/>
            </a:xfrm>
          </p:grpSpPr>
          <p:sp>
            <p:nvSpPr>
              <p:cNvPr id="54317" name="Line 1071"/>
              <p:cNvSpPr>
                <a:spLocks noChangeShapeType="1"/>
              </p:cNvSpPr>
              <p:nvPr/>
            </p:nvSpPr>
            <p:spPr bwMode="auto">
              <a:xfrm>
                <a:off x="4324" y="2832"/>
                <a:ext cx="9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 type="non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280" name="Object 8"/>
                  <p:cNvSpPr txBox="1"/>
                  <p:nvPr/>
                </p:nvSpPr>
                <p:spPr bwMode="auto">
                  <a:xfrm>
                    <a:off x="4391" y="2448"/>
                    <a:ext cx="255" cy="238"/>
                  </a:xfrm>
                  <a:prstGeom prst="rect">
                    <a:avLst/>
                  </a:prstGeom>
                  <a:noFill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54280" name="Object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391" y="2448"/>
                    <a:ext cx="255" cy="238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4318" name="Oval 1073"/>
              <p:cNvSpPr>
                <a:spLocks noChangeArrowheads="1"/>
              </p:cNvSpPr>
              <p:nvPr/>
            </p:nvSpPr>
            <p:spPr bwMode="auto">
              <a:xfrm>
                <a:off x="3792" y="2448"/>
                <a:ext cx="1152" cy="384"/>
              </a:xfrm>
              <a:prstGeom prst="ellipse">
                <a:avLst/>
              </a:prstGeom>
              <a:noFill/>
              <a:ln w="19050">
                <a:solidFill>
                  <a:srgbClr val="0000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 i="0" u="none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54319" name="Line 1074"/>
              <p:cNvSpPr>
                <a:spLocks noChangeShapeType="1"/>
              </p:cNvSpPr>
              <p:nvPr/>
            </p:nvSpPr>
            <p:spPr bwMode="auto">
              <a:xfrm>
                <a:off x="4368" y="2592"/>
                <a:ext cx="432" cy="192"/>
              </a:xfrm>
              <a:prstGeom prst="line">
                <a:avLst/>
              </a:prstGeom>
              <a:noFill/>
              <a:ln w="25400">
                <a:solidFill>
                  <a:srgbClr val="CC0000"/>
                </a:solidFill>
                <a:round/>
                <a:headEnd type="non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54316" name="Line 1075"/>
            <p:cNvSpPr>
              <a:spLocks noChangeShapeType="1"/>
            </p:cNvSpPr>
            <p:nvPr/>
          </p:nvSpPr>
          <p:spPr bwMode="auto">
            <a:xfrm>
              <a:off x="3722" y="3360"/>
              <a:ext cx="0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314" name="AutoShape 1069"/>
            <p:cNvSpPr>
              <a:spLocks noChangeArrowheads="1"/>
            </p:cNvSpPr>
            <p:nvPr/>
          </p:nvSpPr>
          <p:spPr bwMode="auto">
            <a:xfrm>
              <a:off x="3722" y="1644"/>
              <a:ext cx="1291" cy="2004"/>
            </a:xfrm>
            <a:prstGeom prst="can">
              <a:avLst>
                <a:gd name="adj" fmla="val 47948"/>
              </a:avLst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 i="0" u="none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313" name="Line 1067"/>
            <p:cNvSpPr>
              <a:spLocks noChangeShapeType="1"/>
            </p:cNvSpPr>
            <p:nvPr/>
          </p:nvSpPr>
          <p:spPr bwMode="auto">
            <a:xfrm>
              <a:off x="3722" y="2408"/>
              <a:ext cx="0" cy="48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12">
                <a:extLst>
                  <a:ext uri="{FF2B5EF4-FFF2-40B4-BE49-F238E27FC236}">
                    <a16:creationId xmlns:a16="http://schemas.microsoft.com/office/drawing/2014/main" id="{B0927273-D43C-4127-A726-C548B6830C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04219" y="1853729"/>
                <a:ext cx="446545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 type="none" w="med" len="lg"/>
                    <a:tailEnd type="none" w="med" len="lg"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0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- </a:t>
                </a:r>
                <a:r>
                  <a:rPr lang="zh-CN" altLang="en-US" sz="2800" b="0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假设线圈电流为</a:t>
                </a:r>
                <a14:m>
                  <m:oMath xmlns:m="http://schemas.openxmlformats.org/officeDocument/2006/math">
                    <m:r>
                      <a:rPr lang="en-US" altLang="zh-CN" sz="2800" b="0" i="1" u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𝐼</m:t>
                    </m:r>
                  </m:oMath>
                </a14:m>
                <a:r>
                  <a:rPr lang="zh-CN" altLang="en-US" sz="2800" b="0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；</a:t>
                </a:r>
              </a:p>
            </p:txBody>
          </p:sp>
        </mc:Choice>
        <mc:Fallback xmlns="">
          <p:sp>
            <p:nvSpPr>
              <p:cNvPr id="43" name="Text Box 12">
                <a:extLst>
                  <a:ext uri="{FF2B5EF4-FFF2-40B4-BE49-F238E27FC236}">
                    <a16:creationId xmlns:a16="http://schemas.microsoft.com/office/drawing/2014/main" id="{B0927273-D43C-4127-A726-C548B6830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4219" y="1853729"/>
                <a:ext cx="4465459" cy="523220"/>
              </a:xfrm>
              <a:prstGeom prst="rect">
                <a:avLst/>
              </a:prstGeom>
              <a:blipFill>
                <a:blip r:embed="rId9"/>
                <a:stretch>
                  <a:fillRect l="-2869" t="-11628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 type="none" w="med" len="lg"/>
                    <a:tailEnd type="none" w="med" len="lg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13">
                <a:extLst>
                  <a:ext uri="{FF2B5EF4-FFF2-40B4-BE49-F238E27FC236}">
                    <a16:creationId xmlns:a16="http://schemas.microsoft.com/office/drawing/2014/main" id="{BE49E925-ECD4-44D8-A346-A942BE7ADF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04219" y="2579844"/>
                <a:ext cx="5065366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 type="none" w="med" len="lg"/>
                    <a:tailEnd type="none" w="med" len="lg"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0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- </a:t>
                </a:r>
                <a:r>
                  <a:rPr lang="zh-CN" altLang="en-US" sz="2800" b="0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求线圈中的磁通量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𝛷</m:t>
                        </m:r>
                      </m:e>
                      <m:sub>
                        <m:r>
                          <a:rPr lang="en-US" altLang="zh-CN" sz="2800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800" b="0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；</a:t>
                </a:r>
              </a:p>
            </p:txBody>
          </p:sp>
        </mc:Choice>
        <mc:Fallback xmlns="">
          <p:sp>
            <p:nvSpPr>
              <p:cNvPr id="44" name="Text Box 13">
                <a:extLst>
                  <a:ext uri="{FF2B5EF4-FFF2-40B4-BE49-F238E27FC236}">
                    <a16:creationId xmlns:a16="http://schemas.microsoft.com/office/drawing/2014/main" id="{BE49E925-ECD4-44D8-A346-A942BE7AD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4219" y="2579844"/>
                <a:ext cx="5065366" cy="523220"/>
              </a:xfrm>
              <a:prstGeom prst="rect">
                <a:avLst/>
              </a:prstGeom>
              <a:blipFill>
                <a:blip r:embed="rId10"/>
                <a:stretch>
                  <a:fillRect l="-2530" t="-11628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 type="none" w="med" len="lg"/>
                    <a:tailEnd type="none" w="med" len="lg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 Box 14">
                <a:extLst>
                  <a:ext uri="{FF2B5EF4-FFF2-40B4-BE49-F238E27FC236}">
                    <a16:creationId xmlns:a16="http://schemas.microsoft.com/office/drawing/2014/main" id="{F639D5AA-8C1F-4B93-A910-E5D68BA6A6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04219" y="3358209"/>
                <a:ext cx="5505401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 type="none" w="med" len="lg"/>
                    <a:tailEnd type="none" w="med" len="lg"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0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- </a:t>
                </a:r>
                <a:r>
                  <a:rPr lang="zh-CN" altLang="en-US" sz="2800" b="0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由定义求出自感系数</a:t>
                </a:r>
                <a14:m>
                  <m:oMath xmlns:m="http://schemas.openxmlformats.org/officeDocument/2006/math">
                    <m:r>
                      <a:rPr lang="en-US" altLang="zh-CN" sz="2800" b="0" i="1" u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𝐿</m:t>
                    </m:r>
                  </m:oMath>
                </a14:m>
                <a:r>
                  <a:rPr lang="zh-CN" altLang="en-US" sz="2800" b="0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。 </a:t>
                </a:r>
              </a:p>
            </p:txBody>
          </p:sp>
        </mc:Choice>
        <mc:Fallback xmlns="">
          <p:sp>
            <p:nvSpPr>
              <p:cNvPr id="45" name="Text Box 14">
                <a:extLst>
                  <a:ext uri="{FF2B5EF4-FFF2-40B4-BE49-F238E27FC236}">
                    <a16:creationId xmlns:a16="http://schemas.microsoft.com/office/drawing/2014/main" id="{F639D5AA-8C1F-4B93-A910-E5D68BA6A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4219" y="3358209"/>
                <a:ext cx="5505401" cy="523220"/>
              </a:xfrm>
              <a:prstGeom prst="rect">
                <a:avLst/>
              </a:prstGeom>
              <a:blipFill>
                <a:blip r:embed="rId11"/>
                <a:stretch>
                  <a:fillRect l="-2326" t="-12791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 type="none" w="med" len="lg"/>
                    <a:tailEnd type="none" w="med" len="lg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1708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utoUpdateAnimBg="0"/>
      <p:bldP spid="44" grpId="0" autoUpdateAnimBg="0"/>
      <p:bldP spid="45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96" name="Group 1026"/>
          <p:cNvGrpSpPr>
            <a:grpSpLocks/>
          </p:cNvGrpSpPr>
          <p:nvPr/>
        </p:nvGrpSpPr>
        <p:grpSpPr bwMode="auto">
          <a:xfrm>
            <a:off x="9224131" y="1380184"/>
            <a:ext cx="1281113" cy="3886200"/>
            <a:chOff x="3957" y="1440"/>
            <a:chExt cx="807" cy="2448"/>
          </a:xfrm>
        </p:grpSpPr>
        <p:sp>
          <p:nvSpPr>
            <p:cNvPr id="54326" name="AutoShape 1027"/>
            <p:cNvSpPr>
              <a:spLocks noChangeArrowheads="1"/>
            </p:cNvSpPr>
            <p:nvPr/>
          </p:nvSpPr>
          <p:spPr bwMode="auto">
            <a:xfrm>
              <a:off x="3957" y="1801"/>
              <a:ext cx="807" cy="1655"/>
            </a:xfrm>
            <a:prstGeom prst="can">
              <a:avLst>
                <a:gd name="adj" fmla="val 38310"/>
              </a:avLst>
            </a:prstGeom>
            <a:gradFill rotWithShape="0">
              <a:gsLst>
                <a:gs pos="0">
                  <a:srgbClr val="B6BDC2"/>
                </a:gs>
                <a:gs pos="50000">
                  <a:srgbClr val="EFF9FF"/>
                </a:gs>
                <a:gs pos="100000">
                  <a:srgbClr val="B6BDC2"/>
                </a:gs>
              </a:gsLst>
              <a:lin ang="0" scaled="1"/>
            </a:gradFill>
            <a:ln w="9525">
              <a:solidFill>
                <a:srgbClr val="0066FF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 b="0" i="0" u="none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327" name="Line 1028"/>
            <p:cNvSpPr>
              <a:spLocks noChangeShapeType="1"/>
            </p:cNvSpPr>
            <p:nvPr/>
          </p:nvSpPr>
          <p:spPr bwMode="auto">
            <a:xfrm>
              <a:off x="4368" y="1440"/>
              <a:ext cx="2" cy="244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Dot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94" name="Object 22"/>
                <p:cNvSpPr txBox="1"/>
                <p:nvPr/>
              </p:nvSpPr>
              <p:spPr bwMode="auto">
                <a:xfrm>
                  <a:off x="4072" y="1692"/>
                  <a:ext cx="291" cy="295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4294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72" y="1692"/>
                  <a:ext cx="291" cy="29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95" name="Object 23"/>
                <p:cNvSpPr txBox="1"/>
                <p:nvPr/>
              </p:nvSpPr>
              <p:spPr bwMode="auto">
                <a:xfrm>
                  <a:off x="3979" y="2251"/>
                  <a:ext cx="218" cy="221"/>
                </a:xfrm>
                <a:prstGeom prst="rect">
                  <a:avLst/>
                </a:prstGeom>
                <a:noFill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4295" name="Object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79" y="2251"/>
                  <a:ext cx="218" cy="22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328" name="Line 1031"/>
            <p:cNvSpPr>
              <a:spLocks noChangeShapeType="1"/>
            </p:cNvSpPr>
            <p:nvPr/>
          </p:nvSpPr>
          <p:spPr bwMode="auto">
            <a:xfrm rot="10788159">
              <a:off x="3968" y="2316"/>
              <a:ext cx="0" cy="4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329" name="Line 1032"/>
            <p:cNvSpPr>
              <a:spLocks noChangeShapeType="1"/>
            </p:cNvSpPr>
            <p:nvPr/>
          </p:nvSpPr>
          <p:spPr bwMode="auto">
            <a:xfrm flipH="1">
              <a:off x="3957" y="1968"/>
              <a:ext cx="413" cy="0"/>
            </a:xfrm>
            <a:prstGeom prst="line">
              <a:avLst/>
            </a:prstGeom>
            <a:noFill/>
            <a:ln w="19050">
              <a:solidFill>
                <a:srgbClr val="FF9933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324" name="Rectangle 1042"/>
              <p:cNvSpPr>
                <a:spLocks noChangeArrowheads="1"/>
              </p:cNvSpPr>
              <p:nvPr/>
            </p:nvSpPr>
            <p:spPr bwMode="auto">
              <a:xfrm>
                <a:off x="1686756" y="1562609"/>
                <a:ext cx="6625484" cy="1760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0" i="0" u="none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设电流强度为</a:t>
                </a:r>
                <a14:m>
                  <m:oMath xmlns:m="http://schemas.openxmlformats.org/officeDocument/2006/math">
                    <m:r>
                      <a:rPr lang="en-US" altLang="zh-CN" sz="2800" b="0" i="1" u="none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𝐼</m:t>
                    </m:r>
                  </m:oMath>
                </a14:m>
                <a:r>
                  <a:rPr lang="zh-CN" altLang="en-US" sz="2800" b="0" i="0" u="none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，则两圆筒之间的磁感应强度为</a:t>
                </a:r>
                <a:endParaRPr lang="en-US" altLang="zh-CN" sz="2800" b="0" i="0" u="none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𝐵</m:t>
                      </m:r>
                      <m:r>
                        <a:rPr lang="en-US" altLang="zh-CN" sz="2800" b="0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0" i="1" u="none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 u="none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800" b="0" i="1" u="none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𝐼</m:t>
                          </m:r>
                        </m:num>
                        <m:den>
                          <m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2</m:t>
                          </m:r>
                          <m:r>
                            <a:rPr lang="zh-CN" altLang="en-US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𝜋</m:t>
                          </m:r>
                          <m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zh-CN" altLang="en-US" sz="2800" b="0" i="0" u="none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4324" name="Rectangle 10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86756" y="1562609"/>
                <a:ext cx="6625484" cy="1760675"/>
              </a:xfrm>
              <a:prstGeom prst="rect">
                <a:avLst/>
              </a:prstGeom>
              <a:blipFill>
                <a:blip r:embed="rId4"/>
                <a:stretch>
                  <a:fillRect l="-1932" t="-346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323" name="Text Box 1045"/>
              <p:cNvSpPr txBox="1">
                <a:spLocks noChangeArrowheads="1"/>
              </p:cNvSpPr>
              <p:nvPr/>
            </p:nvSpPr>
            <p:spPr bwMode="auto">
              <a:xfrm>
                <a:off x="1642917" y="3490892"/>
                <a:ext cx="5975774" cy="18444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50000"/>
                  </a:spcBef>
                </a:pPr>
                <a:r>
                  <a:rPr lang="zh-CN" altLang="en-US" sz="2800" b="0" i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如图在两圆筒间取一长为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u="none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l</m:t>
                    </m:r>
                  </m:oMath>
                </a14:m>
                <a:r>
                  <a:rPr lang="zh-CN" altLang="en-US" sz="2800" b="0" i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的面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u="none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ABCD</m:t>
                    </m:r>
                  </m:oMath>
                </a14:m>
                <a:r>
                  <a:rPr lang="en-US" altLang="zh-CN" sz="2800" b="0" i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, </a:t>
                </a:r>
                <a:r>
                  <a:rPr lang="zh-CN" altLang="en-US" sz="2800" b="0" i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  <a:t>并将其分成许多小面元，则</a:t>
                </a:r>
                <a:br>
                  <a:rPr lang="en-US" altLang="zh-CN" sz="2800" b="0" i="0" u="none" dirty="0">
                    <a:solidFill>
                      <a:srgbClr val="000000"/>
                    </a:solidFill>
                    <a:latin typeface="+mn-lt"/>
                    <a:ea typeface="华文楷体" panose="02010600040101010101" pitchFamily="2" charset="-122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𝑑</m:t>
                      </m:r>
                      <m:r>
                        <a:rPr lang="zh-CN" altLang="en-US" sz="2800" b="0" i="1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𝛷</m:t>
                      </m:r>
                      <m:r>
                        <a:rPr lang="en-US" altLang="zh-CN" sz="2800" b="0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e>
                      </m:acc>
                      <m:r>
                        <a:rPr lang="en-US" altLang="zh-CN" sz="2800" b="0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800" b="0" i="1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acc>
                    </m:oMath>
                  </m:oMathPara>
                </a14:m>
                <a:endParaRPr lang="en-US" altLang="zh-CN" sz="2800" b="0" i="0" u="none" dirty="0">
                  <a:solidFill>
                    <a:srgbClr val="000000"/>
                  </a:solidFill>
                  <a:latin typeface="+mn-lt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4323" name="Text Box 10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42917" y="3490892"/>
                <a:ext cx="5975774" cy="1844416"/>
              </a:xfrm>
              <a:prstGeom prst="rect">
                <a:avLst/>
              </a:prstGeom>
              <a:blipFill>
                <a:blip r:embed="rId5"/>
                <a:stretch>
                  <a:fillRect l="-2143" r="-16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1053"/>
          <p:cNvGrpSpPr>
            <a:grpSpLocks/>
          </p:cNvGrpSpPr>
          <p:nvPr/>
        </p:nvGrpSpPr>
        <p:grpSpPr bwMode="auto">
          <a:xfrm>
            <a:off x="10078202" y="2081859"/>
            <a:ext cx="889000" cy="2800350"/>
            <a:chOff x="4495" y="1882"/>
            <a:chExt cx="560" cy="1764"/>
          </a:xfrm>
        </p:grpSpPr>
        <p:grpSp>
          <p:nvGrpSpPr>
            <p:cNvPr id="54320" name="Group 1054"/>
            <p:cNvGrpSpPr>
              <a:grpSpLocks/>
            </p:cNvGrpSpPr>
            <p:nvPr/>
          </p:nvGrpSpPr>
          <p:grpSpPr bwMode="auto">
            <a:xfrm>
              <a:off x="4656" y="2064"/>
              <a:ext cx="399" cy="1582"/>
              <a:chOff x="4656" y="2064"/>
              <a:chExt cx="399" cy="1582"/>
            </a:xfrm>
          </p:grpSpPr>
          <p:sp>
            <p:nvSpPr>
              <p:cNvPr id="54321" name="AutoShape 1055"/>
              <p:cNvSpPr>
                <a:spLocks noChangeArrowheads="1"/>
              </p:cNvSpPr>
              <p:nvPr/>
            </p:nvSpPr>
            <p:spPr bwMode="auto">
              <a:xfrm rot="5400000">
                <a:off x="4056" y="2664"/>
                <a:ext cx="1440" cy="240"/>
              </a:xfrm>
              <a:prstGeom prst="parallelogram">
                <a:avLst>
                  <a:gd name="adj" fmla="val 37472"/>
                </a:avLst>
              </a:prstGeom>
              <a:solidFill>
                <a:srgbClr val="FF99FF">
                  <a:alpha val="50195"/>
                </a:srgbClr>
              </a:solidFill>
              <a:ln w="9525">
                <a:solidFill>
                  <a:srgbClr val="CC00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 b="0" i="0" u="none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284" name="Object 12"/>
                  <p:cNvSpPr txBox="1"/>
                  <p:nvPr/>
                </p:nvSpPr>
                <p:spPr bwMode="auto">
                  <a:xfrm>
                    <a:off x="4884" y="3459"/>
                    <a:ext cx="171" cy="187"/>
                  </a:xfrm>
                  <a:prstGeom prst="rect">
                    <a:avLst/>
                  </a:prstGeom>
                  <a:noFill/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54284" name="Object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884" y="3459"/>
                    <a:ext cx="171" cy="18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81" name="Object 9"/>
                <p:cNvSpPr txBox="1"/>
                <p:nvPr/>
              </p:nvSpPr>
              <p:spPr bwMode="auto">
                <a:xfrm>
                  <a:off x="4495" y="3350"/>
                  <a:ext cx="171" cy="189"/>
                </a:xfrm>
                <a:prstGeom prst="rect">
                  <a:avLst/>
                </a:prstGeom>
                <a:noFill/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4281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95" y="3350"/>
                  <a:ext cx="171" cy="18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82" name="Object 10"/>
                <p:cNvSpPr txBox="1"/>
                <p:nvPr/>
              </p:nvSpPr>
              <p:spPr bwMode="auto">
                <a:xfrm>
                  <a:off x="4808" y="1932"/>
                  <a:ext cx="186" cy="205"/>
                </a:xfrm>
                <a:prstGeom prst="rect">
                  <a:avLst/>
                </a:prstGeom>
                <a:noFill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4282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08" y="1932"/>
                  <a:ext cx="186" cy="20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83" name="Object 11"/>
                <p:cNvSpPr txBox="1"/>
                <p:nvPr/>
              </p:nvSpPr>
              <p:spPr bwMode="auto">
                <a:xfrm>
                  <a:off x="4579" y="1882"/>
                  <a:ext cx="158" cy="172"/>
                </a:xfrm>
                <a:prstGeom prst="rect">
                  <a:avLst/>
                </a:prstGeom>
                <a:noFill/>
              </p:spPr>
              <p:txBody>
                <a:bodyPr>
                  <a:normAutofit fontScale="62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4283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79" y="1882"/>
                  <a:ext cx="158" cy="17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302" name="Group 1060"/>
          <p:cNvGrpSpPr>
            <a:grpSpLocks/>
          </p:cNvGrpSpPr>
          <p:nvPr/>
        </p:nvGrpSpPr>
        <p:grpSpPr bwMode="auto">
          <a:xfrm>
            <a:off x="8508167" y="1704034"/>
            <a:ext cx="2884488" cy="3741738"/>
            <a:chOff x="3506" y="1644"/>
            <a:chExt cx="1817" cy="2357"/>
          </a:xfrm>
        </p:grpSpPr>
        <p:sp>
          <p:nvSpPr>
            <p:cNvPr id="54309" name="Line 1061"/>
            <p:cNvSpPr>
              <a:spLocks noChangeShapeType="1"/>
            </p:cNvSpPr>
            <p:nvPr/>
          </p:nvSpPr>
          <p:spPr bwMode="auto">
            <a:xfrm rot="10789799">
              <a:off x="3727" y="3743"/>
              <a:ext cx="646" cy="1"/>
            </a:xfrm>
            <a:prstGeom prst="line">
              <a:avLst/>
            </a:prstGeom>
            <a:noFill/>
            <a:ln w="19050">
              <a:solidFill>
                <a:srgbClr val="FF9933"/>
              </a:solidFill>
              <a:prstDash val="dash"/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77" name="Object 5"/>
                <p:cNvSpPr txBox="1"/>
                <p:nvPr/>
              </p:nvSpPr>
              <p:spPr bwMode="auto">
                <a:xfrm>
                  <a:off x="3929" y="3703"/>
                  <a:ext cx="297" cy="298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4277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29" y="3703"/>
                  <a:ext cx="297" cy="29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310" name="Line 1063"/>
            <p:cNvSpPr>
              <a:spLocks noChangeShapeType="1"/>
            </p:cNvSpPr>
            <p:nvPr/>
          </p:nvSpPr>
          <p:spPr bwMode="auto">
            <a:xfrm>
              <a:off x="5039" y="1963"/>
              <a:ext cx="183" cy="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311" name="Line 1064"/>
            <p:cNvSpPr>
              <a:spLocks noChangeShapeType="1"/>
            </p:cNvSpPr>
            <p:nvPr/>
          </p:nvSpPr>
          <p:spPr bwMode="auto">
            <a:xfrm flipV="1">
              <a:off x="5039" y="3310"/>
              <a:ext cx="201" cy="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312" name="Line 1065"/>
            <p:cNvSpPr>
              <a:spLocks noChangeShapeType="1"/>
            </p:cNvSpPr>
            <p:nvPr/>
          </p:nvSpPr>
          <p:spPr bwMode="auto">
            <a:xfrm>
              <a:off x="5168" y="1963"/>
              <a:ext cx="0" cy="1354"/>
            </a:xfrm>
            <a:prstGeom prst="line">
              <a:avLst/>
            </a:prstGeom>
            <a:noFill/>
            <a:ln w="19050">
              <a:solidFill>
                <a:srgbClr val="FF9933"/>
              </a:solidFill>
              <a:prstDash val="dash"/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78" name="Object 6"/>
                <p:cNvSpPr txBox="1"/>
                <p:nvPr/>
              </p:nvSpPr>
              <p:spPr bwMode="auto">
                <a:xfrm>
                  <a:off x="5131" y="2536"/>
                  <a:ext cx="192" cy="283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4278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31" y="2536"/>
                  <a:ext cx="192" cy="28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79" name="Object 7"/>
                <p:cNvSpPr txBox="1"/>
                <p:nvPr/>
              </p:nvSpPr>
              <p:spPr bwMode="auto">
                <a:xfrm>
                  <a:off x="3506" y="2426"/>
                  <a:ext cx="201" cy="204"/>
                </a:xfrm>
                <a:prstGeom prst="rect">
                  <a:avLst/>
                </a:prstGeom>
                <a:noFill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4279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06" y="2426"/>
                  <a:ext cx="201" cy="20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4315" name="Group 1070"/>
            <p:cNvGrpSpPr>
              <a:grpSpLocks/>
            </p:cNvGrpSpPr>
            <p:nvPr/>
          </p:nvGrpSpPr>
          <p:grpSpPr bwMode="auto">
            <a:xfrm>
              <a:off x="3792" y="2448"/>
              <a:ext cx="1152" cy="384"/>
              <a:chOff x="3792" y="2448"/>
              <a:chExt cx="1152" cy="384"/>
            </a:xfrm>
          </p:grpSpPr>
          <p:sp>
            <p:nvSpPr>
              <p:cNvPr id="54317" name="Line 1071"/>
              <p:cNvSpPr>
                <a:spLocks noChangeShapeType="1"/>
              </p:cNvSpPr>
              <p:nvPr/>
            </p:nvSpPr>
            <p:spPr bwMode="auto">
              <a:xfrm>
                <a:off x="4324" y="2832"/>
                <a:ext cx="9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 type="non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280" name="Object 8"/>
                  <p:cNvSpPr txBox="1"/>
                  <p:nvPr/>
                </p:nvSpPr>
                <p:spPr bwMode="auto">
                  <a:xfrm>
                    <a:off x="4391" y="2448"/>
                    <a:ext cx="255" cy="238"/>
                  </a:xfrm>
                  <a:prstGeom prst="rect">
                    <a:avLst/>
                  </a:prstGeom>
                  <a:noFill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54280" name="Object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391" y="2448"/>
                    <a:ext cx="255" cy="238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4318" name="Oval 1073"/>
              <p:cNvSpPr>
                <a:spLocks noChangeArrowheads="1"/>
              </p:cNvSpPr>
              <p:nvPr/>
            </p:nvSpPr>
            <p:spPr bwMode="auto">
              <a:xfrm>
                <a:off x="3792" y="2448"/>
                <a:ext cx="1152" cy="384"/>
              </a:xfrm>
              <a:prstGeom prst="ellipse">
                <a:avLst/>
              </a:prstGeom>
              <a:noFill/>
              <a:ln w="19050">
                <a:solidFill>
                  <a:srgbClr val="0000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 b="0" i="0" u="none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54319" name="Line 1074"/>
              <p:cNvSpPr>
                <a:spLocks noChangeShapeType="1"/>
              </p:cNvSpPr>
              <p:nvPr/>
            </p:nvSpPr>
            <p:spPr bwMode="auto">
              <a:xfrm>
                <a:off x="4368" y="2592"/>
                <a:ext cx="432" cy="192"/>
              </a:xfrm>
              <a:prstGeom prst="line">
                <a:avLst/>
              </a:prstGeom>
              <a:noFill/>
              <a:ln w="25400">
                <a:solidFill>
                  <a:srgbClr val="CC0000"/>
                </a:solidFill>
                <a:round/>
                <a:headEnd type="non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54316" name="Line 1075"/>
            <p:cNvSpPr>
              <a:spLocks noChangeShapeType="1"/>
            </p:cNvSpPr>
            <p:nvPr/>
          </p:nvSpPr>
          <p:spPr bwMode="auto">
            <a:xfrm>
              <a:off x="3722" y="3360"/>
              <a:ext cx="0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314" name="AutoShape 1069"/>
            <p:cNvSpPr>
              <a:spLocks noChangeArrowheads="1"/>
            </p:cNvSpPr>
            <p:nvPr/>
          </p:nvSpPr>
          <p:spPr bwMode="auto">
            <a:xfrm>
              <a:off x="3722" y="1644"/>
              <a:ext cx="1291" cy="2004"/>
            </a:xfrm>
            <a:prstGeom prst="can">
              <a:avLst>
                <a:gd name="adj" fmla="val 47948"/>
              </a:avLst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 b="0" i="0" u="none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313" name="Line 1067"/>
            <p:cNvSpPr>
              <a:spLocks noChangeShapeType="1"/>
            </p:cNvSpPr>
            <p:nvPr/>
          </p:nvSpPr>
          <p:spPr bwMode="auto">
            <a:xfrm>
              <a:off x="3722" y="2408"/>
              <a:ext cx="0" cy="48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pSp>
        <p:nvGrpSpPr>
          <p:cNvPr id="11" name="Group 1076"/>
          <p:cNvGrpSpPr>
            <a:grpSpLocks/>
          </p:cNvGrpSpPr>
          <p:nvPr/>
        </p:nvGrpSpPr>
        <p:grpSpPr bwMode="auto">
          <a:xfrm>
            <a:off x="10271882" y="2446985"/>
            <a:ext cx="850900" cy="3170238"/>
            <a:chOff x="4617" y="2112"/>
            <a:chExt cx="536" cy="1997"/>
          </a:xfrm>
        </p:grpSpPr>
        <p:sp>
          <p:nvSpPr>
            <p:cNvPr id="54304" name="Line 1077"/>
            <p:cNvSpPr>
              <a:spLocks noChangeShapeType="1"/>
            </p:cNvSpPr>
            <p:nvPr/>
          </p:nvSpPr>
          <p:spPr bwMode="auto">
            <a:xfrm>
              <a:off x="4617" y="3744"/>
              <a:ext cx="183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305" name="Line 1078"/>
            <p:cNvSpPr>
              <a:spLocks noChangeShapeType="1"/>
            </p:cNvSpPr>
            <p:nvPr/>
          </p:nvSpPr>
          <p:spPr bwMode="auto">
            <a:xfrm flipH="1">
              <a:off x="4848" y="3744"/>
              <a:ext cx="305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76" name="Object 4"/>
                <p:cNvSpPr txBox="1"/>
                <p:nvPr/>
              </p:nvSpPr>
              <p:spPr bwMode="auto">
                <a:xfrm>
                  <a:off x="4651" y="3836"/>
                  <a:ext cx="346" cy="273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𝑑𝑟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4276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51" y="3836"/>
                  <a:ext cx="346" cy="273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306" name="Freeform 1080" descr="宽下对角线"/>
            <p:cNvSpPr>
              <a:spLocks/>
            </p:cNvSpPr>
            <p:nvPr/>
          </p:nvSpPr>
          <p:spPr bwMode="auto">
            <a:xfrm>
              <a:off x="4800" y="2112"/>
              <a:ext cx="48" cy="1344"/>
            </a:xfrm>
            <a:custGeom>
              <a:avLst/>
              <a:gdLst>
                <a:gd name="T0" fmla="*/ 0 w 96"/>
                <a:gd name="T1" fmla="*/ 0 h 1392"/>
                <a:gd name="T2" fmla="*/ 1 w 96"/>
                <a:gd name="T3" fmla="*/ 22 h 1392"/>
                <a:gd name="T4" fmla="*/ 1 w 96"/>
                <a:gd name="T5" fmla="*/ 852 h 1392"/>
                <a:gd name="T6" fmla="*/ 0 w 96"/>
                <a:gd name="T7" fmla="*/ 826 h 1392"/>
                <a:gd name="T8" fmla="*/ 0 w 96"/>
                <a:gd name="T9" fmla="*/ 0 h 13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392"/>
                <a:gd name="T17" fmla="*/ 96 w 96"/>
                <a:gd name="T18" fmla="*/ 1392 h 13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392">
                  <a:moveTo>
                    <a:pt x="0" y="0"/>
                  </a:moveTo>
                  <a:lnTo>
                    <a:pt x="96" y="36"/>
                  </a:lnTo>
                  <a:lnTo>
                    <a:pt x="96" y="1392"/>
                  </a:lnTo>
                  <a:lnTo>
                    <a:pt x="0" y="1352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rgbClr val="0000FF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307" name="Line 1081"/>
            <p:cNvSpPr>
              <a:spLocks noChangeShapeType="1"/>
            </p:cNvSpPr>
            <p:nvPr/>
          </p:nvSpPr>
          <p:spPr bwMode="auto">
            <a:xfrm>
              <a:off x="4800" y="3408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308" name="Line 1082"/>
            <p:cNvSpPr>
              <a:spLocks noChangeShapeType="1"/>
            </p:cNvSpPr>
            <p:nvPr/>
          </p:nvSpPr>
          <p:spPr bwMode="auto">
            <a:xfrm>
              <a:off x="4848" y="3408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1361396" y="5229609"/>
                <a:ext cx="2936440" cy="15698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30000"/>
                  </a:lnSpc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𝛷</m:t>
                      </m:r>
                      <m:r>
                        <a:rPr lang="en-US" altLang="zh-CN" sz="2800" b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𝑑</m:t>
                          </m:r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𝛷</m:t>
                          </m:r>
                        </m:e>
                      </m:nary>
                    </m:oMath>
                  </m:oMathPara>
                </a14:m>
                <a:endParaRPr lang="en-US" altLang="zh-CN" sz="2800" dirty="0">
                  <a:solidFill>
                    <a:srgbClr val="000000"/>
                  </a:solidFill>
                  <a:latin typeface="Times New Roman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396" y="5229609"/>
                <a:ext cx="2936440" cy="156985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1045">
                <a:extLst>
                  <a:ext uri="{FF2B5EF4-FFF2-40B4-BE49-F238E27FC236}">
                    <a16:creationId xmlns:a16="http://schemas.microsoft.com/office/drawing/2014/main" id="{08F7081A-906F-46D0-92BF-9960E2660C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67270" y="4656784"/>
                <a:ext cx="1845073" cy="6524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800" b="0" i="1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𝐵𝑙𝑑𝑟</m:t>
                      </m:r>
                    </m:oMath>
                  </m:oMathPara>
                </a14:m>
                <a:endParaRPr lang="en-US" altLang="zh-CN" sz="2800" b="0" i="0" u="none" dirty="0">
                  <a:solidFill>
                    <a:srgbClr val="000000"/>
                  </a:solidFill>
                  <a:latin typeface="+mn-lt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3" name="Text Box 1045">
                <a:extLst>
                  <a:ext uri="{FF2B5EF4-FFF2-40B4-BE49-F238E27FC236}">
                    <a16:creationId xmlns:a16="http://schemas.microsoft.com/office/drawing/2014/main" id="{08F7081A-906F-46D0-92BF-9960E2660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67270" y="4656784"/>
                <a:ext cx="1845073" cy="65248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DB73EAA8-5502-4271-ABC0-AED3264E124C}"/>
                  </a:ext>
                </a:extLst>
              </p:cNvPr>
              <p:cNvSpPr/>
              <p:nvPr/>
            </p:nvSpPr>
            <p:spPr>
              <a:xfrm>
                <a:off x="3689755" y="5242095"/>
                <a:ext cx="2881782" cy="14293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30000"/>
                  </a:lnSpc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𝐼</m:t>
                              </m:r>
                            </m:num>
                            <m:den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2</m:t>
                              </m:r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𝜋</m:t>
                              </m:r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𝑟</m:t>
                              </m:r>
                            </m:den>
                          </m:f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𝑙𝑑𝑟</m:t>
                          </m:r>
                        </m:e>
                      </m:nary>
                    </m:oMath>
                  </m:oMathPara>
                </a14:m>
                <a:endParaRPr lang="en-US" altLang="zh-CN" sz="2800" dirty="0">
                  <a:solidFill>
                    <a:srgbClr val="000000"/>
                  </a:solidFill>
                  <a:latin typeface="Times New Roman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DB73EAA8-5502-4271-ABC0-AED3264E12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755" y="5242095"/>
                <a:ext cx="2881782" cy="142936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BDCD06CB-0FC0-47EC-9C31-3D5F7D8E7E87}"/>
                  </a:ext>
                </a:extLst>
              </p:cNvPr>
              <p:cNvSpPr/>
              <p:nvPr/>
            </p:nvSpPr>
            <p:spPr>
              <a:xfrm>
                <a:off x="6301050" y="5335308"/>
                <a:ext cx="1494641" cy="12479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30000"/>
                  </a:lnSpc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𝐼𝑙</m:t>
                          </m:r>
                        </m:num>
                        <m:den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2</m:t>
                          </m:r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𝜋</m:t>
                          </m:r>
                        </m:den>
                      </m:f>
                      <m:func>
                        <m:func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uncPr>
                        <m:fNam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𝑙𝑛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en-US" altLang="zh-CN" sz="2800" dirty="0">
                  <a:solidFill>
                    <a:srgbClr val="000000"/>
                  </a:solidFill>
                  <a:latin typeface="Times New Roman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BDCD06CB-0FC0-47EC-9C31-3D5F7D8E7E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050" y="5335308"/>
                <a:ext cx="1494641" cy="1247906"/>
              </a:xfrm>
              <a:prstGeom prst="rect">
                <a:avLst/>
              </a:prstGeom>
              <a:blipFill>
                <a:blip r:embed="rId18"/>
                <a:stretch>
                  <a:fillRect r="-273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 Box 1035">
                <a:extLst>
                  <a:ext uri="{FF2B5EF4-FFF2-40B4-BE49-F238E27FC236}">
                    <a16:creationId xmlns:a16="http://schemas.microsoft.com/office/drawing/2014/main" id="{8AA83D79-EF39-4EA9-BE91-662919C43F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3535" y="261868"/>
                <a:ext cx="10731479" cy="1093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spcBef>
                    <a:spcPct val="50000"/>
                  </a:spcBef>
                </a:pPr>
                <a:r>
                  <a:rPr lang="zh-CN" altLang="en-US" sz="2800" b="0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例：</a:t>
                </a:r>
                <a:r>
                  <a:rPr lang="zh-CN" altLang="en-US" sz="2800" b="0" i="0" u="none" dirty="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</a:rPr>
                  <a:t>设有两个共轴长圆筒，半径分别为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800" b="0" i="0" u="none" dirty="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800" b="0" i="0" u="none" dirty="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</a:rPr>
                  <a:t>。电流由内筒的一端流入，由外筒的另一端流回，求其单位长度的自感</a:t>
                </a:r>
                <a:endParaRPr lang="en-US" altLang="zh-CN" sz="2800" b="0" i="0" u="none" dirty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6" name="Text Box 1035">
                <a:extLst>
                  <a:ext uri="{FF2B5EF4-FFF2-40B4-BE49-F238E27FC236}">
                    <a16:creationId xmlns:a16="http://schemas.microsoft.com/office/drawing/2014/main" id="{8AA83D79-EF39-4EA9-BE91-662919C43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63535" y="261868"/>
                <a:ext cx="10731479" cy="1093633"/>
              </a:xfrm>
              <a:prstGeom prst="rect">
                <a:avLst/>
              </a:prstGeom>
              <a:blipFill>
                <a:blip r:embed="rId19"/>
                <a:stretch>
                  <a:fillRect l="-1193" t="-1117" b="-1508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5773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23" grpId="0"/>
      <p:bldP spid="3" grpId="0"/>
      <p:bldP spid="43" grpId="0"/>
      <p:bldP spid="44" grpId="0"/>
      <p:bldP spid="4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96" name="Group 1026"/>
          <p:cNvGrpSpPr>
            <a:grpSpLocks/>
          </p:cNvGrpSpPr>
          <p:nvPr/>
        </p:nvGrpSpPr>
        <p:grpSpPr bwMode="auto">
          <a:xfrm>
            <a:off x="9224131" y="1380184"/>
            <a:ext cx="1281113" cy="3886200"/>
            <a:chOff x="3957" y="1440"/>
            <a:chExt cx="807" cy="2448"/>
          </a:xfrm>
        </p:grpSpPr>
        <p:sp>
          <p:nvSpPr>
            <p:cNvPr id="54326" name="AutoShape 1027"/>
            <p:cNvSpPr>
              <a:spLocks noChangeArrowheads="1"/>
            </p:cNvSpPr>
            <p:nvPr/>
          </p:nvSpPr>
          <p:spPr bwMode="auto">
            <a:xfrm>
              <a:off x="3957" y="1801"/>
              <a:ext cx="807" cy="1655"/>
            </a:xfrm>
            <a:prstGeom prst="can">
              <a:avLst>
                <a:gd name="adj" fmla="val 38310"/>
              </a:avLst>
            </a:prstGeom>
            <a:gradFill rotWithShape="0">
              <a:gsLst>
                <a:gs pos="0">
                  <a:srgbClr val="B6BDC2"/>
                </a:gs>
                <a:gs pos="50000">
                  <a:srgbClr val="EFF9FF"/>
                </a:gs>
                <a:gs pos="100000">
                  <a:srgbClr val="B6BDC2"/>
                </a:gs>
              </a:gsLst>
              <a:lin ang="0" scaled="1"/>
            </a:gradFill>
            <a:ln w="9525">
              <a:solidFill>
                <a:srgbClr val="0066FF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 b="0" i="0" u="none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327" name="Line 1028"/>
            <p:cNvSpPr>
              <a:spLocks noChangeShapeType="1"/>
            </p:cNvSpPr>
            <p:nvPr/>
          </p:nvSpPr>
          <p:spPr bwMode="auto">
            <a:xfrm>
              <a:off x="4368" y="1440"/>
              <a:ext cx="2" cy="244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Dot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94" name="Object 22"/>
                <p:cNvSpPr txBox="1"/>
                <p:nvPr/>
              </p:nvSpPr>
              <p:spPr bwMode="auto">
                <a:xfrm>
                  <a:off x="4072" y="1692"/>
                  <a:ext cx="291" cy="295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4294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72" y="1692"/>
                  <a:ext cx="291" cy="29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95" name="Object 23"/>
                <p:cNvSpPr txBox="1"/>
                <p:nvPr/>
              </p:nvSpPr>
              <p:spPr bwMode="auto">
                <a:xfrm>
                  <a:off x="3979" y="2251"/>
                  <a:ext cx="218" cy="221"/>
                </a:xfrm>
                <a:prstGeom prst="rect">
                  <a:avLst/>
                </a:prstGeom>
                <a:noFill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4295" name="Object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79" y="2251"/>
                  <a:ext cx="218" cy="22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328" name="Line 1031"/>
            <p:cNvSpPr>
              <a:spLocks noChangeShapeType="1"/>
            </p:cNvSpPr>
            <p:nvPr/>
          </p:nvSpPr>
          <p:spPr bwMode="auto">
            <a:xfrm rot="10788159">
              <a:off x="3968" y="2316"/>
              <a:ext cx="0" cy="4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329" name="Line 1032"/>
            <p:cNvSpPr>
              <a:spLocks noChangeShapeType="1"/>
            </p:cNvSpPr>
            <p:nvPr/>
          </p:nvSpPr>
          <p:spPr bwMode="auto">
            <a:xfrm flipH="1">
              <a:off x="3957" y="1968"/>
              <a:ext cx="413" cy="0"/>
            </a:xfrm>
            <a:prstGeom prst="line">
              <a:avLst/>
            </a:prstGeom>
            <a:noFill/>
            <a:ln w="19050">
              <a:solidFill>
                <a:srgbClr val="FF9933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pSp>
        <p:nvGrpSpPr>
          <p:cNvPr id="7" name="Group 1053"/>
          <p:cNvGrpSpPr>
            <a:grpSpLocks/>
          </p:cNvGrpSpPr>
          <p:nvPr/>
        </p:nvGrpSpPr>
        <p:grpSpPr bwMode="auto">
          <a:xfrm>
            <a:off x="10078202" y="2081859"/>
            <a:ext cx="889000" cy="2800350"/>
            <a:chOff x="4495" y="1882"/>
            <a:chExt cx="560" cy="1764"/>
          </a:xfrm>
        </p:grpSpPr>
        <p:grpSp>
          <p:nvGrpSpPr>
            <p:cNvPr id="54320" name="Group 1054"/>
            <p:cNvGrpSpPr>
              <a:grpSpLocks/>
            </p:cNvGrpSpPr>
            <p:nvPr/>
          </p:nvGrpSpPr>
          <p:grpSpPr bwMode="auto">
            <a:xfrm>
              <a:off x="4656" y="2064"/>
              <a:ext cx="399" cy="1582"/>
              <a:chOff x="4656" y="2064"/>
              <a:chExt cx="399" cy="1582"/>
            </a:xfrm>
          </p:grpSpPr>
          <p:sp>
            <p:nvSpPr>
              <p:cNvPr id="54321" name="AutoShape 1055"/>
              <p:cNvSpPr>
                <a:spLocks noChangeArrowheads="1"/>
              </p:cNvSpPr>
              <p:nvPr/>
            </p:nvSpPr>
            <p:spPr bwMode="auto">
              <a:xfrm rot="5400000">
                <a:off x="4056" y="2664"/>
                <a:ext cx="1440" cy="240"/>
              </a:xfrm>
              <a:prstGeom prst="parallelogram">
                <a:avLst>
                  <a:gd name="adj" fmla="val 37472"/>
                </a:avLst>
              </a:prstGeom>
              <a:solidFill>
                <a:srgbClr val="FF99FF">
                  <a:alpha val="50195"/>
                </a:srgbClr>
              </a:solidFill>
              <a:ln w="9525">
                <a:solidFill>
                  <a:srgbClr val="CC00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 b="0" i="0" u="none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284" name="Object 12"/>
                  <p:cNvSpPr txBox="1"/>
                  <p:nvPr/>
                </p:nvSpPr>
                <p:spPr bwMode="auto">
                  <a:xfrm>
                    <a:off x="4884" y="3459"/>
                    <a:ext cx="171" cy="187"/>
                  </a:xfrm>
                  <a:prstGeom prst="rect">
                    <a:avLst/>
                  </a:prstGeom>
                  <a:noFill/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54284" name="Object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884" y="3459"/>
                    <a:ext cx="171" cy="1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81" name="Object 9"/>
                <p:cNvSpPr txBox="1"/>
                <p:nvPr/>
              </p:nvSpPr>
              <p:spPr bwMode="auto">
                <a:xfrm>
                  <a:off x="4495" y="3350"/>
                  <a:ext cx="171" cy="189"/>
                </a:xfrm>
                <a:prstGeom prst="rect">
                  <a:avLst/>
                </a:prstGeom>
                <a:noFill/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4281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95" y="3350"/>
                  <a:ext cx="171" cy="18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82" name="Object 10"/>
                <p:cNvSpPr txBox="1"/>
                <p:nvPr/>
              </p:nvSpPr>
              <p:spPr bwMode="auto">
                <a:xfrm>
                  <a:off x="4808" y="1932"/>
                  <a:ext cx="186" cy="205"/>
                </a:xfrm>
                <a:prstGeom prst="rect">
                  <a:avLst/>
                </a:prstGeom>
                <a:noFill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4282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08" y="1932"/>
                  <a:ext cx="186" cy="20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83" name="Object 11"/>
                <p:cNvSpPr txBox="1"/>
                <p:nvPr/>
              </p:nvSpPr>
              <p:spPr bwMode="auto">
                <a:xfrm>
                  <a:off x="4579" y="1882"/>
                  <a:ext cx="158" cy="172"/>
                </a:xfrm>
                <a:prstGeom prst="rect">
                  <a:avLst/>
                </a:prstGeom>
                <a:noFill/>
              </p:spPr>
              <p:txBody>
                <a:bodyPr>
                  <a:normAutofit fontScale="62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4283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79" y="1882"/>
                  <a:ext cx="158" cy="17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302" name="Group 1060"/>
          <p:cNvGrpSpPr>
            <a:grpSpLocks/>
          </p:cNvGrpSpPr>
          <p:nvPr/>
        </p:nvGrpSpPr>
        <p:grpSpPr bwMode="auto">
          <a:xfrm>
            <a:off x="8508167" y="1704034"/>
            <a:ext cx="2884488" cy="3741738"/>
            <a:chOff x="3506" y="1644"/>
            <a:chExt cx="1817" cy="2357"/>
          </a:xfrm>
        </p:grpSpPr>
        <p:sp>
          <p:nvSpPr>
            <p:cNvPr id="54309" name="Line 1061"/>
            <p:cNvSpPr>
              <a:spLocks noChangeShapeType="1"/>
            </p:cNvSpPr>
            <p:nvPr/>
          </p:nvSpPr>
          <p:spPr bwMode="auto">
            <a:xfrm rot="10789799">
              <a:off x="3727" y="3743"/>
              <a:ext cx="646" cy="1"/>
            </a:xfrm>
            <a:prstGeom prst="line">
              <a:avLst/>
            </a:prstGeom>
            <a:noFill/>
            <a:ln w="19050">
              <a:solidFill>
                <a:srgbClr val="FF9933"/>
              </a:solidFill>
              <a:prstDash val="dash"/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77" name="Object 5"/>
                <p:cNvSpPr txBox="1"/>
                <p:nvPr/>
              </p:nvSpPr>
              <p:spPr bwMode="auto">
                <a:xfrm>
                  <a:off x="3929" y="3703"/>
                  <a:ext cx="297" cy="298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4277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29" y="3703"/>
                  <a:ext cx="297" cy="29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310" name="Line 1063"/>
            <p:cNvSpPr>
              <a:spLocks noChangeShapeType="1"/>
            </p:cNvSpPr>
            <p:nvPr/>
          </p:nvSpPr>
          <p:spPr bwMode="auto">
            <a:xfrm>
              <a:off x="5039" y="1963"/>
              <a:ext cx="183" cy="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311" name="Line 1064"/>
            <p:cNvSpPr>
              <a:spLocks noChangeShapeType="1"/>
            </p:cNvSpPr>
            <p:nvPr/>
          </p:nvSpPr>
          <p:spPr bwMode="auto">
            <a:xfrm flipV="1">
              <a:off x="5039" y="3310"/>
              <a:ext cx="201" cy="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312" name="Line 1065"/>
            <p:cNvSpPr>
              <a:spLocks noChangeShapeType="1"/>
            </p:cNvSpPr>
            <p:nvPr/>
          </p:nvSpPr>
          <p:spPr bwMode="auto">
            <a:xfrm>
              <a:off x="5168" y="1963"/>
              <a:ext cx="0" cy="1354"/>
            </a:xfrm>
            <a:prstGeom prst="line">
              <a:avLst/>
            </a:prstGeom>
            <a:noFill/>
            <a:ln w="19050">
              <a:solidFill>
                <a:srgbClr val="FF9933"/>
              </a:solidFill>
              <a:prstDash val="dash"/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78" name="Object 6"/>
                <p:cNvSpPr txBox="1"/>
                <p:nvPr/>
              </p:nvSpPr>
              <p:spPr bwMode="auto">
                <a:xfrm>
                  <a:off x="5131" y="2536"/>
                  <a:ext cx="192" cy="283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4278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31" y="2536"/>
                  <a:ext cx="192" cy="28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79" name="Object 7"/>
                <p:cNvSpPr txBox="1"/>
                <p:nvPr/>
              </p:nvSpPr>
              <p:spPr bwMode="auto">
                <a:xfrm>
                  <a:off x="3506" y="2426"/>
                  <a:ext cx="201" cy="204"/>
                </a:xfrm>
                <a:prstGeom prst="rect">
                  <a:avLst/>
                </a:prstGeom>
                <a:noFill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4279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06" y="2426"/>
                  <a:ext cx="201" cy="20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4315" name="Group 1070"/>
            <p:cNvGrpSpPr>
              <a:grpSpLocks/>
            </p:cNvGrpSpPr>
            <p:nvPr/>
          </p:nvGrpSpPr>
          <p:grpSpPr bwMode="auto">
            <a:xfrm>
              <a:off x="3792" y="2448"/>
              <a:ext cx="1152" cy="384"/>
              <a:chOff x="3792" y="2448"/>
              <a:chExt cx="1152" cy="384"/>
            </a:xfrm>
          </p:grpSpPr>
          <p:sp>
            <p:nvSpPr>
              <p:cNvPr id="54317" name="Line 1071"/>
              <p:cNvSpPr>
                <a:spLocks noChangeShapeType="1"/>
              </p:cNvSpPr>
              <p:nvPr/>
            </p:nvSpPr>
            <p:spPr bwMode="auto">
              <a:xfrm>
                <a:off x="4324" y="2832"/>
                <a:ext cx="9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 type="non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280" name="Object 8"/>
                  <p:cNvSpPr txBox="1"/>
                  <p:nvPr/>
                </p:nvSpPr>
                <p:spPr bwMode="auto">
                  <a:xfrm>
                    <a:off x="4391" y="2448"/>
                    <a:ext cx="255" cy="238"/>
                  </a:xfrm>
                  <a:prstGeom prst="rect">
                    <a:avLst/>
                  </a:prstGeom>
                  <a:noFill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54280" name="Object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391" y="2448"/>
                    <a:ext cx="255" cy="238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4318" name="Oval 1073"/>
              <p:cNvSpPr>
                <a:spLocks noChangeArrowheads="1"/>
              </p:cNvSpPr>
              <p:nvPr/>
            </p:nvSpPr>
            <p:spPr bwMode="auto">
              <a:xfrm>
                <a:off x="3792" y="2448"/>
                <a:ext cx="1152" cy="384"/>
              </a:xfrm>
              <a:prstGeom prst="ellipse">
                <a:avLst/>
              </a:prstGeom>
              <a:noFill/>
              <a:ln w="19050">
                <a:solidFill>
                  <a:srgbClr val="0000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 b="0" i="0" u="none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54319" name="Line 1074"/>
              <p:cNvSpPr>
                <a:spLocks noChangeShapeType="1"/>
              </p:cNvSpPr>
              <p:nvPr/>
            </p:nvSpPr>
            <p:spPr bwMode="auto">
              <a:xfrm>
                <a:off x="4368" y="2592"/>
                <a:ext cx="432" cy="192"/>
              </a:xfrm>
              <a:prstGeom prst="line">
                <a:avLst/>
              </a:prstGeom>
              <a:noFill/>
              <a:ln w="25400">
                <a:solidFill>
                  <a:srgbClr val="CC0000"/>
                </a:solidFill>
                <a:round/>
                <a:headEnd type="non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54316" name="Line 1075"/>
            <p:cNvSpPr>
              <a:spLocks noChangeShapeType="1"/>
            </p:cNvSpPr>
            <p:nvPr/>
          </p:nvSpPr>
          <p:spPr bwMode="auto">
            <a:xfrm>
              <a:off x="3722" y="3360"/>
              <a:ext cx="0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314" name="AutoShape 1069"/>
            <p:cNvSpPr>
              <a:spLocks noChangeArrowheads="1"/>
            </p:cNvSpPr>
            <p:nvPr/>
          </p:nvSpPr>
          <p:spPr bwMode="auto">
            <a:xfrm>
              <a:off x="3722" y="1644"/>
              <a:ext cx="1291" cy="2004"/>
            </a:xfrm>
            <a:prstGeom prst="can">
              <a:avLst>
                <a:gd name="adj" fmla="val 47948"/>
              </a:avLst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 b="0" i="0" u="none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313" name="Line 1067"/>
            <p:cNvSpPr>
              <a:spLocks noChangeShapeType="1"/>
            </p:cNvSpPr>
            <p:nvPr/>
          </p:nvSpPr>
          <p:spPr bwMode="auto">
            <a:xfrm>
              <a:off x="3722" y="2408"/>
              <a:ext cx="0" cy="48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pSp>
        <p:nvGrpSpPr>
          <p:cNvPr id="11" name="Group 1076"/>
          <p:cNvGrpSpPr>
            <a:grpSpLocks/>
          </p:cNvGrpSpPr>
          <p:nvPr/>
        </p:nvGrpSpPr>
        <p:grpSpPr bwMode="auto">
          <a:xfrm>
            <a:off x="10271882" y="2446985"/>
            <a:ext cx="850900" cy="3170238"/>
            <a:chOff x="4617" y="2112"/>
            <a:chExt cx="536" cy="1997"/>
          </a:xfrm>
        </p:grpSpPr>
        <p:sp>
          <p:nvSpPr>
            <p:cNvPr id="54304" name="Line 1077"/>
            <p:cNvSpPr>
              <a:spLocks noChangeShapeType="1"/>
            </p:cNvSpPr>
            <p:nvPr/>
          </p:nvSpPr>
          <p:spPr bwMode="auto">
            <a:xfrm>
              <a:off x="4617" y="3744"/>
              <a:ext cx="183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305" name="Line 1078"/>
            <p:cNvSpPr>
              <a:spLocks noChangeShapeType="1"/>
            </p:cNvSpPr>
            <p:nvPr/>
          </p:nvSpPr>
          <p:spPr bwMode="auto">
            <a:xfrm flipH="1">
              <a:off x="4848" y="3744"/>
              <a:ext cx="305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76" name="Object 4"/>
                <p:cNvSpPr txBox="1"/>
                <p:nvPr/>
              </p:nvSpPr>
              <p:spPr bwMode="auto">
                <a:xfrm>
                  <a:off x="4651" y="3836"/>
                  <a:ext cx="346" cy="273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𝑑𝑟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4276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51" y="3836"/>
                  <a:ext cx="346" cy="27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306" name="Freeform 1080" descr="宽下对角线"/>
            <p:cNvSpPr>
              <a:spLocks/>
            </p:cNvSpPr>
            <p:nvPr/>
          </p:nvSpPr>
          <p:spPr bwMode="auto">
            <a:xfrm>
              <a:off x="4800" y="2112"/>
              <a:ext cx="48" cy="1344"/>
            </a:xfrm>
            <a:custGeom>
              <a:avLst/>
              <a:gdLst>
                <a:gd name="T0" fmla="*/ 0 w 96"/>
                <a:gd name="T1" fmla="*/ 0 h 1392"/>
                <a:gd name="T2" fmla="*/ 1 w 96"/>
                <a:gd name="T3" fmla="*/ 22 h 1392"/>
                <a:gd name="T4" fmla="*/ 1 w 96"/>
                <a:gd name="T5" fmla="*/ 852 h 1392"/>
                <a:gd name="T6" fmla="*/ 0 w 96"/>
                <a:gd name="T7" fmla="*/ 826 h 1392"/>
                <a:gd name="T8" fmla="*/ 0 w 96"/>
                <a:gd name="T9" fmla="*/ 0 h 13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392"/>
                <a:gd name="T17" fmla="*/ 96 w 96"/>
                <a:gd name="T18" fmla="*/ 1392 h 13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392">
                  <a:moveTo>
                    <a:pt x="0" y="0"/>
                  </a:moveTo>
                  <a:lnTo>
                    <a:pt x="96" y="36"/>
                  </a:lnTo>
                  <a:lnTo>
                    <a:pt x="96" y="1392"/>
                  </a:lnTo>
                  <a:lnTo>
                    <a:pt x="0" y="1352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rgbClr val="0000FF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307" name="Line 1081"/>
            <p:cNvSpPr>
              <a:spLocks noChangeShapeType="1"/>
            </p:cNvSpPr>
            <p:nvPr/>
          </p:nvSpPr>
          <p:spPr bwMode="auto">
            <a:xfrm>
              <a:off x="4800" y="3408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308" name="Line 1082"/>
            <p:cNvSpPr>
              <a:spLocks noChangeShapeType="1"/>
            </p:cNvSpPr>
            <p:nvPr/>
          </p:nvSpPr>
          <p:spPr bwMode="auto">
            <a:xfrm>
              <a:off x="4848" y="3408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895634" y="1448632"/>
                <a:ext cx="6698506" cy="15698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30000"/>
                  </a:lnSpc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𝛷</m:t>
                      </m:r>
                      <m:r>
                        <a:rPr lang="en-US" altLang="zh-CN" sz="2800" b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𝑑</m:t>
                          </m:r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𝛷</m:t>
                          </m:r>
                        </m:e>
                      </m:nary>
                      <m:r>
                        <a:rPr lang="en-US" altLang="zh-CN" sz="2800" b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𝐼</m:t>
                              </m:r>
                            </m:num>
                            <m:den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2</m:t>
                              </m:r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𝜋</m:t>
                              </m:r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𝑟</m:t>
                              </m:r>
                            </m:den>
                          </m:f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𝑙𝑑𝑟</m:t>
                          </m:r>
                        </m:e>
                      </m:nary>
                      <m:r>
                        <a:rPr lang="en-US" altLang="zh-CN" sz="2800" b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𝐼𝑙</m:t>
                          </m:r>
                        </m:num>
                        <m:den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2</m:t>
                          </m:r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𝜋</m:t>
                          </m:r>
                        </m:den>
                      </m:f>
                      <m:func>
                        <m:func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uncPr>
                        <m:fNam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𝑙𝑛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en-US" altLang="zh-CN" sz="2800" dirty="0">
                  <a:solidFill>
                    <a:srgbClr val="000000"/>
                  </a:solidFill>
                  <a:latin typeface="Times New Roman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634" y="1448632"/>
                <a:ext cx="6698506" cy="156985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7">
                <a:extLst>
                  <a:ext uri="{FF2B5EF4-FFF2-40B4-BE49-F238E27FC236}">
                    <a16:creationId xmlns:a16="http://schemas.microsoft.com/office/drawing/2014/main" id="{5F2E993C-59B3-4D3C-97BC-E4DC3BE03D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4303" y="2963420"/>
                <a:ext cx="4578423" cy="13297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0" i="0" u="none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单位长度的自感为</a:t>
                </a:r>
              </a:p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𝐿</m:t>
                      </m:r>
                      <m:r>
                        <a:rPr lang="en-US" altLang="zh-CN" sz="2800" b="0" u="non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zh-CN" altLang="en-US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𝛷</m:t>
                          </m:r>
                        </m:num>
                        <m:den>
                          <m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𝐼𝑙</m:t>
                          </m:r>
                        </m:den>
                      </m:f>
                    </m:oMath>
                  </m:oMathPara>
                </a14:m>
                <a:endParaRPr lang="zh-CN" altLang="en-US" sz="2800" b="0" i="0" u="none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3" name="Text Box 7">
                <a:extLst>
                  <a:ext uri="{FF2B5EF4-FFF2-40B4-BE49-F238E27FC236}">
                    <a16:creationId xmlns:a16="http://schemas.microsoft.com/office/drawing/2014/main" id="{5F2E993C-59B3-4D3C-97BC-E4DC3BE03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4303" y="2963420"/>
                <a:ext cx="4578423" cy="1329788"/>
              </a:xfrm>
              <a:prstGeom prst="rect">
                <a:avLst/>
              </a:prstGeom>
              <a:blipFill>
                <a:blip r:embed="rId14"/>
                <a:stretch>
                  <a:fillRect l="-2663" t="-458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7">
                <a:extLst>
                  <a:ext uri="{FF2B5EF4-FFF2-40B4-BE49-F238E27FC236}">
                    <a16:creationId xmlns:a16="http://schemas.microsoft.com/office/drawing/2014/main" id="{5854177C-AF37-4866-B85B-DCBB8CCA47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08073" y="4656784"/>
                <a:ext cx="6280686" cy="1831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0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若两筒间充满磁导率为</a:t>
                </a:r>
                <a14:m>
                  <m:oMath xmlns:m="http://schemas.openxmlformats.org/officeDocument/2006/math">
                    <m:r>
                      <a:rPr lang="zh-CN" altLang="en-US" sz="2800" b="0" i="1" u="none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𝜇</m:t>
                    </m:r>
                  </m:oMath>
                </a14:m>
                <a:r>
                  <a:rPr lang="zh-CN" altLang="en-US" sz="2800" b="0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的磁介质（同轴电缆），则</a:t>
                </a:r>
              </a:p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u="non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𝐿</m:t>
                      </m:r>
                      <m:r>
                        <a:rPr lang="en-US" altLang="zh-CN" sz="2800" b="0" u="non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lang="zh-CN" altLang="en-US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𝜇</m:t>
                          </m:r>
                        </m:num>
                        <m:den>
                          <m: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2</m:t>
                          </m:r>
                          <m:r>
                            <a:rPr lang="zh-CN" altLang="en-US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𝜋</m:t>
                          </m:r>
                        </m:den>
                      </m:f>
                      <m:func>
                        <m:funcPr>
                          <m:ctrlP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28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b="0" i="1" u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u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800" b="0" i="1" u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800" b="0" i="1" u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u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800" b="0" i="1" u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800" b="0" i="0" u="none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4" name="Text Box 7">
                <a:extLst>
                  <a:ext uri="{FF2B5EF4-FFF2-40B4-BE49-F238E27FC236}">
                    <a16:creationId xmlns:a16="http://schemas.microsoft.com/office/drawing/2014/main" id="{5854177C-AF37-4866-B85B-DCBB8CCA4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08073" y="4656784"/>
                <a:ext cx="6280686" cy="1831207"/>
              </a:xfrm>
              <a:prstGeom prst="rect">
                <a:avLst/>
              </a:prstGeom>
              <a:blipFill>
                <a:blip r:embed="rId15"/>
                <a:stretch>
                  <a:fillRect l="-1940" t="-3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2D1DAA99-DFA4-4277-BE17-22EA5069B2BF}"/>
                  </a:ext>
                </a:extLst>
              </p:cNvPr>
              <p:cNvSpPr txBox="1"/>
              <p:nvPr/>
            </p:nvSpPr>
            <p:spPr>
              <a:xfrm>
                <a:off x="3146365" y="3420648"/>
                <a:ext cx="3178854" cy="969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u="none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 u="none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 u="none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800" b="0" i="1" u="none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2</m:t>
                          </m:r>
                          <m:r>
                            <a:rPr lang="zh-CN" altLang="en-US" sz="2800" b="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𝜋</m:t>
                          </m:r>
                        </m:den>
                      </m:f>
                      <m:func>
                        <m:funcPr>
                          <m:ctrlPr>
                            <a:rPr lang="en-US" altLang="zh-CN" sz="2800" i="1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u="none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2800" i="1" u="none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i="1" u="none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u="none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800" b="0" i="1" u="none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800" i="1" u="none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u="none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800" b="0" i="1" u="none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2D1DAA99-DFA4-4277-BE17-22EA5069B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365" y="3420648"/>
                <a:ext cx="3178854" cy="96943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 Box 1035">
                <a:extLst>
                  <a:ext uri="{FF2B5EF4-FFF2-40B4-BE49-F238E27FC236}">
                    <a16:creationId xmlns:a16="http://schemas.microsoft.com/office/drawing/2014/main" id="{5A26E74D-D9B1-42AA-AF71-747C1F0C12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3535" y="261868"/>
                <a:ext cx="10731479" cy="1093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spcBef>
                    <a:spcPct val="50000"/>
                  </a:spcBef>
                </a:pPr>
                <a:r>
                  <a:rPr lang="zh-CN" altLang="en-US" sz="2800" b="0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例：</a:t>
                </a:r>
                <a:r>
                  <a:rPr lang="zh-CN" altLang="en-US" sz="2800" b="0" i="0" u="none" dirty="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</a:rPr>
                  <a:t>设有两个共轴长圆筒，半径分别为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800" b="0" i="0" u="none" dirty="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800" b="0" i="0" u="none" dirty="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</a:rPr>
                  <a:t>。电流由内筒的一端流入，由外筒的另一端流回，求其单位长度的自感</a:t>
                </a:r>
                <a:endParaRPr lang="en-US" altLang="zh-CN" sz="2800" b="0" i="0" u="none" dirty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6" name="Text Box 1035">
                <a:extLst>
                  <a:ext uri="{FF2B5EF4-FFF2-40B4-BE49-F238E27FC236}">
                    <a16:creationId xmlns:a16="http://schemas.microsoft.com/office/drawing/2014/main" id="{5A26E74D-D9B1-42AA-AF71-747C1F0C1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63535" y="261868"/>
                <a:ext cx="10731479" cy="1093633"/>
              </a:xfrm>
              <a:prstGeom prst="rect">
                <a:avLst/>
              </a:prstGeom>
              <a:blipFill>
                <a:blip r:embed="rId17"/>
                <a:stretch>
                  <a:fillRect l="-1193" t="-1117" b="-1508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7556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0" name="Text Box 4"/>
          <p:cNvSpPr txBox="1">
            <a:spLocks noChangeArrowheads="1"/>
          </p:cNvSpPr>
          <p:nvPr/>
        </p:nvSpPr>
        <p:spPr bwMode="auto">
          <a:xfrm>
            <a:off x="1584269" y="228299"/>
            <a:ext cx="87901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0" i="0" u="none" dirty="0"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r>
              <a:rPr lang="en-US" altLang="zh-CN" sz="2800" b="0" i="0" u="none" dirty="0">
                <a:latin typeface="华文楷体" panose="02010600040101010101" pitchFamily="2" charset="-122"/>
                <a:ea typeface="华文楷体" panose="02010600040101010101" pitchFamily="2" charset="-122"/>
              </a:rPr>
              <a:t>: </a:t>
            </a:r>
            <a:r>
              <a:rPr lang="zh-CN" altLang="en-US" sz="2800" b="0" i="0" u="none" dirty="0">
                <a:latin typeface="华文楷体" panose="02010600040101010101" pitchFamily="2" charset="-122"/>
                <a:ea typeface="华文楷体" panose="02010600040101010101" pitchFamily="2" charset="-122"/>
              </a:rPr>
              <a:t>试分析有自感的电路中电流的变化。</a:t>
            </a:r>
          </a:p>
        </p:txBody>
      </p:sp>
      <p:grpSp>
        <p:nvGrpSpPr>
          <p:cNvPr id="5" name="Group 42">
            <a:extLst>
              <a:ext uri="{FF2B5EF4-FFF2-40B4-BE49-F238E27FC236}">
                <a16:creationId xmlns:a16="http://schemas.microsoft.com/office/drawing/2014/main" id="{1029D5CF-5C81-4F01-9A28-87AA7D3F7396}"/>
              </a:ext>
            </a:extLst>
          </p:cNvPr>
          <p:cNvGrpSpPr>
            <a:grpSpLocks/>
          </p:cNvGrpSpPr>
          <p:nvPr/>
        </p:nvGrpSpPr>
        <p:grpSpPr bwMode="auto">
          <a:xfrm>
            <a:off x="7879812" y="805106"/>
            <a:ext cx="3384550" cy="1584325"/>
            <a:chOff x="2880" y="346"/>
            <a:chExt cx="2586" cy="1360"/>
          </a:xfrm>
        </p:grpSpPr>
        <p:grpSp>
          <p:nvGrpSpPr>
            <p:cNvPr id="6" name="Group 36">
              <a:extLst>
                <a:ext uri="{FF2B5EF4-FFF2-40B4-BE49-F238E27FC236}">
                  <a16:creationId xmlns:a16="http://schemas.microsoft.com/office/drawing/2014/main" id="{91B411A3-20E1-4216-8FCB-BC698D3EA4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346"/>
              <a:ext cx="2586" cy="1360"/>
              <a:chOff x="2880" y="346"/>
              <a:chExt cx="2586" cy="1360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B139B33A-ACB4-4083-8254-0158DB3148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7" y="346"/>
                <a:ext cx="410" cy="181"/>
              </a:xfrm>
              <a:prstGeom prst="rect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13" name="Group 21">
                <a:extLst>
                  <a:ext uri="{FF2B5EF4-FFF2-40B4-BE49-F238E27FC236}">
                    <a16:creationId xmlns:a16="http://schemas.microsoft.com/office/drawing/2014/main" id="{6DD7F31A-E732-4E52-AEF0-631827C3B6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04" y="390"/>
                <a:ext cx="363" cy="137"/>
                <a:chOff x="1655" y="2341"/>
                <a:chExt cx="363" cy="137"/>
              </a:xfrm>
            </p:grpSpPr>
            <p:sp>
              <p:nvSpPr>
                <p:cNvPr id="37" name="AutoShape 16">
                  <a:extLst>
                    <a:ext uri="{FF2B5EF4-FFF2-40B4-BE49-F238E27FC236}">
                      <a16:creationId xmlns:a16="http://schemas.microsoft.com/office/drawing/2014/main" id="{23C1A0D6-C3D9-4F40-BA59-84CCE11E79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5" y="2341"/>
                  <a:ext cx="91" cy="137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600"/>
                    <a:gd name="T13" fmla="*/ 0 h 21600"/>
                    <a:gd name="T14" fmla="*/ 21600 w 21600"/>
                    <a:gd name="T15" fmla="*/ 7726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10819"/>
                      </a:moveTo>
                      <a:cubicBezTo>
                        <a:pt x="0" y="10813"/>
                        <a:pt x="0" y="10806"/>
                        <a:pt x="0" y="10800"/>
                      </a:cubicBez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4" y="0"/>
                        <a:pt x="21600" y="4835"/>
                        <a:pt x="21600" y="10800"/>
                      </a:cubicBezTo>
                      <a:cubicBezTo>
                        <a:pt x="21600" y="10806"/>
                        <a:pt x="21599" y="10813"/>
                        <a:pt x="21599" y="10819"/>
                      </a:cubicBezTo>
                      <a:cubicBezTo>
                        <a:pt x="21599" y="10813"/>
                        <a:pt x="21600" y="10806"/>
                        <a:pt x="21600" y="10800"/>
                      </a:cubicBez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ubicBezTo>
                        <a:pt x="-1" y="10806"/>
                        <a:pt x="0" y="10813"/>
                        <a:pt x="0" y="1081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25400">
                  <a:solidFill>
                    <a:srgbClr val="FF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38" name="AutoShape 17">
                  <a:extLst>
                    <a:ext uri="{FF2B5EF4-FFF2-40B4-BE49-F238E27FC236}">
                      <a16:creationId xmlns:a16="http://schemas.microsoft.com/office/drawing/2014/main" id="{739C2BF3-8965-413A-A72A-94F3BCE21C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6" y="2341"/>
                  <a:ext cx="91" cy="137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600"/>
                    <a:gd name="T13" fmla="*/ 0 h 21600"/>
                    <a:gd name="T14" fmla="*/ 21600 w 21600"/>
                    <a:gd name="T15" fmla="*/ 7726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10819"/>
                      </a:moveTo>
                      <a:cubicBezTo>
                        <a:pt x="0" y="10813"/>
                        <a:pt x="0" y="10806"/>
                        <a:pt x="0" y="10800"/>
                      </a:cubicBez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4" y="0"/>
                        <a:pt x="21600" y="4835"/>
                        <a:pt x="21600" y="10800"/>
                      </a:cubicBezTo>
                      <a:cubicBezTo>
                        <a:pt x="21600" y="10806"/>
                        <a:pt x="21599" y="10813"/>
                        <a:pt x="21599" y="10819"/>
                      </a:cubicBezTo>
                      <a:cubicBezTo>
                        <a:pt x="21599" y="10813"/>
                        <a:pt x="21600" y="10806"/>
                        <a:pt x="21600" y="10800"/>
                      </a:cubicBez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ubicBezTo>
                        <a:pt x="-1" y="10806"/>
                        <a:pt x="0" y="10813"/>
                        <a:pt x="0" y="1081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25400">
                  <a:solidFill>
                    <a:srgbClr val="FF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39" name="AutoShape 18">
                  <a:extLst>
                    <a:ext uri="{FF2B5EF4-FFF2-40B4-BE49-F238E27FC236}">
                      <a16:creationId xmlns:a16="http://schemas.microsoft.com/office/drawing/2014/main" id="{991424F4-81F4-4A3A-93BB-2E17DB1D90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37" y="2341"/>
                  <a:ext cx="91" cy="137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600"/>
                    <a:gd name="T13" fmla="*/ 0 h 21600"/>
                    <a:gd name="T14" fmla="*/ 21600 w 21600"/>
                    <a:gd name="T15" fmla="*/ 7726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10819"/>
                      </a:moveTo>
                      <a:cubicBezTo>
                        <a:pt x="0" y="10813"/>
                        <a:pt x="0" y="10806"/>
                        <a:pt x="0" y="10800"/>
                      </a:cubicBez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4" y="0"/>
                        <a:pt x="21600" y="4835"/>
                        <a:pt x="21600" y="10800"/>
                      </a:cubicBezTo>
                      <a:cubicBezTo>
                        <a:pt x="21600" y="10806"/>
                        <a:pt x="21599" y="10813"/>
                        <a:pt x="21599" y="10819"/>
                      </a:cubicBezTo>
                      <a:cubicBezTo>
                        <a:pt x="21599" y="10813"/>
                        <a:pt x="21600" y="10806"/>
                        <a:pt x="21600" y="10800"/>
                      </a:cubicBez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ubicBezTo>
                        <a:pt x="-1" y="10806"/>
                        <a:pt x="0" y="10813"/>
                        <a:pt x="0" y="1081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25400">
                  <a:solidFill>
                    <a:srgbClr val="FF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40" name="AutoShape 19">
                  <a:extLst>
                    <a:ext uri="{FF2B5EF4-FFF2-40B4-BE49-F238E27FC236}">
                      <a16:creationId xmlns:a16="http://schemas.microsoft.com/office/drawing/2014/main" id="{1E95A231-C3F1-4A7A-987E-F9023A48F2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7" y="2341"/>
                  <a:ext cx="91" cy="137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600"/>
                    <a:gd name="T13" fmla="*/ 0 h 21600"/>
                    <a:gd name="T14" fmla="*/ 21600 w 21600"/>
                    <a:gd name="T15" fmla="*/ 7726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10819"/>
                      </a:moveTo>
                      <a:cubicBezTo>
                        <a:pt x="0" y="10813"/>
                        <a:pt x="0" y="10806"/>
                        <a:pt x="0" y="10800"/>
                      </a:cubicBez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4" y="0"/>
                        <a:pt x="21600" y="4835"/>
                        <a:pt x="21600" y="10800"/>
                      </a:cubicBezTo>
                      <a:cubicBezTo>
                        <a:pt x="21600" y="10806"/>
                        <a:pt x="21599" y="10813"/>
                        <a:pt x="21599" y="10819"/>
                      </a:cubicBezTo>
                      <a:cubicBezTo>
                        <a:pt x="21599" y="10813"/>
                        <a:pt x="21600" y="10806"/>
                        <a:pt x="21600" y="10800"/>
                      </a:cubicBez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ubicBezTo>
                        <a:pt x="-1" y="10806"/>
                        <a:pt x="0" y="10813"/>
                        <a:pt x="0" y="1081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25400">
                  <a:solidFill>
                    <a:srgbClr val="FF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>
                    <a:ea typeface="华文新魏" panose="02010800040101010101" pitchFamily="2" charset="-122"/>
                  </a:endParaRPr>
                </a:p>
              </p:txBody>
            </p:sp>
          </p:grpSp>
          <p:grpSp>
            <p:nvGrpSpPr>
              <p:cNvPr id="14" name="Group 31">
                <a:extLst>
                  <a:ext uri="{FF2B5EF4-FFF2-40B4-BE49-F238E27FC236}">
                    <a16:creationId xmlns:a16="http://schemas.microsoft.com/office/drawing/2014/main" id="{94F8B3A1-0AD0-4830-8DC5-95840DE905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1" y="1008"/>
                <a:ext cx="362" cy="227"/>
                <a:chOff x="1565" y="2205"/>
                <a:chExt cx="362" cy="227"/>
              </a:xfrm>
            </p:grpSpPr>
            <p:grpSp>
              <p:nvGrpSpPr>
                <p:cNvPr id="28" name="Group 24">
                  <a:extLst>
                    <a:ext uri="{FF2B5EF4-FFF2-40B4-BE49-F238E27FC236}">
                      <a16:creationId xmlns:a16="http://schemas.microsoft.com/office/drawing/2014/main" id="{A06AB488-E07F-437F-95AB-0875DE92143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65" y="2205"/>
                  <a:ext cx="72" cy="227"/>
                  <a:chOff x="1565" y="2205"/>
                  <a:chExt cx="72" cy="227"/>
                </a:xfrm>
              </p:grpSpPr>
              <p:sp>
                <p:nvSpPr>
                  <p:cNvPr id="35" name="Line 22">
                    <a:extLst>
                      <a:ext uri="{FF2B5EF4-FFF2-40B4-BE49-F238E27FC236}">
                        <a16:creationId xmlns:a16="http://schemas.microsoft.com/office/drawing/2014/main" id="{51C59DBA-CBFC-485A-BBB6-DF60AEA6D48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65" y="2205"/>
                    <a:ext cx="0" cy="227"/>
                  </a:xfrm>
                  <a:prstGeom prst="line">
                    <a:avLst/>
                  </a:prstGeom>
                  <a:noFill/>
                  <a:ln w="25400">
                    <a:solidFill>
                      <a:srgbClr val="CC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6" name="Line 23">
                    <a:extLst>
                      <a:ext uri="{FF2B5EF4-FFF2-40B4-BE49-F238E27FC236}">
                        <a16:creationId xmlns:a16="http://schemas.microsoft.com/office/drawing/2014/main" id="{9D3697AB-108C-44A0-BD83-CAB52545BB3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37" y="2251"/>
                    <a:ext cx="0" cy="137"/>
                  </a:xfrm>
                  <a:prstGeom prst="line">
                    <a:avLst/>
                  </a:prstGeom>
                  <a:noFill/>
                  <a:ln w="50800">
                    <a:solidFill>
                      <a:srgbClr val="339966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ea typeface="华文新魏" panose="02010800040101010101" pitchFamily="2" charset="-122"/>
                    </a:endParaRPr>
                  </a:p>
                </p:txBody>
              </p:sp>
            </p:grpSp>
            <p:grpSp>
              <p:nvGrpSpPr>
                <p:cNvPr id="29" name="Group 25">
                  <a:extLst>
                    <a:ext uri="{FF2B5EF4-FFF2-40B4-BE49-F238E27FC236}">
                      <a16:creationId xmlns:a16="http://schemas.microsoft.com/office/drawing/2014/main" id="{DB844E33-214B-40CD-97DC-89C4A842660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01" y="2205"/>
                  <a:ext cx="72" cy="227"/>
                  <a:chOff x="1565" y="2205"/>
                  <a:chExt cx="72" cy="227"/>
                </a:xfrm>
              </p:grpSpPr>
              <p:sp>
                <p:nvSpPr>
                  <p:cNvPr id="33" name="Line 26">
                    <a:extLst>
                      <a:ext uri="{FF2B5EF4-FFF2-40B4-BE49-F238E27FC236}">
                        <a16:creationId xmlns:a16="http://schemas.microsoft.com/office/drawing/2014/main" id="{649BDDE7-DCCD-463C-B62C-E7A2731EA94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65" y="2205"/>
                    <a:ext cx="0" cy="227"/>
                  </a:xfrm>
                  <a:prstGeom prst="line">
                    <a:avLst/>
                  </a:prstGeom>
                  <a:noFill/>
                  <a:ln w="25400">
                    <a:solidFill>
                      <a:srgbClr val="CC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4" name="Line 27">
                    <a:extLst>
                      <a:ext uri="{FF2B5EF4-FFF2-40B4-BE49-F238E27FC236}">
                        <a16:creationId xmlns:a16="http://schemas.microsoft.com/office/drawing/2014/main" id="{E19E5F25-8F29-42E6-B1AD-8B2DF1D15F6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37" y="2251"/>
                    <a:ext cx="0" cy="137"/>
                  </a:xfrm>
                  <a:prstGeom prst="line">
                    <a:avLst/>
                  </a:prstGeom>
                  <a:noFill/>
                  <a:ln w="50800">
                    <a:solidFill>
                      <a:srgbClr val="339966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ea typeface="华文新魏" panose="02010800040101010101" pitchFamily="2" charset="-122"/>
                    </a:endParaRPr>
                  </a:p>
                </p:txBody>
              </p:sp>
            </p:grpSp>
            <p:grpSp>
              <p:nvGrpSpPr>
                <p:cNvPr id="30" name="Group 28">
                  <a:extLst>
                    <a:ext uri="{FF2B5EF4-FFF2-40B4-BE49-F238E27FC236}">
                      <a16:creationId xmlns:a16="http://schemas.microsoft.com/office/drawing/2014/main" id="{26934C36-E738-4215-BA46-2BDC5C1B9B6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55" y="2205"/>
                  <a:ext cx="72" cy="227"/>
                  <a:chOff x="1565" y="2205"/>
                  <a:chExt cx="72" cy="227"/>
                </a:xfrm>
              </p:grpSpPr>
              <p:sp>
                <p:nvSpPr>
                  <p:cNvPr id="31" name="Line 29">
                    <a:extLst>
                      <a:ext uri="{FF2B5EF4-FFF2-40B4-BE49-F238E27FC236}">
                        <a16:creationId xmlns:a16="http://schemas.microsoft.com/office/drawing/2014/main" id="{401F8563-9134-4239-8170-B3D650E8FA2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65" y="2205"/>
                    <a:ext cx="0" cy="227"/>
                  </a:xfrm>
                  <a:prstGeom prst="line">
                    <a:avLst/>
                  </a:prstGeom>
                  <a:noFill/>
                  <a:ln w="25400">
                    <a:solidFill>
                      <a:srgbClr val="CC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2" name="Line 30">
                    <a:extLst>
                      <a:ext uri="{FF2B5EF4-FFF2-40B4-BE49-F238E27FC236}">
                        <a16:creationId xmlns:a16="http://schemas.microsoft.com/office/drawing/2014/main" id="{95F9A6E6-C27B-4691-AF77-AC3B336C266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37" y="2251"/>
                    <a:ext cx="0" cy="137"/>
                  </a:xfrm>
                  <a:prstGeom prst="line">
                    <a:avLst/>
                  </a:prstGeom>
                  <a:noFill/>
                  <a:ln w="50800">
                    <a:solidFill>
                      <a:srgbClr val="339966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ea typeface="华文新魏" panose="02010800040101010101" pitchFamily="2" charset="-122"/>
                    </a:endParaRPr>
                  </a:p>
                </p:txBody>
              </p:sp>
            </p:grpSp>
          </p:grpSp>
          <p:grpSp>
            <p:nvGrpSpPr>
              <p:cNvPr id="15" name="Group 35">
                <a:extLst>
                  <a:ext uri="{FF2B5EF4-FFF2-40B4-BE49-F238E27FC236}">
                    <a16:creationId xmlns:a16="http://schemas.microsoft.com/office/drawing/2014/main" id="{D6320F74-1C97-4D97-8CA4-49B4875285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436"/>
                <a:ext cx="2586" cy="1270"/>
                <a:chOff x="2880" y="436"/>
                <a:chExt cx="2586" cy="1270"/>
              </a:xfrm>
            </p:grpSpPr>
            <p:sp>
              <p:nvSpPr>
                <p:cNvPr id="16" name="Line 6">
                  <a:extLst>
                    <a:ext uri="{FF2B5EF4-FFF2-40B4-BE49-F238E27FC236}">
                      <a16:creationId xmlns:a16="http://schemas.microsoft.com/office/drawing/2014/main" id="{0063867C-882B-483D-9085-57A95A8759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0" y="436"/>
                  <a:ext cx="726" cy="0"/>
                </a:xfrm>
                <a:prstGeom prst="line">
                  <a:avLst/>
                </a:prstGeom>
                <a:noFill/>
                <a:ln w="38100">
                  <a:solidFill>
                    <a:srgbClr val="99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7" name="Line 7">
                  <a:extLst>
                    <a:ext uri="{FF2B5EF4-FFF2-40B4-BE49-F238E27FC236}">
                      <a16:creationId xmlns:a16="http://schemas.microsoft.com/office/drawing/2014/main" id="{76673F70-251E-4D2C-A02C-F26585A6F8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0" y="436"/>
                  <a:ext cx="0" cy="1270"/>
                </a:xfrm>
                <a:prstGeom prst="line">
                  <a:avLst/>
                </a:prstGeom>
                <a:noFill/>
                <a:ln w="38100">
                  <a:solidFill>
                    <a:srgbClr val="99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8" name="Line 9">
                  <a:extLst>
                    <a:ext uri="{FF2B5EF4-FFF2-40B4-BE49-F238E27FC236}">
                      <a16:creationId xmlns:a16="http://schemas.microsoft.com/office/drawing/2014/main" id="{0C9DB21C-0A99-43C5-A3DE-ADB112EBD2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76" y="1117"/>
                  <a:ext cx="589" cy="1"/>
                </a:xfrm>
                <a:prstGeom prst="line">
                  <a:avLst/>
                </a:prstGeom>
                <a:noFill/>
                <a:ln w="38100">
                  <a:solidFill>
                    <a:srgbClr val="99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9" name="Line 10">
                  <a:extLst>
                    <a:ext uri="{FF2B5EF4-FFF2-40B4-BE49-F238E27FC236}">
                      <a16:creationId xmlns:a16="http://schemas.microsoft.com/office/drawing/2014/main" id="{60668FA5-E4C9-41D3-B55D-5E7EA21316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14" y="1117"/>
                  <a:ext cx="454" cy="0"/>
                </a:xfrm>
                <a:prstGeom prst="line">
                  <a:avLst/>
                </a:prstGeom>
                <a:noFill/>
                <a:ln w="38100">
                  <a:solidFill>
                    <a:srgbClr val="99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0" name="Line 11">
                  <a:extLst>
                    <a:ext uri="{FF2B5EF4-FFF2-40B4-BE49-F238E27FC236}">
                      <a16:creationId xmlns:a16="http://schemas.microsoft.com/office/drawing/2014/main" id="{5323C983-6241-4227-82B5-0853FF1224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0" y="1117"/>
                  <a:ext cx="771" cy="0"/>
                </a:xfrm>
                <a:prstGeom prst="line">
                  <a:avLst/>
                </a:prstGeom>
                <a:noFill/>
                <a:ln w="38100">
                  <a:solidFill>
                    <a:srgbClr val="99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1" name="Line 12">
                  <a:extLst>
                    <a:ext uri="{FF2B5EF4-FFF2-40B4-BE49-F238E27FC236}">
                      <a16:creationId xmlns:a16="http://schemas.microsoft.com/office/drawing/2014/main" id="{B63C8ECD-15BC-4354-A83F-57CCCB6E4A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76" y="1706"/>
                  <a:ext cx="589" cy="0"/>
                </a:xfrm>
                <a:prstGeom prst="line">
                  <a:avLst/>
                </a:prstGeom>
                <a:noFill/>
                <a:ln w="38100">
                  <a:solidFill>
                    <a:srgbClr val="99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2" name="Line 13">
                  <a:extLst>
                    <a:ext uri="{FF2B5EF4-FFF2-40B4-BE49-F238E27FC236}">
                      <a16:creationId xmlns:a16="http://schemas.microsoft.com/office/drawing/2014/main" id="{9A8B27E9-F4BC-44ED-8A98-139B753CD8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0" y="1706"/>
                  <a:ext cx="1588" cy="0"/>
                </a:xfrm>
                <a:prstGeom prst="line">
                  <a:avLst/>
                </a:prstGeom>
                <a:noFill/>
                <a:ln w="38100">
                  <a:solidFill>
                    <a:srgbClr val="99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3" name="Line 14">
                  <a:extLst>
                    <a:ext uri="{FF2B5EF4-FFF2-40B4-BE49-F238E27FC236}">
                      <a16:creationId xmlns:a16="http://schemas.microsoft.com/office/drawing/2014/main" id="{68BC55E4-7D92-4258-8EDE-3967636D03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7" y="436"/>
                  <a:ext cx="499" cy="1"/>
                </a:xfrm>
                <a:prstGeom prst="line">
                  <a:avLst/>
                </a:prstGeom>
                <a:noFill/>
                <a:ln w="38100">
                  <a:solidFill>
                    <a:srgbClr val="99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4" name="Line 15">
                  <a:extLst>
                    <a:ext uri="{FF2B5EF4-FFF2-40B4-BE49-F238E27FC236}">
                      <a16:creationId xmlns:a16="http://schemas.microsoft.com/office/drawing/2014/main" id="{3EF122F9-48FE-4E29-ABC2-219BA2EEB0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14" y="436"/>
                  <a:ext cx="590" cy="1"/>
                </a:xfrm>
                <a:prstGeom prst="line">
                  <a:avLst/>
                </a:prstGeom>
                <a:noFill/>
                <a:ln w="38100">
                  <a:solidFill>
                    <a:srgbClr val="99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5" name="Line 32">
                  <a:extLst>
                    <a:ext uri="{FF2B5EF4-FFF2-40B4-BE49-F238E27FC236}">
                      <a16:creationId xmlns:a16="http://schemas.microsoft.com/office/drawing/2014/main" id="{CCFFF3E4-6CA5-4E0C-870E-9A6244823E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65" y="436"/>
                  <a:ext cx="0" cy="1270"/>
                </a:xfrm>
                <a:prstGeom prst="line">
                  <a:avLst/>
                </a:prstGeom>
                <a:noFill/>
                <a:ln w="38100">
                  <a:solidFill>
                    <a:srgbClr val="99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7" name="Line 34">
                  <a:extLst>
                    <a:ext uri="{FF2B5EF4-FFF2-40B4-BE49-F238E27FC236}">
                      <a16:creationId xmlns:a16="http://schemas.microsoft.com/office/drawing/2014/main" id="{7B2A6986-59CB-42FE-ACCD-A13B4FF670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68" y="1479"/>
                  <a:ext cx="408" cy="227"/>
                </a:xfrm>
                <a:prstGeom prst="line">
                  <a:avLst/>
                </a:prstGeom>
                <a:noFill/>
                <a:ln w="38100">
                  <a:solidFill>
                    <a:srgbClr val="99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华文新魏" panose="02010800040101010101" pitchFamily="2" charset="-122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bject 8">
                  <a:extLst>
                    <a:ext uri="{FF2B5EF4-FFF2-40B4-BE49-F238E27FC236}">
                      <a16:creationId xmlns:a16="http://schemas.microsoft.com/office/drawing/2014/main" id="{D42EE756-5308-49AB-8B23-2ED64FC6D019}"/>
                    </a:ext>
                  </a:extLst>
                </p:cNvPr>
                <p:cNvSpPr txBox="1"/>
                <p:nvPr/>
              </p:nvSpPr>
              <p:spPr bwMode="auto">
                <a:xfrm>
                  <a:off x="3714" y="1271"/>
                  <a:ext cx="299" cy="331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" name="Object 8">
                  <a:extLst>
                    <a:ext uri="{FF2B5EF4-FFF2-40B4-BE49-F238E27FC236}">
                      <a16:creationId xmlns:a16="http://schemas.microsoft.com/office/drawing/2014/main" id="{D42EE756-5308-49AB-8B23-2ED64FC6D0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14" y="1271"/>
                  <a:ext cx="299" cy="33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bject 9">
                  <a:extLst>
                    <a:ext uri="{FF2B5EF4-FFF2-40B4-BE49-F238E27FC236}">
                      <a16:creationId xmlns:a16="http://schemas.microsoft.com/office/drawing/2014/main" id="{C5A7B6AE-5C2B-48E4-866A-1E955A50C7D2}"/>
                    </a:ext>
                  </a:extLst>
                </p:cNvPr>
                <p:cNvSpPr txBox="1"/>
                <p:nvPr/>
              </p:nvSpPr>
              <p:spPr bwMode="auto">
                <a:xfrm>
                  <a:off x="3742" y="535"/>
                  <a:ext cx="213" cy="215"/>
                </a:xfrm>
                <a:prstGeom prst="rect">
                  <a:avLst/>
                </a:prstGeom>
                <a:noFill/>
              </p:spPr>
              <p:txBody>
                <a:bodyPr>
                  <a:normAutofit fontScale="55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8" name="Object 9">
                  <a:extLst>
                    <a:ext uri="{FF2B5EF4-FFF2-40B4-BE49-F238E27FC236}">
                      <a16:creationId xmlns:a16="http://schemas.microsoft.com/office/drawing/2014/main" id="{C5A7B6AE-5C2B-48E4-866A-1E955A50C7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42" y="535"/>
                  <a:ext cx="213" cy="21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bject 10">
                  <a:extLst>
                    <a:ext uri="{FF2B5EF4-FFF2-40B4-BE49-F238E27FC236}">
                      <a16:creationId xmlns:a16="http://schemas.microsoft.com/office/drawing/2014/main" id="{9A7106A0-2027-456E-974E-C7E94F6304BC}"/>
                    </a:ext>
                  </a:extLst>
                </p:cNvPr>
                <p:cNvSpPr txBox="1"/>
                <p:nvPr/>
              </p:nvSpPr>
              <p:spPr bwMode="auto">
                <a:xfrm>
                  <a:off x="5014" y="460"/>
                  <a:ext cx="213" cy="215"/>
                </a:xfrm>
                <a:prstGeom prst="rect">
                  <a:avLst/>
                </a:prstGeom>
                <a:noFill/>
              </p:spPr>
              <p:txBody>
                <a:bodyPr>
                  <a:normAutofit fontScale="55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9" name="Object 10">
                  <a:extLst>
                    <a:ext uri="{FF2B5EF4-FFF2-40B4-BE49-F238E27FC236}">
                      <a16:creationId xmlns:a16="http://schemas.microsoft.com/office/drawing/2014/main" id="{9A7106A0-2027-456E-974E-C7E94F6304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14" y="460"/>
                  <a:ext cx="213" cy="21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bject 11">
                  <a:extLst>
                    <a:ext uri="{FF2B5EF4-FFF2-40B4-BE49-F238E27FC236}">
                      <a16:creationId xmlns:a16="http://schemas.microsoft.com/office/drawing/2014/main" id="{57EB84A9-2727-4731-ACEF-34F0551DA34C}"/>
                    </a:ext>
                  </a:extLst>
                </p:cNvPr>
                <p:cNvSpPr txBox="1"/>
                <p:nvPr/>
              </p:nvSpPr>
              <p:spPr bwMode="auto">
                <a:xfrm>
                  <a:off x="4676" y="710"/>
                  <a:ext cx="250" cy="323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0" name="Object 11">
                  <a:extLst>
                    <a:ext uri="{FF2B5EF4-FFF2-40B4-BE49-F238E27FC236}">
                      <a16:creationId xmlns:a16="http://schemas.microsoft.com/office/drawing/2014/main" id="{57EB84A9-2727-4731-ACEF-34F0551DA3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76" y="710"/>
                  <a:ext cx="250" cy="323"/>
                </a:xfrm>
                <a:prstGeom prst="rect">
                  <a:avLst/>
                </a:prstGeom>
                <a:blipFill>
                  <a:blip r:embed="rId5"/>
                  <a:stretch>
                    <a:fillRect r="-740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bject 12">
                  <a:extLst>
                    <a:ext uri="{FF2B5EF4-FFF2-40B4-BE49-F238E27FC236}">
                      <a16:creationId xmlns:a16="http://schemas.microsoft.com/office/drawing/2014/main" id="{7C943582-1280-4845-8EE3-E068468FAC98}"/>
                    </a:ext>
                  </a:extLst>
                </p:cNvPr>
                <p:cNvSpPr txBox="1"/>
                <p:nvPr/>
              </p:nvSpPr>
              <p:spPr bwMode="auto">
                <a:xfrm>
                  <a:off x="4631" y="1301"/>
                  <a:ext cx="250" cy="322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1" name="Object 12">
                  <a:extLst>
                    <a:ext uri="{FF2B5EF4-FFF2-40B4-BE49-F238E27FC236}">
                      <a16:creationId xmlns:a16="http://schemas.microsoft.com/office/drawing/2014/main" id="{7C943582-1280-4845-8EE3-E068468FAC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31" y="1301"/>
                  <a:ext cx="250" cy="322"/>
                </a:xfrm>
                <a:prstGeom prst="rect">
                  <a:avLst/>
                </a:prstGeom>
                <a:blipFill>
                  <a:blip r:embed="rId6"/>
                  <a:stretch>
                    <a:fillRect r="-943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43">
                <a:extLst>
                  <a:ext uri="{FF2B5EF4-FFF2-40B4-BE49-F238E27FC236}">
                    <a16:creationId xmlns:a16="http://schemas.microsoft.com/office/drawing/2014/main" id="{3726AB47-D8A4-4EE0-8BF1-2368CF0DE1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7318" y="970592"/>
                <a:ext cx="4468207" cy="592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25000"/>
                  </a:lnSpc>
                  <a:spcBef>
                    <a:spcPct val="50000"/>
                  </a:spcBef>
                </a:pPr>
                <a:r>
                  <a:rPr lang="en-US" altLang="zh-CN" sz="2800" b="0" u="none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- </a:t>
                </a:r>
                <a14:m>
                  <m:oMath xmlns:m="http://schemas.openxmlformats.org/officeDocument/2006/math">
                    <m:r>
                      <a:rPr lang="en-US" altLang="zh-CN" sz="2800" b="0" i="1" u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𝑆</m:t>
                    </m:r>
                    <m:r>
                      <a:rPr lang="en-US" altLang="zh-CN" sz="2800" b="0" i="1" u="none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2</m:t>
                    </m:r>
                  </m:oMath>
                </a14:m>
                <a:r>
                  <a:rPr lang="zh-CN" altLang="en-US" sz="2800" b="0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断开，</a:t>
                </a:r>
                <a14:m>
                  <m:oMath xmlns:m="http://schemas.openxmlformats.org/officeDocument/2006/math">
                    <m:r>
                      <a:rPr lang="en-US" altLang="zh-CN" sz="2800" b="0" i="1" u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𝑆</m:t>
                    </m:r>
                    <m:r>
                      <a:rPr lang="en-US" altLang="zh-CN" sz="2800" b="0" i="1" u="none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2800" b="0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闭合时</a:t>
                </a:r>
                <a:endParaRPr lang="zh-CN" altLang="en-US" sz="2800" b="0" u="none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1" name="Text Box 43">
                <a:extLst>
                  <a:ext uri="{FF2B5EF4-FFF2-40B4-BE49-F238E27FC236}">
                    <a16:creationId xmlns:a16="http://schemas.microsoft.com/office/drawing/2014/main" id="{3726AB47-D8A4-4EE0-8BF1-2368CF0DE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7318" y="970592"/>
                <a:ext cx="4468207" cy="592278"/>
              </a:xfrm>
              <a:prstGeom prst="rect">
                <a:avLst/>
              </a:prstGeom>
              <a:blipFill>
                <a:blip r:embed="rId7"/>
                <a:stretch>
                  <a:fillRect l="-2729" t="-1031" b="-2886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E1F4E49A-B2EF-4530-9F40-C201AABA3646}"/>
                  </a:ext>
                </a:extLst>
              </p:cNvPr>
              <p:cNvSpPr txBox="1"/>
              <p:nvPr/>
            </p:nvSpPr>
            <p:spPr>
              <a:xfrm>
                <a:off x="1027873" y="3052465"/>
                <a:ext cx="6956978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600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设某瞬时电路中的电流为</a:t>
                </a:r>
                <a14:m>
                  <m:oMath xmlns:m="http://schemas.openxmlformats.org/officeDocument/2006/math">
                    <m:r>
                      <a:rPr lang="en-US" altLang="zh-CN" sz="2600" b="0" i="1" u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𝐼</m:t>
                    </m:r>
                  </m:oMath>
                </a14:m>
                <a:r>
                  <a:rPr lang="zh-CN" altLang="en-US" sz="2600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，由欧姆定律得</a:t>
                </a:r>
                <a:endParaRPr lang="zh-CN" altLang="en-US" sz="2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E1F4E49A-B2EF-4530-9F40-C201AABA3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873" y="3052465"/>
                <a:ext cx="6956978" cy="492443"/>
              </a:xfrm>
              <a:prstGeom prst="rect">
                <a:avLst/>
              </a:prstGeom>
              <a:blipFill>
                <a:blip r:embed="rId8"/>
                <a:stretch>
                  <a:fillRect l="-1578" t="-12346" b="-296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9A770BED-0477-4488-A82A-D4EC66794762}"/>
                  </a:ext>
                </a:extLst>
              </p:cNvPr>
              <p:cNvSpPr txBox="1"/>
              <p:nvPr/>
            </p:nvSpPr>
            <p:spPr>
              <a:xfrm>
                <a:off x="1123080" y="1831075"/>
                <a:ext cx="6956978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600" b="0" i="1" u="none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𝑅𝐿</m:t>
                    </m:r>
                  </m:oMath>
                </a14:m>
                <a:r>
                  <a:rPr lang="zh-CN" altLang="en-US" sz="2600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电路中电流增大过程中出现自感电动势</a:t>
                </a:r>
                <a:endParaRPr lang="zh-CN" altLang="en-US" sz="2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9A770BED-0477-4488-A82A-D4EC66794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080" y="1831075"/>
                <a:ext cx="6956978" cy="492443"/>
              </a:xfrm>
              <a:prstGeom prst="rect">
                <a:avLst/>
              </a:prstGeom>
              <a:blipFill>
                <a:blip r:embed="rId9"/>
                <a:stretch>
                  <a:fillRect t="-11111" b="-308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本框 46">
            <a:extLst>
              <a:ext uri="{FF2B5EF4-FFF2-40B4-BE49-F238E27FC236}">
                <a16:creationId xmlns:a16="http://schemas.microsoft.com/office/drawing/2014/main" id="{70764EB2-C68A-4B33-8789-3E4CD1B19FB8}"/>
              </a:ext>
            </a:extLst>
          </p:cNvPr>
          <p:cNvSpPr txBox="1"/>
          <p:nvPr/>
        </p:nvSpPr>
        <p:spPr>
          <a:xfrm>
            <a:off x="1027873" y="2441770"/>
            <a:ext cx="695697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i="0" u="none" dirty="0">
                <a:latin typeface="华文楷体" panose="02010600040101010101" pitchFamily="2" charset="-122"/>
                <a:ea typeface="华文楷体" panose="02010600040101010101" pitchFamily="2" charset="-122"/>
              </a:rPr>
              <a:t>它与电源电动势共同决定电路中的电流大小</a:t>
            </a:r>
            <a:endParaRPr lang="zh-CN" altLang="en-US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6F2D069E-7D48-4419-8AE5-6F6C5B8C5326}"/>
                  </a:ext>
                </a:extLst>
              </p:cNvPr>
              <p:cNvSpPr txBox="1"/>
              <p:nvPr/>
            </p:nvSpPr>
            <p:spPr>
              <a:xfrm>
                <a:off x="2491123" y="3721713"/>
                <a:ext cx="2236703" cy="818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𝐼𝑅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6F2D069E-7D48-4419-8AE5-6F6C5B8C5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1123" y="3721713"/>
                <a:ext cx="2236703" cy="81842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3F2703B3-ACFC-4C96-BB46-5BC072931CBF}"/>
                  </a:ext>
                </a:extLst>
              </p:cNvPr>
              <p:cNvSpPr txBox="1"/>
              <p:nvPr/>
            </p:nvSpPr>
            <p:spPr>
              <a:xfrm>
                <a:off x="2379373" y="5090520"/>
                <a:ext cx="2756152" cy="10977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num>
                            <m:den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US" altLang="zh-C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3F2703B3-ACFC-4C96-BB46-5BC072931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373" y="5090520"/>
                <a:ext cx="2756152" cy="109773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EDC2E0A3-4BF7-4A29-B195-79237795C2E5}"/>
                  </a:ext>
                </a:extLst>
              </p:cNvPr>
              <p:cNvSpPr txBox="1"/>
              <p:nvPr/>
            </p:nvSpPr>
            <p:spPr>
              <a:xfrm>
                <a:off x="6790176" y="3603304"/>
                <a:ext cx="3603835" cy="11576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𝑑𝐼</m:t>
                              </m:r>
                            </m:num>
                            <m:den>
                              <m:f>
                                <m:fPr>
                                  <m:ctrlP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num>
                                <m:den>
                                  <m:r>
                                    <a:rPr lang="en-US" altLang="zh-CN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  <m:r>
                                <a:rPr lang="en-US" altLang="zh-CN" sz="28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den>
                          </m:f>
                          <m:r>
                            <a:rPr lang="en-US" altLang="zh-CN" sz="2800" b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num>
                            <m:den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m:rPr>
                              <m:nor/>
                            </m:rPr>
                            <a:rPr lang="zh-CN" altLang="en-US" sz="2800" dirty="0">
                              <a:solidFill>
                                <a:schemeClr val="tx1"/>
                              </a:solidFill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altLang="zh-C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EDC2E0A3-4BF7-4A29-B195-79237795C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176" y="3603304"/>
                <a:ext cx="3603835" cy="115768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5559E890-0921-4214-A80D-A5D7FC66CB0B}"/>
                  </a:ext>
                </a:extLst>
              </p:cNvPr>
              <p:cNvSpPr/>
              <p:nvPr/>
            </p:nvSpPr>
            <p:spPr>
              <a:xfrm>
                <a:off x="6671632" y="5045997"/>
                <a:ext cx="3762325" cy="14547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r>
                            <a:rPr lang="en-US" altLang="zh-CN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d>
                        <m:dPr>
                          <m:ctrlP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32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num>
                                <m:den>
                                  <m:r>
                                    <a:rPr lang="en-US" altLang="zh-CN" sz="32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en-US" altLang="zh-CN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5559E890-0921-4214-A80D-A5D7FC66CB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632" y="5045997"/>
                <a:ext cx="3762325" cy="145475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Line 33">
            <a:extLst>
              <a:ext uri="{FF2B5EF4-FFF2-40B4-BE49-F238E27FC236}">
                <a16:creationId xmlns:a16="http://schemas.microsoft.com/office/drawing/2014/main" id="{9790DA79-B58B-434B-A17E-9C62E73A079B}"/>
              </a:ext>
            </a:extLst>
          </p:cNvPr>
          <p:cNvSpPr>
            <a:spLocks noChangeShapeType="1"/>
          </p:cNvSpPr>
          <p:nvPr/>
        </p:nvSpPr>
        <p:spPr bwMode="auto">
          <a:xfrm>
            <a:off x="9920229" y="1700948"/>
            <a:ext cx="594193" cy="1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ea typeface="华文新魏" panose="02010800040101010101" pitchFamily="2" charset="-122"/>
            </a:endParaRPr>
          </a:p>
        </p:txBody>
      </p:sp>
      <p:sp>
        <p:nvSpPr>
          <p:cNvPr id="53" name="Line 33">
            <a:extLst>
              <a:ext uri="{FF2B5EF4-FFF2-40B4-BE49-F238E27FC236}">
                <a16:creationId xmlns:a16="http://schemas.microsoft.com/office/drawing/2014/main" id="{5A93465B-CD95-41A3-92F2-8D513AFA74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05299" y="1438836"/>
            <a:ext cx="533989" cy="264442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74561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3" grpId="0"/>
      <p:bldP spid="45" grpId="0"/>
      <p:bldP spid="47" grpId="0"/>
      <p:bldP spid="48" grpId="0"/>
      <p:bldP spid="49" grpId="0"/>
      <p:bldP spid="50" grpId="0"/>
      <p:bldP spid="51" grpId="0"/>
      <p:bldP spid="52" grpId="0" animBg="1"/>
      <p:bldP spid="5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大学物理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3866</TotalTime>
  <Words>2532</Words>
  <Application>Microsoft Office PowerPoint</Application>
  <PresentationFormat>宽屏</PresentationFormat>
  <Paragraphs>445</Paragraphs>
  <Slides>36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48" baseType="lpstr">
      <vt:lpstr>Helvetica Neue</vt:lpstr>
      <vt:lpstr>Monotype Sorts</vt:lpstr>
      <vt:lpstr>华文楷体</vt:lpstr>
      <vt:lpstr>Microsoft Yahei</vt:lpstr>
      <vt:lpstr>Arial</vt:lpstr>
      <vt:lpstr>Calibri</vt:lpstr>
      <vt:lpstr>Cambria Math</vt:lpstr>
      <vt:lpstr>Times New Roman</vt:lpstr>
      <vt:lpstr>Wingdings</vt:lpstr>
      <vt:lpstr>Office 主题​​</vt:lpstr>
      <vt:lpstr>公式</vt:lpstr>
      <vt:lpstr>Microsoft Word 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Jingcheng  Li</dc:creator>
  <cp:lastModifiedBy>li</cp:lastModifiedBy>
  <cp:revision>108</cp:revision>
  <dcterms:created xsi:type="dcterms:W3CDTF">2021-11-10T02:13:51Z</dcterms:created>
  <dcterms:modified xsi:type="dcterms:W3CDTF">2024-05-14T05:15:58Z</dcterms:modified>
</cp:coreProperties>
</file>