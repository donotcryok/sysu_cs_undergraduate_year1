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1310" r:id="rId2"/>
    <p:sldId id="447" r:id="rId3"/>
    <p:sldId id="981" r:id="rId4"/>
    <p:sldId id="985" r:id="rId5"/>
    <p:sldId id="776" r:id="rId6"/>
    <p:sldId id="990" r:id="rId7"/>
    <p:sldId id="779" r:id="rId8"/>
    <p:sldId id="780" r:id="rId9"/>
    <p:sldId id="1316" r:id="rId10"/>
    <p:sldId id="1312" r:id="rId11"/>
    <p:sldId id="781" r:id="rId12"/>
    <p:sldId id="782" r:id="rId13"/>
    <p:sldId id="783" r:id="rId14"/>
    <p:sldId id="991" r:id="rId15"/>
    <p:sldId id="788" r:id="rId16"/>
    <p:sldId id="786" r:id="rId17"/>
    <p:sldId id="784" r:id="rId18"/>
    <p:sldId id="785" r:id="rId19"/>
    <p:sldId id="889" r:id="rId20"/>
    <p:sldId id="890" r:id="rId21"/>
    <p:sldId id="891" r:id="rId22"/>
    <p:sldId id="892" r:id="rId23"/>
    <p:sldId id="893" r:id="rId24"/>
    <p:sldId id="894" r:id="rId25"/>
    <p:sldId id="1317" r:id="rId26"/>
    <p:sldId id="896" r:id="rId27"/>
    <p:sldId id="1315" r:id="rId28"/>
    <p:sldId id="1314" r:id="rId29"/>
    <p:sldId id="1319" r:id="rId30"/>
    <p:sldId id="900" r:id="rId31"/>
    <p:sldId id="1318" r:id="rId32"/>
    <p:sldId id="1322" r:id="rId33"/>
    <p:sldId id="1323" r:id="rId34"/>
    <p:sldId id="975" r:id="rId35"/>
    <p:sldId id="98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6" autoAdjust="0"/>
    <p:restoredTop sz="94660"/>
  </p:normalViewPr>
  <p:slideViewPr>
    <p:cSldViewPr snapToGrid="0">
      <p:cViewPr varScale="1">
        <p:scale>
          <a:sx n="161" d="100"/>
          <a:sy n="161" d="100"/>
        </p:scale>
        <p:origin x="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9DC8F-7E6E-4C86-AFD2-2FE7F1BB79EA}" type="datetimeFigureOut">
              <a:rPr lang="en-US" smtClean="0"/>
              <a:t>5/14/2024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F1264-27F5-4021-A6C2-F2408707AE78}" type="slidenum">
              <a:rPr lang="en-US" smtClean="0"/>
              <a:t>‹#›</a:t>
            </a:fld>
            <a:endParaRPr lang="en-US"/>
          </a:p>
        </p:txBody>
      </p:sp>
    </p:spTree>
    <p:extLst>
      <p:ext uri="{BB962C8B-B14F-4D97-AF65-F5344CB8AC3E}">
        <p14:creationId xmlns:p14="http://schemas.microsoft.com/office/powerpoint/2010/main" val="1896871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华文楷体" panose="02010600040101010101" pitchFamily="2" charset="-122"/>
        <a:cs typeface="+mn-cs"/>
      </a:defRPr>
    </a:lvl1pPr>
    <a:lvl2pPr marL="457200" algn="l" defTabSz="914400" rtl="0" eaLnBrk="1" latinLnBrk="0" hangingPunct="1">
      <a:defRPr sz="1200" kern="1200">
        <a:solidFill>
          <a:schemeClr val="tx1"/>
        </a:solidFill>
        <a:latin typeface="+mn-lt"/>
        <a:ea typeface="华文楷体" panose="02010600040101010101" pitchFamily="2" charset="-122"/>
        <a:cs typeface="+mn-cs"/>
      </a:defRPr>
    </a:lvl2pPr>
    <a:lvl3pPr marL="914400" algn="l" defTabSz="914400" rtl="0" eaLnBrk="1" latinLnBrk="0" hangingPunct="1">
      <a:defRPr sz="1200" kern="1200">
        <a:solidFill>
          <a:schemeClr val="tx1"/>
        </a:solidFill>
        <a:latin typeface="+mn-lt"/>
        <a:ea typeface="华文楷体" panose="02010600040101010101" pitchFamily="2" charset="-122"/>
        <a:cs typeface="+mn-cs"/>
      </a:defRPr>
    </a:lvl3pPr>
    <a:lvl4pPr marL="1371600" algn="l" defTabSz="914400" rtl="0" eaLnBrk="1" latinLnBrk="0" hangingPunct="1">
      <a:defRPr sz="1200" kern="1200">
        <a:solidFill>
          <a:schemeClr val="tx1"/>
        </a:solidFill>
        <a:latin typeface="+mn-lt"/>
        <a:ea typeface="华文楷体" panose="02010600040101010101" pitchFamily="2" charset="-122"/>
        <a:cs typeface="+mn-cs"/>
      </a:defRPr>
    </a:lvl4pPr>
    <a:lvl5pPr marL="1828800" algn="l" defTabSz="914400" rtl="0" eaLnBrk="1" latinLnBrk="0" hangingPunct="1">
      <a:defRPr sz="1200" kern="1200">
        <a:solidFill>
          <a:schemeClr val="tx1"/>
        </a:solidFill>
        <a:latin typeface="+mn-lt"/>
        <a:ea typeface="华文楷体" panose="0201060004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solidFill>
                  <a:srgbClr val="C00000"/>
                </a:solidFill>
              </a:rPr>
              <a:t>负号表明自感电动势的方向总是要使它阻碍回路本身电流的变化</a:t>
            </a:r>
            <a:endParaRPr lang="zh-CN" altLang="en-US" dirty="0"/>
          </a:p>
        </p:txBody>
      </p:sp>
      <p:sp>
        <p:nvSpPr>
          <p:cNvPr id="1187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fld id="{FCD875C8-CD68-410B-A253-A4E9ADF3D5AB}" type="slidenum">
              <a:rPr lang="en-US" altLang="zh-CN" b="0" i="0" u="none">
                <a:latin typeface="Times New Roman" panose="02020603050405020304" pitchFamily="18" charset="0"/>
              </a:rPr>
              <a:pPr eaLnBrk="1" hangingPunct="1"/>
              <a:t>7</a:t>
            </a:fld>
            <a:endParaRPr lang="en-US" altLang="zh-CN" b="0" i="0" u="none">
              <a:latin typeface="Times New Roman" panose="02020603050405020304" pitchFamily="18" charset="0"/>
            </a:endParaRPr>
          </a:p>
        </p:txBody>
      </p:sp>
    </p:spTree>
    <p:extLst>
      <p:ext uri="{BB962C8B-B14F-4D97-AF65-F5344CB8AC3E}">
        <p14:creationId xmlns:p14="http://schemas.microsoft.com/office/powerpoint/2010/main" val="1604020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把电能从一个回路输送到另一个回路中</a:t>
            </a:r>
          </a:p>
        </p:txBody>
      </p:sp>
      <p:sp>
        <p:nvSpPr>
          <p:cNvPr id="119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fld id="{91D90E50-BE78-4AC7-823E-681566C446D7}" type="slidenum">
              <a:rPr lang="en-US" altLang="zh-CN" b="0" i="0" u="none">
                <a:latin typeface="Times New Roman" panose="02020603050405020304" pitchFamily="18" charset="0"/>
              </a:rPr>
              <a:pPr eaLnBrk="1" hangingPunct="1"/>
              <a:t>18</a:t>
            </a:fld>
            <a:endParaRPr lang="en-US" altLang="zh-CN" b="0" i="0" u="none">
              <a:latin typeface="Times New Roman" panose="02020603050405020304" pitchFamily="18" charset="0"/>
            </a:endParaRPr>
          </a:p>
        </p:txBody>
      </p:sp>
    </p:spTree>
    <p:extLst>
      <p:ext uri="{BB962C8B-B14F-4D97-AF65-F5344CB8AC3E}">
        <p14:creationId xmlns:p14="http://schemas.microsoft.com/office/powerpoint/2010/main" val="1621377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F9372-3186-49D2-BE14-0F2C2664DD5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05DD0190-32C5-4A23-A679-9158527C42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40720DE7-EC50-4261-83A2-7A1C564339C6}"/>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5" name="页脚占位符 4">
            <a:extLst>
              <a:ext uri="{FF2B5EF4-FFF2-40B4-BE49-F238E27FC236}">
                <a16:creationId xmlns:a16="http://schemas.microsoft.com/office/drawing/2014/main" id="{3381791F-D5D8-4441-A509-22FD7FBDF8FB}"/>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663E3BF8-181F-4F11-9F53-FD1AC33CF8FD}"/>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2092545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07ACBE-5096-4CBF-9597-4518D8F479B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94AF6E69-C5FD-4D8F-BBE9-A30A1DED7ED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A71CD208-620C-4935-A3F2-1512713A0036}"/>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5" name="页脚占位符 4">
            <a:extLst>
              <a:ext uri="{FF2B5EF4-FFF2-40B4-BE49-F238E27FC236}">
                <a16:creationId xmlns:a16="http://schemas.microsoft.com/office/drawing/2014/main" id="{D16FEA9E-3B66-46FC-AFD7-598CDB31C34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390EC5F-9549-4C7C-8972-6DD06461835E}"/>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399606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608F6-A982-4F8A-B888-47419D36A3B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042824-92E4-4518-92F2-A9EC9A35C4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2CA972EB-3B2D-419F-AE65-D86FB3444302}"/>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5" name="页脚占位符 4">
            <a:extLst>
              <a:ext uri="{FF2B5EF4-FFF2-40B4-BE49-F238E27FC236}">
                <a16:creationId xmlns:a16="http://schemas.microsoft.com/office/drawing/2014/main" id="{26D91898-82F3-4255-A8F3-088DEBAAFA6C}"/>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3F42DA89-36C9-4F20-A733-EF67D9E88B01}"/>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138231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1E200-362B-4BA1-AEC5-8C055D16A42B}"/>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84F7B3EF-2134-4727-88A1-171F20F2F721}"/>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2F90DCB7-B15E-4A5F-979F-F80D90613132}"/>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615BC6BE-7250-48F0-8445-719E873227E1}"/>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6" name="页脚占位符 5">
            <a:extLst>
              <a:ext uri="{FF2B5EF4-FFF2-40B4-BE49-F238E27FC236}">
                <a16:creationId xmlns:a16="http://schemas.microsoft.com/office/drawing/2014/main" id="{94FFF620-0C79-4A21-99AB-766A1435E0FF}"/>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2E178A5E-55AB-4860-A4C0-D4801E8530CB}"/>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3231938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6E9C8-5B53-4B2F-AB78-78B0ED46A92F}"/>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1379C18E-6370-4EE3-B5D3-766B96319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FF2C69E3-AA9E-460C-A6FE-ACA904BF3E2F}"/>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D68C27AE-A656-4AE3-BE93-17FB1D3A70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75E8AF52-2F56-48B7-BAA5-22982EB23EF6}"/>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CAC1B7CD-C77D-41F3-B061-E8925EB31D0E}"/>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8" name="页脚占位符 7">
            <a:extLst>
              <a:ext uri="{FF2B5EF4-FFF2-40B4-BE49-F238E27FC236}">
                <a16:creationId xmlns:a16="http://schemas.microsoft.com/office/drawing/2014/main" id="{7E0A0C25-B5E3-457D-86A8-FB234BAF72AB}"/>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891558B5-C5B9-468B-91D0-6C07F944437C}"/>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44753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A559C4-2E06-4F50-8397-82E23170A219}"/>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54DE4228-F2DF-44BD-91E7-288F0A35D379}"/>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4" name="页脚占位符 3">
            <a:extLst>
              <a:ext uri="{FF2B5EF4-FFF2-40B4-BE49-F238E27FC236}">
                <a16:creationId xmlns:a16="http://schemas.microsoft.com/office/drawing/2014/main" id="{307DA846-1818-46CA-8059-A5D81EA6A0D9}"/>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9A092C00-581C-4997-BA62-335933DCC7DA}"/>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2079258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7174687-FA5B-4962-A8D1-8162F98F6B6C}"/>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3" name="页脚占位符 2">
            <a:extLst>
              <a:ext uri="{FF2B5EF4-FFF2-40B4-BE49-F238E27FC236}">
                <a16:creationId xmlns:a16="http://schemas.microsoft.com/office/drawing/2014/main" id="{DC0FD31E-63D3-42BC-90FA-90F525EDD566}"/>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B89AE7DC-2839-4F53-821A-FAD567E03480}"/>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274253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9A577C-00A9-4C2C-84D9-027A0DFE97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7AC97CA0-10D3-4D6E-B58E-1A074CC37F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E0C778BC-2386-42FA-8349-C4378EA0A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4346933-85D0-4632-8624-D593E16D56F1}"/>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6" name="页脚占位符 5">
            <a:extLst>
              <a:ext uri="{FF2B5EF4-FFF2-40B4-BE49-F238E27FC236}">
                <a16:creationId xmlns:a16="http://schemas.microsoft.com/office/drawing/2014/main" id="{52F85808-B7CF-4F23-BA45-A498E38CD81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D6F7176D-FF1A-4A99-9D1F-14FBCA8DBBFA}"/>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71893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23ACCA-02D7-4C51-B0CE-3624A873949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0C5821B6-FFD4-4FAA-95CC-E99188962A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D12421ED-DDE6-4F65-A769-07FBA83152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CAF6AAF-8665-4C6A-B97E-4ACE74AD49D3}"/>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6" name="页脚占位符 5">
            <a:extLst>
              <a:ext uri="{FF2B5EF4-FFF2-40B4-BE49-F238E27FC236}">
                <a16:creationId xmlns:a16="http://schemas.microsoft.com/office/drawing/2014/main" id="{D8EDC923-6B04-4840-B38D-21C572C86B8D}"/>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2215CF2A-C5FA-4FAE-B3DE-752AC8A1636E}"/>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045959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68D44E-4CED-4B30-8881-96B2BB6CA3CA}"/>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C6F75B3E-7FA6-493D-B22F-E3CADE4EC63B}"/>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B57E4E1F-0E74-4D98-9188-1D6A34D5BAA4}"/>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5" name="页脚占位符 4">
            <a:extLst>
              <a:ext uri="{FF2B5EF4-FFF2-40B4-BE49-F238E27FC236}">
                <a16:creationId xmlns:a16="http://schemas.microsoft.com/office/drawing/2014/main" id="{311A9BB7-15F6-4768-AAFC-3DC6B7FB5EB9}"/>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6CD937BF-79AA-4183-843E-0BA1E1993E8D}"/>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4017542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D6E7BDF-9716-40BF-9281-B043DC609A8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84C84A71-1A7D-4474-8164-92B5DC233ED7}"/>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8D2BC74E-AEE3-449C-9B3B-643608EDB881}"/>
              </a:ext>
            </a:extLst>
          </p:cNvPr>
          <p:cNvSpPr>
            <a:spLocks noGrp="1"/>
          </p:cNvSpPr>
          <p:nvPr>
            <p:ph type="dt" sz="half" idx="10"/>
          </p:nvPr>
        </p:nvSpPr>
        <p:spPr/>
        <p:txBody>
          <a:bodyPr/>
          <a:lstStyle/>
          <a:p>
            <a:fld id="{ED5BEF70-6723-4DF9-B7F5-82CA1ED1A29A}" type="datetimeFigureOut">
              <a:rPr lang="en-US" smtClean="0"/>
              <a:t>5/14/2024</a:t>
            </a:fld>
            <a:endParaRPr lang="en-US"/>
          </a:p>
        </p:txBody>
      </p:sp>
      <p:sp>
        <p:nvSpPr>
          <p:cNvPr id="5" name="页脚占位符 4">
            <a:extLst>
              <a:ext uri="{FF2B5EF4-FFF2-40B4-BE49-F238E27FC236}">
                <a16:creationId xmlns:a16="http://schemas.microsoft.com/office/drawing/2014/main" id="{3EBB5688-D438-42DC-A276-C8215FF1350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073682BB-5C1A-43BD-95BE-587CCC0B1A6D}"/>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808402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E2BFC8-DCA8-4B51-86E2-14A569BF47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3A48A60C-B56D-4E5B-B99B-E5CA33CD89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78425342-48A6-46C9-9307-FB2D8290BE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5BEF70-6723-4DF9-B7F5-82CA1ED1A29A}" type="datetimeFigureOut">
              <a:rPr lang="en-US" smtClean="0"/>
              <a:t>5/14/2024</a:t>
            </a:fld>
            <a:endParaRPr lang="en-US"/>
          </a:p>
        </p:txBody>
      </p:sp>
      <p:sp>
        <p:nvSpPr>
          <p:cNvPr id="5" name="页脚占位符 4">
            <a:extLst>
              <a:ext uri="{FF2B5EF4-FFF2-40B4-BE49-F238E27FC236}">
                <a16:creationId xmlns:a16="http://schemas.microsoft.com/office/drawing/2014/main" id="{ED01B266-A39D-49B8-830D-9DA9F4169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B7E6119-DBB6-48BC-86F1-2FE709E5E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6C8F7F-5684-4C5E-8C56-E17787921C8F}" type="slidenum">
              <a:rPr lang="en-US" smtClean="0"/>
              <a:t>‹#›</a:t>
            </a:fld>
            <a:endParaRPr lang="en-US"/>
          </a:p>
        </p:txBody>
      </p:sp>
    </p:spTree>
    <p:extLst>
      <p:ext uri="{BB962C8B-B14F-4D97-AF65-F5344CB8AC3E}">
        <p14:creationId xmlns:p14="http://schemas.microsoft.com/office/powerpoint/2010/main" val="1742643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8" Type="http://schemas.openxmlformats.org/officeDocument/2006/relationships/image" Target="../media/image2010.png"/><Relationship Id="rId3" Type="http://schemas.openxmlformats.org/officeDocument/2006/relationships/image" Target="../media/image17.png"/><Relationship Id="rId21" Type="http://schemas.openxmlformats.org/officeDocument/2006/relationships/image" Target="../media/image5.png"/><Relationship Id="rId2" Type="http://schemas.openxmlformats.org/officeDocument/2006/relationships/image" Target="../media/image16.png"/><Relationship Id="rId16" Type="http://schemas.openxmlformats.org/officeDocument/2006/relationships/image" Target="../media/image21.png"/><Relationship Id="rId20" Type="http://schemas.openxmlformats.org/officeDocument/2006/relationships/image" Target="../media/image80.png"/><Relationship Id="rId1" Type="http://schemas.openxmlformats.org/officeDocument/2006/relationships/slideLayout" Target="../slideLayouts/slideLayout7.xml"/><Relationship Id="rId11" Type="http://schemas.openxmlformats.org/officeDocument/2006/relationships/image" Target="../media/image4.png"/><Relationship Id="rId5" Type="http://schemas.openxmlformats.org/officeDocument/2006/relationships/image" Target="../media/image3.png"/><Relationship Id="rId15" Type="http://schemas.openxmlformats.org/officeDocument/2006/relationships/image" Target="../media/image1910.png"/><Relationship Id="rId10" Type="http://schemas.openxmlformats.org/officeDocument/2006/relationships/image" Target="../media/image9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227.png"/><Relationship Id="rId3" Type="http://schemas.openxmlformats.org/officeDocument/2006/relationships/image" Target="../media/image13.png"/><Relationship Id="rId7" Type="http://schemas.openxmlformats.org/officeDocument/2006/relationships/image" Target="../media/image221.png"/><Relationship Id="rId12" Type="http://schemas.openxmlformats.org/officeDocument/2006/relationships/image" Target="../media/image22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20.png"/><Relationship Id="rId11" Type="http://schemas.openxmlformats.org/officeDocument/2006/relationships/image" Target="../media/image225.png"/><Relationship Id="rId5" Type="http://schemas.openxmlformats.org/officeDocument/2006/relationships/image" Target="../media/image15.png"/><Relationship Id="rId10" Type="http://schemas.openxmlformats.org/officeDocument/2006/relationships/image" Target="../media/image224.png"/><Relationship Id="rId4" Type="http://schemas.openxmlformats.org/officeDocument/2006/relationships/image" Target="../media/image14.png"/><Relationship Id="rId9" Type="http://schemas.openxmlformats.org/officeDocument/2006/relationships/image" Target="../media/image163.png"/></Relationships>
</file>

<file path=ppt/slides/_rels/slide6.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10.png"/><Relationship Id="rId7" Type="http://schemas.openxmlformats.org/officeDocument/2006/relationships/image" Target="../media/image228.png"/><Relationship Id="rId12" Type="http://schemas.openxmlformats.org/officeDocument/2006/relationships/image" Target="../media/image233.png"/><Relationship Id="rId16" Type="http://schemas.openxmlformats.org/officeDocument/2006/relationships/image" Target="../media/image15.png"/><Relationship Id="rId1" Type="http://schemas.openxmlformats.org/officeDocument/2006/relationships/slideLayout" Target="../slideLayouts/slideLayout7.xml"/><Relationship Id="rId11" Type="http://schemas.openxmlformats.org/officeDocument/2006/relationships/image" Target="../media/image232.png"/><Relationship Id="rId6" Type="http://schemas.openxmlformats.org/officeDocument/2006/relationships/image" Target="../media/image220.png"/><Relationship Id="rId15" Type="http://schemas.openxmlformats.org/officeDocument/2006/relationships/image" Target="../media/image14.png"/><Relationship Id="rId10" Type="http://schemas.openxmlformats.org/officeDocument/2006/relationships/image" Target="../media/image18.png"/><Relationship Id="rId9" Type="http://schemas.openxmlformats.org/officeDocument/2006/relationships/image" Target="../media/image164.png"/><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167.png"/><Relationship Id="rId3" Type="http://schemas.openxmlformats.org/officeDocument/2006/relationships/image" Target="../media/image234.png"/><Relationship Id="rId7" Type="http://schemas.openxmlformats.org/officeDocument/2006/relationships/image" Target="../media/image19.png"/><Relationship Id="rId12" Type="http://schemas.openxmlformats.org/officeDocument/2006/relationships/image" Target="../media/image22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37.png"/><Relationship Id="rId11" Type="http://schemas.openxmlformats.org/officeDocument/2006/relationships/image" Target="../media/image219.png"/><Relationship Id="rId5" Type="http://schemas.openxmlformats.org/officeDocument/2006/relationships/image" Target="../media/image236.png"/><Relationship Id="rId10" Type="http://schemas.openxmlformats.org/officeDocument/2006/relationships/image" Target="../media/image218.png"/><Relationship Id="rId4" Type="http://schemas.openxmlformats.org/officeDocument/2006/relationships/image" Target="../media/image235.png"/><Relationship Id="rId9" Type="http://schemas.openxmlformats.org/officeDocument/2006/relationships/image" Target="../media/image217.png"/><Relationship Id="rId14" Type="http://schemas.openxmlformats.org/officeDocument/2006/relationships/image" Target="../media/image241.png"/></Relationships>
</file>

<file path=ppt/slides/_rels/slide8.xml.rels><?xml version="1.0" encoding="UTF-8" standalone="yes"?>
<Relationships xmlns="http://schemas.openxmlformats.org/package/2006/relationships"><Relationship Id="rId8" Type="http://schemas.openxmlformats.org/officeDocument/2006/relationships/image" Target="../media/image245.png"/><Relationship Id="rId7" Type="http://schemas.openxmlformats.org/officeDocument/2006/relationships/image" Target="../media/image244.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18.png"/><Relationship Id="rId5" Type="http://schemas.openxmlformats.org/officeDocument/2006/relationships/image" Target="../media/image243.png"/><Relationship Id="rId4" Type="http://schemas.openxmlformats.org/officeDocument/2006/relationships/image" Target="../media/image242.png"/><Relationship Id="rId9" Type="http://schemas.openxmlformats.org/officeDocument/2006/relationships/image" Target="../media/image20.jpe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3" Type="http://schemas.openxmlformats.org/officeDocument/2006/relationships/image" Target="../media/image250.png"/><Relationship Id="rId3" Type="http://schemas.openxmlformats.org/officeDocument/2006/relationships/image" Target="../media/image920.png"/><Relationship Id="rId7" Type="http://schemas.openxmlformats.org/officeDocument/2006/relationships/image" Target="../media/image249.png"/><Relationship Id="rId12" Type="http://schemas.openxmlformats.org/officeDocument/2006/relationships/image" Target="../media/image970.png"/><Relationship Id="rId1" Type="http://schemas.openxmlformats.org/officeDocument/2006/relationships/slideLayout" Target="../slideLayouts/slideLayout7.xml"/><Relationship Id="rId6" Type="http://schemas.openxmlformats.org/officeDocument/2006/relationships/image" Target="../media/image248.png"/><Relationship Id="rId11" Type="http://schemas.openxmlformats.org/officeDocument/2006/relationships/image" Target="../media/image950.png"/><Relationship Id="rId5" Type="http://schemas.openxmlformats.org/officeDocument/2006/relationships/image" Target="../media/image247.png"/><Relationship Id="rId4" Type="http://schemas.openxmlformats.org/officeDocument/2006/relationships/image" Target="../media/image940.png"/><Relationship Id="rId14" Type="http://schemas.openxmlformats.org/officeDocument/2006/relationships/image" Target="../media/image99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53.png"/><Relationship Id="rId1" Type="http://schemas.openxmlformats.org/officeDocument/2006/relationships/slideLayout" Target="../slideLayouts/slideLayout7.xml"/><Relationship Id="rId4" Type="http://schemas.openxmlformats.org/officeDocument/2006/relationships/image" Target="../media/image255.png"/></Relationships>
</file>

<file path=ppt/slides/_rels/slide14.xml.rels><?xml version="1.0" encoding="UTF-8" standalone="yes"?>
<Relationships xmlns="http://schemas.openxmlformats.org/package/2006/relationships"><Relationship Id="rId8" Type="http://schemas.openxmlformats.org/officeDocument/2006/relationships/image" Target="../media/image262.png"/><Relationship Id="rId13" Type="http://schemas.openxmlformats.org/officeDocument/2006/relationships/image" Target="../media/image267.png"/><Relationship Id="rId3" Type="http://schemas.openxmlformats.org/officeDocument/2006/relationships/image" Target="../media/image257.png"/><Relationship Id="rId7" Type="http://schemas.openxmlformats.org/officeDocument/2006/relationships/image" Target="../media/image261.png"/><Relationship Id="rId12" Type="http://schemas.openxmlformats.org/officeDocument/2006/relationships/image" Target="../media/image266.png"/><Relationship Id="rId2" Type="http://schemas.openxmlformats.org/officeDocument/2006/relationships/image" Target="../media/image256.png"/><Relationship Id="rId1" Type="http://schemas.openxmlformats.org/officeDocument/2006/relationships/slideLayout" Target="../slideLayouts/slideLayout2.xml"/><Relationship Id="rId6" Type="http://schemas.openxmlformats.org/officeDocument/2006/relationships/image" Target="../media/image260.png"/><Relationship Id="rId11" Type="http://schemas.openxmlformats.org/officeDocument/2006/relationships/image" Target="../media/image265.png"/><Relationship Id="rId5" Type="http://schemas.openxmlformats.org/officeDocument/2006/relationships/image" Target="../media/image259.png"/><Relationship Id="rId15" Type="http://schemas.openxmlformats.org/officeDocument/2006/relationships/image" Target="../media/image269.png"/><Relationship Id="rId10" Type="http://schemas.openxmlformats.org/officeDocument/2006/relationships/image" Target="../media/image264.png"/><Relationship Id="rId4" Type="http://schemas.openxmlformats.org/officeDocument/2006/relationships/image" Target="../media/image258.png"/><Relationship Id="rId9" Type="http://schemas.openxmlformats.org/officeDocument/2006/relationships/image" Target="../media/image263.png"/><Relationship Id="rId14" Type="http://schemas.openxmlformats.org/officeDocument/2006/relationships/image" Target="../media/image268.png"/></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7" Type="http://schemas.openxmlformats.org/officeDocument/2006/relationships/image" Target="../media/image273.png"/><Relationship Id="rId2" Type="http://schemas.openxmlformats.org/officeDocument/2006/relationships/image" Target="../media/image240.png"/><Relationship Id="rId1" Type="http://schemas.openxmlformats.org/officeDocument/2006/relationships/slideLayout" Target="../slideLayouts/slideLayout7.xml"/><Relationship Id="rId6" Type="http://schemas.openxmlformats.org/officeDocument/2006/relationships/image" Target="../media/image272.png"/><Relationship Id="rId5" Type="http://schemas.openxmlformats.org/officeDocument/2006/relationships/image" Target="../media/image271.png"/><Relationship Id="rId10" Type="http://schemas.openxmlformats.org/officeDocument/2006/relationships/image" Target="../media/image27.png"/><Relationship Id="rId4" Type="http://schemas.openxmlformats.org/officeDocument/2006/relationships/image" Target="../media/image270.png"/><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279.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83.png"/><Relationship Id="rId5" Type="http://schemas.openxmlformats.org/officeDocument/2006/relationships/image" Target="../media/image282.png"/><Relationship Id="rId4" Type="http://schemas.openxmlformats.org/officeDocument/2006/relationships/image" Target="../media/image281.png"/></Relationships>
</file>

<file path=ppt/slides/_rels/slide19.xml.rels><?xml version="1.0" encoding="UTF-8" standalone="yes"?>
<Relationships xmlns="http://schemas.openxmlformats.org/package/2006/relationships"><Relationship Id="rId3" Type="http://schemas.openxmlformats.org/officeDocument/2006/relationships/image" Target="../media/image288.png"/><Relationship Id="rId7" Type="http://schemas.openxmlformats.org/officeDocument/2006/relationships/image" Target="../media/image292.png"/><Relationship Id="rId2" Type="http://schemas.openxmlformats.org/officeDocument/2006/relationships/image" Target="../media/image287.png"/><Relationship Id="rId1" Type="http://schemas.openxmlformats.org/officeDocument/2006/relationships/slideLayout" Target="../slideLayouts/slideLayout7.xml"/><Relationship Id="rId6" Type="http://schemas.openxmlformats.org/officeDocument/2006/relationships/image" Target="../media/image291.png"/><Relationship Id="rId5" Type="http://schemas.openxmlformats.org/officeDocument/2006/relationships/image" Target="../media/image290.png"/><Relationship Id="rId4" Type="http://schemas.openxmlformats.org/officeDocument/2006/relationships/image" Target="../media/image28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0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26" Type="http://schemas.openxmlformats.org/officeDocument/2006/relationships/image" Target="../media/image32.tmp"/><Relationship Id="rId3" Type="http://schemas.openxmlformats.org/officeDocument/2006/relationships/tags" Target="../tags/tag3.xml"/><Relationship Id="rId21" Type="http://schemas.openxmlformats.org/officeDocument/2006/relationships/tags" Target="../tags/tag4.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31.jp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261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285.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5.xml"/><Relationship Id="rId10" Type="http://schemas.openxmlformats.org/officeDocument/2006/relationships/tags" Target="../tags/tag10.xml"/><Relationship Id="rId19" Type="http://schemas.openxmlformats.org/officeDocument/2006/relationships/tags" Target="../tags/tag3.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275.png"/></Relationships>
</file>

<file path=ppt/slides/_rels/slide26.xml.rels><?xml version="1.0" encoding="UTF-8" standalone="yes"?>
<Relationships xmlns="http://schemas.openxmlformats.org/package/2006/relationships"><Relationship Id="rId3" Type="http://schemas.openxmlformats.org/officeDocument/2006/relationships/image" Target="../media/image274.png"/><Relationship Id="rId7" Type="http://schemas.openxmlformats.org/officeDocument/2006/relationships/image" Target="../media/image310.png"/><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00.png"/><Relationship Id="rId5" Type="http://schemas.openxmlformats.org/officeDocument/2006/relationships/image" Target="../media/image294.png"/><Relationship Id="rId4" Type="http://schemas.openxmlformats.org/officeDocument/2006/relationships/image" Target="../media/image284.png"/></Relationships>
</file>

<file path=ppt/slides/_rels/slide27.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2610.png"/><Relationship Id="rId7" Type="http://schemas.openxmlformats.org/officeDocument/2006/relationships/image" Target="../media/image350.png"/><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40.png"/><Relationship Id="rId11" Type="http://schemas.openxmlformats.org/officeDocument/2006/relationships/image" Target="../media/image390.png"/><Relationship Id="rId5" Type="http://schemas.openxmlformats.org/officeDocument/2006/relationships/image" Target="../media/image330.png"/><Relationship Id="rId10" Type="http://schemas.openxmlformats.org/officeDocument/2006/relationships/image" Target="../media/image380.png"/><Relationship Id="rId4" Type="http://schemas.openxmlformats.org/officeDocument/2006/relationships/image" Target="../media/image320.png"/><Relationship Id="rId9" Type="http://schemas.openxmlformats.org/officeDocument/2006/relationships/image" Target="../media/image37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59.png"/><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35.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3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8C2B31D-6590-4FF5-8A1D-E5BDA6006C25}"/>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5" name="Text Box 13">
            <a:extLst>
              <a:ext uri="{FF2B5EF4-FFF2-40B4-BE49-F238E27FC236}">
                <a16:creationId xmlns:a16="http://schemas.microsoft.com/office/drawing/2014/main" id="{AFA0A3EB-F728-4376-B314-3CBC41359D0B}"/>
              </a:ext>
            </a:extLst>
          </p:cNvPr>
          <p:cNvSpPr txBox="1">
            <a:spLocks noChangeArrowheads="1"/>
          </p:cNvSpPr>
          <p:nvPr/>
        </p:nvSpPr>
        <p:spPr bwMode="auto">
          <a:xfrm>
            <a:off x="2856413" y="240063"/>
            <a:ext cx="59477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20</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 章     电磁感应</a:t>
            </a:r>
            <a:endPar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25" name="Rectangle 16">
            <a:hlinkClick r:id="" action="ppaction://noaction"/>
            <a:extLst>
              <a:ext uri="{FF2B5EF4-FFF2-40B4-BE49-F238E27FC236}">
                <a16:creationId xmlns:a16="http://schemas.microsoft.com/office/drawing/2014/main" id="{A0014B31-1C4D-4F7E-80C8-CA7A195F6E13}"/>
              </a:ext>
            </a:extLst>
          </p:cNvPr>
          <p:cNvSpPr>
            <a:spLocks noChangeArrowheads="1"/>
          </p:cNvSpPr>
          <p:nvPr/>
        </p:nvSpPr>
        <p:spPr bwMode="auto">
          <a:xfrm>
            <a:off x="5769351" y="1471014"/>
            <a:ext cx="523199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1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法拉第电磁感应定律</a:t>
            </a:r>
          </a:p>
        </p:txBody>
      </p:sp>
      <p:sp>
        <p:nvSpPr>
          <p:cNvPr id="27" name="Text Box 18">
            <a:hlinkClick r:id="" action="ppaction://noaction"/>
            <a:extLst>
              <a:ext uri="{FF2B5EF4-FFF2-40B4-BE49-F238E27FC236}">
                <a16:creationId xmlns:a16="http://schemas.microsoft.com/office/drawing/2014/main" id="{48306CEC-1F29-4EDE-9B28-0F8312ACF28D}"/>
              </a:ext>
            </a:extLst>
          </p:cNvPr>
          <p:cNvSpPr txBox="1">
            <a:spLocks noChangeArrowheads="1"/>
          </p:cNvSpPr>
          <p:nvPr/>
        </p:nvSpPr>
        <p:spPr bwMode="auto">
          <a:xfrm>
            <a:off x="5769352" y="2766414"/>
            <a:ext cx="5538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3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感生电动势和感生电场</a:t>
            </a:r>
          </a:p>
        </p:txBody>
      </p:sp>
      <p:sp>
        <p:nvSpPr>
          <p:cNvPr id="28" name="Text Box 19">
            <a:hlinkClick r:id="" action="ppaction://noaction"/>
            <a:extLst>
              <a:ext uri="{FF2B5EF4-FFF2-40B4-BE49-F238E27FC236}">
                <a16:creationId xmlns:a16="http://schemas.microsoft.com/office/drawing/2014/main" id="{ECF120C4-50E2-4E26-B5D3-6D094BEFC2F5}"/>
              </a:ext>
            </a:extLst>
          </p:cNvPr>
          <p:cNvSpPr txBox="1">
            <a:spLocks noChangeArrowheads="1"/>
          </p:cNvSpPr>
          <p:nvPr/>
        </p:nvSpPr>
        <p:spPr bwMode="auto">
          <a:xfrm>
            <a:off x="5759828" y="3415700"/>
            <a:ext cx="14606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4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互感</a:t>
            </a:r>
          </a:p>
        </p:txBody>
      </p:sp>
      <p:sp>
        <p:nvSpPr>
          <p:cNvPr id="32" name="Rectangle 16">
            <a:hlinkClick r:id="" action="ppaction://noaction"/>
            <a:extLst>
              <a:ext uri="{FF2B5EF4-FFF2-40B4-BE49-F238E27FC236}">
                <a16:creationId xmlns:a16="http://schemas.microsoft.com/office/drawing/2014/main" id="{690E4B17-0680-49D8-B393-01C57F5D0C97}"/>
              </a:ext>
            </a:extLst>
          </p:cNvPr>
          <p:cNvSpPr>
            <a:spLocks noChangeArrowheads="1"/>
          </p:cNvSpPr>
          <p:nvPr/>
        </p:nvSpPr>
        <p:spPr bwMode="auto">
          <a:xfrm>
            <a:off x="5769353" y="2118714"/>
            <a:ext cx="6154243"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2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动生电动势</a:t>
            </a:r>
          </a:p>
        </p:txBody>
      </p:sp>
      <p:sp>
        <p:nvSpPr>
          <p:cNvPr id="35" name="Rectangle 20">
            <a:hlinkClick r:id="" action="ppaction://noaction"/>
            <a:extLst>
              <a:ext uri="{FF2B5EF4-FFF2-40B4-BE49-F238E27FC236}">
                <a16:creationId xmlns:a16="http://schemas.microsoft.com/office/drawing/2014/main" id="{0264BFE7-0025-4536-83F4-1ECBBD36DCC6}"/>
              </a:ext>
            </a:extLst>
          </p:cNvPr>
          <p:cNvSpPr>
            <a:spLocks noChangeArrowheads="1"/>
          </p:cNvSpPr>
          <p:nvPr/>
        </p:nvSpPr>
        <p:spPr bwMode="auto">
          <a:xfrm>
            <a:off x="5768351" y="4079504"/>
            <a:ext cx="628348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5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自感</a:t>
            </a:r>
          </a:p>
        </p:txBody>
      </p:sp>
      <p:sp>
        <p:nvSpPr>
          <p:cNvPr id="2" name="Rectangle 20">
            <a:hlinkClick r:id="" action="ppaction://noaction"/>
            <a:extLst>
              <a:ext uri="{FF2B5EF4-FFF2-40B4-BE49-F238E27FC236}">
                <a16:creationId xmlns:a16="http://schemas.microsoft.com/office/drawing/2014/main" id="{D7118994-66C2-EFBA-0AE9-420204C071D4}"/>
              </a:ext>
            </a:extLst>
          </p:cNvPr>
          <p:cNvSpPr>
            <a:spLocks noChangeArrowheads="1"/>
          </p:cNvSpPr>
          <p:nvPr/>
        </p:nvSpPr>
        <p:spPr bwMode="auto">
          <a:xfrm>
            <a:off x="5759828" y="4774325"/>
            <a:ext cx="628348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6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磁场的能量</a:t>
            </a:r>
          </a:p>
        </p:txBody>
      </p:sp>
      <p:pic>
        <p:nvPicPr>
          <p:cNvPr id="3" name="Picture 4" descr="你了解朝夕相处的发电机嘛~（含动画视频）">
            <a:extLst>
              <a:ext uri="{FF2B5EF4-FFF2-40B4-BE49-F238E27FC236}">
                <a16:creationId xmlns:a16="http://schemas.microsoft.com/office/drawing/2014/main" id="{6838DA96-1D44-A6BC-A550-EA4DFACFCD72}"/>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02136" y="1763723"/>
            <a:ext cx="4257723" cy="3297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1392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604116" y="3863812"/>
            <a:ext cx="2436425" cy="8873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5" name="Rectangle 23">
            <a:extLst>
              <a:ext uri="{FF2B5EF4-FFF2-40B4-BE49-F238E27FC236}">
                <a16:creationId xmlns:a16="http://schemas.microsoft.com/office/drawing/2014/main" id="{7B5E4732-C69C-4D60-837E-F485E79C73D4}"/>
              </a:ext>
            </a:extLst>
          </p:cNvPr>
          <p:cNvSpPr>
            <a:spLocks noChangeArrowheads="1"/>
          </p:cNvSpPr>
          <p:nvPr/>
        </p:nvSpPr>
        <p:spPr bwMode="auto">
          <a:xfrm>
            <a:off x="443419" y="3337317"/>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6" name="Rectangle 24">
            <a:extLst>
              <a:ext uri="{FF2B5EF4-FFF2-40B4-BE49-F238E27FC236}">
                <a16:creationId xmlns:a16="http://schemas.microsoft.com/office/drawing/2014/main" id="{F609A8D2-697F-4126-9A60-1FD3CE261D3A}"/>
              </a:ext>
            </a:extLst>
          </p:cNvPr>
          <p:cNvSpPr>
            <a:spLocks noChangeArrowheads="1"/>
          </p:cNvSpPr>
          <p:nvPr/>
        </p:nvSpPr>
        <p:spPr bwMode="auto">
          <a:xfrm>
            <a:off x="3966069" y="4791522"/>
            <a:ext cx="507786" cy="6382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7" name="Rectangle 25">
            <a:extLst>
              <a:ext uri="{FF2B5EF4-FFF2-40B4-BE49-F238E27FC236}">
                <a16:creationId xmlns:a16="http://schemas.microsoft.com/office/drawing/2014/main" id="{4715E0DA-0303-4D6E-B4AF-DBF04554DCDD}"/>
              </a:ext>
            </a:extLst>
          </p:cNvPr>
          <p:cNvSpPr>
            <a:spLocks noChangeArrowheads="1"/>
          </p:cNvSpPr>
          <p:nvPr/>
        </p:nvSpPr>
        <p:spPr bwMode="auto">
          <a:xfrm>
            <a:off x="3334615" y="4688168"/>
            <a:ext cx="254830" cy="42610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8" name="Rectangle 28">
            <a:extLst>
              <a:ext uri="{FF2B5EF4-FFF2-40B4-BE49-F238E27FC236}">
                <a16:creationId xmlns:a16="http://schemas.microsoft.com/office/drawing/2014/main" id="{5FF7DC70-03BE-47A8-88B7-BCED8A2A1697}"/>
              </a:ext>
            </a:extLst>
          </p:cNvPr>
          <p:cNvSpPr>
            <a:spLocks noChangeArrowheads="1"/>
          </p:cNvSpPr>
          <p:nvPr/>
        </p:nvSpPr>
        <p:spPr bwMode="auto">
          <a:xfrm>
            <a:off x="3780568" y="4546736"/>
            <a:ext cx="1019320" cy="106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1" name="Line 30">
            <a:extLst>
              <a:ext uri="{FF2B5EF4-FFF2-40B4-BE49-F238E27FC236}">
                <a16:creationId xmlns:a16="http://schemas.microsoft.com/office/drawing/2014/main" id="{D7CB72D9-D9C8-40FA-9705-CF9A933D8C64}"/>
              </a:ext>
            </a:extLst>
          </p:cNvPr>
          <p:cNvSpPr>
            <a:spLocks noChangeShapeType="1"/>
          </p:cNvSpPr>
          <p:nvPr/>
        </p:nvSpPr>
        <p:spPr bwMode="auto">
          <a:xfrm>
            <a:off x="866887" y="2597522"/>
            <a:ext cx="382619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 name="Line 31">
            <a:extLst>
              <a:ext uri="{FF2B5EF4-FFF2-40B4-BE49-F238E27FC236}">
                <a16:creationId xmlns:a16="http://schemas.microsoft.com/office/drawing/2014/main" id="{E73BE306-0297-4AEC-BCD6-4389FA11526F}"/>
              </a:ext>
            </a:extLst>
          </p:cNvPr>
          <p:cNvSpPr>
            <a:spLocks noChangeShapeType="1"/>
          </p:cNvSpPr>
          <p:nvPr/>
        </p:nvSpPr>
        <p:spPr bwMode="auto">
          <a:xfrm>
            <a:off x="866887" y="2597522"/>
            <a:ext cx="0" cy="28793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 name="Line 32">
            <a:extLst>
              <a:ext uri="{FF2B5EF4-FFF2-40B4-BE49-F238E27FC236}">
                <a16:creationId xmlns:a16="http://schemas.microsoft.com/office/drawing/2014/main" id="{2EADAD08-131F-4A18-9757-E4E21F07AF58}"/>
              </a:ext>
            </a:extLst>
          </p:cNvPr>
          <p:cNvSpPr>
            <a:spLocks noChangeShapeType="1"/>
          </p:cNvSpPr>
          <p:nvPr/>
        </p:nvSpPr>
        <p:spPr bwMode="auto">
          <a:xfrm>
            <a:off x="866887" y="5476920"/>
            <a:ext cx="374000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95" name="Group 33">
            <a:extLst>
              <a:ext uri="{FF2B5EF4-FFF2-40B4-BE49-F238E27FC236}">
                <a16:creationId xmlns:a16="http://schemas.microsoft.com/office/drawing/2014/main" id="{B44629CD-7C4B-4BA2-94AD-74B6C7F5BCB4}"/>
              </a:ext>
            </a:extLst>
          </p:cNvPr>
          <p:cNvGrpSpPr>
            <a:grpSpLocks/>
          </p:cNvGrpSpPr>
          <p:nvPr/>
        </p:nvGrpSpPr>
        <p:grpSpPr bwMode="auto">
          <a:xfrm>
            <a:off x="1378420" y="3058080"/>
            <a:ext cx="168638" cy="739795"/>
            <a:chOff x="3470" y="3158"/>
            <a:chExt cx="90" cy="408"/>
          </a:xfrm>
        </p:grpSpPr>
        <p:grpSp>
          <p:nvGrpSpPr>
            <p:cNvPr id="96" name="Group 34">
              <a:extLst>
                <a:ext uri="{FF2B5EF4-FFF2-40B4-BE49-F238E27FC236}">
                  <a16:creationId xmlns:a16="http://schemas.microsoft.com/office/drawing/2014/main" id="{402FBFB8-8B67-4E0F-9E7A-44F169954F68}"/>
                </a:ext>
              </a:extLst>
            </p:cNvPr>
            <p:cNvGrpSpPr>
              <a:grpSpLocks/>
            </p:cNvGrpSpPr>
            <p:nvPr/>
          </p:nvGrpSpPr>
          <p:grpSpPr bwMode="auto">
            <a:xfrm>
              <a:off x="3470" y="3158"/>
              <a:ext cx="90" cy="91"/>
              <a:chOff x="3470" y="3158"/>
              <a:chExt cx="90" cy="91"/>
            </a:xfrm>
          </p:grpSpPr>
          <p:sp>
            <p:nvSpPr>
              <p:cNvPr id="100" name="Line 35">
                <a:extLst>
                  <a:ext uri="{FF2B5EF4-FFF2-40B4-BE49-F238E27FC236}">
                    <a16:creationId xmlns:a16="http://schemas.microsoft.com/office/drawing/2014/main" id="{9561044D-098A-4543-A184-624328C0F982}"/>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1" name="Line 36">
                <a:extLst>
                  <a:ext uri="{FF2B5EF4-FFF2-40B4-BE49-F238E27FC236}">
                    <a16:creationId xmlns:a16="http://schemas.microsoft.com/office/drawing/2014/main" id="{CE0DA8B0-C3DF-4D56-B4FD-6037C6188FF8}"/>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7" name="Group 37">
              <a:extLst>
                <a:ext uri="{FF2B5EF4-FFF2-40B4-BE49-F238E27FC236}">
                  <a16:creationId xmlns:a16="http://schemas.microsoft.com/office/drawing/2014/main" id="{295BFA0B-3738-440E-A95A-926C122D5E1E}"/>
                </a:ext>
              </a:extLst>
            </p:cNvPr>
            <p:cNvGrpSpPr>
              <a:grpSpLocks/>
            </p:cNvGrpSpPr>
            <p:nvPr/>
          </p:nvGrpSpPr>
          <p:grpSpPr bwMode="auto">
            <a:xfrm>
              <a:off x="3470" y="3475"/>
              <a:ext cx="90" cy="91"/>
              <a:chOff x="3470" y="3158"/>
              <a:chExt cx="90" cy="91"/>
            </a:xfrm>
          </p:grpSpPr>
          <p:sp>
            <p:nvSpPr>
              <p:cNvPr id="98" name="Line 38">
                <a:extLst>
                  <a:ext uri="{FF2B5EF4-FFF2-40B4-BE49-F238E27FC236}">
                    <a16:creationId xmlns:a16="http://schemas.microsoft.com/office/drawing/2014/main" id="{13D954B1-5B39-4C0F-AC9F-94A627ED95E6}"/>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9" name="Line 39">
                <a:extLst>
                  <a:ext uri="{FF2B5EF4-FFF2-40B4-BE49-F238E27FC236}">
                    <a16:creationId xmlns:a16="http://schemas.microsoft.com/office/drawing/2014/main" id="{06490946-FB34-4621-A28C-6AE0D9007E4F}"/>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grpSp>
        <p:nvGrpSpPr>
          <p:cNvPr id="102" name="Group 40">
            <a:extLst>
              <a:ext uri="{FF2B5EF4-FFF2-40B4-BE49-F238E27FC236}">
                <a16:creationId xmlns:a16="http://schemas.microsoft.com/office/drawing/2014/main" id="{E1DE6537-AD0D-454B-9471-C56944145A6C}"/>
              </a:ext>
            </a:extLst>
          </p:cNvPr>
          <p:cNvGrpSpPr>
            <a:grpSpLocks/>
          </p:cNvGrpSpPr>
          <p:nvPr/>
        </p:nvGrpSpPr>
        <p:grpSpPr bwMode="auto">
          <a:xfrm>
            <a:off x="1378420" y="4291072"/>
            <a:ext cx="168638" cy="739795"/>
            <a:chOff x="3470" y="3158"/>
            <a:chExt cx="90" cy="408"/>
          </a:xfrm>
        </p:grpSpPr>
        <p:grpSp>
          <p:nvGrpSpPr>
            <p:cNvPr id="103" name="Group 41">
              <a:extLst>
                <a:ext uri="{FF2B5EF4-FFF2-40B4-BE49-F238E27FC236}">
                  <a16:creationId xmlns:a16="http://schemas.microsoft.com/office/drawing/2014/main" id="{D3018099-8D11-4D66-9B38-5CBC788D857E}"/>
                </a:ext>
              </a:extLst>
            </p:cNvPr>
            <p:cNvGrpSpPr>
              <a:grpSpLocks/>
            </p:cNvGrpSpPr>
            <p:nvPr/>
          </p:nvGrpSpPr>
          <p:grpSpPr bwMode="auto">
            <a:xfrm>
              <a:off x="3470" y="3158"/>
              <a:ext cx="90" cy="91"/>
              <a:chOff x="3470" y="3158"/>
              <a:chExt cx="90" cy="91"/>
            </a:xfrm>
          </p:grpSpPr>
          <p:sp>
            <p:nvSpPr>
              <p:cNvPr id="107" name="Line 42">
                <a:extLst>
                  <a:ext uri="{FF2B5EF4-FFF2-40B4-BE49-F238E27FC236}">
                    <a16:creationId xmlns:a16="http://schemas.microsoft.com/office/drawing/2014/main" id="{A5EFC0E6-4C34-435C-8F16-D2D018504E05}"/>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8" name="Line 43">
                <a:extLst>
                  <a:ext uri="{FF2B5EF4-FFF2-40B4-BE49-F238E27FC236}">
                    <a16:creationId xmlns:a16="http://schemas.microsoft.com/office/drawing/2014/main" id="{1E050FC1-47A0-476B-867F-8BFD777FE1E3}"/>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4" name="Group 44">
              <a:extLst>
                <a:ext uri="{FF2B5EF4-FFF2-40B4-BE49-F238E27FC236}">
                  <a16:creationId xmlns:a16="http://schemas.microsoft.com/office/drawing/2014/main" id="{74343CB2-5E51-4E73-9EF6-AA73CA54AAA7}"/>
                </a:ext>
              </a:extLst>
            </p:cNvPr>
            <p:cNvGrpSpPr>
              <a:grpSpLocks/>
            </p:cNvGrpSpPr>
            <p:nvPr/>
          </p:nvGrpSpPr>
          <p:grpSpPr bwMode="auto">
            <a:xfrm>
              <a:off x="3470" y="3475"/>
              <a:ext cx="90" cy="91"/>
              <a:chOff x="3470" y="3158"/>
              <a:chExt cx="90" cy="91"/>
            </a:xfrm>
          </p:grpSpPr>
          <p:sp>
            <p:nvSpPr>
              <p:cNvPr id="105" name="Line 45">
                <a:extLst>
                  <a:ext uri="{FF2B5EF4-FFF2-40B4-BE49-F238E27FC236}">
                    <a16:creationId xmlns:a16="http://schemas.microsoft.com/office/drawing/2014/main" id="{F1B235C8-D515-4F8C-8727-27D99FB3C8C5}"/>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6" name="Line 46">
                <a:extLst>
                  <a:ext uri="{FF2B5EF4-FFF2-40B4-BE49-F238E27FC236}">
                    <a16:creationId xmlns:a16="http://schemas.microsoft.com/office/drawing/2014/main" id="{63FD1C95-A553-4932-B428-75F5862CB7A5}"/>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grpSp>
        <p:nvGrpSpPr>
          <p:cNvPr id="109" name="Group 47">
            <a:extLst>
              <a:ext uri="{FF2B5EF4-FFF2-40B4-BE49-F238E27FC236}">
                <a16:creationId xmlns:a16="http://schemas.microsoft.com/office/drawing/2014/main" id="{672BFDC4-B875-4FC0-998A-919A34160997}"/>
              </a:ext>
            </a:extLst>
          </p:cNvPr>
          <p:cNvGrpSpPr>
            <a:grpSpLocks/>
          </p:cNvGrpSpPr>
          <p:nvPr/>
        </p:nvGrpSpPr>
        <p:grpSpPr bwMode="auto">
          <a:xfrm>
            <a:off x="2482059" y="3009123"/>
            <a:ext cx="168638" cy="739795"/>
            <a:chOff x="3470" y="3158"/>
            <a:chExt cx="90" cy="408"/>
          </a:xfrm>
        </p:grpSpPr>
        <p:grpSp>
          <p:nvGrpSpPr>
            <p:cNvPr id="110" name="Group 48">
              <a:extLst>
                <a:ext uri="{FF2B5EF4-FFF2-40B4-BE49-F238E27FC236}">
                  <a16:creationId xmlns:a16="http://schemas.microsoft.com/office/drawing/2014/main" id="{CDB2AB8F-2E62-4E58-90DD-52682F0A12B9}"/>
                </a:ext>
              </a:extLst>
            </p:cNvPr>
            <p:cNvGrpSpPr>
              <a:grpSpLocks/>
            </p:cNvGrpSpPr>
            <p:nvPr/>
          </p:nvGrpSpPr>
          <p:grpSpPr bwMode="auto">
            <a:xfrm>
              <a:off x="3470" y="3158"/>
              <a:ext cx="90" cy="91"/>
              <a:chOff x="3470" y="3158"/>
              <a:chExt cx="90" cy="91"/>
            </a:xfrm>
          </p:grpSpPr>
          <p:sp>
            <p:nvSpPr>
              <p:cNvPr id="114" name="Line 49">
                <a:extLst>
                  <a:ext uri="{FF2B5EF4-FFF2-40B4-BE49-F238E27FC236}">
                    <a16:creationId xmlns:a16="http://schemas.microsoft.com/office/drawing/2014/main" id="{B074816A-962F-4A85-B8B3-5D83A27E29BB}"/>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5" name="Line 50">
                <a:extLst>
                  <a:ext uri="{FF2B5EF4-FFF2-40B4-BE49-F238E27FC236}">
                    <a16:creationId xmlns:a16="http://schemas.microsoft.com/office/drawing/2014/main" id="{8ACEC353-F17C-4F51-9009-9CACBBB7367D}"/>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11" name="Group 51">
              <a:extLst>
                <a:ext uri="{FF2B5EF4-FFF2-40B4-BE49-F238E27FC236}">
                  <a16:creationId xmlns:a16="http://schemas.microsoft.com/office/drawing/2014/main" id="{8F724993-A154-45BE-AD6D-8E6B7BEDA033}"/>
                </a:ext>
              </a:extLst>
            </p:cNvPr>
            <p:cNvGrpSpPr>
              <a:grpSpLocks/>
            </p:cNvGrpSpPr>
            <p:nvPr/>
          </p:nvGrpSpPr>
          <p:grpSpPr bwMode="auto">
            <a:xfrm>
              <a:off x="3470" y="3475"/>
              <a:ext cx="90" cy="91"/>
              <a:chOff x="3470" y="3158"/>
              <a:chExt cx="90" cy="91"/>
            </a:xfrm>
          </p:grpSpPr>
          <p:sp>
            <p:nvSpPr>
              <p:cNvPr id="112" name="Line 52">
                <a:extLst>
                  <a:ext uri="{FF2B5EF4-FFF2-40B4-BE49-F238E27FC236}">
                    <a16:creationId xmlns:a16="http://schemas.microsoft.com/office/drawing/2014/main" id="{33B5A792-38BD-4211-BCE0-600AB4B72468}"/>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3" name="Line 53">
                <a:extLst>
                  <a:ext uri="{FF2B5EF4-FFF2-40B4-BE49-F238E27FC236}">
                    <a16:creationId xmlns:a16="http://schemas.microsoft.com/office/drawing/2014/main" id="{9AF5A175-F145-494D-8504-B656CF50CCFC}"/>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grpSp>
        <p:nvGrpSpPr>
          <p:cNvPr id="116" name="Group 55">
            <a:extLst>
              <a:ext uri="{FF2B5EF4-FFF2-40B4-BE49-F238E27FC236}">
                <a16:creationId xmlns:a16="http://schemas.microsoft.com/office/drawing/2014/main" id="{588AF079-4308-4F57-B84C-510096528F70}"/>
              </a:ext>
            </a:extLst>
          </p:cNvPr>
          <p:cNvGrpSpPr>
            <a:grpSpLocks/>
          </p:cNvGrpSpPr>
          <p:nvPr/>
        </p:nvGrpSpPr>
        <p:grpSpPr bwMode="auto">
          <a:xfrm>
            <a:off x="2482059" y="4242105"/>
            <a:ext cx="168638" cy="165003"/>
            <a:chOff x="3470" y="3158"/>
            <a:chExt cx="90" cy="91"/>
          </a:xfrm>
        </p:grpSpPr>
        <p:sp>
          <p:nvSpPr>
            <p:cNvPr id="117" name="Line 56">
              <a:extLst>
                <a:ext uri="{FF2B5EF4-FFF2-40B4-BE49-F238E27FC236}">
                  <a16:creationId xmlns:a16="http://schemas.microsoft.com/office/drawing/2014/main" id="{B333AC8D-084A-44D1-A979-B1E4D6258030}"/>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8" name="Line 57">
              <a:extLst>
                <a:ext uri="{FF2B5EF4-FFF2-40B4-BE49-F238E27FC236}">
                  <a16:creationId xmlns:a16="http://schemas.microsoft.com/office/drawing/2014/main" id="{1F288037-2F26-47F2-B63B-34FE19FA3CE4}"/>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19" name="Group 61">
            <a:extLst>
              <a:ext uri="{FF2B5EF4-FFF2-40B4-BE49-F238E27FC236}">
                <a16:creationId xmlns:a16="http://schemas.microsoft.com/office/drawing/2014/main" id="{BA349E1F-7B8C-4DFD-9D07-DEF6CFB63DA1}"/>
              </a:ext>
            </a:extLst>
          </p:cNvPr>
          <p:cNvGrpSpPr>
            <a:grpSpLocks/>
          </p:cNvGrpSpPr>
          <p:nvPr/>
        </p:nvGrpSpPr>
        <p:grpSpPr bwMode="auto">
          <a:xfrm>
            <a:off x="4267743" y="3009123"/>
            <a:ext cx="168638" cy="739795"/>
            <a:chOff x="3470" y="3158"/>
            <a:chExt cx="90" cy="408"/>
          </a:xfrm>
        </p:grpSpPr>
        <p:grpSp>
          <p:nvGrpSpPr>
            <p:cNvPr id="120" name="Group 62">
              <a:extLst>
                <a:ext uri="{FF2B5EF4-FFF2-40B4-BE49-F238E27FC236}">
                  <a16:creationId xmlns:a16="http://schemas.microsoft.com/office/drawing/2014/main" id="{BD8766E0-CCCB-4ABB-9233-16A47A870176}"/>
                </a:ext>
              </a:extLst>
            </p:cNvPr>
            <p:cNvGrpSpPr>
              <a:grpSpLocks/>
            </p:cNvGrpSpPr>
            <p:nvPr/>
          </p:nvGrpSpPr>
          <p:grpSpPr bwMode="auto">
            <a:xfrm>
              <a:off x="3470" y="3158"/>
              <a:ext cx="90" cy="91"/>
              <a:chOff x="3470" y="3158"/>
              <a:chExt cx="90" cy="91"/>
            </a:xfrm>
          </p:grpSpPr>
          <p:sp>
            <p:nvSpPr>
              <p:cNvPr id="124" name="Line 63">
                <a:extLst>
                  <a:ext uri="{FF2B5EF4-FFF2-40B4-BE49-F238E27FC236}">
                    <a16:creationId xmlns:a16="http://schemas.microsoft.com/office/drawing/2014/main" id="{6FFA6483-B3EF-4A59-8EAF-2961A15B7F3C}"/>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5" name="Line 64">
                <a:extLst>
                  <a:ext uri="{FF2B5EF4-FFF2-40B4-BE49-F238E27FC236}">
                    <a16:creationId xmlns:a16="http://schemas.microsoft.com/office/drawing/2014/main" id="{5115B071-B768-4F7A-85F7-8EF22D2D2A65}"/>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21" name="Group 65">
              <a:extLst>
                <a:ext uri="{FF2B5EF4-FFF2-40B4-BE49-F238E27FC236}">
                  <a16:creationId xmlns:a16="http://schemas.microsoft.com/office/drawing/2014/main" id="{68913245-6A6D-4C7B-85BD-073367E1C85B}"/>
                </a:ext>
              </a:extLst>
            </p:cNvPr>
            <p:cNvGrpSpPr>
              <a:grpSpLocks/>
            </p:cNvGrpSpPr>
            <p:nvPr/>
          </p:nvGrpSpPr>
          <p:grpSpPr bwMode="auto">
            <a:xfrm>
              <a:off x="3470" y="3475"/>
              <a:ext cx="90" cy="91"/>
              <a:chOff x="3470" y="3158"/>
              <a:chExt cx="90" cy="91"/>
            </a:xfrm>
          </p:grpSpPr>
          <p:sp>
            <p:nvSpPr>
              <p:cNvPr id="122" name="Line 66">
                <a:extLst>
                  <a:ext uri="{FF2B5EF4-FFF2-40B4-BE49-F238E27FC236}">
                    <a16:creationId xmlns:a16="http://schemas.microsoft.com/office/drawing/2014/main" id="{CA03F53E-F39A-4001-9C1D-33D354260200}"/>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3" name="Line 67">
                <a:extLst>
                  <a:ext uri="{FF2B5EF4-FFF2-40B4-BE49-F238E27FC236}">
                    <a16:creationId xmlns:a16="http://schemas.microsoft.com/office/drawing/2014/main" id="{9B53B335-F576-4434-BA72-7D42EB460417}"/>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grpSp>
        <p:nvGrpSpPr>
          <p:cNvPr id="126" name="Group 68">
            <a:extLst>
              <a:ext uri="{FF2B5EF4-FFF2-40B4-BE49-F238E27FC236}">
                <a16:creationId xmlns:a16="http://schemas.microsoft.com/office/drawing/2014/main" id="{C540A970-2FD5-42A0-AECC-B7D016284A90}"/>
              </a:ext>
            </a:extLst>
          </p:cNvPr>
          <p:cNvGrpSpPr>
            <a:grpSpLocks/>
          </p:cNvGrpSpPr>
          <p:nvPr/>
        </p:nvGrpSpPr>
        <p:grpSpPr bwMode="auto">
          <a:xfrm>
            <a:off x="4267743" y="4242115"/>
            <a:ext cx="168638" cy="739795"/>
            <a:chOff x="3470" y="3158"/>
            <a:chExt cx="90" cy="408"/>
          </a:xfrm>
        </p:grpSpPr>
        <p:grpSp>
          <p:nvGrpSpPr>
            <p:cNvPr id="127" name="Group 69">
              <a:extLst>
                <a:ext uri="{FF2B5EF4-FFF2-40B4-BE49-F238E27FC236}">
                  <a16:creationId xmlns:a16="http://schemas.microsoft.com/office/drawing/2014/main" id="{91E809FD-7FF4-40C0-A3FB-0F28BED1D527}"/>
                </a:ext>
              </a:extLst>
            </p:cNvPr>
            <p:cNvGrpSpPr>
              <a:grpSpLocks/>
            </p:cNvGrpSpPr>
            <p:nvPr/>
          </p:nvGrpSpPr>
          <p:grpSpPr bwMode="auto">
            <a:xfrm>
              <a:off x="3470" y="3158"/>
              <a:ext cx="90" cy="91"/>
              <a:chOff x="3470" y="3158"/>
              <a:chExt cx="90" cy="91"/>
            </a:xfrm>
          </p:grpSpPr>
          <p:sp>
            <p:nvSpPr>
              <p:cNvPr id="131" name="Line 70">
                <a:extLst>
                  <a:ext uri="{FF2B5EF4-FFF2-40B4-BE49-F238E27FC236}">
                    <a16:creationId xmlns:a16="http://schemas.microsoft.com/office/drawing/2014/main" id="{14547036-78F2-4C42-AF38-37A91405B7FA}"/>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2" name="Line 71">
                <a:extLst>
                  <a:ext uri="{FF2B5EF4-FFF2-40B4-BE49-F238E27FC236}">
                    <a16:creationId xmlns:a16="http://schemas.microsoft.com/office/drawing/2014/main" id="{7D181B57-054D-45B7-96FC-95CB3F74F316}"/>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28" name="Group 72">
              <a:extLst>
                <a:ext uri="{FF2B5EF4-FFF2-40B4-BE49-F238E27FC236}">
                  <a16:creationId xmlns:a16="http://schemas.microsoft.com/office/drawing/2014/main" id="{E8D80D87-788D-436C-8C04-FBC3C1D83223}"/>
                </a:ext>
              </a:extLst>
            </p:cNvPr>
            <p:cNvGrpSpPr>
              <a:grpSpLocks/>
            </p:cNvGrpSpPr>
            <p:nvPr/>
          </p:nvGrpSpPr>
          <p:grpSpPr bwMode="auto">
            <a:xfrm>
              <a:off x="3470" y="3475"/>
              <a:ext cx="90" cy="91"/>
              <a:chOff x="3470" y="3158"/>
              <a:chExt cx="90" cy="91"/>
            </a:xfrm>
          </p:grpSpPr>
          <p:sp>
            <p:nvSpPr>
              <p:cNvPr id="129" name="Line 73">
                <a:extLst>
                  <a:ext uri="{FF2B5EF4-FFF2-40B4-BE49-F238E27FC236}">
                    <a16:creationId xmlns:a16="http://schemas.microsoft.com/office/drawing/2014/main" id="{A12038E8-3E03-4AC2-84E9-740313435B76}"/>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 name="Line 74">
                <a:extLst>
                  <a:ext uri="{FF2B5EF4-FFF2-40B4-BE49-F238E27FC236}">
                    <a16:creationId xmlns:a16="http://schemas.microsoft.com/office/drawing/2014/main" id="{2B760EA4-5CF0-40EA-B076-C880AE8F3DEE}"/>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sp>
        <p:nvSpPr>
          <p:cNvPr id="133" name="AutoShape 75">
            <a:extLst>
              <a:ext uri="{FF2B5EF4-FFF2-40B4-BE49-F238E27FC236}">
                <a16:creationId xmlns:a16="http://schemas.microsoft.com/office/drawing/2014/main" id="{C4390590-E989-4371-8E24-6FB11AFB994B}"/>
              </a:ext>
            </a:extLst>
          </p:cNvPr>
          <p:cNvSpPr>
            <a:spLocks noChangeArrowheads="1"/>
          </p:cNvSpPr>
          <p:nvPr/>
        </p:nvSpPr>
        <p:spPr bwMode="auto">
          <a:xfrm>
            <a:off x="3289781" y="2408040"/>
            <a:ext cx="556339" cy="3258362"/>
          </a:xfrm>
          <a:prstGeom prst="roundRect">
            <a:avLst>
              <a:gd name="adj" fmla="val 16667"/>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4" name="Line 76">
            <a:extLst>
              <a:ext uri="{FF2B5EF4-FFF2-40B4-BE49-F238E27FC236}">
                <a16:creationId xmlns:a16="http://schemas.microsoft.com/office/drawing/2014/main" id="{D8164FD2-DDC6-4C32-A8A5-995A7E890EEF}"/>
              </a:ext>
            </a:extLst>
          </p:cNvPr>
          <p:cNvSpPr>
            <a:spLocks noChangeShapeType="1"/>
          </p:cNvSpPr>
          <p:nvPr/>
        </p:nvSpPr>
        <p:spPr bwMode="auto">
          <a:xfrm flipV="1">
            <a:off x="3940540" y="3993703"/>
            <a:ext cx="833161" cy="9775"/>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5" name="Object 78">
                <a:extLst>
                  <a:ext uri="{FF2B5EF4-FFF2-40B4-BE49-F238E27FC236}">
                    <a16:creationId xmlns:a16="http://schemas.microsoft.com/office/drawing/2014/main" id="{2ADD874F-B92E-4431-9B59-DE460EE67F5E}"/>
                  </a:ext>
                </a:extLst>
              </p:cNvPr>
              <p:cNvSpPr txBox="1"/>
              <p:nvPr/>
            </p:nvSpPr>
            <p:spPr bwMode="auto">
              <a:xfrm>
                <a:off x="4773701" y="3686019"/>
                <a:ext cx="460943" cy="6255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𝑣</m:t>
                          </m:r>
                        </m:e>
                      </m:acc>
                    </m:oMath>
                  </m:oMathPara>
                </a14:m>
                <a:endParaRPr lang="en-US"/>
              </a:p>
            </p:txBody>
          </p:sp>
        </mc:Choice>
        <mc:Fallback xmlns="">
          <p:sp>
            <p:nvSpPr>
              <p:cNvPr id="135" name="Object 78">
                <a:extLst>
                  <a:ext uri="{FF2B5EF4-FFF2-40B4-BE49-F238E27FC236}">
                    <a16:creationId xmlns:a16="http://schemas.microsoft.com/office/drawing/2014/main" id="{2ADD874F-B92E-4431-9B59-DE460EE67F5E}"/>
                  </a:ext>
                </a:extLst>
              </p:cNvPr>
              <p:cNvSpPr txBox="1">
                <a:spLocks noRot="1" noChangeAspect="1" noMove="1" noResize="1" noEditPoints="1" noAdjustHandles="1" noChangeArrowheads="1" noChangeShapeType="1" noTextEdit="1"/>
              </p:cNvSpPr>
              <p:nvPr/>
            </p:nvSpPr>
            <p:spPr bwMode="auto">
              <a:xfrm>
                <a:off x="4773701" y="3686019"/>
                <a:ext cx="460943" cy="625562"/>
              </a:xfrm>
              <a:prstGeom prst="rect">
                <a:avLst/>
              </a:prstGeom>
              <a:blipFill>
                <a:blip r:embed="rId2"/>
                <a:stretch>
                  <a:fillRect t="-12745" r="-17105"/>
                </a:stretch>
              </a:blipFill>
              <a:ln>
                <a:noFill/>
              </a:ln>
              <a:effectLst/>
            </p:spPr>
            <p:txBody>
              <a:bodyPr/>
              <a:lstStyle/>
              <a:p>
                <a:r>
                  <a:rPr lang="en-US">
                    <a:noFill/>
                  </a:rPr>
                  <a:t> </a:t>
                </a:r>
              </a:p>
            </p:txBody>
          </p:sp>
        </mc:Fallback>
      </mc:AlternateContent>
      <p:sp>
        <p:nvSpPr>
          <p:cNvPr id="136" name="Line 79">
            <a:extLst>
              <a:ext uri="{FF2B5EF4-FFF2-40B4-BE49-F238E27FC236}">
                <a16:creationId xmlns:a16="http://schemas.microsoft.com/office/drawing/2014/main" id="{E61B1258-76F6-401A-8907-4D2BCDFA75F9}"/>
              </a:ext>
            </a:extLst>
          </p:cNvPr>
          <p:cNvSpPr>
            <a:spLocks noChangeShapeType="1"/>
          </p:cNvSpPr>
          <p:nvPr/>
        </p:nvSpPr>
        <p:spPr bwMode="auto">
          <a:xfrm flipV="1">
            <a:off x="866887" y="3420725"/>
            <a:ext cx="0" cy="739795"/>
          </a:xfrm>
          <a:prstGeom prst="line">
            <a:avLst/>
          </a:prstGeom>
          <a:noFill/>
          <a:ln w="508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7" name="Object 80">
                <a:extLst>
                  <a:ext uri="{FF2B5EF4-FFF2-40B4-BE49-F238E27FC236}">
                    <a16:creationId xmlns:a16="http://schemas.microsoft.com/office/drawing/2014/main" id="{94EF2F7B-DF8D-41BD-A9B1-1B4A21F70CF3}"/>
                  </a:ext>
                </a:extLst>
              </p:cNvPr>
              <p:cNvSpPr txBox="1"/>
              <p:nvPr/>
            </p:nvSpPr>
            <p:spPr bwMode="auto">
              <a:xfrm>
                <a:off x="1633250" y="2762525"/>
                <a:ext cx="599600" cy="71441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𝐵</m:t>
                          </m:r>
                        </m:e>
                      </m:acc>
                    </m:oMath>
                  </m:oMathPara>
                </a14:m>
                <a:endParaRPr lang="en-US"/>
              </a:p>
            </p:txBody>
          </p:sp>
        </mc:Choice>
        <mc:Fallback xmlns="">
          <p:sp>
            <p:nvSpPr>
              <p:cNvPr id="137" name="Object 80">
                <a:extLst>
                  <a:ext uri="{FF2B5EF4-FFF2-40B4-BE49-F238E27FC236}">
                    <a16:creationId xmlns:a16="http://schemas.microsoft.com/office/drawing/2014/main" id="{94EF2F7B-DF8D-41BD-A9B1-1B4A21F70CF3}"/>
                  </a:ext>
                </a:extLst>
              </p:cNvPr>
              <p:cNvSpPr txBox="1">
                <a:spLocks noRot="1" noChangeAspect="1" noMove="1" noResize="1" noEditPoints="1" noAdjustHandles="1" noChangeArrowheads="1" noChangeShapeType="1" noTextEdit="1"/>
              </p:cNvSpPr>
              <p:nvPr/>
            </p:nvSpPr>
            <p:spPr bwMode="auto">
              <a:xfrm>
                <a:off x="1633250" y="2762525"/>
                <a:ext cx="599600" cy="714410"/>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142" name="Group 55">
            <a:extLst>
              <a:ext uri="{FF2B5EF4-FFF2-40B4-BE49-F238E27FC236}">
                <a16:creationId xmlns:a16="http://schemas.microsoft.com/office/drawing/2014/main" id="{588AF079-4308-4F57-B84C-510096528F70}"/>
              </a:ext>
            </a:extLst>
          </p:cNvPr>
          <p:cNvGrpSpPr>
            <a:grpSpLocks/>
          </p:cNvGrpSpPr>
          <p:nvPr/>
        </p:nvGrpSpPr>
        <p:grpSpPr bwMode="auto">
          <a:xfrm>
            <a:off x="2491919" y="4873398"/>
            <a:ext cx="168638" cy="165003"/>
            <a:chOff x="3470" y="3158"/>
            <a:chExt cx="90" cy="91"/>
          </a:xfrm>
        </p:grpSpPr>
        <p:sp>
          <p:nvSpPr>
            <p:cNvPr id="143" name="Line 56">
              <a:extLst>
                <a:ext uri="{FF2B5EF4-FFF2-40B4-BE49-F238E27FC236}">
                  <a16:creationId xmlns:a16="http://schemas.microsoft.com/office/drawing/2014/main" id="{B333AC8D-084A-44D1-A979-B1E4D6258030}"/>
                </a:ext>
              </a:extLst>
            </p:cNvPr>
            <p:cNvSpPr>
              <a:spLocks noChangeShapeType="1"/>
            </p:cNvSpPr>
            <p:nvPr/>
          </p:nvSpPr>
          <p:spPr bwMode="auto">
            <a:xfrm flipH="1">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4" name="Line 57">
              <a:extLst>
                <a:ext uri="{FF2B5EF4-FFF2-40B4-BE49-F238E27FC236}">
                  <a16:creationId xmlns:a16="http://schemas.microsoft.com/office/drawing/2014/main" id="{1F288037-2F26-47F2-B63B-34FE19FA3CE4}"/>
                </a:ext>
              </a:extLst>
            </p:cNvPr>
            <p:cNvSpPr>
              <a:spLocks noChangeShapeType="1"/>
            </p:cNvSpPr>
            <p:nvPr/>
          </p:nvSpPr>
          <p:spPr bwMode="auto">
            <a:xfrm>
              <a:off x="3470" y="3158"/>
              <a:ext cx="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50" name="Rectangle 13"/>
          <p:cNvSpPr>
            <a:spLocks noChangeArrowheads="1"/>
          </p:cNvSpPr>
          <p:nvPr/>
        </p:nvSpPr>
        <p:spPr bwMode="auto">
          <a:xfrm>
            <a:off x="3394274" y="1822306"/>
            <a:ext cx="20518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32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a:t>
            </a:r>
            <a:endParaRPr kumimoji="1"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0" name="Rectangle 27"/>
          <p:cNvSpPr>
            <a:spLocks noChangeArrowheads="1"/>
          </p:cNvSpPr>
          <p:nvPr/>
        </p:nvSpPr>
        <p:spPr bwMode="auto">
          <a:xfrm>
            <a:off x="3426555" y="5724155"/>
            <a:ext cx="17953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8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b</a:t>
            </a: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4" name="椭圆 73"/>
          <p:cNvSpPr/>
          <p:nvPr/>
        </p:nvSpPr>
        <p:spPr>
          <a:xfrm>
            <a:off x="3440815" y="3849921"/>
            <a:ext cx="298392" cy="327556"/>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75" name="直接连接符 74"/>
          <p:cNvCxnSpPr/>
          <p:nvPr/>
        </p:nvCxnSpPr>
        <p:spPr>
          <a:xfrm>
            <a:off x="3497965" y="4013699"/>
            <a:ext cx="15902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文本框 3"/>
              <p:cNvSpPr txBox="1"/>
              <p:nvPr/>
            </p:nvSpPr>
            <p:spPr>
              <a:xfrm>
                <a:off x="7905535" y="1732790"/>
                <a:ext cx="3129910" cy="4140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b="1" i="1" smtClean="0">
                              <a:solidFill>
                                <a:srgbClr val="FF0000"/>
                              </a:solidFill>
                              <a:latin typeface="Cambria Math" panose="02040503050406030204" pitchFamily="18" charset="0"/>
                            </a:rPr>
                          </m:ctrlPr>
                        </m:accPr>
                        <m:e>
                          <m:r>
                            <a:rPr lang="en-US" sz="2400" b="1" i="1" smtClean="0">
                              <a:solidFill>
                                <a:srgbClr val="FF0000"/>
                              </a:solidFill>
                              <a:latin typeface="Cambria Math" panose="02040503050406030204" pitchFamily="18" charset="0"/>
                            </a:rPr>
                            <m:t>𝑭</m:t>
                          </m:r>
                        </m:e>
                      </m:acc>
                      <m:r>
                        <m:rPr>
                          <m:sty m:val="p"/>
                        </m:rPr>
                        <a:rPr lang="en-US" altLang="zh-CN" sz="2400" b="1" i="1" baseline="-25000">
                          <a:solidFill>
                            <a:srgbClr val="FF0000"/>
                          </a:solidFill>
                          <a:latin typeface="Cambria Math" panose="02040503050406030204" pitchFamily="18" charset="0"/>
                        </a:rPr>
                        <m:t>m</m:t>
                      </m:r>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𝒒</m:t>
                      </m:r>
                      <m:acc>
                        <m:accPr>
                          <m:chr m:val="⃗"/>
                          <m:ctrlPr>
                            <a:rPr lang="en-US" sz="2400" b="1" i="1" smtClean="0">
                              <a:solidFill>
                                <a:srgbClr val="FF0000"/>
                              </a:solidFill>
                              <a:latin typeface="Cambria Math" panose="02040503050406030204" pitchFamily="18" charset="0"/>
                            </a:rPr>
                          </m:ctrlPr>
                        </m:accPr>
                        <m:e>
                          <m:r>
                            <a:rPr lang="en-US" sz="2400" b="1" i="1" smtClean="0">
                              <a:solidFill>
                                <a:srgbClr val="FF0000"/>
                              </a:solidFill>
                              <a:latin typeface="Cambria Math" panose="02040503050406030204" pitchFamily="18" charset="0"/>
                            </a:rPr>
                            <m:t>𝒗</m:t>
                          </m:r>
                        </m:e>
                      </m:acc>
                      <m:r>
                        <a:rPr lang="en-US" sz="2400" b="1" i="1" smtClean="0">
                          <a:solidFill>
                            <a:srgbClr val="FF0000"/>
                          </a:solidFill>
                          <a:latin typeface="Cambria Math" panose="02040503050406030204" pitchFamily="18" charset="0"/>
                          <a:ea typeface="Cambria Math" panose="02040503050406030204" pitchFamily="18" charset="0"/>
                        </a:rPr>
                        <m:t>×</m:t>
                      </m:r>
                      <m:acc>
                        <m:accPr>
                          <m:chr m:val="⃗"/>
                          <m:ctrlPr>
                            <a:rPr lang="en-US" sz="2400" b="1" i="1" smtClean="0">
                              <a:solidFill>
                                <a:srgbClr val="FF0000"/>
                              </a:solidFill>
                              <a:latin typeface="Cambria Math" panose="02040503050406030204" pitchFamily="18" charset="0"/>
                              <a:ea typeface="Cambria Math" panose="02040503050406030204" pitchFamily="18" charset="0"/>
                            </a:rPr>
                          </m:ctrlPr>
                        </m:accPr>
                        <m:e>
                          <m:r>
                            <a:rPr lang="en-US" sz="2400" b="1" i="1" smtClean="0">
                              <a:solidFill>
                                <a:srgbClr val="FF0000"/>
                              </a:solidFill>
                              <a:latin typeface="Cambria Math" panose="02040503050406030204" pitchFamily="18" charset="0"/>
                              <a:ea typeface="Cambria Math" panose="02040503050406030204" pitchFamily="18" charset="0"/>
                            </a:rPr>
                            <m:t>𝑩</m:t>
                          </m:r>
                        </m:e>
                      </m:acc>
                    </m:oMath>
                  </m:oMathPara>
                </a14:m>
                <a:endParaRPr 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905535" y="1732790"/>
                <a:ext cx="3129910" cy="414088"/>
              </a:xfrm>
              <a:prstGeom prst="rect">
                <a:avLst/>
              </a:prstGeom>
              <a:blipFill>
                <a:blip r:embed="rId4"/>
                <a:stretch>
                  <a:fillRect b="-1471"/>
                </a:stretch>
              </a:blipFill>
            </p:spPr>
            <p:txBody>
              <a:bodyPr/>
              <a:lstStyle/>
              <a:p>
                <a:r>
                  <a:rPr lang="en-US">
                    <a:noFill/>
                  </a:rPr>
                  <a:t> </a:t>
                </a:r>
              </a:p>
            </p:txBody>
          </p:sp>
        </mc:Fallback>
      </mc:AlternateContent>
      <p:sp>
        <p:nvSpPr>
          <p:cNvPr id="2" name="文本框 1"/>
          <p:cNvSpPr txBox="1"/>
          <p:nvPr/>
        </p:nvSpPr>
        <p:spPr>
          <a:xfrm>
            <a:off x="5940215" y="1648316"/>
            <a:ext cx="2801269" cy="892552"/>
          </a:xfrm>
          <a:prstGeom prst="rect">
            <a:avLst/>
          </a:prstGeom>
          <a:noFill/>
        </p:spPr>
        <p:txBody>
          <a:bodyPr wrap="square" rtlCol="0">
            <a:spAutoFit/>
          </a:bodyPr>
          <a:lstStyle/>
          <a:p>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运动电荷在磁场中受洛伦兹力：</a:t>
            </a:r>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6" name="Line 79">
            <a:extLst>
              <a:ext uri="{FF2B5EF4-FFF2-40B4-BE49-F238E27FC236}">
                <a16:creationId xmlns:a16="http://schemas.microsoft.com/office/drawing/2014/main" id="{E61B1258-76F6-401A-8907-4D2BCDFA75F9}"/>
              </a:ext>
            </a:extLst>
          </p:cNvPr>
          <p:cNvSpPr>
            <a:spLocks noChangeShapeType="1"/>
          </p:cNvSpPr>
          <p:nvPr/>
        </p:nvSpPr>
        <p:spPr bwMode="auto">
          <a:xfrm>
            <a:off x="3589445" y="4168201"/>
            <a:ext cx="0" cy="592261"/>
          </a:xfrm>
          <a:prstGeom prst="line">
            <a:avLst/>
          </a:prstGeom>
          <a:noFill/>
          <a:ln w="508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p:cNvSpPr/>
              <p:nvPr/>
            </p:nvSpPr>
            <p:spPr>
              <a:xfrm>
                <a:off x="8922392" y="2128059"/>
                <a:ext cx="1868204" cy="5410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600" b="1" i="1">
                          <a:solidFill>
                            <a:srgbClr val="FF0000"/>
                          </a:solidFill>
                          <a:latin typeface="Cambria Math" panose="02040503050406030204" pitchFamily="18" charset="0"/>
                          <a:ea typeface="Cambria Math" panose="02040503050406030204" pitchFamily="18" charset="0"/>
                        </a:rPr>
                        <m:t>=−</m:t>
                      </m:r>
                      <m:r>
                        <a:rPr lang="en-US" altLang="zh-CN" sz="2600" b="1" i="1">
                          <a:solidFill>
                            <a:srgbClr val="FF0000"/>
                          </a:solidFill>
                          <a:latin typeface="Cambria Math" panose="02040503050406030204" pitchFamily="18" charset="0"/>
                          <a:ea typeface="Cambria Math" panose="02040503050406030204" pitchFamily="18" charset="0"/>
                        </a:rPr>
                        <m:t>𝒆</m:t>
                      </m:r>
                      <m:acc>
                        <m:accPr>
                          <m:chr m:val="⃗"/>
                          <m:ctrlPr>
                            <a:rPr lang="en-US" altLang="zh-CN" sz="2600" b="1" i="1">
                              <a:solidFill>
                                <a:srgbClr val="FF0000"/>
                              </a:solidFill>
                              <a:latin typeface="Cambria Math" panose="02040503050406030204" pitchFamily="18" charset="0"/>
                            </a:rPr>
                          </m:ctrlPr>
                        </m:accPr>
                        <m:e>
                          <m:r>
                            <a:rPr lang="en-US" altLang="zh-CN" sz="2600" b="1" i="1">
                              <a:solidFill>
                                <a:srgbClr val="FF0000"/>
                              </a:solidFill>
                              <a:latin typeface="Cambria Math" panose="02040503050406030204" pitchFamily="18" charset="0"/>
                            </a:rPr>
                            <m:t>𝒗</m:t>
                          </m:r>
                        </m:e>
                      </m:acc>
                      <m:r>
                        <a:rPr lang="en-US" altLang="zh-CN" sz="2600" b="1" i="1">
                          <a:solidFill>
                            <a:srgbClr val="FF0000"/>
                          </a:solidFill>
                          <a:latin typeface="Cambria Math" panose="02040503050406030204" pitchFamily="18" charset="0"/>
                          <a:ea typeface="Cambria Math" panose="02040503050406030204" pitchFamily="18" charset="0"/>
                        </a:rPr>
                        <m:t>×</m:t>
                      </m:r>
                      <m:acc>
                        <m:accPr>
                          <m:chr m:val="⃗"/>
                          <m:ctrlPr>
                            <a:rPr lang="en-US" altLang="zh-CN" sz="2600" b="1" i="1">
                              <a:solidFill>
                                <a:srgbClr val="FF0000"/>
                              </a:solidFill>
                              <a:latin typeface="Cambria Math" panose="02040503050406030204" pitchFamily="18" charset="0"/>
                              <a:ea typeface="Cambria Math" panose="02040503050406030204" pitchFamily="18" charset="0"/>
                            </a:rPr>
                          </m:ctrlPr>
                        </m:accPr>
                        <m:e>
                          <m:r>
                            <a:rPr lang="en-US" altLang="zh-CN" sz="2600" b="1" i="1">
                              <a:solidFill>
                                <a:srgbClr val="FF0000"/>
                              </a:solidFill>
                              <a:latin typeface="Cambria Math" panose="02040503050406030204" pitchFamily="18" charset="0"/>
                              <a:ea typeface="Cambria Math" panose="02040503050406030204" pitchFamily="18" charset="0"/>
                            </a:rPr>
                            <m:t>𝑩</m:t>
                          </m:r>
                        </m:e>
                      </m:acc>
                    </m:oMath>
                  </m:oMathPara>
                </a14:m>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8922392" y="2128059"/>
                <a:ext cx="1868204" cy="54104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394570" y="4754946"/>
                <a:ext cx="511679" cy="402931"/>
              </a:xfrm>
              <a:prstGeom prst="rect">
                <a:avLst/>
              </a:prstGeom>
            </p:spPr>
            <p:txBody>
              <a:bodyPr wrap="none">
                <a:spAutoFit/>
              </a:bodyPr>
              <a:lstStyle/>
              <a:p>
                <a14:m>
                  <m:oMath xmlns:m="http://schemas.openxmlformats.org/officeDocument/2006/math">
                    <m:acc>
                      <m:accPr>
                        <m:chr m:val="⃗"/>
                        <m:ctrlPr>
                          <a:rPr lang="en-US" altLang="zh-CN" b="1" i="1">
                            <a:solidFill>
                              <a:srgbClr val="FF0000"/>
                            </a:solidFill>
                            <a:latin typeface="Cambria Math" panose="02040503050406030204" pitchFamily="18" charset="0"/>
                          </a:rPr>
                        </m:ctrlPr>
                      </m:accPr>
                      <m:e>
                        <m:r>
                          <a:rPr lang="en-US" altLang="zh-CN" b="1" i="1">
                            <a:solidFill>
                              <a:srgbClr val="FF0000"/>
                            </a:solidFill>
                            <a:latin typeface="Cambria Math" panose="02040503050406030204" pitchFamily="18" charset="0"/>
                          </a:rPr>
                          <m:t>𝑭</m:t>
                        </m:r>
                      </m:e>
                    </m:acc>
                  </m:oMath>
                </a14:m>
                <a:r>
                  <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t>
                </a:r>
              </a:p>
            </p:txBody>
          </p:sp>
        </mc:Choice>
        <mc:Fallback xmlns="">
          <p:sp>
            <p:nvSpPr>
              <p:cNvPr id="10" name="矩形 9"/>
              <p:cNvSpPr>
                <a:spLocks noRot="1" noChangeAspect="1" noMove="1" noResize="1" noEditPoints="1" noAdjustHandles="1" noChangeArrowheads="1" noChangeShapeType="1" noTextEdit="1"/>
              </p:cNvSpPr>
              <p:nvPr/>
            </p:nvSpPr>
            <p:spPr>
              <a:xfrm>
                <a:off x="3394570" y="4754946"/>
                <a:ext cx="511679" cy="402931"/>
              </a:xfrm>
              <a:prstGeom prst="rect">
                <a:avLst/>
              </a:prstGeom>
              <a:blipFill>
                <a:blip r:embed="rId10"/>
                <a:stretch>
                  <a:fillRect r="-8333" b="-24242"/>
                </a:stretch>
              </a:blipFill>
            </p:spPr>
            <p:txBody>
              <a:bodyPr/>
              <a:lstStyle/>
              <a:p>
                <a:r>
                  <a:rPr lang="zh-CN" altLang="en-US">
                    <a:noFill/>
                  </a:rPr>
                  <a:t> </a:t>
                </a:r>
              </a:p>
            </p:txBody>
          </p:sp>
        </mc:Fallback>
      </mc:AlternateContent>
      <p:sp>
        <p:nvSpPr>
          <p:cNvPr id="78" name="Rectangle 31"/>
          <p:cNvSpPr>
            <a:spLocks noChangeArrowheads="1"/>
          </p:cNvSpPr>
          <p:nvPr/>
        </p:nvSpPr>
        <p:spPr bwMode="auto">
          <a:xfrm>
            <a:off x="5967462" y="3071501"/>
            <a:ext cx="24479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600" dirty="0">
                <a:latin typeface="Times New Roman" panose="02020603050405020304" pitchFamily="18" charset="0"/>
                <a:ea typeface="华文楷体" panose="02010600040101010101" pitchFamily="2" charset="-122"/>
                <a:cs typeface="Times New Roman" panose="02020603050405020304" pitchFamily="18" charset="0"/>
              </a:rPr>
              <a:t>非静电场场强：</a:t>
            </a:r>
          </a:p>
        </p:txBody>
      </p:sp>
      <mc:AlternateContent xmlns:mc="http://schemas.openxmlformats.org/markup-compatibility/2006" xmlns:a14="http://schemas.microsoft.com/office/drawing/2010/main">
        <mc:Choice Requires="a14">
          <p:sp>
            <p:nvSpPr>
              <p:cNvPr id="80" name="Object 41"/>
              <p:cNvSpPr txBox="1"/>
              <p:nvPr/>
            </p:nvSpPr>
            <p:spPr bwMode="auto">
              <a:xfrm>
                <a:off x="8319614" y="2817321"/>
                <a:ext cx="3165567" cy="9620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600" i="1">
                              <a:solidFill>
                                <a:srgbClr val="000000"/>
                              </a:solidFill>
                              <a:latin typeface="Cambria Math" panose="02040503050406030204" pitchFamily="18" charset="0"/>
                            </a:rPr>
                          </m:ctrlPr>
                        </m:sSubPr>
                        <m:e>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E</m:t>
                              </m:r>
                            </m:e>
                          </m:acc>
                        </m:e>
                        <m:sub>
                          <m:r>
                            <m:rPr>
                              <m:sty m:val="p"/>
                            </m:rPr>
                            <a:rPr lang="en-US" sz="2600" i="1">
                              <a:solidFill>
                                <a:srgbClr val="000000"/>
                              </a:solidFill>
                              <a:latin typeface="Cambria Math" panose="02040503050406030204" pitchFamily="18" charset="0"/>
                            </a:rPr>
                            <m:t>k</m:t>
                          </m:r>
                        </m:sub>
                      </m:sSub>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sSub>
                            <m:sSubPr>
                              <m:ctrlPr>
                                <a:rPr lang="en-US" sz="2600" i="1">
                                  <a:solidFill>
                                    <a:srgbClr val="000000"/>
                                  </a:solidFill>
                                  <a:latin typeface="Cambria Math" panose="02040503050406030204" pitchFamily="18" charset="0"/>
                                </a:rPr>
                              </m:ctrlPr>
                            </m:sSubPr>
                            <m:e>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F</m:t>
                                  </m:r>
                                </m:e>
                              </m:acc>
                            </m:e>
                            <m:sub>
                              <m:r>
                                <m:rPr>
                                  <m:sty m:val="p"/>
                                </m:rPr>
                                <a:rPr lang="en-US" sz="2600" i="1">
                                  <a:solidFill>
                                    <a:srgbClr val="000000"/>
                                  </a:solidFill>
                                  <a:latin typeface="Cambria Math" panose="02040503050406030204" pitchFamily="18" charset="0"/>
                                </a:rPr>
                                <m:t>m</m:t>
                              </m:r>
                            </m:sub>
                          </m:sSub>
                        </m:num>
                        <m:den>
                          <m:r>
                            <a:rPr lang="en-US" sz="2600" i="1">
                              <a:solidFill>
                                <a:srgbClr val="000000"/>
                              </a:solidFill>
                              <a:latin typeface="Cambria Math" panose="02040503050406030204" pitchFamily="18" charset="0"/>
                            </a:rPr>
                            <m:t>−</m:t>
                          </m:r>
                          <m:r>
                            <m:rPr>
                              <m:sty m:val="p"/>
                            </m:rPr>
                            <a:rPr lang="en-US" sz="2600" i="1">
                              <a:solidFill>
                                <a:srgbClr val="000000"/>
                              </a:solidFill>
                              <a:latin typeface="Cambria Math" panose="02040503050406030204" pitchFamily="18" charset="0"/>
                            </a:rPr>
                            <m:t>e</m:t>
                          </m:r>
                        </m:den>
                      </m:f>
                      <m:r>
                        <a:rPr lang="en-US" sz="2600" i="1">
                          <a:solidFill>
                            <a:srgbClr val="000000"/>
                          </a:solidFill>
                          <a:latin typeface="Cambria Math" panose="02040503050406030204" pitchFamily="18" charset="0"/>
                        </a:rPr>
                        <m:t>=</m:t>
                      </m:r>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v</m:t>
                          </m:r>
                        </m:e>
                      </m:acc>
                      <m:r>
                        <a:rPr lang="en-US" sz="2600" i="1">
                          <a:solidFill>
                            <a:srgbClr val="000000"/>
                          </a:solidFill>
                          <a:latin typeface="Cambria Math" panose="02040503050406030204" pitchFamily="18" charset="0"/>
                        </a:rPr>
                        <m:t>×</m:t>
                      </m:r>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B</m:t>
                          </m:r>
                        </m:e>
                      </m:acc>
                    </m:oMath>
                  </m:oMathPara>
                </a14:m>
                <a:endParaRPr lang="en-US" sz="2600" dirty="0"/>
              </a:p>
            </p:txBody>
          </p:sp>
        </mc:Choice>
        <mc:Fallback xmlns="">
          <p:sp>
            <p:nvSpPr>
              <p:cNvPr id="80" name="Object 41"/>
              <p:cNvSpPr txBox="1">
                <a:spLocks noRot="1" noChangeAspect="1" noMove="1" noResize="1" noEditPoints="1" noAdjustHandles="1" noChangeArrowheads="1" noChangeShapeType="1" noTextEdit="1"/>
              </p:cNvSpPr>
              <p:nvPr/>
            </p:nvSpPr>
            <p:spPr bwMode="auto">
              <a:xfrm>
                <a:off x="8319614" y="2817321"/>
                <a:ext cx="3165567" cy="962025"/>
              </a:xfrm>
              <a:prstGeom prst="rect">
                <a:avLst/>
              </a:prstGeom>
              <a:blipFill>
                <a:blip r:embed="rId11"/>
                <a:stretch>
                  <a:fillRect/>
                </a:stretch>
              </a:blipFill>
              <a:ln>
                <a:noFill/>
              </a:ln>
              <a:effectLst/>
            </p:spPr>
            <p:txBody>
              <a:bodyPr/>
              <a:lstStyle/>
              <a:p>
                <a:r>
                  <a:rPr lang="en-US">
                    <a:noFill/>
                  </a:rPr>
                  <a:t> </a:t>
                </a:r>
              </a:p>
            </p:txBody>
          </p:sp>
        </mc:Fallback>
      </mc:AlternateContent>
      <p:sp>
        <p:nvSpPr>
          <p:cNvPr id="92" name="Line 79">
            <a:extLst>
              <a:ext uri="{FF2B5EF4-FFF2-40B4-BE49-F238E27FC236}">
                <a16:creationId xmlns:a16="http://schemas.microsoft.com/office/drawing/2014/main" id="{E61B1258-76F6-401A-8907-4D2BCDFA75F9}"/>
              </a:ext>
            </a:extLst>
          </p:cNvPr>
          <p:cNvSpPr>
            <a:spLocks noChangeShapeType="1"/>
          </p:cNvSpPr>
          <p:nvPr/>
        </p:nvSpPr>
        <p:spPr bwMode="auto">
          <a:xfrm flipV="1">
            <a:off x="3599812" y="3176921"/>
            <a:ext cx="0" cy="571997"/>
          </a:xfrm>
          <a:prstGeom prst="line">
            <a:avLst/>
          </a:prstGeom>
          <a:noFill/>
          <a:ln w="508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38" name="Group 15"/>
          <p:cNvGrpSpPr>
            <a:grpSpLocks/>
          </p:cNvGrpSpPr>
          <p:nvPr/>
        </p:nvGrpSpPr>
        <p:grpSpPr bwMode="auto">
          <a:xfrm>
            <a:off x="2845572" y="3833015"/>
            <a:ext cx="386978" cy="636010"/>
            <a:chOff x="3560" y="3067"/>
            <a:chExt cx="273" cy="441"/>
          </a:xfrm>
        </p:grpSpPr>
        <p:sp>
          <p:nvSpPr>
            <p:cNvPr id="139" name="Line 16"/>
            <p:cNvSpPr>
              <a:spLocks noChangeShapeType="1"/>
            </p:cNvSpPr>
            <p:nvPr/>
          </p:nvSpPr>
          <p:spPr bwMode="auto">
            <a:xfrm>
              <a:off x="3560" y="3249"/>
              <a:ext cx="273"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0" name="Line 17"/>
            <p:cNvSpPr>
              <a:spLocks noChangeShapeType="1"/>
            </p:cNvSpPr>
            <p:nvPr/>
          </p:nvSpPr>
          <p:spPr bwMode="auto">
            <a:xfrm>
              <a:off x="3664" y="3307"/>
              <a:ext cx="91"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1" name="Line 18"/>
            <p:cNvSpPr>
              <a:spLocks noChangeShapeType="1"/>
            </p:cNvSpPr>
            <p:nvPr/>
          </p:nvSpPr>
          <p:spPr bwMode="auto">
            <a:xfrm flipV="1">
              <a:off x="3709" y="3067"/>
              <a:ext cx="0" cy="18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5" name="Line 19"/>
            <p:cNvSpPr>
              <a:spLocks noChangeShapeType="1"/>
            </p:cNvSpPr>
            <p:nvPr/>
          </p:nvSpPr>
          <p:spPr bwMode="auto">
            <a:xfrm flipV="1">
              <a:off x="3703" y="3326"/>
              <a:ext cx="0" cy="18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46" name="Object 20"/>
              <p:cNvSpPr txBox="1"/>
              <p:nvPr/>
            </p:nvSpPr>
            <p:spPr bwMode="auto">
              <a:xfrm>
                <a:off x="2567816" y="3704659"/>
                <a:ext cx="348705" cy="39083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𝜀</m:t>
                      </m:r>
                    </m:oMath>
                  </m:oMathPara>
                </a14:m>
                <a:endParaRPr lang="en-US"/>
              </a:p>
            </p:txBody>
          </p:sp>
        </mc:Choice>
        <mc:Fallback xmlns="">
          <p:sp>
            <p:nvSpPr>
              <p:cNvPr id="146" name="Object 20"/>
              <p:cNvSpPr txBox="1">
                <a:spLocks noRot="1" noChangeAspect="1" noMove="1" noResize="1" noEditPoints="1" noAdjustHandles="1" noChangeArrowheads="1" noChangeShapeType="1" noTextEdit="1"/>
              </p:cNvSpPr>
              <p:nvPr/>
            </p:nvSpPr>
            <p:spPr bwMode="auto">
              <a:xfrm>
                <a:off x="2567816" y="3704659"/>
                <a:ext cx="348705" cy="390836"/>
              </a:xfrm>
              <a:prstGeom prst="rect">
                <a:avLst/>
              </a:prstGeom>
              <a:blipFill>
                <a:blip r:embed="rId1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3404961" y="2734367"/>
                <a:ext cx="408382" cy="41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FF0000"/>
                              </a:solidFill>
                              <a:latin typeface="Cambria Math" panose="02040503050406030204" pitchFamily="18" charset="0"/>
                            </a:rPr>
                          </m:ctrlPr>
                        </m:sSubPr>
                        <m:e>
                          <m:acc>
                            <m:accPr>
                              <m:chr m:val="⃗"/>
                              <m:ctrlPr>
                                <a:rPr lang="en-US" sz="2400" i="1">
                                  <a:solidFill>
                                    <a:srgbClr val="FF0000"/>
                                  </a:solidFill>
                                  <a:latin typeface="Cambria Math" panose="02040503050406030204" pitchFamily="18" charset="0"/>
                                </a:rPr>
                              </m:ctrlPr>
                            </m:accPr>
                            <m:e>
                              <m:r>
                                <a:rPr lang="en-US" sz="2400" i="1">
                                  <a:solidFill>
                                    <a:srgbClr val="FF0000"/>
                                  </a:solidFill>
                                  <a:latin typeface="Cambria Math" panose="02040503050406030204" pitchFamily="18" charset="0"/>
                                </a:rPr>
                                <m:t>𝐸</m:t>
                              </m:r>
                            </m:e>
                          </m:acc>
                        </m:e>
                        <m:sub>
                          <m:r>
                            <a:rPr lang="en-US" sz="2400" i="1">
                              <a:solidFill>
                                <a:srgbClr val="FF0000"/>
                              </a:solidFill>
                              <a:latin typeface="Cambria Math" panose="02040503050406030204" pitchFamily="18" charset="0"/>
                            </a:rPr>
                            <m:t>𝑘</m:t>
                          </m:r>
                        </m:sub>
                      </m:sSub>
                    </m:oMath>
                  </m:oMathPara>
                </a14:m>
                <a:endParaRPr lang="en-US" sz="2400"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3404961" y="2734367"/>
                <a:ext cx="408382" cy="414088"/>
              </a:xfrm>
              <a:prstGeom prst="rect">
                <a:avLst/>
              </a:prstGeom>
              <a:blipFill>
                <a:blip r:embed="rId16"/>
                <a:stretch>
                  <a:fillRect/>
                </a:stretch>
              </a:blipFill>
            </p:spPr>
            <p:txBody>
              <a:bodyPr/>
              <a:lstStyle/>
              <a:p>
                <a:r>
                  <a:rPr lang="en-US">
                    <a:noFill/>
                  </a:rPr>
                  <a:t> </a:t>
                </a:r>
              </a:p>
            </p:txBody>
          </p:sp>
        </mc:Fallback>
      </mc:AlternateContent>
      <p:grpSp>
        <p:nvGrpSpPr>
          <p:cNvPr id="18" name="组合 17"/>
          <p:cNvGrpSpPr/>
          <p:nvPr/>
        </p:nvGrpSpPr>
        <p:grpSpPr>
          <a:xfrm>
            <a:off x="6049664" y="4012028"/>
            <a:ext cx="4930009" cy="989184"/>
            <a:chOff x="6471551" y="4327607"/>
            <a:chExt cx="3812363" cy="989184"/>
          </a:xfrm>
        </p:grpSpPr>
        <mc:AlternateContent xmlns:mc="http://schemas.openxmlformats.org/markup-compatibility/2006" xmlns:a14="http://schemas.microsoft.com/office/drawing/2010/main">
          <mc:Choice Requires="a14">
            <p:sp>
              <p:nvSpPr>
                <p:cNvPr id="81" name="Object 54"/>
                <p:cNvSpPr txBox="1"/>
                <p:nvPr/>
              </p:nvSpPr>
              <p:spPr bwMode="auto">
                <a:xfrm>
                  <a:off x="6471551" y="4327607"/>
                  <a:ext cx="3812363" cy="807619"/>
                </a:xfrm>
                <a:prstGeom prst="rect">
                  <a:avLst/>
                </a:prstGeom>
                <a:noFill/>
                <a:ln w="28575">
                  <a:no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600" i="1">
                                <a:solidFill>
                                  <a:srgbClr val="000000"/>
                                </a:solidFill>
                                <a:latin typeface="Cambria Math" panose="02040503050406030204" pitchFamily="18" charset="0"/>
                              </a:rPr>
                            </m:ctrlPr>
                          </m:sSubPr>
                          <m:e>
                            <m:r>
                              <m:rPr>
                                <m:sty m:val="p"/>
                              </m:rPr>
                              <a:rPr lang="en-US" sz="2600" i="1">
                                <a:solidFill>
                                  <a:srgbClr val="000000"/>
                                </a:solidFill>
                                <a:latin typeface="Cambria Math" panose="02040503050406030204" pitchFamily="18" charset="0"/>
                              </a:rPr>
                              <m:t>ε</m:t>
                            </m:r>
                          </m:e>
                          <m:sub>
                            <m:r>
                              <a:rPr lang="en-US" sz="2600" i="1">
                                <a:solidFill>
                                  <a:srgbClr val="000000"/>
                                </a:solidFill>
                                <a:latin typeface="Cambria Math" panose="02040503050406030204" pitchFamily="18" charset="0"/>
                              </a:rPr>
                              <m:t>动</m:t>
                            </m:r>
                          </m:sub>
                        </m:sSub>
                        <m:r>
                          <a:rPr lang="en-US" sz="2600" i="1">
                            <a:solidFill>
                              <a:srgbClr val="000000"/>
                            </a:solidFill>
                            <a:latin typeface="Cambria Math" panose="02040503050406030204" pitchFamily="18" charset="0"/>
                          </a:rPr>
                          <m:t>=</m:t>
                        </m:r>
                        <m:nary>
                          <m:naryPr>
                            <m:limLoc m:val="undOvr"/>
                            <m:supHide m:val="on"/>
                            <m:ctrlPr>
                              <a:rPr lang="en-US" sz="2600" i="1">
                                <a:solidFill>
                                  <a:srgbClr val="000000"/>
                                </a:solidFill>
                                <a:latin typeface="Cambria Math" panose="02040503050406030204" pitchFamily="18" charset="0"/>
                              </a:rPr>
                            </m:ctrlPr>
                          </m:naryPr>
                          <m:sub>
                            <m:r>
                              <m:rPr>
                                <m:sty m:val="p"/>
                              </m:rPr>
                              <a:rPr lang="en-US" sz="2600" i="1">
                                <a:solidFill>
                                  <a:srgbClr val="000000"/>
                                </a:solidFill>
                                <a:latin typeface="Cambria Math" panose="02040503050406030204" pitchFamily="18" charset="0"/>
                              </a:rPr>
                              <m:t>L</m:t>
                            </m:r>
                          </m:sub>
                          <m:sup/>
                          <m:e>
                            <m:sSub>
                              <m:sSubPr>
                                <m:ctrlPr>
                                  <a:rPr lang="en-US" sz="2600" i="1">
                                    <a:solidFill>
                                      <a:srgbClr val="000000"/>
                                    </a:solidFill>
                                    <a:latin typeface="Cambria Math" panose="02040503050406030204" pitchFamily="18" charset="0"/>
                                  </a:rPr>
                                </m:ctrlPr>
                              </m:sSubPr>
                              <m:e>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E</m:t>
                                    </m:r>
                                  </m:e>
                                </m:acc>
                              </m:e>
                              <m:sub>
                                <m:r>
                                  <a:rPr lang="en-US" sz="2600" i="1">
                                    <a:solidFill>
                                      <a:srgbClr val="000000"/>
                                    </a:solidFill>
                                    <a:latin typeface="Cambria Math" panose="02040503050406030204" pitchFamily="18" charset="0"/>
                                  </a:rPr>
                                  <m:t>非</m:t>
                                </m:r>
                              </m:sub>
                            </m:sSub>
                            <m:r>
                              <a:rPr lang="en-US" sz="2600" i="1">
                                <a:solidFill>
                                  <a:srgbClr val="000000"/>
                                </a:solidFill>
                                <a:latin typeface="Cambria Math" panose="02040503050406030204" pitchFamily="18" charset="0"/>
                              </a:rPr>
                              <m:t>⋅</m:t>
                            </m:r>
                            <m:r>
                              <m:rPr>
                                <m:sty m:val="p"/>
                              </m:rPr>
                              <a:rPr lang="en-US" sz="2600" i="1">
                                <a:solidFill>
                                  <a:srgbClr val="000000"/>
                                </a:solidFill>
                                <a:latin typeface="Cambria Math" panose="02040503050406030204" pitchFamily="18" charset="0"/>
                              </a:rPr>
                              <m:t>d</m:t>
                            </m:r>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l</m:t>
                                </m:r>
                              </m:e>
                            </m:acc>
                          </m:e>
                        </m:nary>
                        <m:r>
                          <a:rPr lang="en-US" sz="2600" i="1">
                            <a:solidFill>
                              <a:srgbClr val="000000"/>
                            </a:solidFill>
                            <a:latin typeface="Cambria Math" panose="02040503050406030204" pitchFamily="18" charset="0"/>
                          </a:rPr>
                          <m:t>=</m:t>
                        </m:r>
                        <m:nary>
                          <m:naryPr>
                            <m:limLoc m:val="undOvr"/>
                            <m:supHide m:val="on"/>
                            <m:ctrlPr>
                              <a:rPr lang="en-US" sz="2600" i="1">
                                <a:solidFill>
                                  <a:srgbClr val="000000"/>
                                </a:solidFill>
                                <a:latin typeface="Cambria Math" panose="02040503050406030204" pitchFamily="18" charset="0"/>
                              </a:rPr>
                            </m:ctrlPr>
                          </m:naryPr>
                          <m:sub>
                            <m:r>
                              <m:rPr>
                                <m:sty m:val="p"/>
                              </m:rPr>
                              <a:rPr lang="en-US" sz="2600" i="1">
                                <a:solidFill>
                                  <a:srgbClr val="000000"/>
                                </a:solidFill>
                                <a:latin typeface="Cambria Math" panose="02040503050406030204" pitchFamily="18" charset="0"/>
                              </a:rPr>
                              <m:t>L</m:t>
                            </m:r>
                          </m:sub>
                          <m:sup/>
                          <m:e>
                            <m:d>
                              <m:dPr>
                                <m:ctrlPr>
                                  <a:rPr lang="en-US" sz="2600" i="1">
                                    <a:solidFill>
                                      <a:srgbClr val="000000"/>
                                    </a:solidFill>
                                    <a:latin typeface="Cambria Math" panose="02040503050406030204" pitchFamily="18" charset="0"/>
                                  </a:rPr>
                                </m:ctrlPr>
                              </m:dPr>
                              <m:e>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v</m:t>
                                    </m:r>
                                  </m:e>
                                </m:acc>
                                <m:r>
                                  <a:rPr lang="en-US" sz="2600" i="1">
                                    <a:solidFill>
                                      <a:srgbClr val="000000"/>
                                    </a:solidFill>
                                    <a:latin typeface="Cambria Math" panose="02040503050406030204" pitchFamily="18" charset="0"/>
                                  </a:rPr>
                                  <m:t>×</m:t>
                                </m:r>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B</m:t>
                                    </m:r>
                                  </m:e>
                                </m:acc>
                              </m:e>
                            </m:d>
                            <m:r>
                              <a:rPr lang="en-US" sz="2600" i="1">
                                <a:solidFill>
                                  <a:srgbClr val="000000"/>
                                </a:solidFill>
                                <a:latin typeface="Cambria Math" panose="02040503050406030204" pitchFamily="18" charset="0"/>
                              </a:rPr>
                              <m:t>⋅</m:t>
                            </m:r>
                            <m:r>
                              <m:rPr>
                                <m:sty m:val="p"/>
                              </m:rPr>
                              <a:rPr lang="en-US" sz="2600" i="1">
                                <a:solidFill>
                                  <a:srgbClr val="000000"/>
                                </a:solidFill>
                                <a:latin typeface="Cambria Math" panose="02040503050406030204" pitchFamily="18" charset="0"/>
                              </a:rPr>
                              <m:t>d</m:t>
                            </m:r>
                            <m:acc>
                              <m:accPr>
                                <m:chr m:val="⃗"/>
                                <m:ctrlPr>
                                  <a:rPr lang="en-US" sz="2600" i="1">
                                    <a:solidFill>
                                      <a:srgbClr val="000000"/>
                                    </a:solidFill>
                                    <a:latin typeface="Cambria Math" panose="02040503050406030204" pitchFamily="18" charset="0"/>
                                  </a:rPr>
                                </m:ctrlPr>
                              </m:accPr>
                              <m:e>
                                <m:r>
                                  <m:rPr>
                                    <m:sty m:val="p"/>
                                  </m:rPr>
                                  <a:rPr lang="en-US" sz="2600" i="1">
                                    <a:solidFill>
                                      <a:srgbClr val="000000"/>
                                    </a:solidFill>
                                    <a:latin typeface="Cambria Math" panose="02040503050406030204" pitchFamily="18" charset="0"/>
                                  </a:rPr>
                                  <m:t>l</m:t>
                                </m:r>
                              </m:e>
                            </m:acc>
                          </m:e>
                        </m:nary>
                      </m:oMath>
                    </m:oMathPara>
                  </a14:m>
                  <a:endParaRPr lang="en-US" sz="2600" dirty="0"/>
                </a:p>
              </p:txBody>
            </p:sp>
          </mc:Choice>
          <mc:Fallback xmlns="">
            <p:sp>
              <p:nvSpPr>
                <p:cNvPr id="81" name="Object 54"/>
                <p:cNvSpPr txBox="1">
                  <a:spLocks noRot="1" noChangeAspect="1" noMove="1" noResize="1" noEditPoints="1" noAdjustHandles="1" noChangeArrowheads="1" noChangeShapeType="1" noTextEdit="1"/>
                </p:cNvSpPr>
                <p:nvPr/>
              </p:nvSpPr>
              <p:spPr bwMode="auto">
                <a:xfrm>
                  <a:off x="6471551" y="4327607"/>
                  <a:ext cx="3812363" cy="807619"/>
                </a:xfrm>
                <a:prstGeom prst="rect">
                  <a:avLst/>
                </a:prstGeom>
                <a:blipFill>
                  <a:blip r:embed="rId18"/>
                  <a:stretch>
                    <a:fillRect b="-34848"/>
                  </a:stretch>
                </a:blipFill>
                <a:ln w="28575">
                  <a:noFill/>
                  <a:miter lim="800000"/>
                  <a:headEnd/>
                  <a:tailEnd/>
                </a:ln>
                <a:effectLst/>
              </p:spPr>
              <p:txBody>
                <a:bodyPr/>
                <a:lstStyle/>
                <a:p>
                  <a:r>
                    <a:rPr lang="en-US">
                      <a:noFill/>
                    </a:rPr>
                    <a:t> </a:t>
                  </a:r>
                </a:p>
              </p:txBody>
            </p:sp>
          </mc:Fallback>
        </mc:AlternateContent>
        <p:sp>
          <p:nvSpPr>
            <p:cNvPr id="17" name="文本框 16"/>
            <p:cNvSpPr txBox="1"/>
            <p:nvPr/>
          </p:nvSpPr>
          <p:spPr>
            <a:xfrm>
              <a:off x="7664786" y="4824348"/>
              <a:ext cx="287867" cy="492443"/>
            </a:xfrm>
            <a:prstGeom prst="rect">
              <a:avLst/>
            </a:prstGeom>
            <a:solidFill>
              <a:schemeClr val="bg1"/>
            </a:solidFill>
            <a:ln>
              <a:noFill/>
            </a:ln>
          </p:spPr>
          <p:txBody>
            <a:bodyPr wrap="square" rtlCol="0">
              <a:spAutoFit/>
            </a:bodyPr>
            <a:lstStyle/>
            <a:p>
              <a:r>
                <a:rPr lang="en-US" sz="2600" dirty="0">
                  <a:latin typeface="华文楷体" panose="02010600040101010101" pitchFamily="2" charset="-122"/>
                </a:rPr>
                <a:t>k</a:t>
              </a:r>
            </a:p>
          </p:txBody>
        </p:sp>
      </p:gr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62FD91E9-51B7-4FF1-AA17-E713B71E999A}"/>
                  </a:ext>
                </a:extLst>
              </p:cNvPr>
              <p:cNvSpPr txBox="1"/>
              <p:nvPr/>
            </p:nvSpPr>
            <p:spPr>
              <a:xfrm>
                <a:off x="706819" y="1319784"/>
                <a:ext cx="4647086" cy="892552"/>
              </a:xfrm>
              <a:prstGeom prst="rect">
                <a:avLst/>
              </a:prstGeom>
              <a:noFill/>
            </p:spPr>
            <p:txBody>
              <a:bodyPr wrap="square" rtlCol="0">
                <a:spAutoFit/>
              </a:bodyPr>
              <a:lstStyle/>
              <a:p>
                <a:r>
                  <a:rPr lang="zh-CN" altLang="en-US" sz="2600" dirty="0">
                    <a:latin typeface="+mn-ea"/>
                    <a:cs typeface="Times New Roman" panose="02020603050405020304" pitchFamily="18" charset="0"/>
                  </a:rPr>
                  <a:t>一个长为</a:t>
                </a:r>
                <a14:m>
                  <m:oMath xmlns:m="http://schemas.openxmlformats.org/officeDocument/2006/math">
                    <m:r>
                      <a:rPr lang="en-US" altLang="zh-CN" sz="2600" b="0" i="1" smtClean="0">
                        <a:latin typeface="Cambria Math" panose="02040503050406030204" pitchFamily="18" charset="0"/>
                      </a:rPr>
                      <m:t>𝑙</m:t>
                    </m:r>
                    <m:r>
                      <a:rPr lang="en-US" altLang="zh-CN" sz="2600" b="0" i="1" smtClean="0">
                        <a:latin typeface="Cambria Math" panose="02040503050406030204" pitchFamily="18" charset="0"/>
                      </a:rPr>
                      <m:t> </m:t>
                    </m:r>
                    <m:r>
                      <a:rPr lang="zh-CN" altLang="en-US" sz="2600" i="1">
                        <a:latin typeface="Cambria Math" panose="02040503050406030204" pitchFamily="18" charset="0"/>
                      </a:rPr>
                      <m:t>的</m:t>
                    </m:r>
                  </m:oMath>
                </a14:m>
                <a:r>
                  <a:rPr lang="zh-CN" altLang="en-US" sz="2600" dirty="0">
                    <a:latin typeface="+mn-ea"/>
                    <a:cs typeface="Times New Roman" panose="02020603050405020304" pitchFamily="18" charset="0"/>
                  </a:rPr>
                  <a:t>导体匀速在磁场中向右运动</a:t>
                </a:r>
                <a:endParaRPr lang="en-US" sz="2600" dirty="0">
                  <a:latin typeface="+mn-ea"/>
                  <a:cs typeface="Times New Roman" panose="02020603050405020304" pitchFamily="18" charset="0"/>
                </a:endParaRPr>
              </a:p>
            </p:txBody>
          </p:sp>
        </mc:Choice>
        <mc:Fallback xmlns="">
          <p:sp>
            <p:nvSpPr>
              <p:cNvPr id="90" name="文本框 89">
                <a:extLst>
                  <a:ext uri="{FF2B5EF4-FFF2-40B4-BE49-F238E27FC236}">
                    <a16:creationId xmlns:a16="http://schemas.microsoft.com/office/drawing/2014/main" id="{62FD91E9-51B7-4FF1-AA17-E713B71E999A}"/>
                  </a:ext>
                </a:extLst>
              </p:cNvPr>
              <p:cNvSpPr txBox="1">
                <a:spLocks noRot="1" noChangeAspect="1" noMove="1" noResize="1" noEditPoints="1" noAdjustHandles="1" noChangeArrowheads="1" noChangeShapeType="1" noTextEdit="1"/>
              </p:cNvSpPr>
              <p:nvPr/>
            </p:nvSpPr>
            <p:spPr>
              <a:xfrm>
                <a:off x="706819" y="1319784"/>
                <a:ext cx="4647086" cy="892552"/>
              </a:xfrm>
              <a:prstGeom prst="rect">
                <a:avLst/>
              </a:prstGeom>
              <a:blipFill>
                <a:blip r:embed="rId20"/>
                <a:stretch>
                  <a:fillRect l="-2362" t="-6849" b="-16438"/>
                </a:stretch>
              </a:blipFill>
            </p:spPr>
            <p:txBody>
              <a:bodyPr/>
              <a:lstStyle/>
              <a:p>
                <a:r>
                  <a:rPr lang="en-US">
                    <a:noFill/>
                  </a:rPr>
                  <a:t> </a:t>
                </a:r>
              </a:p>
            </p:txBody>
          </p:sp>
        </mc:Fallback>
      </mc:AlternateContent>
      <p:sp>
        <p:nvSpPr>
          <p:cNvPr id="3" name="矩形 8">
            <a:extLst>
              <a:ext uri="{FF2B5EF4-FFF2-40B4-BE49-F238E27FC236}">
                <a16:creationId xmlns:a16="http://schemas.microsoft.com/office/drawing/2014/main" id="{7D2517D1-12EE-0EDF-2ED2-47FC2016190B}"/>
              </a:ext>
            </a:extLst>
          </p:cNvPr>
          <p:cNvSpPr/>
          <p:nvPr/>
        </p:nvSpPr>
        <p:spPr>
          <a:xfrm>
            <a:off x="975888" y="574184"/>
            <a:ext cx="3070071" cy="646331"/>
          </a:xfrm>
          <a:prstGeom prst="rect">
            <a:avLst/>
          </a:prstGeom>
        </p:spPr>
        <p:txBody>
          <a:bodyPr wrap="none">
            <a:spAutoFit/>
          </a:bodyPr>
          <a:lstStyle/>
          <a:p>
            <a:pPr marL="457200" indent="-4572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动生电动势 </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9" name="矩形 88">
            <a:extLst>
              <a:ext uri="{FF2B5EF4-FFF2-40B4-BE49-F238E27FC236}">
                <a16:creationId xmlns:a16="http://schemas.microsoft.com/office/drawing/2014/main" id="{F0AB9A79-9121-48DB-8D5C-1CB07F3ECCDC}"/>
              </a:ext>
            </a:extLst>
          </p:cNvPr>
          <p:cNvSpPr/>
          <p:nvPr/>
        </p:nvSpPr>
        <p:spPr>
          <a:xfrm>
            <a:off x="6873676" y="951929"/>
            <a:ext cx="3570208" cy="461665"/>
          </a:xfrm>
          <a:prstGeom prst="rect">
            <a:avLst/>
          </a:prstGeom>
        </p:spPr>
        <p:txBody>
          <a:bodyPr wrap="none">
            <a:spAutoFit/>
          </a:bodyPr>
          <a:lstStyle/>
          <a:p>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非静电力是洛伦兹力！！</a:t>
            </a:r>
            <a:endParaRPr 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7" name="Object 4">
                <a:extLst>
                  <a:ext uri="{FF2B5EF4-FFF2-40B4-BE49-F238E27FC236}">
                    <a16:creationId xmlns:a16="http://schemas.microsoft.com/office/drawing/2014/main" id="{BD8C3B77-C763-402D-8FBE-0A9A5B809FA0}"/>
                  </a:ext>
                </a:extLst>
              </p:cNvPr>
              <p:cNvSpPr txBox="1"/>
              <p:nvPr/>
            </p:nvSpPr>
            <p:spPr bwMode="auto">
              <a:xfrm>
                <a:off x="8559643" y="5129136"/>
                <a:ext cx="1640754" cy="96681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m:rPr>
                              <m:sty m:val="p"/>
                            </m:rPr>
                            <a:rPr lang="en-US" sz="2800" i="1">
                              <a:solidFill>
                                <a:srgbClr val="000000"/>
                              </a:solidFill>
                              <a:latin typeface="Cambria Math" panose="02040503050406030204" pitchFamily="18" charset="0"/>
                            </a:rPr>
                            <m:t>dΦ</m:t>
                          </m:r>
                        </m:num>
                        <m:den>
                          <m:r>
                            <m:rPr>
                              <m:sty m:val="p"/>
                            </m:rPr>
                            <a:rPr lang="en-US" sz="2800" i="1">
                              <a:solidFill>
                                <a:srgbClr val="000000"/>
                              </a:solidFill>
                              <a:latin typeface="Cambria Math" panose="02040503050406030204" pitchFamily="18" charset="0"/>
                            </a:rPr>
                            <m:t>dt</m:t>
                          </m:r>
                        </m:den>
                      </m:f>
                    </m:oMath>
                  </m:oMathPara>
                </a14:m>
                <a:endParaRPr lang="en-US" sz="2800" dirty="0"/>
              </a:p>
            </p:txBody>
          </p:sp>
        </mc:Choice>
        <mc:Fallback xmlns="">
          <p:sp>
            <p:nvSpPr>
              <p:cNvPr id="147" name="Object 4">
                <a:extLst>
                  <a:ext uri="{FF2B5EF4-FFF2-40B4-BE49-F238E27FC236}">
                    <a16:creationId xmlns:a16="http://schemas.microsoft.com/office/drawing/2014/main" id="{BD8C3B77-C763-402D-8FBE-0A9A5B809FA0}"/>
                  </a:ext>
                </a:extLst>
              </p:cNvPr>
              <p:cNvSpPr txBox="1">
                <a:spLocks noRot="1" noChangeAspect="1" noMove="1" noResize="1" noEditPoints="1" noAdjustHandles="1" noChangeArrowheads="1" noChangeShapeType="1" noTextEdit="1"/>
              </p:cNvSpPr>
              <p:nvPr/>
            </p:nvSpPr>
            <p:spPr bwMode="auto">
              <a:xfrm>
                <a:off x="8559643" y="5129136"/>
                <a:ext cx="1640754" cy="966810"/>
              </a:xfrm>
              <a:prstGeom prst="rect">
                <a:avLst/>
              </a:prstGeom>
              <a:blipFill>
                <a:blip r:embed="rId21"/>
                <a:stretch>
                  <a:fillRect/>
                </a:stretch>
              </a:blipFill>
              <a:ln>
                <a:noFill/>
              </a:ln>
              <a:effectLst/>
            </p:spPr>
            <p:txBody>
              <a:bodyPr/>
              <a:lstStyle/>
              <a:p>
                <a:r>
                  <a:rPr lang="en-US">
                    <a:noFill/>
                  </a:rPr>
                  <a:t> </a:t>
                </a:r>
              </a:p>
            </p:txBody>
          </p:sp>
        </mc:Fallback>
      </mc:AlternateContent>
      <p:sp>
        <p:nvSpPr>
          <p:cNvPr id="148" name="TextBox 30">
            <a:extLst>
              <a:ext uri="{FF2B5EF4-FFF2-40B4-BE49-F238E27FC236}">
                <a16:creationId xmlns:a16="http://schemas.microsoft.com/office/drawing/2014/main" id="{E5BE32F6-0E51-4E00-A504-11F8BBA80CBA}"/>
              </a:ext>
            </a:extLst>
          </p:cNvPr>
          <p:cNvSpPr txBox="1"/>
          <p:nvPr/>
        </p:nvSpPr>
        <p:spPr>
          <a:xfrm>
            <a:off x="4799888" y="5876308"/>
            <a:ext cx="5313220" cy="892552"/>
          </a:xfrm>
          <a:prstGeom prst="rect">
            <a:avLst/>
          </a:prstGeom>
          <a:noFill/>
        </p:spPr>
        <p:txBody>
          <a:bodyPr wrap="square" rtlCol="0">
            <a:spAutoFit/>
          </a:bodyPr>
          <a:lstStyle/>
          <a:p>
            <a:r>
              <a:rPr lang="en-US" altLang="zh-CN" sz="2600" dirty="0">
                <a:latin typeface="华文楷体" panose="02010600040101010101" pitchFamily="2" charset="-122"/>
                <a:ea typeface="华文楷体" panose="02010600040101010101" pitchFamily="2" charset="-122"/>
              </a:rPr>
              <a:t>- </a:t>
            </a:r>
            <a:r>
              <a:rPr lang="zh-CN" altLang="en-US" sz="2600" dirty="0">
                <a:latin typeface="华文楷体" panose="02010600040101010101" pitchFamily="2" charset="-122"/>
                <a:ea typeface="华文楷体" panose="02010600040101010101" pitchFamily="2" charset="-122"/>
              </a:rPr>
              <a:t>洛伦兹力不做功</a:t>
            </a:r>
            <a:endParaRPr lang="en-US" altLang="zh-CN" sz="2600" dirty="0">
              <a:latin typeface="华文楷体" panose="02010600040101010101" pitchFamily="2" charset="-122"/>
              <a:ea typeface="华文楷体" panose="02010600040101010101" pitchFamily="2" charset="-122"/>
            </a:endParaRPr>
          </a:p>
          <a:p>
            <a:r>
              <a:rPr lang="en-US" altLang="zh-CN" sz="2600" dirty="0">
                <a:latin typeface="华文楷体" panose="02010600040101010101" pitchFamily="2" charset="-122"/>
                <a:ea typeface="华文楷体" panose="02010600040101010101" pitchFamily="2" charset="-122"/>
              </a:rPr>
              <a:t>- </a:t>
            </a:r>
            <a:r>
              <a:rPr lang="zh-CN" altLang="en-US" sz="2600" dirty="0">
                <a:latin typeface="华文楷体" panose="02010600040101010101" pitchFamily="2" charset="-122"/>
                <a:ea typeface="华文楷体" panose="02010600040101010101" pitchFamily="2" charset="-122"/>
              </a:rPr>
              <a:t>外力做功转换为对电路做功</a:t>
            </a:r>
            <a:endParaRPr lang="en-US" sz="2600" dirty="0">
              <a:latin typeface="华文楷体" panose="02010600040101010101" pitchFamily="2" charset="-122"/>
            </a:endParaRPr>
          </a:p>
        </p:txBody>
      </p:sp>
    </p:spTree>
    <p:extLst>
      <p:ext uri="{BB962C8B-B14F-4D97-AF65-F5344CB8AC3E}">
        <p14:creationId xmlns:p14="http://schemas.microsoft.com/office/powerpoint/2010/main" val="393920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76" grpId="0" animBg="1"/>
      <p:bldP spid="9" grpId="0"/>
      <p:bldP spid="10" grpId="0"/>
      <p:bldP spid="78" grpId="0"/>
      <p:bldP spid="80" grpId="0"/>
      <p:bldP spid="92" grpId="0" animBg="1"/>
      <p:bldP spid="15" grpId="0"/>
      <p:bldP spid="147" grpId="0"/>
      <p:bldP spid="14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4">
            <a:extLst>
              <a:ext uri="{FF2B5EF4-FFF2-40B4-BE49-F238E27FC236}">
                <a16:creationId xmlns:a16="http://schemas.microsoft.com/office/drawing/2014/main" id="{AE61C032-949B-45A3-A3F0-05AD8492A581}"/>
              </a:ext>
            </a:extLst>
          </p:cNvPr>
          <p:cNvSpPr>
            <a:spLocks noChangeArrowheads="1"/>
          </p:cNvSpPr>
          <p:nvPr/>
        </p:nvSpPr>
        <p:spPr bwMode="auto">
          <a:xfrm>
            <a:off x="5083866" y="1563391"/>
            <a:ext cx="6821804" cy="60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800" b="0" i="0" u="none" dirty="0">
                <a:solidFill>
                  <a:srgbClr val="000000"/>
                </a:solidFill>
                <a:latin typeface="+mn-lt"/>
                <a:ea typeface="华文楷体" panose="02010600040101010101" pitchFamily="2" charset="-122"/>
              </a:rPr>
              <a:t>导体回路不动，有非静电场</a:t>
            </a:r>
            <a:endParaRPr kumimoji="1" lang="zh-CN" altLang="en-US" sz="2800" b="0" i="0" u="none" dirty="0">
              <a:solidFill>
                <a:srgbClr val="FF0000"/>
              </a:solidFill>
              <a:latin typeface="+mn-lt"/>
              <a:ea typeface="华文楷体" panose="02010600040101010101" pitchFamily="2" charset="-122"/>
            </a:endParaRPr>
          </a:p>
        </p:txBody>
      </p:sp>
      <p:pic>
        <p:nvPicPr>
          <p:cNvPr id="10" name="image17.jpeg">
            <a:extLst>
              <a:ext uri="{FF2B5EF4-FFF2-40B4-BE49-F238E27FC236}">
                <a16:creationId xmlns:a16="http://schemas.microsoft.com/office/drawing/2014/main" id="{C1C272BD-EC6F-4235-A0C3-079CAF143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888" y="1220515"/>
            <a:ext cx="3630606" cy="14895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56FAC64F-6F86-4DF1-B821-114F7A5D65A0}"/>
                  </a:ext>
                </a:extLst>
              </p:cNvPr>
              <p:cNvSpPr/>
              <p:nvPr/>
            </p:nvSpPr>
            <p:spPr>
              <a:xfrm>
                <a:off x="1176774" y="2392641"/>
                <a:ext cx="8750710" cy="1363450"/>
              </a:xfrm>
              <a:prstGeom prst="rect">
                <a:avLst/>
              </a:prstGeom>
            </p:spPr>
            <p:txBody>
              <a:bodyPr wrap="square">
                <a:spAutoFit/>
              </a:bodyPr>
              <a:lstStyle/>
              <a:p>
                <a:pPr lvl="0">
                  <a:lnSpc>
                    <a:spcPct val="125000"/>
                  </a:lnSpc>
                  <a:buClr>
                    <a:srgbClr val="00FF00"/>
                  </a:buClr>
                  <a:buSzPct val="130000"/>
                </a:pPr>
                <a14:m>
                  <m:oMathPara xmlns:m="http://schemas.openxmlformats.org/officeDocument/2006/math">
                    <m:oMathParaPr>
                      <m:jc m:val="centerGroup"/>
                    </m:oMathParaPr>
                    <m:oMath xmlns:m="http://schemas.openxmlformats.org/officeDocument/2006/math">
                      <m:sSub>
                        <m:sSubPr>
                          <m:ctrlPr>
                            <a:rPr kumimoji="1" lang="en-US" altLang="zh-CN" sz="2800" i="1" smtClean="0">
                              <a:solidFill>
                                <a:srgbClr val="FF0000"/>
                              </a:solidFill>
                              <a:latin typeface="Cambria Math" panose="02040503050406030204" pitchFamily="18" charset="0"/>
                              <a:ea typeface="黑体" panose="02010609060101010101" pitchFamily="49" charset="-122"/>
                            </a:rPr>
                          </m:ctrlPr>
                        </m:sSubPr>
                        <m:e>
                          <m:r>
                            <a:rPr kumimoji="1" lang="zh-CN" altLang="en-US" sz="2800" b="0" i="1">
                              <a:solidFill>
                                <a:srgbClr val="FF0000"/>
                              </a:solidFill>
                              <a:latin typeface="Cambria Math" panose="02040503050406030204" pitchFamily="18" charset="0"/>
                              <a:ea typeface="黑体" panose="02010609060101010101" pitchFamily="49" charset="-122"/>
                            </a:rPr>
                            <m:t>𝜀</m:t>
                          </m:r>
                        </m:e>
                        <m:sub>
                          <m:r>
                            <a:rPr kumimoji="1" lang="en-US" altLang="zh-CN" sz="2800" b="0" i="1">
                              <a:solidFill>
                                <a:srgbClr val="FF0000"/>
                              </a:solidFill>
                              <a:latin typeface="Cambria Math" panose="02040503050406030204" pitchFamily="18" charset="0"/>
                              <a:ea typeface="黑体" panose="02010609060101010101" pitchFamily="49" charset="-122"/>
                            </a:rPr>
                            <m:t>𝑖</m:t>
                          </m:r>
                        </m:sub>
                      </m:sSub>
                      <m:r>
                        <a:rPr lang="zh-CN" altLang="en-US" sz="2800" i="1" smtClean="0">
                          <a:solidFill>
                            <a:srgbClr val="FF0000"/>
                          </a:solidFill>
                          <a:latin typeface="Cambria Math" panose="02040503050406030204" pitchFamily="18" charset="0"/>
                        </a:rPr>
                        <m:t>=−</m:t>
                      </m:r>
                      <m:f>
                        <m:fPr>
                          <m:ctrlPr>
                            <a:rPr lang="zh-CN" altLang="en-US" sz="2800" i="1">
                              <a:solidFill>
                                <a:srgbClr val="FF0000"/>
                              </a:solidFill>
                              <a:latin typeface="Cambria Math" panose="02040503050406030204" pitchFamily="18" charset="0"/>
                            </a:rPr>
                          </m:ctrlPr>
                        </m:fPr>
                        <m:num>
                          <m:func>
                            <m:funcPr>
                              <m:ctrlPr>
                                <a:rPr lang="zh-CN" altLang="en-US" sz="2800" i="1">
                                  <a:solidFill>
                                    <a:srgbClr val="FF0000"/>
                                  </a:solidFill>
                                  <a:latin typeface="Cambria Math" panose="02040503050406030204" pitchFamily="18" charset="0"/>
                                </a:rPr>
                              </m:ctrlPr>
                            </m:funcPr>
                            <m:fName>
                              <m:r>
                                <m:rPr>
                                  <m:sty m:val="p"/>
                                </m:rPr>
                                <a:rPr lang="zh-CN" altLang="en-US" sz="2800">
                                  <a:solidFill>
                                    <a:srgbClr val="FF0000"/>
                                  </a:solidFill>
                                  <a:latin typeface="Cambria Math" panose="02040503050406030204" pitchFamily="18" charset="0"/>
                                </a:rPr>
                                <m:t>d</m:t>
                              </m:r>
                            </m:fName>
                            <m:e>
                              <m:r>
                                <m:rPr>
                                  <m:sty m:val="p"/>
                                </m:rPr>
                                <a:rPr lang="zh-CN" altLang="en-US" sz="2800" i="1">
                                  <a:solidFill>
                                    <a:srgbClr val="FF0000"/>
                                  </a:solidFill>
                                  <a:latin typeface="Cambria Math" panose="02040503050406030204" pitchFamily="18" charset="0"/>
                                </a:rPr>
                                <m:t>Φ</m:t>
                              </m:r>
                            </m:e>
                          </m:func>
                        </m:num>
                        <m:den>
                          <m:func>
                            <m:funcPr>
                              <m:ctrlPr>
                                <a:rPr lang="zh-CN" altLang="en-US" sz="2800" i="1">
                                  <a:solidFill>
                                    <a:srgbClr val="FF0000"/>
                                  </a:solidFill>
                                  <a:latin typeface="Cambria Math" panose="02040503050406030204" pitchFamily="18" charset="0"/>
                                </a:rPr>
                              </m:ctrlPr>
                            </m:funcPr>
                            <m:fName>
                              <m:r>
                                <m:rPr>
                                  <m:sty m:val="p"/>
                                </m:rPr>
                                <a:rPr lang="zh-CN" altLang="en-US" sz="2800">
                                  <a:solidFill>
                                    <a:srgbClr val="FF0000"/>
                                  </a:solidFill>
                                  <a:latin typeface="Cambria Math" panose="02040503050406030204" pitchFamily="18" charset="0"/>
                                </a:rPr>
                                <m:t>d</m:t>
                              </m:r>
                            </m:fName>
                            <m:e>
                              <m:r>
                                <a:rPr lang="zh-CN" altLang="en-US" sz="2800" i="1">
                                  <a:solidFill>
                                    <a:srgbClr val="FF0000"/>
                                  </a:solidFill>
                                  <a:latin typeface="Cambria Math" panose="02040503050406030204" pitchFamily="18" charset="0"/>
                                </a:rPr>
                                <m:t>𝑡</m:t>
                              </m:r>
                            </m:e>
                          </m:func>
                        </m:den>
                      </m:f>
                      <m:r>
                        <a:rPr kumimoji="1" lang="en-US" altLang="zh-CN" sz="2800" b="0" i="1">
                          <a:solidFill>
                            <a:srgbClr val="FF0000"/>
                          </a:solidFill>
                          <a:latin typeface="Cambria Math" panose="02040503050406030204" pitchFamily="18" charset="0"/>
                          <a:ea typeface="黑体" panose="02010609060101010101" pitchFamily="49" charset="-122"/>
                        </a:rPr>
                        <m:t>=−</m:t>
                      </m:r>
                      <m:nary>
                        <m:naryPr>
                          <m:chr m:val="∬"/>
                          <m:ctrlPr>
                            <a:rPr kumimoji="1" lang="en-US" altLang="zh-CN" sz="2800" i="1">
                              <a:solidFill>
                                <a:srgbClr val="FF0000"/>
                              </a:solidFill>
                              <a:latin typeface="Cambria Math" panose="02040503050406030204" pitchFamily="18" charset="0"/>
                              <a:ea typeface="黑体" panose="02010609060101010101" pitchFamily="49" charset="-122"/>
                            </a:rPr>
                          </m:ctrlPr>
                        </m:naryPr>
                        <m:sub>
                          <m:r>
                            <m:rPr>
                              <m:brk m:alnAt="23"/>
                            </m:rPr>
                            <a:rPr kumimoji="1" lang="en-US" altLang="zh-CN" sz="2800" b="0" i="1">
                              <a:solidFill>
                                <a:srgbClr val="FF0000"/>
                              </a:solidFill>
                              <a:latin typeface="Cambria Math" panose="02040503050406030204" pitchFamily="18" charset="0"/>
                              <a:ea typeface="黑体" panose="02010609060101010101" pitchFamily="49" charset="-122"/>
                            </a:rPr>
                            <m:t>𝑆</m:t>
                          </m:r>
                        </m:sub>
                        <m:sup/>
                        <m:e>
                          <m:f>
                            <m:fPr>
                              <m:ctrlPr>
                                <a:rPr kumimoji="1" lang="en-US" altLang="zh-CN" sz="2800" i="1">
                                  <a:solidFill>
                                    <a:srgbClr val="FF0000"/>
                                  </a:solidFill>
                                  <a:latin typeface="Cambria Math" panose="02040503050406030204" pitchFamily="18" charset="0"/>
                                  <a:ea typeface="黑体" panose="02010609060101010101" pitchFamily="49" charset="-122"/>
                                </a:rPr>
                              </m:ctrlPr>
                            </m:fPr>
                            <m:num>
                              <m:r>
                                <a:rPr kumimoji="1" lang="en-US" altLang="zh-CN" sz="2800" b="0" i="1">
                                  <a:solidFill>
                                    <a:srgbClr val="FF0000"/>
                                  </a:solidFill>
                                  <a:latin typeface="Cambria Math" panose="02040503050406030204" pitchFamily="18" charset="0"/>
                                  <a:ea typeface="黑体" panose="02010609060101010101" pitchFamily="49" charset="-122"/>
                                </a:rPr>
                                <m:t>𝜕</m:t>
                              </m:r>
                              <m:acc>
                                <m:accPr>
                                  <m:chr m:val="⃗"/>
                                  <m:ctrlPr>
                                    <a:rPr kumimoji="1" lang="en-US" altLang="zh-CN" sz="2800" i="1">
                                      <a:solidFill>
                                        <a:srgbClr val="FF0000"/>
                                      </a:solidFill>
                                      <a:latin typeface="Cambria Math" panose="02040503050406030204" pitchFamily="18" charset="0"/>
                                      <a:ea typeface="黑体" panose="02010609060101010101" pitchFamily="49" charset="-122"/>
                                    </a:rPr>
                                  </m:ctrlPr>
                                </m:accPr>
                                <m:e>
                                  <m:r>
                                    <a:rPr kumimoji="1" lang="en-US" altLang="zh-CN" sz="2800" b="0" i="1">
                                      <a:solidFill>
                                        <a:srgbClr val="FF0000"/>
                                      </a:solidFill>
                                      <a:latin typeface="Cambria Math" panose="02040503050406030204" pitchFamily="18" charset="0"/>
                                      <a:ea typeface="黑体" panose="02010609060101010101" pitchFamily="49" charset="-122"/>
                                    </a:rPr>
                                    <m:t>𝐵</m:t>
                                  </m:r>
                                </m:e>
                              </m:acc>
                            </m:num>
                            <m:den>
                              <m:r>
                                <a:rPr kumimoji="1" lang="en-US" altLang="zh-CN" sz="2800" b="0" i="1">
                                  <a:solidFill>
                                    <a:srgbClr val="FF0000"/>
                                  </a:solidFill>
                                  <a:latin typeface="Cambria Math" panose="02040503050406030204" pitchFamily="18" charset="0"/>
                                  <a:ea typeface="黑体" panose="02010609060101010101" pitchFamily="49" charset="-122"/>
                                </a:rPr>
                                <m:t>𝜕</m:t>
                              </m:r>
                              <m:r>
                                <a:rPr kumimoji="1" lang="en-US" altLang="zh-CN" sz="2800" b="0" i="1">
                                  <a:solidFill>
                                    <a:srgbClr val="FF0000"/>
                                  </a:solidFill>
                                  <a:latin typeface="Cambria Math" panose="02040503050406030204" pitchFamily="18" charset="0"/>
                                  <a:ea typeface="黑体" panose="02010609060101010101" pitchFamily="49" charset="-122"/>
                                </a:rPr>
                                <m:t>𝑡</m:t>
                              </m:r>
                            </m:den>
                          </m:f>
                          <m:r>
                            <a:rPr kumimoji="1" lang="en-US" altLang="zh-CN" sz="2800" b="0" i="1">
                              <a:solidFill>
                                <a:srgbClr val="FF0000"/>
                              </a:solidFill>
                              <a:latin typeface="Cambria Math" panose="02040503050406030204" pitchFamily="18" charset="0"/>
                              <a:ea typeface="Cambria Math" panose="02040503050406030204" pitchFamily="18" charset="0"/>
                            </a:rPr>
                            <m:t>∙</m:t>
                          </m:r>
                          <m:r>
                            <a:rPr kumimoji="1" lang="en-US" altLang="zh-CN" sz="2800" b="0" i="1">
                              <a:solidFill>
                                <a:srgbClr val="FF0000"/>
                              </a:solidFill>
                              <a:latin typeface="Cambria Math" panose="02040503050406030204" pitchFamily="18" charset="0"/>
                              <a:ea typeface="Cambria Math" panose="02040503050406030204" pitchFamily="18" charset="0"/>
                            </a:rPr>
                            <m:t>𝑑</m:t>
                          </m:r>
                          <m:acc>
                            <m:accPr>
                              <m:chr m:val="⃗"/>
                              <m:ctrlPr>
                                <a:rPr kumimoji="1" lang="en-US" altLang="zh-CN" sz="2800" i="1">
                                  <a:solidFill>
                                    <a:srgbClr val="FF0000"/>
                                  </a:solidFill>
                                  <a:latin typeface="Cambria Math" panose="02040503050406030204" pitchFamily="18" charset="0"/>
                                  <a:ea typeface="Cambria Math" panose="02040503050406030204" pitchFamily="18" charset="0"/>
                                </a:rPr>
                              </m:ctrlPr>
                            </m:accPr>
                            <m:e>
                              <m:r>
                                <a:rPr kumimoji="1" lang="en-US" altLang="zh-CN" sz="2800" b="0" i="1">
                                  <a:solidFill>
                                    <a:srgbClr val="FF0000"/>
                                  </a:solidFill>
                                  <a:latin typeface="Cambria Math" panose="02040503050406030204" pitchFamily="18" charset="0"/>
                                  <a:ea typeface="Cambria Math" panose="02040503050406030204" pitchFamily="18" charset="0"/>
                                </a:rPr>
                                <m:t>𝑆</m:t>
                              </m:r>
                            </m:e>
                          </m:acc>
                        </m:e>
                      </m:nary>
                      <m:r>
                        <a:rPr kumimoji="1" lang="en-US" altLang="zh-CN" sz="2800" b="0" i="1" smtClean="0">
                          <a:solidFill>
                            <a:srgbClr val="FF0000"/>
                          </a:solidFill>
                          <a:latin typeface="Cambria Math" panose="02040503050406030204" pitchFamily="18" charset="0"/>
                          <a:ea typeface="Cambria Math" panose="02040503050406030204" pitchFamily="18" charset="0"/>
                        </a:rPr>
                        <m:t>=</m:t>
                      </m:r>
                      <m:nary>
                        <m:naryPr>
                          <m:chr m:val="∮"/>
                          <m:ctrlPr>
                            <a:rPr kumimoji="1" lang="en-US" altLang="zh-CN" sz="2800" i="1">
                              <a:solidFill>
                                <a:srgbClr val="FF0000"/>
                              </a:solidFill>
                              <a:latin typeface="Cambria Math" panose="02040503050406030204" pitchFamily="18" charset="0"/>
                              <a:ea typeface="黑体" panose="02010609060101010101" pitchFamily="49" charset="-122"/>
                            </a:rPr>
                          </m:ctrlPr>
                        </m:naryPr>
                        <m:sub>
                          <m:r>
                            <m:rPr>
                              <m:brk m:alnAt="23"/>
                            </m:rPr>
                            <a:rPr kumimoji="1" lang="en-US" altLang="zh-CN" sz="2800" i="1">
                              <a:solidFill>
                                <a:srgbClr val="FF0000"/>
                              </a:solidFill>
                              <a:latin typeface="Cambria Math" panose="02040503050406030204" pitchFamily="18" charset="0"/>
                              <a:ea typeface="黑体" panose="02010609060101010101" pitchFamily="49" charset="-122"/>
                            </a:rPr>
                            <m:t>𝐿</m:t>
                          </m:r>
                        </m:sub>
                        <m:sup/>
                        <m:e>
                          <m:sSub>
                            <m:sSubPr>
                              <m:ctrlPr>
                                <a:rPr kumimoji="1" lang="en-US" altLang="zh-CN" sz="2800" i="1">
                                  <a:solidFill>
                                    <a:srgbClr val="FF0000"/>
                                  </a:solidFill>
                                  <a:latin typeface="Cambria Math" panose="02040503050406030204" pitchFamily="18" charset="0"/>
                                  <a:ea typeface="黑体" panose="02010609060101010101" pitchFamily="49" charset="-122"/>
                                </a:rPr>
                              </m:ctrlPr>
                            </m:sSubPr>
                            <m:e>
                              <m:acc>
                                <m:accPr>
                                  <m:chr m:val="⃗"/>
                                  <m:ctrlPr>
                                    <a:rPr kumimoji="1" lang="en-US" altLang="zh-CN" sz="2800" i="1">
                                      <a:solidFill>
                                        <a:srgbClr val="FF0000"/>
                                      </a:solidFill>
                                      <a:latin typeface="Cambria Math" panose="02040503050406030204" pitchFamily="18" charset="0"/>
                                      <a:ea typeface="黑体" panose="02010609060101010101" pitchFamily="49" charset="-122"/>
                                    </a:rPr>
                                  </m:ctrlPr>
                                </m:accPr>
                                <m:e>
                                  <m:r>
                                    <a:rPr kumimoji="1" lang="en-US" altLang="zh-CN" sz="2800" i="1">
                                      <a:solidFill>
                                        <a:srgbClr val="FF0000"/>
                                      </a:solidFill>
                                      <a:latin typeface="Cambria Math" panose="02040503050406030204" pitchFamily="18" charset="0"/>
                                      <a:ea typeface="黑体" panose="02010609060101010101" pitchFamily="49" charset="-122"/>
                                    </a:rPr>
                                    <m:t>𝐸</m:t>
                                  </m:r>
                                </m:e>
                              </m:acc>
                            </m:e>
                            <m:sub>
                              <m:r>
                                <a:rPr kumimoji="1" lang="en-US" altLang="zh-CN" sz="2800" i="1">
                                  <a:solidFill>
                                    <a:srgbClr val="FF0000"/>
                                  </a:solidFill>
                                  <a:latin typeface="Cambria Math" panose="02040503050406030204" pitchFamily="18" charset="0"/>
                                  <a:ea typeface="黑体" panose="02010609060101010101" pitchFamily="49" charset="-122"/>
                                </a:rPr>
                                <m:t>𝑖</m:t>
                              </m:r>
                            </m:sub>
                          </m:sSub>
                          <m:r>
                            <a:rPr kumimoji="1" lang="en-US" altLang="zh-CN" sz="2800">
                              <a:solidFill>
                                <a:srgbClr val="FF0000"/>
                              </a:solidFill>
                              <a:latin typeface="Cambria Math" panose="02040503050406030204" pitchFamily="18" charset="0"/>
                              <a:ea typeface="Cambria Math" panose="02040503050406030204" pitchFamily="18" charset="0"/>
                            </a:rPr>
                            <m:t>∙</m:t>
                          </m:r>
                          <m:r>
                            <a:rPr kumimoji="1" lang="en-US" altLang="zh-CN" sz="2800" i="1">
                              <a:solidFill>
                                <a:srgbClr val="FF0000"/>
                              </a:solidFill>
                              <a:latin typeface="Cambria Math" panose="02040503050406030204" pitchFamily="18" charset="0"/>
                              <a:ea typeface="Cambria Math" panose="02040503050406030204" pitchFamily="18" charset="0"/>
                            </a:rPr>
                            <m:t>𝑑</m:t>
                          </m:r>
                          <m:acc>
                            <m:accPr>
                              <m:chr m:val="⃗"/>
                              <m:ctrlPr>
                                <a:rPr kumimoji="1" lang="en-US" altLang="zh-CN" sz="2800" i="1">
                                  <a:solidFill>
                                    <a:srgbClr val="FF0000"/>
                                  </a:solidFill>
                                  <a:latin typeface="Cambria Math" panose="02040503050406030204" pitchFamily="18" charset="0"/>
                                  <a:ea typeface="Cambria Math" panose="02040503050406030204" pitchFamily="18" charset="0"/>
                                </a:rPr>
                              </m:ctrlPr>
                            </m:accPr>
                            <m:e>
                              <m:r>
                                <a:rPr kumimoji="1" lang="en-US" altLang="zh-CN" sz="2800" i="1">
                                  <a:solidFill>
                                    <a:srgbClr val="FF0000"/>
                                  </a:solidFill>
                                  <a:latin typeface="Cambria Math" panose="02040503050406030204" pitchFamily="18" charset="0"/>
                                  <a:ea typeface="Cambria Math" panose="02040503050406030204" pitchFamily="18" charset="0"/>
                                </a:rPr>
                                <m:t>𝑙</m:t>
                              </m:r>
                            </m:e>
                          </m:acc>
                        </m:e>
                      </m:nary>
                    </m:oMath>
                  </m:oMathPara>
                </a14:m>
                <a:endParaRPr kumimoji="1" lang="zh-CN" altLang="en-US" sz="2800" dirty="0">
                  <a:solidFill>
                    <a:srgbClr val="FF0000"/>
                  </a:solidFill>
                  <a:latin typeface="华文楷体" panose="02010600040101010101" pitchFamily="2" charset="-122"/>
                  <a:ea typeface="华文楷体" panose="02010600040101010101" pitchFamily="2" charset="-122"/>
                </a:endParaRPr>
              </a:p>
            </p:txBody>
          </p:sp>
        </mc:Choice>
        <mc:Fallback xmlns="">
          <p:sp>
            <p:nvSpPr>
              <p:cNvPr id="13" name="矩形 12">
                <a:extLst>
                  <a:ext uri="{FF2B5EF4-FFF2-40B4-BE49-F238E27FC236}">
                    <a16:creationId xmlns:a16="http://schemas.microsoft.com/office/drawing/2014/main" id="{56FAC64F-6F86-4DF1-B821-114F7A5D65A0}"/>
                  </a:ext>
                </a:extLst>
              </p:cNvPr>
              <p:cNvSpPr>
                <a:spLocks noRot="1" noChangeAspect="1" noMove="1" noResize="1" noEditPoints="1" noAdjustHandles="1" noChangeArrowheads="1" noChangeShapeType="1" noTextEdit="1"/>
              </p:cNvSpPr>
              <p:nvPr/>
            </p:nvSpPr>
            <p:spPr>
              <a:xfrm>
                <a:off x="1176774" y="2392641"/>
                <a:ext cx="8750710" cy="1363450"/>
              </a:xfrm>
              <a:prstGeom prst="rect">
                <a:avLst/>
              </a:prstGeom>
              <a:blipFill>
                <a:blip r:embed="rId3"/>
                <a:stretch>
                  <a:fillRect/>
                </a:stretch>
              </a:blipFill>
            </p:spPr>
            <p:txBody>
              <a:bodyPr/>
              <a:lstStyle/>
              <a:p>
                <a:r>
                  <a:rPr lang="en-US">
                    <a:noFill/>
                  </a:rPr>
                  <a:t> </a:t>
                </a:r>
              </a:p>
            </p:txBody>
          </p:sp>
        </mc:Fallback>
      </mc:AlternateContent>
      <p:sp>
        <p:nvSpPr>
          <p:cNvPr id="14" name="矩形 8">
            <a:extLst>
              <a:ext uri="{FF2B5EF4-FFF2-40B4-BE49-F238E27FC236}">
                <a16:creationId xmlns:a16="http://schemas.microsoft.com/office/drawing/2014/main" id="{A9B2EFC0-6182-416A-BA4C-A156BD5BD119}"/>
              </a:ext>
            </a:extLst>
          </p:cNvPr>
          <p:cNvSpPr/>
          <p:nvPr/>
        </p:nvSpPr>
        <p:spPr>
          <a:xfrm>
            <a:off x="975888" y="574184"/>
            <a:ext cx="3824711" cy="646331"/>
          </a:xfrm>
          <a:prstGeom prst="rect">
            <a:avLst/>
          </a:prstGeom>
        </p:spPr>
        <p:txBody>
          <a:bodyPr wrap="square">
            <a:spAutoFit/>
          </a:bodyPr>
          <a:lstStyle/>
          <a:p>
            <a:pPr marL="457200" indent="-4572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感生电动势 </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5" name="Picture 2" descr="Lecture 24">
            <a:extLst>
              <a:ext uri="{FF2B5EF4-FFF2-40B4-BE49-F238E27FC236}">
                <a16:creationId xmlns:a16="http://schemas.microsoft.com/office/drawing/2014/main" id="{438928E1-98ED-45B0-94F6-511B0C1763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570" t="18773"/>
          <a:stretch/>
        </p:blipFill>
        <p:spPr bwMode="auto">
          <a:xfrm>
            <a:off x="533599" y="3756091"/>
            <a:ext cx="6183724" cy="285266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5">
            <a:extLst>
              <a:ext uri="{FF2B5EF4-FFF2-40B4-BE49-F238E27FC236}">
                <a16:creationId xmlns:a16="http://schemas.microsoft.com/office/drawing/2014/main" id="{F6BD58CC-A584-47D6-AC4F-1DA84D60F861}"/>
              </a:ext>
            </a:extLst>
          </p:cNvPr>
          <p:cNvSpPr>
            <a:spLocks noChangeArrowheads="1"/>
          </p:cNvSpPr>
          <p:nvPr/>
        </p:nvSpPr>
        <p:spPr bwMode="auto">
          <a:xfrm>
            <a:off x="7054023" y="3744506"/>
            <a:ext cx="44583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50000"/>
              </a:lnSpc>
              <a:buFontTx/>
              <a:buChar char="-"/>
            </a:pPr>
            <a:r>
              <a:rPr kumimoji="1" lang="zh-CN" altLang="en-US" sz="2800" b="0" i="0" u="none" dirty="0">
                <a:latin typeface="华文楷体" panose="02010600040101010101" pitchFamily="2" charset="-122"/>
                <a:ea typeface="华文楷体" panose="02010600040101010101" pitchFamily="2" charset="-122"/>
                <a:sym typeface="Wingdings" panose="05000000000000000000" pitchFamily="2" charset="2"/>
              </a:rPr>
              <a:t>变化的磁场产生电场</a:t>
            </a:r>
            <a:endParaRPr kumimoji="1" lang="en-US" altLang="zh-CN" sz="2800" b="0" i="0" u="none" dirty="0">
              <a:latin typeface="华文楷体" panose="02010600040101010101" pitchFamily="2" charset="-122"/>
              <a:ea typeface="华文楷体" panose="02010600040101010101" pitchFamily="2" charset="-122"/>
              <a:sym typeface="Wingdings" panose="05000000000000000000" pitchFamily="2" charset="2"/>
            </a:endParaRPr>
          </a:p>
          <a:p>
            <a:pPr marL="457200" indent="-457200" eaLnBrk="1" hangingPunct="1">
              <a:lnSpc>
                <a:spcPct val="150000"/>
              </a:lnSpc>
              <a:buFontTx/>
              <a:buChar char="-"/>
            </a:pPr>
            <a:r>
              <a:rPr kumimoji="1" lang="zh-CN" altLang="en-US" sz="2800" b="0" i="0" u="none" dirty="0">
                <a:latin typeface="华文楷体" panose="02010600040101010101" pitchFamily="2" charset="-122"/>
                <a:ea typeface="华文楷体" panose="02010600040101010101" pitchFamily="2" charset="-122"/>
              </a:rPr>
              <a:t>感生电场是有旋场</a:t>
            </a:r>
            <a:endParaRPr kumimoji="1" lang="en-US" altLang="zh-CN" sz="2800" b="0" i="0" u="none" dirty="0">
              <a:latin typeface="华文楷体" panose="02010600040101010101" pitchFamily="2" charset="-122"/>
              <a:ea typeface="华文楷体" panose="02010600040101010101" pitchFamily="2" charset="-122"/>
            </a:endParaRPr>
          </a:p>
        </p:txBody>
      </p:sp>
      <p:pic>
        <p:nvPicPr>
          <p:cNvPr id="17" name="图片 16">
            <a:extLst>
              <a:ext uri="{FF2B5EF4-FFF2-40B4-BE49-F238E27FC236}">
                <a16:creationId xmlns:a16="http://schemas.microsoft.com/office/drawing/2014/main" id="{48001A8E-5575-467A-9ACB-80635671B246}"/>
              </a:ext>
            </a:extLst>
          </p:cNvPr>
          <p:cNvPicPr>
            <a:picLocks noChangeAspect="1"/>
          </p:cNvPicPr>
          <p:nvPr/>
        </p:nvPicPr>
        <p:blipFill>
          <a:blip r:embed="rId5"/>
          <a:stretch>
            <a:fillRect/>
          </a:stretch>
        </p:blipFill>
        <p:spPr>
          <a:xfrm>
            <a:off x="7658762" y="4991745"/>
            <a:ext cx="1834392" cy="1866255"/>
          </a:xfrm>
          <a:prstGeom prst="rect">
            <a:avLst/>
          </a:prstGeom>
        </p:spPr>
      </p:pic>
      <p:sp>
        <p:nvSpPr>
          <p:cNvPr id="18" name="文本框 17">
            <a:extLst>
              <a:ext uri="{FF2B5EF4-FFF2-40B4-BE49-F238E27FC236}">
                <a16:creationId xmlns:a16="http://schemas.microsoft.com/office/drawing/2014/main" id="{329B7718-93C7-4183-8875-1B4783BBCAD8}"/>
              </a:ext>
            </a:extLst>
          </p:cNvPr>
          <p:cNvSpPr txBox="1"/>
          <p:nvPr/>
        </p:nvSpPr>
        <p:spPr>
          <a:xfrm>
            <a:off x="9675411" y="6018844"/>
            <a:ext cx="1518364" cy="492443"/>
          </a:xfrm>
          <a:prstGeom prst="rect">
            <a:avLst/>
          </a:prstGeom>
          <a:noFill/>
        </p:spPr>
        <p:txBody>
          <a:bodyPr wrap="none" rtlCol="0">
            <a:spAutoFit/>
          </a:bodyPr>
          <a:lstStyle/>
          <a:p>
            <a:r>
              <a:rPr lang="zh-CN" altLang="en-US" sz="2600" dirty="0">
                <a:solidFill>
                  <a:srgbClr val="FF0000"/>
                </a:solidFill>
              </a:rPr>
              <a:t>左手螺旋</a:t>
            </a:r>
            <a:endParaRPr lang="en-US" sz="2600" dirty="0">
              <a:solidFill>
                <a:srgbClr val="FF0000"/>
              </a:solidFill>
            </a:endParaRPr>
          </a:p>
        </p:txBody>
      </p:sp>
      <p:sp>
        <p:nvSpPr>
          <p:cNvPr id="2" name="矩形: 圆角 1">
            <a:extLst>
              <a:ext uri="{FF2B5EF4-FFF2-40B4-BE49-F238E27FC236}">
                <a16:creationId xmlns:a16="http://schemas.microsoft.com/office/drawing/2014/main" id="{2B14D099-BE93-ABD4-8ADC-AE8305DE0437}"/>
              </a:ext>
            </a:extLst>
          </p:cNvPr>
          <p:cNvSpPr/>
          <p:nvPr/>
        </p:nvSpPr>
        <p:spPr>
          <a:xfrm>
            <a:off x="4470400" y="2646680"/>
            <a:ext cx="4333240" cy="1163320"/>
          </a:xfrm>
          <a:prstGeom prst="roundRect">
            <a:avLst/>
          </a:prstGeom>
          <a:noFill/>
          <a:ln w="3810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14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6" grpId="0" uiExpand="1" build="p" autoUpdateAnimBg="0"/>
      <p:bldP spid="18"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9">
            <a:extLst>
              <a:ext uri="{FF2B5EF4-FFF2-40B4-BE49-F238E27FC236}">
                <a16:creationId xmlns:a16="http://schemas.microsoft.com/office/drawing/2014/main" id="{EEDF56D3-FA24-48F0-9937-C5F8DE49B0A8}"/>
              </a:ext>
            </a:extLst>
          </p:cNvPr>
          <p:cNvSpPr txBox="1">
            <a:spLocks noChangeArrowheads="1"/>
          </p:cNvSpPr>
          <p:nvPr/>
        </p:nvSpPr>
        <p:spPr bwMode="auto">
          <a:xfrm>
            <a:off x="903231" y="547209"/>
            <a:ext cx="2778477" cy="646331"/>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med" len="lg"/>
                <a:tailEnd type="none" w="med" len="lg"/>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自感现象</a:t>
            </a:r>
          </a:p>
        </p:txBody>
      </p:sp>
      <p:sp>
        <p:nvSpPr>
          <p:cNvPr id="5" name="Text Box 6">
            <a:extLst>
              <a:ext uri="{FF2B5EF4-FFF2-40B4-BE49-F238E27FC236}">
                <a16:creationId xmlns:a16="http://schemas.microsoft.com/office/drawing/2014/main" id="{55AC06D6-6724-4DA0-B4FC-03AD0CC493AC}"/>
              </a:ext>
            </a:extLst>
          </p:cNvPr>
          <p:cNvSpPr txBox="1">
            <a:spLocks noChangeArrowheads="1"/>
          </p:cNvSpPr>
          <p:nvPr/>
        </p:nvSpPr>
        <p:spPr bwMode="auto">
          <a:xfrm>
            <a:off x="273586" y="1240489"/>
            <a:ext cx="811936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b="0" i="0" u="none" dirty="0">
                <a:ea typeface="华文楷体" panose="02010600040101010101" pitchFamily="2" charset="-122"/>
              </a:rPr>
              <a:t> -</a:t>
            </a:r>
            <a:r>
              <a:rPr lang="zh-CN" altLang="en-US" sz="2800" b="0" i="0" u="none" dirty="0">
                <a:ea typeface="华文楷体" panose="02010600040101010101" pitchFamily="2" charset="-122"/>
              </a:rPr>
              <a:t>自感电动势</a:t>
            </a:r>
            <a:r>
              <a:rPr lang="en-US" altLang="zh-CN" sz="2800" b="0" i="0" u="none" dirty="0">
                <a:ea typeface="华文楷体" panose="02010600040101010101" pitchFamily="2" charset="-122"/>
              </a:rPr>
              <a:t>:</a:t>
            </a:r>
          </a:p>
          <a:p>
            <a:pPr algn="just" eaLnBrk="1" hangingPunct="1"/>
            <a:r>
              <a:rPr lang="zh-CN" altLang="en-US" sz="2800" b="0" i="0" u="none" dirty="0">
                <a:latin typeface="+mn-lt"/>
                <a:ea typeface="华文楷体" panose="02010600040101010101" pitchFamily="2" charset="-122"/>
              </a:rPr>
              <a:t>线圈中电流变化时使线圈自身产生的感应电动势                   </a:t>
            </a:r>
            <a:br>
              <a:rPr lang="en-US" altLang="zh-CN" sz="2800" b="0" i="0" u="none" dirty="0">
                <a:latin typeface="+mn-lt"/>
                <a:ea typeface="华文楷体" panose="02010600040101010101" pitchFamily="2" charset="-122"/>
              </a:rPr>
            </a:br>
            <a:endParaRPr lang="zh-CN" altLang="en-US" sz="2800" b="0" i="0" u="none" dirty="0">
              <a:latin typeface="+mn-lt"/>
              <a:ea typeface="华文楷体" panose="02010600040101010101" pitchFamily="2" charset="-122"/>
            </a:endParaRPr>
          </a:p>
        </p:txBody>
      </p:sp>
      <p:pic>
        <p:nvPicPr>
          <p:cNvPr id="7" name="图片 6">
            <a:extLst>
              <a:ext uri="{FF2B5EF4-FFF2-40B4-BE49-F238E27FC236}">
                <a16:creationId xmlns:a16="http://schemas.microsoft.com/office/drawing/2014/main" id="{CBE18D88-733F-4096-AA27-BD9F792C5445}"/>
              </a:ext>
            </a:extLst>
          </p:cNvPr>
          <p:cNvPicPr>
            <a:picLocks noChangeAspect="1"/>
          </p:cNvPicPr>
          <p:nvPr/>
        </p:nvPicPr>
        <p:blipFill rotWithShape="1">
          <a:blip r:embed="rId2"/>
          <a:srcRect t="37491" r="63526"/>
          <a:stretch/>
        </p:blipFill>
        <p:spPr>
          <a:xfrm>
            <a:off x="8367031" y="771621"/>
            <a:ext cx="3773209" cy="2011681"/>
          </a:xfrm>
          <a:prstGeom prst="rect">
            <a:avLst/>
          </a:prstGeom>
        </p:spPr>
      </p:pic>
      <mc:AlternateContent xmlns:mc="http://schemas.openxmlformats.org/markup-compatibility/2006" xmlns:a14="http://schemas.microsoft.com/office/drawing/2010/main">
        <mc:Choice Requires="a14">
          <p:sp>
            <p:nvSpPr>
              <p:cNvPr id="8" name="Rectangle 6">
                <a:extLst>
                  <a:ext uri="{FF2B5EF4-FFF2-40B4-BE49-F238E27FC236}">
                    <a16:creationId xmlns:a16="http://schemas.microsoft.com/office/drawing/2014/main" id="{28521922-933D-401D-95DA-89707B2B60DA}"/>
                  </a:ext>
                </a:extLst>
              </p:cNvPr>
              <p:cNvSpPr>
                <a:spLocks noChangeArrowheads="1"/>
              </p:cNvSpPr>
              <p:nvPr/>
            </p:nvSpPr>
            <p:spPr bwMode="auto">
              <a:xfrm>
                <a:off x="435360" y="2423623"/>
                <a:ext cx="5428601" cy="31938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800" b="0" i="0" u="none" dirty="0">
                    <a:latin typeface="华文楷体" panose="02010600040101010101" pitchFamily="2" charset="-122"/>
                    <a:ea typeface="华文楷体" panose="02010600040101010101" pitchFamily="2" charset="-122"/>
                  </a:rPr>
                  <a:t>对于一个任意形状的回路</a:t>
                </a:r>
                <a:r>
                  <a:rPr kumimoji="1" lang="en-US" altLang="zh-CN" sz="2800" b="0" i="0" u="none" dirty="0">
                    <a:latin typeface="华文楷体" panose="02010600040101010101" pitchFamily="2" charset="-122"/>
                    <a:ea typeface="华文楷体" panose="02010600040101010101" pitchFamily="2" charset="-122"/>
                  </a:rPr>
                  <a:t>:</a:t>
                </a:r>
              </a:p>
              <a:p>
                <a:pPr eaLnBrk="1" hangingPunct="1">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800" b="0" i="1" u="none">
                              <a:solidFill>
                                <a:srgbClr val="000000"/>
                              </a:solidFill>
                              <a:latin typeface="Cambria Math" panose="02040503050406030204" pitchFamily="18" charset="0"/>
                              <a:ea typeface="华文新魏" panose="02010800040101010101" pitchFamily="2" charset="-122"/>
                            </a:rPr>
                          </m:ctrlPr>
                        </m:sSubPr>
                        <m:e>
                          <m:r>
                            <a:rPr kumimoji="1" lang="zh-CN" altLang="en-US" sz="2800" b="0" i="1" u="none">
                              <a:solidFill>
                                <a:srgbClr val="000000"/>
                              </a:solidFill>
                              <a:latin typeface="Cambria Math" panose="02040503050406030204" pitchFamily="18" charset="0"/>
                              <a:ea typeface="华文新魏" panose="02010800040101010101" pitchFamily="2" charset="-122"/>
                            </a:rPr>
                            <m:t>𝜀</m:t>
                          </m:r>
                        </m:e>
                        <m:sub>
                          <m:r>
                            <a:rPr kumimoji="1" lang="en-US" altLang="zh-CN" sz="2800" b="0" i="1" u="none">
                              <a:solidFill>
                                <a:srgbClr val="000000"/>
                              </a:solidFill>
                              <a:latin typeface="Cambria Math" panose="02040503050406030204" pitchFamily="18" charset="0"/>
                              <a:ea typeface="华文新魏" panose="02010800040101010101" pitchFamily="2" charset="-122"/>
                            </a:rPr>
                            <m:t>𝐿</m:t>
                          </m:r>
                        </m:sub>
                      </m:sSub>
                      <m:r>
                        <a:rPr kumimoji="1" lang="en-US" altLang="zh-CN" sz="2800" b="0" u="none">
                          <a:solidFill>
                            <a:srgbClr val="000000"/>
                          </a:solidFill>
                          <a:latin typeface="Cambria Math" panose="02040503050406030204" pitchFamily="18" charset="0"/>
                          <a:ea typeface="华文新魏" panose="02010800040101010101" pitchFamily="2" charset="-122"/>
                        </a:rPr>
                        <m:t>=−</m:t>
                      </m:r>
                      <m:f>
                        <m:fPr>
                          <m:ctrlPr>
                            <a:rPr kumimoji="1" lang="en-US" altLang="zh-CN" sz="2800" b="0" i="1" u="none">
                              <a:solidFill>
                                <a:srgbClr val="000000"/>
                              </a:solidFill>
                              <a:latin typeface="Cambria Math" panose="02040503050406030204" pitchFamily="18" charset="0"/>
                              <a:ea typeface="华文新魏" panose="02010800040101010101" pitchFamily="2" charset="-122"/>
                            </a:rPr>
                          </m:ctrlPr>
                        </m:fPr>
                        <m:num>
                          <m:r>
                            <a:rPr kumimoji="1" lang="en-US" altLang="zh-CN" sz="2800" b="0" i="1" u="none">
                              <a:solidFill>
                                <a:srgbClr val="000000"/>
                              </a:solidFill>
                              <a:latin typeface="Cambria Math" panose="02040503050406030204" pitchFamily="18" charset="0"/>
                              <a:ea typeface="华文新魏" panose="02010800040101010101" pitchFamily="2" charset="-122"/>
                            </a:rPr>
                            <m:t>𝑑</m:t>
                          </m:r>
                          <m:sSub>
                            <m:sSubPr>
                              <m:ctrlPr>
                                <a:rPr kumimoji="1" lang="en-US" altLang="zh-CN" sz="2800" b="0" i="1" u="none">
                                  <a:solidFill>
                                    <a:srgbClr val="000000"/>
                                  </a:solidFill>
                                  <a:latin typeface="Cambria Math" panose="02040503050406030204" pitchFamily="18" charset="0"/>
                                  <a:ea typeface="华文新魏" panose="02010800040101010101" pitchFamily="2" charset="-122"/>
                                </a:rPr>
                              </m:ctrlPr>
                            </m:sSubPr>
                            <m:e>
                              <m:r>
                                <a:rPr kumimoji="1" lang="zh-CN" altLang="en-US" sz="2800" b="0" i="1" u="none">
                                  <a:solidFill>
                                    <a:srgbClr val="000000"/>
                                  </a:solidFill>
                                  <a:latin typeface="Cambria Math" panose="02040503050406030204" pitchFamily="18" charset="0"/>
                                  <a:ea typeface="华文新魏" panose="02010800040101010101" pitchFamily="2" charset="-122"/>
                                </a:rPr>
                                <m:t>𝛷</m:t>
                              </m:r>
                            </m:e>
                            <m:sub>
                              <m:r>
                                <a:rPr kumimoji="1" lang="en-US" altLang="zh-CN" sz="2800" b="0" i="1" u="none">
                                  <a:solidFill>
                                    <a:srgbClr val="000000"/>
                                  </a:solidFill>
                                  <a:latin typeface="Cambria Math" panose="02040503050406030204" pitchFamily="18" charset="0"/>
                                  <a:ea typeface="华文新魏" panose="02010800040101010101" pitchFamily="2" charset="-122"/>
                                </a:rPr>
                                <m:t>𝑁</m:t>
                              </m:r>
                            </m:sub>
                          </m:sSub>
                        </m:num>
                        <m:den>
                          <m:r>
                            <a:rPr kumimoji="1" lang="en-US" altLang="zh-CN" sz="2800" b="0" i="1" u="none">
                              <a:solidFill>
                                <a:srgbClr val="000000"/>
                              </a:solidFill>
                              <a:latin typeface="Cambria Math" panose="02040503050406030204" pitchFamily="18" charset="0"/>
                              <a:ea typeface="华文新魏" panose="02010800040101010101" pitchFamily="2" charset="-122"/>
                            </a:rPr>
                            <m:t>𝑑𝑡</m:t>
                          </m:r>
                        </m:den>
                      </m:f>
                      <m:r>
                        <a:rPr kumimoji="1" lang="en-US" altLang="zh-CN" sz="2800" b="0" u="none">
                          <a:solidFill>
                            <a:srgbClr val="000000"/>
                          </a:solidFill>
                          <a:latin typeface="Cambria Math" panose="02040503050406030204" pitchFamily="18" charset="0"/>
                          <a:ea typeface="华文新魏" panose="02010800040101010101" pitchFamily="2" charset="-122"/>
                        </a:rPr>
                        <m:t>=−</m:t>
                      </m:r>
                      <m:r>
                        <a:rPr kumimoji="1" lang="en-US" altLang="zh-CN" sz="2800" b="0" i="1" u="none" smtClean="0">
                          <a:solidFill>
                            <a:srgbClr val="FF0000"/>
                          </a:solidFill>
                          <a:latin typeface="Cambria Math" panose="02040503050406030204" pitchFamily="18" charset="0"/>
                          <a:ea typeface="华文新魏" panose="02010800040101010101" pitchFamily="2" charset="-122"/>
                        </a:rPr>
                        <m:t>𝐿</m:t>
                      </m:r>
                      <m:f>
                        <m:fPr>
                          <m:ctrlPr>
                            <a:rPr kumimoji="1" lang="en-US" altLang="zh-CN" sz="2800" b="0" i="1" u="none">
                              <a:solidFill>
                                <a:srgbClr val="000000"/>
                              </a:solidFill>
                              <a:latin typeface="Cambria Math" panose="02040503050406030204" pitchFamily="18" charset="0"/>
                              <a:ea typeface="华文新魏" panose="02010800040101010101" pitchFamily="2" charset="-122"/>
                            </a:rPr>
                          </m:ctrlPr>
                        </m:fPr>
                        <m:num>
                          <m:r>
                            <a:rPr kumimoji="1" lang="en-US" altLang="zh-CN" sz="2800" b="0" i="1" u="none">
                              <a:solidFill>
                                <a:srgbClr val="000000"/>
                              </a:solidFill>
                              <a:latin typeface="Cambria Math" panose="02040503050406030204" pitchFamily="18" charset="0"/>
                              <a:ea typeface="华文新魏" panose="02010800040101010101" pitchFamily="2" charset="-122"/>
                            </a:rPr>
                            <m:t>𝑑𝐼</m:t>
                          </m:r>
                        </m:num>
                        <m:den>
                          <m:r>
                            <a:rPr kumimoji="1" lang="en-US" altLang="zh-CN" sz="2800" b="0" i="1" u="none">
                              <a:solidFill>
                                <a:srgbClr val="000000"/>
                              </a:solidFill>
                              <a:latin typeface="Cambria Math" panose="02040503050406030204" pitchFamily="18" charset="0"/>
                              <a:ea typeface="华文新魏" panose="02010800040101010101" pitchFamily="2" charset="-122"/>
                            </a:rPr>
                            <m:t>𝑑𝑡</m:t>
                          </m:r>
                        </m:den>
                      </m:f>
                    </m:oMath>
                  </m:oMathPara>
                </a14:m>
                <a:endParaRPr kumimoji="1" lang="en-US" altLang="zh-CN" sz="2800" b="0" i="0" u="none" dirty="0">
                  <a:solidFill>
                    <a:srgbClr val="000000"/>
                  </a:solidFill>
                  <a:latin typeface="华文楷体" panose="02010600040101010101" pitchFamily="2" charset="-122"/>
                  <a:ea typeface="华文楷体" panose="02010600040101010101" pitchFamily="2" charset="-122"/>
                </a:endParaRPr>
              </a:p>
              <a:p>
                <a:pPr eaLnBrk="1" hangingPunct="1">
                  <a:lnSpc>
                    <a:spcPct val="150000"/>
                  </a:lnSpc>
                </a:pPr>
                <a14:m>
                  <m:oMathPara xmlns:m="http://schemas.openxmlformats.org/officeDocument/2006/math">
                    <m:oMathParaPr>
                      <m:jc m:val="centerGroup"/>
                    </m:oMathParaPr>
                    <m:oMath xmlns:m="http://schemas.openxmlformats.org/officeDocument/2006/math">
                      <m:r>
                        <a:rPr kumimoji="1" lang="en-US" altLang="zh-CN" sz="2800" b="0" i="1" u="none" smtClean="0">
                          <a:solidFill>
                            <a:srgbClr val="FF0000"/>
                          </a:solidFill>
                          <a:latin typeface="Cambria Math" panose="02040503050406030204" pitchFamily="18" charset="0"/>
                          <a:ea typeface="华文新魏" panose="02010800040101010101" pitchFamily="2" charset="-122"/>
                        </a:rPr>
                        <m:t>𝐿</m:t>
                      </m:r>
                      <m:r>
                        <a:rPr kumimoji="1" lang="en-US" altLang="zh-CN" sz="2800" b="0" i="1" u="none" smtClean="0">
                          <a:solidFill>
                            <a:srgbClr val="FF0000"/>
                          </a:solidFill>
                          <a:latin typeface="Cambria Math" panose="02040503050406030204" pitchFamily="18" charset="0"/>
                          <a:ea typeface="华文新魏" panose="02010800040101010101" pitchFamily="2" charset="-122"/>
                        </a:rPr>
                        <m:t>=</m:t>
                      </m:r>
                      <m:f>
                        <m:fPr>
                          <m:ctrlPr>
                            <a:rPr kumimoji="1" lang="en-US" altLang="zh-CN" sz="2800" b="0" i="1" u="none">
                              <a:solidFill>
                                <a:srgbClr val="FF0000"/>
                              </a:solidFill>
                              <a:latin typeface="Cambria Math" panose="02040503050406030204" pitchFamily="18" charset="0"/>
                              <a:ea typeface="华文新魏" panose="02010800040101010101" pitchFamily="2" charset="-122"/>
                            </a:rPr>
                          </m:ctrlPr>
                        </m:fPr>
                        <m:num>
                          <m:r>
                            <a:rPr kumimoji="1" lang="en-US" altLang="zh-CN" sz="2800" b="0" i="1" u="none">
                              <a:solidFill>
                                <a:srgbClr val="FF0000"/>
                              </a:solidFill>
                              <a:latin typeface="Cambria Math" panose="02040503050406030204" pitchFamily="18" charset="0"/>
                              <a:ea typeface="华文新魏" panose="02010800040101010101" pitchFamily="2" charset="-122"/>
                            </a:rPr>
                            <m:t>𝑑</m:t>
                          </m:r>
                          <m:sSub>
                            <m:sSubPr>
                              <m:ctrlPr>
                                <a:rPr kumimoji="1" lang="en-US" altLang="zh-CN" sz="2800" b="0" i="1" u="none">
                                  <a:solidFill>
                                    <a:srgbClr val="FF0000"/>
                                  </a:solidFill>
                                  <a:latin typeface="Cambria Math" panose="02040503050406030204" pitchFamily="18" charset="0"/>
                                  <a:ea typeface="华文新魏" panose="02010800040101010101" pitchFamily="2" charset="-122"/>
                                </a:rPr>
                              </m:ctrlPr>
                            </m:sSubPr>
                            <m:e>
                              <m:r>
                                <a:rPr kumimoji="1" lang="zh-CN" altLang="en-US" sz="2800" b="0" i="1" u="none">
                                  <a:solidFill>
                                    <a:srgbClr val="FF0000"/>
                                  </a:solidFill>
                                  <a:latin typeface="Cambria Math" panose="02040503050406030204" pitchFamily="18" charset="0"/>
                                  <a:ea typeface="华文新魏" panose="02010800040101010101" pitchFamily="2" charset="-122"/>
                                </a:rPr>
                                <m:t>𝛷</m:t>
                              </m:r>
                            </m:e>
                            <m:sub>
                              <m:r>
                                <a:rPr kumimoji="1" lang="en-US" altLang="zh-CN" sz="2800" b="0" i="1" u="none">
                                  <a:solidFill>
                                    <a:srgbClr val="FF0000"/>
                                  </a:solidFill>
                                  <a:latin typeface="Cambria Math" panose="02040503050406030204" pitchFamily="18" charset="0"/>
                                  <a:ea typeface="华文新魏" panose="02010800040101010101" pitchFamily="2" charset="-122"/>
                                </a:rPr>
                                <m:t>𝑁</m:t>
                              </m:r>
                            </m:sub>
                          </m:sSub>
                        </m:num>
                        <m:den>
                          <m:r>
                            <a:rPr kumimoji="1" lang="en-US" altLang="zh-CN" sz="2800" b="0" i="1" u="none">
                              <a:solidFill>
                                <a:srgbClr val="FF0000"/>
                              </a:solidFill>
                              <a:latin typeface="Cambria Math" panose="02040503050406030204" pitchFamily="18" charset="0"/>
                              <a:ea typeface="华文新魏" panose="02010800040101010101" pitchFamily="2" charset="-122"/>
                            </a:rPr>
                            <m:t>𝑑𝐼</m:t>
                          </m:r>
                        </m:den>
                      </m:f>
                    </m:oMath>
                  </m:oMathPara>
                </a14:m>
                <a:endParaRPr kumimoji="1" lang="zh-CN" altLang="en-US" sz="2800" b="0" i="0" u="none" dirty="0">
                  <a:solidFill>
                    <a:srgbClr val="FF0000"/>
                  </a:solidFill>
                  <a:latin typeface="华文楷体" panose="02010600040101010101" pitchFamily="2" charset="-122"/>
                  <a:ea typeface="华文楷体" panose="02010600040101010101" pitchFamily="2" charset="-122"/>
                </a:endParaRPr>
              </a:p>
            </p:txBody>
          </p:sp>
        </mc:Choice>
        <mc:Fallback xmlns="">
          <p:sp>
            <p:nvSpPr>
              <p:cNvPr id="8" name="Rectangle 6">
                <a:extLst>
                  <a:ext uri="{FF2B5EF4-FFF2-40B4-BE49-F238E27FC236}">
                    <a16:creationId xmlns:a16="http://schemas.microsoft.com/office/drawing/2014/main" id="{28521922-933D-401D-95DA-89707B2B60DA}"/>
                  </a:ext>
                </a:extLst>
              </p:cNvPr>
              <p:cNvSpPr>
                <a:spLocks noRot="1" noChangeAspect="1" noMove="1" noResize="1" noEditPoints="1" noAdjustHandles="1" noChangeArrowheads="1" noChangeShapeType="1" noTextEdit="1"/>
              </p:cNvSpPr>
              <p:nvPr/>
            </p:nvSpPr>
            <p:spPr bwMode="auto">
              <a:xfrm>
                <a:off x="435360" y="2423623"/>
                <a:ext cx="5428601" cy="3193888"/>
              </a:xfrm>
              <a:prstGeom prst="rect">
                <a:avLst/>
              </a:prstGeom>
              <a:blipFill>
                <a:blip r:embed="rId3"/>
                <a:stretch>
                  <a:fillRect l="-224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 name="Rectangle 14">
            <a:extLst>
              <a:ext uri="{FF2B5EF4-FFF2-40B4-BE49-F238E27FC236}">
                <a16:creationId xmlns:a16="http://schemas.microsoft.com/office/drawing/2014/main" id="{85D95580-6130-4174-A535-B520C7950229}"/>
              </a:ext>
            </a:extLst>
          </p:cNvPr>
          <p:cNvSpPr>
            <a:spLocks noChangeArrowheads="1"/>
          </p:cNvSpPr>
          <p:nvPr/>
        </p:nvSpPr>
        <p:spPr bwMode="auto">
          <a:xfrm>
            <a:off x="273586" y="5381616"/>
            <a:ext cx="590913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0" i="0" u="none" dirty="0">
                <a:solidFill>
                  <a:srgbClr val="FF0000"/>
                </a:solidFill>
                <a:latin typeface="华文楷体" panose="02010600040101010101" pitchFamily="2" charset="-122"/>
                <a:ea typeface="华文楷体" panose="02010600040101010101" pitchFamily="2" charset="-122"/>
              </a:rPr>
              <a:t>自感系数：</a:t>
            </a:r>
            <a:r>
              <a:rPr kumimoji="1" lang="zh-CN" altLang="en-US" sz="2800" b="0" i="0" u="none" dirty="0">
                <a:solidFill>
                  <a:srgbClr val="000000"/>
                </a:solidFill>
                <a:latin typeface="华文楷体" panose="02010600040101010101" pitchFamily="2" charset="-122"/>
                <a:ea typeface="华文楷体" panose="02010600040101010101" pitchFamily="2" charset="-122"/>
              </a:rPr>
              <a:t>等于回路中的电流变化为单位值时，在回路本身所围面积内引起磁链数的改变值。</a:t>
            </a:r>
          </a:p>
        </p:txBody>
      </p:sp>
      <mc:AlternateContent xmlns:mc="http://schemas.openxmlformats.org/markup-compatibility/2006" xmlns:a14="http://schemas.microsoft.com/office/drawing/2010/main">
        <mc:Choice Requires="a14">
          <p:sp>
            <p:nvSpPr>
              <p:cNvPr id="10" name="Rectangle 7">
                <a:extLst>
                  <a:ext uri="{FF2B5EF4-FFF2-40B4-BE49-F238E27FC236}">
                    <a16:creationId xmlns:a16="http://schemas.microsoft.com/office/drawing/2014/main" id="{07591B17-448F-4DDC-BB32-559DEBE019E6}"/>
                  </a:ext>
                </a:extLst>
              </p:cNvPr>
              <p:cNvSpPr>
                <a:spLocks noChangeArrowheads="1"/>
              </p:cNvSpPr>
              <p:nvPr/>
            </p:nvSpPr>
            <p:spPr bwMode="auto">
              <a:xfrm>
                <a:off x="7566652" y="4732592"/>
                <a:ext cx="2548662" cy="12980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lnSpc>
                    <a:spcPct val="150000"/>
                  </a:lnSpc>
                </a:pPr>
                <a14:m>
                  <m:oMathPara xmlns:m="http://schemas.openxmlformats.org/officeDocument/2006/math">
                    <m:oMathParaPr>
                      <m:jc m:val="centerGroup"/>
                    </m:oMathParaPr>
                    <m:oMath xmlns:m="http://schemas.openxmlformats.org/officeDocument/2006/math">
                      <m:r>
                        <a:rPr kumimoji="1" lang="en-US" altLang="zh-CN" sz="2800" b="0" i="1" u="none">
                          <a:solidFill>
                            <a:schemeClr val="tx1"/>
                          </a:solidFill>
                          <a:latin typeface="Cambria Math" panose="02040503050406030204" pitchFamily="18" charset="0"/>
                          <a:ea typeface="华文新魏" panose="02010800040101010101" pitchFamily="2" charset="-122"/>
                        </a:rPr>
                        <m:t>𝐿</m:t>
                      </m:r>
                      <m:r>
                        <a:rPr kumimoji="1" lang="en-US" altLang="zh-CN" sz="2800" b="0" u="none">
                          <a:solidFill>
                            <a:schemeClr val="tx1"/>
                          </a:solidFill>
                          <a:latin typeface="Cambria Math" panose="02040503050406030204" pitchFamily="18" charset="0"/>
                          <a:ea typeface="华文新魏" panose="02010800040101010101" pitchFamily="2" charset="-122"/>
                        </a:rPr>
                        <m:t>=</m:t>
                      </m:r>
                      <m:f>
                        <m:fPr>
                          <m:ctrlPr>
                            <a:rPr kumimoji="1" lang="en-US" altLang="zh-CN" sz="2800" b="0" i="1" u="none">
                              <a:solidFill>
                                <a:schemeClr val="tx1"/>
                              </a:solidFill>
                              <a:latin typeface="Cambria Math" panose="02040503050406030204" pitchFamily="18" charset="0"/>
                              <a:ea typeface="华文新魏" panose="02010800040101010101" pitchFamily="2" charset="-122"/>
                            </a:rPr>
                          </m:ctrlPr>
                        </m:fPr>
                        <m:num>
                          <m:sSub>
                            <m:sSubPr>
                              <m:ctrlPr>
                                <a:rPr kumimoji="1" lang="en-US" altLang="zh-CN" sz="2800" b="0" i="1" u="none">
                                  <a:solidFill>
                                    <a:schemeClr val="tx1"/>
                                  </a:solidFill>
                                  <a:latin typeface="Cambria Math" panose="02040503050406030204" pitchFamily="18" charset="0"/>
                                  <a:ea typeface="华文新魏" panose="02010800040101010101" pitchFamily="2" charset="-122"/>
                                </a:rPr>
                              </m:ctrlPr>
                            </m:sSubPr>
                            <m:e>
                              <m:r>
                                <a:rPr kumimoji="1" lang="zh-CN" altLang="en-US" sz="2800" b="0" i="1" u="none">
                                  <a:solidFill>
                                    <a:schemeClr val="tx1"/>
                                  </a:solidFill>
                                  <a:latin typeface="Cambria Math" panose="02040503050406030204" pitchFamily="18" charset="0"/>
                                  <a:ea typeface="华文新魏" panose="02010800040101010101" pitchFamily="2" charset="-122"/>
                                </a:rPr>
                                <m:t>𝛷</m:t>
                              </m:r>
                            </m:e>
                            <m:sub>
                              <m:r>
                                <a:rPr kumimoji="1" lang="en-US" altLang="zh-CN" sz="2800" b="0" i="1" u="none">
                                  <a:solidFill>
                                    <a:schemeClr val="tx1"/>
                                  </a:solidFill>
                                  <a:latin typeface="Cambria Math" panose="02040503050406030204" pitchFamily="18" charset="0"/>
                                  <a:ea typeface="华文新魏" panose="02010800040101010101" pitchFamily="2" charset="-122"/>
                                </a:rPr>
                                <m:t>𝑁</m:t>
                              </m:r>
                            </m:sub>
                          </m:sSub>
                        </m:num>
                        <m:den>
                          <m:r>
                            <a:rPr kumimoji="1" lang="en-US" altLang="zh-CN" sz="2800" b="0" i="1" u="none">
                              <a:solidFill>
                                <a:schemeClr val="tx1"/>
                              </a:solidFill>
                              <a:latin typeface="Cambria Math" panose="02040503050406030204" pitchFamily="18" charset="0"/>
                              <a:ea typeface="华文新魏" panose="02010800040101010101" pitchFamily="2" charset="-122"/>
                            </a:rPr>
                            <m:t>𝐼</m:t>
                          </m:r>
                        </m:den>
                      </m:f>
                    </m:oMath>
                  </m:oMathPara>
                </a14:m>
                <a:endParaRPr kumimoji="1" lang="zh-CN" altLang="en-US"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10" name="Rectangle 7">
                <a:extLst>
                  <a:ext uri="{FF2B5EF4-FFF2-40B4-BE49-F238E27FC236}">
                    <a16:creationId xmlns:a16="http://schemas.microsoft.com/office/drawing/2014/main" id="{07591B17-448F-4DDC-BB32-559DEBE019E6}"/>
                  </a:ext>
                </a:extLst>
              </p:cNvPr>
              <p:cNvSpPr>
                <a:spLocks noRot="1" noChangeAspect="1" noMove="1" noResize="1" noEditPoints="1" noAdjustHandles="1" noChangeArrowheads="1" noChangeShapeType="1" noTextEdit="1"/>
              </p:cNvSpPr>
              <p:nvPr/>
            </p:nvSpPr>
            <p:spPr bwMode="auto">
              <a:xfrm>
                <a:off x="7566652" y="4732592"/>
                <a:ext cx="2548662" cy="1298048"/>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 name="文本框 10">
            <a:extLst>
              <a:ext uri="{FF2B5EF4-FFF2-40B4-BE49-F238E27FC236}">
                <a16:creationId xmlns:a16="http://schemas.microsoft.com/office/drawing/2014/main" id="{4A9AE485-DBEC-4EF9-AF2F-2927C1D1A3EB}"/>
              </a:ext>
            </a:extLst>
          </p:cNvPr>
          <p:cNvSpPr txBox="1"/>
          <p:nvPr/>
        </p:nvSpPr>
        <p:spPr>
          <a:xfrm>
            <a:off x="6025735" y="3611835"/>
            <a:ext cx="6096000" cy="1235531"/>
          </a:xfrm>
          <a:prstGeom prst="rect">
            <a:avLst/>
          </a:prstGeom>
          <a:noFill/>
        </p:spPr>
        <p:txBody>
          <a:bodyPr wrap="square">
            <a:spAutoFit/>
          </a:bodyPr>
          <a:lstStyle/>
          <a:p>
            <a:pPr eaLnBrk="1" hangingPunct="1">
              <a:lnSpc>
                <a:spcPct val="150000"/>
              </a:lnSpc>
            </a:pPr>
            <a:r>
              <a:rPr kumimoji="1" lang="zh-CN" altLang="en-US" sz="2600" b="0" i="0" u="none" dirty="0">
                <a:solidFill>
                  <a:schemeClr val="tx1"/>
                </a:solidFill>
                <a:latin typeface="华文楷体" panose="02010600040101010101" pitchFamily="2" charset="-122"/>
                <a:ea typeface="华文楷体" panose="02010600040101010101" pitchFamily="2" charset="-122"/>
              </a:rPr>
              <a:t>若回路的几何形状保持不变，而且在它的周围空间没有铁磁性物质：</a:t>
            </a:r>
            <a:endParaRPr kumimoji="1" lang="en-US" altLang="zh-CN" sz="2600" b="0" i="0" u="none" dirty="0">
              <a:solidFill>
                <a:schemeClr val="tx1"/>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390143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build="p" autoUpdateAnimBg="0"/>
      <p:bldP spid="9" grpId="0" build="p" autoUpdateAnimBg="0"/>
      <p:bldP spid="10" grpId="0" build="p" autoUpdateAnimBg="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700" name="Text Box 4"/>
          <p:cNvSpPr txBox="1">
            <a:spLocks noChangeArrowheads="1"/>
          </p:cNvSpPr>
          <p:nvPr/>
        </p:nvSpPr>
        <p:spPr bwMode="auto">
          <a:xfrm>
            <a:off x="1584269" y="228299"/>
            <a:ext cx="87901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0" i="0" u="none" dirty="0">
                <a:latin typeface="华文楷体" panose="02010600040101010101" pitchFamily="2" charset="-122"/>
                <a:ea typeface="华文楷体" panose="02010600040101010101" pitchFamily="2" charset="-122"/>
              </a:rPr>
              <a:t>例</a:t>
            </a:r>
            <a:r>
              <a:rPr lang="en-US" altLang="zh-CN" sz="2800" b="0" i="0" u="none" dirty="0">
                <a:latin typeface="华文楷体" panose="02010600040101010101" pitchFamily="2" charset="-122"/>
                <a:ea typeface="华文楷体" panose="02010600040101010101" pitchFamily="2" charset="-122"/>
              </a:rPr>
              <a:t>: </a:t>
            </a:r>
            <a:r>
              <a:rPr lang="zh-CN" altLang="en-US" sz="2800" b="0" i="0" u="none" dirty="0">
                <a:latin typeface="华文楷体" panose="02010600040101010101" pitchFamily="2" charset="-122"/>
                <a:ea typeface="华文楷体" panose="02010600040101010101" pitchFamily="2" charset="-122"/>
              </a:rPr>
              <a:t>试分析有自感的电路中电流的变化。</a:t>
            </a:r>
          </a:p>
        </p:txBody>
      </p:sp>
      <p:grpSp>
        <p:nvGrpSpPr>
          <p:cNvPr id="5" name="Group 42">
            <a:extLst>
              <a:ext uri="{FF2B5EF4-FFF2-40B4-BE49-F238E27FC236}">
                <a16:creationId xmlns:a16="http://schemas.microsoft.com/office/drawing/2014/main" id="{1029D5CF-5C81-4F01-9A28-87AA7D3F7396}"/>
              </a:ext>
            </a:extLst>
          </p:cNvPr>
          <p:cNvGrpSpPr>
            <a:grpSpLocks/>
          </p:cNvGrpSpPr>
          <p:nvPr/>
        </p:nvGrpSpPr>
        <p:grpSpPr bwMode="auto">
          <a:xfrm>
            <a:off x="7879812" y="805106"/>
            <a:ext cx="3384550" cy="1584325"/>
            <a:chOff x="2880" y="346"/>
            <a:chExt cx="2586" cy="1360"/>
          </a:xfrm>
        </p:grpSpPr>
        <p:grpSp>
          <p:nvGrpSpPr>
            <p:cNvPr id="6" name="Group 36">
              <a:extLst>
                <a:ext uri="{FF2B5EF4-FFF2-40B4-BE49-F238E27FC236}">
                  <a16:creationId xmlns:a16="http://schemas.microsoft.com/office/drawing/2014/main" id="{91B411A3-20E1-4216-8FCB-BC698D3EA4A2}"/>
                </a:ext>
              </a:extLst>
            </p:cNvPr>
            <p:cNvGrpSpPr>
              <a:grpSpLocks/>
            </p:cNvGrpSpPr>
            <p:nvPr/>
          </p:nvGrpSpPr>
          <p:grpSpPr bwMode="auto">
            <a:xfrm>
              <a:off x="2880" y="346"/>
              <a:ext cx="2586" cy="1360"/>
              <a:chOff x="2880" y="346"/>
              <a:chExt cx="2586" cy="1360"/>
            </a:xfrm>
          </p:grpSpPr>
          <p:sp>
            <p:nvSpPr>
              <p:cNvPr id="12" name="Rectangle 4">
                <a:extLst>
                  <a:ext uri="{FF2B5EF4-FFF2-40B4-BE49-F238E27FC236}">
                    <a16:creationId xmlns:a16="http://schemas.microsoft.com/office/drawing/2014/main" id="{B139B33A-ACB4-4083-8254-0158DB314879}"/>
                  </a:ext>
                </a:extLst>
              </p:cNvPr>
              <p:cNvSpPr>
                <a:spLocks noChangeArrowheads="1"/>
              </p:cNvSpPr>
              <p:nvPr/>
            </p:nvSpPr>
            <p:spPr bwMode="auto">
              <a:xfrm>
                <a:off x="3607" y="346"/>
                <a:ext cx="410" cy="181"/>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25400">
                <a:solidFill>
                  <a:srgbClr val="000000"/>
                </a:solidFill>
                <a:miter lim="800000"/>
                <a:headEnd/>
                <a:tailEnd/>
              </a:ln>
              <a:effectLst/>
            </p:spPr>
            <p:txBody>
              <a:bodyPr wrap="none" anchor="ctr"/>
              <a:lstStyle/>
              <a:p>
                <a:pPr>
                  <a:defRPr/>
                </a:pPr>
                <a:endParaRPr lang="zh-CN" altLang="en-US">
                  <a:ea typeface="华文新魏" panose="02010800040101010101" pitchFamily="2" charset="-122"/>
                </a:endParaRPr>
              </a:p>
            </p:txBody>
          </p:sp>
          <p:grpSp>
            <p:nvGrpSpPr>
              <p:cNvPr id="13" name="Group 21">
                <a:extLst>
                  <a:ext uri="{FF2B5EF4-FFF2-40B4-BE49-F238E27FC236}">
                    <a16:creationId xmlns:a16="http://schemas.microsoft.com/office/drawing/2014/main" id="{6DD7F31A-E732-4E52-AEF0-631827C3B6E1}"/>
                  </a:ext>
                </a:extLst>
              </p:cNvPr>
              <p:cNvGrpSpPr>
                <a:grpSpLocks/>
              </p:cNvGrpSpPr>
              <p:nvPr/>
            </p:nvGrpSpPr>
            <p:grpSpPr bwMode="auto">
              <a:xfrm>
                <a:off x="4604" y="390"/>
                <a:ext cx="363" cy="137"/>
                <a:chOff x="1655" y="2341"/>
                <a:chExt cx="363" cy="137"/>
              </a:xfrm>
            </p:grpSpPr>
            <p:sp>
              <p:nvSpPr>
                <p:cNvPr id="37" name="AutoShape 16">
                  <a:extLst>
                    <a:ext uri="{FF2B5EF4-FFF2-40B4-BE49-F238E27FC236}">
                      <a16:creationId xmlns:a16="http://schemas.microsoft.com/office/drawing/2014/main" id="{23C1A0D6-C3D9-4F40-BA59-84CCE11E793C}"/>
                    </a:ext>
                  </a:extLst>
                </p:cNvPr>
                <p:cNvSpPr>
                  <a:spLocks noChangeArrowheads="1"/>
                </p:cNvSpPr>
                <p:nvPr/>
              </p:nvSpPr>
              <p:spPr bwMode="auto">
                <a:xfrm>
                  <a:off x="1655"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38" name="AutoShape 17">
                  <a:extLst>
                    <a:ext uri="{FF2B5EF4-FFF2-40B4-BE49-F238E27FC236}">
                      <a16:creationId xmlns:a16="http://schemas.microsoft.com/office/drawing/2014/main" id="{739C2BF3-8965-413A-A72A-94F3BCE21CB6}"/>
                    </a:ext>
                  </a:extLst>
                </p:cNvPr>
                <p:cNvSpPr>
                  <a:spLocks noChangeArrowheads="1"/>
                </p:cNvSpPr>
                <p:nvPr/>
              </p:nvSpPr>
              <p:spPr bwMode="auto">
                <a:xfrm>
                  <a:off x="1746"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39" name="AutoShape 18">
                  <a:extLst>
                    <a:ext uri="{FF2B5EF4-FFF2-40B4-BE49-F238E27FC236}">
                      <a16:creationId xmlns:a16="http://schemas.microsoft.com/office/drawing/2014/main" id="{991424F4-81F4-4A3A-93BB-2E17DB1D90E2}"/>
                    </a:ext>
                  </a:extLst>
                </p:cNvPr>
                <p:cNvSpPr>
                  <a:spLocks noChangeArrowheads="1"/>
                </p:cNvSpPr>
                <p:nvPr/>
              </p:nvSpPr>
              <p:spPr bwMode="auto">
                <a:xfrm>
                  <a:off x="183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40" name="AutoShape 19">
                  <a:extLst>
                    <a:ext uri="{FF2B5EF4-FFF2-40B4-BE49-F238E27FC236}">
                      <a16:creationId xmlns:a16="http://schemas.microsoft.com/office/drawing/2014/main" id="{1E95A231-C3F1-4A7A-987E-F9023A48F2FA}"/>
                    </a:ext>
                  </a:extLst>
                </p:cNvPr>
                <p:cNvSpPr>
                  <a:spLocks noChangeArrowheads="1"/>
                </p:cNvSpPr>
                <p:nvPr/>
              </p:nvSpPr>
              <p:spPr bwMode="auto">
                <a:xfrm>
                  <a:off x="192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grpSp>
          <p:grpSp>
            <p:nvGrpSpPr>
              <p:cNvPr id="14" name="Group 31">
                <a:extLst>
                  <a:ext uri="{FF2B5EF4-FFF2-40B4-BE49-F238E27FC236}">
                    <a16:creationId xmlns:a16="http://schemas.microsoft.com/office/drawing/2014/main" id="{94F8B3A1-0AD0-4830-8DC5-95840DE90527}"/>
                  </a:ext>
                </a:extLst>
              </p:cNvPr>
              <p:cNvGrpSpPr>
                <a:grpSpLocks/>
              </p:cNvGrpSpPr>
              <p:nvPr/>
            </p:nvGrpSpPr>
            <p:grpSpPr bwMode="auto">
              <a:xfrm>
                <a:off x="3651" y="1008"/>
                <a:ext cx="362" cy="227"/>
                <a:chOff x="1565" y="2205"/>
                <a:chExt cx="362" cy="227"/>
              </a:xfrm>
            </p:grpSpPr>
            <p:grpSp>
              <p:nvGrpSpPr>
                <p:cNvPr id="28" name="Group 24">
                  <a:extLst>
                    <a:ext uri="{FF2B5EF4-FFF2-40B4-BE49-F238E27FC236}">
                      <a16:creationId xmlns:a16="http://schemas.microsoft.com/office/drawing/2014/main" id="{A06AB488-E07F-437F-95AB-0875DE921439}"/>
                    </a:ext>
                  </a:extLst>
                </p:cNvPr>
                <p:cNvGrpSpPr>
                  <a:grpSpLocks/>
                </p:cNvGrpSpPr>
                <p:nvPr/>
              </p:nvGrpSpPr>
              <p:grpSpPr bwMode="auto">
                <a:xfrm>
                  <a:off x="1565" y="2205"/>
                  <a:ext cx="72" cy="227"/>
                  <a:chOff x="1565" y="2205"/>
                  <a:chExt cx="72" cy="227"/>
                </a:xfrm>
              </p:grpSpPr>
              <p:sp>
                <p:nvSpPr>
                  <p:cNvPr id="35" name="Line 22">
                    <a:extLst>
                      <a:ext uri="{FF2B5EF4-FFF2-40B4-BE49-F238E27FC236}">
                        <a16:creationId xmlns:a16="http://schemas.microsoft.com/office/drawing/2014/main" id="{51C59DBA-CBFC-485A-BBB6-DF60AEA6D48D}"/>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36" name="Line 23">
                    <a:extLst>
                      <a:ext uri="{FF2B5EF4-FFF2-40B4-BE49-F238E27FC236}">
                        <a16:creationId xmlns:a16="http://schemas.microsoft.com/office/drawing/2014/main" id="{9D3697AB-108C-44A0-BD83-CAB52545BB37}"/>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nvGrpSpPr>
                <p:cNvPr id="29" name="Group 25">
                  <a:extLst>
                    <a:ext uri="{FF2B5EF4-FFF2-40B4-BE49-F238E27FC236}">
                      <a16:creationId xmlns:a16="http://schemas.microsoft.com/office/drawing/2014/main" id="{DB844E33-214B-40CD-97DC-89C4A8426600}"/>
                    </a:ext>
                  </a:extLst>
                </p:cNvPr>
                <p:cNvGrpSpPr>
                  <a:grpSpLocks/>
                </p:cNvGrpSpPr>
                <p:nvPr/>
              </p:nvGrpSpPr>
              <p:grpSpPr bwMode="auto">
                <a:xfrm>
                  <a:off x="1701" y="2205"/>
                  <a:ext cx="72" cy="227"/>
                  <a:chOff x="1565" y="2205"/>
                  <a:chExt cx="72" cy="227"/>
                </a:xfrm>
              </p:grpSpPr>
              <p:sp>
                <p:nvSpPr>
                  <p:cNvPr id="33" name="Line 26">
                    <a:extLst>
                      <a:ext uri="{FF2B5EF4-FFF2-40B4-BE49-F238E27FC236}">
                        <a16:creationId xmlns:a16="http://schemas.microsoft.com/office/drawing/2014/main" id="{649BDDE7-DCCD-463C-B62C-E7A2731EA944}"/>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34" name="Line 27">
                    <a:extLst>
                      <a:ext uri="{FF2B5EF4-FFF2-40B4-BE49-F238E27FC236}">
                        <a16:creationId xmlns:a16="http://schemas.microsoft.com/office/drawing/2014/main" id="{E19E5F25-8F29-42E6-B1AD-8B2DF1D15F69}"/>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nvGrpSpPr>
                <p:cNvPr id="30" name="Group 28">
                  <a:extLst>
                    <a:ext uri="{FF2B5EF4-FFF2-40B4-BE49-F238E27FC236}">
                      <a16:creationId xmlns:a16="http://schemas.microsoft.com/office/drawing/2014/main" id="{26934C36-E738-4215-BA46-2BDC5C1B9B66}"/>
                    </a:ext>
                  </a:extLst>
                </p:cNvPr>
                <p:cNvGrpSpPr>
                  <a:grpSpLocks/>
                </p:cNvGrpSpPr>
                <p:nvPr/>
              </p:nvGrpSpPr>
              <p:grpSpPr bwMode="auto">
                <a:xfrm>
                  <a:off x="1855" y="2205"/>
                  <a:ext cx="72" cy="227"/>
                  <a:chOff x="1565" y="2205"/>
                  <a:chExt cx="72" cy="227"/>
                </a:xfrm>
              </p:grpSpPr>
              <p:sp>
                <p:nvSpPr>
                  <p:cNvPr id="31" name="Line 29">
                    <a:extLst>
                      <a:ext uri="{FF2B5EF4-FFF2-40B4-BE49-F238E27FC236}">
                        <a16:creationId xmlns:a16="http://schemas.microsoft.com/office/drawing/2014/main" id="{401F8563-9134-4239-8170-B3D650E8FA2B}"/>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32" name="Line 30">
                    <a:extLst>
                      <a:ext uri="{FF2B5EF4-FFF2-40B4-BE49-F238E27FC236}">
                        <a16:creationId xmlns:a16="http://schemas.microsoft.com/office/drawing/2014/main" id="{95F9A6E6-C27B-4691-AF77-AC3B336C2666}"/>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grpSp>
            <p:nvGrpSpPr>
              <p:cNvPr id="15" name="Group 35">
                <a:extLst>
                  <a:ext uri="{FF2B5EF4-FFF2-40B4-BE49-F238E27FC236}">
                    <a16:creationId xmlns:a16="http://schemas.microsoft.com/office/drawing/2014/main" id="{D6320F74-1C97-4D97-8CA4-49B4875285E1}"/>
                  </a:ext>
                </a:extLst>
              </p:cNvPr>
              <p:cNvGrpSpPr>
                <a:grpSpLocks/>
              </p:cNvGrpSpPr>
              <p:nvPr/>
            </p:nvGrpSpPr>
            <p:grpSpPr bwMode="auto">
              <a:xfrm>
                <a:off x="2880" y="436"/>
                <a:ext cx="2586" cy="1270"/>
                <a:chOff x="2880" y="436"/>
                <a:chExt cx="2586" cy="1270"/>
              </a:xfrm>
            </p:grpSpPr>
            <p:sp>
              <p:nvSpPr>
                <p:cNvPr id="16" name="Line 6">
                  <a:extLst>
                    <a:ext uri="{FF2B5EF4-FFF2-40B4-BE49-F238E27FC236}">
                      <a16:creationId xmlns:a16="http://schemas.microsoft.com/office/drawing/2014/main" id="{0063867C-882B-483D-9085-57A95A8759F1}"/>
                    </a:ext>
                  </a:extLst>
                </p:cNvPr>
                <p:cNvSpPr>
                  <a:spLocks noChangeShapeType="1"/>
                </p:cNvSpPr>
                <p:nvPr/>
              </p:nvSpPr>
              <p:spPr bwMode="auto">
                <a:xfrm>
                  <a:off x="2880" y="436"/>
                  <a:ext cx="726"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17" name="Line 7">
                  <a:extLst>
                    <a:ext uri="{FF2B5EF4-FFF2-40B4-BE49-F238E27FC236}">
                      <a16:creationId xmlns:a16="http://schemas.microsoft.com/office/drawing/2014/main" id="{76673F70-251E-4D2C-A02C-F26585A6F817}"/>
                    </a:ext>
                  </a:extLst>
                </p:cNvPr>
                <p:cNvSpPr>
                  <a:spLocks noChangeShapeType="1"/>
                </p:cNvSpPr>
                <p:nvPr/>
              </p:nvSpPr>
              <p:spPr bwMode="auto">
                <a:xfrm>
                  <a:off x="2880"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18" name="Line 9">
                  <a:extLst>
                    <a:ext uri="{FF2B5EF4-FFF2-40B4-BE49-F238E27FC236}">
                      <a16:creationId xmlns:a16="http://schemas.microsoft.com/office/drawing/2014/main" id="{0C9DB21C-0A99-43C5-A3DE-ADB112EBD23B}"/>
                    </a:ext>
                  </a:extLst>
                </p:cNvPr>
                <p:cNvSpPr>
                  <a:spLocks noChangeShapeType="1"/>
                </p:cNvSpPr>
                <p:nvPr/>
              </p:nvSpPr>
              <p:spPr bwMode="auto">
                <a:xfrm>
                  <a:off x="4876" y="1117"/>
                  <a:ext cx="58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19" name="Line 10">
                  <a:extLst>
                    <a:ext uri="{FF2B5EF4-FFF2-40B4-BE49-F238E27FC236}">
                      <a16:creationId xmlns:a16="http://schemas.microsoft.com/office/drawing/2014/main" id="{60668FA5-E4C9-41D3-B55D-5E7EA2131636}"/>
                    </a:ext>
                  </a:extLst>
                </p:cNvPr>
                <p:cNvSpPr>
                  <a:spLocks noChangeShapeType="1"/>
                </p:cNvSpPr>
                <p:nvPr/>
              </p:nvSpPr>
              <p:spPr bwMode="auto">
                <a:xfrm>
                  <a:off x="4014" y="1117"/>
                  <a:ext cx="454"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0" name="Line 11">
                  <a:extLst>
                    <a:ext uri="{FF2B5EF4-FFF2-40B4-BE49-F238E27FC236}">
                      <a16:creationId xmlns:a16="http://schemas.microsoft.com/office/drawing/2014/main" id="{5323C983-6241-4227-82B5-0853FF12244C}"/>
                    </a:ext>
                  </a:extLst>
                </p:cNvPr>
                <p:cNvSpPr>
                  <a:spLocks noChangeShapeType="1"/>
                </p:cNvSpPr>
                <p:nvPr/>
              </p:nvSpPr>
              <p:spPr bwMode="auto">
                <a:xfrm>
                  <a:off x="2880" y="1117"/>
                  <a:ext cx="771"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1" name="Line 12">
                  <a:extLst>
                    <a:ext uri="{FF2B5EF4-FFF2-40B4-BE49-F238E27FC236}">
                      <a16:creationId xmlns:a16="http://schemas.microsoft.com/office/drawing/2014/main" id="{B63C8ECD-15BC-4354-A83F-57CCCB6E4AB9}"/>
                    </a:ext>
                  </a:extLst>
                </p:cNvPr>
                <p:cNvSpPr>
                  <a:spLocks noChangeShapeType="1"/>
                </p:cNvSpPr>
                <p:nvPr/>
              </p:nvSpPr>
              <p:spPr bwMode="auto">
                <a:xfrm>
                  <a:off x="4876" y="1706"/>
                  <a:ext cx="589"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2" name="Line 13">
                  <a:extLst>
                    <a:ext uri="{FF2B5EF4-FFF2-40B4-BE49-F238E27FC236}">
                      <a16:creationId xmlns:a16="http://schemas.microsoft.com/office/drawing/2014/main" id="{9A8B27E9-F4BC-44ED-8A98-139B753CD8B6}"/>
                    </a:ext>
                  </a:extLst>
                </p:cNvPr>
                <p:cNvSpPr>
                  <a:spLocks noChangeShapeType="1"/>
                </p:cNvSpPr>
                <p:nvPr/>
              </p:nvSpPr>
              <p:spPr bwMode="auto">
                <a:xfrm>
                  <a:off x="2880" y="1706"/>
                  <a:ext cx="1588"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3" name="Line 14">
                  <a:extLst>
                    <a:ext uri="{FF2B5EF4-FFF2-40B4-BE49-F238E27FC236}">
                      <a16:creationId xmlns:a16="http://schemas.microsoft.com/office/drawing/2014/main" id="{68BC55E4-7D92-4258-8EDE-3967636D03CA}"/>
                    </a:ext>
                  </a:extLst>
                </p:cNvPr>
                <p:cNvSpPr>
                  <a:spLocks noChangeShapeType="1"/>
                </p:cNvSpPr>
                <p:nvPr/>
              </p:nvSpPr>
              <p:spPr bwMode="auto">
                <a:xfrm>
                  <a:off x="4967" y="436"/>
                  <a:ext cx="49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4" name="Line 15">
                  <a:extLst>
                    <a:ext uri="{FF2B5EF4-FFF2-40B4-BE49-F238E27FC236}">
                      <a16:creationId xmlns:a16="http://schemas.microsoft.com/office/drawing/2014/main" id="{3EF122F9-48FE-4E29-ABC2-219BA2EEB009}"/>
                    </a:ext>
                  </a:extLst>
                </p:cNvPr>
                <p:cNvSpPr>
                  <a:spLocks noChangeShapeType="1"/>
                </p:cNvSpPr>
                <p:nvPr/>
              </p:nvSpPr>
              <p:spPr bwMode="auto">
                <a:xfrm>
                  <a:off x="4014" y="436"/>
                  <a:ext cx="590"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5" name="Line 32">
                  <a:extLst>
                    <a:ext uri="{FF2B5EF4-FFF2-40B4-BE49-F238E27FC236}">
                      <a16:creationId xmlns:a16="http://schemas.microsoft.com/office/drawing/2014/main" id="{CCFFF3E4-6CA5-4E0C-870E-9A6244823E47}"/>
                    </a:ext>
                  </a:extLst>
                </p:cNvPr>
                <p:cNvSpPr>
                  <a:spLocks noChangeShapeType="1"/>
                </p:cNvSpPr>
                <p:nvPr/>
              </p:nvSpPr>
              <p:spPr bwMode="auto">
                <a:xfrm>
                  <a:off x="5465"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7" name="Line 34">
                  <a:extLst>
                    <a:ext uri="{FF2B5EF4-FFF2-40B4-BE49-F238E27FC236}">
                      <a16:creationId xmlns:a16="http://schemas.microsoft.com/office/drawing/2014/main" id="{7B2A6986-59CB-42FE-ACCD-A13B4FF67010}"/>
                    </a:ext>
                  </a:extLst>
                </p:cNvPr>
                <p:cNvSpPr>
                  <a:spLocks noChangeShapeType="1"/>
                </p:cNvSpPr>
                <p:nvPr/>
              </p:nvSpPr>
              <p:spPr bwMode="auto">
                <a:xfrm>
                  <a:off x="4468" y="1479"/>
                  <a:ext cx="408" cy="227"/>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mc:AlternateContent xmlns:mc="http://schemas.openxmlformats.org/markup-compatibility/2006" xmlns:a14="http://schemas.microsoft.com/office/drawing/2010/main">
          <mc:Choice Requires="a14">
            <p:sp>
              <p:nvSpPr>
                <p:cNvPr id="7" name="Object 8">
                  <a:extLst>
                    <a:ext uri="{FF2B5EF4-FFF2-40B4-BE49-F238E27FC236}">
                      <a16:creationId xmlns:a16="http://schemas.microsoft.com/office/drawing/2014/main" id="{D42EE756-5308-49AB-8B23-2ED64FC6D019}"/>
                    </a:ext>
                  </a:extLst>
                </p:cNvPr>
                <p:cNvSpPr txBox="1"/>
                <p:nvPr/>
              </p:nvSpPr>
              <p:spPr bwMode="auto">
                <a:xfrm>
                  <a:off x="3714" y="1167"/>
                  <a:ext cx="299" cy="33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𝜀</m:t>
                        </m:r>
                      </m:oMath>
                    </m:oMathPara>
                  </a14:m>
                  <a:endParaRPr lang="en-US" sz="2400" dirty="0"/>
                </a:p>
              </p:txBody>
            </p:sp>
          </mc:Choice>
          <mc:Fallback xmlns="">
            <p:sp>
              <p:nvSpPr>
                <p:cNvPr id="7" name="Object 8">
                  <a:extLst>
                    <a:ext uri="{FF2B5EF4-FFF2-40B4-BE49-F238E27FC236}">
                      <a16:creationId xmlns:a16="http://schemas.microsoft.com/office/drawing/2014/main" id="{D42EE756-5308-49AB-8B23-2ED64FC6D019}"/>
                    </a:ext>
                  </a:extLst>
                </p:cNvPr>
                <p:cNvSpPr txBox="1">
                  <a:spLocks noRot="1" noChangeAspect="1" noMove="1" noResize="1" noEditPoints="1" noAdjustHandles="1" noChangeArrowheads="1" noChangeShapeType="1" noTextEdit="1"/>
                </p:cNvSpPr>
                <p:nvPr/>
              </p:nvSpPr>
              <p:spPr bwMode="auto">
                <a:xfrm>
                  <a:off x="3714" y="1167"/>
                  <a:ext cx="299" cy="331"/>
                </a:xfrm>
                <a:prstGeom prst="rect">
                  <a:avLst/>
                </a:prstGeom>
                <a:blipFill>
                  <a:blip r:embed="rId2"/>
                  <a:stretch>
                    <a:fillRect b="-7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9">
                  <a:extLst>
                    <a:ext uri="{FF2B5EF4-FFF2-40B4-BE49-F238E27FC236}">
                      <a16:creationId xmlns:a16="http://schemas.microsoft.com/office/drawing/2014/main" id="{C5A7B6AE-5C2B-48E4-866A-1E955A50C7D2}"/>
                    </a:ext>
                  </a:extLst>
                </p:cNvPr>
                <p:cNvSpPr txBox="1"/>
                <p:nvPr/>
              </p:nvSpPr>
              <p:spPr bwMode="auto">
                <a:xfrm>
                  <a:off x="3665" y="474"/>
                  <a:ext cx="213" cy="21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𝑅</m:t>
                        </m:r>
                      </m:oMath>
                    </m:oMathPara>
                  </a14:m>
                  <a:endParaRPr lang="en-US" sz="2400" dirty="0"/>
                </a:p>
              </p:txBody>
            </p:sp>
          </mc:Choice>
          <mc:Fallback xmlns="">
            <p:sp>
              <p:nvSpPr>
                <p:cNvPr id="8" name="Object 9">
                  <a:extLst>
                    <a:ext uri="{FF2B5EF4-FFF2-40B4-BE49-F238E27FC236}">
                      <a16:creationId xmlns:a16="http://schemas.microsoft.com/office/drawing/2014/main" id="{C5A7B6AE-5C2B-48E4-866A-1E955A50C7D2}"/>
                    </a:ext>
                  </a:extLst>
                </p:cNvPr>
                <p:cNvSpPr txBox="1">
                  <a:spLocks noRot="1" noChangeAspect="1" noMove="1" noResize="1" noEditPoints="1" noAdjustHandles="1" noChangeArrowheads="1" noChangeShapeType="1" noTextEdit="1"/>
                </p:cNvSpPr>
                <p:nvPr/>
              </p:nvSpPr>
              <p:spPr bwMode="auto">
                <a:xfrm>
                  <a:off x="3665" y="474"/>
                  <a:ext cx="213" cy="215"/>
                </a:xfrm>
                <a:prstGeom prst="rect">
                  <a:avLst/>
                </a:prstGeom>
                <a:blipFill>
                  <a:blip r:embed="rId3"/>
                  <a:stretch>
                    <a:fillRect l="-4348" r="-41304" b="-780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10">
                  <a:extLst>
                    <a:ext uri="{FF2B5EF4-FFF2-40B4-BE49-F238E27FC236}">
                      <a16:creationId xmlns:a16="http://schemas.microsoft.com/office/drawing/2014/main" id="{9A7106A0-2027-456E-974E-C7E94F6304BC}"/>
                    </a:ext>
                  </a:extLst>
                </p:cNvPr>
                <p:cNvSpPr txBox="1"/>
                <p:nvPr/>
              </p:nvSpPr>
              <p:spPr bwMode="auto">
                <a:xfrm>
                  <a:off x="4694" y="453"/>
                  <a:ext cx="213" cy="21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𝐿</m:t>
                        </m:r>
                      </m:oMath>
                    </m:oMathPara>
                  </a14:m>
                  <a:endParaRPr lang="en-US" sz="2400" dirty="0"/>
                </a:p>
              </p:txBody>
            </p:sp>
          </mc:Choice>
          <mc:Fallback xmlns="">
            <p:sp>
              <p:nvSpPr>
                <p:cNvPr id="9" name="Object 10">
                  <a:extLst>
                    <a:ext uri="{FF2B5EF4-FFF2-40B4-BE49-F238E27FC236}">
                      <a16:creationId xmlns:a16="http://schemas.microsoft.com/office/drawing/2014/main" id="{9A7106A0-2027-456E-974E-C7E94F6304BC}"/>
                    </a:ext>
                  </a:extLst>
                </p:cNvPr>
                <p:cNvSpPr txBox="1">
                  <a:spLocks noRot="1" noChangeAspect="1" noMove="1" noResize="1" noEditPoints="1" noAdjustHandles="1" noChangeArrowheads="1" noChangeShapeType="1" noTextEdit="1"/>
                </p:cNvSpPr>
                <p:nvPr/>
              </p:nvSpPr>
              <p:spPr bwMode="auto">
                <a:xfrm>
                  <a:off x="4694" y="453"/>
                  <a:ext cx="213" cy="215"/>
                </a:xfrm>
                <a:prstGeom prst="rect">
                  <a:avLst/>
                </a:prstGeom>
                <a:blipFill>
                  <a:blip r:embed="rId4"/>
                  <a:stretch>
                    <a:fillRect l="-4348" r="-30435" b="-780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11">
                  <a:extLst>
                    <a:ext uri="{FF2B5EF4-FFF2-40B4-BE49-F238E27FC236}">
                      <a16:creationId xmlns:a16="http://schemas.microsoft.com/office/drawing/2014/main" id="{57EB84A9-2727-4731-ACEF-34F0551DA34C}"/>
                    </a:ext>
                  </a:extLst>
                </p:cNvPr>
                <p:cNvSpPr txBox="1"/>
                <p:nvPr/>
              </p:nvSpPr>
              <p:spPr bwMode="auto">
                <a:xfrm>
                  <a:off x="4656" y="749"/>
                  <a:ext cx="250" cy="32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10" name="Object 11">
                  <a:extLst>
                    <a:ext uri="{FF2B5EF4-FFF2-40B4-BE49-F238E27FC236}">
                      <a16:creationId xmlns:a16="http://schemas.microsoft.com/office/drawing/2014/main" id="{57EB84A9-2727-4731-ACEF-34F0551DA34C}"/>
                    </a:ext>
                  </a:extLst>
                </p:cNvPr>
                <p:cNvSpPr txBox="1">
                  <a:spLocks noRot="1" noChangeAspect="1" noMove="1" noResize="1" noEditPoints="1" noAdjustHandles="1" noChangeArrowheads="1" noChangeShapeType="1" noTextEdit="1"/>
                </p:cNvSpPr>
                <p:nvPr/>
              </p:nvSpPr>
              <p:spPr bwMode="auto">
                <a:xfrm>
                  <a:off x="4656" y="749"/>
                  <a:ext cx="250" cy="323"/>
                </a:xfrm>
                <a:prstGeom prst="rect">
                  <a:avLst/>
                </a:prstGeom>
                <a:blipFill>
                  <a:blip r:embed="rId5"/>
                  <a:stretch>
                    <a:fillRect r="-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2">
                  <a:extLst>
                    <a:ext uri="{FF2B5EF4-FFF2-40B4-BE49-F238E27FC236}">
                      <a16:creationId xmlns:a16="http://schemas.microsoft.com/office/drawing/2014/main" id="{7C943582-1280-4845-8EE3-E068468FAC98}"/>
                    </a:ext>
                  </a:extLst>
                </p:cNvPr>
                <p:cNvSpPr txBox="1"/>
                <p:nvPr/>
              </p:nvSpPr>
              <p:spPr bwMode="auto">
                <a:xfrm>
                  <a:off x="4631" y="1301"/>
                  <a:ext cx="250" cy="32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11" name="Object 12">
                  <a:extLst>
                    <a:ext uri="{FF2B5EF4-FFF2-40B4-BE49-F238E27FC236}">
                      <a16:creationId xmlns:a16="http://schemas.microsoft.com/office/drawing/2014/main" id="{7C943582-1280-4845-8EE3-E068468FAC98}"/>
                    </a:ext>
                  </a:extLst>
                </p:cNvPr>
                <p:cNvSpPr txBox="1">
                  <a:spLocks noRot="1" noChangeAspect="1" noMove="1" noResize="1" noEditPoints="1" noAdjustHandles="1" noChangeArrowheads="1" noChangeShapeType="1" noTextEdit="1"/>
                </p:cNvSpPr>
                <p:nvPr/>
              </p:nvSpPr>
              <p:spPr bwMode="auto">
                <a:xfrm>
                  <a:off x="4631" y="1301"/>
                  <a:ext cx="250" cy="322"/>
                </a:xfrm>
                <a:prstGeom prst="rect">
                  <a:avLst/>
                </a:prstGeom>
                <a:blipFill>
                  <a:blip r:embed="rId6"/>
                  <a:stretch>
                    <a:fillRect r="-943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1" name="Text Box 43">
                <a:extLst>
                  <a:ext uri="{FF2B5EF4-FFF2-40B4-BE49-F238E27FC236}">
                    <a16:creationId xmlns:a16="http://schemas.microsoft.com/office/drawing/2014/main" id="{3726AB47-D8A4-4EE0-8BF1-2368CF0DE101}"/>
                  </a:ext>
                </a:extLst>
              </p:cNvPr>
              <p:cNvSpPr txBox="1">
                <a:spLocks noChangeArrowheads="1"/>
              </p:cNvSpPr>
              <p:nvPr/>
            </p:nvSpPr>
            <p:spPr bwMode="auto">
              <a:xfrm>
                <a:off x="667318" y="970592"/>
                <a:ext cx="4468207" cy="592278"/>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25000"/>
                  </a:lnSpc>
                  <a:spcBef>
                    <a:spcPct val="50000"/>
                  </a:spcBef>
                </a:pPr>
                <a:r>
                  <a:rPr lang="en-US" altLang="zh-CN" sz="2800" b="0" u="none" dirty="0">
                    <a:solidFill>
                      <a:schemeClr val="tx1"/>
                    </a:solidFill>
                    <a:ea typeface="黑体" panose="02010609060101010101" pitchFamily="49" charset="-122"/>
                  </a:rPr>
                  <a:t>- </a:t>
                </a:r>
                <a14:m>
                  <m:oMath xmlns:m="http://schemas.openxmlformats.org/officeDocument/2006/math">
                    <m:r>
                      <a:rPr lang="en-US" altLang="zh-CN" sz="2800" b="0" i="1" u="none" dirty="0">
                        <a:solidFill>
                          <a:schemeClr val="tx1"/>
                        </a:solidFill>
                        <a:latin typeface="Cambria Math" panose="02040503050406030204" pitchFamily="18" charset="0"/>
                        <a:ea typeface="黑体" panose="02010609060101010101" pitchFamily="49" charset="-122"/>
                      </a:rPr>
                      <m:t>𝑆</m:t>
                    </m:r>
                    <m:r>
                      <a:rPr lang="en-US" altLang="zh-CN" sz="2800" b="0" i="1" u="none" baseline="-25000" dirty="0">
                        <a:solidFill>
                          <a:schemeClr val="tx1"/>
                        </a:solidFill>
                        <a:latin typeface="Cambria Math" panose="02040503050406030204" pitchFamily="18" charset="0"/>
                        <a:ea typeface="黑体" panose="02010609060101010101" pitchFamily="49" charset="-122"/>
                      </a:rPr>
                      <m:t>2</m:t>
                    </m:r>
                  </m:oMath>
                </a14:m>
                <a:r>
                  <a:rPr lang="zh-CN" altLang="en-US" sz="2800" b="0" i="0" u="none" dirty="0">
                    <a:solidFill>
                      <a:schemeClr val="tx1"/>
                    </a:solidFill>
                    <a:latin typeface="华文楷体" panose="02010600040101010101" pitchFamily="2" charset="-122"/>
                    <a:ea typeface="华文楷体" panose="02010600040101010101" pitchFamily="2" charset="-122"/>
                  </a:rPr>
                  <a:t>断开，</a:t>
                </a:r>
                <a14:m>
                  <m:oMath xmlns:m="http://schemas.openxmlformats.org/officeDocument/2006/math">
                    <m:r>
                      <a:rPr lang="en-US" altLang="zh-CN" sz="2800" b="0" i="1" u="none" dirty="0">
                        <a:solidFill>
                          <a:schemeClr val="tx1"/>
                        </a:solidFill>
                        <a:latin typeface="Cambria Math" panose="02040503050406030204" pitchFamily="18" charset="0"/>
                        <a:ea typeface="黑体" panose="02010609060101010101" pitchFamily="49" charset="-122"/>
                      </a:rPr>
                      <m:t>𝑆</m:t>
                    </m:r>
                    <m:r>
                      <a:rPr lang="en-US" altLang="zh-CN" sz="2800" b="0" i="1" u="none" baseline="-25000" dirty="0">
                        <a:solidFill>
                          <a:schemeClr val="tx1"/>
                        </a:solidFill>
                        <a:latin typeface="Cambria Math" panose="02040503050406030204" pitchFamily="18" charset="0"/>
                        <a:ea typeface="黑体" panose="02010609060101010101" pitchFamily="49" charset="-122"/>
                      </a:rPr>
                      <m:t>1</m:t>
                    </m:r>
                  </m:oMath>
                </a14:m>
                <a:r>
                  <a:rPr lang="zh-CN" altLang="en-US" sz="2800" b="0" i="0" u="none" dirty="0">
                    <a:solidFill>
                      <a:schemeClr val="tx1"/>
                    </a:solidFill>
                    <a:latin typeface="华文楷体" panose="02010600040101010101" pitchFamily="2" charset="-122"/>
                    <a:ea typeface="华文楷体" panose="02010600040101010101" pitchFamily="2" charset="-122"/>
                  </a:rPr>
                  <a:t>闭合时</a:t>
                </a:r>
                <a:endParaRPr lang="zh-CN" altLang="en-US" sz="2800" b="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41" name="Text Box 43">
                <a:extLst>
                  <a:ext uri="{FF2B5EF4-FFF2-40B4-BE49-F238E27FC236}">
                    <a16:creationId xmlns:a16="http://schemas.microsoft.com/office/drawing/2014/main" id="{3726AB47-D8A4-4EE0-8BF1-2368CF0DE101}"/>
                  </a:ext>
                </a:extLst>
              </p:cNvPr>
              <p:cNvSpPr txBox="1">
                <a:spLocks noRot="1" noChangeAspect="1" noMove="1" noResize="1" noEditPoints="1" noAdjustHandles="1" noChangeArrowheads="1" noChangeShapeType="1" noTextEdit="1"/>
              </p:cNvSpPr>
              <p:nvPr/>
            </p:nvSpPr>
            <p:spPr bwMode="auto">
              <a:xfrm>
                <a:off x="667318" y="970592"/>
                <a:ext cx="4468207" cy="592278"/>
              </a:xfrm>
              <a:prstGeom prst="rect">
                <a:avLst/>
              </a:prstGeom>
              <a:blipFill>
                <a:blip r:embed="rId7"/>
                <a:stretch>
                  <a:fillRect l="-2729" t="-1031" b="-2886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E1F4E49A-B2EF-4530-9F40-C201AABA3646}"/>
                  </a:ext>
                </a:extLst>
              </p:cNvPr>
              <p:cNvSpPr txBox="1"/>
              <p:nvPr/>
            </p:nvSpPr>
            <p:spPr>
              <a:xfrm>
                <a:off x="1027873" y="3052465"/>
                <a:ext cx="6956978" cy="492443"/>
              </a:xfrm>
              <a:prstGeom prst="rect">
                <a:avLst/>
              </a:prstGeom>
              <a:noFill/>
            </p:spPr>
            <p:txBody>
              <a:bodyPr wrap="square">
                <a:spAutoFit/>
              </a:bodyPr>
              <a:lstStyle/>
              <a:p>
                <a:r>
                  <a:rPr lang="zh-CN" altLang="en-US" sz="2600" i="0" u="none" dirty="0">
                    <a:solidFill>
                      <a:schemeClr val="tx1"/>
                    </a:solidFill>
                    <a:latin typeface="华文楷体" panose="02010600040101010101" pitchFamily="2" charset="-122"/>
                    <a:ea typeface="华文楷体" panose="02010600040101010101" pitchFamily="2" charset="-122"/>
                  </a:rPr>
                  <a:t>设某瞬时电路中的电流为</a:t>
                </a:r>
                <a14:m>
                  <m:oMath xmlns:m="http://schemas.openxmlformats.org/officeDocument/2006/math">
                    <m:r>
                      <a:rPr lang="en-US" altLang="zh-CN" sz="2600" b="0" i="1" u="none" dirty="0">
                        <a:solidFill>
                          <a:schemeClr val="tx1"/>
                        </a:solidFill>
                        <a:latin typeface="Cambria Math" panose="02040503050406030204" pitchFamily="18" charset="0"/>
                        <a:ea typeface="黑体" panose="02010609060101010101" pitchFamily="49" charset="-122"/>
                      </a:rPr>
                      <m:t>𝐼</m:t>
                    </m:r>
                  </m:oMath>
                </a14:m>
                <a:r>
                  <a:rPr lang="zh-CN" altLang="en-US" sz="2600" i="0" u="none" dirty="0">
                    <a:solidFill>
                      <a:schemeClr val="tx1"/>
                    </a:solidFill>
                    <a:latin typeface="华文楷体" panose="02010600040101010101" pitchFamily="2" charset="-122"/>
                    <a:ea typeface="华文楷体" panose="02010600040101010101" pitchFamily="2" charset="-122"/>
                  </a:rPr>
                  <a:t>，由欧姆定律得</a:t>
                </a:r>
                <a:endParaRPr lang="zh-CN" altLang="en-US" sz="2600" dirty="0">
                  <a:solidFill>
                    <a:schemeClr val="tx1"/>
                  </a:solidFill>
                </a:endParaRPr>
              </a:p>
            </p:txBody>
          </p:sp>
        </mc:Choice>
        <mc:Fallback xmlns="">
          <p:sp>
            <p:nvSpPr>
              <p:cNvPr id="43" name="文本框 42">
                <a:extLst>
                  <a:ext uri="{FF2B5EF4-FFF2-40B4-BE49-F238E27FC236}">
                    <a16:creationId xmlns:a16="http://schemas.microsoft.com/office/drawing/2014/main" id="{E1F4E49A-B2EF-4530-9F40-C201AABA3646}"/>
                  </a:ext>
                </a:extLst>
              </p:cNvPr>
              <p:cNvSpPr txBox="1">
                <a:spLocks noRot="1" noChangeAspect="1" noMove="1" noResize="1" noEditPoints="1" noAdjustHandles="1" noChangeArrowheads="1" noChangeShapeType="1" noTextEdit="1"/>
              </p:cNvSpPr>
              <p:nvPr/>
            </p:nvSpPr>
            <p:spPr>
              <a:xfrm>
                <a:off x="1027873" y="3052465"/>
                <a:ext cx="6956978" cy="492443"/>
              </a:xfrm>
              <a:prstGeom prst="rect">
                <a:avLst/>
              </a:prstGeom>
              <a:blipFill>
                <a:blip r:embed="rId8"/>
                <a:stretch>
                  <a:fillRect l="-1578" t="-12346" b="-296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9A770BED-0477-4488-A82A-D4EC66794762}"/>
                  </a:ext>
                </a:extLst>
              </p:cNvPr>
              <p:cNvSpPr txBox="1"/>
              <p:nvPr/>
            </p:nvSpPr>
            <p:spPr>
              <a:xfrm>
                <a:off x="1123080" y="1831075"/>
                <a:ext cx="6956978" cy="492443"/>
              </a:xfrm>
              <a:prstGeom prst="rect">
                <a:avLst/>
              </a:prstGeom>
              <a:noFill/>
            </p:spPr>
            <p:txBody>
              <a:bodyPr wrap="square">
                <a:spAutoFit/>
              </a:bodyPr>
              <a:lstStyle/>
              <a:p>
                <a14:m>
                  <m:oMath xmlns:m="http://schemas.openxmlformats.org/officeDocument/2006/math">
                    <m:r>
                      <a:rPr lang="en-US" altLang="zh-CN" sz="2600" b="0" i="1" u="none" dirty="0" smtClean="0">
                        <a:solidFill>
                          <a:schemeClr val="tx1"/>
                        </a:solidFill>
                        <a:latin typeface="Cambria Math" panose="02040503050406030204" pitchFamily="18" charset="0"/>
                        <a:ea typeface="黑体" panose="02010609060101010101" pitchFamily="49" charset="-122"/>
                      </a:rPr>
                      <m:t>𝑅𝐿</m:t>
                    </m:r>
                  </m:oMath>
                </a14:m>
                <a:r>
                  <a:rPr lang="zh-CN" altLang="en-US" sz="2600" i="0" u="none" dirty="0">
                    <a:solidFill>
                      <a:schemeClr val="tx1"/>
                    </a:solidFill>
                    <a:latin typeface="华文楷体" panose="02010600040101010101" pitchFamily="2" charset="-122"/>
                    <a:ea typeface="华文楷体" panose="02010600040101010101" pitchFamily="2" charset="-122"/>
                  </a:rPr>
                  <a:t>电路中电流增大过程中出现自感电动势</a:t>
                </a:r>
                <a:endParaRPr lang="zh-CN" altLang="en-US" sz="2600" dirty="0">
                  <a:solidFill>
                    <a:schemeClr val="tx1"/>
                  </a:solidFill>
                </a:endParaRPr>
              </a:p>
            </p:txBody>
          </p:sp>
        </mc:Choice>
        <mc:Fallback xmlns="">
          <p:sp>
            <p:nvSpPr>
              <p:cNvPr id="45" name="文本框 44">
                <a:extLst>
                  <a:ext uri="{FF2B5EF4-FFF2-40B4-BE49-F238E27FC236}">
                    <a16:creationId xmlns:a16="http://schemas.microsoft.com/office/drawing/2014/main" id="{9A770BED-0477-4488-A82A-D4EC66794762}"/>
                  </a:ext>
                </a:extLst>
              </p:cNvPr>
              <p:cNvSpPr txBox="1">
                <a:spLocks noRot="1" noChangeAspect="1" noMove="1" noResize="1" noEditPoints="1" noAdjustHandles="1" noChangeArrowheads="1" noChangeShapeType="1" noTextEdit="1"/>
              </p:cNvSpPr>
              <p:nvPr/>
            </p:nvSpPr>
            <p:spPr>
              <a:xfrm>
                <a:off x="1123080" y="1831075"/>
                <a:ext cx="6956978" cy="492443"/>
              </a:xfrm>
              <a:prstGeom prst="rect">
                <a:avLst/>
              </a:prstGeom>
              <a:blipFill>
                <a:blip r:embed="rId9"/>
                <a:stretch>
                  <a:fillRect t="-11111" b="-30864"/>
                </a:stretch>
              </a:blipFill>
            </p:spPr>
            <p:txBody>
              <a:bodyPr/>
              <a:lstStyle/>
              <a:p>
                <a:r>
                  <a:rPr lang="zh-CN" altLang="en-US">
                    <a:noFill/>
                  </a:rPr>
                  <a:t> </a:t>
                </a:r>
              </a:p>
            </p:txBody>
          </p:sp>
        </mc:Fallback>
      </mc:AlternateContent>
      <p:sp>
        <p:nvSpPr>
          <p:cNvPr id="47" name="文本框 46">
            <a:extLst>
              <a:ext uri="{FF2B5EF4-FFF2-40B4-BE49-F238E27FC236}">
                <a16:creationId xmlns:a16="http://schemas.microsoft.com/office/drawing/2014/main" id="{70764EB2-C68A-4B33-8789-3E4CD1B19FB8}"/>
              </a:ext>
            </a:extLst>
          </p:cNvPr>
          <p:cNvSpPr txBox="1"/>
          <p:nvPr/>
        </p:nvSpPr>
        <p:spPr>
          <a:xfrm>
            <a:off x="1027873" y="2441770"/>
            <a:ext cx="6956978" cy="492443"/>
          </a:xfrm>
          <a:prstGeom prst="rect">
            <a:avLst/>
          </a:prstGeom>
          <a:noFill/>
        </p:spPr>
        <p:txBody>
          <a:bodyPr wrap="square">
            <a:spAutoFit/>
          </a:bodyPr>
          <a:lstStyle/>
          <a:p>
            <a:r>
              <a:rPr lang="zh-CN" altLang="en-US" sz="2600" i="0" u="none" dirty="0">
                <a:latin typeface="华文楷体" panose="02010600040101010101" pitchFamily="2" charset="-122"/>
                <a:ea typeface="华文楷体" panose="02010600040101010101" pitchFamily="2" charset="-122"/>
              </a:rPr>
              <a:t>它与电源电动势共同决定电路中的电流大小</a:t>
            </a:r>
            <a:endParaRPr lang="zh-CN" altLang="en-US" sz="2600" dirty="0"/>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6F2D069E-7D48-4419-8AE5-6F6C5B8C5326}"/>
                  </a:ext>
                </a:extLst>
              </p:cNvPr>
              <p:cNvSpPr txBox="1"/>
              <p:nvPr/>
            </p:nvSpPr>
            <p:spPr>
              <a:xfrm>
                <a:off x="2491123" y="3721713"/>
                <a:ext cx="2236703" cy="8184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800" b="0" i="1" smtClean="0">
                          <a:solidFill>
                            <a:schemeClr val="tx1"/>
                          </a:solidFill>
                          <a:latin typeface="Cambria Math" panose="02040503050406030204" pitchFamily="18" charset="0"/>
                        </a:rPr>
                        <m:t>𝜀</m:t>
                      </m:r>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𝐿</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𝑑𝐼</m:t>
                          </m:r>
                        </m:num>
                        <m:den>
                          <m:r>
                            <a:rPr lang="en-US" altLang="zh-CN" sz="2800" b="0" i="1">
                              <a:solidFill>
                                <a:schemeClr val="tx1"/>
                              </a:solidFill>
                              <a:latin typeface="Cambria Math" panose="02040503050406030204" pitchFamily="18" charset="0"/>
                            </a:rPr>
                            <m:t>𝑑𝑡</m:t>
                          </m:r>
                        </m:den>
                      </m:f>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𝐼𝑅</m:t>
                      </m:r>
                    </m:oMath>
                  </m:oMathPara>
                </a14:m>
                <a:endParaRPr lang="zh-CN" altLang="en-US" sz="2800" dirty="0">
                  <a:solidFill>
                    <a:schemeClr val="tx1"/>
                  </a:solidFill>
                </a:endParaRPr>
              </a:p>
            </p:txBody>
          </p:sp>
        </mc:Choice>
        <mc:Fallback xmlns="">
          <p:sp>
            <p:nvSpPr>
              <p:cNvPr id="48" name="文本框 47">
                <a:extLst>
                  <a:ext uri="{FF2B5EF4-FFF2-40B4-BE49-F238E27FC236}">
                    <a16:creationId xmlns:a16="http://schemas.microsoft.com/office/drawing/2014/main" id="{6F2D069E-7D48-4419-8AE5-6F6C5B8C5326}"/>
                  </a:ext>
                </a:extLst>
              </p:cNvPr>
              <p:cNvSpPr txBox="1">
                <a:spLocks noRot="1" noChangeAspect="1" noMove="1" noResize="1" noEditPoints="1" noAdjustHandles="1" noChangeArrowheads="1" noChangeShapeType="1" noTextEdit="1"/>
              </p:cNvSpPr>
              <p:nvPr/>
            </p:nvSpPr>
            <p:spPr>
              <a:xfrm>
                <a:off x="2491123" y="3721713"/>
                <a:ext cx="2236703" cy="81842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3F2703B3-ACFC-4C96-BB46-5BC072931CBF}"/>
                  </a:ext>
                </a:extLst>
              </p:cNvPr>
              <p:cNvSpPr txBox="1"/>
              <p:nvPr/>
            </p:nvSpPr>
            <p:spPr>
              <a:xfrm>
                <a:off x="2379373" y="5090520"/>
                <a:ext cx="2756152" cy="10977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800" i="1" smtClean="0">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𝑑𝐼</m:t>
                          </m:r>
                        </m:num>
                        <m:den>
                          <m:f>
                            <m:fPr>
                              <m:ctrlPr>
                                <a:rPr lang="en-US" altLang="zh-CN"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𝜀</m:t>
                              </m:r>
                            </m:num>
                            <m:den>
                              <m:r>
                                <a:rPr lang="en-US" altLang="zh-CN" sz="2800" b="0" i="1">
                                  <a:solidFill>
                                    <a:schemeClr val="tx1"/>
                                  </a:solidFill>
                                  <a:latin typeface="Cambria Math" panose="02040503050406030204" pitchFamily="18" charset="0"/>
                                </a:rPr>
                                <m:t>𝑅</m:t>
                              </m:r>
                            </m:den>
                          </m:f>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𝐼</m:t>
                          </m:r>
                        </m:den>
                      </m:f>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𝑅</m:t>
                          </m:r>
                        </m:num>
                        <m:den>
                          <m:r>
                            <a:rPr lang="en-US" altLang="zh-CN" sz="2800" b="0" i="1">
                              <a:solidFill>
                                <a:schemeClr val="tx1"/>
                              </a:solidFill>
                              <a:latin typeface="Cambria Math" panose="02040503050406030204" pitchFamily="18" charset="0"/>
                            </a:rPr>
                            <m:t>𝐿</m:t>
                          </m:r>
                        </m:den>
                      </m:f>
                      <m:r>
                        <a:rPr lang="en-US" altLang="zh-CN" sz="2800" b="0" i="1">
                          <a:solidFill>
                            <a:schemeClr val="tx1"/>
                          </a:solidFill>
                          <a:latin typeface="Cambria Math" panose="02040503050406030204" pitchFamily="18" charset="0"/>
                        </a:rPr>
                        <m:t>𝑑𝑡</m:t>
                      </m:r>
                    </m:oMath>
                  </m:oMathPara>
                </a14:m>
                <a:endParaRPr lang="en-US" altLang="zh-CN" sz="2800" dirty="0">
                  <a:solidFill>
                    <a:schemeClr val="tx1"/>
                  </a:solidFill>
                </a:endParaRPr>
              </a:p>
            </p:txBody>
          </p:sp>
        </mc:Choice>
        <mc:Fallback xmlns="">
          <p:sp>
            <p:nvSpPr>
              <p:cNvPr id="49" name="文本框 48">
                <a:extLst>
                  <a:ext uri="{FF2B5EF4-FFF2-40B4-BE49-F238E27FC236}">
                    <a16:creationId xmlns:a16="http://schemas.microsoft.com/office/drawing/2014/main" id="{3F2703B3-ACFC-4C96-BB46-5BC072931CBF}"/>
                  </a:ext>
                </a:extLst>
              </p:cNvPr>
              <p:cNvSpPr txBox="1">
                <a:spLocks noRot="1" noChangeAspect="1" noMove="1" noResize="1" noEditPoints="1" noAdjustHandles="1" noChangeArrowheads="1" noChangeShapeType="1" noTextEdit="1"/>
              </p:cNvSpPr>
              <p:nvPr/>
            </p:nvSpPr>
            <p:spPr>
              <a:xfrm>
                <a:off x="2379373" y="5090520"/>
                <a:ext cx="2756152" cy="109773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EDC2E0A3-4BF7-4A29-B195-79237795C2E5}"/>
                  </a:ext>
                </a:extLst>
              </p:cNvPr>
              <p:cNvSpPr txBox="1"/>
              <p:nvPr/>
            </p:nvSpPr>
            <p:spPr>
              <a:xfrm>
                <a:off x="6790176" y="3603304"/>
                <a:ext cx="3603835" cy="115768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trlPr>
                            <a:rPr lang="en-US" altLang="zh-CN" sz="2800" i="1" smtClean="0">
                              <a:solidFill>
                                <a:schemeClr val="tx1"/>
                              </a:solidFill>
                              <a:latin typeface="Cambria Math" panose="02040503050406030204" pitchFamily="18" charset="0"/>
                              <a:ea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ea typeface="Cambria Math" panose="02040503050406030204" pitchFamily="18" charset="0"/>
                            </a:rPr>
                            <m:t>0</m:t>
                          </m:r>
                        </m:sub>
                        <m:sup>
                          <m:r>
                            <a:rPr lang="en-US" altLang="zh-CN" sz="2800" b="0" i="1">
                              <a:solidFill>
                                <a:schemeClr val="tx1"/>
                              </a:solidFill>
                              <a:latin typeface="Cambria Math" panose="02040503050406030204" pitchFamily="18" charset="0"/>
                              <a:ea typeface="Cambria Math" panose="02040503050406030204" pitchFamily="18" charset="0"/>
                            </a:rPr>
                            <m:t>𝐼</m:t>
                          </m:r>
                        </m:sup>
                        <m:e>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𝑑𝐼</m:t>
                              </m:r>
                            </m:num>
                            <m:den>
                              <m:f>
                                <m:fPr>
                                  <m:ctrlPr>
                                    <a:rPr lang="en-US" altLang="zh-CN"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𝜀</m:t>
                                  </m:r>
                                </m:num>
                                <m:den>
                                  <m:r>
                                    <a:rPr lang="en-US" altLang="zh-CN" sz="2800" b="0" i="1">
                                      <a:solidFill>
                                        <a:schemeClr val="tx1"/>
                                      </a:solidFill>
                                      <a:latin typeface="Cambria Math" panose="02040503050406030204" pitchFamily="18" charset="0"/>
                                    </a:rPr>
                                    <m:t>𝑅</m:t>
                                  </m:r>
                                </m:den>
                              </m:f>
                              <m:r>
                                <a:rPr lang="en-US" altLang="zh-CN" sz="2800" b="0">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𝐼</m:t>
                              </m:r>
                            </m:den>
                          </m:f>
                          <m:r>
                            <a:rPr lang="en-US" altLang="zh-CN" sz="2800" b="0">
                              <a:solidFill>
                                <a:schemeClr val="tx1"/>
                              </a:solidFill>
                              <a:latin typeface="Cambria Math" panose="02040503050406030204" pitchFamily="18" charset="0"/>
                            </a:rPr>
                            <m:t>=</m:t>
                          </m:r>
                        </m:e>
                      </m:nary>
                      <m:nary>
                        <m:naryPr>
                          <m:ctrlPr>
                            <a:rPr lang="en-US" altLang="zh-CN" sz="2800" i="1">
                              <a:solidFill>
                                <a:schemeClr val="tx1"/>
                              </a:solidFill>
                              <a:latin typeface="Cambria Math" panose="02040503050406030204" pitchFamily="18" charset="0"/>
                              <a:ea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ea typeface="Cambria Math" panose="02040503050406030204" pitchFamily="18" charset="0"/>
                            </a:rPr>
                            <m:t>0</m:t>
                          </m:r>
                        </m:sub>
                        <m:sup>
                          <m:r>
                            <a:rPr lang="en-US" altLang="zh-CN" sz="2800" b="0" i="1">
                              <a:solidFill>
                                <a:schemeClr val="tx1"/>
                              </a:solidFill>
                              <a:latin typeface="Cambria Math" panose="02040503050406030204" pitchFamily="18" charset="0"/>
                              <a:ea typeface="Cambria Math" panose="02040503050406030204" pitchFamily="18" charset="0"/>
                            </a:rPr>
                            <m:t>𝑡</m:t>
                          </m:r>
                        </m:sup>
                        <m:e>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𝑅</m:t>
                              </m:r>
                            </m:num>
                            <m:den>
                              <m:r>
                                <a:rPr lang="en-US" altLang="zh-CN" sz="2800" b="0" i="1">
                                  <a:solidFill>
                                    <a:schemeClr val="tx1"/>
                                  </a:solidFill>
                                  <a:latin typeface="Cambria Math" panose="02040503050406030204" pitchFamily="18" charset="0"/>
                                </a:rPr>
                                <m:t>𝐿</m:t>
                              </m:r>
                            </m:den>
                          </m:f>
                          <m:r>
                            <a:rPr lang="en-US" altLang="zh-CN" sz="2800" b="0" i="1">
                              <a:solidFill>
                                <a:schemeClr val="tx1"/>
                              </a:solidFill>
                              <a:latin typeface="Cambria Math" panose="02040503050406030204" pitchFamily="18" charset="0"/>
                            </a:rPr>
                            <m:t>𝑑𝑡</m:t>
                          </m:r>
                          <m:r>
                            <m:rPr>
                              <m:nor/>
                            </m:rPr>
                            <a:rPr lang="zh-CN" altLang="en-US" sz="2800" dirty="0">
                              <a:solidFill>
                                <a:schemeClr val="tx1"/>
                              </a:solidFill>
                            </a:rPr>
                            <m:t> </m:t>
                          </m:r>
                        </m:e>
                      </m:nary>
                    </m:oMath>
                  </m:oMathPara>
                </a14:m>
                <a:endParaRPr lang="en-US" altLang="zh-CN" sz="2800" dirty="0">
                  <a:solidFill>
                    <a:schemeClr val="tx1"/>
                  </a:solidFill>
                </a:endParaRPr>
              </a:p>
            </p:txBody>
          </p:sp>
        </mc:Choice>
        <mc:Fallback xmlns="">
          <p:sp>
            <p:nvSpPr>
              <p:cNvPr id="50" name="文本框 49">
                <a:extLst>
                  <a:ext uri="{FF2B5EF4-FFF2-40B4-BE49-F238E27FC236}">
                    <a16:creationId xmlns:a16="http://schemas.microsoft.com/office/drawing/2014/main" id="{EDC2E0A3-4BF7-4A29-B195-79237795C2E5}"/>
                  </a:ext>
                </a:extLst>
              </p:cNvPr>
              <p:cNvSpPr txBox="1">
                <a:spLocks noRot="1" noChangeAspect="1" noMove="1" noResize="1" noEditPoints="1" noAdjustHandles="1" noChangeArrowheads="1" noChangeShapeType="1" noTextEdit="1"/>
              </p:cNvSpPr>
              <p:nvPr/>
            </p:nvSpPr>
            <p:spPr>
              <a:xfrm>
                <a:off x="6790176" y="3603304"/>
                <a:ext cx="3603835" cy="115768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5559E890-0921-4214-A80D-A5D7FC66CB0B}"/>
                  </a:ext>
                </a:extLst>
              </p:cNvPr>
              <p:cNvSpPr/>
              <p:nvPr/>
            </p:nvSpPr>
            <p:spPr>
              <a:xfrm>
                <a:off x="6671632" y="5045997"/>
                <a:ext cx="3762325" cy="1454757"/>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solidFill>
                            <a:schemeClr val="tx1"/>
                          </a:solidFill>
                          <a:latin typeface="Cambria Math" panose="02040503050406030204" pitchFamily="18" charset="0"/>
                        </a:rPr>
                        <m:t>𝐼</m:t>
                      </m:r>
                      <m:r>
                        <a:rPr lang="en-US" altLang="zh-CN" sz="3200" b="0" i="1" smtClean="0">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zh-CN" altLang="en-US" sz="3200" b="0" i="1">
                              <a:solidFill>
                                <a:schemeClr val="tx1"/>
                              </a:solidFill>
                              <a:latin typeface="Cambria Math" panose="02040503050406030204" pitchFamily="18" charset="0"/>
                            </a:rPr>
                            <m:t>𝜀</m:t>
                          </m:r>
                        </m:num>
                        <m:den>
                          <m:r>
                            <a:rPr lang="en-US" altLang="zh-CN" sz="3200" b="0" i="1">
                              <a:solidFill>
                                <a:schemeClr val="tx1"/>
                              </a:solidFill>
                              <a:latin typeface="Cambria Math" panose="02040503050406030204" pitchFamily="18" charset="0"/>
                            </a:rPr>
                            <m:t>𝑅</m:t>
                          </m:r>
                        </m:den>
                      </m:f>
                      <m:d>
                        <m:dPr>
                          <m:ctrlPr>
                            <a:rPr lang="en-US" altLang="zh-CN" sz="3200" i="1">
                              <a:solidFill>
                                <a:schemeClr val="tx1"/>
                              </a:solidFill>
                              <a:latin typeface="Cambria Math" panose="02040503050406030204" pitchFamily="18" charset="0"/>
                            </a:rPr>
                          </m:ctrlPr>
                        </m:dPr>
                        <m:e>
                          <m:r>
                            <a:rPr lang="en-US" altLang="zh-CN" sz="3200" b="0" i="1">
                              <a:solidFill>
                                <a:schemeClr val="tx1"/>
                              </a:solidFill>
                              <a:latin typeface="Cambria Math" panose="02040503050406030204" pitchFamily="18" charset="0"/>
                            </a:rPr>
                            <m:t>1−</m:t>
                          </m:r>
                          <m:sSup>
                            <m:sSupPr>
                              <m:ctrlPr>
                                <a:rPr lang="en-US" altLang="zh-CN" sz="3200" i="1">
                                  <a:solidFill>
                                    <a:schemeClr val="tx1"/>
                                  </a:solidFill>
                                  <a:latin typeface="Cambria Math" panose="02040503050406030204" pitchFamily="18" charset="0"/>
                                </a:rPr>
                              </m:ctrlPr>
                            </m:sSupPr>
                            <m:e>
                              <m:r>
                                <a:rPr lang="en-US" altLang="zh-CN" sz="3200" b="0" i="1">
                                  <a:solidFill>
                                    <a:schemeClr val="tx1"/>
                                  </a:solidFill>
                                  <a:latin typeface="Cambria Math" panose="02040503050406030204" pitchFamily="18" charset="0"/>
                                </a:rPr>
                                <m:t>𝑒</m:t>
                              </m:r>
                            </m:e>
                            <m:sup>
                              <m:r>
                                <a:rPr lang="en-US" altLang="zh-CN" sz="3200" b="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𝑅</m:t>
                                  </m:r>
                                </m:num>
                                <m:den>
                                  <m:r>
                                    <a:rPr lang="en-US" altLang="zh-CN" sz="3200" b="0" i="1">
                                      <a:solidFill>
                                        <a:schemeClr val="tx1"/>
                                      </a:solidFill>
                                      <a:latin typeface="Cambria Math" panose="02040503050406030204" pitchFamily="18" charset="0"/>
                                    </a:rPr>
                                    <m:t>𝐿</m:t>
                                  </m:r>
                                </m:den>
                              </m:f>
                              <m:r>
                                <a:rPr lang="en-US" altLang="zh-CN" sz="3200" b="0" i="1">
                                  <a:solidFill>
                                    <a:schemeClr val="tx1"/>
                                  </a:solidFill>
                                  <a:latin typeface="Cambria Math" panose="02040503050406030204" pitchFamily="18" charset="0"/>
                                </a:rPr>
                                <m:t>𝑡</m:t>
                              </m:r>
                            </m:sup>
                          </m:sSup>
                        </m:e>
                      </m:d>
                    </m:oMath>
                  </m:oMathPara>
                </a14:m>
                <a:endParaRPr lang="en-US" altLang="zh-CN" sz="3200" dirty="0">
                  <a:solidFill>
                    <a:schemeClr val="tx1"/>
                  </a:solidFill>
                </a:endParaRPr>
              </a:p>
            </p:txBody>
          </p:sp>
        </mc:Choice>
        <mc:Fallback xmlns="">
          <p:sp>
            <p:nvSpPr>
              <p:cNvPr id="51" name="矩形 50">
                <a:extLst>
                  <a:ext uri="{FF2B5EF4-FFF2-40B4-BE49-F238E27FC236}">
                    <a16:creationId xmlns:a16="http://schemas.microsoft.com/office/drawing/2014/main" id="{5559E890-0921-4214-A80D-A5D7FC66CB0B}"/>
                  </a:ext>
                </a:extLst>
              </p:cNvPr>
              <p:cNvSpPr>
                <a:spLocks noRot="1" noChangeAspect="1" noMove="1" noResize="1" noEditPoints="1" noAdjustHandles="1" noChangeArrowheads="1" noChangeShapeType="1" noTextEdit="1"/>
              </p:cNvSpPr>
              <p:nvPr/>
            </p:nvSpPr>
            <p:spPr>
              <a:xfrm>
                <a:off x="6671632" y="5045997"/>
                <a:ext cx="3762325" cy="1454757"/>
              </a:xfrm>
              <a:prstGeom prst="rect">
                <a:avLst/>
              </a:prstGeom>
              <a:blipFill>
                <a:blip r:embed="rId13"/>
                <a:stretch>
                  <a:fillRect/>
                </a:stretch>
              </a:blipFill>
            </p:spPr>
            <p:txBody>
              <a:bodyPr/>
              <a:lstStyle/>
              <a:p>
                <a:r>
                  <a:rPr lang="en-US">
                    <a:noFill/>
                  </a:rPr>
                  <a:t> </a:t>
                </a:r>
              </a:p>
            </p:txBody>
          </p:sp>
        </mc:Fallback>
      </mc:AlternateContent>
      <p:sp>
        <p:nvSpPr>
          <p:cNvPr id="52" name="Line 33">
            <a:extLst>
              <a:ext uri="{FF2B5EF4-FFF2-40B4-BE49-F238E27FC236}">
                <a16:creationId xmlns:a16="http://schemas.microsoft.com/office/drawing/2014/main" id="{9790DA79-B58B-434B-A17E-9C62E73A079B}"/>
              </a:ext>
            </a:extLst>
          </p:cNvPr>
          <p:cNvSpPr>
            <a:spLocks noChangeShapeType="1"/>
          </p:cNvSpPr>
          <p:nvPr/>
        </p:nvSpPr>
        <p:spPr bwMode="auto">
          <a:xfrm>
            <a:off x="9920229" y="1700948"/>
            <a:ext cx="594193"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Tree>
    <p:extLst>
      <p:ext uri="{BB962C8B-B14F-4D97-AF65-F5344CB8AC3E}">
        <p14:creationId xmlns:p14="http://schemas.microsoft.com/office/powerpoint/2010/main" val="39774561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8" grpId="0"/>
      <p:bldP spid="49" grpId="0"/>
      <p:bldP spid="50" grpId="0"/>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 name="Text Box 43">
                <a:extLst>
                  <a:ext uri="{FF2B5EF4-FFF2-40B4-BE49-F238E27FC236}">
                    <a16:creationId xmlns:a16="http://schemas.microsoft.com/office/drawing/2014/main" id="{3726AB47-D8A4-4EE0-8BF1-2368CF0DE101}"/>
                  </a:ext>
                </a:extLst>
              </p:cNvPr>
              <p:cNvSpPr txBox="1">
                <a:spLocks noChangeArrowheads="1"/>
              </p:cNvSpPr>
              <p:nvPr/>
            </p:nvSpPr>
            <p:spPr bwMode="auto">
              <a:xfrm>
                <a:off x="667318" y="970592"/>
                <a:ext cx="6455669" cy="592278"/>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25000"/>
                  </a:lnSpc>
                  <a:spcBef>
                    <a:spcPct val="50000"/>
                  </a:spcBef>
                </a:pPr>
                <a:r>
                  <a:rPr lang="en-US" altLang="zh-CN" sz="2800" b="0" u="none" dirty="0">
                    <a:solidFill>
                      <a:schemeClr val="tx1"/>
                    </a:solidFill>
                    <a:ea typeface="黑体" panose="02010609060101010101" pitchFamily="49" charset="-122"/>
                  </a:rPr>
                  <a:t>- </a:t>
                </a:r>
                <a14:m>
                  <m:oMath xmlns:m="http://schemas.openxmlformats.org/officeDocument/2006/math">
                    <m:r>
                      <a:rPr lang="en-US" altLang="zh-CN" sz="2800" b="0" i="1" u="none" dirty="0">
                        <a:solidFill>
                          <a:schemeClr val="tx1"/>
                        </a:solidFill>
                        <a:latin typeface="Cambria Math" panose="02040503050406030204" pitchFamily="18" charset="0"/>
                        <a:ea typeface="黑体" panose="02010609060101010101" pitchFamily="49" charset="-122"/>
                      </a:rPr>
                      <m:t>𝑆</m:t>
                    </m:r>
                    <m:r>
                      <a:rPr lang="en-US" altLang="zh-CN" sz="2800" b="0" i="1" u="none" baseline="-25000" dirty="0">
                        <a:solidFill>
                          <a:schemeClr val="tx1"/>
                        </a:solidFill>
                        <a:latin typeface="Cambria Math" panose="02040503050406030204" pitchFamily="18" charset="0"/>
                        <a:ea typeface="黑体" panose="02010609060101010101" pitchFamily="49" charset="-122"/>
                      </a:rPr>
                      <m:t>2</m:t>
                    </m:r>
                  </m:oMath>
                </a14:m>
                <a:r>
                  <a:rPr lang="zh-CN" altLang="en-US" sz="2800" b="0" i="0" u="none" dirty="0">
                    <a:solidFill>
                      <a:schemeClr val="tx1"/>
                    </a:solidFill>
                    <a:latin typeface="华文楷体" panose="02010600040101010101" pitchFamily="2" charset="-122"/>
                    <a:ea typeface="华文楷体" panose="02010600040101010101" pitchFamily="2" charset="-122"/>
                  </a:rPr>
                  <a:t>断开，</a:t>
                </a:r>
                <a14:m>
                  <m:oMath xmlns:m="http://schemas.openxmlformats.org/officeDocument/2006/math">
                    <m:r>
                      <a:rPr lang="en-US" altLang="zh-CN" sz="2800" b="0" i="1" u="none" dirty="0">
                        <a:solidFill>
                          <a:schemeClr val="tx1"/>
                        </a:solidFill>
                        <a:latin typeface="Cambria Math" panose="02040503050406030204" pitchFamily="18" charset="0"/>
                        <a:ea typeface="黑体" panose="02010609060101010101" pitchFamily="49" charset="-122"/>
                      </a:rPr>
                      <m:t>𝑆</m:t>
                    </m:r>
                    <m:r>
                      <a:rPr lang="en-US" altLang="zh-CN" sz="2800" b="0" i="1" u="none" baseline="-25000" dirty="0">
                        <a:solidFill>
                          <a:schemeClr val="tx1"/>
                        </a:solidFill>
                        <a:latin typeface="Cambria Math" panose="02040503050406030204" pitchFamily="18" charset="0"/>
                        <a:ea typeface="黑体" panose="02010609060101010101" pitchFamily="49" charset="-122"/>
                      </a:rPr>
                      <m:t>1</m:t>
                    </m:r>
                  </m:oMath>
                </a14:m>
                <a:r>
                  <a:rPr lang="zh-CN" altLang="en-US" sz="2800" b="0" i="0" u="none" dirty="0">
                    <a:solidFill>
                      <a:schemeClr val="tx1"/>
                    </a:solidFill>
                    <a:latin typeface="华文楷体" panose="02010600040101010101" pitchFamily="2" charset="-122"/>
                    <a:ea typeface="华文楷体" panose="02010600040101010101" pitchFamily="2" charset="-122"/>
                  </a:rPr>
                  <a:t>闭合时</a:t>
                </a:r>
                <a:endParaRPr lang="zh-CN" altLang="en-US" sz="2800" b="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41" name="Text Box 43">
                <a:extLst>
                  <a:ext uri="{FF2B5EF4-FFF2-40B4-BE49-F238E27FC236}">
                    <a16:creationId xmlns:a16="http://schemas.microsoft.com/office/drawing/2014/main" id="{3726AB47-D8A4-4EE0-8BF1-2368CF0DE101}"/>
                  </a:ext>
                </a:extLst>
              </p:cNvPr>
              <p:cNvSpPr txBox="1">
                <a:spLocks noRot="1" noChangeAspect="1" noMove="1" noResize="1" noEditPoints="1" noAdjustHandles="1" noChangeArrowheads="1" noChangeShapeType="1" noTextEdit="1"/>
              </p:cNvSpPr>
              <p:nvPr/>
            </p:nvSpPr>
            <p:spPr bwMode="auto">
              <a:xfrm>
                <a:off x="667318" y="970592"/>
                <a:ext cx="6455669" cy="592278"/>
              </a:xfrm>
              <a:prstGeom prst="rect">
                <a:avLst/>
              </a:prstGeom>
              <a:blipFill>
                <a:blip r:embed="rId7"/>
                <a:stretch>
                  <a:fillRect l="-1889" t="-1031" b="-2886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5559E890-0921-4214-A80D-A5D7FC66CB0B}"/>
                  </a:ext>
                </a:extLst>
              </p:cNvPr>
              <p:cNvSpPr/>
              <p:nvPr/>
            </p:nvSpPr>
            <p:spPr>
              <a:xfrm>
                <a:off x="1826018" y="1602709"/>
                <a:ext cx="3762325" cy="1283813"/>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𝐼</m:t>
                      </m:r>
                      <m:r>
                        <a:rPr lang="en-US" altLang="zh-CN" sz="2800" b="0" i="1" smtClean="0">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𝜀</m:t>
                          </m:r>
                        </m:num>
                        <m:den>
                          <m:r>
                            <a:rPr lang="en-US" altLang="zh-CN" sz="2800" b="0" i="1">
                              <a:solidFill>
                                <a:schemeClr val="tx1"/>
                              </a:solidFill>
                              <a:latin typeface="Cambria Math" panose="02040503050406030204" pitchFamily="18" charset="0"/>
                            </a:rPr>
                            <m:t>𝑅</m:t>
                          </m:r>
                        </m:den>
                      </m:f>
                      <m:d>
                        <m:dPr>
                          <m:ctrlPr>
                            <a:rPr lang="en-US" altLang="zh-CN" sz="2800" i="1">
                              <a:solidFill>
                                <a:schemeClr val="tx1"/>
                              </a:solidFill>
                              <a:latin typeface="Cambria Math" panose="02040503050406030204" pitchFamily="18" charset="0"/>
                            </a:rPr>
                          </m:ctrlPr>
                        </m:dPr>
                        <m:e>
                          <m:r>
                            <a:rPr lang="en-US" altLang="zh-CN" sz="2800" b="0" i="1">
                              <a:solidFill>
                                <a:schemeClr val="tx1"/>
                              </a:solidFill>
                              <a:latin typeface="Cambria Math" panose="02040503050406030204" pitchFamily="18" charset="0"/>
                            </a:rPr>
                            <m:t>1−</m:t>
                          </m:r>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𝑒</m:t>
                              </m:r>
                            </m:e>
                            <m:sup>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𝑅</m:t>
                                  </m:r>
                                </m:num>
                                <m:den>
                                  <m:r>
                                    <a:rPr lang="en-US" altLang="zh-CN" sz="2800" b="0" i="1">
                                      <a:solidFill>
                                        <a:schemeClr val="tx1"/>
                                      </a:solidFill>
                                      <a:latin typeface="Cambria Math" panose="02040503050406030204" pitchFamily="18" charset="0"/>
                                    </a:rPr>
                                    <m:t>𝐿</m:t>
                                  </m:r>
                                </m:den>
                              </m:f>
                              <m:r>
                                <a:rPr lang="en-US" altLang="zh-CN" sz="2800" b="0" i="1">
                                  <a:solidFill>
                                    <a:schemeClr val="tx1"/>
                                  </a:solidFill>
                                  <a:latin typeface="Cambria Math" panose="02040503050406030204" pitchFamily="18" charset="0"/>
                                </a:rPr>
                                <m:t>𝑡</m:t>
                              </m:r>
                            </m:sup>
                          </m:sSup>
                        </m:e>
                      </m:d>
                    </m:oMath>
                  </m:oMathPara>
                </a14:m>
                <a:endParaRPr lang="en-US" altLang="zh-CN" sz="2800" dirty="0">
                  <a:solidFill>
                    <a:schemeClr val="tx1"/>
                  </a:solidFill>
                </a:endParaRPr>
              </a:p>
            </p:txBody>
          </p:sp>
        </mc:Choice>
        <mc:Fallback xmlns="">
          <p:sp>
            <p:nvSpPr>
              <p:cNvPr id="51" name="矩形 50">
                <a:extLst>
                  <a:ext uri="{FF2B5EF4-FFF2-40B4-BE49-F238E27FC236}">
                    <a16:creationId xmlns:a16="http://schemas.microsoft.com/office/drawing/2014/main" id="{5559E890-0921-4214-A80D-A5D7FC66CB0B}"/>
                  </a:ext>
                </a:extLst>
              </p:cNvPr>
              <p:cNvSpPr>
                <a:spLocks noRot="1" noChangeAspect="1" noMove="1" noResize="1" noEditPoints="1" noAdjustHandles="1" noChangeArrowheads="1" noChangeShapeType="1" noTextEdit="1"/>
              </p:cNvSpPr>
              <p:nvPr/>
            </p:nvSpPr>
            <p:spPr>
              <a:xfrm>
                <a:off x="1826018" y="1602709"/>
                <a:ext cx="3762325" cy="1283813"/>
              </a:xfrm>
              <a:prstGeom prst="rect">
                <a:avLst/>
              </a:prstGeom>
              <a:blipFill>
                <a:blip r:embed="rId8"/>
                <a:stretch>
                  <a:fillRect/>
                </a:stretch>
              </a:blipFill>
            </p:spPr>
            <p:txBody>
              <a:bodyPr/>
              <a:lstStyle/>
              <a:p>
                <a:r>
                  <a:rPr lang="en-US">
                    <a:noFill/>
                  </a:rPr>
                  <a:t> </a:t>
                </a:r>
              </a:p>
            </p:txBody>
          </p:sp>
        </mc:Fallback>
      </mc:AlternateContent>
      <p:sp>
        <p:nvSpPr>
          <p:cNvPr id="2" name="文本框 1">
            <a:extLst>
              <a:ext uri="{FF2B5EF4-FFF2-40B4-BE49-F238E27FC236}">
                <a16:creationId xmlns:a16="http://schemas.microsoft.com/office/drawing/2014/main" id="{E9F19567-8A20-4E82-9140-1A76DAAE97F8}"/>
              </a:ext>
            </a:extLst>
          </p:cNvPr>
          <p:cNvSpPr txBox="1"/>
          <p:nvPr/>
        </p:nvSpPr>
        <p:spPr>
          <a:xfrm>
            <a:off x="1466398" y="3164658"/>
            <a:ext cx="2518638" cy="492443"/>
          </a:xfrm>
          <a:prstGeom prst="rect">
            <a:avLst/>
          </a:prstGeom>
          <a:noFill/>
        </p:spPr>
        <p:txBody>
          <a:bodyPr wrap="none" rtlCol="0">
            <a:spAutoFit/>
          </a:bodyPr>
          <a:lstStyle/>
          <a:p>
            <a:r>
              <a:rPr lang="zh-CN" altLang="en-US" sz="2600" dirty="0"/>
              <a:t>不考虑自感现象</a:t>
            </a:r>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D31E078D-04C0-460F-82A3-C979DBD6EB97}"/>
                  </a:ext>
                </a:extLst>
              </p:cNvPr>
              <p:cNvSpPr txBox="1"/>
              <p:nvPr/>
            </p:nvSpPr>
            <p:spPr>
              <a:xfrm>
                <a:off x="3707180" y="3094556"/>
                <a:ext cx="312692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600" i="1" u="none" smtClean="0">
                              <a:solidFill>
                                <a:schemeClr val="tx1"/>
                              </a:solidFill>
                              <a:latin typeface="Cambria Math" panose="02040503050406030204" pitchFamily="18" charset="0"/>
                              <a:ea typeface="华文新魏" panose="02010800040101010101" pitchFamily="2" charset="-122"/>
                            </a:rPr>
                          </m:ctrlPr>
                        </m:sSubPr>
                        <m:e>
                          <m:r>
                            <a:rPr lang="en-US" altLang="zh-CN" sz="2600" b="0" i="1" u="none">
                              <a:solidFill>
                                <a:schemeClr val="tx1"/>
                              </a:solidFill>
                              <a:latin typeface="Cambria Math" panose="02040503050406030204" pitchFamily="18" charset="0"/>
                              <a:ea typeface="华文新魏" panose="02010800040101010101" pitchFamily="2" charset="-122"/>
                            </a:rPr>
                            <m:t>𝐼</m:t>
                          </m:r>
                        </m:e>
                        <m:sub>
                          <m:r>
                            <a:rPr lang="en-US" altLang="zh-CN" sz="2600" b="0" i="1" u="none">
                              <a:solidFill>
                                <a:schemeClr val="tx1"/>
                              </a:solidFill>
                              <a:latin typeface="Cambria Math" panose="02040503050406030204" pitchFamily="18" charset="0"/>
                              <a:ea typeface="华文新魏" panose="02010800040101010101" pitchFamily="2" charset="-122"/>
                            </a:rPr>
                            <m:t>0</m:t>
                          </m:r>
                        </m:sub>
                      </m:sSub>
                      <m:r>
                        <a:rPr lang="en-US" altLang="zh-CN" sz="2600" b="0" u="none">
                          <a:solidFill>
                            <a:schemeClr val="tx1"/>
                          </a:solidFill>
                          <a:latin typeface="Cambria Math" panose="02040503050406030204" pitchFamily="18" charset="0"/>
                          <a:ea typeface="华文新魏" panose="02010800040101010101" pitchFamily="2" charset="-122"/>
                        </a:rPr>
                        <m:t>=</m:t>
                      </m:r>
                      <m:sSub>
                        <m:sSubPr>
                          <m:ctrlPr>
                            <a:rPr lang="en-US" altLang="zh-CN" sz="2600" i="1" u="none">
                              <a:solidFill>
                                <a:schemeClr val="tx1"/>
                              </a:solidFill>
                              <a:latin typeface="Cambria Math" panose="02040503050406030204" pitchFamily="18" charset="0"/>
                              <a:ea typeface="华文新魏" panose="02010800040101010101" pitchFamily="2" charset="-122"/>
                            </a:rPr>
                          </m:ctrlPr>
                        </m:sSubPr>
                        <m:e>
                          <m:r>
                            <a:rPr lang="en-US" altLang="zh-CN" sz="2600" b="0" i="1" u="none">
                              <a:solidFill>
                                <a:schemeClr val="tx1"/>
                              </a:solidFill>
                              <a:latin typeface="Cambria Math" panose="02040503050406030204" pitchFamily="18" charset="0"/>
                              <a:ea typeface="华文新魏" panose="02010800040101010101" pitchFamily="2" charset="-122"/>
                            </a:rPr>
                            <m:t>𝐼</m:t>
                          </m:r>
                        </m:e>
                        <m:sub>
                          <m:r>
                            <a:rPr lang="en-US" altLang="zh-CN" sz="2600" b="0" i="1" u="none">
                              <a:solidFill>
                                <a:schemeClr val="tx1"/>
                              </a:solidFill>
                              <a:latin typeface="Cambria Math" panose="02040503050406030204" pitchFamily="18" charset="0"/>
                              <a:ea typeface="华文新魏" panose="02010800040101010101" pitchFamily="2" charset="-122"/>
                            </a:rPr>
                            <m:t>𝑚𝑎𝑥</m:t>
                          </m:r>
                        </m:sub>
                      </m:sSub>
                      <m:r>
                        <a:rPr lang="en-US" altLang="zh-CN" sz="2600" b="0" u="none">
                          <a:solidFill>
                            <a:schemeClr val="tx1"/>
                          </a:solidFill>
                          <a:latin typeface="Cambria Math" panose="02040503050406030204" pitchFamily="18" charset="0"/>
                          <a:ea typeface="华文新魏" panose="02010800040101010101" pitchFamily="2" charset="-122"/>
                        </a:rPr>
                        <m:t>=</m:t>
                      </m:r>
                      <m:r>
                        <a:rPr lang="zh-CN" altLang="en-US" sz="2600" b="0" i="1" u="none">
                          <a:solidFill>
                            <a:schemeClr val="tx1"/>
                          </a:solidFill>
                          <a:latin typeface="Cambria Math" panose="02040503050406030204" pitchFamily="18" charset="0"/>
                          <a:ea typeface="华文新魏" panose="02010800040101010101" pitchFamily="2" charset="-122"/>
                        </a:rPr>
                        <m:t>𝜀</m:t>
                      </m:r>
                      <m:r>
                        <a:rPr lang="en-US" altLang="zh-CN" sz="2600" b="0" u="none">
                          <a:solidFill>
                            <a:schemeClr val="tx1"/>
                          </a:solidFill>
                          <a:latin typeface="Cambria Math" panose="02040503050406030204" pitchFamily="18" charset="0"/>
                          <a:ea typeface="华文新魏" panose="02010800040101010101" pitchFamily="2" charset="-122"/>
                        </a:rPr>
                        <m:t>/</m:t>
                      </m:r>
                      <m:r>
                        <a:rPr lang="en-US" altLang="zh-CN" sz="2600" b="0" i="1" u="none">
                          <a:solidFill>
                            <a:schemeClr val="tx1"/>
                          </a:solidFill>
                          <a:latin typeface="Cambria Math" panose="02040503050406030204" pitchFamily="18" charset="0"/>
                          <a:ea typeface="华文新魏" panose="02010800040101010101" pitchFamily="2" charset="-122"/>
                        </a:rPr>
                        <m:t>𝑅</m:t>
                      </m:r>
                    </m:oMath>
                  </m:oMathPara>
                </a14:m>
                <a:endParaRPr lang="zh-CN" altLang="en-US" sz="2600" dirty="0">
                  <a:solidFill>
                    <a:schemeClr val="tx1"/>
                  </a:solidFill>
                </a:endParaRPr>
              </a:p>
            </p:txBody>
          </p:sp>
        </mc:Choice>
        <mc:Fallback xmlns="">
          <p:sp>
            <p:nvSpPr>
              <p:cNvPr id="52" name="文本框 51">
                <a:extLst>
                  <a:ext uri="{FF2B5EF4-FFF2-40B4-BE49-F238E27FC236}">
                    <a16:creationId xmlns:a16="http://schemas.microsoft.com/office/drawing/2014/main" id="{D31E078D-04C0-460F-82A3-C979DBD6EB97}"/>
                  </a:ext>
                </a:extLst>
              </p:cNvPr>
              <p:cNvSpPr txBox="1">
                <a:spLocks noRot="1" noChangeAspect="1" noMove="1" noResize="1" noEditPoints="1" noAdjustHandles="1" noChangeArrowheads="1" noChangeShapeType="1" noTextEdit="1"/>
              </p:cNvSpPr>
              <p:nvPr/>
            </p:nvSpPr>
            <p:spPr>
              <a:xfrm>
                <a:off x="3707180" y="3094556"/>
                <a:ext cx="3126928" cy="492443"/>
              </a:xfrm>
              <a:prstGeom prst="rect">
                <a:avLst/>
              </a:prstGeom>
              <a:blipFill>
                <a:blip r:embed="rId9"/>
                <a:stretch>
                  <a:fillRect/>
                </a:stretch>
              </a:blipFill>
            </p:spPr>
            <p:txBody>
              <a:bodyPr/>
              <a:lstStyle/>
              <a:p>
                <a:r>
                  <a:rPr lang="zh-CN" altLang="en-US">
                    <a:noFill/>
                  </a:rPr>
                  <a:t> </a:t>
                </a:r>
              </a:p>
            </p:txBody>
          </p:sp>
        </mc:Fallback>
      </mc:AlternateContent>
      <p:pic>
        <p:nvPicPr>
          <p:cNvPr id="53" name="图片 52">
            <a:extLst>
              <a:ext uri="{FF2B5EF4-FFF2-40B4-BE49-F238E27FC236}">
                <a16:creationId xmlns:a16="http://schemas.microsoft.com/office/drawing/2014/main" id="{40AA4017-A65A-4A95-B917-F682ACDE8C23}"/>
              </a:ext>
            </a:extLst>
          </p:cNvPr>
          <p:cNvPicPr>
            <a:picLocks noChangeAspect="1"/>
          </p:cNvPicPr>
          <p:nvPr/>
        </p:nvPicPr>
        <p:blipFill>
          <a:blip r:embed="rId10"/>
          <a:stretch>
            <a:fillRect/>
          </a:stretch>
        </p:blipFill>
        <p:spPr>
          <a:xfrm>
            <a:off x="7879812" y="2809532"/>
            <a:ext cx="3168352" cy="2716569"/>
          </a:xfrm>
          <a:prstGeom prst="rect">
            <a:avLst/>
          </a:prstGeom>
        </p:spPr>
      </p:pic>
      <mc:AlternateContent xmlns:mc="http://schemas.openxmlformats.org/markup-compatibility/2006" xmlns:a14="http://schemas.microsoft.com/office/drawing/2010/main">
        <mc:Choice Requires="a14">
          <p:sp>
            <p:nvSpPr>
              <p:cNvPr id="54" name="Text Box 9">
                <a:extLst>
                  <a:ext uri="{FF2B5EF4-FFF2-40B4-BE49-F238E27FC236}">
                    <a16:creationId xmlns:a16="http://schemas.microsoft.com/office/drawing/2014/main" id="{89B103C2-5B86-43E7-956E-C31D9FF54FF5}"/>
                  </a:ext>
                </a:extLst>
              </p:cNvPr>
              <p:cNvSpPr txBox="1">
                <a:spLocks noChangeArrowheads="1"/>
              </p:cNvSpPr>
              <p:nvPr/>
            </p:nvSpPr>
            <p:spPr bwMode="auto">
              <a:xfrm>
                <a:off x="1560204" y="3870361"/>
                <a:ext cx="5685682" cy="1491370"/>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0" i="0" u="none" dirty="0">
                    <a:solidFill>
                      <a:schemeClr val="tx1"/>
                    </a:solidFill>
                    <a:latin typeface="华文楷体" panose="02010600040101010101" pitchFamily="2" charset="-122"/>
                    <a:ea typeface="华文楷体" panose="02010600040101010101" pitchFamily="2" charset="-122"/>
                  </a:rPr>
                  <a:t>当</a:t>
                </a:r>
                <a14:m>
                  <m:oMath xmlns:m="http://schemas.openxmlformats.org/officeDocument/2006/math">
                    <m:r>
                      <a:rPr lang="en-US" altLang="zh-CN" sz="2800" b="0" i="1" u="none">
                        <a:solidFill>
                          <a:schemeClr val="tx1"/>
                        </a:solidFill>
                        <a:latin typeface="Cambria Math" panose="02040503050406030204" pitchFamily="18" charset="0"/>
                        <a:ea typeface="华文新魏" panose="02010800040101010101" pitchFamily="2" charset="-122"/>
                      </a:rPr>
                      <m:t>𝑡</m:t>
                    </m:r>
                    <m:r>
                      <a:rPr lang="en-US" altLang="zh-CN" sz="2800" b="0" u="none">
                        <a:solidFill>
                          <a:schemeClr val="tx1"/>
                        </a:solidFill>
                        <a:latin typeface="Cambria Math" panose="02040503050406030204" pitchFamily="18" charset="0"/>
                        <a:ea typeface="华文新魏" panose="02010800040101010101" pitchFamily="2" charset="-122"/>
                      </a:rPr>
                      <m:t>=</m:t>
                    </m:r>
                    <m:r>
                      <a:rPr lang="zh-CN" altLang="en-US" sz="2800" b="0" i="1" u="none">
                        <a:solidFill>
                          <a:schemeClr val="tx1"/>
                        </a:solidFill>
                        <a:latin typeface="Cambria Math" panose="02040503050406030204" pitchFamily="18" charset="0"/>
                        <a:ea typeface="华文新魏" panose="02010800040101010101" pitchFamily="2" charset="-122"/>
                      </a:rPr>
                      <m:t>𝜏</m:t>
                    </m:r>
                    <m:r>
                      <a:rPr lang="en-US" altLang="zh-CN" sz="2800" b="0" u="none">
                        <a:solidFill>
                          <a:schemeClr val="tx1"/>
                        </a:solidFill>
                        <a:latin typeface="Cambria Math" panose="02040503050406030204" pitchFamily="18" charset="0"/>
                        <a:ea typeface="华文新魏" panose="02010800040101010101" pitchFamily="2" charset="-122"/>
                      </a:rPr>
                      <m:t>=</m:t>
                    </m:r>
                    <m:r>
                      <a:rPr lang="en-US" altLang="zh-CN" sz="2800" b="0" i="1" u="none">
                        <a:solidFill>
                          <a:schemeClr val="tx1"/>
                        </a:solidFill>
                        <a:latin typeface="Cambria Math" panose="02040503050406030204" pitchFamily="18" charset="0"/>
                        <a:ea typeface="华文新魏" panose="02010800040101010101" pitchFamily="2" charset="-122"/>
                      </a:rPr>
                      <m:t>𝐿</m:t>
                    </m:r>
                    <m:r>
                      <a:rPr lang="en-US" altLang="zh-CN" sz="2800" b="0" u="none">
                        <a:solidFill>
                          <a:schemeClr val="tx1"/>
                        </a:solidFill>
                        <a:latin typeface="Cambria Math" panose="02040503050406030204" pitchFamily="18" charset="0"/>
                        <a:ea typeface="华文新魏" panose="02010800040101010101" pitchFamily="2" charset="-122"/>
                      </a:rPr>
                      <m:t>/</m:t>
                    </m:r>
                    <m:r>
                      <a:rPr lang="en-US" altLang="zh-CN" sz="2800" b="0" i="1" u="none">
                        <a:solidFill>
                          <a:schemeClr val="tx1"/>
                        </a:solidFill>
                        <a:latin typeface="Cambria Math" panose="02040503050406030204" pitchFamily="18" charset="0"/>
                        <a:ea typeface="华文新魏" panose="02010800040101010101" pitchFamily="2" charset="-122"/>
                      </a:rPr>
                      <m:t>𝑅</m:t>
                    </m:r>
                  </m:oMath>
                </a14:m>
                <a:r>
                  <a:rPr lang="zh-CN" altLang="en-US" sz="2800" b="0" i="0" u="none" dirty="0">
                    <a:solidFill>
                      <a:schemeClr val="tx1"/>
                    </a:solidFill>
                    <a:latin typeface="华文楷体" panose="02010600040101010101" pitchFamily="2" charset="-122"/>
                    <a:ea typeface="华文楷体" panose="02010600040101010101" pitchFamily="2" charset="-122"/>
                  </a:rPr>
                  <a:t>时，</a:t>
                </a:r>
                <a:endParaRPr lang="en-US" altLang="zh-CN" sz="2800" b="0" i="0" u="none" dirty="0">
                  <a:solidFill>
                    <a:schemeClr val="tx1"/>
                  </a:solidFill>
                  <a:latin typeface="华文楷体" panose="02010600040101010101" pitchFamily="2" charset="-122"/>
                  <a:ea typeface="华文楷体" panose="02010600040101010101" pitchFamily="2" charset="-122"/>
                </a:endParaRPr>
              </a:p>
              <a:p>
                <a:pPr>
                  <a:spcBef>
                    <a:spcPct val="50000"/>
                  </a:spcBef>
                </a:pPr>
                <a14:m>
                  <m:oMathPara xmlns:m="http://schemas.openxmlformats.org/officeDocument/2006/math">
                    <m:oMathParaPr>
                      <m:jc m:val="centerGroup"/>
                    </m:oMathParaPr>
                    <m:oMath xmlns:m="http://schemas.openxmlformats.org/officeDocument/2006/math">
                      <m:r>
                        <a:rPr lang="en-US" altLang="zh-CN" sz="2800" b="0" i="1" u="none">
                          <a:solidFill>
                            <a:schemeClr val="tx1"/>
                          </a:solidFill>
                          <a:latin typeface="Cambria Math" panose="02040503050406030204" pitchFamily="18" charset="0"/>
                        </a:rPr>
                        <m:t>𝐼</m:t>
                      </m:r>
                      <m:r>
                        <a:rPr lang="en-US" altLang="zh-CN" sz="2800" b="0" u="none">
                          <a:solidFill>
                            <a:schemeClr val="tx1"/>
                          </a:solidFill>
                          <a:latin typeface="Cambria Math" panose="02040503050406030204" pitchFamily="18" charset="0"/>
                        </a:rPr>
                        <m:t>=</m:t>
                      </m:r>
                      <m:f>
                        <m:fPr>
                          <m:ctrlPr>
                            <a:rPr lang="en-US" altLang="zh-CN" sz="2800" b="0" i="1" u="none">
                              <a:solidFill>
                                <a:schemeClr val="tx1"/>
                              </a:solidFill>
                              <a:latin typeface="Cambria Math" panose="02040503050406030204" pitchFamily="18" charset="0"/>
                            </a:rPr>
                          </m:ctrlPr>
                        </m:fPr>
                        <m:num>
                          <m:r>
                            <a:rPr lang="zh-CN" altLang="en-US" sz="2800" b="0" i="1" u="none">
                              <a:solidFill>
                                <a:schemeClr val="tx1"/>
                              </a:solidFill>
                              <a:latin typeface="Cambria Math" panose="02040503050406030204" pitchFamily="18" charset="0"/>
                            </a:rPr>
                            <m:t>𝜀</m:t>
                          </m:r>
                        </m:num>
                        <m:den>
                          <m:r>
                            <a:rPr lang="en-US" altLang="zh-CN" sz="2800" b="0" i="1" u="none">
                              <a:solidFill>
                                <a:schemeClr val="tx1"/>
                              </a:solidFill>
                              <a:latin typeface="Cambria Math" panose="02040503050406030204" pitchFamily="18" charset="0"/>
                            </a:rPr>
                            <m:t>𝑅</m:t>
                          </m:r>
                        </m:den>
                      </m:f>
                      <m:d>
                        <m:dPr>
                          <m:ctrlPr>
                            <a:rPr lang="en-US" altLang="zh-CN" sz="2800" b="0" i="1" u="none">
                              <a:solidFill>
                                <a:schemeClr val="tx1"/>
                              </a:solidFill>
                              <a:latin typeface="Cambria Math" panose="02040503050406030204" pitchFamily="18" charset="0"/>
                            </a:rPr>
                          </m:ctrlPr>
                        </m:dPr>
                        <m:e>
                          <m:r>
                            <a:rPr lang="en-US" altLang="zh-CN" sz="2800" b="0" i="1" u="none">
                              <a:solidFill>
                                <a:schemeClr val="tx1"/>
                              </a:solidFill>
                              <a:latin typeface="Cambria Math" panose="02040503050406030204" pitchFamily="18" charset="0"/>
                            </a:rPr>
                            <m:t>1</m:t>
                          </m:r>
                          <m:r>
                            <a:rPr lang="en-US" altLang="zh-CN" sz="2800" b="0" u="none">
                              <a:solidFill>
                                <a:schemeClr val="tx1"/>
                              </a:solidFill>
                              <a:latin typeface="Cambria Math" panose="02040503050406030204" pitchFamily="18" charset="0"/>
                            </a:rPr>
                            <m:t>−</m:t>
                          </m:r>
                          <m:f>
                            <m:fPr>
                              <m:ctrlPr>
                                <a:rPr lang="en-US" altLang="zh-CN" sz="2800" b="0" i="1" u="none">
                                  <a:solidFill>
                                    <a:schemeClr val="tx1"/>
                                  </a:solidFill>
                                  <a:latin typeface="Cambria Math" panose="02040503050406030204" pitchFamily="18" charset="0"/>
                                </a:rPr>
                              </m:ctrlPr>
                            </m:fPr>
                            <m:num>
                              <m:r>
                                <a:rPr lang="en-US" altLang="zh-CN" sz="2800" b="0" i="1" u="none">
                                  <a:solidFill>
                                    <a:schemeClr val="tx1"/>
                                  </a:solidFill>
                                  <a:latin typeface="Cambria Math" panose="02040503050406030204" pitchFamily="18" charset="0"/>
                                </a:rPr>
                                <m:t>1</m:t>
                              </m:r>
                            </m:num>
                            <m:den>
                              <m:r>
                                <a:rPr lang="en-US" altLang="zh-CN" sz="2800" b="0" i="1" u="none">
                                  <a:solidFill>
                                    <a:schemeClr val="tx1"/>
                                  </a:solidFill>
                                  <a:latin typeface="Cambria Math" panose="02040503050406030204" pitchFamily="18" charset="0"/>
                                </a:rPr>
                                <m:t>𝑒</m:t>
                              </m:r>
                            </m:den>
                          </m:f>
                        </m:e>
                      </m:d>
                      <m:r>
                        <a:rPr lang="en-US" altLang="zh-CN" sz="2800" b="0" u="none">
                          <a:solidFill>
                            <a:schemeClr val="tx1"/>
                          </a:solidFill>
                          <a:latin typeface="Cambria Math" panose="02040503050406030204" pitchFamily="18" charset="0"/>
                        </a:rPr>
                        <m:t>=</m:t>
                      </m:r>
                      <m:r>
                        <a:rPr lang="en-US" altLang="zh-CN" sz="2800" b="0" i="1" u="none">
                          <a:solidFill>
                            <a:schemeClr val="tx1"/>
                          </a:solidFill>
                          <a:latin typeface="Cambria Math" panose="02040503050406030204" pitchFamily="18" charset="0"/>
                        </a:rPr>
                        <m:t>0</m:t>
                      </m:r>
                      <m:r>
                        <a:rPr lang="en-US" altLang="zh-CN" sz="2800" b="0" u="none">
                          <a:solidFill>
                            <a:schemeClr val="tx1"/>
                          </a:solidFill>
                          <a:latin typeface="Cambria Math" panose="02040503050406030204" pitchFamily="18" charset="0"/>
                        </a:rPr>
                        <m:t>.</m:t>
                      </m:r>
                      <m:r>
                        <a:rPr lang="en-US" altLang="zh-CN" sz="2800" b="0" i="1" u="none">
                          <a:solidFill>
                            <a:schemeClr val="tx1"/>
                          </a:solidFill>
                          <a:latin typeface="Cambria Math" panose="02040503050406030204" pitchFamily="18" charset="0"/>
                        </a:rPr>
                        <m:t>63</m:t>
                      </m:r>
                      <m:sSub>
                        <m:sSubPr>
                          <m:ctrlPr>
                            <a:rPr lang="en-US" altLang="zh-CN" sz="2800" b="0" i="1" u="none">
                              <a:solidFill>
                                <a:schemeClr val="tx1"/>
                              </a:solidFill>
                              <a:latin typeface="Cambria Math" panose="02040503050406030204" pitchFamily="18" charset="0"/>
                            </a:rPr>
                          </m:ctrlPr>
                        </m:sSubPr>
                        <m:e>
                          <m:r>
                            <a:rPr lang="en-US" altLang="zh-CN" sz="2800" b="0" i="1" u="none">
                              <a:solidFill>
                                <a:schemeClr val="tx1"/>
                              </a:solidFill>
                              <a:latin typeface="Cambria Math" panose="02040503050406030204" pitchFamily="18" charset="0"/>
                            </a:rPr>
                            <m:t>𝐼</m:t>
                          </m:r>
                        </m:e>
                        <m:sub>
                          <m:r>
                            <a:rPr lang="en-US" altLang="zh-CN" sz="2800" b="0" i="1" u="none">
                              <a:solidFill>
                                <a:schemeClr val="tx1"/>
                              </a:solidFill>
                              <a:latin typeface="Cambria Math" panose="02040503050406030204" pitchFamily="18" charset="0"/>
                            </a:rPr>
                            <m:t>0</m:t>
                          </m:r>
                        </m:sub>
                      </m:sSub>
                    </m:oMath>
                  </m:oMathPara>
                </a14:m>
                <a:endParaRPr lang="zh-CN" altLang="en-US"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54" name="Text Box 9">
                <a:extLst>
                  <a:ext uri="{FF2B5EF4-FFF2-40B4-BE49-F238E27FC236}">
                    <a16:creationId xmlns:a16="http://schemas.microsoft.com/office/drawing/2014/main" id="{89B103C2-5B86-43E7-956E-C31D9FF54FF5}"/>
                  </a:ext>
                </a:extLst>
              </p:cNvPr>
              <p:cNvSpPr txBox="1">
                <a:spLocks noRot="1" noChangeAspect="1" noMove="1" noResize="1" noEditPoints="1" noAdjustHandles="1" noChangeArrowheads="1" noChangeShapeType="1" noTextEdit="1"/>
              </p:cNvSpPr>
              <p:nvPr/>
            </p:nvSpPr>
            <p:spPr bwMode="auto">
              <a:xfrm>
                <a:off x="1560204" y="3870361"/>
                <a:ext cx="5685682" cy="1491370"/>
              </a:xfrm>
              <a:prstGeom prst="rect">
                <a:avLst/>
              </a:prstGeom>
              <a:blipFill>
                <a:blip r:embed="rId11"/>
                <a:stretch>
                  <a:fillRect l="-2251" t="-44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 Box 5">
                <a:extLst>
                  <a:ext uri="{FF2B5EF4-FFF2-40B4-BE49-F238E27FC236}">
                    <a16:creationId xmlns:a16="http://schemas.microsoft.com/office/drawing/2014/main" id="{CEA03FCE-A37A-4641-BA25-27898784A1BA}"/>
                  </a:ext>
                </a:extLst>
              </p:cNvPr>
              <p:cNvSpPr txBox="1">
                <a:spLocks noChangeArrowheads="1"/>
              </p:cNvSpPr>
              <p:nvPr/>
            </p:nvSpPr>
            <p:spPr bwMode="auto">
              <a:xfrm>
                <a:off x="1097332" y="5385373"/>
                <a:ext cx="8567661" cy="1315040"/>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50000"/>
                  </a:lnSpc>
                  <a:spcBef>
                    <a:spcPct val="50000"/>
                  </a:spcBef>
                </a:pPr>
                <a:r>
                  <a:rPr lang="zh-CN" altLang="en-US" sz="2800" b="0" i="0" u="none" dirty="0">
                    <a:solidFill>
                      <a:schemeClr val="tx1"/>
                    </a:solidFill>
                    <a:latin typeface="华文楷体" panose="02010600040101010101" pitchFamily="2" charset="-122"/>
                    <a:ea typeface="华文楷体" panose="02010600040101010101" pitchFamily="2" charset="-122"/>
                  </a:rPr>
                  <a:t>常用</a:t>
                </a:r>
                <a14:m>
                  <m:oMath xmlns:m="http://schemas.openxmlformats.org/officeDocument/2006/math">
                    <m:r>
                      <a:rPr lang="zh-CN" altLang="en-US" sz="2800" b="0" i="1" u="none">
                        <a:solidFill>
                          <a:schemeClr val="tx1"/>
                        </a:solidFill>
                        <a:latin typeface="Cambria Math" panose="02040503050406030204" pitchFamily="18" charset="0"/>
                      </a:rPr>
                      <m:t>𝜏</m:t>
                    </m:r>
                    <m:r>
                      <a:rPr lang="en-US" altLang="zh-CN" sz="2800" b="0" u="none">
                        <a:solidFill>
                          <a:schemeClr val="tx1"/>
                        </a:solidFill>
                        <a:latin typeface="Cambria Math" panose="02040503050406030204" pitchFamily="18" charset="0"/>
                      </a:rPr>
                      <m:t>=</m:t>
                    </m:r>
                    <m:r>
                      <a:rPr lang="en-US" altLang="zh-CN" sz="2800" b="0" i="1" u="none">
                        <a:solidFill>
                          <a:schemeClr val="tx1"/>
                        </a:solidFill>
                        <a:latin typeface="Cambria Math" panose="02040503050406030204" pitchFamily="18" charset="0"/>
                      </a:rPr>
                      <m:t>𝐿</m:t>
                    </m:r>
                    <m:r>
                      <a:rPr lang="en-US" altLang="zh-CN" sz="2800" b="0" u="none">
                        <a:solidFill>
                          <a:schemeClr val="tx1"/>
                        </a:solidFill>
                        <a:latin typeface="Cambria Math" panose="02040503050406030204" pitchFamily="18" charset="0"/>
                      </a:rPr>
                      <m:t>/</m:t>
                    </m:r>
                    <m:r>
                      <a:rPr lang="en-US" altLang="zh-CN" sz="2800" b="0" i="1" u="none">
                        <a:solidFill>
                          <a:schemeClr val="tx1"/>
                        </a:solidFill>
                        <a:latin typeface="Cambria Math" panose="02040503050406030204" pitchFamily="18" charset="0"/>
                      </a:rPr>
                      <m:t>𝑅</m:t>
                    </m:r>
                  </m:oMath>
                </a14:m>
                <a:r>
                  <a:rPr lang="zh-CN" altLang="en-US" sz="2800" b="0" i="0" u="none" dirty="0">
                    <a:solidFill>
                      <a:schemeClr val="tx1"/>
                    </a:solidFill>
                    <a:latin typeface="华文楷体" panose="02010600040101010101" pitchFamily="2" charset="-122"/>
                    <a:ea typeface="华文楷体" panose="02010600040101010101" pitchFamily="2" charset="-122"/>
                  </a:rPr>
                  <a:t>来衡量自感电路中电流增长的快慢程度，称为</a:t>
                </a:r>
                <a14:m>
                  <m:oMath xmlns:m="http://schemas.openxmlformats.org/officeDocument/2006/math">
                    <m:r>
                      <a:rPr lang="en-US" altLang="zh-CN" sz="2800" b="0" i="1" u="none" dirty="0">
                        <a:solidFill>
                          <a:schemeClr val="tx1"/>
                        </a:solidFill>
                        <a:latin typeface="Cambria Math" panose="02040503050406030204" pitchFamily="18" charset="0"/>
                        <a:ea typeface="黑体" panose="02010609060101010101" pitchFamily="49" charset="-122"/>
                      </a:rPr>
                      <m:t>𝑅𝐿</m:t>
                    </m:r>
                  </m:oMath>
                </a14:m>
                <a:r>
                  <a:rPr lang="zh-CN" altLang="en-US" sz="2800" b="0" i="0" u="none" dirty="0">
                    <a:solidFill>
                      <a:schemeClr val="tx1"/>
                    </a:solidFill>
                    <a:latin typeface="华文楷体" panose="02010600040101010101" pitchFamily="2" charset="-122"/>
                    <a:ea typeface="华文楷体" panose="02010600040101010101" pitchFamily="2" charset="-122"/>
                  </a:rPr>
                  <a:t>电路的时间常数或弛豫时间。</a:t>
                </a:r>
              </a:p>
            </p:txBody>
          </p:sp>
        </mc:Choice>
        <mc:Fallback xmlns="">
          <p:sp>
            <p:nvSpPr>
              <p:cNvPr id="55" name="Text Box 5">
                <a:extLst>
                  <a:ext uri="{FF2B5EF4-FFF2-40B4-BE49-F238E27FC236}">
                    <a16:creationId xmlns:a16="http://schemas.microsoft.com/office/drawing/2014/main" id="{CEA03FCE-A37A-4641-BA25-27898784A1BA}"/>
                  </a:ext>
                </a:extLst>
              </p:cNvPr>
              <p:cNvSpPr txBox="1">
                <a:spLocks noRot="1" noChangeAspect="1" noMove="1" noResize="1" noEditPoints="1" noAdjustHandles="1" noChangeArrowheads="1" noChangeShapeType="1" noTextEdit="1"/>
              </p:cNvSpPr>
              <p:nvPr/>
            </p:nvSpPr>
            <p:spPr bwMode="auto">
              <a:xfrm>
                <a:off x="1097332" y="5385373"/>
                <a:ext cx="8567661" cy="1315040"/>
              </a:xfrm>
              <a:prstGeom prst="rect">
                <a:avLst/>
              </a:prstGeom>
              <a:blipFill>
                <a:blip r:embed="rId12"/>
                <a:stretch>
                  <a:fillRect l="-1423" r="-854" b="-125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p:sp>
        <p:nvSpPr>
          <p:cNvPr id="46" name="Text Box 4">
            <a:extLst>
              <a:ext uri="{FF2B5EF4-FFF2-40B4-BE49-F238E27FC236}">
                <a16:creationId xmlns:a16="http://schemas.microsoft.com/office/drawing/2014/main" id="{B987BEF0-374B-493A-A512-3289BABDB9C4}"/>
              </a:ext>
            </a:extLst>
          </p:cNvPr>
          <p:cNvSpPr txBox="1">
            <a:spLocks noChangeArrowheads="1"/>
          </p:cNvSpPr>
          <p:nvPr/>
        </p:nvSpPr>
        <p:spPr bwMode="auto">
          <a:xfrm>
            <a:off x="1584269" y="228299"/>
            <a:ext cx="87901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0" i="0" u="none" dirty="0">
                <a:latin typeface="华文楷体" panose="02010600040101010101" pitchFamily="2" charset="-122"/>
                <a:ea typeface="华文楷体" panose="02010600040101010101" pitchFamily="2" charset="-122"/>
              </a:rPr>
              <a:t>例</a:t>
            </a:r>
            <a:r>
              <a:rPr lang="en-US" altLang="zh-CN" sz="2800" b="0" i="0" u="none" dirty="0">
                <a:latin typeface="华文楷体" panose="02010600040101010101" pitchFamily="2" charset="-122"/>
                <a:ea typeface="华文楷体" panose="02010600040101010101" pitchFamily="2" charset="-122"/>
              </a:rPr>
              <a:t>: </a:t>
            </a:r>
            <a:r>
              <a:rPr lang="zh-CN" altLang="en-US" sz="2800" b="0" i="0" u="none" dirty="0">
                <a:latin typeface="华文楷体" panose="02010600040101010101" pitchFamily="2" charset="-122"/>
                <a:ea typeface="华文楷体" panose="02010600040101010101" pitchFamily="2" charset="-122"/>
              </a:rPr>
              <a:t>试分析有自感的电路中电流的变化。</a:t>
            </a:r>
          </a:p>
        </p:txBody>
      </p:sp>
      <p:grpSp>
        <p:nvGrpSpPr>
          <p:cNvPr id="3" name="Group 42">
            <a:extLst>
              <a:ext uri="{FF2B5EF4-FFF2-40B4-BE49-F238E27FC236}">
                <a16:creationId xmlns:a16="http://schemas.microsoft.com/office/drawing/2014/main" id="{AE6A118B-9EE7-BB2E-D7EC-9515A91E0C4D}"/>
              </a:ext>
            </a:extLst>
          </p:cNvPr>
          <p:cNvGrpSpPr>
            <a:grpSpLocks/>
          </p:cNvGrpSpPr>
          <p:nvPr/>
        </p:nvGrpSpPr>
        <p:grpSpPr bwMode="auto">
          <a:xfrm>
            <a:off x="7879812" y="805106"/>
            <a:ext cx="3384550" cy="1584325"/>
            <a:chOff x="2880" y="346"/>
            <a:chExt cx="2586" cy="1360"/>
          </a:xfrm>
        </p:grpSpPr>
        <p:grpSp>
          <p:nvGrpSpPr>
            <p:cNvPr id="4" name="Group 36">
              <a:extLst>
                <a:ext uri="{FF2B5EF4-FFF2-40B4-BE49-F238E27FC236}">
                  <a16:creationId xmlns:a16="http://schemas.microsoft.com/office/drawing/2014/main" id="{786E226D-7F84-9113-A7C2-A35B85BB5190}"/>
                </a:ext>
              </a:extLst>
            </p:cNvPr>
            <p:cNvGrpSpPr>
              <a:grpSpLocks/>
            </p:cNvGrpSpPr>
            <p:nvPr/>
          </p:nvGrpSpPr>
          <p:grpSpPr bwMode="auto">
            <a:xfrm>
              <a:off x="2880" y="346"/>
              <a:ext cx="2586" cy="1360"/>
              <a:chOff x="2880" y="346"/>
              <a:chExt cx="2586" cy="1360"/>
            </a:xfrm>
          </p:grpSpPr>
          <p:sp>
            <p:nvSpPr>
              <p:cNvPr id="48" name="Rectangle 4">
                <a:extLst>
                  <a:ext uri="{FF2B5EF4-FFF2-40B4-BE49-F238E27FC236}">
                    <a16:creationId xmlns:a16="http://schemas.microsoft.com/office/drawing/2014/main" id="{8B6DC6DB-605B-D75E-DDF9-2A7C3F570943}"/>
                  </a:ext>
                </a:extLst>
              </p:cNvPr>
              <p:cNvSpPr>
                <a:spLocks noChangeArrowheads="1"/>
              </p:cNvSpPr>
              <p:nvPr/>
            </p:nvSpPr>
            <p:spPr bwMode="auto">
              <a:xfrm>
                <a:off x="3607" y="346"/>
                <a:ext cx="410" cy="181"/>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25400">
                <a:solidFill>
                  <a:srgbClr val="000000"/>
                </a:solidFill>
                <a:miter lim="800000"/>
                <a:headEnd/>
                <a:tailEnd/>
              </a:ln>
              <a:effectLst/>
            </p:spPr>
            <p:txBody>
              <a:bodyPr wrap="none" anchor="ctr"/>
              <a:lstStyle/>
              <a:p>
                <a:pPr>
                  <a:defRPr/>
                </a:pPr>
                <a:endParaRPr lang="zh-CN" altLang="en-US">
                  <a:ea typeface="华文新魏" panose="02010800040101010101" pitchFamily="2" charset="-122"/>
                </a:endParaRPr>
              </a:p>
            </p:txBody>
          </p:sp>
          <p:grpSp>
            <p:nvGrpSpPr>
              <p:cNvPr id="49" name="Group 21">
                <a:extLst>
                  <a:ext uri="{FF2B5EF4-FFF2-40B4-BE49-F238E27FC236}">
                    <a16:creationId xmlns:a16="http://schemas.microsoft.com/office/drawing/2014/main" id="{F30A5649-A92D-AAD4-EBC3-5B460A91D692}"/>
                  </a:ext>
                </a:extLst>
              </p:cNvPr>
              <p:cNvGrpSpPr>
                <a:grpSpLocks/>
              </p:cNvGrpSpPr>
              <p:nvPr/>
            </p:nvGrpSpPr>
            <p:grpSpPr bwMode="auto">
              <a:xfrm>
                <a:off x="4604" y="390"/>
                <a:ext cx="363" cy="137"/>
                <a:chOff x="1655" y="2341"/>
                <a:chExt cx="363" cy="137"/>
              </a:xfrm>
            </p:grpSpPr>
            <p:sp>
              <p:nvSpPr>
                <p:cNvPr id="77" name="AutoShape 16">
                  <a:extLst>
                    <a:ext uri="{FF2B5EF4-FFF2-40B4-BE49-F238E27FC236}">
                      <a16:creationId xmlns:a16="http://schemas.microsoft.com/office/drawing/2014/main" id="{FFF9D6F1-0991-F93E-2A6E-836356972E14}"/>
                    </a:ext>
                  </a:extLst>
                </p:cNvPr>
                <p:cNvSpPr>
                  <a:spLocks noChangeArrowheads="1"/>
                </p:cNvSpPr>
                <p:nvPr/>
              </p:nvSpPr>
              <p:spPr bwMode="auto">
                <a:xfrm>
                  <a:off x="1655"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78" name="AutoShape 17">
                  <a:extLst>
                    <a:ext uri="{FF2B5EF4-FFF2-40B4-BE49-F238E27FC236}">
                      <a16:creationId xmlns:a16="http://schemas.microsoft.com/office/drawing/2014/main" id="{BADF035D-E9F4-27DF-3648-08A89FE1AF12}"/>
                    </a:ext>
                  </a:extLst>
                </p:cNvPr>
                <p:cNvSpPr>
                  <a:spLocks noChangeArrowheads="1"/>
                </p:cNvSpPr>
                <p:nvPr/>
              </p:nvSpPr>
              <p:spPr bwMode="auto">
                <a:xfrm>
                  <a:off x="1746"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79" name="AutoShape 18">
                  <a:extLst>
                    <a:ext uri="{FF2B5EF4-FFF2-40B4-BE49-F238E27FC236}">
                      <a16:creationId xmlns:a16="http://schemas.microsoft.com/office/drawing/2014/main" id="{6130917B-FBB9-A571-4CF5-E5515CC451EC}"/>
                    </a:ext>
                  </a:extLst>
                </p:cNvPr>
                <p:cNvSpPr>
                  <a:spLocks noChangeArrowheads="1"/>
                </p:cNvSpPr>
                <p:nvPr/>
              </p:nvSpPr>
              <p:spPr bwMode="auto">
                <a:xfrm>
                  <a:off x="183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80" name="AutoShape 19">
                  <a:extLst>
                    <a:ext uri="{FF2B5EF4-FFF2-40B4-BE49-F238E27FC236}">
                      <a16:creationId xmlns:a16="http://schemas.microsoft.com/office/drawing/2014/main" id="{2471CEC0-17FD-5E33-85B3-1A146DA7DF2C}"/>
                    </a:ext>
                  </a:extLst>
                </p:cNvPr>
                <p:cNvSpPr>
                  <a:spLocks noChangeArrowheads="1"/>
                </p:cNvSpPr>
                <p:nvPr/>
              </p:nvSpPr>
              <p:spPr bwMode="auto">
                <a:xfrm>
                  <a:off x="192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grpSp>
          <p:grpSp>
            <p:nvGrpSpPr>
              <p:cNvPr id="50" name="Group 31">
                <a:extLst>
                  <a:ext uri="{FF2B5EF4-FFF2-40B4-BE49-F238E27FC236}">
                    <a16:creationId xmlns:a16="http://schemas.microsoft.com/office/drawing/2014/main" id="{9CD625E9-FF4F-B7FD-2156-90D1FF28D119}"/>
                  </a:ext>
                </a:extLst>
              </p:cNvPr>
              <p:cNvGrpSpPr>
                <a:grpSpLocks/>
              </p:cNvGrpSpPr>
              <p:nvPr/>
            </p:nvGrpSpPr>
            <p:grpSpPr bwMode="auto">
              <a:xfrm>
                <a:off x="3651" y="1008"/>
                <a:ext cx="362" cy="227"/>
                <a:chOff x="1565" y="2205"/>
                <a:chExt cx="362" cy="227"/>
              </a:xfrm>
            </p:grpSpPr>
            <p:grpSp>
              <p:nvGrpSpPr>
                <p:cNvPr id="68" name="Group 24">
                  <a:extLst>
                    <a:ext uri="{FF2B5EF4-FFF2-40B4-BE49-F238E27FC236}">
                      <a16:creationId xmlns:a16="http://schemas.microsoft.com/office/drawing/2014/main" id="{E8DB4FF2-E7E8-30FA-62BE-80A7E32BCA76}"/>
                    </a:ext>
                  </a:extLst>
                </p:cNvPr>
                <p:cNvGrpSpPr>
                  <a:grpSpLocks/>
                </p:cNvGrpSpPr>
                <p:nvPr/>
              </p:nvGrpSpPr>
              <p:grpSpPr bwMode="auto">
                <a:xfrm>
                  <a:off x="1565" y="2205"/>
                  <a:ext cx="72" cy="227"/>
                  <a:chOff x="1565" y="2205"/>
                  <a:chExt cx="72" cy="227"/>
                </a:xfrm>
              </p:grpSpPr>
              <p:sp>
                <p:nvSpPr>
                  <p:cNvPr id="75" name="Line 22">
                    <a:extLst>
                      <a:ext uri="{FF2B5EF4-FFF2-40B4-BE49-F238E27FC236}">
                        <a16:creationId xmlns:a16="http://schemas.microsoft.com/office/drawing/2014/main" id="{34425B17-2C77-64D3-B157-EE63DB7D988B}"/>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76" name="Line 23">
                    <a:extLst>
                      <a:ext uri="{FF2B5EF4-FFF2-40B4-BE49-F238E27FC236}">
                        <a16:creationId xmlns:a16="http://schemas.microsoft.com/office/drawing/2014/main" id="{3D719B87-17AB-FE88-CEF6-7EEE7C4BEDEB}"/>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nvGrpSpPr>
                <p:cNvPr id="69" name="Group 25">
                  <a:extLst>
                    <a:ext uri="{FF2B5EF4-FFF2-40B4-BE49-F238E27FC236}">
                      <a16:creationId xmlns:a16="http://schemas.microsoft.com/office/drawing/2014/main" id="{02838153-65DB-D3FA-B09E-E91623BC97B2}"/>
                    </a:ext>
                  </a:extLst>
                </p:cNvPr>
                <p:cNvGrpSpPr>
                  <a:grpSpLocks/>
                </p:cNvGrpSpPr>
                <p:nvPr/>
              </p:nvGrpSpPr>
              <p:grpSpPr bwMode="auto">
                <a:xfrm>
                  <a:off x="1701" y="2205"/>
                  <a:ext cx="72" cy="227"/>
                  <a:chOff x="1565" y="2205"/>
                  <a:chExt cx="72" cy="227"/>
                </a:xfrm>
              </p:grpSpPr>
              <p:sp>
                <p:nvSpPr>
                  <p:cNvPr id="73" name="Line 26">
                    <a:extLst>
                      <a:ext uri="{FF2B5EF4-FFF2-40B4-BE49-F238E27FC236}">
                        <a16:creationId xmlns:a16="http://schemas.microsoft.com/office/drawing/2014/main" id="{DC5769E0-DAE3-DE6D-1340-1C5DFBC5F396}"/>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74" name="Line 27">
                    <a:extLst>
                      <a:ext uri="{FF2B5EF4-FFF2-40B4-BE49-F238E27FC236}">
                        <a16:creationId xmlns:a16="http://schemas.microsoft.com/office/drawing/2014/main" id="{E00767C3-880A-637E-0F15-48FED6E8507D}"/>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nvGrpSpPr>
                <p:cNvPr id="70" name="Group 28">
                  <a:extLst>
                    <a:ext uri="{FF2B5EF4-FFF2-40B4-BE49-F238E27FC236}">
                      <a16:creationId xmlns:a16="http://schemas.microsoft.com/office/drawing/2014/main" id="{069D5F68-2C91-55E8-91AC-8CDC1FBD4860}"/>
                    </a:ext>
                  </a:extLst>
                </p:cNvPr>
                <p:cNvGrpSpPr>
                  <a:grpSpLocks/>
                </p:cNvGrpSpPr>
                <p:nvPr/>
              </p:nvGrpSpPr>
              <p:grpSpPr bwMode="auto">
                <a:xfrm>
                  <a:off x="1855" y="2205"/>
                  <a:ext cx="72" cy="227"/>
                  <a:chOff x="1565" y="2205"/>
                  <a:chExt cx="72" cy="227"/>
                </a:xfrm>
              </p:grpSpPr>
              <p:sp>
                <p:nvSpPr>
                  <p:cNvPr id="71" name="Line 29">
                    <a:extLst>
                      <a:ext uri="{FF2B5EF4-FFF2-40B4-BE49-F238E27FC236}">
                        <a16:creationId xmlns:a16="http://schemas.microsoft.com/office/drawing/2014/main" id="{DE270D77-D9EB-4D0F-C16E-09A3FB804328}"/>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72" name="Line 30">
                    <a:extLst>
                      <a:ext uri="{FF2B5EF4-FFF2-40B4-BE49-F238E27FC236}">
                        <a16:creationId xmlns:a16="http://schemas.microsoft.com/office/drawing/2014/main" id="{0BD5B320-0CE3-3ACE-1712-057289810F93}"/>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grpSp>
            <p:nvGrpSpPr>
              <p:cNvPr id="56" name="Group 35">
                <a:extLst>
                  <a:ext uri="{FF2B5EF4-FFF2-40B4-BE49-F238E27FC236}">
                    <a16:creationId xmlns:a16="http://schemas.microsoft.com/office/drawing/2014/main" id="{F73C4550-13D5-1C0A-E342-10CF044A2BA6}"/>
                  </a:ext>
                </a:extLst>
              </p:cNvPr>
              <p:cNvGrpSpPr>
                <a:grpSpLocks/>
              </p:cNvGrpSpPr>
              <p:nvPr/>
            </p:nvGrpSpPr>
            <p:grpSpPr bwMode="auto">
              <a:xfrm>
                <a:off x="2880" y="436"/>
                <a:ext cx="2586" cy="1270"/>
                <a:chOff x="2880" y="436"/>
                <a:chExt cx="2586" cy="1270"/>
              </a:xfrm>
            </p:grpSpPr>
            <p:sp>
              <p:nvSpPr>
                <p:cNvPr id="57" name="Line 6">
                  <a:extLst>
                    <a:ext uri="{FF2B5EF4-FFF2-40B4-BE49-F238E27FC236}">
                      <a16:creationId xmlns:a16="http://schemas.microsoft.com/office/drawing/2014/main" id="{B326AB11-A83C-0A51-ADE9-95556BC2527A}"/>
                    </a:ext>
                  </a:extLst>
                </p:cNvPr>
                <p:cNvSpPr>
                  <a:spLocks noChangeShapeType="1"/>
                </p:cNvSpPr>
                <p:nvPr/>
              </p:nvSpPr>
              <p:spPr bwMode="auto">
                <a:xfrm>
                  <a:off x="2880" y="436"/>
                  <a:ext cx="726"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58" name="Line 7">
                  <a:extLst>
                    <a:ext uri="{FF2B5EF4-FFF2-40B4-BE49-F238E27FC236}">
                      <a16:creationId xmlns:a16="http://schemas.microsoft.com/office/drawing/2014/main" id="{3132F49B-BC62-3AAE-DB70-AC7CBFB55A1A}"/>
                    </a:ext>
                  </a:extLst>
                </p:cNvPr>
                <p:cNvSpPr>
                  <a:spLocks noChangeShapeType="1"/>
                </p:cNvSpPr>
                <p:nvPr/>
              </p:nvSpPr>
              <p:spPr bwMode="auto">
                <a:xfrm>
                  <a:off x="2880"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59" name="Line 9">
                  <a:extLst>
                    <a:ext uri="{FF2B5EF4-FFF2-40B4-BE49-F238E27FC236}">
                      <a16:creationId xmlns:a16="http://schemas.microsoft.com/office/drawing/2014/main" id="{60BEC216-1439-14DC-1CEA-1355BA0BA607}"/>
                    </a:ext>
                  </a:extLst>
                </p:cNvPr>
                <p:cNvSpPr>
                  <a:spLocks noChangeShapeType="1"/>
                </p:cNvSpPr>
                <p:nvPr/>
              </p:nvSpPr>
              <p:spPr bwMode="auto">
                <a:xfrm>
                  <a:off x="4876" y="1117"/>
                  <a:ext cx="58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0" name="Line 10">
                  <a:extLst>
                    <a:ext uri="{FF2B5EF4-FFF2-40B4-BE49-F238E27FC236}">
                      <a16:creationId xmlns:a16="http://schemas.microsoft.com/office/drawing/2014/main" id="{56FCAC66-E2E4-B321-EFDF-D31E647B44D2}"/>
                    </a:ext>
                  </a:extLst>
                </p:cNvPr>
                <p:cNvSpPr>
                  <a:spLocks noChangeShapeType="1"/>
                </p:cNvSpPr>
                <p:nvPr/>
              </p:nvSpPr>
              <p:spPr bwMode="auto">
                <a:xfrm>
                  <a:off x="4014" y="1117"/>
                  <a:ext cx="454"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1" name="Line 11">
                  <a:extLst>
                    <a:ext uri="{FF2B5EF4-FFF2-40B4-BE49-F238E27FC236}">
                      <a16:creationId xmlns:a16="http://schemas.microsoft.com/office/drawing/2014/main" id="{C5DABD59-E9DE-B73E-9758-964F6F895FEC}"/>
                    </a:ext>
                  </a:extLst>
                </p:cNvPr>
                <p:cNvSpPr>
                  <a:spLocks noChangeShapeType="1"/>
                </p:cNvSpPr>
                <p:nvPr/>
              </p:nvSpPr>
              <p:spPr bwMode="auto">
                <a:xfrm>
                  <a:off x="2880" y="1117"/>
                  <a:ext cx="771"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2" name="Line 12">
                  <a:extLst>
                    <a:ext uri="{FF2B5EF4-FFF2-40B4-BE49-F238E27FC236}">
                      <a16:creationId xmlns:a16="http://schemas.microsoft.com/office/drawing/2014/main" id="{DCE3AD37-91BE-0747-7BE2-2EC6C84050E0}"/>
                    </a:ext>
                  </a:extLst>
                </p:cNvPr>
                <p:cNvSpPr>
                  <a:spLocks noChangeShapeType="1"/>
                </p:cNvSpPr>
                <p:nvPr/>
              </p:nvSpPr>
              <p:spPr bwMode="auto">
                <a:xfrm>
                  <a:off x="4876" y="1706"/>
                  <a:ext cx="589"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3" name="Line 13">
                  <a:extLst>
                    <a:ext uri="{FF2B5EF4-FFF2-40B4-BE49-F238E27FC236}">
                      <a16:creationId xmlns:a16="http://schemas.microsoft.com/office/drawing/2014/main" id="{EFFF07C8-CB0A-A508-77CB-7071305CA883}"/>
                    </a:ext>
                  </a:extLst>
                </p:cNvPr>
                <p:cNvSpPr>
                  <a:spLocks noChangeShapeType="1"/>
                </p:cNvSpPr>
                <p:nvPr/>
              </p:nvSpPr>
              <p:spPr bwMode="auto">
                <a:xfrm>
                  <a:off x="2880" y="1706"/>
                  <a:ext cx="1588"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4" name="Line 14">
                  <a:extLst>
                    <a:ext uri="{FF2B5EF4-FFF2-40B4-BE49-F238E27FC236}">
                      <a16:creationId xmlns:a16="http://schemas.microsoft.com/office/drawing/2014/main" id="{F35F82D2-7989-37A5-23C1-2BF9B93B7514}"/>
                    </a:ext>
                  </a:extLst>
                </p:cNvPr>
                <p:cNvSpPr>
                  <a:spLocks noChangeShapeType="1"/>
                </p:cNvSpPr>
                <p:nvPr/>
              </p:nvSpPr>
              <p:spPr bwMode="auto">
                <a:xfrm>
                  <a:off x="4967" y="436"/>
                  <a:ext cx="49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5" name="Line 15">
                  <a:extLst>
                    <a:ext uri="{FF2B5EF4-FFF2-40B4-BE49-F238E27FC236}">
                      <a16:creationId xmlns:a16="http://schemas.microsoft.com/office/drawing/2014/main" id="{0553FDE5-9894-9E0C-B037-DEFD8E5CD369}"/>
                    </a:ext>
                  </a:extLst>
                </p:cNvPr>
                <p:cNvSpPr>
                  <a:spLocks noChangeShapeType="1"/>
                </p:cNvSpPr>
                <p:nvPr/>
              </p:nvSpPr>
              <p:spPr bwMode="auto">
                <a:xfrm>
                  <a:off x="4014" y="436"/>
                  <a:ext cx="590"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6" name="Line 32">
                  <a:extLst>
                    <a:ext uri="{FF2B5EF4-FFF2-40B4-BE49-F238E27FC236}">
                      <a16:creationId xmlns:a16="http://schemas.microsoft.com/office/drawing/2014/main" id="{6A993D8B-3037-B7AA-3301-8879927E10DF}"/>
                    </a:ext>
                  </a:extLst>
                </p:cNvPr>
                <p:cNvSpPr>
                  <a:spLocks noChangeShapeType="1"/>
                </p:cNvSpPr>
                <p:nvPr/>
              </p:nvSpPr>
              <p:spPr bwMode="auto">
                <a:xfrm>
                  <a:off x="5465"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67" name="Line 34">
                  <a:extLst>
                    <a:ext uri="{FF2B5EF4-FFF2-40B4-BE49-F238E27FC236}">
                      <a16:creationId xmlns:a16="http://schemas.microsoft.com/office/drawing/2014/main" id="{84CF03E3-6D57-088C-E725-E06DA248E9A5}"/>
                    </a:ext>
                  </a:extLst>
                </p:cNvPr>
                <p:cNvSpPr>
                  <a:spLocks noChangeShapeType="1"/>
                </p:cNvSpPr>
                <p:nvPr/>
              </p:nvSpPr>
              <p:spPr bwMode="auto">
                <a:xfrm>
                  <a:off x="4468" y="1479"/>
                  <a:ext cx="408" cy="227"/>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mc:AlternateContent xmlns:mc="http://schemas.openxmlformats.org/markup-compatibility/2006" xmlns:a14="http://schemas.microsoft.com/office/drawing/2010/main">
          <mc:Choice Requires="a14">
            <p:sp>
              <p:nvSpPr>
                <p:cNvPr id="42" name="Object 8">
                  <a:extLst>
                    <a:ext uri="{FF2B5EF4-FFF2-40B4-BE49-F238E27FC236}">
                      <a16:creationId xmlns:a16="http://schemas.microsoft.com/office/drawing/2014/main" id="{810392EC-70E1-02FB-A070-0E2D3FBA8676}"/>
                    </a:ext>
                  </a:extLst>
                </p:cNvPr>
                <p:cNvSpPr txBox="1"/>
                <p:nvPr/>
              </p:nvSpPr>
              <p:spPr bwMode="auto">
                <a:xfrm>
                  <a:off x="3714" y="1167"/>
                  <a:ext cx="299" cy="33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𝜀</m:t>
                        </m:r>
                      </m:oMath>
                    </m:oMathPara>
                  </a14:m>
                  <a:endParaRPr lang="en-US" sz="2400" dirty="0"/>
                </a:p>
              </p:txBody>
            </p:sp>
          </mc:Choice>
          <mc:Fallback xmlns="">
            <p:sp>
              <p:nvSpPr>
                <p:cNvPr id="42" name="Object 8">
                  <a:extLst>
                    <a:ext uri="{FF2B5EF4-FFF2-40B4-BE49-F238E27FC236}">
                      <a16:creationId xmlns:a16="http://schemas.microsoft.com/office/drawing/2014/main" id="{810392EC-70E1-02FB-A070-0E2D3FBA8676}"/>
                    </a:ext>
                  </a:extLst>
                </p:cNvPr>
                <p:cNvSpPr txBox="1">
                  <a:spLocks noRot="1" noChangeAspect="1" noMove="1" noResize="1" noEditPoints="1" noAdjustHandles="1" noChangeArrowheads="1" noChangeShapeType="1" noTextEdit="1"/>
                </p:cNvSpPr>
                <p:nvPr/>
              </p:nvSpPr>
              <p:spPr bwMode="auto">
                <a:xfrm>
                  <a:off x="3714" y="1167"/>
                  <a:ext cx="299" cy="331"/>
                </a:xfrm>
                <a:prstGeom prst="rect">
                  <a:avLst/>
                </a:prstGeom>
                <a:blipFill>
                  <a:blip r:embed="rId13"/>
                  <a:stretch>
                    <a:fillRect b="-7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Object 9">
                  <a:extLst>
                    <a:ext uri="{FF2B5EF4-FFF2-40B4-BE49-F238E27FC236}">
                      <a16:creationId xmlns:a16="http://schemas.microsoft.com/office/drawing/2014/main" id="{D7D5D608-CDE0-3805-050F-D845F8084FF3}"/>
                    </a:ext>
                  </a:extLst>
                </p:cNvPr>
                <p:cNvSpPr txBox="1"/>
                <p:nvPr/>
              </p:nvSpPr>
              <p:spPr bwMode="auto">
                <a:xfrm>
                  <a:off x="3665" y="474"/>
                  <a:ext cx="213" cy="21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𝑅</m:t>
                        </m:r>
                      </m:oMath>
                    </m:oMathPara>
                  </a14:m>
                  <a:endParaRPr lang="en-US" sz="2400" dirty="0"/>
                </a:p>
              </p:txBody>
            </p:sp>
          </mc:Choice>
          <mc:Fallback xmlns="">
            <p:sp>
              <p:nvSpPr>
                <p:cNvPr id="43" name="Object 9">
                  <a:extLst>
                    <a:ext uri="{FF2B5EF4-FFF2-40B4-BE49-F238E27FC236}">
                      <a16:creationId xmlns:a16="http://schemas.microsoft.com/office/drawing/2014/main" id="{D7D5D608-CDE0-3805-050F-D845F8084FF3}"/>
                    </a:ext>
                  </a:extLst>
                </p:cNvPr>
                <p:cNvSpPr txBox="1">
                  <a:spLocks noRot="1" noChangeAspect="1" noMove="1" noResize="1" noEditPoints="1" noAdjustHandles="1" noChangeArrowheads="1" noChangeShapeType="1" noTextEdit="1"/>
                </p:cNvSpPr>
                <p:nvPr/>
              </p:nvSpPr>
              <p:spPr bwMode="auto">
                <a:xfrm>
                  <a:off x="3665" y="474"/>
                  <a:ext cx="213" cy="215"/>
                </a:xfrm>
                <a:prstGeom prst="rect">
                  <a:avLst/>
                </a:prstGeom>
                <a:blipFill>
                  <a:blip r:embed="rId14"/>
                  <a:stretch>
                    <a:fillRect l="-4348" r="-41304" b="-780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Object 10">
                  <a:extLst>
                    <a:ext uri="{FF2B5EF4-FFF2-40B4-BE49-F238E27FC236}">
                      <a16:creationId xmlns:a16="http://schemas.microsoft.com/office/drawing/2014/main" id="{67F3553B-678E-F511-B861-DBDD62865BC4}"/>
                    </a:ext>
                  </a:extLst>
                </p:cNvPr>
                <p:cNvSpPr txBox="1"/>
                <p:nvPr/>
              </p:nvSpPr>
              <p:spPr bwMode="auto">
                <a:xfrm>
                  <a:off x="4694" y="453"/>
                  <a:ext cx="213" cy="21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𝐿</m:t>
                        </m:r>
                      </m:oMath>
                    </m:oMathPara>
                  </a14:m>
                  <a:endParaRPr lang="en-US" sz="2400" dirty="0"/>
                </a:p>
              </p:txBody>
            </p:sp>
          </mc:Choice>
          <mc:Fallback xmlns="">
            <p:sp>
              <p:nvSpPr>
                <p:cNvPr id="44" name="Object 10">
                  <a:extLst>
                    <a:ext uri="{FF2B5EF4-FFF2-40B4-BE49-F238E27FC236}">
                      <a16:creationId xmlns:a16="http://schemas.microsoft.com/office/drawing/2014/main" id="{67F3553B-678E-F511-B861-DBDD62865BC4}"/>
                    </a:ext>
                  </a:extLst>
                </p:cNvPr>
                <p:cNvSpPr txBox="1">
                  <a:spLocks noRot="1" noChangeAspect="1" noMove="1" noResize="1" noEditPoints="1" noAdjustHandles="1" noChangeArrowheads="1" noChangeShapeType="1" noTextEdit="1"/>
                </p:cNvSpPr>
                <p:nvPr/>
              </p:nvSpPr>
              <p:spPr bwMode="auto">
                <a:xfrm>
                  <a:off x="4694" y="453"/>
                  <a:ext cx="213" cy="215"/>
                </a:xfrm>
                <a:prstGeom prst="rect">
                  <a:avLst/>
                </a:prstGeom>
                <a:blipFill>
                  <a:blip r:embed="rId15"/>
                  <a:stretch>
                    <a:fillRect l="-4348" r="-30435" b="-780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Object 11">
                  <a:extLst>
                    <a:ext uri="{FF2B5EF4-FFF2-40B4-BE49-F238E27FC236}">
                      <a16:creationId xmlns:a16="http://schemas.microsoft.com/office/drawing/2014/main" id="{8D337402-24FA-F236-C816-5F39CD09B611}"/>
                    </a:ext>
                  </a:extLst>
                </p:cNvPr>
                <p:cNvSpPr txBox="1"/>
                <p:nvPr/>
              </p:nvSpPr>
              <p:spPr bwMode="auto">
                <a:xfrm>
                  <a:off x="4656" y="749"/>
                  <a:ext cx="250" cy="32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45" name="Object 11">
                  <a:extLst>
                    <a:ext uri="{FF2B5EF4-FFF2-40B4-BE49-F238E27FC236}">
                      <a16:creationId xmlns:a16="http://schemas.microsoft.com/office/drawing/2014/main" id="{8D337402-24FA-F236-C816-5F39CD09B611}"/>
                    </a:ext>
                  </a:extLst>
                </p:cNvPr>
                <p:cNvSpPr txBox="1">
                  <a:spLocks noRot="1" noChangeAspect="1" noMove="1" noResize="1" noEditPoints="1" noAdjustHandles="1" noChangeArrowheads="1" noChangeShapeType="1" noTextEdit="1"/>
                </p:cNvSpPr>
                <p:nvPr/>
              </p:nvSpPr>
              <p:spPr bwMode="auto">
                <a:xfrm>
                  <a:off x="4656" y="749"/>
                  <a:ext cx="250" cy="323"/>
                </a:xfrm>
                <a:prstGeom prst="rect">
                  <a:avLst/>
                </a:prstGeom>
                <a:blipFill>
                  <a:blip r:embed="rId16"/>
                  <a:stretch>
                    <a:fillRect r="-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Object 12">
                  <a:extLst>
                    <a:ext uri="{FF2B5EF4-FFF2-40B4-BE49-F238E27FC236}">
                      <a16:creationId xmlns:a16="http://schemas.microsoft.com/office/drawing/2014/main" id="{91307EB2-93EC-A490-2C38-1A004E07F615}"/>
                    </a:ext>
                  </a:extLst>
                </p:cNvPr>
                <p:cNvSpPr txBox="1"/>
                <p:nvPr/>
              </p:nvSpPr>
              <p:spPr bwMode="auto">
                <a:xfrm>
                  <a:off x="4631" y="1301"/>
                  <a:ext cx="250" cy="32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11" name="Object 12">
                  <a:extLst>
                    <a:ext uri="{FF2B5EF4-FFF2-40B4-BE49-F238E27FC236}">
                      <a16:creationId xmlns:a16="http://schemas.microsoft.com/office/drawing/2014/main" id="{7C943582-1280-4845-8EE3-E068468FAC98}"/>
                    </a:ext>
                  </a:extLst>
                </p:cNvPr>
                <p:cNvSpPr txBox="1">
                  <a:spLocks noRot="1" noChangeAspect="1" noMove="1" noResize="1" noEditPoints="1" noAdjustHandles="1" noChangeArrowheads="1" noChangeShapeType="1" noTextEdit="1"/>
                </p:cNvSpPr>
                <p:nvPr/>
              </p:nvSpPr>
              <p:spPr bwMode="auto">
                <a:xfrm>
                  <a:off x="4631" y="1301"/>
                  <a:ext cx="250" cy="322"/>
                </a:xfrm>
                <a:prstGeom prst="rect">
                  <a:avLst/>
                </a:prstGeom>
                <a:blipFill>
                  <a:blip r:embed="rId6"/>
                  <a:stretch>
                    <a:fillRect r="-9434"/>
                  </a:stretch>
                </a:blipFill>
              </p:spPr>
              <p:txBody>
                <a:bodyPr/>
                <a:lstStyle/>
                <a:p>
                  <a:r>
                    <a:rPr lang="en-US">
                      <a:noFill/>
                    </a:rPr>
                    <a:t> </a:t>
                  </a:r>
                </a:p>
              </p:txBody>
            </p:sp>
          </mc:Fallback>
        </mc:AlternateContent>
      </p:grpSp>
      <p:sp>
        <p:nvSpPr>
          <p:cNvPr id="81" name="Line 33">
            <a:extLst>
              <a:ext uri="{FF2B5EF4-FFF2-40B4-BE49-F238E27FC236}">
                <a16:creationId xmlns:a16="http://schemas.microsoft.com/office/drawing/2014/main" id="{EA806B64-778D-6876-B802-F134F4AB2EEB}"/>
              </a:ext>
            </a:extLst>
          </p:cNvPr>
          <p:cNvSpPr>
            <a:spLocks noChangeShapeType="1"/>
          </p:cNvSpPr>
          <p:nvPr/>
        </p:nvSpPr>
        <p:spPr bwMode="auto">
          <a:xfrm>
            <a:off x="9920229" y="1700948"/>
            <a:ext cx="594193"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Tree>
    <p:extLst>
      <p:ext uri="{BB962C8B-B14F-4D97-AF65-F5344CB8AC3E}">
        <p14:creationId xmlns:p14="http://schemas.microsoft.com/office/powerpoint/2010/main" val="18960267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2" grpId="0"/>
      <p:bldP spid="54"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8386" name="Text Box 7"/>
              <p:cNvSpPr txBox="1">
                <a:spLocks noChangeArrowheads="1"/>
              </p:cNvSpPr>
              <p:nvPr/>
            </p:nvSpPr>
            <p:spPr bwMode="auto">
              <a:xfrm>
                <a:off x="648387" y="167108"/>
                <a:ext cx="6434369" cy="1170257"/>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30000"/>
                  </a:lnSpc>
                  <a:spcBef>
                    <a:spcPct val="50000"/>
                  </a:spcBef>
                </a:pPr>
                <a:r>
                  <a:rPr lang="en-US" altLang="zh-CN" sz="2800" b="0" i="0" u="none" dirty="0">
                    <a:solidFill>
                      <a:srgbClr val="000000"/>
                    </a:solidFill>
                    <a:latin typeface="华文楷体" panose="02010600040101010101" pitchFamily="2" charset="-122"/>
                    <a:ea typeface="华文楷体" panose="02010600040101010101" pitchFamily="2" charset="-122"/>
                  </a:rPr>
                  <a:t>- </a:t>
                </a:r>
                <a:r>
                  <a:rPr lang="zh-CN" altLang="en-US" sz="2800" b="0" i="0" u="none" dirty="0">
                    <a:solidFill>
                      <a:srgbClr val="000000"/>
                    </a:solidFill>
                    <a:latin typeface="华文楷体" panose="02010600040101010101" pitchFamily="2" charset="-122"/>
                    <a:ea typeface="华文楷体" panose="02010600040101010101" pitchFamily="2" charset="-122"/>
                  </a:rPr>
                  <a:t>当上述电路中电流达到稳定值</a:t>
                </a:r>
                <a14:m>
                  <m:oMath xmlns:m="http://schemas.openxmlformats.org/officeDocument/2006/math">
                    <m:r>
                      <a:rPr lang="en-US" altLang="zh-CN" sz="2800" b="0" i="1" u="none" dirty="0">
                        <a:solidFill>
                          <a:srgbClr val="000000"/>
                        </a:solidFill>
                        <a:latin typeface="Cambria Math" panose="02040503050406030204" pitchFamily="18" charset="0"/>
                        <a:ea typeface="黑体" panose="02010609060101010101" pitchFamily="49" charset="-122"/>
                      </a:rPr>
                      <m:t>𝐼</m:t>
                    </m:r>
                    <m:r>
                      <a:rPr lang="en-US" altLang="zh-CN" sz="2800" b="0" i="1" u="none" baseline="-25000" dirty="0">
                        <a:solidFill>
                          <a:srgbClr val="000000"/>
                        </a:solidFill>
                        <a:latin typeface="Cambria Math" panose="02040503050406030204" pitchFamily="18" charset="0"/>
                        <a:ea typeface="黑体" panose="02010609060101010101" pitchFamily="49" charset="-122"/>
                      </a:rPr>
                      <m:t>0</m:t>
                    </m:r>
                  </m:oMath>
                </a14:m>
                <a:r>
                  <a:rPr lang="zh-CN" altLang="en-US" sz="2800" b="0" i="0" u="none" dirty="0">
                    <a:solidFill>
                      <a:srgbClr val="000000"/>
                    </a:solidFill>
                    <a:latin typeface="华文楷体" panose="02010600040101010101" pitchFamily="2" charset="-122"/>
                    <a:ea typeface="华文楷体" panose="02010600040101010101" pitchFamily="2" charset="-122"/>
                  </a:rPr>
                  <a:t>后，迅速闭合</a:t>
                </a:r>
                <a14:m>
                  <m:oMath xmlns:m="http://schemas.openxmlformats.org/officeDocument/2006/math">
                    <m:r>
                      <a:rPr lang="en-US" altLang="zh-CN" sz="2800" b="0" i="1" u="none" dirty="0">
                        <a:solidFill>
                          <a:srgbClr val="000000"/>
                        </a:solidFill>
                        <a:latin typeface="Cambria Math" panose="02040503050406030204" pitchFamily="18" charset="0"/>
                        <a:ea typeface="黑体" panose="02010609060101010101" pitchFamily="49" charset="-122"/>
                      </a:rPr>
                      <m:t>𝑆</m:t>
                    </m:r>
                    <m:r>
                      <a:rPr lang="en-US" altLang="zh-CN" sz="2800" b="0" i="1" u="none" baseline="-25000" dirty="0">
                        <a:solidFill>
                          <a:srgbClr val="000000"/>
                        </a:solidFill>
                        <a:latin typeface="Cambria Math" panose="02040503050406030204" pitchFamily="18" charset="0"/>
                        <a:ea typeface="黑体" panose="02010609060101010101" pitchFamily="49" charset="-122"/>
                      </a:rPr>
                      <m:t>2</m:t>
                    </m:r>
                  </m:oMath>
                </a14:m>
                <a:r>
                  <a:rPr lang="zh-CN" altLang="en-US" sz="2800" b="0" i="0" u="none" dirty="0">
                    <a:solidFill>
                      <a:srgbClr val="000000"/>
                    </a:solidFill>
                    <a:latin typeface="华文楷体" panose="02010600040101010101" pitchFamily="2" charset="-122"/>
                    <a:ea typeface="华文楷体" panose="02010600040101010101" pitchFamily="2" charset="-122"/>
                  </a:rPr>
                  <a:t>而断开</a:t>
                </a:r>
                <a14:m>
                  <m:oMath xmlns:m="http://schemas.openxmlformats.org/officeDocument/2006/math">
                    <m:r>
                      <a:rPr lang="en-US" altLang="zh-CN" sz="2800" b="0" i="1" u="none" dirty="0">
                        <a:solidFill>
                          <a:srgbClr val="000000"/>
                        </a:solidFill>
                        <a:latin typeface="Cambria Math" panose="02040503050406030204" pitchFamily="18" charset="0"/>
                        <a:ea typeface="黑体" panose="02010609060101010101" pitchFamily="49" charset="-122"/>
                      </a:rPr>
                      <m:t>𝑆</m:t>
                    </m:r>
                    <m:r>
                      <a:rPr lang="en-US" altLang="zh-CN" sz="2800" b="0" i="1" u="none" baseline="-25000" dirty="0">
                        <a:solidFill>
                          <a:srgbClr val="000000"/>
                        </a:solidFill>
                        <a:latin typeface="Cambria Math" panose="02040503050406030204" pitchFamily="18" charset="0"/>
                        <a:ea typeface="黑体" panose="02010609060101010101" pitchFamily="49" charset="-122"/>
                      </a:rPr>
                      <m:t>1</m:t>
                    </m:r>
                  </m:oMath>
                </a14:m>
                <a:endParaRPr lang="zh-CN" altLang="en-US" sz="2800" b="0" i="0" u="none" dirty="0">
                  <a:solidFill>
                    <a:srgbClr val="000000"/>
                  </a:solidFill>
                  <a:latin typeface="华文楷体" panose="02010600040101010101" pitchFamily="2" charset="-122"/>
                  <a:ea typeface="华文楷体" panose="02010600040101010101" pitchFamily="2" charset="-122"/>
                </a:endParaRPr>
              </a:p>
            </p:txBody>
          </p:sp>
        </mc:Choice>
        <mc:Fallback xmlns="">
          <p:sp>
            <p:nvSpPr>
              <p:cNvPr id="58386" name="Text Box 7"/>
              <p:cNvSpPr txBox="1">
                <a:spLocks noRot="1" noChangeAspect="1" noMove="1" noResize="1" noEditPoints="1" noAdjustHandles="1" noChangeArrowheads="1" noChangeShapeType="1" noTextEdit="1"/>
              </p:cNvSpPr>
              <p:nvPr/>
            </p:nvSpPr>
            <p:spPr bwMode="auto">
              <a:xfrm>
                <a:off x="648387" y="167108"/>
                <a:ext cx="6434369" cy="1170257"/>
              </a:xfrm>
              <a:prstGeom prst="rect">
                <a:avLst/>
              </a:prstGeom>
              <a:blipFill>
                <a:blip r:embed="rId3"/>
                <a:stretch>
                  <a:fillRect l="-1894" b="-135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383" name="Text Box 6"/>
              <p:cNvSpPr txBox="1">
                <a:spLocks noChangeArrowheads="1"/>
              </p:cNvSpPr>
              <p:nvPr/>
            </p:nvSpPr>
            <p:spPr bwMode="auto">
              <a:xfrm>
                <a:off x="1341240" y="5338168"/>
                <a:ext cx="7927207" cy="1315040"/>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gn="just">
                  <a:lnSpc>
                    <a:spcPct val="150000"/>
                  </a:lnSpc>
                  <a:spcBef>
                    <a:spcPct val="50000"/>
                  </a:spcBef>
                </a:pPr>
                <a:r>
                  <a:rPr lang="zh-CN" altLang="en-US" sz="2800" b="0" i="0" u="none" dirty="0">
                    <a:solidFill>
                      <a:srgbClr val="000000"/>
                    </a:solidFill>
                    <a:latin typeface="华文楷体" panose="02010600040101010101" pitchFamily="2" charset="-122"/>
                    <a:ea typeface="华文楷体" panose="02010600040101010101" pitchFamily="2" charset="-122"/>
                  </a:rPr>
                  <a:t>电路接通后电路中的电流逐渐减小，经</a:t>
                </a:r>
                <a14:m>
                  <m:oMath xmlns:m="http://schemas.openxmlformats.org/officeDocument/2006/math">
                    <m:r>
                      <m:rPr>
                        <m:sty m:val="p"/>
                      </m:rPr>
                      <a:rPr lang="zh-CN" altLang="en-US" sz="2800" b="0" i="0" u="none">
                        <a:solidFill>
                          <a:srgbClr val="000000"/>
                        </a:solidFill>
                        <a:latin typeface="Cambria Math" panose="02040503050406030204" pitchFamily="18" charset="0"/>
                        <a:ea typeface="华文新魏" panose="02010800040101010101" pitchFamily="2" charset="-122"/>
                      </a:rPr>
                      <m:t>τ</m:t>
                    </m:r>
                  </m:oMath>
                </a14:m>
                <a:r>
                  <a:rPr lang="zh-CN" altLang="en-US" sz="2800" b="0" i="0" u="none" dirty="0">
                    <a:solidFill>
                      <a:srgbClr val="000000"/>
                    </a:solidFill>
                    <a:latin typeface="华文楷体" panose="02010600040101010101" pitchFamily="2" charset="-122"/>
                    <a:ea typeface="华文楷体" panose="02010600040101010101" pitchFamily="2" charset="-122"/>
                  </a:rPr>
                  <a:t>后，电流降为原来的</a:t>
                </a:r>
                <a14:m>
                  <m:oMath xmlns:m="http://schemas.openxmlformats.org/officeDocument/2006/math">
                    <m:r>
                      <a:rPr lang="en-US" altLang="zh-CN" sz="2800" b="0" i="1" u="none" dirty="0">
                        <a:solidFill>
                          <a:srgbClr val="000000"/>
                        </a:solidFill>
                        <a:latin typeface="Cambria Math" panose="02040503050406030204" pitchFamily="18" charset="0"/>
                        <a:ea typeface="黑体" panose="02010609060101010101" pitchFamily="49" charset="-122"/>
                      </a:rPr>
                      <m:t>37</m:t>
                    </m:r>
                    <m:r>
                      <a:rPr lang="en-US" altLang="zh-CN" sz="2800" b="0" u="none" dirty="0">
                        <a:solidFill>
                          <a:srgbClr val="000000"/>
                        </a:solidFill>
                        <a:latin typeface="Cambria Math" panose="02040503050406030204" pitchFamily="18" charset="0"/>
                        <a:ea typeface="黑体" panose="02010609060101010101" pitchFamily="49" charset="-122"/>
                      </a:rPr>
                      <m:t>%</m:t>
                    </m:r>
                  </m:oMath>
                </a14:m>
                <a:r>
                  <a:rPr lang="zh-CN" altLang="en-US" sz="2800" b="0" i="0" u="none" dirty="0">
                    <a:solidFill>
                      <a:srgbClr val="000000"/>
                    </a:solidFill>
                    <a:latin typeface="华文楷体" panose="02010600040101010101" pitchFamily="2" charset="-122"/>
                    <a:ea typeface="华文楷体" panose="02010600040101010101" pitchFamily="2" charset="-122"/>
                  </a:rPr>
                  <a:t>。</a:t>
                </a:r>
              </a:p>
            </p:txBody>
          </p:sp>
        </mc:Choice>
        <mc:Fallback xmlns="">
          <p:sp>
            <p:nvSpPr>
              <p:cNvPr id="58383" name="Text Box 6"/>
              <p:cNvSpPr txBox="1">
                <a:spLocks noRot="1" noChangeAspect="1" noMove="1" noResize="1" noEditPoints="1" noAdjustHandles="1" noChangeArrowheads="1" noChangeShapeType="1" noTextEdit="1"/>
              </p:cNvSpPr>
              <p:nvPr/>
            </p:nvSpPr>
            <p:spPr bwMode="auto">
              <a:xfrm>
                <a:off x="1341240" y="5338168"/>
                <a:ext cx="7927207" cy="1315040"/>
              </a:xfrm>
              <a:prstGeom prst="rect">
                <a:avLst/>
              </a:prstGeom>
              <a:blipFill>
                <a:blip r:embed="rId4"/>
                <a:stretch>
                  <a:fillRect l="-1538" r="-1615" b="-1302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3017804" y="2837790"/>
                <a:ext cx="1883208" cy="8184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a:latin typeface="Cambria Math" panose="02040503050406030204" pitchFamily="18" charset="0"/>
                        </a:rPr>
                        <m:t>−</m:t>
                      </m:r>
                      <m:r>
                        <a:rPr lang="en-US" altLang="zh-CN" sz="2800" b="0" i="1">
                          <a:latin typeface="Cambria Math" panose="02040503050406030204" pitchFamily="18" charset="0"/>
                        </a:rPr>
                        <m:t>𝐿</m:t>
                      </m:r>
                      <m:f>
                        <m:fPr>
                          <m:ctrlPr>
                            <a:rPr lang="en-US" altLang="zh-CN" sz="2800" i="1">
                              <a:latin typeface="Cambria Math" panose="02040503050406030204" pitchFamily="18" charset="0"/>
                            </a:rPr>
                          </m:ctrlPr>
                        </m:fPr>
                        <m:num>
                          <m:r>
                            <a:rPr lang="en-US" altLang="zh-CN" sz="2800" b="0" i="1">
                              <a:latin typeface="Cambria Math" panose="02040503050406030204" pitchFamily="18" charset="0"/>
                            </a:rPr>
                            <m:t>𝑑𝐼</m:t>
                          </m:r>
                        </m:num>
                        <m:den>
                          <m:r>
                            <a:rPr lang="en-US" altLang="zh-CN" sz="2800" b="0" i="1">
                              <a:latin typeface="Cambria Math" panose="02040503050406030204" pitchFamily="18" charset="0"/>
                            </a:rPr>
                            <m:t>𝑑𝑡</m:t>
                          </m:r>
                        </m:den>
                      </m:f>
                      <m:r>
                        <a:rPr lang="en-US" altLang="zh-CN" sz="2800" b="0" i="1">
                          <a:latin typeface="Cambria Math" panose="02040503050406030204" pitchFamily="18" charset="0"/>
                        </a:rPr>
                        <m:t>=</m:t>
                      </m:r>
                      <m:r>
                        <a:rPr lang="en-US" altLang="zh-CN" sz="2800" b="0" i="1">
                          <a:latin typeface="Cambria Math" panose="02040503050406030204" pitchFamily="18" charset="0"/>
                        </a:rPr>
                        <m:t>𝐼𝑅</m:t>
                      </m:r>
                    </m:oMath>
                  </m:oMathPara>
                </a14:m>
                <a:endParaRPr lang="zh-CN" altLang="en-US" sz="2800" dirty="0">
                  <a:latin typeface="华文楷体" panose="02010600040101010101" pitchFamily="2" charset="-122"/>
                  <a:ea typeface="华文楷体" panose="02010600040101010101" pitchFamily="2" charset="-122"/>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3017804" y="2837790"/>
                <a:ext cx="1883208" cy="81842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890951" y="3685906"/>
                <a:ext cx="4287105" cy="1454757"/>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solidFill>
                            <a:schemeClr val="tx1"/>
                          </a:solidFill>
                          <a:latin typeface="Cambria Math" panose="02040503050406030204" pitchFamily="18" charset="0"/>
                          <a:ea typeface="Cambria Math" panose="02040503050406030204" pitchFamily="18" charset="0"/>
                        </a:rPr>
                        <m:t>→</m:t>
                      </m:r>
                      <m:r>
                        <a:rPr lang="en-US" altLang="zh-CN" sz="3200" b="0" i="1">
                          <a:solidFill>
                            <a:schemeClr val="tx1"/>
                          </a:solidFill>
                          <a:latin typeface="Cambria Math" panose="02040503050406030204" pitchFamily="18" charset="0"/>
                        </a:rPr>
                        <m:t>𝐼</m:t>
                      </m:r>
                      <m:r>
                        <a:rPr lang="en-US" altLang="zh-CN" sz="3200" b="0">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zh-CN" altLang="en-US" sz="3200" b="0" i="1">
                              <a:solidFill>
                                <a:schemeClr val="tx1"/>
                              </a:solidFill>
                              <a:latin typeface="Cambria Math" panose="02040503050406030204" pitchFamily="18" charset="0"/>
                            </a:rPr>
                            <m:t>𝜀</m:t>
                          </m:r>
                        </m:num>
                        <m:den>
                          <m:r>
                            <a:rPr lang="en-US" altLang="zh-CN" sz="3200" b="0" i="1">
                              <a:solidFill>
                                <a:schemeClr val="tx1"/>
                              </a:solidFill>
                              <a:latin typeface="Cambria Math" panose="02040503050406030204" pitchFamily="18" charset="0"/>
                            </a:rPr>
                            <m:t>𝑅</m:t>
                          </m:r>
                        </m:den>
                      </m:f>
                      <m:sSup>
                        <m:sSupPr>
                          <m:ctrlPr>
                            <a:rPr lang="en-US" altLang="zh-CN" sz="3200" i="1">
                              <a:solidFill>
                                <a:schemeClr val="tx1"/>
                              </a:solidFill>
                              <a:latin typeface="Cambria Math" panose="02040503050406030204" pitchFamily="18" charset="0"/>
                            </a:rPr>
                          </m:ctrlPr>
                        </m:sSupPr>
                        <m:e>
                          <m:r>
                            <a:rPr lang="en-US" altLang="zh-CN" sz="3200" b="0" i="1">
                              <a:solidFill>
                                <a:schemeClr val="tx1"/>
                              </a:solidFill>
                              <a:latin typeface="Cambria Math" panose="02040503050406030204" pitchFamily="18" charset="0"/>
                            </a:rPr>
                            <m:t>𝑒</m:t>
                          </m:r>
                        </m:e>
                        <m:sup>
                          <m:r>
                            <a:rPr lang="en-US" altLang="zh-CN" sz="3200" b="0">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𝑅</m:t>
                              </m:r>
                            </m:num>
                            <m:den>
                              <m:r>
                                <a:rPr lang="en-US" altLang="zh-CN" sz="3200" b="0" i="1">
                                  <a:solidFill>
                                    <a:schemeClr val="tx1"/>
                                  </a:solidFill>
                                  <a:latin typeface="Cambria Math" panose="02040503050406030204" pitchFamily="18" charset="0"/>
                                </a:rPr>
                                <m:t>𝐿</m:t>
                              </m:r>
                            </m:den>
                          </m:f>
                          <m:r>
                            <a:rPr lang="en-US" altLang="zh-CN" sz="3200" b="0" i="1">
                              <a:solidFill>
                                <a:schemeClr val="tx1"/>
                              </a:solidFill>
                              <a:latin typeface="Cambria Math" panose="02040503050406030204" pitchFamily="18" charset="0"/>
                            </a:rPr>
                            <m:t>𝑡</m:t>
                          </m:r>
                        </m:sup>
                      </m:sSup>
                    </m:oMath>
                  </m:oMathPara>
                </a14:m>
                <a:endParaRPr lang="en-US" altLang="zh-CN" dirty="0">
                  <a:solidFill>
                    <a:schemeClr val="tx1"/>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890951" y="3685906"/>
                <a:ext cx="4287105" cy="1454757"/>
              </a:xfrm>
              <a:prstGeom prst="rect">
                <a:avLst/>
              </a:prstGeom>
              <a:blipFill>
                <a:blip r:embed="rId6"/>
                <a:stretch>
                  <a:fillRect/>
                </a:stretch>
              </a:blipFill>
            </p:spPr>
            <p:txBody>
              <a:bodyPr/>
              <a:lstStyle/>
              <a:p>
                <a:r>
                  <a:rPr lang="en-US">
                    <a:noFill/>
                  </a:rPr>
                  <a:t> </a:t>
                </a:r>
              </a:p>
            </p:txBody>
          </p:sp>
        </mc:Fallback>
      </mc:AlternateContent>
      <p:pic>
        <p:nvPicPr>
          <p:cNvPr id="3" name="图片 2"/>
          <p:cNvPicPr>
            <a:picLocks noChangeAspect="1"/>
          </p:cNvPicPr>
          <p:nvPr/>
        </p:nvPicPr>
        <p:blipFill>
          <a:blip r:embed="rId7"/>
          <a:stretch>
            <a:fillRect/>
          </a:stretch>
        </p:blipFill>
        <p:spPr>
          <a:xfrm>
            <a:off x="8232593" y="2525609"/>
            <a:ext cx="3068456" cy="2794586"/>
          </a:xfrm>
          <a:prstGeom prst="rect">
            <a:avLst/>
          </a:prstGeom>
        </p:spPr>
      </p:pic>
      <p:grpSp>
        <p:nvGrpSpPr>
          <p:cNvPr id="8" name="Group 42">
            <a:extLst>
              <a:ext uri="{FF2B5EF4-FFF2-40B4-BE49-F238E27FC236}">
                <a16:creationId xmlns:a16="http://schemas.microsoft.com/office/drawing/2014/main" id="{550FC479-C639-4D0F-8042-3675D66C7F16}"/>
              </a:ext>
            </a:extLst>
          </p:cNvPr>
          <p:cNvGrpSpPr>
            <a:grpSpLocks/>
          </p:cNvGrpSpPr>
          <p:nvPr/>
        </p:nvGrpSpPr>
        <p:grpSpPr bwMode="auto">
          <a:xfrm>
            <a:off x="7879812" y="805106"/>
            <a:ext cx="3384550" cy="1584325"/>
            <a:chOff x="2880" y="346"/>
            <a:chExt cx="2586" cy="1360"/>
          </a:xfrm>
        </p:grpSpPr>
        <p:grpSp>
          <p:nvGrpSpPr>
            <p:cNvPr id="9" name="Group 36">
              <a:extLst>
                <a:ext uri="{FF2B5EF4-FFF2-40B4-BE49-F238E27FC236}">
                  <a16:creationId xmlns:a16="http://schemas.microsoft.com/office/drawing/2014/main" id="{9B981F9C-7CE2-4A07-BD4D-B58A18D11AE4}"/>
                </a:ext>
              </a:extLst>
            </p:cNvPr>
            <p:cNvGrpSpPr>
              <a:grpSpLocks/>
            </p:cNvGrpSpPr>
            <p:nvPr/>
          </p:nvGrpSpPr>
          <p:grpSpPr bwMode="auto">
            <a:xfrm>
              <a:off x="2880" y="346"/>
              <a:ext cx="2586" cy="1360"/>
              <a:chOff x="2880" y="346"/>
              <a:chExt cx="2586" cy="1360"/>
            </a:xfrm>
          </p:grpSpPr>
          <p:sp>
            <p:nvSpPr>
              <p:cNvPr id="15" name="Rectangle 4">
                <a:extLst>
                  <a:ext uri="{FF2B5EF4-FFF2-40B4-BE49-F238E27FC236}">
                    <a16:creationId xmlns:a16="http://schemas.microsoft.com/office/drawing/2014/main" id="{B9886CCA-CE0F-450B-862B-AADF74591AAD}"/>
                  </a:ext>
                </a:extLst>
              </p:cNvPr>
              <p:cNvSpPr>
                <a:spLocks noChangeArrowheads="1"/>
              </p:cNvSpPr>
              <p:nvPr/>
            </p:nvSpPr>
            <p:spPr bwMode="auto">
              <a:xfrm>
                <a:off x="3607" y="346"/>
                <a:ext cx="410" cy="181"/>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25400">
                <a:solidFill>
                  <a:srgbClr val="000000"/>
                </a:solidFill>
                <a:miter lim="800000"/>
                <a:headEnd/>
                <a:tailEnd/>
              </a:ln>
              <a:effectLst/>
            </p:spPr>
            <p:txBody>
              <a:bodyPr wrap="none" anchor="ctr"/>
              <a:lstStyle/>
              <a:p>
                <a:pPr>
                  <a:defRPr/>
                </a:pPr>
                <a:endParaRPr lang="zh-CN" altLang="en-US">
                  <a:ea typeface="华文新魏" panose="02010800040101010101" pitchFamily="2" charset="-122"/>
                </a:endParaRPr>
              </a:p>
            </p:txBody>
          </p:sp>
          <p:grpSp>
            <p:nvGrpSpPr>
              <p:cNvPr id="16" name="Group 21">
                <a:extLst>
                  <a:ext uri="{FF2B5EF4-FFF2-40B4-BE49-F238E27FC236}">
                    <a16:creationId xmlns:a16="http://schemas.microsoft.com/office/drawing/2014/main" id="{B9A634B9-789B-4234-B5F7-4932F3F48EB6}"/>
                  </a:ext>
                </a:extLst>
              </p:cNvPr>
              <p:cNvGrpSpPr>
                <a:grpSpLocks/>
              </p:cNvGrpSpPr>
              <p:nvPr/>
            </p:nvGrpSpPr>
            <p:grpSpPr bwMode="auto">
              <a:xfrm>
                <a:off x="4604" y="390"/>
                <a:ext cx="363" cy="137"/>
                <a:chOff x="1655" y="2341"/>
                <a:chExt cx="363" cy="137"/>
              </a:xfrm>
            </p:grpSpPr>
            <p:sp>
              <p:nvSpPr>
                <p:cNvPr id="41" name="AutoShape 16">
                  <a:extLst>
                    <a:ext uri="{FF2B5EF4-FFF2-40B4-BE49-F238E27FC236}">
                      <a16:creationId xmlns:a16="http://schemas.microsoft.com/office/drawing/2014/main" id="{EFD62A94-A6EC-4DDA-B84C-F7D5CB545816}"/>
                    </a:ext>
                  </a:extLst>
                </p:cNvPr>
                <p:cNvSpPr>
                  <a:spLocks noChangeArrowheads="1"/>
                </p:cNvSpPr>
                <p:nvPr/>
              </p:nvSpPr>
              <p:spPr bwMode="auto">
                <a:xfrm>
                  <a:off x="1655"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42" name="AutoShape 17">
                  <a:extLst>
                    <a:ext uri="{FF2B5EF4-FFF2-40B4-BE49-F238E27FC236}">
                      <a16:creationId xmlns:a16="http://schemas.microsoft.com/office/drawing/2014/main" id="{17FCB9C0-524E-41DA-BBCE-9FD7C728DE59}"/>
                    </a:ext>
                  </a:extLst>
                </p:cNvPr>
                <p:cNvSpPr>
                  <a:spLocks noChangeArrowheads="1"/>
                </p:cNvSpPr>
                <p:nvPr/>
              </p:nvSpPr>
              <p:spPr bwMode="auto">
                <a:xfrm>
                  <a:off x="1746"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43" name="AutoShape 18">
                  <a:extLst>
                    <a:ext uri="{FF2B5EF4-FFF2-40B4-BE49-F238E27FC236}">
                      <a16:creationId xmlns:a16="http://schemas.microsoft.com/office/drawing/2014/main" id="{D30BB85A-B506-499D-8AAF-8729E84779E8}"/>
                    </a:ext>
                  </a:extLst>
                </p:cNvPr>
                <p:cNvSpPr>
                  <a:spLocks noChangeArrowheads="1"/>
                </p:cNvSpPr>
                <p:nvPr/>
              </p:nvSpPr>
              <p:spPr bwMode="auto">
                <a:xfrm>
                  <a:off x="183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sp>
              <p:nvSpPr>
                <p:cNvPr id="44" name="AutoShape 19">
                  <a:extLst>
                    <a:ext uri="{FF2B5EF4-FFF2-40B4-BE49-F238E27FC236}">
                      <a16:creationId xmlns:a16="http://schemas.microsoft.com/office/drawing/2014/main" id="{16C985F1-6FD6-4B5E-B387-349524FE2C1D}"/>
                    </a:ext>
                  </a:extLst>
                </p:cNvPr>
                <p:cNvSpPr>
                  <a:spLocks noChangeArrowheads="1"/>
                </p:cNvSpPr>
                <p:nvPr/>
              </p:nvSpPr>
              <p:spPr bwMode="auto">
                <a:xfrm>
                  <a:off x="192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a:ea typeface="华文新魏" panose="02010800040101010101" pitchFamily="2" charset="-122"/>
                  </a:endParaRPr>
                </a:p>
              </p:txBody>
            </p:sp>
          </p:grpSp>
          <p:grpSp>
            <p:nvGrpSpPr>
              <p:cNvPr id="17" name="Group 31">
                <a:extLst>
                  <a:ext uri="{FF2B5EF4-FFF2-40B4-BE49-F238E27FC236}">
                    <a16:creationId xmlns:a16="http://schemas.microsoft.com/office/drawing/2014/main" id="{08D48FC9-4D30-4F05-8450-32EC05A30C4D}"/>
                  </a:ext>
                </a:extLst>
              </p:cNvPr>
              <p:cNvGrpSpPr>
                <a:grpSpLocks/>
              </p:cNvGrpSpPr>
              <p:nvPr/>
            </p:nvGrpSpPr>
            <p:grpSpPr bwMode="auto">
              <a:xfrm>
                <a:off x="3651" y="1008"/>
                <a:ext cx="362" cy="227"/>
                <a:chOff x="1565" y="2205"/>
                <a:chExt cx="362" cy="227"/>
              </a:xfrm>
            </p:grpSpPr>
            <p:grpSp>
              <p:nvGrpSpPr>
                <p:cNvPr id="32" name="Group 24">
                  <a:extLst>
                    <a:ext uri="{FF2B5EF4-FFF2-40B4-BE49-F238E27FC236}">
                      <a16:creationId xmlns:a16="http://schemas.microsoft.com/office/drawing/2014/main" id="{08F4E2ED-3CBC-4D65-B746-2CD13AC17CF4}"/>
                    </a:ext>
                  </a:extLst>
                </p:cNvPr>
                <p:cNvGrpSpPr>
                  <a:grpSpLocks/>
                </p:cNvGrpSpPr>
                <p:nvPr/>
              </p:nvGrpSpPr>
              <p:grpSpPr bwMode="auto">
                <a:xfrm>
                  <a:off x="1565" y="2205"/>
                  <a:ext cx="72" cy="227"/>
                  <a:chOff x="1565" y="2205"/>
                  <a:chExt cx="72" cy="227"/>
                </a:xfrm>
              </p:grpSpPr>
              <p:sp>
                <p:nvSpPr>
                  <p:cNvPr id="39" name="Line 22">
                    <a:extLst>
                      <a:ext uri="{FF2B5EF4-FFF2-40B4-BE49-F238E27FC236}">
                        <a16:creationId xmlns:a16="http://schemas.microsoft.com/office/drawing/2014/main" id="{C7AB85AF-DA71-4C01-AE22-097763AFBA9A}"/>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40" name="Line 23">
                    <a:extLst>
                      <a:ext uri="{FF2B5EF4-FFF2-40B4-BE49-F238E27FC236}">
                        <a16:creationId xmlns:a16="http://schemas.microsoft.com/office/drawing/2014/main" id="{76C4F59D-4889-4CD5-A6D0-86FBB90873B9}"/>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nvGrpSpPr>
                <p:cNvPr id="33" name="Group 25">
                  <a:extLst>
                    <a:ext uri="{FF2B5EF4-FFF2-40B4-BE49-F238E27FC236}">
                      <a16:creationId xmlns:a16="http://schemas.microsoft.com/office/drawing/2014/main" id="{6CF51453-AE62-4928-BE97-31FFA562AD62}"/>
                    </a:ext>
                  </a:extLst>
                </p:cNvPr>
                <p:cNvGrpSpPr>
                  <a:grpSpLocks/>
                </p:cNvGrpSpPr>
                <p:nvPr/>
              </p:nvGrpSpPr>
              <p:grpSpPr bwMode="auto">
                <a:xfrm>
                  <a:off x="1701" y="2205"/>
                  <a:ext cx="72" cy="227"/>
                  <a:chOff x="1565" y="2205"/>
                  <a:chExt cx="72" cy="227"/>
                </a:xfrm>
              </p:grpSpPr>
              <p:sp>
                <p:nvSpPr>
                  <p:cNvPr id="37" name="Line 26">
                    <a:extLst>
                      <a:ext uri="{FF2B5EF4-FFF2-40B4-BE49-F238E27FC236}">
                        <a16:creationId xmlns:a16="http://schemas.microsoft.com/office/drawing/2014/main" id="{5F371536-814D-455E-86EB-57EA269BDD8F}"/>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38" name="Line 27">
                    <a:extLst>
                      <a:ext uri="{FF2B5EF4-FFF2-40B4-BE49-F238E27FC236}">
                        <a16:creationId xmlns:a16="http://schemas.microsoft.com/office/drawing/2014/main" id="{ACD9AE3A-C58A-4E13-89A9-F5A709A11182}"/>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nvGrpSpPr>
                <p:cNvPr id="34" name="Group 28">
                  <a:extLst>
                    <a:ext uri="{FF2B5EF4-FFF2-40B4-BE49-F238E27FC236}">
                      <a16:creationId xmlns:a16="http://schemas.microsoft.com/office/drawing/2014/main" id="{49104590-1F2A-4311-9958-66AF88306E5D}"/>
                    </a:ext>
                  </a:extLst>
                </p:cNvPr>
                <p:cNvGrpSpPr>
                  <a:grpSpLocks/>
                </p:cNvGrpSpPr>
                <p:nvPr/>
              </p:nvGrpSpPr>
              <p:grpSpPr bwMode="auto">
                <a:xfrm>
                  <a:off x="1855" y="2205"/>
                  <a:ext cx="72" cy="227"/>
                  <a:chOff x="1565" y="2205"/>
                  <a:chExt cx="72" cy="227"/>
                </a:xfrm>
              </p:grpSpPr>
              <p:sp>
                <p:nvSpPr>
                  <p:cNvPr id="35" name="Line 29">
                    <a:extLst>
                      <a:ext uri="{FF2B5EF4-FFF2-40B4-BE49-F238E27FC236}">
                        <a16:creationId xmlns:a16="http://schemas.microsoft.com/office/drawing/2014/main" id="{C60C56F8-3D1A-45F3-BC7F-33618EDAF540}"/>
                      </a:ext>
                    </a:extLst>
                  </p:cNvPr>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36" name="Line 30">
                    <a:extLst>
                      <a:ext uri="{FF2B5EF4-FFF2-40B4-BE49-F238E27FC236}">
                        <a16:creationId xmlns:a16="http://schemas.microsoft.com/office/drawing/2014/main" id="{1524E08F-17CF-4579-959C-D77C5DB08CC7}"/>
                      </a:ext>
                    </a:extLst>
                  </p:cNvPr>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p:grpSp>
            <p:nvGrpSpPr>
              <p:cNvPr id="18" name="Group 35">
                <a:extLst>
                  <a:ext uri="{FF2B5EF4-FFF2-40B4-BE49-F238E27FC236}">
                    <a16:creationId xmlns:a16="http://schemas.microsoft.com/office/drawing/2014/main" id="{0BEDDAEA-F93D-4863-98BF-C9FFDBBFA2C7}"/>
                  </a:ext>
                </a:extLst>
              </p:cNvPr>
              <p:cNvGrpSpPr>
                <a:grpSpLocks/>
              </p:cNvGrpSpPr>
              <p:nvPr/>
            </p:nvGrpSpPr>
            <p:grpSpPr bwMode="auto">
              <a:xfrm>
                <a:off x="2880" y="436"/>
                <a:ext cx="2586" cy="1270"/>
                <a:chOff x="2880" y="436"/>
                <a:chExt cx="2586" cy="1270"/>
              </a:xfrm>
            </p:grpSpPr>
            <p:sp>
              <p:nvSpPr>
                <p:cNvPr id="19" name="Line 6">
                  <a:extLst>
                    <a:ext uri="{FF2B5EF4-FFF2-40B4-BE49-F238E27FC236}">
                      <a16:creationId xmlns:a16="http://schemas.microsoft.com/office/drawing/2014/main" id="{C22A000E-7E1C-4EBA-BCC2-1568900B2F4F}"/>
                    </a:ext>
                  </a:extLst>
                </p:cNvPr>
                <p:cNvSpPr>
                  <a:spLocks noChangeShapeType="1"/>
                </p:cNvSpPr>
                <p:nvPr/>
              </p:nvSpPr>
              <p:spPr bwMode="auto">
                <a:xfrm>
                  <a:off x="2880" y="436"/>
                  <a:ext cx="726"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1" name="Line 7">
                  <a:extLst>
                    <a:ext uri="{FF2B5EF4-FFF2-40B4-BE49-F238E27FC236}">
                      <a16:creationId xmlns:a16="http://schemas.microsoft.com/office/drawing/2014/main" id="{BDF9B958-BC5B-4F77-B35D-8BCF5D4F4D35}"/>
                    </a:ext>
                  </a:extLst>
                </p:cNvPr>
                <p:cNvSpPr>
                  <a:spLocks noChangeShapeType="1"/>
                </p:cNvSpPr>
                <p:nvPr/>
              </p:nvSpPr>
              <p:spPr bwMode="auto">
                <a:xfrm>
                  <a:off x="2880"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2" name="Line 9">
                  <a:extLst>
                    <a:ext uri="{FF2B5EF4-FFF2-40B4-BE49-F238E27FC236}">
                      <a16:creationId xmlns:a16="http://schemas.microsoft.com/office/drawing/2014/main" id="{018D5601-1A2E-49B7-9800-79437BBEA78B}"/>
                    </a:ext>
                  </a:extLst>
                </p:cNvPr>
                <p:cNvSpPr>
                  <a:spLocks noChangeShapeType="1"/>
                </p:cNvSpPr>
                <p:nvPr/>
              </p:nvSpPr>
              <p:spPr bwMode="auto">
                <a:xfrm>
                  <a:off x="4876" y="1117"/>
                  <a:ext cx="58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3" name="Line 10">
                  <a:extLst>
                    <a:ext uri="{FF2B5EF4-FFF2-40B4-BE49-F238E27FC236}">
                      <a16:creationId xmlns:a16="http://schemas.microsoft.com/office/drawing/2014/main" id="{A1905DFB-64C9-4475-B3AD-01E83D875EC7}"/>
                    </a:ext>
                  </a:extLst>
                </p:cNvPr>
                <p:cNvSpPr>
                  <a:spLocks noChangeShapeType="1"/>
                </p:cNvSpPr>
                <p:nvPr/>
              </p:nvSpPr>
              <p:spPr bwMode="auto">
                <a:xfrm>
                  <a:off x="4014" y="1117"/>
                  <a:ext cx="454"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4" name="Line 11">
                  <a:extLst>
                    <a:ext uri="{FF2B5EF4-FFF2-40B4-BE49-F238E27FC236}">
                      <a16:creationId xmlns:a16="http://schemas.microsoft.com/office/drawing/2014/main" id="{F8309710-0F40-4BAD-85F1-79EBD1DCB3F2}"/>
                    </a:ext>
                  </a:extLst>
                </p:cNvPr>
                <p:cNvSpPr>
                  <a:spLocks noChangeShapeType="1"/>
                </p:cNvSpPr>
                <p:nvPr/>
              </p:nvSpPr>
              <p:spPr bwMode="auto">
                <a:xfrm>
                  <a:off x="2880" y="1117"/>
                  <a:ext cx="771"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5" name="Line 12">
                  <a:extLst>
                    <a:ext uri="{FF2B5EF4-FFF2-40B4-BE49-F238E27FC236}">
                      <a16:creationId xmlns:a16="http://schemas.microsoft.com/office/drawing/2014/main" id="{A824F2D4-D459-4D89-8865-748E91D5208A}"/>
                    </a:ext>
                  </a:extLst>
                </p:cNvPr>
                <p:cNvSpPr>
                  <a:spLocks noChangeShapeType="1"/>
                </p:cNvSpPr>
                <p:nvPr/>
              </p:nvSpPr>
              <p:spPr bwMode="auto">
                <a:xfrm>
                  <a:off x="4876" y="1706"/>
                  <a:ext cx="589"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6" name="Line 13">
                  <a:extLst>
                    <a:ext uri="{FF2B5EF4-FFF2-40B4-BE49-F238E27FC236}">
                      <a16:creationId xmlns:a16="http://schemas.microsoft.com/office/drawing/2014/main" id="{20A33034-784E-4F61-92FC-840D16065D2E}"/>
                    </a:ext>
                  </a:extLst>
                </p:cNvPr>
                <p:cNvSpPr>
                  <a:spLocks noChangeShapeType="1"/>
                </p:cNvSpPr>
                <p:nvPr/>
              </p:nvSpPr>
              <p:spPr bwMode="auto">
                <a:xfrm>
                  <a:off x="2880" y="1706"/>
                  <a:ext cx="1588"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7" name="Line 14">
                  <a:extLst>
                    <a:ext uri="{FF2B5EF4-FFF2-40B4-BE49-F238E27FC236}">
                      <a16:creationId xmlns:a16="http://schemas.microsoft.com/office/drawing/2014/main" id="{5E1B796A-DF7E-4682-8D7B-D5EFA70A0F13}"/>
                    </a:ext>
                  </a:extLst>
                </p:cNvPr>
                <p:cNvSpPr>
                  <a:spLocks noChangeShapeType="1"/>
                </p:cNvSpPr>
                <p:nvPr/>
              </p:nvSpPr>
              <p:spPr bwMode="auto">
                <a:xfrm>
                  <a:off x="4967" y="436"/>
                  <a:ext cx="49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8" name="Line 15">
                  <a:extLst>
                    <a:ext uri="{FF2B5EF4-FFF2-40B4-BE49-F238E27FC236}">
                      <a16:creationId xmlns:a16="http://schemas.microsoft.com/office/drawing/2014/main" id="{8AB28C32-94CE-42DC-889C-D46677A69A8A}"/>
                    </a:ext>
                  </a:extLst>
                </p:cNvPr>
                <p:cNvSpPr>
                  <a:spLocks noChangeShapeType="1"/>
                </p:cNvSpPr>
                <p:nvPr/>
              </p:nvSpPr>
              <p:spPr bwMode="auto">
                <a:xfrm>
                  <a:off x="4014" y="436"/>
                  <a:ext cx="590"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29" name="Line 32">
                  <a:extLst>
                    <a:ext uri="{FF2B5EF4-FFF2-40B4-BE49-F238E27FC236}">
                      <a16:creationId xmlns:a16="http://schemas.microsoft.com/office/drawing/2014/main" id="{617A2935-D5AB-40CE-96FF-3BFF9CCD417E}"/>
                    </a:ext>
                  </a:extLst>
                </p:cNvPr>
                <p:cNvSpPr>
                  <a:spLocks noChangeShapeType="1"/>
                </p:cNvSpPr>
                <p:nvPr/>
              </p:nvSpPr>
              <p:spPr bwMode="auto">
                <a:xfrm>
                  <a:off x="5465"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30" name="Line 33">
                  <a:extLst>
                    <a:ext uri="{FF2B5EF4-FFF2-40B4-BE49-F238E27FC236}">
                      <a16:creationId xmlns:a16="http://schemas.microsoft.com/office/drawing/2014/main" id="{1E8A41C7-4663-45DE-8B85-4F1EFF9A38DD}"/>
                    </a:ext>
                  </a:extLst>
                </p:cNvPr>
                <p:cNvSpPr>
                  <a:spLocks noChangeShapeType="1"/>
                </p:cNvSpPr>
                <p:nvPr/>
              </p:nvSpPr>
              <p:spPr bwMode="auto">
                <a:xfrm>
                  <a:off x="4504" y="890"/>
                  <a:ext cx="408" cy="227"/>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sp>
              <p:nvSpPr>
                <p:cNvPr id="31" name="Line 34">
                  <a:extLst>
                    <a:ext uri="{FF2B5EF4-FFF2-40B4-BE49-F238E27FC236}">
                      <a16:creationId xmlns:a16="http://schemas.microsoft.com/office/drawing/2014/main" id="{0885BEF1-E372-4FB4-98DF-925FE4671775}"/>
                    </a:ext>
                  </a:extLst>
                </p:cNvPr>
                <p:cNvSpPr>
                  <a:spLocks noChangeShapeType="1"/>
                </p:cNvSpPr>
                <p:nvPr/>
              </p:nvSpPr>
              <p:spPr bwMode="auto">
                <a:xfrm>
                  <a:off x="4468" y="1705"/>
                  <a:ext cx="408"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ea typeface="华文新魏" panose="02010800040101010101" pitchFamily="2" charset="-122"/>
                  </a:endParaRPr>
                </a:p>
              </p:txBody>
            </p:sp>
          </p:grpSp>
        </p:grpSp>
        <mc:AlternateContent xmlns:mc="http://schemas.openxmlformats.org/markup-compatibility/2006" xmlns:a14="http://schemas.microsoft.com/office/drawing/2010/main">
          <mc:Choice Requires="a14">
            <p:sp>
              <p:nvSpPr>
                <p:cNvPr id="10" name="Object 8">
                  <a:extLst>
                    <a:ext uri="{FF2B5EF4-FFF2-40B4-BE49-F238E27FC236}">
                      <a16:creationId xmlns:a16="http://schemas.microsoft.com/office/drawing/2014/main" id="{6C7EE827-84C3-4BD7-A1D1-947D1D28DEAA}"/>
                    </a:ext>
                  </a:extLst>
                </p:cNvPr>
                <p:cNvSpPr txBox="1"/>
                <p:nvPr/>
              </p:nvSpPr>
              <p:spPr bwMode="auto">
                <a:xfrm>
                  <a:off x="3714" y="1271"/>
                  <a:ext cx="299" cy="331"/>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𝜀</m:t>
                        </m:r>
                      </m:oMath>
                    </m:oMathPara>
                  </a14:m>
                  <a:endParaRPr lang="en-US"/>
                </a:p>
              </p:txBody>
            </p:sp>
          </mc:Choice>
          <mc:Fallback xmlns="">
            <p:sp>
              <p:nvSpPr>
                <p:cNvPr id="10" name="Object 8">
                  <a:extLst>
                    <a:ext uri="{FF2B5EF4-FFF2-40B4-BE49-F238E27FC236}">
                      <a16:creationId xmlns:a16="http://schemas.microsoft.com/office/drawing/2014/main" id="{6C7EE827-84C3-4BD7-A1D1-947D1D28DEAA}"/>
                    </a:ext>
                  </a:extLst>
                </p:cNvPr>
                <p:cNvSpPr txBox="1">
                  <a:spLocks noRot="1" noChangeAspect="1" noMove="1" noResize="1" noEditPoints="1" noAdjustHandles="1" noChangeArrowheads="1" noChangeShapeType="1" noTextEdit="1"/>
                </p:cNvSpPr>
                <p:nvPr/>
              </p:nvSpPr>
              <p:spPr bwMode="auto">
                <a:xfrm>
                  <a:off x="3714" y="1271"/>
                  <a:ext cx="299" cy="33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9">
                  <a:extLst>
                    <a:ext uri="{FF2B5EF4-FFF2-40B4-BE49-F238E27FC236}">
                      <a16:creationId xmlns:a16="http://schemas.microsoft.com/office/drawing/2014/main" id="{5F4838C0-DDA0-48F4-A8F1-38382317746F}"/>
                    </a:ext>
                  </a:extLst>
                </p:cNvPr>
                <p:cNvSpPr txBox="1"/>
                <p:nvPr/>
              </p:nvSpPr>
              <p:spPr bwMode="auto">
                <a:xfrm>
                  <a:off x="3742" y="535"/>
                  <a:ext cx="213" cy="215"/>
                </a:xfrm>
                <a:prstGeom prst="rect">
                  <a:avLst/>
                </a:prstGeom>
                <a:noFill/>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𝑅</m:t>
                        </m:r>
                      </m:oMath>
                    </m:oMathPara>
                  </a14:m>
                  <a:endParaRPr lang="en-US"/>
                </a:p>
              </p:txBody>
            </p:sp>
          </mc:Choice>
          <mc:Fallback xmlns="">
            <p:sp>
              <p:nvSpPr>
                <p:cNvPr id="11" name="Object 9">
                  <a:extLst>
                    <a:ext uri="{FF2B5EF4-FFF2-40B4-BE49-F238E27FC236}">
                      <a16:creationId xmlns:a16="http://schemas.microsoft.com/office/drawing/2014/main" id="{5F4838C0-DDA0-48F4-A8F1-38382317746F}"/>
                    </a:ext>
                  </a:extLst>
                </p:cNvPr>
                <p:cNvSpPr txBox="1">
                  <a:spLocks noRot="1" noChangeAspect="1" noMove="1" noResize="1" noEditPoints="1" noAdjustHandles="1" noChangeArrowheads="1" noChangeShapeType="1" noTextEdit="1"/>
                </p:cNvSpPr>
                <p:nvPr/>
              </p:nvSpPr>
              <p:spPr bwMode="auto">
                <a:xfrm>
                  <a:off x="3742" y="535"/>
                  <a:ext cx="213" cy="21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10">
                  <a:extLst>
                    <a:ext uri="{FF2B5EF4-FFF2-40B4-BE49-F238E27FC236}">
                      <a16:creationId xmlns:a16="http://schemas.microsoft.com/office/drawing/2014/main" id="{B6A13D06-1C00-4278-968B-70185BCB266F}"/>
                    </a:ext>
                  </a:extLst>
                </p:cNvPr>
                <p:cNvSpPr txBox="1"/>
                <p:nvPr/>
              </p:nvSpPr>
              <p:spPr bwMode="auto">
                <a:xfrm>
                  <a:off x="5014" y="460"/>
                  <a:ext cx="213" cy="215"/>
                </a:xfrm>
                <a:prstGeom prst="rect">
                  <a:avLst/>
                </a:prstGeom>
                <a:noFill/>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𝐿</m:t>
                        </m:r>
                      </m:oMath>
                    </m:oMathPara>
                  </a14:m>
                  <a:endParaRPr lang="en-US"/>
                </a:p>
              </p:txBody>
            </p:sp>
          </mc:Choice>
          <mc:Fallback xmlns="">
            <p:sp>
              <p:nvSpPr>
                <p:cNvPr id="12" name="Object 10">
                  <a:extLst>
                    <a:ext uri="{FF2B5EF4-FFF2-40B4-BE49-F238E27FC236}">
                      <a16:creationId xmlns:a16="http://schemas.microsoft.com/office/drawing/2014/main" id="{B6A13D06-1C00-4278-968B-70185BCB266F}"/>
                    </a:ext>
                  </a:extLst>
                </p:cNvPr>
                <p:cNvSpPr txBox="1">
                  <a:spLocks noRot="1" noChangeAspect="1" noMove="1" noResize="1" noEditPoints="1" noAdjustHandles="1" noChangeArrowheads="1" noChangeShapeType="1" noTextEdit="1"/>
                </p:cNvSpPr>
                <p:nvPr/>
              </p:nvSpPr>
              <p:spPr bwMode="auto">
                <a:xfrm>
                  <a:off x="5014" y="460"/>
                  <a:ext cx="213" cy="21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11">
                  <a:extLst>
                    <a:ext uri="{FF2B5EF4-FFF2-40B4-BE49-F238E27FC236}">
                      <a16:creationId xmlns:a16="http://schemas.microsoft.com/office/drawing/2014/main" id="{1D020F17-D13A-421F-A1AC-A796CC197263}"/>
                    </a:ext>
                  </a:extLst>
                </p:cNvPr>
                <p:cNvSpPr txBox="1"/>
                <p:nvPr/>
              </p:nvSpPr>
              <p:spPr bwMode="auto">
                <a:xfrm>
                  <a:off x="4676" y="710"/>
                  <a:ext cx="250" cy="32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13" name="Object 11">
                  <a:extLst>
                    <a:ext uri="{FF2B5EF4-FFF2-40B4-BE49-F238E27FC236}">
                      <a16:creationId xmlns:a16="http://schemas.microsoft.com/office/drawing/2014/main" id="{1D020F17-D13A-421F-A1AC-A796CC197263}"/>
                    </a:ext>
                  </a:extLst>
                </p:cNvPr>
                <p:cNvSpPr txBox="1">
                  <a:spLocks noRot="1" noChangeAspect="1" noMove="1" noResize="1" noEditPoints="1" noAdjustHandles="1" noChangeArrowheads="1" noChangeShapeType="1" noTextEdit="1"/>
                </p:cNvSpPr>
                <p:nvPr/>
              </p:nvSpPr>
              <p:spPr bwMode="auto">
                <a:xfrm>
                  <a:off x="4676" y="710"/>
                  <a:ext cx="250" cy="323"/>
                </a:xfrm>
                <a:prstGeom prst="rect">
                  <a:avLst/>
                </a:prstGeom>
                <a:blipFill>
                  <a:blip r:embed="rId11"/>
                  <a:stretch>
                    <a:fillRect r="-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2">
                  <a:extLst>
                    <a:ext uri="{FF2B5EF4-FFF2-40B4-BE49-F238E27FC236}">
                      <a16:creationId xmlns:a16="http://schemas.microsoft.com/office/drawing/2014/main" id="{26B05402-5EF6-43A3-8072-29499B8FF569}"/>
                    </a:ext>
                  </a:extLst>
                </p:cNvPr>
                <p:cNvSpPr txBox="1"/>
                <p:nvPr/>
              </p:nvSpPr>
              <p:spPr bwMode="auto">
                <a:xfrm>
                  <a:off x="4631" y="1301"/>
                  <a:ext cx="250" cy="32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14" name="Object 12">
                  <a:extLst>
                    <a:ext uri="{FF2B5EF4-FFF2-40B4-BE49-F238E27FC236}">
                      <a16:creationId xmlns:a16="http://schemas.microsoft.com/office/drawing/2014/main" id="{26B05402-5EF6-43A3-8072-29499B8FF569}"/>
                    </a:ext>
                  </a:extLst>
                </p:cNvPr>
                <p:cNvSpPr txBox="1">
                  <a:spLocks noRot="1" noChangeAspect="1" noMove="1" noResize="1" noEditPoints="1" noAdjustHandles="1" noChangeArrowheads="1" noChangeShapeType="1" noTextEdit="1"/>
                </p:cNvSpPr>
                <p:nvPr/>
              </p:nvSpPr>
              <p:spPr bwMode="auto">
                <a:xfrm>
                  <a:off x="4631" y="1301"/>
                  <a:ext cx="250" cy="322"/>
                </a:xfrm>
                <a:prstGeom prst="rect">
                  <a:avLst/>
                </a:prstGeom>
                <a:blipFill>
                  <a:blip r:embed="rId12"/>
                  <a:stretch>
                    <a:fillRect r="-9434"/>
                  </a:stretch>
                </a:blipFill>
              </p:spPr>
              <p:txBody>
                <a:bodyPr/>
                <a:lstStyle/>
                <a:p>
                  <a:r>
                    <a:rPr lang="en-US">
                      <a:noFill/>
                    </a:rPr>
                    <a:t> </a:t>
                  </a:r>
                </a:p>
              </p:txBody>
            </p:sp>
          </mc:Fallback>
        </mc:AlternateContent>
      </p:grpSp>
      <p:sp>
        <p:nvSpPr>
          <p:cNvPr id="45" name="Text Box 7">
            <a:extLst>
              <a:ext uri="{FF2B5EF4-FFF2-40B4-BE49-F238E27FC236}">
                <a16:creationId xmlns:a16="http://schemas.microsoft.com/office/drawing/2014/main" id="{FA912D37-8377-49EF-AE9B-573A45E9A9D7}"/>
              </a:ext>
            </a:extLst>
          </p:cNvPr>
          <p:cNvSpPr txBox="1">
            <a:spLocks noChangeArrowheads="1"/>
          </p:cNvSpPr>
          <p:nvPr/>
        </p:nvSpPr>
        <p:spPr bwMode="auto">
          <a:xfrm>
            <a:off x="726914" y="1502916"/>
            <a:ext cx="7848286" cy="57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30000"/>
              </a:lnSpc>
              <a:spcBef>
                <a:spcPct val="50000"/>
              </a:spcBef>
            </a:pPr>
            <a:r>
              <a:rPr lang="zh-CN" altLang="en-US" sz="2600" b="0" i="0" u="none" dirty="0">
                <a:solidFill>
                  <a:srgbClr val="000000"/>
                </a:solidFill>
                <a:latin typeface="华文楷体" panose="02010600040101010101" pitchFamily="2" charset="-122"/>
                <a:ea typeface="华文楷体" panose="02010600040101010101" pitchFamily="2" charset="-122"/>
              </a:rPr>
              <a:t>由于自感作用，电路中的电流不会迅速减为零</a:t>
            </a:r>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EBC07BA3-FBF7-42D8-8EF6-63AA43A1415D}"/>
                  </a:ext>
                </a:extLst>
              </p:cNvPr>
              <p:cNvSpPr txBox="1"/>
              <p:nvPr/>
            </p:nvSpPr>
            <p:spPr>
              <a:xfrm>
                <a:off x="676124" y="2294776"/>
                <a:ext cx="6520630" cy="492443"/>
              </a:xfrm>
              <a:prstGeom prst="rect">
                <a:avLst/>
              </a:prstGeom>
              <a:noFill/>
            </p:spPr>
            <p:txBody>
              <a:bodyPr wrap="square">
                <a:spAutoFit/>
              </a:bodyPr>
              <a:lstStyle/>
              <a:p>
                <a:r>
                  <a:rPr lang="zh-CN" altLang="en-US" sz="2600" i="0" u="none" dirty="0">
                    <a:latin typeface="华文楷体" panose="02010600040101010101" pitchFamily="2" charset="-122"/>
                    <a:ea typeface="华文楷体" panose="02010600040101010101" pitchFamily="2" charset="-122"/>
                  </a:rPr>
                  <a:t>设某瞬时电路中的电流为</a:t>
                </a:r>
                <a14:m>
                  <m:oMath xmlns:m="http://schemas.openxmlformats.org/officeDocument/2006/math">
                    <m:r>
                      <a:rPr lang="en-US" altLang="zh-CN" sz="2600" b="0" i="1" u="none" dirty="0">
                        <a:latin typeface="Cambria Math" panose="02040503050406030204" pitchFamily="18" charset="0"/>
                        <a:ea typeface="黑体" panose="02010609060101010101" pitchFamily="49" charset="-122"/>
                      </a:rPr>
                      <m:t>𝐼</m:t>
                    </m:r>
                  </m:oMath>
                </a14:m>
                <a:r>
                  <a:rPr lang="zh-CN" altLang="en-US" sz="2600" i="0" u="none" dirty="0">
                    <a:latin typeface="华文楷体" panose="02010600040101010101" pitchFamily="2" charset="-122"/>
                    <a:ea typeface="华文楷体" panose="02010600040101010101" pitchFamily="2" charset="-122"/>
                  </a:rPr>
                  <a:t>，由欧姆定律得</a:t>
                </a:r>
                <a:endParaRPr lang="zh-CN" altLang="en-US" sz="2600" dirty="0"/>
              </a:p>
            </p:txBody>
          </p:sp>
        </mc:Choice>
        <mc:Fallback xmlns="">
          <p:sp>
            <p:nvSpPr>
              <p:cNvPr id="46" name="文本框 45">
                <a:extLst>
                  <a:ext uri="{FF2B5EF4-FFF2-40B4-BE49-F238E27FC236}">
                    <a16:creationId xmlns:a16="http://schemas.microsoft.com/office/drawing/2014/main" id="{EBC07BA3-FBF7-42D8-8EF6-63AA43A1415D}"/>
                  </a:ext>
                </a:extLst>
              </p:cNvPr>
              <p:cNvSpPr txBox="1">
                <a:spLocks noRot="1" noChangeAspect="1" noMove="1" noResize="1" noEditPoints="1" noAdjustHandles="1" noChangeArrowheads="1" noChangeShapeType="1" noTextEdit="1"/>
              </p:cNvSpPr>
              <p:nvPr/>
            </p:nvSpPr>
            <p:spPr>
              <a:xfrm>
                <a:off x="676124" y="2294776"/>
                <a:ext cx="6520630" cy="492443"/>
              </a:xfrm>
              <a:prstGeom prst="rect">
                <a:avLst/>
              </a:prstGeom>
              <a:blipFill>
                <a:blip r:embed="rId13"/>
                <a:stretch>
                  <a:fillRect l="-1682" t="-11111" b="-30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7763C7A6-EC61-4AB4-B2AE-6F99F79F5A8D}"/>
                  </a:ext>
                </a:extLst>
              </p:cNvPr>
              <p:cNvSpPr/>
              <p:nvPr/>
            </p:nvSpPr>
            <p:spPr>
              <a:xfrm>
                <a:off x="3959408" y="3855439"/>
                <a:ext cx="2340635" cy="1179747"/>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solidFill>
                            <a:schemeClr val="tx1"/>
                          </a:solidFill>
                          <a:latin typeface="Cambria Math" panose="02040503050406030204" pitchFamily="18" charset="0"/>
                        </a:rPr>
                        <m:t>=</m:t>
                      </m:r>
                      <m:sSub>
                        <m:sSubPr>
                          <m:ctrlPr>
                            <a:rPr lang="en-US" altLang="zh-CN" sz="3200" i="1">
                              <a:solidFill>
                                <a:schemeClr val="tx1"/>
                              </a:solidFill>
                              <a:latin typeface="Cambria Math" panose="02040503050406030204" pitchFamily="18" charset="0"/>
                            </a:rPr>
                          </m:ctrlPr>
                        </m:sSubPr>
                        <m:e>
                          <m:r>
                            <a:rPr lang="en-US" altLang="zh-CN" sz="3200" b="0" i="1">
                              <a:solidFill>
                                <a:schemeClr val="tx1"/>
                              </a:solidFill>
                              <a:latin typeface="Cambria Math" panose="02040503050406030204" pitchFamily="18" charset="0"/>
                            </a:rPr>
                            <m:t>𝐼</m:t>
                          </m:r>
                        </m:e>
                        <m:sub>
                          <m:r>
                            <a:rPr lang="en-US" altLang="zh-CN" sz="3200" b="0" i="1">
                              <a:solidFill>
                                <a:schemeClr val="tx1"/>
                              </a:solidFill>
                              <a:latin typeface="Cambria Math" panose="02040503050406030204" pitchFamily="18" charset="0"/>
                            </a:rPr>
                            <m:t>0</m:t>
                          </m:r>
                        </m:sub>
                      </m:sSub>
                      <m:sSup>
                        <m:sSupPr>
                          <m:ctrlPr>
                            <a:rPr lang="en-US" altLang="zh-CN" sz="3200" i="1">
                              <a:solidFill>
                                <a:schemeClr val="tx1"/>
                              </a:solidFill>
                              <a:latin typeface="Cambria Math" panose="02040503050406030204" pitchFamily="18" charset="0"/>
                            </a:rPr>
                          </m:ctrlPr>
                        </m:sSupPr>
                        <m:e>
                          <m:r>
                            <a:rPr lang="en-US" altLang="zh-CN" sz="3200" b="0" i="1">
                              <a:solidFill>
                                <a:schemeClr val="tx1"/>
                              </a:solidFill>
                              <a:latin typeface="Cambria Math" panose="02040503050406030204" pitchFamily="18" charset="0"/>
                            </a:rPr>
                            <m:t>𝑒</m:t>
                          </m:r>
                        </m:e>
                        <m:sup>
                          <m:r>
                            <a:rPr lang="en-US" altLang="zh-CN" sz="3200" b="0">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𝑅</m:t>
                              </m:r>
                            </m:num>
                            <m:den>
                              <m:r>
                                <a:rPr lang="en-US" altLang="zh-CN" sz="3200" b="0" i="1">
                                  <a:solidFill>
                                    <a:schemeClr val="tx1"/>
                                  </a:solidFill>
                                  <a:latin typeface="Cambria Math" panose="02040503050406030204" pitchFamily="18" charset="0"/>
                                </a:rPr>
                                <m:t>𝐿</m:t>
                              </m:r>
                            </m:den>
                          </m:f>
                          <m:r>
                            <a:rPr lang="en-US" altLang="zh-CN" sz="3200" b="0" i="1">
                              <a:solidFill>
                                <a:schemeClr val="tx1"/>
                              </a:solidFill>
                              <a:latin typeface="Cambria Math" panose="02040503050406030204" pitchFamily="18" charset="0"/>
                            </a:rPr>
                            <m:t>𝑡</m:t>
                          </m:r>
                        </m:sup>
                      </m:sSup>
                    </m:oMath>
                  </m:oMathPara>
                </a14:m>
                <a:endParaRPr lang="en-US" altLang="zh-CN" dirty="0">
                  <a:solidFill>
                    <a:schemeClr val="tx1"/>
                  </a:solidFill>
                </a:endParaRPr>
              </a:p>
            </p:txBody>
          </p:sp>
        </mc:Choice>
        <mc:Fallback xmlns="">
          <p:sp>
            <p:nvSpPr>
              <p:cNvPr id="48" name="矩形 47">
                <a:extLst>
                  <a:ext uri="{FF2B5EF4-FFF2-40B4-BE49-F238E27FC236}">
                    <a16:creationId xmlns:a16="http://schemas.microsoft.com/office/drawing/2014/main" id="{7763C7A6-EC61-4AB4-B2AE-6F99F79F5A8D}"/>
                  </a:ext>
                </a:extLst>
              </p:cNvPr>
              <p:cNvSpPr>
                <a:spLocks noRot="1" noChangeAspect="1" noMove="1" noResize="1" noEditPoints="1" noAdjustHandles="1" noChangeArrowheads="1" noChangeShapeType="1" noTextEdit="1"/>
              </p:cNvSpPr>
              <p:nvPr/>
            </p:nvSpPr>
            <p:spPr>
              <a:xfrm>
                <a:off x="3959408" y="3855439"/>
                <a:ext cx="2340635" cy="1179747"/>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10412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83" grpId="0"/>
      <p:bldP spid="20" grpId="0"/>
      <p:bldP spid="4" grpId="0"/>
      <p:bldP spid="46"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73803" name="Text Box 11"/>
              <p:cNvSpPr txBox="1">
                <a:spLocks noChangeArrowheads="1"/>
              </p:cNvSpPr>
              <p:nvPr/>
            </p:nvSpPr>
            <p:spPr bwMode="auto">
              <a:xfrm>
                <a:off x="496031" y="2651131"/>
                <a:ext cx="11236721" cy="3046988"/>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algn="just">
                  <a:lnSpc>
                    <a:spcPct val="150000"/>
                  </a:lnSpc>
                  <a:spcBef>
                    <a:spcPct val="50000"/>
                  </a:spcBef>
                  <a:buFontTx/>
                  <a:buChar char="-"/>
                </a:pPr>
                <a:r>
                  <a:rPr lang="zh-CN" altLang="en-US" sz="2800" b="0" i="0" u="none" dirty="0">
                    <a:solidFill>
                      <a:srgbClr val="000000"/>
                    </a:solidFill>
                    <a:latin typeface="华文楷体" panose="02010600040101010101" pitchFamily="2" charset="-122"/>
                    <a:ea typeface="华文楷体" panose="02010600040101010101" pitchFamily="2" charset="-122"/>
                  </a:rPr>
                  <a:t>断开</a:t>
                </a:r>
                <a:r>
                  <a:rPr lang="en-US" altLang="zh-CN" sz="2800" b="0" i="0" u="none" dirty="0">
                    <a:solidFill>
                      <a:srgbClr val="000000"/>
                    </a:solidFill>
                    <a:latin typeface="华文楷体" panose="02010600040101010101" pitchFamily="2" charset="-122"/>
                    <a:ea typeface="华文楷体" panose="02010600040101010101" pitchFamily="2" charset="-122"/>
                  </a:rPr>
                  <a:t>S</a:t>
                </a:r>
                <a:r>
                  <a:rPr lang="en-US" altLang="zh-CN" sz="2800" b="0" i="0" u="none" baseline="-25000" dirty="0">
                    <a:solidFill>
                      <a:srgbClr val="000000"/>
                    </a:solidFill>
                    <a:latin typeface="华文楷体" panose="02010600040101010101" pitchFamily="2" charset="-122"/>
                    <a:ea typeface="华文楷体" panose="02010600040101010101" pitchFamily="2" charset="-122"/>
                  </a:rPr>
                  <a:t>1</a:t>
                </a:r>
                <a:r>
                  <a:rPr lang="zh-CN" altLang="en-US" sz="2800" b="0" i="0" u="none" dirty="0">
                    <a:solidFill>
                      <a:srgbClr val="000000"/>
                    </a:solidFill>
                    <a:latin typeface="华文楷体" panose="02010600040101010101" pitchFamily="2" charset="-122"/>
                    <a:ea typeface="华文楷体" panose="02010600040101010101" pitchFamily="2" charset="-122"/>
                  </a:rPr>
                  <a:t>后如不接通</a:t>
                </a:r>
                <a:r>
                  <a:rPr lang="en-US" altLang="zh-CN" sz="2800" b="0" i="0" u="none" dirty="0">
                    <a:solidFill>
                      <a:srgbClr val="000000"/>
                    </a:solidFill>
                    <a:latin typeface="华文楷体" panose="02010600040101010101" pitchFamily="2" charset="-122"/>
                    <a:ea typeface="华文楷体" panose="02010600040101010101" pitchFamily="2" charset="-122"/>
                  </a:rPr>
                  <a:t>S</a:t>
                </a:r>
                <a:r>
                  <a:rPr lang="en-US" altLang="zh-CN" sz="2800" b="0" i="0" u="none" baseline="-25000" dirty="0">
                    <a:solidFill>
                      <a:srgbClr val="000000"/>
                    </a:solidFill>
                    <a:latin typeface="华文楷体" panose="02010600040101010101" pitchFamily="2" charset="-122"/>
                    <a:ea typeface="华文楷体" panose="02010600040101010101" pitchFamily="2" charset="-122"/>
                  </a:rPr>
                  <a:t>2</a:t>
                </a:r>
                <a:r>
                  <a:rPr lang="zh-CN" altLang="en-US" sz="2800" b="0" i="0" u="none" dirty="0">
                    <a:solidFill>
                      <a:srgbClr val="000000"/>
                    </a:solidFill>
                    <a:latin typeface="华文楷体" panose="02010600040101010101" pitchFamily="2" charset="-122"/>
                    <a:ea typeface="华文楷体" panose="02010600040101010101" pitchFamily="2" charset="-122"/>
                  </a:rPr>
                  <a:t>，电流将骤然降为零。</a:t>
                </a:r>
                <a:endParaRPr lang="en-US" altLang="zh-CN" sz="2800" b="0" i="0" u="none" dirty="0">
                  <a:solidFill>
                    <a:srgbClr val="000000"/>
                  </a:solidFill>
                  <a:latin typeface="华文楷体" panose="02010600040101010101" pitchFamily="2" charset="-122"/>
                  <a:ea typeface="华文楷体" panose="02010600040101010101" pitchFamily="2" charset="-122"/>
                </a:endParaRPr>
              </a:p>
              <a:p>
                <a:pPr marL="457200" indent="-457200" algn="just">
                  <a:lnSpc>
                    <a:spcPct val="150000"/>
                  </a:lnSpc>
                  <a:spcBef>
                    <a:spcPct val="50000"/>
                  </a:spcBef>
                  <a:buFontTx/>
                  <a:buChar char="-"/>
                </a:pP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𝑑𝐼</m:t>
                    </m:r>
                    <m:r>
                      <a:rPr lang="en-US" altLang="zh-CN" sz="2800" b="0" u="none" dirty="0">
                        <a:solidFill>
                          <a:srgbClr val="000000"/>
                        </a:solidFill>
                        <a:latin typeface="Cambria Math" panose="02040503050406030204" pitchFamily="18" charset="0"/>
                        <a:ea typeface="华文新魏" panose="02010800040101010101" pitchFamily="2" charset="-122"/>
                      </a:rPr>
                      <m:t>/</m:t>
                    </m:r>
                    <m:r>
                      <a:rPr lang="en-US" altLang="zh-CN" sz="2800" b="0" i="1" u="none" dirty="0" err="1">
                        <a:solidFill>
                          <a:srgbClr val="000000"/>
                        </a:solidFill>
                        <a:latin typeface="Cambria Math" panose="02040503050406030204" pitchFamily="18" charset="0"/>
                        <a:ea typeface="华文新魏" panose="02010800040101010101" pitchFamily="2" charset="-122"/>
                      </a:rPr>
                      <m:t>𝑑𝑡</m:t>
                    </m:r>
                  </m:oMath>
                </a14:m>
                <a:r>
                  <a:rPr lang="zh-CN" altLang="en-US" sz="2800" b="0" i="0" u="none" dirty="0">
                    <a:solidFill>
                      <a:srgbClr val="000000"/>
                    </a:solidFill>
                    <a:latin typeface="华文楷体" panose="02010600040101010101" pitchFamily="2" charset="-122"/>
                    <a:ea typeface="华文楷体" panose="02010600040101010101" pitchFamily="2" charset="-122"/>
                  </a:rPr>
                  <a:t>很大，自感电动势可达几千伏，常使电键两端出现电火花，甚至电弧。为避免出现事故，常采用</a:t>
                </a:r>
                <a:r>
                  <a:rPr lang="zh-CN" altLang="en-US" sz="2800" b="0" i="0" u="none" dirty="0">
                    <a:solidFill>
                      <a:srgbClr val="C00000"/>
                    </a:solidFill>
                    <a:latin typeface="华文楷体" panose="02010600040101010101" pitchFamily="2" charset="-122"/>
                    <a:ea typeface="华文楷体" panose="02010600040101010101" pitchFamily="2" charset="-122"/>
                  </a:rPr>
                  <a:t>逐渐增加电阻</a:t>
                </a:r>
                <a:r>
                  <a:rPr lang="zh-CN" altLang="en-US" sz="2800" b="0" i="0" u="none" dirty="0">
                    <a:solidFill>
                      <a:srgbClr val="000000"/>
                    </a:solidFill>
                    <a:latin typeface="华文楷体" panose="02010600040101010101" pitchFamily="2" charset="-122"/>
                    <a:ea typeface="华文楷体" panose="02010600040101010101" pitchFamily="2" charset="-122"/>
                  </a:rPr>
                  <a:t>的方法断开电路。</a:t>
                </a:r>
                <a:endParaRPr lang="en-US" altLang="zh-CN" sz="2800" b="0" i="0" u="none" dirty="0">
                  <a:solidFill>
                    <a:srgbClr val="000000"/>
                  </a:solidFill>
                  <a:latin typeface="华文楷体" panose="02010600040101010101" pitchFamily="2" charset="-122"/>
                  <a:ea typeface="华文楷体" panose="02010600040101010101" pitchFamily="2" charset="-122"/>
                </a:endParaRPr>
              </a:p>
              <a:p>
                <a:pPr marL="457200" indent="-457200" algn="just">
                  <a:lnSpc>
                    <a:spcPct val="150000"/>
                  </a:lnSpc>
                  <a:spcBef>
                    <a:spcPct val="50000"/>
                  </a:spcBef>
                  <a:buFontTx/>
                  <a:buChar char="-"/>
                </a:pPr>
                <a:r>
                  <a:rPr lang="zh-CN" altLang="en-US" sz="2800" b="0" i="0" u="none" dirty="0">
                    <a:solidFill>
                      <a:srgbClr val="000000"/>
                    </a:solidFill>
                    <a:latin typeface="华文楷体" panose="02010600040101010101" pitchFamily="2" charset="-122"/>
                    <a:ea typeface="华文楷体" panose="02010600040101010101" pitchFamily="2" charset="-122"/>
                  </a:rPr>
                  <a:t>电焊</a:t>
                </a:r>
              </a:p>
            </p:txBody>
          </p:sp>
        </mc:Choice>
        <mc:Fallback xmlns="">
          <p:sp>
            <p:nvSpPr>
              <p:cNvPr id="673803" name="Text Box 11"/>
              <p:cNvSpPr txBox="1">
                <a:spLocks noRot="1" noChangeAspect="1" noMove="1" noResize="1" noEditPoints="1" noAdjustHandles="1" noChangeArrowheads="1" noChangeShapeType="1" noTextEdit="1"/>
              </p:cNvSpPr>
              <p:nvPr/>
            </p:nvSpPr>
            <p:spPr bwMode="auto">
              <a:xfrm>
                <a:off x="496031" y="2651131"/>
                <a:ext cx="11236721" cy="3046988"/>
              </a:xfrm>
              <a:prstGeom prst="rect">
                <a:avLst/>
              </a:prstGeom>
              <a:blipFill>
                <a:blip r:embed="rId2"/>
                <a:stretch>
                  <a:fillRect l="-976" r="-1085" b="-46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zh-CN" altLang="en-US">
                    <a:noFill/>
                  </a:rPr>
                  <a:t> </a:t>
                </a:r>
              </a:p>
            </p:txBody>
          </p:sp>
        </mc:Fallback>
      </mc:AlternateContent>
      <p:grpSp>
        <p:nvGrpSpPr>
          <p:cNvPr id="40" name="Group 42"/>
          <p:cNvGrpSpPr>
            <a:grpSpLocks/>
          </p:cNvGrpSpPr>
          <p:nvPr/>
        </p:nvGrpSpPr>
        <p:grpSpPr bwMode="auto">
          <a:xfrm>
            <a:off x="4333119" y="859445"/>
            <a:ext cx="3384550" cy="1584325"/>
            <a:chOff x="2880" y="346"/>
            <a:chExt cx="2586" cy="1360"/>
          </a:xfrm>
        </p:grpSpPr>
        <p:grpSp>
          <p:nvGrpSpPr>
            <p:cNvPr id="41" name="Group 36"/>
            <p:cNvGrpSpPr>
              <a:grpSpLocks/>
            </p:cNvGrpSpPr>
            <p:nvPr/>
          </p:nvGrpSpPr>
          <p:grpSpPr bwMode="auto">
            <a:xfrm>
              <a:off x="2880" y="346"/>
              <a:ext cx="2586" cy="1360"/>
              <a:chOff x="2880" y="346"/>
              <a:chExt cx="2586" cy="1360"/>
            </a:xfrm>
          </p:grpSpPr>
          <p:sp>
            <p:nvSpPr>
              <p:cNvPr id="47" name="Rectangle 4"/>
              <p:cNvSpPr>
                <a:spLocks noChangeArrowheads="1"/>
              </p:cNvSpPr>
              <p:nvPr/>
            </p:nvSpPr>
            <p:spPr bwMode="auto">
              <a:xfrm>
                <a:off x="3607" y="346"/>
                <a:ext cx="410" cy="181"/>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25400">
                <a:solidFill>
                  <a:srgbClr val="000000"/>
                </a:solidFill>
                <a:miter lim="800000"/>
                <a:headEnd/>
                <a:tailEnd/>
              </a:ln>
              <a:effectLst/>
            </p:spPr>
            <p:txBody>
              <a:bodyPr wrap="none" anchor="ctr"/>
              <a:lstStyle/>
              <a:p>
                <a:pPr>
                  <a:defRPr/>
                </a:pPr>
                <a:endParaRPr lang="zh-CN" altLang="en-US" dirty="0">
                  <a:latin typeface="华文楷体" panose="02010600040101010101" pitchFamily="2" charset="-122"/>
                  <a:ea typeface="华文楷体" panose="02010600040101010101" pitchFamily="2" charset="-122"/>
                </a:endParaRPr>
              </a:p>
            </p:txBody>
          </p:sp>
          <p:grpSp>
            <p:nvGrpSpPr>
              <p:cNvPr id="48" name="Group 21"/>
              <p:cNvGrpSpPr>
                <a:grpSpLocks/>
              </p:cNvGrpSpPr>
              <p:nvPr/>
            </p:nvGrpSpPr>
            <p:grpSpPr bwMode="auto">
              <a:xfrm>
                <a:off x="4604" y="390"/>
                <a:ext cx="363" cy="137"/>
                <a:chOff x="1655" y="2341"/>
                <a:chExt cx="363" cy="137"/>
              </a:xfrm>
            </p:grpSpPr>
            <p:sp>
              <p:nvSpPr>
                <p:cNvPr id="72" name="AutoShape 16"/>
                <p:cNvSpPr>
                  <a:spLocks noChangeArrowheads="1"/>
                </p:cNvSpPr>
                <p:nvPr/>
              </p:nvSpPr>
              <p:spPr bwMode="auto">
                <a:xfrm>
                  <a:off x="1655"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3" name="AutoShape 17"/>
                <p:cNvSpPr>
                  <a:spLocks noChangeArrowheads="1"/>
                </p:cNvSpPr>
                <p:nvPr/>
              </p:nvSpPr>
              <p:spPr bwMode="auto">
                <a:xfrm>
                  <a:off x="1746"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4" name="AutoShape 18"/>
                <p:cNvSpPr>
                  <a:spLocks noChangeArrowheads="1"/>
                </p:cNvSpPr>
                <p:nvPr/>
              </p:nvSpPr>
              <p:spPr bwMode="auto">
                <a:xfrm>
                  <a:off x="183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dirty="0">
                    <a:latin typeface="华文楷体" panose="02010600040101010101" pitchFamily="2" charset="-122"/>
                    <a:ea typeface="华文楷体" panose="02010600040101010101" pitchFamily="2" charset="-122"/>
                  </a:endParaRPr>
                </a:p>
              </p:txBody>
            </p:sp>
            <p:sp>
              <p:nvSpPr>
                <p:cNvPr id="75" name="AutoShape 19"/>
                <p:cNvSpPr>
                  <a:spLocks noChangeArrowheads="1"/>
                </p:cNvSpPr>
                <p:nvPr/>
              </p:nvSpPr>
              <p:spPr bwMode="auto">
                <a:xfrm>
                  <a:off x="1927" y="2341"/>
                  <a:ext cx="91" cy="1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6 h 21600"/>
                  </a:gdLst>
                  <a:ahLst/>
                  <a:cxnLst>
                    <a:cxn ang="T8">
                      <a:pos x="T0" y="T1"/>
                    </a:cxn>
                    <a:cxn ang="T9">
                      <a:pos x="T2" y="T3"/>
                    </a:cxn>
                    <a:cxn ang="T10">
                      <a:pos x="T4" y="T5"/>
                    </a:cxn>
                    <a:cxn ang="T11">
                      <a:pos x="T6" y="T7"/>
                    </a:cxn>
                  </a:cxnLst>
                  <a:rect l="T12" t="T13" r="T14" b="T15"/>
                  <a:pathLst>
                    <a:path w="21600" h="21600">
                      <a:moveTo>
                        <a:pt x="0" y="10819"/>
                      </a:moveTo>
                      <a:cubicBezTo>
                        <a:pt x="0" y="10813"/>
                        <a:pt x="0" y="10806"/>
                        <a:pt x="0" y="10800"/>
                      </a:cubicBezTo>
                      <a:cubicBezTo>
                        <a:pt x="0" y="4835"/>
                        <a:pt x="4835" y="0"/>
                        <a:pt x="10800" y="0"/>
                      </a:cubicBezTo>
                      <a:cubicBezTo>
                        <a:pt x="16764" y="0"/>
                        <a:pt x="21600" y="4835"/>
                        <a:pt x="21600" y="10800"/>
                      </a:cubicBezTo>
                      <a:cubicBezTo>
                        <a:pt x="21600" y="10806"/>
                        <a:pt x="21599" y="10813"/>
                        <a:pt x="21599" y="10819"/>
                      </a:cubicBezTo>
                      <a:cubicBezTo>
                        <a:pt x="21599" y="10813"/>
                        <a:pt x="21600" y="10806"/>
                        <a:pt x="21600" y="10800"/>
                      </a:cubicBezTo>
                      <a:cubicBezTo>
                        <a:pt x="21600" y="4835"/>
                        <a:pt x="16764" y="0"/>
                        <a:pt x="10800" y="0"/>
                      </a:cubicBezTo>
                      <a:cubicBezTo>
                        <a:pt x="4835" y="0"/>
                        <a:pt x="0" y="4835"/>
                        <a:pt x="0" y="10800"/>
                      </a:cubicBezTo>
                      <a:cubicBezTo>
                        <a:pt x="-1" y="10806"/>
                        <a:pt x="0" y="10813"/>
                        <a:pt x="0" y="10819"/>
                      </a:cubicBezTo>
                      <a:close/>
                    </a:path>
                  </a:pathLst>
                </a:custGeom>
                <a:solidFill>
                  <a:schemeClr val="accent1"/>
                </a:solidFill>
                <a:ln w="25400">
                  <a:solidFill>
                    <a:srgbClr val="FF6600"/>
                  </a:solidFill>
                  <a:miter lim="800000"/>
                  <a:headEnd/>
                  <a:tailEnd/>
                </a:ln>
              </p:spPr>
              <p:txBody>
                <a:bodyPr wrap="none" anchor="ctr"/>
                <a:lstStyle/>
                <a:p>
                  <a:endParaRPr lang="zh-CN" altLang="en-US" dirty="0">
                    <a:latin typeface="华文楷体" panose="02010600040101010101" pitchFamily="2" charset="-122"/>
                    <a:ea typeface="华文楷体" panose="02010600040101010101" pitchFamily="2" charset="-122"/>
                  </a:endParaRPr>
                </a:p>
              </p:txBody>
            </p:sp>
          </p:grpSp>
          <p:grpSp>
            <p:nvGrpSpPr>
              <p:cNvPr id="49" name="Group 31"/>
              <p:cNvGrpSpPr>
                <a:grpSpLocks/>
              </p:cNvGrpSpPr>
              <p:nvPr/>
            </p:nvGrpSpPr>
            <p:grpSpPr bwMode="auto">
              <a:xfrm>
                <a:off x="3651" y="1008"/>
                <a:ext cx="362" cy="227"/>
                <a:chOff x="1565" y="2205"/>
                <a:chExt cx="362" cy="227"/>
              </a:xfrm>
            </p:grpSpPr>
            <p:grpSp>
              <p:nvGrpSpPr>
                <p:cNvPr id="63" name="Group 24"/>
                <p:cNvGrpSpPr>
                  <a:grpSpLocks/>
                </p:cNvGrpSpPr>
                <p:nvPr/>
              </p:nvGrpSpPr>
              <p:grpSpPr bwMode="auto">
                <a:xfrm>
                  <a:off x="1565" y="2205"/>
                  <a:ext cx="72" cy="227"/>
                  <a:chOff x="1565" y="2205"/>
                  <a:chExt cx="72" cy="227"/>
                </a:xfrm>
              </p:grpSpPr>
              <p:sp>
                <p:nvSpPr>
                  <p:cNvPr id="70" name="Line 22"/>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71" name="Line 23"/>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grpSp>
            <p:grpSp>
              <p:nvGrpSpPr>
                <p:cNvPr id="64" name="Group 25"/>
                <p:cNvGrpSpPr>
                  <a:grpSpLocks/>
                </p:cNvGrpSpPr>
                <p:nvPr/>
              </p:nvGrpSpPr>
              <p:grpSpPr bwMode="auto">
                <a:xfrm>
                  <a:off x="1701" y="2205"/>
                  <a:ext cx="72" cy="227"/>
                  <a:chOff x="1565" y="2205"/>
                  <a:chExt cx="72" cy="227"/>
                </a:xfrm>
              </p:grpSpPr>
              <p:sp>
                <p:nvSpPr>
                  <p:cNvPr id="68" name="Line 26"/>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69" name="Line 27"/>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grpSp>
            <p:grpSp>
              <p:nvGrpSpPr>
                <p:cNvPr id="65" name="Group 28"/>
                <p:cNvGrpSpPr>
                  <a:grpSpLocks/>
                </p:cNvGrpSpPr>
                <p:nvPr/>
              </p:nvGrpSpPr>
              <p:grpSpPr bwMode="auto">
                <a:xfrm>
                  <a:off x="1855" y="2205"/>
                  <a:ext cx="72" cy="227"/>
                  <a:chOff x="1565" y="2205"/>
                  <a:chExt cx="72" cy="227"/>
                </a:xfrm>
              </p:grpSpPr>
              <p:sp>
                <p:nvSpPr>
                  <p:cNvPr id="66" name="Line 29"/>
                  <p:cNvSpPr>
                    <a:spLocks noChangeShapeType="1"/>
                  </p:cNvSpPr>
                  <p:nvPr/>
                </p:nvSpPr>
                <p:spPr bwMode="auto">
                  <a:xfrm>
                    <a:off x="1565" y="2205"/>
                    <a:ext cx="0" cy="22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67" name="Line 30"/>
                  <p:cNvSpPr>
                    <a:spLocks noChangeShapeType="1"/>
                  </p:cNvSpPr>
                  <p:nvPr/>
                </p:nvSpPr>
                <p:spPr bwMode="auto">
                  <a:xfrm>
                    <a:off x="1637" y="2251"/>
                    <a:ext cx="0" cy="137"/>
                  </a:xfrm>
                  <a:prstGeom prst="line">
                    <a:avLst/>
                  </a:prstGeom>
                  <a:noFill/>
                  <a:ln w="508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grpSp>
          </p:grpSp>
          <p:grpSp>
            <p:nvGrpSpPr>
              <p:cNvPr id="50" name="Group 35"/>
              <p:cNvGrpSpPr>
                <a:grpSpLocks/>
              </p:cNvGrpSpPr>
              <p:nvPr/>
            </p:nvGrpSpPr>
            <p:grpSpPr bwMode="auto">
              <a:xfrm>
                <a:off x="2880" y="436"/>
                <a:ext cx="2586" cy="1270"/>
                <a:chOff x="2880" y="436"/>
                <a:chExt cx="2586" cy="1270"/>
              </a:xfrm>
            </p:grpSpPr>
            <p:sp>
              <p:nvSpPr>
                <p:cNvPr id="51" name="Line 6"/>
                <p:cNvSpPr>
                  <a:spLocks noChangeShapeType="1"/>
                </p:cNvSpPr>
                <p:nvPr/>
              </p:nvSpPr>
              <p:spPr bwMode="auto">
                <a:xfrm>
                  <a:off x="2880" y="436"/>
                  <a:ext cx="726"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2" name="Line 7"/>
                <p:cNvSpPr>
                  <a:spLocks noChangeShapeType="1"/>
                </p:cNvSpPr>
                <p:nvPr/>
              </p:nvSpPr>
              <p:spPr bwMode="auto">
                <a:xfrm>
                  <a:off x="2880"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3" name="Line 9"/>
                <p:cNvSpPr>
                  <a:spLocks noChangeShapeType="1"/>
                </p:cNvSpPr>
                <p:nvPr/>
              </p:nvSpPr>
              <p:spPr bwMode="auto">
                <a:xfrm>
                  <a:off x="4876" y="1117"/>
                  <a:ext cx="58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4" name="Line 10"/>
                <p:cNvSpPr>
                  <a:spLocks noChangeShapeType="1"/>
                </p:cNvSpPr>
                <p:nvPr/>
              </p:nvSpPr>
              <p:spPr bwMode="auto">
                <a:xfrm>
                  <a:off x="4014" y="1117"/>
                  <a:ext cx="454"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5" name="Line 11"/>
                <p:cNvSpPr>
                  <a:spLocks noChangeShapeType="1"/>
                </p:cNvSpPr>
                <p:nvPr/>
              </p:nvSpPr>
              <p:spPr bwMode="auto">
                <a:xfrm>
                  <a:off x="2880" y="1117"/>
                  <a:ext cx="771"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6" name="Line 12"/>
                <p:cNvSpPr>
                  <a:spLocks noChangeShapeType="1"/>
                </p:cNvSpPr>
                <p:nvPr/>
              </p:nvSpPr>
              <p:spPr bwMode="auto">
                <a:xfrm>
                  <a:off x="4876" y="1706"/>
                  <a:ext cx="589"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7" name="Line 13"/>
                <p:cNvSpPr>
                  <a:spLocks noChangeShapeType="1"/>
                </p:cNvSpPr>
                <p:nvPr/>
              </p:nvSpPr>
              <p:spPr bwMode="auto">
                <a:xfrm>
                  <a:off x="2880" y="1706"/>
                  <a:ext cx="1588"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8" name="Line 14"/>
                <p:cNvSpPr>
                  <a:spLocks noChangeShapeType="1"/>
                </p:cNvSpPr>
                <p:nvPr/>
              </p:nvSpPr>
              <p:spPr bwMode="auto">
                <a:xfrm>
                  <a:off x="4967" y="436"/>
                  <a:ext cx="499"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59" name="Line 15"/>
                <p:cNvSpPr>
                  <a:spLocks noChangeShapeType="1"/>
                </p:cNvSpPr>
                <p:nvPr/>
              </p:nvSpPr>
              <p:spPr bwMode="auto">
                <a:xfrm>
                  <a:off x="4014" y="436"/>
                  <a:ext cx="590" cy="1"/>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60" name="Line 32"/>
                <p:cNvSpPr>
                  <a:spLocks noChangeShapeType="1"/>
                </p:cNvSpPr>
                <p:nvPr/>
              </p:nvSpPr>
              <p:spPr bwMode="auto">
                <a:xfrm>
                  <a:off x="5465" y="436"/>
                  <a:ext cx="0" cy="127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61" name="Line 33"/>
                <p:cNvSpPr>
                  <a:spLocks noChangeShapeType="1"/>
                </p:cNvSpPr>
                <p:nvPr/>
              </p:nvSpPr>
              <p:spPr bwMode="auto">
                <a:xfrm>
                  <a:off x="4504" y="890"/>
                  <a:ext cx="408" cy="227"/>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62" name="Line 34"/>
                <p:cNvSpPr>
                  <a:spLocks noChangeShapeType="1"/>
                </p:cNvSpPr>
                <p:nvPr/>
              </p:nvSpPr>
              <p:spPr bwMode="auto">
                <a:xfrm>
                  <a:off x="4468" y="1479"/>
                  <a:ext cx="408" cy="227"/>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华文楷体" panose="02010600040101010101" pitchFamily="2" charset="-122"/>
                    <a:ea typeface="华文楷体" panose="02010600040101010101" pitchFamily="2" charset="-122"/>
                  </a:endParaRPr>
                </a:p>
              </p:txBody>
            </p:sp>
          </p:grpSp>
        </p:grpSp>
        <mc:AlternateContent xmlns:mc="http://schemas.openxmlformats.org/markup-compatibility/2006" xmlns:a14="http://schemas.microsoft.com/office/drawing/2010/main">
          <mc:Choice Requires="a14">
            <p:sp>
              <p:nvSpPr>
                <p:cNvPr id="42" name="Object 8"/>
                <p:cNvSpPr txBox="1"/>
                <p:nvPr/>
              </p:nvSpPr>
              <p:spPr bwMode="auto">
                <a:xfrm>
                  <a:off x="3714" y="1271"/>
                  <a:ext cx="299" cy="331"/>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𝜀</m:t>
                        </m:r>
                      </m:oMath>
                    </m:oMathPara>
                  </a14:m>
                  <a:endParaRPr lang="en-US" dirty="0"/>
                </a:p>
              </p:txBody>
            </p:sp>
          </mc:Choice>
          <mc:Fallback xmlns="">
            <p:sp>
              <p:nvSpPr>
                <p:cNvPr id="42" name="Object 8"/>
                <p:cNvSpPr txBox="1">
                  <a:spLocks noRot="1" noChangeAspect="1" noMove="1" noResize="1" noEditPoints="1" noAdjustHandles="1" noChangeArrowheads="1" noChangeShapeType="1" noTextEdit="1"/>
                </p:cNvSpPr>
                <p:nvPr/>
              </p:nvSpPr>
              <p:spPr bwMode="auto">
                <a:xfrm>
                  <a:off x="3714" y="1271"/>
                  <a:ext cx="299" cy="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Object 9"/>
                <p:cNvSpPr txBox="1"/>
                <p:nvPr/>
              </p:nvSpPr>
              <p:spPr bwMode="auto">
                <a:xfrm>
                  <a:off x="3742" y="535"/>
                  <a:ext cx="213" cy="215"/>
                </a:xfrm>
                <a:prstGeom prst="rect">
                  <a:avLst/>
                </a:prstGeom>
                <a:noFill/>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𝑅</m:t>
                        </m:r>
                      </m:oMath>
                    </m:oMathPara>
                  </a14:m>
                  <a:endParaRPr lang="en-US"/>
                </a:p>
              </p:txBody>
            </p:sp>
          </mc:Choice>
          <mc:Fallback xmlns="">
            <p:sp>
              <p:nvSpPr>
                <p:cNvPr id="43" name="Object 9"/>
                <p:cNvSpPr txBox="1">
                  <a:spLocks noRot="1" noChangeAspect="1" noMove="1" noResize="1" noEditPoints="1" noAdjustHandles="1" noChangeArrowheads="1" noChangeShapeType="1" noTextEdit="1"/>
                </p:cNvSpPr>
                <p:nvPr/>
              </p:nvSpPr>
              <p:spPr bwMode="auto">
                <a:xfrm>
                  <a:off x="3742" y="535"/>
                  <a:ext cx="213" cy="2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Object 10"/>
                <p:cNvSpPr txBox="1"/>
                <p:nvPr/>
              </p:nvSpPr>
              <p:spPr bwMode="auto">
                <a:xfrm>
                  <a:off x="5014" y="460"/>
                  <a:ext cx="213" cy="215"/>
                </a:xfrm>
                <a:prstGeom prst="rect">
                  <a:avLst/>
                </a:prstGeom>
                <a:noFill/>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𝐿</m:t>
                        </m:r>
                      </m:oMath>
                    </m:oMathPara>
                  </a14:m>
                  <a:endParaRPr lang="en-US"/>
                </a:p>
              </p:txBody>
            </p:sp>
          </mc:Choice>
          <mc:Fallback xmlns="">
            <p:sp>
              <p:nvSpPr>
                <p:cNvPr id="44" name="Object 10"/>
                <p:cNvSpPr txBox="1">
                  <a:spLocks noRot="1" noChangeAspect="1" noMove="1" noResize="1" noEditPoints="1" noAdjustHandles="1" noChangeArrowheads="1" noChangeShapeType="1" noTextEdit="1"/>
                </p:cNvSpPr>
                <p:nvPr/>
              </p:nvSpPr>
              <p:spPr bwMode="auto">
                <a:xfrm>
                  <a:off x="5014" y="460"/>
                  <a:ext cx="213" cy="21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Object 11"/>
                <p:cNvSpPr txBox="1"/>
                <p:nvPr/>
              </p:nvSpPr>
              <p:spPr bwMode="auto">
                <a:xfrm>
                  <a:off x="4676" y="710"/>
                  <a:ext cx="250" cy="32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45" name="Object 11"/>
                <p:cNvSpPr txBox="1">
                  <a:spLocks noRot="1" noChangeAspect="1" noMove="1" noResize="1" noEditPoints="1" noAdjustHandles="1" noChangeArrowheads="1" noChangeShapeType="1" noTextEdit="1"/>
                </p:cNvSpPr>
                <p:nvPr/>
              </p:nvSpPr>
              <p:spPr bwMode="auto">
                <a:xfrm>
                  <a:off x="4676" y="710"/>
                  <a:ext cx="250" cy="323"/>
                </a:xfrm>
                <a:prstGeom prst="rect">
                  <a:avLst/>
                </a:prstGeom>
                <a:blipFill>
                  <a:blip r:embed="rId7"/>
                  <a:stretch>
                    <a:fillRect r="-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Object 12"/>
                <p:cNvSpPr txBox="1"/>
                <p:nvPr/>
              </p:nvSpPr>
              <p:spPr bwMode="auto">
                <a:xfrm>
                  <a:off x="4631" y="1301"/>
                  <a:ext cx="250" cy="32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46" name="Object 12"/>
                <p:cNvSpPr txBox="1">
                  <a:spLocks noRot="1" noChangeAspect="1" noMove="1" noResize="1" noEditPoints="1" noAdjustHandles="1" noChangeArrowheads="1" noChangeShapeType="1" noTextEdit="1"/>
                </p:cNvSpPr>
                <p:nvPr/>
              </p:nvSpPr>
              <p:spPr bwMode="auto">
                <a:xfrm>
                  <a:off x="4631" y="1301"/>
                  <a:ext cx="250" cy="322"/>
                </a:xfrm>
                <a:prstGeom prst="rect">
                  <a:avLst/>
                </a:prstGeom>
                <a:blipFill>
                  <a:blip r:embed="rId8"/>
                  <a:stretch>
                    <a:fillRect r="-9434"/>
                  </a:stretch>
                </a:blipFill>
              </p:spPr>
              <p:txBody>
                <a:bodyPr/>
                <a:lstStyle/>
                <a:p>
                  <a:r>
                    <a:rPr lang="en-US">
                      <a:noFill/>
                    </a:rPr>
                    <a:t> </a:t>
                  </a:r>
                </a:p>
              </p:txBody>
            </p:sp>
          </mc:Fallback>
        </mc:AlternateContent>
      </p:grpSp>
      <p:pic>
        <p:nvPicPr>
          <p:cNvPr id="1026" name="Picture 2">
            <a:extLst>
              <a:ext uri="{FF2B5EF4-FFF2-40B4-BE49-F238E27FC236}">
                <a16:creationId xmlns:a16="http://schemas.microsoft.com/office/drawing/2014/main" id="{0503F483-AED1-7DFB-102D-D9BFFC5BF78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7257" y="4929188"/>
            <a:ext cx="2720983" cy="1817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4778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38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38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38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a:extLst>
              <a:ext uri="{FF2B5EF4-FFF2-40B4-BE49-F238E27FC236}">
                <a16:creationId xmlns:a16="http://schemas.microsoft.com/office/drawing/2014/main" id="{3866F061-C137-4A45-AB2B-176B368255D2}"/>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自感应用</a:t>
            </a:r>
          </a:p>
        </p:txBody>
      </p:sp>
      <p:sp>
        <p:nvSpPr>
          <p:cNvPr id="12" name="Text Box 2">
            <a:extLst>
              <a:ext uri="{FF2B5EF4-FFF2-40B4-BE49-F238E27FC236}">
                <a16:creationId xmlns:a16="http://schemas.microsoft.com/office/drawing/2014/main" id="{1C81CDD0-5B00-41ED-8541-E4C3D5A3F3D0}"/>
              </a:ext>
            </a:extLst>
          </p:cNvPr>
          <p:cNvSpPr txBox="1"/>
          <p:nvPr/>
        </p:nvSpPr>
        <p:spPr>
          <a:xfrm>
            <a:off x="1196335" y="1276228"/>
            <a:ext cx="7086600" cy="523220"/>
          </a:xfrm>
          <a:prstGeom prst="rect">
            <a:avLst/>
          </a:prstGeom>
          <a:noFill/>
          <a:ln w="12700">
            <a:noFill/>
          </a:ln>
        </p:spPr>
        <p:txBody>
          <a:bodyPr>
            <a:spAutoFit/>
          </a:bodyPr>
          <a:lstStyle/>
          <a:p>
            <a:pPr>
              <a:spcBef>
                <a:spcPct val="50000"/>
              </a:spcBef>
            </a:pPr>
            <a:r>
              <a:rPr lang="en-US" altLang="zh-CN" sz="2800" dirty="0">
                <a:latin typeface="Times New Roman" panose="02020603050405020304" pitchFamily="18" charset="0"/>
              </a:rPr>
              <a:t>- </a:t>
            </a:r>
            <a:r>
              <a:rPr lang="zh-CN" altLang="en-US" sz="2800" dirty="0">
                <a:latin typeface="宋体" panose="02010600030101010101" pitchFamily="2" charset="-122"/>
              </a:rPr>
              <a:t>阻交流</a:t>
            </a:r>
            <a:r>
              <a:rPr lang="zh-CN" altLang="en-US" sz="2800" dirty="0">
                <a:latin typeface="Times New Roman" panose="02020603050405020304" pitchFamily="18" charset="0"/>
              </a:rPr>
              <a:t>，</a:t>
            </a:r>
            <a:r>
              <a:rPr lang="zh-CN" altLang="en-US" sz="2800" dirty="0">
                <a:latin typeface="宋体" panose="02010600030101010101" pitchFamily="2" charset="-122"/>
              </a:rPr>
              <a:t>通直流：</a:t>
            </a:r>
            <a:r>
              <a:rPr lang="zh-CN" altLang="en-US" sz="2800" dirty="0">
                <a:latin typeface="Times New Roman" panose="02020603050405020304" pitchFamily="18" charset="0"/>
              </a:rPr>
              <a:t>镇流器 扼流圈 限流器等 </a:t>
            </a:r>
          </a:p>
        </p:txBody>
      </p:sp>
      <p:pic>
        <p:nvPicPr>
          <p:cNvPr id="15" name="Picture 4" descr="Snap20">
            <a:extLst>
              <a:ext uri="{FF2B5EF4-FFF2-40B4-BE49-F238E27FC236}">
                <a16:creationId xmlns:a16="http://schemas.microsoft.com/office/drawing/2014/main" id="{C4F52927-A5C1-4B33-8B71-0447A712775F}"/>
              </a:ext>
            </a:extLst>
          </p:cNvPr>
          <p:cNvPicPr>
            <a:picLocks noChangeAspect="1"/>
          </p:cNvPicPr>
          <p:nvPr/>
        </p:nvPicPr>
        <p:blipFill>
          <a:blip r:embed="rId2"/>
          <a:stretch>
            <a:fillRect/>
          </a:stretch>
        </p:blipFill>
        <p:spPr>
          <a:xfrm>
            <a:off x="1565984" y="1990789"/>
            <a:ext cx="6076950" cy="1285875"/>
          </a:xfrm>
          <a:prstGeom prst="rect">
            <a:avLst/>
          </a:prstGeom>
          <a:noFill/>
          <a:ln w="9525">
            <a:noFill/>
          </a:ln>
        </p:spPr>
      </p:pic>
      <p:sp>
        <p:nvSpPr>
          <p:cNvPr id="16" name="Rectangle 5">
            <a:extLst>
              <a:ext uri="{FF2B5EF4-FFF2-40B4-BE49-F238E27FC236}">
                <a16:creationId xmlns:a16="http://schemas.microsoft.com/office/drawing/2014/main" id="{F49C9617-68BF-4572-BA8B-72C9E1E29203}"/>
              </a:ext>
            </a:extLst>
          </p:cNvPr>
          <p:cNvSpPr/>
          <p:nvPr/>
        </p:nvSpPr>
        <p:spPr>
          <a:xfrm>
            <a:off x="1441710" y="3581337"/>
            <a:ext cx="8367769" cy="1982402"/>
          </a:xfrm>
          <a:prstGeom prst="rect">
            <a:avLst/>
          </a:prstGeom>
          <a:noFill/>
          <a:ln w="9525">
            <a:noFill/>
          </a:ln>
        </p:spPr>
        <p:txBody>
          <a:bodyPr wrap="square" anchor="ctr" anchorCtr="0">
            <a:spAutoFit/>
          </a:bodyPr>
          <a:lstStyle/>
          <a:p>
            <a:pPr>
              <a:lnSpc>
                <a:spcPct val="120000"/>
              </a:lnSpc>
            </a:pPr>
            <a:r>
              <a:rPr lang="zh-CN" altLang="en-US" sz="2600" dirty="0">
                <a:latin typeface="Times New Roman" panose="02020603050405020304" pitchFamily="18" charset="0"/>
              </a:rPr>
              <a:t>镇流器：</a:t>
            </a:r>
            <a:endParaRPr lang="en-US" altLang="zh-CN" sz="2600" dirty="0">
              <a:latin typeface="Times New Roman" panose="02020603050405020304" pitchFamily="18" charset="0"/>
            </a:endParaRPr>
          </a:p>
          <a:p>
            <a:pPr marL="457200" indent="-457200">
              <a:lnSpc>
                <a:spcPct val="120000"/>
              </a:lnSpc>
              <a:buAutoNum type="arabicPeriod"/>
            </a:pPr>
            <a:r>
              <a:rPr lang="zh-CN" altLang="en-US" sz="2600" dirty="0">
                <a:latin typeface="Times New Roman" panose="02020603050405020304" pitchFamily="18" charset="0"/>
              </a:rPr>
              <a:t>稳定电流的作用</a:t>
            </a:r>
            <a:endParaRPr lang="en-US" altLang="zh-CN" sz="2600" dirty="0">
              <a:latin typeface="Times New Roman" panose="02020603050405020304" pitchFamily="18" charset="0"/>
            </a:endParaRPr>
          </a:p>
          <a:p>
            <a:pPr marL="457200" indent="-457200">
              <a:lnSpc>
                <a:spcPct val="120000"/>
              </a:lnSpc>
              <a:buAutoNum type="arabicPeriod"/>
            </a:pPr>
            <a:r>
              <a:rPr lang="zh-CN" altLang="en-US" sz="2600" dirty="0">
                <a:latin typeface="Times New Roman" panose="02020603050405020304" pitchFamily="18" charset="0"/>
              </a:rPr>
              <a:t>启动电路：自感电动势相位滞后；启动时，外加交流电压和自感电动势叠加，增大了气体电离的电场</a:t>
            </a:r>
            <a:endParaRPr lang="en-US" altLang="zh-CN" sz="2600" dirty="0">
              <a:latin typeface="Times New Roman" panose="02020603050405020304" pitchFamily="18" charset="0"/>
            </a:endParaRPr>
          </a:p>
        </p:txBody>
      </p:sp>
      <p:sp>
        <p:nvSpPr>
          <p:cNvPr id="2" name="Text Box 2">
            <a:extLst>
              <a:ext uri="{FF2B5EF4-FFF2-40B4-BE49-F238E27FC236}">
                <a16:creationId xmlns:a16="http://schemas.microsoft.com/office/drawing/2014/main" id="{3913724A-2C48-8D32-83CB-F40312DF618E}"/>
              </a:ext>
            </a:extLst>
          </p:cNvPr>
          <p:cNvSpPr txBox="1"/>
          <p:nvPr/>
        </p:nvSpPr>
        <p:spPr>
          <a:xfrm>
            <a:off x="1404614" y="5975228"/>
            <a:ext cx="9126225" cy="523220"/>
          </a:xfrm>
          <a:prstGeom prst="rect">
            <a:avLst/>
          </a:prstGeom>
          <a:noFill/>
          <a:ln w="12700">
            <a:noFill/>
          </a:ln>
        </p:spPr>
        <p:txBody>
          <a:bodyPr wrap="square">
            <a:spAutoFit/>
          </a:bodyPr>
          <a:lstStyle/>
          <a:p>
            <a:pPr>
              <a:spcBef>
                <a:spcPct val="50000"/>
              </a:spcBef>
            </a:pPr>
            <a:r>
              <a:rPr lang="en-US" altLang="zh-CN" sz="2800" dirty="0">
                <a:latin typeface="+mj-lt"/>
              </a:rPr>
              <a:t>- </a:t>
            </a:r>
            <a:r>
              <a:rPr lang="zh-CN" altLang="en-US" sz="2800" dirty="0">
                <a:latin typeface="+mj-lt"/>
              </a:rPr>
              <a:t>与电容组成</a:t>
            </a:r>
            <a:r>
              <a:rPr lang="en-US" altLang="zh-CN" sz="2800" dirty="0">
                <a:latin typeface="+mj-lt"/>
              </a:rPr>
              <a:t>LC</a:t>
            </a:r>
            <a:r>
              <a:rPr lang="zh-CN" altLang="en-US" sz="2800" dirty="0">
                <a:latin typeface="+mj-lt"/>
              </a:rPr>
              <a:t>震荡回路：发射和接收电磁波</a:t>
            </a:r>
          </a:p>
        </p:txBody>
      </p:sp>
    </p:spTree>
    <p:extLst>
      <p:ext uri="{BB962C8B-B14F-4D97-AF65-F5344CB8AC3E}">
        <p14:creationId xmlns:p14="http://schemas.microsoft.com/office/powerpoint/2010/main" val="168190583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Mutual Inductance GIF | Gfycat">
            <a:extLst>
              <a:ext uri="{FF2B5EF4-FFF2-40B4-BE49-F238E27FC236}">
                <a16:creationId xmlns:a16="http://schemas.microsoft.com/office/drawing/2014/main" id="{23762A14-9A0D-48AE-8DD0-D916BED69B53}"/>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93233" y="1178358"/>
            <a:ext cx="7084423" cy="5431391"/>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9">
            <a:extLst>
              <a:ext uri="{FF2B5EF4-FFF2-40B4-BE49-F238E27FC236}">
                <a16:creationId xmlns:a16="http://schemas.microsoft.com/office/drawing/2014/main" id="{1A7004B5-FFEC-4C35-BCDE-37F212297961}"/>
              </a:ext>
            </a:extLst>
          </p:cNvPr>
          <p:cNvSpPr txBox="1">
            <a:spLocks noChangeArrowheads="1"/>
          </p:cNvSpPr>
          <p:nvPr/>
        </p:nvSpPr>
        <p:spPr bwMode="auto">
          <a:xfrm>
            <a:off x="903231" y="547209"/>
            <a:ext cx="2778477" cy="646331"/>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med" len="lg"/>
                <a:tailEnd type="none" w="med" len="lg"/>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互感现象</a:t>
            </a:r>
          </a:p>
        </p:txBody>
      </p:sp>
      <p:sp>
        <p:nvSpPr>
          <p:cNvPr id="4" name="Rectangle 5">
            <a:extLst>
              <a:ext uri="{FF2B5EF4-FFF2-40B4-BE49-F238E27FC236}">
                <a16:creationId xmlns:a16="http://schemas.microsoft.com/office/drawing/2014/main" id="{759189A9-E93C-4056-8794-2D3F9539B6DB}"/>
              </a:ext>
            </a:extLst>
          </p:cNvPr>
          <p:cNvSpPr>
            <a:spLocks noChangeArrowheads="1"/>
          </p:cNvSpPr>
          <p:nvPr/>
        </p:nvSpPr>
        <p:spPr bwMode="auto">
          <a:xfrm>
            <a:off x="7900685" y="1716290"/>
            <a:ext cx="4143494" cy="286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20000"/>
              </a:lnSpc>
              <a:spcBef>
                <a:spcPct val="50000"/>
              </a:spcBef>
              <a:buFontTx/>
              <a:buChar char="-"/>
            </a:pPr>
            <a:r>
              <a:rPr kumimoji="1" lang="zh-CN" altLang="en-US" sz="2800" b="0" i="0" u="none" dirty="0">
                <a:solidFill>
                  <a:srgbClr val="000000"/>
                </a:solidFill>
                <a:latin typeface="华文楷体" panose="02010600040101010101" pitchFamily="2" charset="-122"/>
                <a:ea typeface="华文楷体" panose="02010600040101010101" pitchFamily="2" charset="-122"/>
              </a:rPr>
              <a:t>由一个回路中电流变化而在邻近另一个回路中产生感应电动势的现象</a:t>
            </a:r>
            <a:endParaRPr kumimoji="1" lang="en-US" altLang="zh-CN" sz="2800" b="0" i="0" u="none" dirty="0">
              <a:solidFill>
                <a:srgbClr val="000000"/>
              </a:solidFill>
              <a:latin typeface="华文楷体" panose="02010600040101010101" pitchFamily="2" charset="-122"/>
              <a:ea typeface="华文楷体" panose="02010600040101010101" pitchFamily="2" charset="-122"/>
            </a:endParaRPr>
          </a:p>
          <a:p>
            <a:pPr marL="457200" indent="-457200" eaLnBrk="1" hangingPunct="1">
              <a:lnSpc>
                <a:spcPct val="120000"/>
              </a:lnSpc>
              <a:spcBef>
                <a:spcPct val="50000"/>
              </a:spcBef>
              <a:buFontTx/>
              <a:buChar char="-"/>
            </a:pPr>
            <a:r>
              <a:rPr kumimoji="1" lang="zh-CN" altLang="en-US" sz="2800" b="0" i="0" u="none" dirty="0">
                <a:solidFill>
                  <a:srgbClr val="FF0000"/>
                </a:solidFill>
                <a:latin typeface="华文楷体" panose="02010600040101010101" pitchFamily="2" charset="-122"/>
                <a:ea typeface="华文楷体" panose="02010600040101010101" pitchFamily="2" charset="-122"/>
              </a:rPr>
              <a:t>互感电动势</a:t>
            </a:r>
            <a:endParaRPr kumimoji="1" lang="zh-CN" altLang="en-US" sz="2800" b="0" i="0" u="none"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895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63730" name="Text Box 178"/>
              <p:cNvSpPr txBox="1">
                <a:spLocks noChangeArrowheads="1"/>
              </p:cNvSpPr>
              <p:nvPr/>
            </p:nvSpPr>
            <p:spPr bwMode="auto">
              <a:xfrm>
                <a:off x="676117" y="1167804"/>
                <a:ext cx="7250271" cy="1170257"/>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sz="2800" b="0" i="0" u="none" dirty="0">
                    <a:solidFill>
                      <a:srgbClr val="000000"/>
                    </a:solidFill>
                    <a:latin typeface="华文楷体" panose="02010600040101010101" pitchFamily="2" charset="-122"/>
                    <a:ea typeface="华文楷体" panose="02010600040101010101" pitchFamily="2" charset="-122"/>
                  </a:rPr>
                  <a:t>如图，两个线圈截面半径均为</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𝑟</m:t>
                    </m:r>
                    <m:r>
                      <a:rPr lang="en-US" altLang="zh-CN" sz="2800" b="0" u="none" dirty="0">
                        <a:solidFill>
                          <a:srgbClr val="000000"/>
                        </a:solidFill>
                        <a:latin typeface="Cambria Math" panose="02040503050406030204" pitchFamily="18" charset="0"/>
                        <a:ea typeface="华文新魏" panose="02010800040101010101" pitchFamily="2" charset="-122"/>
                      </a:rPr>
                      <m:t> </m:t>
                    </m:r>
                  </m:oMath>
                </a14:m>
                <a:r>
                  <a:rPr lang="zh-CN" altLang="en-US" sz="2800" b="0" i="0" u="none" dirty="0">
                    <a:solidFill>
                      <a:srgbClr val="000000"/>
                    </a:solidFill>
                    <a:latin typeface="华文楷体" panose="02010600040101010101" pitchFamily="2" charset="-122"/>
                    <a:ea typeface="华文楷体" panose="02010600040101010101" pitchFamily="2" charset="-122"/>
                  </a:rPr>
                  <a:t>，</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𝐶</m:t>
                    </m:r>
                    <m:r>
                      <a:rPr lang="en-US" altLang="zh-CN" sz="2800" b="0" i="1" u="none" baseline="-25000" dirty="0">
                        <a:solidFill>
                          <a:srgbClr val="000000"/>
                        </a:solidFill>
                        <a:latin typeface="Cambria Math" panose="02040503050406030204" pitchFamily="18" charset="0"/>
                        <a:ea typeface="华文新魏" panose="02010800040101010101" pitchFamily="2" charset="-122"/>
                      </a:rPr>
                      <m:t>1</m:t>
                    </m:r>
                  </m:oMath>
                </a14:m>
                <a:r>
                  <a:rPr lang="zh-CN" altLang="en-US" sz="2800" b="0" i="0" u="none" dirty="0">
                    <a:solidFill>
                      <a:srgbClr val="000000"/>
                    </a:solidFill>
                    <a:latin typeface="华文楷体" panose="02010600040101010101" pitchFamily="2" charset="-122"/>
                    <a:ea typeface="华文楷体" panose="02010600040101010101" pitchFamily="2" charset="-122"/>
                  </a:rPr>
                  <a:t>中电流</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𝐼</m:t>
                    </m:r>
                    <m:r>
                      <a:rPr lang="en-US" altLang="zh-CN" sz="2800" b="0" i="1" u="none" baseline="-25000" dirty="0">
                        <a:solidFill>
                          <a:srgbClr val="000000"/>
                        </a:solidFill>
                        <a:latin typeface="Cambria Math" panose="02040503050406030204" pitchFamily="18" charset="0"/>
                        <a:ea typeface="华文新魏" panose="02010800040101010101" pitchFamily="2" charset="-122"/>
                      </a:rPr>
                      <m:t>1</m:t>
                    </m:r>
                  </m:oMath>
                </a14:m>
                <a:r>
                  <a:rPr lang="zh-CN" altLang="en-US" sz="2800" b="0" i="0" u="none" dirty="0">
                    <a:solidFill>
                      <a:srgbClr val="000000"/>
                    </a:solidFill>
                    <a:latin typeface="华文楷体" panose="02010600040101010101" pitchFamily="2" charset="-122"/>
                    <a:ea typeface="华文楷体" panose="02010600040101010101" pitchFamily="2" charset="-122"/>
                  </a:rPr>
                  <a:t>激发的磁场通过</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𝐶</m:t>
                    </m:r>
                    <m:r>
                      <a:rPr lang="en-US" altLang="zh-CN" sz="2800" b="0" i="1" u="none" baseline="-25000" dirty="0">
                        <a:solidFill>
                          <a:srgbClr val="000000"/>
                        </a:solidFill>
                        <a:latin typeface="Cambria Math" panose="02040503050406030204" pitchFamily="18" charset="0"/>
                        <a:ea typeface="华文新魏" panose="02010800040101010101" pitchFamily="2" charset="-122"/>
                      </a:rPr>
                      <m:t>2</m:t>
                    </m:r>
                  </m:oMath>
                </a14:m>
                <a:r>
                  <a:rPr lang="zh-CN" altLang="en-US" sz="2800" b="0" i="0" u="none" dirty="0">
                    <a:solidFill>
                      <a:srgbClr val="000000"/>
                    </a:solidFill>
                    <a:latin typeface="华文楷体" panose="02010600040101010101" pitchFamily="2" charset="-122"/>
                    <a:ea typeface="华文楷体" panose="02010600040101010101" pitchFamily="2" charset="-122"/>
                  </a:rPr>
                  <a:t>线圈</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𝑁</m:t>
                    </m:r>
                    <m:r>
                      <a:rPr lang="en-US" altLang="zh-CN" sz="2800" b="0" i="1" u="none" baseline="-25000" dirty="0">
                        <a:solidFill>
                          <a:srgbClr val="000000"/>
                        </a:solidFill>
                        <a:latin typeface="Cambria Math" panose="02040503050406030204" pitchFamily="18" charset="0"/>
                        <a:ea typeface="华文新魏" panose="02010800040101010101" pitchFamily="2" charset="-122"/>
                      </a:rPr>
                      <m:t>2</m:t>
                    </m:r>
                  </m:oMath>
                </a14:m>
                <a:r>
                  <a:rPr lang="zh-CN" altLang="en-US" sz="2800" b="0" i="0" u="none" dirty="0">
                    <a:solidFill>
                      <a:srgbClr val="000000"/>
                    </a:solidFill>
                    <a:latin typeface="华文楷体" panose="02010600040101010101" pitchFamily="2" charset="-122"/>
                    <a:ea typeface="华文楷体" panose="02010600040101010101" pitchFamily="2" charset="-122"/>
                  </a:rPr>
                  <a:t>匝的磁通量为</a:t>
                </a:r>
                <a:endParaRPr lang="en-US" altLang="zh-CN" sz="2800" b="0" i="0" u="none" dirty="0">
                  <a:solidFill>
                    <a:srgbClr val="000000"/>
                  </a:solidFill>
                  <a:latin typeface="华文楷体" panose="02010600040101010101" pitchFamily="2" charset="-122"/>
                  <a:ea typeface="华文楷体" panose="02010600040101010101" pitchFamily="2" charset="-122"/>
                </a:endParaRPr>
              </a:p>
            </p:txBody>
          </p:sp>
        </mc:Choice>
        <mc:Fallback xmlns="">
          <p:sp>
            <p:nvSpPr>
              <p:cNvPr id="663730" name="Text Box 178"/>
              <p:cNvSpPr txBox="1">
                <a:spLocks noRot="1" noChangeAspect="1" noMove="1" noResize="1" noEditPoints="1" noAdjustHandles="1" noChangeArrowheads="1" noChangeShapeType="1" noTextEdit="1"/>
              </p:cNvSpPr>
              <p:nvPr/>
            </p:nvSpPr>
            <p:spPr bwMode="auto">
              <a:xfrm>
                <a:off x="676117" y="1167804"/>
                <a:ext cx="7250271" cy="1170257"/>
              </a:xfrm>
              <a:prstGeom prst="rect">
                <a:avLst/>
              </a:prstGeom>
              <a:blipFill>
                <a:blip r:embed="rId3"/>
                <a:stretch>
                  <a:fillRect l="-1766" b="-135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3732" name="Text Box 180"/>
              <p:cNvSpPr txBox="1">
                <a:spLocks noChangeArrowheads="1"/>
              </p:cNvSpPr>
              <p:nvPr/>
            </p:nvSpPr>
            <p:spPr bwMode="auto">
              <a:xfrm>
                <a:off x="762696" y="3609593"/>
                <a:ext cx="4512635" cy="2108141"/>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pPr>
                <a:r>
                  <a:rPr lang="zh-CN" altLang="en-US" sz="2800" b="0" i="0" u="none" dirty="0">
                    <a:solidFill>
                      <a:srgbClr val="000000"/>
                    </a:solidFill>
                    <a:latin typeface="华文楷体" panose="02010600040101010101" pitchFamily="2" charset="-122"/>
                    <a:ea typeface="华文楷体" panose="02010600040101010101" pitchFamily="2" charset="-122"/>
                  </a:rPr>
                  <a:t>当</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𝐶</m:t>
                    </m:r>
                    <m:r>
                      <a:rPr lang="en-US" altLang="zh-CN" sz="2800" b="0" i="1" u="none" baseline="-25000" dirty="0">
                        <a:solidFill>
                          <a:srgbClr val="000000"/>
                        </a:solidFill>
                        <a:latin typeface="Cambria Math" panose="02040503050406030204" pitchFamily="18" charset="0"/>
                        <a:ea typeface="华文新魏" panose="02010800040101010101" pitchFamily="2" charset="-122"/>
                      </a:rPr>
                      <m:t>1</m:t>
                    </m:r>
                  </m:oMath>
                </a14:m>
                <a:r>
                  <a:rPr lang="zh-CN" altLang="en-US" sz="2800" b="0" i="0" u="none" dirty="0">
                    <a:solidFill>
                      <a:srgbClr val="000000"/>
                    </a:solidFill>
                    <a:latin typeface="华文楷体" panose="02010600040101010101" pitchFamily="2" charset="-122"/>
                    <a:ea typeface="华文楷体" panose="02010600040101010101" pitchFamily="2" charset="-122"/>
                  </a:rPr>
                  <a:t>中电流</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𝐼</m:t>
                    </m:r>
                    <m:r>
                      <a:rPr lang="en-US" altLang="zh-CN" sz="2800" b="0" i="1" u="none" baseline="-25000" dirty="0">
                        <a:solidFill>
                          <a:srgbClr val="000000"/>
                        </a:solidFill>
                        <a:latin typeface="Cambria Math" panose="02040503050406030204" pitchFamily="18" charset="0"/>
                        <a:ea typeface="华文新魏" panose="02010800040101010101" pitchFamily="2" charset="-122"/>
                      </a:rPr>
                      <m:t>1</m:t>
                    </m:r>
                  </m:oMath>
                </a14:m>
                <a:r>
                  <a:rPr lang="zh-CN" altLang="en-US" sz="2800" b="0" i="0" u="none" dirty="0">
                    <a:solidFill>
                      <a:srgbClr val="000000"/>
                    </a:solidFill>
                    <a:latin typeface="华文楷体" panose="02010600040101010101" pitchFamily="2" charset="-122"/>
                    <a:ea typeface="华文楷体" panose="02010600040101010101" pitchFamily="2" charset="-122"/>
                  </a:rPr>
                  <a:t>变化</a:t>
                </a:r>
                <a:r>
                  <a:rPr lang="en-US" altLang="zh-CN" sz="2800" b="0" i="0" u="none" dirty="0">
                    <a:solidFill>
                      <a:srgbClr val="000000"/>
                    </a:solidFill>
                    <a:latin typeface="华文楷体" panose="02010600040101010101" pitchFamily="2" charset="-122"/>
                    <a:ea typeface="华文楷体" panose="02010600040101010101" pitchFamily="2" charset="-122"/>
                  </a:rPr>
                  <a:t>, </a:t>
                </a:r>
                <a14:m>
                  <m:oMath xmlns:m="http://schemas.openxmlformats.org/officeDocument/2006/math">
                    <m:r>
                      <a:rPr lang="en-US" altLang="zh-CN" sz="2800" b="0" i="1" u="none" dirty="0">
                        <a:solidFill>
                          <a:srgbClr val="000000"/>
                        </a:solidFill>
                        <a:latin typeface="Cambria Math" panose="02040503050406030204" pitchFamily="18" charset="0"/>
                        <a:ea typeface="华文新魏" panose="02010800040101010101" pitchFamily="2" charset="-122"/>
                      </a:rPr>
                      <m:t>𝐶</m:t>
                    </m:r>
                    <m:r>
                      <a:rPr lang="en-US" altLang="zh-CN" sz="2800" b="0" i="1" u="none" baseline="-25000" dirty="0">
                        <a:solidFill>
                          <a:srgbClr val="000000"/>
                        </a:solidFill>
                        <a:latin typeface="Cambria Math" panose="02040503050406030204" pitchFamily="18" charset="0"/>
                        <a:ea typeface="华文新魏" panose="02010800040101010101" pitchFamily="2" charset="-122"/>
                      </a:rPr>
                      <m:t>2</m:t>
                    </m:r>
                  </m:oMath>
                </a14:m>
                <a:r>
                  <a:rPr lang="zh-CN" altLang="en-US" sz="2800" b="0" i="0" u="none" dirty="0">
                    <a:solidFill>
                      <a:srgbClr val="000000"/>
                    </a:solidFill>
                    <a:latin typeface="华文楷体" panose="02010600040101010101" pitchFamily="2" charset="-122"/>
                    <a:ea typeface="华文楷体" panose="02010600040101010101" pitchFamily="2" charset="-122"/>
                  </a:rPr>
                  <a:t>线圈中将产生互感电动势：</a:t>
                </a:r>
                <a:endParaRPr lang="en-US" altLang="zh-CN" sz="2800" b="0" i="0" u="none" dirty="0">
                  <a:solidFill>
                    <a:srgbClr val="000000"/>
                  </a:solidFill>
                  <a:latin typeface="华文楷体" panose="02010600040101010101" pitchFamily="2" charset="-122"/>
                  <a:ea typeface="华文楷体" panose="02010600040101010101" pitchFamily="2" charset="-122"/>
                </a:endParaRPr>
              </a:p>
              <a:p>
                <a:pPr>
                  <a:lnSpc>
                    <a:spcPct val="120000"/>
                  </a:lnSpc>
                  <a:spcBef>
                    <a:spcPct val="50000"/>
                  </a:spcBef>
                </a:pPr>
                <a14:m>
                  <m:oMathPara xmlns:m="http://schemas.openxmlformats.org/officeDocument/2006/math">
                    <m:oMathParaPr>
                      <m:jc m:val="centerGroup"/>
                    </m:oMathParaPr>
                    <m:oMath xmlns:m="http://schemas.openxmlformats.org/officeDocument/2006/math">
                      <m:sSub>
                        <m:sSubPr>
                          <m:ctrlPr>
                            <a:rPr lang="en-US" altLang="zh-CN" sz="2800" b="0" i="1" u="none" smtClean="0">
                              <a:solidFill>
                                <a:schemeClr val="tx1"/>
                              </a:solidFill>
                              <a:latin typeface="Cambria Math" panose="02040503050406030204" pitchFamily="18" charset="0"/>
                              <a:ea typeface="黑体" panose="02010609060101010101" pitchFamily="49" charset="-122"/>
                            </a:rPr>
                          </m:ctrlPr>
                        </m:sSubPr>
                        <m:e>
                          <m:r>
                            <a:rPr lang="zh-CN" altLang="en-US" sz="2800" b="0" i="1" u="none">
                              <a:solidFill>
                                <a:schemeClr val="tx1"/>
                              </a:solidFill>
                              <a:latin typeface="Cambria Math" panose="02040503050406030204" pitchFamily="18" charset="0"/>
                              <a:ea typeface="黑体" panose="02010609060101010101" pitchFamily="49" charset="-122"/>
                            </a:rPr>
                            <m:t>𝜀</m:t>
                          </m:r>
                        </m:e>
                        <m:sub>
                          <m:r>
                            <a:rPr lang="en-US" altLang="zh-CN" sz="2800" b="0" i="1" u="none">
                              <a:solidFill>
                                <a:schemeClr val="tx1"/>
                              </a:solidFill>
                              <a:latin typeface="Cambria Math" panose="02040503050406030204" pitchFamily="18" charset="0"/>
                              <a:ea typeface="黑体" panose="02010609060101010101" pitchFamily="49" charset="-122"/>
                            </a:rPr>
                            <m:t>21</m:t>
                          </m:r>
                        </m:sub>
                      </m:sSub>
                      <m:r>
                        <a:rPr lang="en-US" altLang="zh-CN" sz="2800" b="0" u="none">
                          <a:solidFill>
                            <a:schemeClr val="tx1"/>
                          </a:solidFill>
                          <a:latin typeface="Cambria Math" panose="02040503050406030204" pitchFamily="18" charset="0"/>
                          <a:ea typeface="黑体" panose="02010609060101010101" pitchFamily="49" charset="-122"/>
                        </a:rPr>
                        <m:t>=−</m:t>
                      </m:r>
                      <m:f>
                        <m:fPr>
                          <m:ctrlPr>
                            <a:rPr lang="en-US" altLang="zh-CN" sz="2800" b="0" i="1" u="none">
                              <a:solidFill>
                                <a:schemeClr val="tx1"/>
                              </a:solidFill>
                              <a:latin typeface="Cambria Math" panose="02040503050406030204" pitchFamily="18" charset="0"/>
                              <a:ea typeface="黑体" panose="02010609060101010101" pitchFamily="49" charset="-122"/>
                            </a:rPr>
                          </m:ctrlPr>
                        </m:fPr>
                        <m:num>
                          <m:r>
                            <a:rPr lang="en-US" altLang="zh-CN" sz="2800" b="0" i="1" u="none">
                              <a:solidFill>
                                <a:schemeClr val="tx1"/>
                              </a:solidFill>
                              <a:latin typeface="Cambria Math" panose="02040503050406030204" pitchFamily="18" charset="0"/>
                              <a:ea typeface="黑体" panose="02010609060101010101" pitchFamily="49" charset="-122"/>
                            </a:rPr>
                            <m:t>𝑑</m:t>
                          </m:r>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zh-CN" altLang="en-US" sz="2800" b="0" i="1" u="none">
                                  <a:solidFill>
                                    <a:schemeClr val="tx1"/>
                                  </a:solidFill>
                                  <a:latin typeface="Cambria Math" panose="02040503050406030204" pitchFamily="18" charset="0"/>
                                  <a:ea typeface="黑体" panose="02010609060101010101" pitchFamily="49" charset="-122"/>
                                </a:rPr>
                                <m:t>𝛷</m:t>
                              </m:r>
                            </m:e>
                            <m:sub>
                              <m:r>
                                <a:rPr lang="en-US" altLang="zh-CN" sz="2800" b="0" i="1" u="none">
                                  <a:solidFill>
                                    <a:schemeClr val="tx1"/>
                                  </a:solidFill>
                                  <a:latin typeface="Cambria Math" panose="02040503050406030204" pitchFamily="18" charset="0"/>
                                  <a:ea typeface="黑体" panose="02010609060101010101" pitchFamily="49" charset="-122"/>
                                </a:rPr>
                                <m:t>21</m:t>
                              </m:r>
                            </m:sub>
                          </m:sSub>
                        </m:num>
                        <m:den>
                          <m:r>
                            <a:rPr lang="en-US" altLang="zh-CN" sz="2800" b="0" i="1" u="none">
                              <a:solidFill>
                                <a:schemeClr val="tx1"/>
                              </a:solidFill>
                              <a:latin typeface="Cambria Math" panose="02040503050406030204" pitchFamily="18" charset="0"/>
                              <a:ea typeface="黑体" panose="02010609060101010101" pitchFamily="49" charset="-122"/>
                            </a:rPr>
                            <m:t>𝑑𝑡</m:t>
                          </m:r>
                        </m:den>
                      </m:f>
                    </m:oMath>
                  </m:oMathPara>
                </a14:m>
                <a:endParaRPr lang="zh-CN" altLang="en-US"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663732" name="Text Box 180"/>
              <p:cNvSpPr txBox="1">
                <a:spLocks noRot="1" noChangeAspect="1" noMove="1" noResize="1" noEditPoints="1" noAdjustHandles="1" noChangeArrowheads="1" noChangeShapeType="1" noTextEdit="1"/>
              </p:cNvSpPr>
              <p:nvPr/>
            </p:nvSpPr>
            <p:spPr bwMode="auto">
              <a:xfrm>
                <a:off x="762696" y="3609593"/>
                <a:ext cx="4512635" cy="2108141"/>
              </a:xfrm>
              <a:prstGeom prst="rect">
                <a:avLst/>
              </a:prstGeom>
              <a:blipFill>
                <a:blip r:embed="rId4"/>
                <a:stretch>
                  <a:fillRect l="-2703" t="-289" r="-27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zh-CN" altLang="en-US">
                    <a:noFill/>
                  </a:rPr>
                  <a:t> </a:t>
                </a:r>
              </a:p>
            </p:txBody>
          </p:sp>
        </mc:Fallback>
      </mc:AlternateContent>
      <p:grpSp>
        <p:nvGrpSpPr>
          <p:cNvPr id="4" name="组合 3"/>
          <p:cNvGrpSpPr/>
          <p:nvPr/>
        </p:nvGrpSpPr>
        <p:grpSpPr>
          <a:xfrm>
            <a:off x="8170862" y="952704"/>
            <a:ext cx="3671888" cy="2760075"/>
            <a:chOff x="5230539" y="2183802"/>
            <a:chExt cx="3671888" cy="2760075"/>
          </a:xfrm>
        </p:grpSpPr>
        <p:grpSp>
          <p:nvGrpSpPr>
            <p:cNvPr id="2" name="Group 181"/>
            <p:cNvGrpSpPr>
              <a:grpSpLocks/>
            </p:cNvGrpSpPr>
            <p:nvPr/>
          </p:nvGrpSpPr>
          <p:grpSpPr bwMode="auto">
            <a:xfrm>
              <a:off x="5230539" y="2607077"/>
              <a:ext cx="3671888" cy="2336800"/>
              <a:chOff x="3152" y="1389"/>
              <a:chExt cx="2313" cy="1472"/>
            </a:xfrm>
          </p:grpSpPr>
          <p:grpSp>
            <p:nvGrpSpPr>
              <p:cNvPr id="60427" name="Group 175"/>
              <p:cNvGrpSpPr>
                <a:grpSpLocks/>
              </p:cNvGrpSpPr>
              <p:nvPr/>
            </p:nvGrpSpPr>
            <p:grpSpPr bwMode="auto">
              <a:xfrm>
                <a:off x="3379" y="1525"/>
                <a:ext cx="1814" cy="1336"/>
                <a:chOff x="3379" y="1525"/>
                <a:chExt cx="1814" cy="1336"/>
              </a:xfrm>
            </p:grpSpPr>
            <mc:AlternateContent xmlns:mc="http://schemas.openxmlformats.org/markup-compatibility/2006" xmlns:a14="http://schemas.microsoft.com/office/drawing/2010/main">
              <mc:Choice Requires="a14">
                <p:sp>
                  <p:nvSpPr>
                    <p:cNvPr id="60419" name="Object 3"/>
                    <p:cNvSpPr txBox="1"/>
                    <p:nvPr/>
                  </p:nvSpPr>
                  <p:spPr bwMode="auto">
                    <a:xfrm>
                      <a:off x="3992" y="1525"/>
                      <a:ext cx="543" cy="327"/>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1</m:t>
                                </m:r>
                                <m:nary>
                                  <m:naryPr>
                                    <m:chr m:val="1"/>
                                    <m:supHide m:val="on"/>
                                    <m:ctrlPr>
                                      <a:rPr lang="en-US" i="1">
                                        <a:solidFill>
                                          <a:srgbClr val="000000"/>
                                        </a:solidFill>
                                        <a:latin typeface="Cambria Math" panose="02040503050406030204" pitchFamily="18" charset="0"/>
                                      </a:rPr>
                                    </m:ctrlPr>
                                  </m:naryPr>
                                  <m:sub/>
                                  <m:sup/>
                                  <m:e/>
                                </m:nary>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𝑁</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60419" name="Object 3"/>
                    <p:cNvSpPr txBox="1">
                      <a:spLocks noRot="1" noChangeAspect="1" noMove="1" noResize="1" noEditPoints="1" noAdjustHandles="1" noChangeArrowheads="1" noChangeShapeType="1" noTextEdit="1"/>
                    </p:cNvSpPr>
                    <p:nvPr/>
                  </p:nvSpPr>
                  <p:spPr bwMode="auto">
                    <a:xfrm>
                      <a:off x="3992" y="1525"/>
                      <a:ext cx="543" cy="327"/>
                    </a:xfrm>
                    <a:prstGeom prst="rect">
                      <a:avLst/>
                    </a:prstGeom>
                    <a:blipFill>
                      <a:blip r:embed="rId5"/>
                      <a:stretch>
                        <a:fillRect t="-9412" r="-4930" b="-1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420" name="Object 4"/>
                    <p:cNvSpPr txBox="1"/>
                    <p:nvPr/>
                  </p:nvSpPr>
                  <p:spPr bwMode="auto">
                    <a:xfrm>
                      <a:off x="4031" y="2296"/>
                      <a:ext cx="557" cy="327"/>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2</m:t>
                                </m:r>
                                <m:nary>
                                  <m:naryPr>
                                    <m:chr m:val="2"/>
                                    <m:supHide m:val="on"/>
                                    <m:ctrlPr>
                                      <a:rPr lang="en-US" i="1">
                                        <a:solidFill>
                                          <a:srgbClr val="000000"/>
                                        </a:solidFill>
                                        <a:latin typeface="Cambria Math" panose="02040503050406030204" pitchFamily="18" charset="0"/>
                                      </a:rPr>
                                    </m:ctrlPr>
                                  </m:naryPr>
                                  <m:sub/>
                                  <m:sup/>
                                  <m:e/>
                                </m:nary>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𝑁</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60420" name="Object 4"/>
                    <p:cNvSpPr txBox="1">
                      <a:spLocks noRot="1" noChangeAspect="1" noMove="1" noResize="1" noEditPoints="1" noAdjustHandles="1" noChangeArrowheads="1" noChangeShapeType="1" noTextEdit="1"/>
                    </p:cNvSpPr>
                    <p:nvPr/>
                  </p:nvSpPr>
                  <p:spPr bwMode="auto">
                    <a:xfrm>
                      <a:off x="4031" y="2296"/>
                      <a:ext cx="557" cy="327"/>
                    </a:xfrm>
                    <a:prstGeom prst="rect">
                      <a:avLst/>
                    </a:prstGeom>
                    <a:blipFill>
                      <a:blip r:embed="rId6"/>
                      <a:stretch>
                        <a:fillRect t="-9412" r="-3448" b="-15294"/>
                      </a:stretch>
                    </a:blipFill>
                  </p:spPr>
                  <p:txBody>
                    <a:bodyPr/>
                    <a:lstStyle/>
                    <a:p>
                      <a:r>
                        <a:rPr lang="en-US">
                          <a:noFill/>
                        </a:rPr>
                        <a:t> </a:t>
                      </a:r>
                    </a:p>
                  </p:txBody>
                </p:sp>
              </mc:Fallback>
            </mc:AlternateContent>
            <p:sp>
              <p:nvSpPr>
                <p:cNvPr id="60459" name="Line 173"/>
                <p:cNvSpPr>
                  <a:spLocks noChangeShapeType="1"/>
                </p:cNvSpPr>
                <p:nvPr/>
              </p:nvSpPr>
              <p:spPr bwMode="auto">
                <a:xfrm>
                  <a:off x="3379" y="2614"/>
                  <a:ext cx="1814" cy="0"/>
                </a:xfrm>
                <a:prstGeom prst="line">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solidFill>
                      <a:srgbClr val="000000"/>
                    </a:solidFill>
                    <a:ea typeface="华文新魏" panose="02010800040101010101" pitchFamily="2" charset="-122"/>
                  </a:endParaRPr>
                </a:p>
              </p:txBody>
            </p:sp>
            <mc:AlternateContent xmlns:mc="http://schemas.openxmlformats.org/markup-compatibility/2006" xmlns:a14="http://schemas.microsoft.com/office/drawing/2010/main">
              <mc:Choice Requires="a14">
                <p:sp>
                  <p:nvSpPr>
                    <p:cNvPr id="60421" name="Object 5"/>
                    <p:cNvSpPr txBox="1"/>
                    <p:nvPr/>
                  </p:nvSpPr>
                  <p:spPr bwMode="auto">
                    <a:xfrm>
                      <a:off x="4320" y="2624"/>
                      <a:ext cx="136" cy="23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𝑙</m:t>
                            </m:r>
                          </m:oMath>
                        </m:oMathPara>
                      </a14:m>
                      <a:endParaRPr lang="en-US"/>
                    </a:p>
                  </p:txBody>
                </p:sp>
              </mc:Choice>
              <mc:Fallback xmlns="">
                <p:sp>
                  <p:nvSpPr>
                    <p:cNvPr id="60421" name="Object 5"/>
                    <p:cNvSpPr txBox="1">
                      <a:spLocks noRot="1" noChangeAspect="1" noMove="1" noResize="1" noEditPoints="1" noAdjustHandles="1" noChangeArrowheads="1" noChangeShapeType="1" noTextEdit="1"/>
                    </p:cNvSpPr>
                    <p:nvPr/>
                  </p:nvSpPr>
                  <p:spPr bwMode="auto">
                    <a:xfrm>
                      <a:off x="4320" y="2624"/>
                      <a:ext cx="136" cy="237"/>
                    </a:xfrm>
                    <a:prstGeom prst="rect">
                      <a:avLst/>
                    </a:prstGeom>
                    <a:blipFill>
                      <a:blip r:embed="rId7"/>
                      <a:stretch>
                        <a:fillRect r="-17143"/>
                      </a:stretch>
                    </a:blipFill>
                  </p:spPr>
                  <p:txBody>
                    <a:bodyPr/>
                    <a:lstStyle/>
                    <a:p>
                      <a:r>
                        <a:rPr lang="en-US">
                          <a:noFill/>
                        </a:rPr>
                        <a:t> </a:t>
                      </a:r>
                    </a:p>
                  </p:txBody>
                </p:sp>
              </mc:Fallback>
            </mc:AlternateContent>
          </p:grpSp>
          <p:grpSp>
            <p:nvGrpSpPr>
              <p:cNvPr id="60428" name="Group 177"/>
              <p:cNvGrpSpPr>
                <a:grpSpLocks/>
              </p:cNvGrpSpPr>
              <p:nvPr/>
            </p:nvGrpSpPr>
            <p:grpSpPr bwMode="auto">
              <a:xfrm>
                <a:off x="3152" y="1389"/>
                <a:ext cx="2313" cy="1316"/>
                <a:chOff x="3152" y="1389"/>
                <a:chExt cx="2313" cy="1316"/>
              </a:xfrm>
            </p:grpSpPr>
            <p:grpSp>
              <p:nvGrpSpPr>
                <p:cNvPr id="60429" name="Group 169"/>
                <p:cNvGrpSpPr>
                  <a:grpSpLocks/>
                </p:cNvGrpSpPr>
                <p:nvPr/>
              </p:nvGrpSpPr>
              <p:grpSpPr bwMode="auto">
                <a:xfrm>
                  <a:off x="3152" y="1389"/>
                  <a:ext cx="2313" cy="1316"/>
                  <a:chOff x="2971" y="1207"/>
                  <a:chExt cx="2313" cy="1316"/>
                </a:xfrm>
              </p:grpSpPr>
              <p:sp>
                <p:nvSpPr>
                  <p:cNvPr id="60431" name="Oval 168"/>
                  <p:cNvSpPr>
                    <a:spLocks noChangeArrowheads="1"/>
                  </p:cNvSpPr>
                  <p:nvPr/>
                </p:nvSpPr>
                <p:spPr bwMode="auto">
                  <a:xfrm>
                    <a:off x="5103" y="1616"/>
                    <a:ext cx="181" cy="499"/>
                  </a:xfrm>
                  <a:prstGeom prst="ellipse">
                    <a:avLst/>
                  </a:prstGeom>
                  <a:gradFill rotWithShape="1">
                    <a:gsLst>
                      <a:gs pos="0">
                        <a:srgbClr val="993366"/>
                      </a:gs>
                      <a:gs pos="100000">
                        <a:srgbClr val="6B2447"/>
                      </a:gs>
                    </a:gsLst>
                    <a:path path="shape">
                      <a:fillToRect l="50000" t="50000" r="50000" b="50000"/>
                    </a:path>
                  </a:gradFill>
                  <a:ln w="25400">
                    <a:solidFill>
                      <a:schemeClr val="tx1"/>
                    </a:solidFill>
                    <a:round/>
                    <a:headEnd/>
                    <a:tailEnd/>
                  </a:ln>
                </p:spPr>
                <p:txBody>
                  <a:bodyPr wrap="none" anchor="ct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endParaRPr lang="zh-CN" altLang="en-US" b="0" i="0" u="none">
                      <a:solidFill>
                        <a:srgbClr val="000000"/>
                      </a:solidFill>
                      <a:latin typeface="+mn-lt"/>
                      <a:ea typeface="华文新魏" panose="02010800040101010101" pitchFamily="2" charset="-122"/>
                    </a:endParaRPr>
                  </a:p>
                </p:txBody>
              </p:sp>
              <p:sp>
                <p:nvSpPr>
                  <p:cNvPr id="60432" name="Rectangle 140"/>
                  <p:cNvSpPr>
                    <a:spLocks noChangeArrowheads="1"/>
                  </p:cNvSpPr>
                  <p:nvPr/>
                </p:nvSpPr>
                <p:spPr bwMode="auto">
                  <a:xfrm>
                    <a:off x="3061" y="1616"/>
                    <a:ext cx="2132" cy="499"/>
                  </a:xfrm>
                  <a:prstGeom prst="rect">
                    <a:avLst/>
                  </a:prstGeom>
                  <a:gradFill rotWithShape="1">
                    <a:gsLst>
                      <a:gs pos="0">
                        <a:srgbClr val="612041"/>
                      </a:gs>
                      <a:gs pos="50000">
                        <a:srgbClr val="993366"/>
                      </a:gs>
                      <a:gs pos="100000">
                        <a:srgbClr val="612041"/>
                      </a:gs>
                    </a:gsLst>
                    <a:lin ang="54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endParaRPr lang="zh-CN" altLang="en-US" b="0" i="0" u="none">
                      <a:solidFill>
                        <a:srgbClr val="000000"/>
                      </a:solidFill>
                      <a:latin typeface="+mn-lt"/>
                      <a:ea typeface="华文新魏" panose="02010800040101010101" pitchFamily="2" charset="-122"/>
                    </a:endParaRPr>
                  </a:p>
                </p:txBody>
              </p:sp>
              <p:grpSp>
                <p:nvGrpSpPr>
                  <p:cNvPr id="60433" name="Group 165"/>
                  <p:cNvGrpSpPr>
                    <a:grpSpLocks/>
                  </p:cNvGrpSpPr>
                  <p:nvPr/>
                </p:nvGrpSpPr>
                <p:grpSpPr bwMode="auto">
                  <a:xfrm>
                    <a:off x="3107" y="1207"/>
                    <a:ext cx="2041" cy="908"/>
                    <a:chOff x="3107" y="1207"/>
                    <a:chExt cx="2041" cy="908"/>
                  </a:xfrm>
                </p:grpSpPr>
                <p:grpSp>
                  <p:nvGrpSpPr>
                    <p:cNvPr id="60447" name="Group 150"/>
                    <p:cNvGrpSpPr>
                      <a:grpSpLocks/>
                    </p:cNvGrpSpPr>
                    <p:nvPr/>
                  </p:nvGrpSpPr>
                  <p:grpSpPr bwMode="auto">
                    <a:xfrm>
                      <a:off x="3107" y="1616"/>
                      <a:ext cx="2041" cy="499"/>
                      <a:chOff x="3061" y="1616"/>
                      <a:chExt cx="2041" cy="499"/>
                    </a:xfrm>
                  </p:grpSpPr>
                  <p:sp>
                    <p:nvSpPr>
                      <p:cNvPr id="60450" name="Arc 141"/>
                      <p:cNvSpPr>
                        <a:spLocks/>
                      </p:cNvSpPr>
                      <p:nvPr/>
                    </p:nvSpPr>
                    <p:spPr bwMode="auto">
                      <a:xfrm>
                        <a:off x="3061"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wrap="none" anchor="ctr"/>
                      <a:lstStyle/>
                      <a:p>
                        <a:endParaRPr lang="zh-CN" altLang="en-US">
                          <a:solidFill>
                            <a:srgbClr val="000000"/>
                          </a:solidFill>
                          <a:ea typeface="华文新魏" panose="02010800040101010101" pitchFamily="2" charset="-122"/>
                        </a:endParaRPr>
                      </a:p>
                    </p:txBody>
                  </p:sp>
                  <p:sp>
                    <p:nvSpPr>
                      <p:cNvPr id="60451" name="Arc 142"/>
                      <p:cNvSpPr>
                        <a:spLocks/>
                      </p:cNvSpPr>
                      <p:nvPr/>
                    </p:nvSpPr>
                    <p:spPr bwMode="auto">
                      <a:xfrm>
                        <a:off x="4014"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52" name="Arc 143"/>
                      <p:cNvSpPr>
                        <a:spLocks/>
                      </p:cNvSpPr>
                      <p:nvPr/>
                    </p:nvSpPr>
                    <p:spPr bwMode="auto">
                      <a:xfrm>
                        <a:off x="4241"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53" name="Arc 144"/>
                      <p:cNvSpPr>
                        <a:spLocks/>
                      </p:cNvSpPr>
                      <p:nvPr/>
                    </p:nvSpPr>
                    <p:spPr bwMode="auto">
                      <a:xfrm>
                        <a:off x="4468"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54" name="Arc 145"/>
                      <p:cNvSpPr>
                        <a:spLocks/>
                      </p:cNvSpPr>
                      <p:nvPr/>
                    </p:nvSpPr>
                    <p:spPr bwMode="auto">
                      <a:xfrm>
                        <a:off x="4694"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55" name="Arc 146"/>
                      <p:cNvSpPr>
                        <a:spLocks/>
                      </p:cNvSpPr>
                      <p:nvPr/>
                    </p:nvSpPr>
                    <p:spPr bwMode="auto">
                      <a:xfrm>
                        <a:off x="4921"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56" name="Arc 147"/>
                      <p:cNvSpPr>
                        <a:spLocks/>
                      </p:cNvSpPr>
                      <p:nvPr/>
                    </p:nvSpPr>
                    <p:spPr bwMode="auto">
                      <a:xfrm>
                        <a:off x="3316"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57" name="Arc 148"/>
                      <p:cNvSpPr>
                        <a:spLocks/>
                      </p:cNvSpPr>
                      <p:nvPr/>
                    </p:nvSpPr>
                    <p:spPr bwMode="auto">
                      <a:xfrm>
                        <a:off x="3560"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58" name="Arc 149"/>
                      <p:cNvSpPr>
                        <a:spLocks/>
                      </p:cNvSpPr>
                      <p:nvPr/>
                    </p:nvSpPr>
                    <p:spPr bwMode="auto">
                      <a:xfrm>
                        <a:off x="3787"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grpSp>
                <p:sp>
                  <p:nvSpPr>
                    <p:cNvPr id="60448" name="Line 162"/>
                    <p:cNvSpPr>
                      <a:spLocks noChangeShapeType="1"/>
                    </p:cNvSpPr>
                    <p:nvPr/>
                  </p:nvSpPr>
                  <p:spPr bwMode="auto">
                    <a:xfrm>
                      <a:off x="3107" y="1208"/>
                      <a:ext cx="0" cy="40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a:tailEnd/>
                        </a14:hiddenLine>
                      </a:ext>
                    </a:extLst>
                  </p:spPr>
                  <p:txBody>
                    <a:bodyPr/>
                    <a:lstStyle/>
                    <a:p>
                      <a:endParaRPr lang="zh-CN" altLang="en-US">
                        <a:solidFill>
                          <a:srgbClr val="000000"/>
                        </a:solidFill>
                        <a:ea typeface="华文新魏" panose="02010800040101010101" pitchFamily="2" charset="-122"/>
                      </a:endParaRPr>
                    </a:p>
                  </p:txBody>
                </p:sp>
                <p:sp>
                  <p:nvSpPr>
                    <p:cNvPr id="60449" name="Line 163"/>
                    <p:cNvSpPr>
                      <a:spLocks noChangeShapeType="1"/>
                    </p:cNvSpPr>
                    <p:nvPr/>
                  </p:nvSpPr>
                  <p:spPr bwMode="auto">
                    <a:xfrm>
                      <a:off x="5148" y="1207"/>
                      <a:ext cx="0" cy="408"/>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华文新魏" panose="02010800040101010101" pitchFamily="2" charset="-122"/>
                      </a:endParaRPr>
                    </a:p>
                  </p:txBody>
                </p:sp>
              </p:grpSp>
              <p:grpSp>
                <p:nvGrpSpPr>
                  <p:cNvPr id="60434" name="Group 166"/>
                  <p:cNvGrpSpPr>
                    <a:grpSpLocks/>
                  </p:cNvGrpSpPr>
                  <p:nvPr/>
                </p:nvGrpSpPr>
                <p:grpSpPr bwMode="auto">
                  <a:xfrm>
                    <a:off x="3198" y="1616"/>
                    <a:ext cx="1832" cy="907"/>
                    <a:chOff x="3198" y="1616"/>
                    <a:chExt cx="1832" cy="907"/>
                  </a:xfrm>
                </p:grpSpPr>
                <p:grpSp>
                  <p:nvGrpSpPr>
                    <p:cNvPr id="60436" name="Group 160"/>
                    <p:cNvGrpSpPr>
                      <a:grpSpLocks/>
                    </p:cNvGrpSpPr>
                    <p:nvPr/>
                  </p:nvGrpSpPr>
                  <p:grpSpPr bwMode="auto">
                    <a:xfrm>
                      <a:off x="3234" y="1616"/>
                      <a:ext cx="1795" cy="499"/>
                      <a:chOff x="3234" y="1616"/>
                      <a:chExt cx="1795" cy="499"/>
                    </a:xfrm>
                  </p:grpSpPr>
                  <p:sp>
                    <p:nvSpPr>
                      <p:cNvPr id="60439" name="Arc 152"/>
                      <p:cNvSpPr>
                        <a:spLocks/>
                      </p:cNvSpPr>
                      <p:nvPr/>
                    </p:nvSpPr>
                    <p:spPr bwMode="auto">
                      <a:xfrm>
                        <a:off x="3733"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40" name="Arc 153"/>
                      <p:cNvSpPr>
                        <a:spLocks/>
                      </p:cNvSpPr>
                      <p:nvPr/>
                    </p:nvSpPr>
                    <p:spPr bwMode="auto">
                      <a:xfrm>
                        <a:off x="3951"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41" name="Arc 154"/>
                      <p:cNvSpPr>
                        <a:spLocks/>
                      </p:cNvSpPr>
                      <p:nvPr/>
                    </p:nvSpPr>
                    <p:spPr bwMode="auto">
                      <a:xfrm>
                        <a:off x="4177"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42" name="Arc 155"/>
                      <p:cNvSpPr>
                        <a:spLocks/>
                      </p:cNvSpPr>
                      <p:nvPr/>
                    </p:nvSpPr>
                    <p:spPr bwMode="auto">
                      <a:xfrm>
                        <a:off x="4404"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43" name="Arc 156"/>
                      <p:cNvSpPr>
                        <a:spLocks/>
                      </p:cNvSpPr>
                      <p:nvPr/>
                    </p:nvSpPr>
                    <p:spPr bwMode="auto">
                      <a:xfrm>
                        <a:off x="4622"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44" name="Arc 157"/>
                      <p:cNvSpPr>
                        <a:spLocks/>
                      </p:cNvSpPr>
                      <p:nvPr/>
                    </p:nvSpPr>
                    <p:spPr bwMode="auto">
                      <a:xfrm>
                        <a:off x="4848"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45" name="Arc 158"/>
                      <p:cNvSpPr>
                        <a:spLocks/>
                      </p:cNvSpPr>
                      <p:nvPr/>
                    </p:nvSpPr>
                    <p:spPr bwMode="auto">
                      <a:xfrm>
                        <a:off x="3234"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sp>
                    <p:nvSpPr>
                      <p:cNvPr id="60446" name="Arc 159"/>
                      <p:cNvSpPr>
                        <a:spLocks/>
                      </p:cNvSpPr>
                      <p:nvPr/>
                    </p:nvSpPr>
                    <p:spPr bwMode="auto">
                      <a:xfrm>
                        <a:off x="3488" y="1616"/>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a typeface="华文新魏" panose="02010800040101010101" pitchFamily="2" charset="-122"/>
                        </a:endParaRPr>
                      </a:p>
                    </p:txBody>
                  </p:sp>
                </p:grpSp>
                <p:sp>
                  <p:nvSpPr>
                    <p:cNvPr id="60437" name="Line 161"/>
                    <p:cNvSpPr>
                      <a:spLocks noChangeShapeType="1"/>
                    </p:cNvSpPr>
                    <p:nvPr/>
                  </p:nvSpPr>
                  <p:spPr bwMode="auto">
                    <a:xfrm>
                      <a:off x="3198" y="2115"/>
                      <a:ext cx="0" cy="408"/>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华文新魏" panose="02010800040101010101" pitchFamily="2" charset="-122"/>
                      </a:endParaRPr>
                    </a:p>
                  </p:txBody>
                </p:sp>
                <p:sp>
                  <p:nvSpPr>
                    <p:cNvPr id="60438" name="Line 164"/>
                    <p:cNvSpPr>
                      <a:spLocks noChangeShapeType="1"/>
                    </p:cNvSpPr>
                    <p:nvPr/>
                  </p:nvSpPr>
                  <p:spPr bwMode="auto">
                    <a:xfrm>
                      <a:off x="5030" y="2115"/>
                      <a:ext cx="0" cy="408"/>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华文新魏" panose="02010800040101010101" pitchFamily="2" charset="-122"/>
                      </a:endParaRPr>
                    </a:p>
                  </p:txBody>
                </p:sp>
              </p:grpSp>
              <p:sp>
                <p:nvSpPr>
                  <p:cNvPr id="60435" name="Oval 167"/>
                  <p:cNvSpPr>
                    <a:spLocks noChangeArrowheads="1"/>
                  </p:cNvSpPr>
                  <p:nvPr/>
                </p:nvSpPr>
                <p:spPr bwMode="auto">
                  <a:xfrm>
                    <a:off x="2971" y="1616"/>
                    <a:ext cx="181" cy="499"/>
                  </a:xfrm>
                  <a:prstGeom prst="ellipse">
                    <a:avLst/>
                  </a:prstGeom>
                  <a:gradFill rotWithShape="1">
                    <a:gsLst>
                      <a:gs pos="0">
                        <a:srgbClr val="993366"/>
                      </a:gs>
                      <a:gs pos="100000">
                        <a:srgbClr val="6B2447"/>
                      </a:gs>
                    </a:gsLst>
                    <a:path path="shape">
                      <a:fillToRect l="50000" t="50000" r="50000" b="50000"/>
                    </a:path>
                  </a:gradFill>
                  <a:ln w="25400">
                    <a:solidFill>
                      <a:schemeClr val="tx1"/>
                    </a:solidFill>
                    <a:round/>
                    <a:headEnd/>
                    <a:tailEnd/>
                  </a:ln>
                </p:spPr>
                <p:txBody>
                  <a:bodyPr wrap="none" anchor="ct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endParaRPr lang="zh-CN" altLang="en-US" b="0" i="0" u="none">
                      <a:solidFill>
                        <a:srgbClr val="000000"/>
                      </a:solidFill>
                      <a:latin typeface="+mn-lt"/>
                      <a:ea typeface="华文新魏" panose="02010800040101010101" pitchFamily="2" charset="-122"/>
                    </a:endParaRPr>
                  </a:p>
                </p:txBody>
              </p:sp>
            </p:grpSp>
            <p:sp>
              <p:nvSpPr>
                <p:cNvPr id="60430" name="Line 176"/>
                <p:cNvSpPr>
                  <a:spLocks noChangeShapeType="1"/>
                </p:cNvSpPr>
                <p:nvPr/>
              </p:nvSpPr>
              <p:spPr bwMode="auto">
                <a:xfrm flipH="1" flipV="1">
                  <a:off x="3468" y="1402"/>
                  <a:ext cx="1" cy="879"/>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华文新魏" panose="02010800040101010101" pitchFamily="2" charset="-122"/>
                  </a:endParaRPr>
                </a:p>
              </p:txBody>
            </p:sp>
          </p:grpSp>
        </p:grpSp>
        <p:sp>
          <p:nvSpPr>
            <p:cNvPr id="3" name="文本框 2"/>
            <p:cNvSpPr txBox="1"/>
            <p:nvPr/>
          </p:nvSpPr>
          <p:spPr>
            <a:xfrm>
              <a:off x="5553459" y="2183802"/>
              <a:ext cx="3278462" cy="461665"/>
            </a:xfrm>
            <a:prstGeom prst="rect">
              <a:avLst/>
            </a:prstGeom>
            <a:noFill/>
          </p:spPr>
          <p:txBody>
            <a:bodyPr wrap="none" rtlCol="0">
              <a:spAutoFit/>
            </a:bodyPr>
            <a:lstStyle/>
            <a:p>
              <a:r>
                <a:rPr lang="zh-CN" altLang="en-US" sz="2400" dirty="0">
                  <a:solidFill>
                    <a:srgbClr val="A50021"/>
                  </a:solidFill>
                  <a:latin typeface="华文楷体" panose="02010600040101010101" pitchFamily="2" charset="-122"/>
                  <a:ea typeface="华文楷体" panose="02010600040101010101" pitchFamily="2" charset="-122"/>
                </a:rPr>
                <a:t>两个共轴螺线管的互感</a:t>
              </a:r>
            </a:p>
          </p:txBody>
        </p:sp>
      </p:grpSp>
      <p:sp>
        <p:nvSpPr>
          <p:cNvPr id="46" name="Text Box 9">
            <a:extLst>
              <a:ext uri="{FF2B5EF4-FFF2-40B4-BE49-F238E27FC236}">
                <a16:creationId xmlns:a16="http://schemas.microsoft.com/office/drawing/2014/main" id="{366D9A42-C0F5-4FE8-AD0B-4295F423686A}"/>
              </a:ext>
            </a:extLst>
          </p:cNvPr>
          <p:cNvSpPr txBox="1">
            <a:spLocks noChangeArrowheads="1"/>
          </p:cNvSpPr>
          <p:nvPr/>
        </p:nvSpPr>
        <p:spPr bwMode="auto">
          <a:xfrm>
            <a:off x="903231" y="547209"/>
            <a:ext cx="2778477" cy="646331"/>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med" len="lg"/>
                <a:tailEnd type="none" w="med" len="lg"/>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互感系数</a:t>
            </a: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2CF0BBFF-84C3-44BF-95C6-D9CBAACC0D86}"/>
                  </a:ext>
                </a:extLst>
              </p:cNvPr>
              <p:cNvSpPr txBox="1"/>
              <p:nvPr/>
            </p:nvSpPr>
            <p:spPr>
              <a:xfrm>
                <a:off x="1765043" y="2709794"/>
                <a:ext cx="2711263" cy="5088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u="none" smtClean="0">
                              <a:solidFill>
                                <a:schemeClr val="tx1"/>
                              </a:solidFill>
                              <a:latin typeface="Cambria Math" panose="02040503050406030204" pitchFamily="18" charset="0"/>
                              <a:ea typeface="黑体" panose="02010609060101010101" pitchFamily="49" charset="-122"/>
                            </a:rPr>
                          </m:ctrlPr>
                        </m:sSubPr>
                        <m:e>
                          <m:r>
                            <a:rPr lang="zh-CN" altLang="en-US" sz="2400" b="0" i="1" u="none">
                              <a:solidFill>
                                <a:schemeClr val="tx1"/>
                              </a:solidFill>
                              <a:latin typeface="Cambria Math" panose="02040503050406030204" pitchFamily="18" charset="0"/>
                              <a:ea typeface="黑体" panose="02010609060101010101" pitchFamily="49" charset="-122"/>
                            </a:rPr>
                            <m:t>𝛷</m:t>
                          </m:r>
                        </m:e>
                        <m:sub>
                          <m:r>
                            <a:rPr lang="en-US" altLang="zh-CN" sz="2400" b="0" i="1" u="none">
                              <a:solidFill>
                                <a:schemeClr val="tx1"/>
                              </a:solidFill>
                              <a:latin typeface="Cambria Math" panose="02040503050406030204" pitchFamily="18" charset="0"/>
                              <a:ea typeface="黑体" panose="02010609060101010101" pitchFamily="49" charset="-122"/>
                            </a:rPr>
                            <m:t>21</m:t>
                          </m:r>
                        </m:sub>
                      </m:sSub>
                      <m:r>
                        <a:rPr lang="en-US" altLang="zh-CN" sz="2400" b="0" u="none">
                          <a:solidFill>
                            <a:schemeClr val="tx1"/>
                          </a:solidFill>
                          <a:latin typeface="Cambria Math" panose="02040503050406030204" pitchFamily="18" charset="0"/>
                          <a:ea typeface="黑体" panose="02010609060101010101" pitchFamily="49" charset="-122"/>
                        </a:rPr>
                        <m:t>=</m:t>
                      </m:r>
                      <m:acc>
                        <m:accPr>
                          <m:chr m:val="⃗"/>
                          <m:ctrlPr>
                            <a:rPr lang="en-US" altLang="zh-CN" sz="2400" i="1">
                              <a:solidFill>
                                <a:schemeClr val="tx1"/>
                              </a:solidFill>
                              <a:latin typeface="Cambria Math" panose="02040503050406030204" pitchFamily="18" charset="0"/>
                              <a:ea typeface="黑体" panose="02010609060101010101" pitchFamily="49" charset="-122"/>
                            </a:rPr>
                          </m:ctrlPr>
                        </m:accPr>
                        <m:e>
                          <m:r>
                            <a:rPr lang="en-US" altLang="zh-CN" sz="2400">
                              <a:solidFill>
                                <a:schemeClr val="tx1"/>
                              </a:solidFill>
                              <a:latin typeface="Cambria Math" panose="02040503050406030204" pitchFamily="18" charset="0"/>
                              <a:ea typeface="黑体" panose="02010609060101010101" pitchFamily="49" charset="-122"/>
                            </a:rPr>
                            <m:t>𝑩</m:t>
                          </m:r>
                        </m:e>
                      </m:acc>
                      <m:r>
                        <a:rPr lang="en-US" altLang="zh-CN" sz="2400">
                          <a:solidFill>
                            <a:schemeClr val="tx1"/>
                          </a:solidFill>
                          <a:latin typeface="Cambria Math" panose="02040503050406030204" pitchFamily="18" charset="0"/>
                          <a:ea typeface="Cambria Math" panose="02040503050406030204" pitchFamily="18" charset="0"/>
                        </a:rPr>
                        <m:t>∙</m:t>
                      </m:r>
                      <m:r>
                        <a:rPr lang="en-US" altLang="zh-CN" sz="2400">
                          <a:solidFill>
                            <a:schemeClr val="tx1"/>
                          </a:solidFill>
                          <a:latin typeface="Cambria Math" panose="02040503050406030204" pitchFamily="18" charset="0"/>
                          <a:ea typeface="Cambria Math" panose="02040503050406030204" pitchFamily="18" charset="0"/>
                        </a:rPr>
                        <m:t>𝒅</m:t>
                      </m:r>
                      <m:acc>
                        <m:accPr>
                          <m:chr m:val="⃗"/>
                          <m:ctrlPr>
                            <a:rPr lang="en-US" altLang="zh-CN" sz="2400" i="1">
                              <a:solidFill>
                                <a:schemeClr val="tx1"/>
                              </a:solidFill>
                              <a:latin typeface="Cambria Math" panose="02040503050406030204" pitchFamily="18" charset="0"/>
                              <a:ea typeface="黑体" panose="02010609060101010101" pitchFamily="49" charset="-122"/>
                            </a:rPr>
                          </m:ctrlPr>
                        </m:accPr>
                        <m:e>
                          <m:r>
                            <a:rPr lang="en-US" altLang="zh-CN" sz="2400">
                              <a:solidFill>
                                <a:schemeClr val="tx1"/>
                              </a:solidFill>
                              <a:latin typeface="Cambria Math" panose="02040503050406030204" pitchFamily="18" charset="0"/>
                              <a:ea typeface="黑体" panose="02010609060101010101" pitchFamily="49" charset="-122"/>
                            </a:rPr>
                            <m:t>𝑺</m:t>
                          </m:r>
                        </m:e>
                      </m:acc>
                    </m:oMath>
                  </m:oMathPara>
                </a14:m>
                <a:endParaRPr lang="zh-CN" altLang="en-US" sz="2400" dirty="0">
                  <a:solidFill>
                    <a:schemeClr val="tx1"/>
                  </a:solidFill>
                </a:endParaRPr>
              </a:p>
            </p:txBody>
          </p:sp>
        </mc:Choice>
        <mc:Fallback xmlns="">
          <p:sp>
            <p:nvSpPr>
              <p:cNvPr id="45" name="文本框 44">
                <a:extLst>
                  <a:ext uri="{FF2B5EF4-FFF2-40B4-BE49-F238E27FC236}">
                    <a16:creationId xmlns:a16="http://schemas.microsoft.com/office/drawing/2014/main" id="{2CF0BBFF-84C3-44BF-95C6-D9CBAACC0D86}"/>
                  </a:ext>
                </a:extLst>
              </p:cNvPr>
              <p:cNvSpPr txBox="1">
                <a:spLocks noRot="1" noChangeAspect="1" noMove="1" noResize="1" noEditPoints="1" noAdjustHandles="1" noChangeArrowheads="1" noChangeShapeType="1" noTextEdit="1"/>
              </p:cNvSpPr>
              <p:nvPr/>
            </p:nvSpPr>
            <p:spPr>
              <a:xfrm>
                <a:off x="1765043" y="2709794"/>
                <a:ext cx="2711263" cy="50885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6AB08E31-246A-401D-BB0A-2B8F386CFB4E}"/>
                  </a:ext>
                </a:extLst>
              </p:cNvPr>
              <p:cNvSpPr txBox="1"/>
              <p:nvPr/>
            </p:nvSpPr>
            <p:spPr>
              <a:xfrm>
                <a:off x="4044580" y="2572351"/>
                <a:ext cx="1891266" cy="783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u="none" smtClean="0">
                              <a:solidFill>
                                <a:schemeClr val="tx1"/>
                              </a:solidFill>
                              <a:latin typeface="Cambria Math" panose="02040503050406030204" pitchFamily="18" charset="0"/>
                              <a:ea typeface="黑体" panose="02010609060101010101" pitchFamily="49" charset="-122"/>
                            </a:rPr>
                          </m:ctrlPr>
                        </m:sSubPr>
                        <m:e>
                          <m:r>
                            <a:rPr lang="en-US" altLang="zh-CN" sz="2400" b="0" i="1" u="none" smtClean="0">
                              <a:solidFill>
                                <a:schemeClr val="tx1"/>
                              </a:solidFill>
                              <a:latin typeface="Cambria Math" panose="02040503050406030204" pitchFamily="18" charset="0"/>
                              <a:ea typeface="黑体" panose="02010609060101010101" pitchFamily="49" charset="-122"/>
                            </a:rPr>
                            <m:t>=</m:t>
                          </m:r>
                          <m:r>
                            <a:rPr lang="zh-CN" altLang="en-US" sz="2400" b="0" i="1" u="none">
                              <a:solidFill>
                                <a:schemeClr val="tx1"/>
                              </a:solidFill>
                              <a:latin typeface="Cambria Math" panose="02040503050406030204" pitchFamily="18" charset="0"/>
                              <a:ea typeface="黑体" panose="02010609060101010101" pitchFamily="49" charset="-122"/>
                            </a:rPr>
                            <m:t>𝜇</m:t>
                          </m:r>
                        </m:e>
                        <m:sub>
                          <m:r>
                            <a:rPr lang="en-US" altLang="zh-CN" sz="2400" b="0" i="1" u="none">
                              <a:solidFill>
                                <a:schemeClr val="tx1"/>
                              </a:solidFill>
                              <a:latin typeface="Cambria Math" panose="02040503050406030204" pitchFamily="18" charset="0"/>
                              <a:ea typeface="黑体" panose="02010609060101010101" pitchFamily="49" charset="-122"/>
                            </a:rPr>
                            <m:t>0</m:t>
                          </m:r>
                        </m:sub>
                      </m:sSub>
                      <m:f>
                        <m:fPr>
                          <m:ctrlPr>
                            <a:rPr lang="en-US" altLang="zh-CN" sz="2400" b="0" i="1" u="none">
                              <a:solidFill>
                                <a:schemeClr val="tx1"/>
                              </a:solidFill>
                              <a:latin typeface="Cambria Math" panose="02040503050406030204" pitchFamily="18" charset="0"/>
                              <a:ea typeface="黑体" panose="02010609060101010101" pitchFamily="49" charset="-122"/>
                            </a:rPr>
                          </m:ctrlPr>
                        </m:fPr>
                        <m:num>
                          <m:sSub>
                            <m:sSubPr>
                              <m:ctrlPr>
                                <a:rPr lang="en-US" altLang="zh-CN" sz="2400" b="0" i="1" u="none">
                                  <a:solidFill>
                                    <a:schemeClr val="tx1"/>
                                  </a:solidFill>
                                  <a:latin typeface="Cambria Math" panose="02040503050406030204" pitchFamily="18" charset="0"/>
                                  <a:ea typeface="黑体" panose="02010609060101010101" pitchFamily="49" charset="-122"/>
                                </a:rPr>
                              </m:ctrlPr>
                            </m:sSubPr>
                            <m:e>
                              <m:r>
                                <a:rPr lang="en-US" altLang="zh-CN" sz="2400" b="0" i="1" u="none">
                                  <a:solidFill>
                                    <a:schemeClr val="tx1"/>
                                  </a:solidFill>
                                  <a:latin typeface="Cambria Math" panose="02040503050406030204" pitchFamily="18" charset="0"/>
                                  <a:ea typeface="黑体" panose="02010609060101010101" pitchFamily="49" charset="-122"/>
                                </a:rPr>
                                <m:t>𝑁</m:t>
                              </m:r>
                            </m:e>
                            <m:sub>
                              <m:r>
                                <a:rPr lang="en-US" altLang="zh-CN" sz="2400" b="0" i="1" u="none">
                                  <a:solidFill>
                                    <a:schemeClr val="tx1"/>
                                  </a:solidFill>
                                  <a:latin typeface="Cambria Math" panose="02040503050406030204" pitchFamily="18" charset="0"/>
                                  <a:ea typeface="黑体" panose="02010609060101010101" pitchFamily="49" charset="-122"/>
                                </a:rPr>
                                <m:t>1</m:t>
                              </m:r>
                            </m:sub>
                          </m:sSub>
                        </m:num>
                        <m:den>
                          <m:r>
                            <a:rPr lang="en-US" altLang="zh-CN" sz="2400" b="0" i="1" u="none">
                              <a:solidFill>
                                <a:schemeClr val="tx1"/>
                              </a:solidFill>
                              <a:latin typeface="Cambria Math" panose="02040503050406030204" pitchFamily="18" charset="0"/>
                              <a:ea typeface="黑体" panose="02010609060101010101" pitchFamily="49" charset="-122"/>
                            </a:rPr>
                            <m:t>𝑙</m:t>
                          </m:r>
                        </m:den>
                      </m:f>
                      <m:sSub>
                        <m:sSubPr>
                          <m:ctrlPr>
                            <a:rPr lang="en-US" altLang="zh-CN" sz="2400" b="0" i="1" u="none">
                              <a:solidFill>
                                <a:schemeClr val="tx1"/>
                              </a:solidFill>
                              <a:latin typeface="Cambria Math" panose="02040503050406030204" pitchFamily="18" charset="0"/>
                              <a:ea typeface="黑体" panose="02010609060101010101" pitchFamily="49" charset="-122"/>
                            </a:rPr>
                          </m:ctrlPr>
                        </m:sSubPr>
                        <m:e>
                          <m:r>
                            <a:rPr lang="en-US" altLang="zh-CN" sz="2400" b="0" i="1" u="none">
                              <a:solidFill>
                                <a:schemeClr val="tx1"/>
                              </a:solidFill>
                              <a:latin typeface="Cambria Math" panose="02040503050406030204" pitchFamily="18" charset="0"/>
                              <a:ea typeface="黑体" panose="02010609060101010101" pitchFamily="49" charset="-122"/>
                            </a:rPr>
                            <m:t>𝐼</m:t>
                          </m:r>
                        </m:e>
                        <m:sub>
                          <m:r>
                            <a:rPr lang="en-US" altLang="zh-CN" sz="2400" b="0" i="1" u="none">
                              <a:solidFill>
                                <a:schemeClr val="tx1"/>
                              </a:solidFill>
                              <a:latin typeface="Cambria Math" panose="02040503050406030204" pitchFamily="18" charset="0"/>
                              <a:ea typeface="黑体" panose="02010609060101010101" pitchFamily="49" charset="-122"/>
                            </a:rPr>
                            <m:t>1</m:t>
                          </m:r>
                        </m:sub>
                      </m:sSub>
                      <m:sSub>
                        <m:sSubPr>
                          <m:ctrlPr>
                            <a:rPr lang="en-US" altLang="zh-CN" sz="2400" b="0" i="1" u="none">
                              <a:solidFill>
                                <a:schemeClr val="tx1"/>
                              </a:solidFill>
                              <a:latin typeface="Cambria Math" panose="02040503050406030204" pitchFamily="18" charset="0"/>
                              <a:ea typeface="黑体" panose="02010609060101010101" pitchFamily="49" charset="-122"/>
                            </a:rPr>
                          </m:ctrlPr>
                        </m:sSubPr>
                        <m:e>
                          <m:r>
                            <a:rPr lang="en-US" altLang="zh-CN" sz="2400" b="0" i="1" u="none">
                              <a:solidFill>
                                <a:schemeClr val="tx1"/>
                              </a:solidFill>
                              <a:latin typeface="Cambria Math" panose="02040503050406030204" pitchFamily="18" charset="0"/>
                              <a:ea typeface="黑体" panose="02010609060101010101" pitchFamily="49" charset="-122"/>
                            </a:rPr>
                            <m:t>𝑁</m:t>
                          </m:r>
                        </m:e>
                        <m:sub>
                          <m:r>
                            <a:rPr lang="en-US" altLang="zh-CN" sz="2400" b="0" i="1" u="none">
                              <a:solidFill>
                                <a:schemeClr val="tx1"/>
                              </a:solidFill>
                              <a:latin typeface="Cambria Math" panose="02040503050406030204" pitchFamily="18" charset="0"/>
                              <a:ea typeface="黑体" panose="02010609060101010101" pitchFamily="49" charset="-122"/>
                            </a:rPr>
                            <m:t>2</m:t>
                          </m:r>
                        </m:sub>
                      </m:sSub>
                      <m:r>
                        <a:rPr lang="zh-CN" altLang="en-US" sz="2400" b="0" i="1" u="none">
                          <a:solidFill>
                            <a:schemeClr val="tx1"/>
                          </a:solidFill>
                          <a:latin typeface="Cambria Math" panose="02040503050406030204" pitchFamily="18" charset="0"/>
                          <a:ea typeface="黑体" panose="02010609060101010101" pitchFamily="49" charset="-122"/>
                        </a:rPr>
                        <m:t>𝜋</m:t>
                      </m:r>
                      <m:sSup>
                        <m:sSupPr>
                          <m:ctrlPr>
                            <a:rPr lang="en-US" altLang="zh-CN" sz="2400" b="0" i="1" u="none">
                              <a:solidFill>
                                <a:schemeClr val="tx1"/>
                              </a:solidFill>
                              <a:latin typeface="Cambria Math" panose="02040503050406030204" pitchFamily="18" charset="0"/>
                              <a:ea typeface="黑体" panose="02010609060101010101" pitchFamily="49" charset="-122"/>
                            </a:rPr>
                          </m:ctrlPr>
                        </m:sSupPr>
                        <m:e>
                          <m:r>
                            <a:rPr lang="en-US" altLang="zh-CN" sz="2400" b="0" i="1" u="none">
                              <a:solidFill>
                                <a:schemeClr val="tx1"/>
                              </a:solidFill>
                              <a:latin typeface="Cambria Math" panose="02040503050406030204" pitchFamily="18" charset="0"/>
                              <a:ea typeface="黑体" panose="02010609060101010101" pitchFamily="49" charset="-122"/>
                            </a:rPr>
                            <m:t>𝑟</m:t>
                          </m:r>
                        </m:e>
                        <m:sup>
                          <m:r>
                            <a:rPr lang="en-US" altLang="zh-CN" sz="2400" b="0" i="1" u="none">
                              <a:solidFill>
                                <a:schemeClr val="tx1"/>
                              </a:solidFill>
                              <a:latin typeface="Cambria Math" panose="02040503050406030204" pitchFamily="18" charset="0"/>
                              <a:ea typeface="黑体" panose="02010609060101010101" pitchFamily="49" charset="-122"/>
                            </a:rPr>
                            <m:t>2</m:t>
                          </m:r>
                        </m:sup>
                      </m:sSup>
                    </m:oMath>
                  </m:oMathPara>
                </a14:m>
                <a:endParaRPr lang="zh-CN" altLang="en-US" sz="2400" dirty="0">
                  <a:solidFill>
                    <a:schemeClr val="tx1"/>
                  </a:solidFill>
                </a:endParaRPr>
              </a:p>
            </p:txBody>
          </p:sp>
        </mc:Choice>
        <mc:Fallback xmlns="">
          <p:sp>
            <p:nvSpPr>
              <p:cNvPr id="48" name="文本框 47">
                <a:extLst>
                  <a:ext uri="{FF2B5EF4-FFF2-40B4-BE49-F238E27FC236}">
                    <a16:creationId xmlns:a16="http://schemas.microsoft.com/office/drawing/2014/main" id="{6AB08E31-246A-401D-BB0A-2B8F386CFB4E}"/>
                  </a:ext>
                </a:extLst>
              </p:cNvPr>
              <p:cNvSpPr txBox="1">
                <a:spLocks noRot="1" noChangeAspect="1" noMove="1" noResize="1" noEditPoints="1" noAdjustHandles="1" noChangeArrowheads="1" noChangeShapeType="1" noTextEdit="1"/>
              </p:cNvSpPr>
              <p:nvPr/>
            </p:nvSpPr>
            <p:spPr>
              <a:xfrm>
                <a:off x="4044580" y="2572351"/>
                <a:ext cx="1891266" cy="783741"/>
              </a:xfrm>
              <a:prstGeom prst="rect">
                <a:avLst/>
              </a:prstGeom>
              <a:blipFill>
                <a:blip r:embed="rId12"/>
                <a:stretch>
                  <a:fillRect r="-167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396AB46F-F75D-4795-B88B-19E7FEFF5B1F}"/>
                  </a:ext>
                </a:extLst>
              </p:cNvPr>
              <p:cNvSpPr/>
              <p:nvPr/>
            </p:nvSpPr>
            <p:spPr>
              <a:xfrm>
                <a:off x="6916670" y="4407456"/>
                <a:ext cx="4377599" cy="24851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tx1"/>
                              </a:solidFill>
                              <a:latin typeface="Cambria Math" panose="02040503050406030204" pitchFamily="18" charset="0"/>
                              <a:ea typeface="Cambria Math" panose="02040503050406030204" pitchFamily="18" charset="0"/>
                            </a:rPr>
                          </m:ctrlPr>
                        </m:sSubPr>
                        <m:e>
                          <m:r>
                            <a:rPr lang="en-US" altLang="zh-CN" sz="2800" b="0" i="1">
                              <a:solidFill>
                                <a:schemeClr val="tx1"/>
                              </a:solidFill>
                              <a:latin typeface="Cambria Math" panose="02040503050406030204" pitchFamily="18" charset="0"/>
                              <a:ea typeface="Cambria Math" panose="02040503050406030204" pitchFamily="18" charset="0"/>
                            </a:rPr>
                            <m:t>𝑀</m:t>
                          </m:r>
                        </m:e>
                        <m:sub>
                          <m:r>
                            <a:rPr lang="en-US" altLang="zh-CN" sz="2800" b="0" i="1">
                              <a:solidFill>
                                <a:schemeClr val="tx1"/>
                              </a:solidFill>
                              <a:latin typeface="Cambria Math" panose="02040503050406030204" pitchFamily="18" charset="0"/>
                              <a:ea typeface="Cambria Math" panose="02040503050406030204" pitchFamily="18" charset="0"/>
                            </a:rPr>
                            <m:t>21</m:t>
                          </m:r>
                        </m:sub>
                      </m:sSub>
                      <m:r>
                        <a:rPr lang="en-US" altLang="zh-CN" sz="2800" b="0" i="1" smtClean="0">
                          <a:solidFill>
                            <a:schemeClr val="tx1"/>
                          </a:solidFill>
                          <a:latin typeface="Cambria Math" panose="02040503050406030204" pitchFamily="18" charset="0"/>
                          <a:ea typeface="Cambria Math" panose="02040503050406030204" pitchFamily="18" charset="0"/>
                        </a:rPr>
                        <m:t>=</m:t>
                      </m:r>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zh-CN" altLang="en-US" sz="2800" b="0" i="1">
                              <a:solidFill>
                                <a:schemeClr val="tx1"/>
                              </a:solidFill>
                              <a:latin typeface="Cambria Math" panose="02040503050406030204" pitchFamily="18" charset="0"/>
                              <a:ea typeface="黑体" panose="02010609060101010101" pitchFamily="49" charset="-122"/>
                            </a:rPr>
                            <m:t>𝜇</m:t>
                          </m:r>
                        </m:e>
                        <m:sub>
                          <m:r>
                            <a:rPr lang="en-US" altLang="zh-CN" sz="2800" b="0" i="1">
                              <a:solidFill>
                                <a:schemeClr val="tx1"/>
                              </a:solidFill>
                              <a:latin typeface="Cambria Math" panose="02040503050406030204" pitchFamily="18" charset="0"/>
                              <a:ea typeface="黑体" panose="02010609060101010101" pitchFamily="49" charset="-122"/>
                            </a:rPr>
                            <m:t>0</m:t>
                          </m:r>
                        </m:sub>
                      </m:sSub>
                      <m:f>
                        <m:fPr>
                          <m:ctrlPr>
                            <a:rPr lang="en-US" altLang="zh-CN" sz="2800" i="1">
                              <a:solidFill>
                                <a:schemeClr val="tx1"/>
                              </a:solidFill>
                              <a:latin typeface="Cambria Math" panose="02040503050406030204" pitchFamily="18" charset="0"/>
                              <a:ea typeface="黑体" panose="02010609060101010101" pitchFamily="49" charset="-122"/>
                            </a:rPr>
                          </m:ctrlPr>
                        </m:fPr>
                        <m:num>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𝑁</m:t>
                              </m:r>
                            </m:e>
                            <m:sub>
                              <m:r>
                                <a:rPr lang="en-US" altLang="zh-CN" sz="2800" b="0" i="1">
                                  <a:solidFill>
                                    <a:schemeClr val="tx1"/>
                                  </a:solidFill>
                                  <a:latin typeface="Cambria Math" panose="02040503050406030204" pitchFamily="18" charset="0"/>
                                  <a:ea typeface="黑体" panose="02010609060101010101" pitchFamily="49" charset="-122"/>
                                </a:rPr>
                                <m:t>1</m:t>
                              </m:r>
                            </m:sub>
                          </m:sSub>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𝑁</m:t>
                              </m:r>
                            </m:e>
                            <m:sub>
                              <m:r>
                                <a:rPr lang="en-US" altLang="zh-CN" sz="2800" b="0" i="1">
                                  <a:solidFill>
                                    <a:schemeClr val="tx1"/>
                                  </a:solidFill>
                                  <a:latin typeface="Cambria Math" panose="02040503050406030204" pitchFamily="18" charset="0"/>
                                  <a:ea typeface="黑体" panose="02010609060101010101" pitchFamily="49" charset="-122"/>
                                </a:rPr>
                                <m:t>2</m:t>
                              </m:r>
                            </m:sub>
                          </m:sSub>
                        </m:num>
                        <m:den>
                          <m:r>
                            <a:rPr lang="en-US" altLang="zh-CN" sz="2800" b="0" i="1">
                              <a:solidFill>
                                <a:schemeClr val="tx1"/>
                              </a:solidFill>
                              <a:latin typeface="Cambria Math" panose="02040503050406030204" pitchFamily="18" charset="0"/>
                              <a:ea typeface="黑体" panose="02010609060101010101" pitchFamily="49" charset="-122"/>
                            </a:rPr>
                            <m:t>𝑙</m:t>
                          </m:r>
                        </m:den>
                      </m:f>
                      <m:r>
                        <a:rPr lang="zh-CN" altLang="en-US" sz="2800" b="0" i="1">
                          <a:solidFill>
                            <a:schemeClr val="tx1"/>
                          </a:solidFill>
                          <a:latin typeface="Cambria Math" panose="02040503050406030204" pitchFamily="18" charset="0"/>
                          <a:ea typeface="黑体" panose="02010609060101010101" pitchFamily="49" charset="-122"/>
                        </a:rPr>
                        <m:t>𝜋</m:t>
                      </m:r>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𝑟</m:t>
                          </m:r>
                        </m:e>
                        <m:sup>
                          <m:r>
                            <a:rPr lang="en-US" altLang="zh-CN" sz="2800" b="0" i="1">
                              <a:solidFill>
                                <a:schemeClr val="tx1"/>
                              </a:solidFill>
                              <a:latin typeface="Cambria Math" panose="02040503050406030204" pitchFamily="18" charset="0"/>
                              <a:ea typeface="黑体" panose="02010609060101010101" pitchFamily="49" charset="-122"/>
                            </a:rPr>
                            <m:t>2</m:t>
                          </m:r>
                        </m:sup>
                      </m:sSup>
                    </m:oMath>
                  </m:oMathPara>
                </a14:m>
                <a:endParaRPr lang="en-US" altLang="zh-CN" sz="2800" dirty="0">
                  <a:solidFill>
                    <a:schemeClr val="tx1"/>
                  </a:solidFill>
                  <a:ea typeface="华文楷体" panose="02010600040101010101" pitchFamily="2" charset="-122"/>
                </a:endParaRPr>
              </a:p>
              <a:p>
                <a:r>
                  <a:rPr lang="en-US" altLang="zh-CN" sz="2800" dirty="0">
                    <a:solidFill>
                      <a:schemeClr val="tx1"/>
                    </a:solidFill>
                    <a:ea typeface="华文楷体" panose="02010600040101010101" pitchFamily="2" charset="-122"/>
                  </a:rPr>
                  <a:t>               </a:t>
                </a:r>
                <a:r>
                  <a:rPr lang="en-US" altLang="zh-CN" sz="3200" dirty="0">
                    <a:solidFill>
                      <a:schemeClr val="tx1"/>
                    </a:solidFill>
                    <a:ea typeface="华文楷体" panose="02010600040101010101" pitchFamily="2" charset="-122"/>
                  </a:rPr>
                  <a:t>= </a:t>
                </a:r>
                <a14:m>
                  <m:oMath xmlns:m="http://schemas.openxmlformats.org/officeDocument/2006/math">
                    <m:f>
                      <m:fPr>
                        <m:ctrlPr>
                          <a:rPr lang="en-US" altLang="zh-CN" sz="3200" i="1" smtClean="0">
                            <a:solidFill>
                              <a:schemeClr val="tx1"/>
                            </a:solidFill>
                            <a:latin typeface="Cambria Math" panose="02040503050406030204" pitchFamily="18" charset="0"/>
                            <a:ea typeface="黑体" panose="02010609060101010101" pitchFamily="49" charset="-122"/>
                          </a:rPr>
                        </m:ctrlPr>
                      </m:fPr>
                      <m:num>
                        <m:sSub>
                          <m:sSubPr>
                            <m:ctrlPr>
                              <a:rPr lang="en-US" altLang="zh-CN" sz="3200" i="1">
                                <a:solidFill>
                                  <a:schemeClr val="tx1"/>
                                </a:solidFill>
                                <a:latin typeface="Cambria Math" panose="02040503050406030204" pitchFamily="18" charset="0"/>
                                <a:ea typeface="黑体" panose="02010609060101010101" pitchFamily="49" charset="-122"/>
                              </a:rPr>
                            </m:ctrlPr>
                          </m:sSubPr>
                          <m:e>
                            <m:r>
                              <a:rPr lang="zh-CN" altLang="en-US" sz="3200" b="0" i="1">
                                <a:solidFill>
                                  <a:schemeClr val="tx1"/>
                                </a:solidFill>
                                <a:latin typeface="Cambria Math" panose="02040503050406030204" pitchFamily="18" charset="0"/>
                                <a:ea typeface="黑体" panose="02010609060101010101" pitchFamily="49" charset="-122"/>
                              </a:rPr>
                              <m:t>𝛷</m:t>
                            </m:r>
                          </m:e>
                          <m:sub>
                            <m:r>
                              <a:rPr lang="en-US" altLang="zh-CN" sz="3200" b="0" i="1">
                                <a:solidFill>
                                  <a:schemeClr val="tx1"/>
                                </a:solidFill>
                                <a:latin typeface="Cambria Math" panose="02040503050406030204" pitchFamily="18" charset="0"/>
                                <a:ea typeface="黑体" panose="02010609060101010101" pitchFamily="49" charset="-122"/>
                              </a:rPr>
                              <m:t>21</m:t>
                            </m:r>
                          </m:sub>
                        </m:sSub>
                      </m:num>
                      <m:den>
                        <m:sSub>
                          <m:sSubPr>
                            <m:ctrlPr>
                              <a:rPr lang="en-US" altLang="zh-CN" sz="3200" i="1">
                                <a:solidFill>
                                  <a:schemeClr val="tx1"/>
                                </a:solidFill>
                                <a:latin typeface="Cambria Math" panose="02040503050406030204" pitchFamily="18" charset="0"/>
                                <a:ea typeface="黑体" panose="02010609060101010101" pitchFamily="49" charset="-122"/>
                              </a:rPr>
                            </m:ctrlPr>
                          </m:sSubPr>
                          <m:e>
                            <m:r>
                              <a:rPr lang="en-US" altLang="zh-CN" sz="3200" b="0" i="1">
                                <a:solidFill>
                                  <a:schemeClr val="tx1"/>
                                </a:solidFill>
                                <a:latin typeface="Cambria Math" panose="02040503050406030204" pitchFamily="18" charset="0"/>
                                <a:ea typeface="黑体" panose="02010609060101010101" pitchFamily="49" charset="-122"/>
                              </a:rPr>
                              <m:t>𝐼</m:t>
                            </m:r>
                          </m:e>
                          <m:sub>
                            <m:r>
                              <a:rPr lang="en-US" altLang="zh-CN" sz="3200" b="0" i="1">
                                <a:solidFill>
                                  <a:schemeClr val="tx1"/>
                                </a:solidFill>
                                <a:latin typeface="Cambria Math" panose="02040503050406030204" pitchFamily="18" charset="0"/>
                                <a:ea typeface="黑体" panose="02010609060101010101" pitchFamily="49" charset="-122"/>
                              </a:rPr>
                              <m:t>1</m:t>
                            </m:r>
                          </m:sub>
                        </m:sSub>
                      </m:den>
                    </m:f>
                  </m:oMath>
                </a14:m>
                <a:endParaRPr lang="en-US" altLang="zh-CN" sz="3200" dirty="0">
                  <a:solidFill>
                    <a:schemeClr val="tx1"/>
                  </a:solidFill>
                  <a:ea typeface="华文楷体" panose="02010600040101010101" pitchFamily="2" charset="-122"/>
                </a:endParaRPr>
              </a:p>
              <a:p>
                <a:pPr/>
                <a14:m>
                  <m:oMathPara xmlns:m="http://schemas.openxmlformats.org/officeDocument/2006/math">
                    <m:oMathParaPr>
                      <m:jc m:val="centerGroup"/>
                    </m:oMathParaPr>
                    <m:oMath xmlns:m="http://schemas.openxmlformats.org/officeDocument/2006/math">
                      <m:r>
                        <a:rPr lang="en-US" altLang="zh-CN" sz="2800" b="0" i="1">
                          <a:solidFill>
                            <a:schemeClr val="tx1"/>
                          </a:solidFill>
                          <a:latin typeface="Cambria Math" panose="02040503050406030204" pitchFamily="18" charset="0"/>
                          <a:ea typeface="Cambria Math" panose="02040503050406030204" pitchFamily="18" charset="0"/>
                        </a:rPr>
                        <m:t>→</m:t>
                      </m:r>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zh-CN" altLang="en-US" sz="2800" b="0" i="1">
                              <a:solidFill>
                                <a:schemeClr val="tx1"/>
                              </a:solidFill>
                              <a:latin typeface="Cambria Math" panose="02040503050406030204" pitchFamily="18" charset="0"/>
                              <a:ea typeface="黑体" panose="02010609060101010101" pitchFamily="49" charset="-122"/>
                            </a:rPr>
                            <m:t>𝜀</m:t>
                          </m:r>
                        </m:e>
                        <m:sub>
                          <m:r>
                            <a:rPr lang="en-US" altLang="zh-CN" sz="2800" b="0" i="1">
                              <a:solidFill>
                                <a:schemeClr val="tx1"/>
                              </a:solidFill>
                              <a:latin typeface="Cambria Math" panose="02040503050406030204" pitchFamily="18" charset="0"/>
                              <a:ea typeface="黑体" panose="02010609060101010101" pitchFamily="49" charset="-122"/>
                            </a:rPr>
                            <m:t>21</m:t>
                          </m:r>
                        </m:sub>
                      </m:sSub>
                      <m:r>
                        <a:rPr lang="en-US" altLang="zh-CN" sz="2800" b="0">
                          <a:solidFill>
                            <a:schemeClr val="tx1"/>
                          </a:solidFill>
                          <a:latin typeface="Cambria Math" panose="02040503050406030204" pitchFamily="18" charset="0"/>
                          <a:ea typeface="黑体" panose="02010609060101010101" pitchFamily="49" charset="-122"/>
                        </a:rPr>
                        <m:t>=−</m:t>
                      </m:r>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en-US" altLang="zh-CN" sz="2800" b="0" i="1">
                              <a:solidFill>
                                <a:schemeClr val="tx1"/>
                              </a:solidFill>
                              <a:latin typeface="Cambria Math" panose="02040503050406030204" pitchFamily="18" charset="0"/>
                              <a:ea typeface="Cambria Math" panose="02040503050406030204" pitchFamily="18" charset="0"/>
                            </a:rPr>
                            <m:t>𝑀</m:t>
                          </m:r>
                        </m:e>
                        <m:sub>
                          <m:r>
                            <a:rPr lang="en-US" altLang="zh-CN" sz="2800" b="0" i="1">
                              <a:solidFill>
                                <a:schemeClr val="tx1"/>
                              </a:solidFill>
                              <a:latin typeface="Cambria Math" panose="02040503050406030204" pitchFamily="18" charset="0"/>
                              <a:ea typeface="Cambria Math" panose="02040503050406030204" pitchFamily="18" charset="0"/>
                            </a:rPr>
                            <m:t>21</m:t>
                          </m:r>
                        </m:sub>
                      </m:sSub>
                      <m:f>
                        <m:fPr>
                          <m:ctrlPr>
                            <a:rPr lang="en-US" altLang="zh-CN" sz="2800" i="1">
                              <a:solidFill>
                                <a:schemeClr val="tx1"/>
                              </a:solidFill>
                              <a:latin typeface="Cambria Math" panose="02040503050406030204" pitchFamily="18" charset="0"/>
                              <a:ea typeface="黑体" panose="02010609060101010101" pitchFamily="49" charset="-122"/>
                            </a:rPr>
                          </m:ctrlPr>
                        </m:fPr>
                        <m:num>
                          <m:r>
                            <a:rPr lang="en-US" altLang="zh-CN" sz="2800" b="0" i="1">
                              <a:solidFill>
                                <a:schemeClr val="tx1"/>
                              </a:solidFill>
                              <a:latin typeface="Cambria Math" panose="02040503050406030204" pitchFamily="18" charset="0"/>
                              <a:ea typeface="黑体" panose="02010609060101010101" pitchFamily="49" charset="-122"/>
                            </a:rPr>
                            <m:t>𝑑</m:t>
                          </m:r>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1</m:t>
                              </m:r>
                            </m:sub>
                          </m:sSub>
                        </m:num>
                        <m:den>
                          <m:r>
                            <a:rPr lang="en-US" altLang="zh-CN" sz="2800" b="0" i="1">
                              <a:solidFill>
                                <a:schemeClr val="tx1"/>
                              </a:solidFill>
                              <a:latin typeface="Cambria Math" panose="02040503050406030204" pitchFamily="18" charset="0"/>
                              <a:ea typeface="黑体" panose="02010609060101010101" pitchFamily="49" charset="-122"/>
                            </a:rPr>
                            <m:t>𝑑𝑡</m:t>
                          </m:r>
                        </m:den>
                      </m:f>
                    </m:oMath>
                  </m:oMathPara>
                </a14:m>
                <a:endParaRPr lang="zh-CN" altLang="en-US" dirty="0">
                  <a:solidFill>
                    <a:schemeClr val="tx1"/>
                  </a:solidFill>
                </a:endParaRPr>
              </a:p>
            </p:txBody>
          </p:sp>
        </mc:Choice>
        <mc:Fallback xmlns="">
          <p:sp>
            <p:nvSpPr>
              <p:cNvPr id="49" name="矩形 48">
                <a:extLst>
                  <a:ext uri="{FF2B5EF4-FFF2-40B4-BE49-F238E27FC236}">
                    <a16:creationId xmlns:a16="http://schemas.microsoft.com/office/drawing/2014/main" id="{396AB46F-F75D-4795-B88B-19E7FEFF5B1F}"/>
                  </a:ext>
                </a:extLst>
              </p:cNvPr>
              <p:cNvSpPr>
                <a:spLocks noRot="1" noChangeAspect="1" noMove="1" noResize="1" noEditPoints="1" noAdjustHandles="1" noChangeArrowheads="1" noChangeShapeType="1" noTextEdit="1"/>
              </p:cNvSpPr>
              <p:nvPr/>
            </p:nvSpPr>
            <p:spPr>
              <a:xfrm>
                <a:off x="6916670" y="4407456"/>
                <a:ext cx="4377599" cy="248510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180">
                <a:extLst>
                  <a:ext uri="{FF2B5EF4-FFF2-40B4-BE49-F238E27FC236}">
                    <a16:creationId xmlns:a16="http://schemas.microsoft.com/office/drawing/2014/main" id="{642ADAC9-CCA9-4483-90B3-4A620A1145F1}"/>
                  </a:ext>
                </a:extLst>
              </p:cNvPr>
              <p:cNvSpPr txBox="1">
                <a:spLocks noChangeArrowheads="1"/>
              </p:cNvSpPr>
              <p:nvPr/>
            </p:nvSpPr>
            <p:spPr bwMode="auto">
              <a:xfrm>
                <a:off x="1100595" y="5717734"/>
                <a:ext cx="5887969" cy="1074012"/>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pPr>
                <a14:m>
                  <m:oMathPara xmlns:m="http://schemas.openxmlformats.org/officeDocument/2006/math">
                    <m:oMathParaPr>
                      <m:jc m:val="centerGroup"/>
                    </m:oMathParaPr>
                    <m:oMath xmlns:m="http://schemas.openxmlformats.org/officeDocument/2006/math">
                      <m:r>
                        <a:rPr lang="en-US" altLang="zh-CN" sz="2800" b="0" u="none">
                          <a:solidFill>
                            <a:schemeClr val="tx1"/>
                          </a:solidFill>
                          <a:latin typeface="Cambria Math" panose="02040503050406030204" pitchFamily="18" charset="0"/>
                          <a:ea typeface="黑体" panose="02010609060101010101" pitchFamily="49" charset="-122"/>
                        </a:rPr>
                        <m:t>=−</m:t>
                      </m:r>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zh-CN" altLang="en-US" sz="2800" b="0" i="1" u="none">
                              <a:solidFill>
                                <a:schemeClr val="tx1"/>
                              </a:solidFill>
                              <a:latin typeface="Cambria Math" panose="02040503050406030204" pitchFamily="18" charset="0"/>
                              <a:ea typeface="黑体" panose="02010609060101010101" pitchFamily="49" charset="-122"/>
                            </a:rPr>
                            <m:t>𝜇</m:t>
                          </m:r>
                        </m:e>
                        <m:sub>
                          <m:r>
                            <a:rPr lang="en-US" altLang="zh-CN" sz="2800" b="0" i="1" u="none">
                              <a:solidFill>
                                <a:schemeClr val="tx1"/>
                              </a:solidFill>
                              <a:latin typeface="Cambria Math" panose="02040503050406030204" pitchFamily="18" charset="0"/>
                              <a:ea typeface="黑体" panose="02010609060101010101" pitchFamily="49" charset="-122"/>
                            </a:rPr>
                            <m:t>0</m:t>
                          </m:r>
                        </m:sub>
                      </m:sSub>
                      <m:f>
                        <m:fPr>
                          <m:ctrlPr>
                            <a:rPr lang="en-US" altLang="zh-CN" sz="2800" b="0" i="1" u="none">
                              <a:solidFill>
                                <a:schemeClr val="tx1"/>
                              </a:solidFill>
                              <a:latin typeface="Cambria Math" panose="02040503050406030204" pitchFamily="18" charset="0"/>
                              <a:ea typeface="黑体" panose="02010609060101010101" pitchFamily="49" charset="-122"/>
                            </a:rPr>
                          </m:ctrlPr>
                        </m:fPr>
                        <m:num>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en-US" altLang="zh-CN" sz="2800" b="0" i="1" u="none">
                                  <a:solidFill>
                                    <a:schemeClr val="tx1"/>
                                  </a:solidFill>
                                  <a:latin typeface="Cambria Math" panose="02040503050406030204" pitchFamily="18" charset="0"/>
                                  <a:ea typeface="黑体" panose="02010609060101010101" pitchFamily="49" charset="-122"/>
                                </a:rPr>
                                <m:t>𝑁</m:t>
                              </m:r>
                            </m:e>
                            <m:sub>
                              <m:r>
                                <a:rPr lang="en-US" altLang="zh-CN" sz="2800" b="0" i="1" u="none">
                                  <a:solidFill>
                                    <a:schemeClr val="tx1"/>
                                  </a:solidFill>
                                  <a:latin typeface="Cambria Math" panose="02040503050406030204" pitchFamily="18" charset="0"/>
                                  <a:ea typeface="黑体" panose="02010609060101010101" pitchFamily="49" charset="-122"/>
                                </a:rPr>
                                <m:t>1</m:t>
                              </m:r>
                            </m:sub>
                          </m:sSub>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en-US" altLang="zh-CN" sz="2800" b="0" i="1" u="none">
                                  <a:solidFill>
                                    <a:schemeClr val="tx1"/>
                                  </a:solidFill>
                                  <a:latin typeface="Cambria Math" panose="02040503050406030204" pitchFamily="18" charset="0"/>
                                  <a:ea typeface="黑体" panose="02010609060101010101" pitchFamily="49" charset="-122"/>
                                </a:rPr>
                                <m:t>𝑁</m:t>
                              </m:r>
                            </m:e>
                            <m:sub>
                              <m:r>
                                <a:rPr lang="en-US" altLang="zh-CN" sz="2800" b="0" i="1" u="none">
                                  <a:solidFill>
                                    <a:schemeClr val="tx1"/>
                                  </a:solidFill>
                                  <a:latin typeface="Cambria Math" panose="02040503050406030204" pitchFamily="18" charset="0"/>
                                  <a:ea typeface="黑体" panose="02010609060101010101" pitchFamily="49" charset="-122"/>
                                </a:rPr>
                                <m:t>2</m:t>
                              </m:r>
                            </m:sub>
                          </m:sSub>
                        </m:num>
                        <m:den>
                          <m:r>
                            <a:rPr lang="en-US" altLang="zh-CN" sz="2800" b="0" i="1" u="none">
                              <a:solidFill>
                                <a:schemeClr val="tx1"/>
                              </a:solidFill>
                              <a:latin typeface="Cambria Math" panose="02040503050406030204" pitchFamily="18" charset="0"/>
                              <a:ea typeface="黑体" panose="02010609060101010101" pitchFamily="49" charset="-122"/>
                            </a:rPr>
                            <m:t>𝑙</m:t>
                          </m:r>
                        </m:den>
                      </m:f>
                      <m:r>
                        <a:rPr lang="zh-CN" altLang="en-US" sz="2800" b="0" i="1" u="none">
                          <a:solidFill>
                            <a:schemeClr val="tx1"/>
                          </a:solidFill>
                          <a:latin typeface="Cambria Math" panose="02040503050406030204" pitchFamily="18" charset="0"/>
                          <a:ea typeface="黑体" panose="02010609060101010101" pitchFamily="49" charset="-122"/>
                        </a:rPr>
                        <m:t>𝜋</m:t>
                      </m:r>
                      <m:sSup>
                        <m:sSupPr>
                          <m:ctrlPr>
                            <a:rPr lang="en-US" altLang="zh-CN" sz="2800" b="0" i="1" u="none">
                              <a:solidFill>
                                <a:schemeClr val="tx1"/>
                              </a:solidFill>
                              <a:latin typeface="Cambria Math" panose="02040503050406030204" pitchFamily="18" charset="0"/>
                              <a:ea typeface="黑体" panose="02010609060101010101" pitchFamily="49" charset="-122"/>
                            </a:rPr>
                          </m:ctrlPr>
                        </m:sSupPr>
                        <m:e>
                          <m:r>
                            <a:rPr lang="en-US" altLang="zh-CN" sz="2800" b="0" i="1" u="none">
                              <a:solidFill>
                                <a:schemeClr val="tx1"/>
                              </a:solidFill>
                              <a:latin typeface="Cambria Math" panose="02040503050406030204" pitchFamily="18" charset="0"/>
                              <a:ea typeface="黑体" panose="02010609060101010101" pitchFamily="49" charset="-122"/>
                            </a:rPr>
                            <m:t>𝑟</m:t>
                          </m:r>
                        </m:e>
                        <m:sup>
                          <m:r>
                            <a:rPr lang="en-US" altLang="zh-CN" sz="2800" b="0" i="1" u="none">
                              <a:solidFill>
                                <a:schemeClr val="tx1"/>
                              </a:solidFill>
                              <a:latin typeface="Cambria Math" panose="02040503050406030204" pitchFamily="18" charset="0"/>
                              <a:ea typeface="黑体" panose="02010609060101010101" pitchFamily="49" charset="-122"/>
                            </a:rPr>
                            <m:t>2</m:t>
                          </m:r>
                        </m:sup>
                      </m:sSup>
                      <m:f>
                        <m:fPr>
                          <m:ctrlPr>
                            <a:rPr lang="en-US" altLang="zh-CN" sz="2800" b="0" i="1" u="none">
                              <a:solidFill>
                                <a:schemeClr val="tx1"/>
                              </a:solidFill>
                              <a:latin typeface="Cambria Math" panose="02040503050406030204" pitchFamily="18" charset="0"/>
                              <a:ea typeface="黑体" panose="02010609060101010101" pitchFamily="49" charset="-122"/>
                            </a:rPr>
                          </m:ctrlPr>
                        </m:fPr>
                        <m:num>
                          <m:r>
                            <a:rPr lang="en-US" altLang="zh-CN" sz="2800" b="0" i="1" u="none">
                              <a:solidFill>
                                <a:schemeClr val="tx1"/>
                              </a:solidFill>
                              <a:latin typeface="Cambria Math" panose="02040503050406030204" pitchFamily="18" charset="0"/>
                              <a:ea typeface="黑体" panose="02010609060101010101" pitchFamily="49" charset="-122"/>
                            </a:rPr>
                            <m:t>𝑑</m:t>
                          </m:r>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en-US" altLang="zh-CN" sz="2800" b="0" i="1" u="none">
                                  <a:solidFill>
                                    <a:schemeClr val="tx1"/>
                                  </a:solidFill>
                                  <a:latin typeface="Cambria Math" panose="02040503050406030204" pitchFamily="18" charset="0"/>
                                  <a:ea typeface="黑体" panose="02010609060101010101" pitchFamily="49" charset="-122"/>
                                </a:rPr>
                                <m:t>𝐼</m:t>
                              </m:r>
                            </m:e>
                            <m:sub>
                              <m:r>
                                <a:rPr lang="en-US" altLang="zh-CN" sz="2800" b="0" i="1" u="none">
                                  <a:solidFill>
                                    <a:schemeClr val="tx1"/>
                                  </a:solidFill>
                                  <a:latin typeface="Cambria Math" panose="02040503050406030204" pitchFamily="18" charset="0"/>
                                  <a:ea typeface="黑体" panose="02010609060101010101" pitchFamily="49" charset="-122"/>
                                </a:rPr>
                                <m:t>1</m:t>
                              </m:r>
                            </m:sub>
                          </m:sSub>
                        </m:num>
                        <m:den>
                          <m:r>
                            <a:rPr lang="en-US" altLang="zh-CN" sz="2800" b="0" i="1" u="none">
                              <a:solidFill>
                                <a:schemeClr val="tx1"/>
                              </a:solidFill>
                              <a:latin typeface="Cambria Math" panose="02040503050406030204" pitchFamily="18" charset="0"/>
                              <a:ea typeface="黑体" panose="02010609060101010101" pitchFamily="49" charset="-122"/>
                            </a:rPr>
                            <m:t>𝑑𝑡</m:t>
                          </m:r>
                        </m:den>
                      </m:f>
                    </m:oMath>
                  </m:oMathPara>
                </a14:m>
                <a:endParaRPr lang="zh-CN" altLang="en-US"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50" name="Text Box 180">
                <a:extLst>
                  <a:ext uri="{FF2B5EF4-FFF2-40B4-BE49-F238E27FC236}">
                    <a16:creationId xmlns:a16="http://schemas.microsoft.com/office/drawing/2014/main" id="{642ADAC9-CCA9-4483-90B3-4A620A1145F1}"/>
                  </a:ext>
                </a:extLst>
              </p:cNvPr>
              <p:cNvSpPr txBox="1">
                <a:spLocks noRot="1" noChangeAspect="1" noMove="1" noResize="1" noEditPoints="1" noAdjustHandles="1" noChangeArrowheads="1" noChangeShapeType="1" noTextEdit="1"/>
              </p:cNvSpPr>
              <p:nvPr/>
            </p:nvSpPr>
            <p:spPr bwMode="auto">
              <a:xfrm>
                <a:off x="1100595" y="5717734"/>
                <a:ext cx="5887969" cy="1074012"/>
              </a:xfrm>
              <a:prstGeom prst="rect">
                <a:avLst/>
              </a:prstGeom>
              <a:blipFill>
                <a:blip r:embed="rId1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9880721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37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37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730" grpId="0"/>
      <p:bldP spid="663732" grpId="0"/>
      <p:bldP spid="45" grpId="0"/>
      <p:bldP spid="48" grpId="0"/>
      <p:bldP spid="5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449" name="Rectangle 8"/>
              <p:cNvSpPr>
                <a:spLocks noChangeArrowheads="1"/>
              </p:cNvSpPr>
              <p:nvPr/>
            </p:nvSpPr>
            <p:spPr bwMode="auto">
              <a:xfrm>
                <a:off x="1461860" y="3763925"/>
                <a:ext cx="8784976" cy="6101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lnSpc>
                    <a:spcPct val="130000"/>
                  </a:lnSpc>
                </a:pPr>
                <a14:m>
                  <m:oMath xmlns:m="http://schemas.openxmlformats.org/officeDocument/2006/math">
                    <m:sSub>
                      <m:sSubPr>
                        <m:ctrlPr>
                          <a:rPr kumimoji="1" lang="en-US" altLang="zh-CN" sz="2800" b="0" i="1" u="none" dirty="0" smtClean="0">
                            <a:solidFill>
                              <a:schemeClr val="tx1"/>
                            </a:solidFill>
                            <a:latin typeface="Cambria Math" panose="02040503050406030204" pitchFamily="18" charset="0"/>
                            <a:ea typeface="华文新魏" panose="02010800040101010101" pitchFamily="2" charset="-122"/>
                          </a:rPr>
                        </m:ctrlPr>
                      </m:sSubPr>
                      <m:e>
                        <m:r>
                          <a:rPr kumimoji="1" lang="en-US" altLang="zh-CN" sz="2800" b="0" i="1" u="none" dirty="0">
                            <a:solidFill>
                              <a:schemeClr val="tx1"/>
                            </a:solidFill>
                            <a:latin typeface="Cambria Math" panose="02040503050406030204" pitchFamily="18" charset="0"/>
                            <a:ea typeface="华文新魏" panose="02010800040101010101" pitchFamily="2" charset="-122"/>
                          </a:rPr>
                          <m:t>𝑀</m:t>
                        </m:r>
                      </m:e>
                      <m:sub>
                        <m:r>
                          <a:rPr kumimoji="1" lang="en-US" altLang="zh-CN" sz="2800" b="0" i="1" u="none" dirty="0">
                            <a:solidFill>
                              <a:schemeClr val="tx1"/>
                            </a:solidFill>
                            <a:latin typeface="Cambria Math" panose="02040503050406030204" pitchFamily="18" charset="0"/>
                            <a:ea typeface="华文新魏" panose="02010800040101010101" pitchFamily="2" charset="-122"/>
                          </a:rPr>
                          <m:t>12</m:t>
                        </m:r>
                      </m:sub>
                    </m:sSub>
                    <m:r>
                      <a:rPr kumimoji="1" lang="en-US" altLang="zh-CN" sz="2800" b="0" u="none" dirty="0">
                        <a:solidFill>
                          <a:schemeClr val="tx1"/>
                        </a:solidFill>
                        <a:latin typeface="Cambria Math" panose="02040503050406030204" pitchFamily="18" charset="0"/>
                        <a:ea typeface="华文新魏" panose="02010800040101010101" pitchFamily="2" charset="-122"/>
                      </a:rPr>
                      <m:t>=</m:t>
                    </m:r>
                    <m:sSub>
                      <m:sSubPr>
                        <m:ctrlPr>
                          <a:rPr kumimoji="1" lang="en-US" altLang="zh-CN" sz="2800" b="0" i="1" u="none" dirty="0">
                            <a:solidFill>
                              <a:schemeClr val="tx1"/>
                            </a:solidFill>
                            <a:latin typeface="Cambria Math" panose="02040503050406030204" pitchFamily="18" charset="0"/>
                            <a:ea typeface="华文新魏" panose="02010800040101010101" pitchFamily="2" charset="-122"/>
                          </a:rPr>
                        </m:ctrlPr>
                      </m:sSubPr>
                      <m:e>
                        <m:r>
                          <a:rPr kumimoji="1" lang="en-US" altLang="zh-CN" sz="2800" b="0" i="1" u="none" dirty="0">
                            <a:solidFill>
                              <a:schemeClr val="tx1"/>
                            </a:solidFill>
                            <a:latin typeface="Cambria Math" panose="02040503050406030204" pitchFamily="18" charset="0"/>
                            <a:ea typeface="华文新魏" panose="02010800040101010101" pitchFamily="2" charset="-122"/>
                          </a:rPr>
                          <m:t>𝑀</m:t>
                        </m:r>
                      </m:e>
                      <m:sub>
                        <m:r>
                          <a:rPr kumimoji="1" lang="en-US" altLang="zh-CN" sz="2800" b="0" i="1" u="none" dirty="0">
                            <a:solidFill>
                              <a:schemeClr val="tx1"/>
                            </a:solidFill>
                            <a:latin typeface="Cambria Math" panose="02040503050406030204" pitchFamily="18" charset="0"/>
                            <a:ea typeface="华文新魏" panose="02010800040101010101" pitchFamily="2" charset="-122"/>
                          </a:rPr>
                          <m:t>21</m:t>
                        </m:r>
                      </m:sub>
                    </m:sSub>
                    <m:r>
                      <a:rPr kumimoji="1" lang="en-US" altLang="zh-CN" sz="2800" b="0" u="none" dirty="0">
                        <a:solidFill>
                          <a:schemeClr val="tx1"/>
                        </a:solidFill>
                        <a:latin typeface="Cambria Math" panose="02040503050406030204" pitchFamily="18" charset="0"/>
                        <a:ea typeface="华文新魏" panose="02010800040101010101" pitchFamily="2" charset="-122"/>
                      </a:rPr>
                      <m:t>=</m:t>
                    </m:r>
                    <m:r>
                      <a:rPr kumimoji="1" lang="en-US" altLang="zh-CN" sz="2800" b="0" i="1" u="none" dirty="0">
                        <a:solidFill>
                          <a:schemeClr val="tx1"/>
                        </a:solidFill>
                        <a:latin typeface="Cambria Math" panose="02040503050406030204" pitchFamily="18" charset="0"/>
                        <a:ea typeface="华文新魏" panose="02010800040101010101" pitchFamily="2" charset="-122"/>
                      </a:rPr>
                      <m:t>𝑀</m:t>
                    </m:r>
                  </m:oMath>
                </a14:m>
                <a:r>
                  <a:rPr kumimoji="1" lang="zh-CN" altLang="en-US" sz="2800" b="0" i="0" u="none" dirty="0">
                    <a:solidFill>
                      <a:schemeClr val="tx1"/>
                    </a:solidFill>
                    <a:latin typeface="华文楷体" panose="02010600040101010101" pitchFamily="2" charset="-122"/>
                    <a:ea typeface="华文楷体" panose="02010600040101010101" pitchFamily="2" charset="-122"/>
                  </a:rPr>
                  <a:t>：互感系数，简称互感。单位：亨利。</a:t>
                </a:r>
                <a:endParaRPr kumimoji="1" lang="en-US" altLang="zh-CN"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61449" name="Rectangle 8"/>
              <p:cNvSpPr>
                <a:spLocks noRot="1" noChangeAspect="1" noMove="1" noResize="1" noEditPoints="1" noAdjustHandles="1" noChangeArrowheads="1" noChangeShapeType="1" noTextEdit="1"/>
              </p:cNvSpPr>
              <p:nvPr/>
            </p:nvSpPr>
            <p:spPr bwMode="auto">
              <a:xfrm>
                <a:off x="1461860" y="3763925"/>
                <a:ext cx="8784976" cy="610103"/>
              </a:xfrm>
              <a:prstGeom prst="rect">
                <a:avLst/>
              </a:prstGeom>
              <a:blipFill>
                <a:blip r:embed="rId2"/>
                <a:stretch>
                  <a:fillRect b="-2574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4830" name="Text Box 14"/>
              <p:cNvSpPr txBox="1">
                <a:spLocks noChangeArrowheads="1"/>
              </p:cNvSpPr>
              <p:nvPr/>
            </p:nvSpPr>
            <p:spPr bwMode="auto">
              <a:xfrm>
                <a:off x="1187597" y="1516273"/>
                <a:ext cx="8947596" cy="1716432"/>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800" b="0" i="0" u="none" dirty="0">
                    <a:solidFill>
                      <a:schemeClr val="tx1"/>
                    </a:solidFill>
                    <a:latin typeface="华文楷体" panose="02010600040101010101" pitchFamily="2" charset="-122"/>
                    <a:ea typeface="华文楷体" panose="02010600040101010101" pitchFamily="2" charset="-122"/>
                  </a:rPr>
                  <a:t>- </a:t>
                </a:r>
                <a:r>
                  <a:rPr lang="zh-CN" altLang="en-US" sz="2800" b="0" i="0" u="none" dirty="0">
                    <a:solidFill>
                      <a:schemeClr val="tx1"/>
                    </a:solidFill>
                    <a:latin typeface="华文楷体" panose="02010600040101010101" pitchFamily="2" charset="-122"/>
                    <a:ea typeface="华文楷体" panose="02010600040101010101" pitchFamily="2" charset="-122"/>
                  </a:rPr>
                  <a:t>当</a:t>
                </a:r>
                <a14:m>
                  <m:oMath xmlns:m="http://schemas.openxmlformats.org/officeDocument/2006/math">
                    <m:r>
                      <a:rPr lang="en-US" altLang="zh-CN" sz="2800" b="0" i="1" u="none" dirty="0">
                        <a:solidFill>
                          <a:schemeClr val="tx1"/>
                        </a:solidFill>
                        <a:latin typeface="Cambria Math" panose="02040503050406030204" pitchFamily="18" charset="0"/>
                        <a:ea typeface="华文新魏" panose="02010800040101010101" pitchFamily="2" charset="-122"/>
                      </a:rPr>
                      <m:t>𝐶</m:t>
                    </m:r>
                    <m:r>
                      <a:rPr lang="en-US" altLang="zh-CN" sz="2800" b="0" i="1" u="none" baseline="-25000" dirty="0">
                        <a:solidFill>
                          <a:schemeClr val="tx1"/>
                        </a:solidFill>
                        <a:latin typeface="Cambria Math" panose="02040503050406030204" pitchFamily="18" charset="0"/>
                        <a:ea typeface="华文新魏" panose="02010800040101010101" pitchFamily="2" charset="-122"/>
                      </a:rPr>
                      <m:t>2</m:t>
                    </m:r>
                  </m:oMath>
                </a14:m>
                <a:r>
                  <a:rPr lang="zh-CN" altLang="en-US" sz="2800" b="0" i="0" u="none" dirty="0">
                    <a:solidFill>
                      <a:schemeClr val="tx1"/>
                    </a:solidFill>
                    <a:latin typeface="华文楷体" panose="02010600040101010101" pitchFamily="2" charset="-122"/>
                    <a:ea typeface="华文楷体" panose="02010600040101010101" pitchFamily="2" charset="-122"/>
                  </a:rPr>
                  <a:t>中电流</a:t>
                </a:r>
                <a14:m>
                  <m:oMath xmlns:m="http://schemas.openxmlformats.org/officeDocument/2006/math">
                    <m:r>
                      <a:rPr lang="en-US" altLang="zh-CN" sz="2800" b="0" i="1" u="none" dirty="0">
                        <a:solidFill>
                          <a:schemeClr val="tx1"/>
                        </a:solidFill>
                        <a:latin typeface="Cambria Math" panose="02040503050406030204" pitchFamily="18" charset="0"/>
                        <a:ea typeface="华文新魏" panose="02010800040101010101" pitchFamily="2" charset="-122"/>
                      </a:rPr>
                      <m:t>𝐼</m:t>
                    </m:r>
                    <m:r>
                      <a:rPr lang="en-US" altLang="zh-CN" sz="2800" b="0" i="1" u="none" baseline="-25000" dirty="0">
                        <a:solidFill>
                          <a:schemeClr val="tx1"/>
                        </a:solidFill>
                        <a:latin typeface="Cambria Math" panose="02040503050406030204" pitchFamily="18" charset="0"/>
                        <a:ea typeface="华文新魏" panose="02010800040101010101" pitchFamily="2" charset="-122"/>
                      </a:rPr>
                      <m:t>2</m:t>
                    </m:r>
                  </m:oMath>
                </a14:m>
                <a:r>
                  <a:rPr lang="zh-CN" altLang="en-US" sz="2800" b="0" i="0" u="none" dirty="0">
                    <a:solidFill>
                      <a:schemeClr val="tx1"/>
                    </a:solidFill>
                    <a:latin typeface="华文楷体" panose="02010600040101010101" pitchFamily="2" charset="-122"/>
                    <a:ea typeface="华文楷体" panose="02010600040101010101" pitchFamily="2" charset="-122"/>
                  </a:rPr>
                  <a:t>变化时</a:t>
                </a:r>
                <a:r>
                  <a:rPr lang="en-US" altLang="zh-CN" sz="2800" b="0" i="0" u="none"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r>
                      <a:rPr lang="en-US" altLang="zh-CN" sz="2800" b="0" i="1" u="none" dirty="0">
                        <a:solidFill>
                          <a:schemeClr val="tx1"/>
                        </a:solidFill>
                        <a:latin typeface="Cambria Math" panose="02040503050406030204" pitchFamily="18" charset="0"/>
                        <a:ea typeface="华文新魏" panose="02010800040101010101" pitchFamily="2" charset="-122"/>
                      </a:rPr>
                      <m:t>𝐶</m:t>
                    </m:r>
                    <m:r>
                      <a:rPr lang="en-US" altLang="zh-CN" sz="2800" b="0" i="1" u="none" baseline="-25000" dirty="0">
                        <a:solidFill>
                          <a:schemeClr val="tx1"/>
                        </a:solidFill>
                        <a:latin typeface="Cambria Math" panose="02040503050406030204" pitchFamily="18" charset="0"/>
                        <a:ea typeface="华文新魏" panose="02010800040101010101" pitchFamily="2" charset="-122"/>
                      </a:rPr>
                      <m:t>1</m:t>
                    </m:r>
                  </m:oMath>
                </a14:m>
                <a:r>
                  <a:rPr lang="zh-CN" altLang="en-US" sz="2800" b="0" i="0" u="none" dirty="0">
                    <a:solidFill>
                      <a:schemeClr val="tx1"/>
                    </a:solidFill>
                    <a:latin typeface="华文楷体" panose="02010600040101010101" pitchFamily="2" charset="-122"/>
                    <a:ea typeface="华文楷体" panose="02010600040101010101" pitchFamily="2" charset="-122"/>
                  </a:rPr>
                  <a:t>线圈中将产生互感电动势：</a:t>
                </a:r>
                <a:endParaRPr lang="en-US" altLang="zh-CN" sz="2800" b="0" i="0" u="none" dirty="0">
                  <a:solidFill>
                    <a:schemeClr val="tx1"/>
                  </a:solidFill>
                  <a:latin typeface="华文楷体" panose="02010600040101010101" pitchFamily="2" charset="-122"/>
                  <a:ea typeface="华文楷体" panose="02010600040101010101" pitchFamily="2" charset="-122"/>
                </a:endParaRPr>
              </a:p>
              <a:p>
                <a:pPr>
                  <a:lnSpc>
                    <a:spcPct val="130000"/>
                  </a:lnSpc>
                </a:pPr>
                <a14:m>
                  <m:oMathPara xmlns:m="http://schemas.openxmlformats.org/officeDocument/2006/math">
                    <m:oMathParaPr>
                      <m:jc m:val="centerGroup"/>
                    </m:oMathParaPr>
                    <m:oMath xmlns:m="http://schemas.openxmlformats.org/officeDocument/2006/math">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zh-CN" altLang="en-US" sz="2800" b="0" i="1" u="none">
                              <a:solidFill>
                                <a:schemeClr val="tx1"/>
                              </a:solidFill>
                              <a:latin typeface="Cambria Math" panose="02040503050406030204" pitchFamily="18" charset="0"/>
                              <a:ea typeface="黑体" panose="02010609060101010101" pitchFamily="49" charset="-122"/>
                            </a:rPr>
                            <m:t>𝜀</m:t>
                          </m:r>
                        </m:e>
                        <m:sub>
                          <m:r>
                            <a:rPr lang="en-US" altLang="zh-CN" sz="2800" b="0" i="1" u="none">
                              <a:solidFill>
                                <a:schemeClr val="tx1"/>
                              </a:solidFill>
                              <a:latin typeface="Cambria Math" panose="02040503050406030204" pitchFamily="18" charset="0"/>
                              <a:ea typeface="黑体" panose="02010609060101010101" pitchFamily="49" charset="-122"/>
                            </a:rPr>
                            <m:t>12</m:t>
                          </m:r>
                        </m:sub>
                      </m:sSub>
                      <m:r>
                        <a:rPr lang="en-US" altLang="zh-CN" sz="2800" b="0" u="none">
                          <a:solidFill>
                            <a:schemeClr val="tx1"/>
                          </a:solidFill>
                          <a:latin typeface="Cambria Math" panose="02040503050406030204" pitchFamily="18" charset="0"/>
                          <a:ea typeface="黑体" panose="02010609060101010101" pitchFamily="49" charset="-122"/>
                        </a:rPr>
                        <m:t>=−</m:t>
                      </m:r>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zh-CN" altLang="en-US" sz="2800" b="0" i="1" u="none">
                              <a:solidFill>
                                <a:schemeClr val="tx1"/>
                              </a:solidFill>
                              <a:latin typeface="Cambria Math" panose="02040503050406030204" pitchFamily="18" charset="0"/>
                              <a:ea typeface="黑体" panose="02010609060101010101" pitchFamily="49" charset="-122"/>
                            </a:rPr>
                            <m:t>𝜇</m:t>
                          </m:r>
                        </m:e>
                        <m:sub>
                          <m:r>
                            <a:rPr lang="en-US" altLang="zh-CN" sz="2800" b="0" i="1" u="none">
                              <a:solidFill>
                                <a:schemeClr val="tx1"/>
                              </a:solidFill>
                              <a:latin typeface="Cambria Math" panose="02040503050406030204" pitchFamily="18" charset="0"/>
                              <a:ea typeface="黑体" panose="02010609060101010101" pitchFamily="49" charset="-122"/>
                            </a:rPr>
                            <m:t>0</m:t>
                          </m:r>
                        </m:sub>
                      </m:sSub>
                      <m:f>
                        <m:fPr>
                          <m:ctrlPr>
                            <a:rPr lang="en-US" altLang="zh-CN" sz="2800" b="0" i="1" u="none">
                              <a:solidFill>
                                <a:schemeClr val="tx1"/>
                              </a:solidFill>
                              <a:latin typeface="Cambria Math" panose="02040503050406030204" pitchFamily="18" charset="0"/>
                              <a:ea typeface="黑体" panose="02010609060101010101" pitchFamily="49" charset="-122"/>
                            </a:rPr>
                          </m:ctrlPr>
                        </m:fPr>
                        <m:num>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en-US" altLang="zh-CN" sz="2800" b="0" i="1" u="none">
                                  <a:solidFill>
                                    <a:schemeClr val="tx1"/>
                                  </a:solidFill>
                                  <a:latin typeface="Cambria Math" panose="02040503050406030204" pitchFamily="18" charset="0"/>
                                  <a:ea typeface="黑体" panose="02010609060101010101" pitchFamily="49" charset="-122"/>
                                </a:rPr>
                                <m:t>𝑁</m:t>
                              </m:r>
                            </m:e>
                            <m:sub>
                              <m:r>
                                <a:rPr lang="en-US" altLang="zh-CN" sz="2800" b="0" i="1" u="none">
                                  <a:solidFill>
                                    <a:schemeClr val="tx1"/>
                                  </a:solidFill>
                                  <a:latin typeface="Cambria Math" panose="02040503050406030204" pitchFamily="18" charset="0"/>
                                  <a:ea typeface="黑体" panose="02010609060101010101" pitchFamily="49" charset="-122"/>
                                </a:rPr>
                                <m:t>1</m:t>
                              </m:r>
                            </m:sub>
                          </m:sSub>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en-US" altLang="zh-CN" sz="2800" b="0" i="1" u="none">
                                  <a:solidFill>
                                    <a:schemeClr val="tx1"/>
                                  </a:solidFill>
                                  <a:latin typeface="Cambria Math" panose="02040503050406030204" pitchFamily="18" charset="0"/>
                                  <a:ea typeface="黑体" panose="02010609060101010101" pitchFamily="49" charset="-122"/>
                                </a:rPr>
                                <m:t>𝑁</m:t>
                              </m:r>
                            </m:e>
                            <m:sub>
                              <m:r>
                                <a:rPr lang="en-US" altLang="zh-CN" sz="2800" b="0" i="1" u="none">
                                  <a:solidFill>
                                    <a:schemeClr val="tx1"/>
                                  </a:solidFill>
                                  <a:latin typeface="Cambria Math" panose="02040503050406030204" pitchFamily="18" charset="0"/>
                                  <a:ea typeface="黑体" panose="02010609060101010101" pitchFamily="49" charset="-122"/>
                                </a:rPr>
                                <m:t>2</m:t>
                              </m:r>
                            </m:sub>
                          </m:sSub>
                        </m:num>
                        <m:den>
                          <m:r>
                            <a:rPr lang="en-US" altLang="zh-CN" sz="2800" b="0" i="1" u="none">
                              <a:solidFill>
                                <a:schemeClr val="tx1"/>
                              </a:solidFill>
                              <a:latin typeface="Cambria Math" panose="02040503050406030204" pitchFamily="18" charset="0"/>
                              <a:ea typeface="黑体" panose="02010609060101010101" pitchFamily="49" charset="-122"/>
                            </a:rPr>
                            <m:t>𝑙</m:t>
                          </m:r>
                        </m:den>
                      </m:f>
                      <m:r>
                        <a:rPr lang="zh-CN" altLang="en-US" sz="2800" b="0" i="1" u="none">
                          <a:solidFill>
                            <a:schemeClr val="tx1"/>
                          </a:solidFill>
                          <a:latin typeface="Cambria Math" panose="02040503050406030204" pitchFamily="18" charset="0"/>
                          <a:ea typeface="黑体" panose="02010609060101010101" pitchFamily="49" charset="-122"/>
                        </a:rPr>
                        <m:t>𝜋</m:t>
                      </m:r>
                      <m:sSup>
                        <m:sSupPr>
                          <m:ctrlPr>
                            <a:rPr lang="en-US" altLang="zh-CN" sz="2800" b="0" i="1" u="none">
                              <a:solidFill>
                                <a:schemeClr val="tx1"/>
                              </a:solidFill>
                              <a:latin typeface="Cambria Math" panose="02040503050406030204" pitchFamily="18" charset="0"/>
                              <a:ea typeface="黑体" panose="02010609060101010101" pitchFamily="49" charset="-122"/>
                            </a:rPr>
                          </m:ctrlPr>
                        </m:sSupPr>
                        <m:e>
                          <m:r>
                            <a:rPr lang="en-US" altLang="zh-CN" sz="2800" b="0" i="1" u="none">
                              <a:solidFill>
                                <a:schemeClr val="tx1"/>
                              </a:solidFill>
                              <a:latin typeface="Cambria Math" panose="02040503050406030204" pitchFamily="18" charset="0"/>
                              <a:ea typeface="黑体" panose="02010609060101010101" pitchFamily="49" charset="-122"/>
                            </a:rPr>
                            <m:t>𝑟</m:t>
                          </m:r>
                        </m:e>
                        <m:sup>
                          <m:r>
                            <a:rPr lang="en-US" altLang="zh-CN" sz="2800" b="0" i="1" u="none">
                              <a:solidFill>
                                <a:schemeClr val="tx1"/>
                              </a:solidFill>
                              <a:latin typeface="Cambria Math" panose="02040503050406030204" pitchFamily="18" charset="0"/>
                              <a:ea typeface="黑体" panose="02010609060101010101" pitchFamily="49" charset="-122"/>
                            </a:rPr>
                            <m:t>2</m:t>
                          </m:r>
                        </m:sup>
                      </m:sSup>
                      <m:f>
                        <m:fPr>
                          <m:ctrlPr>
                            <a:rPr lang="en-US" altLang="zh-CN" sz="2800" b="0" i="1" u="none">
                              <a:solidFill>
                                <a:schemeClr val="tx1"/>
                              </a:solidFill>
                              <a:latin typeface="Cambria Math" panose="02040503050406030204" pitchFamily="18" charset="0"/>
                              <a:ea typeface="黑体" panose="02010609060101010101" pitchFamily="49" charset="-122"/>
                            </a:rPr>
                          </m:ctrlPr>
                        </m:fPr>
                        <m:num>
                          <m:r>
                            <a:rPr lang="en-US" altLang="zh-CN" sz="2800" b="0" i="1" u="none">
                              <a:solidFill>
                                <a:schemeClr val="tx1"/>
                              </a:solidFill>
                              <a:latin typeface="Cambria Math" panose="02040503050406030204" pitchFamily="18" charset="0"/>
                              <a:ea typeface="黑体" panose="02010609060101010101" pitchFamily="49" charset="-122"/>
                            </a:rPr>
                            <m:t>𝑑</m:t>
                          </m:r>
                          <m:sSub>
                            <m:sSubPr>
                              <m:ctrlPr>
                                <a:rPr lang="en-US" altLang="zh-CN" sz="2800" b="0" i="1" u="none">
                                  <a:solidFill>
                                    <a:schemeClr val="tx1"/>
                                  </a:solidFill>
                                  <a:latin typeface="Cambria Math" panose="02040503050406030204" pitchFamily="18" charset="0"/>
                                  <a:ea typeface="黑体" panose="02010609060101010101" pitchFamily="49" charset="-122"/>
                                </a:rPr>
                              </m:ctrlPr>
                            </m:sSubPr>
                            <m:e>
                              <m:r>
                                <a:rPr lang="en-US" altLang="zh-CN" sz="2800" b="0" i="1" u="none">
                                  <a:solidFill>
                                    <a:schemeClr val="tx1"/>
                                  </a:solidFill>
                                  <a:latin typeface="Cambria Math" panose="02040503050406030204" pitchFamily="18" charset="0"/>
                                  <a:ea typeface="黑体" panose="02010609060101010101" pitchFamily="49" charset="-122"/>
                                </a:rPr>
                                <m:t>𝐼</m:t>
                              </m:r>
                            </m:e>
                            <m:sub>
                              <m:r>
                                <a:rPr lang="en-US" altLang="zh-CN" sz="2800" b="0" i="1" u="none">
                                  <a:solidFill>
                                    <a:schemeClr val="tx1"/>
                                  </a:solidFill>
                                  <a:latin typeface="Cambria Math" panose="02040503050406030204" pitchFamily="18" charset="0"/>
                                  <a:ea typeface="黑体" panose="02010609060101010101" pitchFamily="49" charset="-122"/>
                                </a:rPr>
                                <m:t>2</m:t>
                              </m:r>
                            </m:sub>
                          </m:sSub>
                        </m:num>
                        <m:den>
                          <m:r>
                            <a:rPr lang="en-US" altLang="zh-CN" sz="2800" b="0" i="1" u="none">
                              <a:solidFill>
                                <a:schemeClr val="tx1"/>
                              </a:solidFill>
                              <a:latin typeface="Cambria Math" panose="02040503050406030204" pitchFamily="18" charset="0"/>
                              <a:ea typeface="黑体" panose="02010609060101010101" pitchFamily="49" charset="-122"/>
                            </a:rPr>
                            <m:t>𝑑𝑡</m:t>
                          </m:r>
                        </m:den>
                      </m:f>
                      <m:r>
                        <a:rPr lang="en-US" altLang="zh-CN" sz="2800" b="0" u="none">
                          <a:solidFill>
                            <a:schemeClr val="tx1"/>
                          </a:solidFill>
                          <a:latin typeface="Cambria Math" panose="02040503050406030204" pitchFamily="18" charset="0"/>
                          <a:ea typeface="黑体" panose="02010609060101010101" pitchFamily="49" charset="-122"/>
                        </a:rPr>
                        <m:t>=−</m:t>
                      </m:r>
                      <m:sSub>
                        <m:sSubPr>
                          <m:ctrlPr>
                            <a:rPr lang="en-US" altLang="zh-CN" sz="2800" b="0" i="1" u="none">
                              <a:solidFill>
                                <a:schemeClr val="tx1"/>
                              </a:solidFill>
                              <a:latin typeface="Cambria Math" panose="02040503050406030204" pitchFamily="18" charset="0"/>
                              <a:ea typeface="Cambria Math" panose="02040503050406030204" pitchFamily="18" charset="0"/>
                            </a:rPr>
                          </m:ctrlPr>
                        </m:sSubPr>
                        <m:e>
                          <m:r>
                            <a:rPr lang="en-US" altLang="zh-CN" sz="2800" b="0" i="1" u="none">
                              <a:solidFill>
                                <a:schemeClr val="tx1"/>
                              </a:solidFill>
                              <a:latin typeface="Cambria Math" panose="02040503050406030204" pitchFamily="18" charset="0"/>
                              <a:ea typeface="Cambria Math" panose="02040503050406030204" pitchFamily="18" charset="0"/>
                            </a:rPr>
                            <m:t>𝑀</m:t>
                          </m:r>
                        </m:e>
                        <m:sub>
                          <m:r>
                            <a:rPr lang="en-US" altLang="zh-CN" sz="2800" b="0" i="1" u="none">
                              <a:solidFill>
                                <a:schemeClr val="tx1"/>
                              </a:solidFill>
                              <a:latin typeface="Cambria Math" panose="02040503050406030204" pitchFamily="18" charset="0"/>
                              <a:ea typeface="Cambria Math" panose="02040503050406030204" pitchFamily="18" charset="0"/>
                            </a:rPr>
                            <m:t>12</m:t>
                          </m:r>
                        </m:sub>
                      </m:sSub>
                      <m:f>
                        <m:fPr>
                          <m:ctrlPr>
                            <a:rPr lang="en-US" altLang="zh-CN" sz="2800" b="0" i="1" u="none">
                              <a:solidFill>
                                <a:schemeClr val="tx1"/>
                              </a:solidFill>
                              <a:latin typeface="Cambria Math" panose="02040503050406030204" pitchFamily="18" charset="0"/>
                              <a:ea typeface="黑体" panose="02010609060101010101" pitchFamily="49" charset="-122"/>
                            </a:rPr>
                          </m:ctrlPr>
                        </m:fPr>
                        <m:num>
                          <m:r>
                            <a:rPr lang="en-US" altLang="zh-CN" sz="2800" b="0" i="1" u="none">
                              <a:solidFill>
                                <a:schemeClr val="tx1"/>
                              </a:solidFill>
                              <a:latin typeface="Cambria Math" panose="02040503050406030204" pitchFamily="18" charset="0"/>
                              <a:ea typeface="黑体" panose="02010609060101010101" pitchFamily="49" charset="-122"/>
                            </a:rPr>
                            <m:t>𝑑</m:t>
                          </m:r>
                          <m:sSub>
                            <m:sSubPr>
                              <m:ctrlPr>
                                <a:rPr lang="en-US" altLang="zh-CN" sz="2800" b="0" u="none">
                                  <a:latin typeface="Cambria Math" panose="02040503050406030204" pitchFamily="18" charset="0"/>
                                  <a:ea typeface="黑体" panose="02010609060101010101" pitchFamily="49" charset="-122"/>
                                </a:rPr>
                              </m:ctrlPr>
                            </m:sSubPr>
                            <m:e>
                              <m:r>
                                <a:rPr lang="en-US" altLang="zh-CN" sz="2800" b="0" u="none">
                                  <a:latin typeface="Cambria Math" panose="02040503050406030204" pitchFamily="18" charset="0"/>
                                  <a:ea typeface="黑体" panose="02010609060101010101" pitchFamily="49" charset="-122"/>
                                </a:rPr>
                                <m:t>𝐼</m:t>
                              </m:r>
                            </m:e>
                            <m:sub>
                              <m:r>
                                <a:rPr lang="en-US" altLang="zh-CN" sz="2800" b="0" u="none">
                                  <a:latin typeface="Cambria Math" panose="02040503050406030204" pitchFamily="18" charset="0"/>
                                  <a:ea typeface="黑体" panose="02010609060101010101" pitchFamily="49" charset="-122"/>
                                </a:rPr>
                                <m:t>2</m:t>
                              </m:r>
                            </m:sub>
                          </m:sSub>
                        </m:num>
                        <m:den>
                          <m:r>
                            <a:rPr lang="en-US" altLang="zh-CN" sz="2800" b="0" i="1" u="none">
                              <a:solidFill>
                                <a:schemeClr val="tx1"/>
                              </a:solidFill>
                              <a:latin typeface="Cambria Math" panose="02040503050406030204" pitchFamily="18" charset="0"/>
                              <a:ea typeface="黑体" panose="02010609060101010101" pitchFamily="49" charset="-122"/>
                            </a:rPr>
                            <m:t>𝑑𝑡</m:t>
                          </m:r>
                        </m:den>
                      </m:f>
                    </m:oMath>
                  </m:oMathPara>
                </a14:m>
                <a:endParaRPr lang="zh-CN" altLang="en-US" sz="2800" b="0" i="0" u="none" baseline="-25000" dirty="0">
                  <a:solidFill>
                    <a:schemeClr val="tx1"/>
                  </a:solidFill>
                  <a:latin typeface="华文楷体" panose="02010600040101010101" pitchFamily="2" charset="-122"/>
                  <a:ea typeface="华文楷体" panose="02010600040101010101" pitchFamily="2" charset="-122"/>
                </a:endParaRPr>
              </a:p>
            </p:txBody>
          </p:sp>
        </mc:Choice>
        <mc:Fallback>
          <p:sp>
            <p:nvSpPr>
              <p:cNvPr id="674830" name="Text Box 14"/>
              <p:cNvSpPr txBox="1">
                <a:spLocks noRot="1" noChangeAspect="1" noMove="1" noResize="1" noEditPoints="1" noAdjustHandles="1" noChangeArrowheads="1" noChangeShapeType="1" noTextEdit="1"/>
              </p:cNvSpPr>
              <p:nvPr/>
            </p:nvSpPr>
            <p:spPr bwMode="auto">
              <a:xfrm>
                <a:off x="1187597" y="1516273"/>
                <a:ext cx="8947596" cy="1716432"/>
              </a:xfrm>
              <a:prstGeom prst="rect">
                <a:avLst/>
              </a:prstGeom>
              <a:blipFill>
                <a:blip r:embed="rId3"/>
                <a:stretch>
                  <a:fillRect l="-14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p:sp>
        <p:nvSpPr>
          <p:cNvPr id="6" name="Text Box 9">
            <a:extLst>
              <a:ext uri="{FF2B5EF4-FFF2-40B4-BE49-F238E27FC236}">
                <a16:creationId xmlns:a16="http://schemas.microsoft.com/office/drawing/2014/main" id="{0BC22D28-CC97-460D-92B3-01F25EB8CC07}"/>
              </a:ext>
            </a:extLst>
          </p:cNvPr>
          <p:cNvSpPr txBox="1">
            <a:spLocks noChangeArrowheads="1"/>
          </p:cNvSpPr>
          <p:nvPr/>
        </p:nvSpPr>
        <p:spPr bwMode="auto">
          <a:xfrm>
            <a:off x="903231" y="547209"/>
            <a:ext cx="2778477" cy="646331"/>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med" len="lg"/>
                <a:tailEnd type="none" w="med" len="lg"/>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互感系数</a:t>
            </a:r>
          </a:p>
        </p:txBody>
      </p:sp>
      <p:sp>
        <p:nvSpPr>
          <p:cNvPr id="8" name="文本框 7">
            <a:extLst>
              <a:ext uri="{FF2B5EF4-FFF2-40B4-BE49-F238E27FC236}">
                <a16:creationId xmlns:a16="http://schemas.microsoft.com/office/drawing/2014/main" id="{3E7745C6-7824-4DD5-914F-6DB4826FA5C6}"/>
              </a:ext>
            </a:extLst>
          </p:cNvPr>
          <p:cNvSpPr txBox="1"/>
          <p:nvPr/>
        </p:nvSpPr>
        <p:spPr>
          <a:xfrm>
            <a:off x="1144330" y="5049339"/>
            <a:ext cx="9738094" cy="584775"/>
          </a:xfrm>
          <a:prstGeom prst="rect">
            <a:avLst/>
          </a:prstGeom>
          <a:noFill/>
        </p:spPr>
        <p:txBody>
          <a:bodyPr wrap="square">
            <a:spAutoFit/>
          </a:bodyPr>
          <a:lstStyle/>
          <a:p>
            <a:r>
              <a:rPr kumimoji="1" lang="zh-CN" altLang="en-US" sz="3200" b="0" i="0" u="none" dirty="0">
                <a:latin typeface="华文楷体" panose="02010600040101010101" pitchFamily="2" charset="-122"/>
                <a:ea typeface="华文楷体" panose="02010600040101010101" pitchFamily="2" charset="-122"/>
              </a:rPr>
              <a:t>反映了两个相邻回路在对方产生互感电动势的能力。</a:t>
            </a:r>
            <a:endParaRPr lang="zh-CN" altLang="en-US" sz="3200" dirty="0"/>
          </a:p>
        </p:txBody>
      </p:sp>
    </p:spTree>
    <p:extLst>
      <p:ext uri="{BB962C8B-B14F-4D97-AF65-F5344CB8AC3E}">
        <p14:creationId xmlns:p14="http://schemas.microsoft.com/office/powerpoint/2010/main" val="29932429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8" name="Text Box 8"/>
          <p:cNvSpPr txBox="1">
            <a:spLocks noChangeArrowheads="1"/>
          </p:cNvSpPr>
          <p:nvPr/>
        </p:nvSpPr>
        <p:spPr bwMode="auto">
          <a:xfrm>
            <a:off x="1631503" y="2510773"/>
            <a:ext cx="8496944" cy="57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pPr>
            <a:r>
              <a:rPr lang="zh-CN" altLang="en-US" sz="2800" b="0" i="0" u="none" dirty="0">
                <a:latin typeface="华文楷体" panose="02010600040101010101" pitchFamily="2" charset="-122"/>
                <a:ea typeface="华文楷体" panose="02010600040101010101" pitchFamily="2" charset="-122"/>
              </a:rPr>
              <a:t>如果周围有铁磁性物质存在，仍有</a:t>
            </a:r>
          </a:p>
        </p:txBody>
      </p:sp>
      <mc:AlternateContent xmlns:mc="http://schemas.openxmlformats.org/markup-compatibility/2006" xmlns:a14="http://schemas.microsoft.com/office/drawing/2010/main">
        <mc:Choice Requires="a14">
          <p:sp>
            <p:nvSpPr>
              <p:cNvPr id="675849" name="Object 5"/>
              <p:cNvSpPr txBox="1"/>
              <p:nvPr/>
            </p:nvSpPr>
            <p:spPr bwMode="auto">
              <a:xfrm>
                <a:off x="4727575" y="4794250"/>
                <a:ext cx="3044825" cy="10239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2800" b="0" i="1" smtClean="0">
                          <a:solidFill>
                            <a:schemeClr val="tx1"/>
                          </a:solidFill>
                          <a:latin typeface="Cambria Math" panose="02040503050406030204" pitchFamily="18" charset="0"/>
                        </a:rPr>
                        <m:t>𝑀</m:t>
                      </m:r>
                      <m:r>
                        <a:rPr lang="en-US" altLang="zh-CN" sz="2800" b="0" i="1" smtClean="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𝑑</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𝛷</m:t>
                              </m:r>
                            </m:e>
                            <m:sub>
                              <m:r>
                                <a:rPr lang="zh-CN" altLang="en-US" sz="2800" b="0" i="1">
                                  <a:solidFill>
                                    <a:schemeClr val="tx1"/>
                                  </a:solidFill>
                                  <a:latin typeface="Cambria Math" panose="02040503050406030204" pitchFamily="18" charset="0"/>
                                </a:rPr>
                                <m:t>12</m:t>
                              </m:r>
                            </m:sub>
                          </m:sSub>
                        </m:num>
                        <m:den>
                          <m:r>
                            <a:rPr lang="zh-CN" altLang="en-US" sz="2800" b="0" i="1">
                              <a:solidFill>
                                <a:schemeClr val="tx1"/>
                              </a:solidFill>
                              <a:latin typeface="Cambria Math" panose="02040503050406030204" pitchFamily="18" charset="0"/>
                            </a:rPr>
                            <m:t>𝑑</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𝐼</m:t>
                              </m:r>
                            </m:e>
                            <m:sub>
                              <m:r>
                                <a:rPr lang="zh-CN" altLang="en-US" sz="2800" b="0" i="1">
                                  <a:solidFill>
                                    <a:schemeClr val="tx1"/>
                                  </a:solidFill>
                                  <a:latin typeface="Cambria Math" panose="02040503050406030204" pitchFamily="18" charset="0"/>
                                </a:rPr>
                                <m:t>2</m:t>
                              </m:r>
                            </m:sub>
                          </m:sSub>
                        </m:den>
                      </m:f>
                      <m:r>
                        <a:rPr lang="zh-CN" altLang="en-US" sz="2800" b="0" i="1">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𝑑</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𝛷</m:t>
                              </m:r>
                            </m:e>
                            <m:sub>
                              <m:r>
                                <a:rPr lang="zh-CN" altLang="en-US" sz="2800" b="0" i="1">
                                  <a:solidFill>
                                    <a:schemeClr val="tx1"/>
                                  </a:solidFill>
                                  <a:latin typeface="Cambria Math" panose="02040503050406030204" pitchFamily="18" charset="0"/>
                                </a:rPr>
                                <m:t>21</m:t>
                              </m:r>
                            </m:sub>
                          </m:sSub>
                        </m:num>
                        <m:den>
                          <m:r>
                            <a:rPr lang="zh-CN" altLang="en-US" sz="2800" b="0" i="1">
                              <a:solidFill>
                                <a:schemeClr val="tx1"/>
                              </a:solidFill>
                              <a:latin typeface="Cambria Math" panose="02040503050406030204" pitchFamily="18" charset="0"/>
                            </a:rPr>
                            <m:t>𝑑</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𝐼</m:t>
                              </m:r>
                            </m:e>
                            <m:sub>
                              <m:r>
                                <a:rPr lang="zh-CN" altLang="en-US" sz="2800" b="0" i="1">
                                  <a:solidFill>
                                    <a:schemeClr val="tx1"/>
                                  </a:solidFill>
                                  <a:latin typeface="Cambria Math" panose="02040503050406030204" pitchFamily="18" charset="0"/>
                                </a:rPr>
                                <m:t>1</m:t>
                              </m:r>
                            </m:sub>
                          </m:sSub>
                        </m:den>
                      </m:f>
                    </m:oMath>
                  </m:oMathPara>
                </a14:m>
                <a:endParaRPr lang="zh-CN" altLang="en-US" sz="2800" dirty="0">
                  <a:solidFill>
                    <a:schemeClr val="tx1"/>
                  </a:solidFill>
                </a:endParaRPr>
              </a:p>
            </p:txBody>
          </p:sp>
        </mc:Choice>
        <mc:Fallback xmlns="">
          <p:sp>
            <p:nvSpPr>
              <p:cNvPr id="675849" name="Object 5"/>
              <p:cNvSpPr txBox="1">
                <a:spLocks noRot="1" noChangeAspect="1" noMove="1" noResize="1" noEditPoints="1" noAdjustHandles="1" noChangeArrowheads="1" noChangeShapeType="1" noTextEdit="1"/>
              </p:cNvSpPr>
              <p:nvPr/>
            </p:nvSpPr>
            <p:spPr bwMode="auto">
              <a:xfrm>
                <a:off x="4727575" y="4794250"/>
                <a:ext cx="3044825" cy="102393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5850" name="Object 6"/>
              <p:cNvSpPr txBox="1"/>
              <p:nvPr/>
            </p:nvSpPr>
            <p:spPr bwMode="auto">
              <a:xfrm>
                <a:off x="2506663" y="3287713"/>
                <a:ext cx="6421437" cy="11080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ε</m:t>
                          </m:r>
                        </m:e>
                        <m:sub>
                          <m:r>
                            <a:rPr lang="en-US" sz="2800" i="1">
                              <a:solidFill>
                                <a:srgbClr val="000000"/>
                              </a:solidFill>
                              <a:latin typeface="Cambria Math" panose="02040503050406030204" pitchFamily="18" charset="0"/>
                            </a:rPr>
                            <m:t>12</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Φ</m:t>
                              </m:r>
                            </m:e>
                            <m:sub>
                              <m:r>
                                <a:rPr lang="en-US" sz="2800" i="1">
                                  <a:solidFill>
                                    <a:srgbClr val="000000"/>
                                  </a:solidFill>
                                  <a:latin typeface="Cambria Math" panose="02040503050406030204" pitchFamily="18" charset="0"/>
                                </a:rPr>
                                <m:t>12</m:t>
                              </m:r>
                            </m:sub>
                          </m:sSub>
                        </m:num>
                        <m:den>
                          <m:r>
                            <a:rPr lang="en-US" sz="2800" i="1">
                              <a:solidFill>
                                <a:srgbClr val="000000"/>
                              </a:solidFill>
                              <a:latin typeface="Cambria Math" panose="02040503050406030204" pitchFamily="18" charset="0"/>
                            </a:rPr>
                            <m:t>𝑑𝑡</m:t>
                          </m:r>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Φ</m:t>
                              </m:r>
                            </m:e>
                            <m:sub>
                              <m:r>
                                <a:rPr lang="en-US" sz="2800" i="1">
                                  <a:solidFill>
                                    <a:srgbClr val="000000"/>
                                  </a:solidFill>
                                  <a:latin typeface="Cambria Math" panose="02040503050406030204" pitchFamily="18" charset="0"/>
                                </a:rPr>
                                <m:t>12</m:t>
                              </m:r>
                            </m:sub>
                          </m:sSub>
                        </m:num>
                        <m:den>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𝐼</m:t>
                              </m:r>
                            </m:e>
                            <m:sub>
                              <m:r>
                                <a:rPr lang="en-US" sz="2800" i="1">
                                  <a:solidFill>
                                    <a:srgbClr val="000000"/>
                                  </a:solidFill>
                                  <a:latin typeface="Cambria Math" panose="02040503050406030204" pitchFamily="18" charset="0"/>
                                </a:rPr>
                                <m:t>2</m:t>
                              </m:r>
                            </m:sub>
                          </m:sSub>
                        </m:den>
                      </m:f>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𝐼</m:t>
                              </m:r>
                            </m:e>
                            <m:sub>
                              <m:r>
                                <a:rPr lang="en-US" sz="2800" i="1">
                                  <a:solidFill>
                                    <a:srgbClr val="000000"/>
                                  </a:solidFill>
                                  <a:latin typeface="Cambria Math" panose="02040503050406030204" pitchFamily="18" charset="0"/>
                                </a:rPr>
                                <m:t>2</m:t>
                              </m:r>
                            </m:sub>
                          </m:sSub>
                        </m:num>
                        <m:den>
                          <m:r>
                            <a:rPr lang="en-US" sz="2800" i="1">
                              <a:solidFill>
                                <a:srgbClr val="000000"/>
                              </a:solidFill>
                              <a:latin typeface="Cambria Math" panose="02040503050406030204" pitchFamily="18" charset="0"/>
                            </a:rPr>
                            <m:t>𝑑𝑡</m:t>
                          </m:r>
                        </m:den>
                      </m:f>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𝑀</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𝑑</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𝐼</m:t>
                              </m:r>
                            </m:e>
                            <m:sub>
                              <m:r>
                                <a:rPr lang="en-US" sz="2800" i="1">
                                  <a:solidFill>
                                    <a:srgbClr val="000000"/>
                                  </a:solidFill>
                                  <a:latin typeface="Cambria Math" panose="02040503050406030204" pitchFamily="18" charset="0"/>
                                </a:rPr>
                                <m:t>2</m:t>
                              </m:r>
                            </m:sub>
                          </m:sSub>
                        </m:num>
                        <m:den>
                          <m:r>
                            <a:rPr lang="en-US" sz="2800" i="1">
                              <a:solidFill>
                                <a:srgbClr val="000000"/>
                              </a:solidFill>
                              <a:latin typeface="Cambria Math" panose="02040503050406030204" pitchFamily="18" charset="0"/>
                            </a:rPr>
                            <m:t>𝑑𝑡</m:t>
                          </m:r>
                        </m:den>
                      </m:f>
                    </m:oMath>
                  </m:oMathPara>
                </a14:m>
                <a:endParaRPr lang="en-US" sz="2800" dirty="0"/>
              </a:p>
            </p:txBody>
          </p:sp>
        </mc:Choice>
        <mc:Fallback xmlns="">
          <p:sp>
            <p:nvSpPr>
              <p:cNvPr id="675850" name="Object 6"/>
              <p:cNvSpPr txBox="1">
                <a:spLocks noRot="1" noChangeAspect="1" noMove="1" noResize="1" noEditPoints="1" noAdjustHandles="1" noChangeArrowheads="1" noChangeShapeType="1" noTextEdit="1"/>
              </p:cNvSpPr>
              <p:nvPr/>
            </p:nvSpPr>
            <p:spPr bwMode="auto">
              <a:xfrm>
                <a:off x="2506663" y="3287713"/>
                <a:ext cx="6421437" cy="1108075"/>
              </a:xfrm>
              <a:prstGeom prst="rect">
                <a:avLst/>
              </a:prstGeom>
              <a:blipFill>
                <a:blip r:embed="rId3"/>
                <a:stretch>
                  <a:fillRect/>
                </a:stretch>
              </a:blipFill>
            </p:spPr>
            <p:txBody>
              <a:bodyPr/>
              <a:lstStyle/>
              <a:p>
                <a:r>
                  <a:rPr lang="en-US">
                    <a:noFill/>
                  </a:rPr>
                  <a:t> </a:t>
                </a:r>
              </a:p>
            </p:txBody>
          </p:sp>
        </mc:Fallback>
      </mc:AlternateContent>
      <p:sp>
        <p:nvSpPr>
          <p:cNvPr id="3" name="矩形 2"/>
          <p:cNvSpPr/>
          <p:nvPr/>
        </p:nvSpPr>
        <p:spPr>
          <a:xfrm>
            <a:off x="1847529" y="4395840"/>
            <a:ext cx="3057247" cy="580159"/>
          </a:xfrm>
          <a:prstGeom prst="rect">
            <a:avLst/>
          </a:prstGeom>
        </p:spPr>
        <p:txBody>
          <a:bodyPr wrap="none">
            <a:spAutoFit/>
          </a:bodyPr>
          <a:lstStyle/>
          <a:p>
            <a:pPr>
              <a:lnSpc>
                <a:spcPct val="120000"/>
              </a:lnSpc>
              <a:spcBef>
                <a:spcPct val="50000"/>
              </a:spcBef>
            </a:pPr>
            <a:r>
              <a:rPr lang="zh-CN" altLang="en-US" sz="2800" dirty="0">
                <a:latin typeface="华文楷体" panose="02010600040101010101" pitchFamily="2" charset="-122"/>
                <a:ea typeface="华文楷体" panose="02010600040101010101" pitchFamily="2" charset="-122"/>
              </a:rPr>
              <a:t>此时，互感定义为</a:t>
            </a:r>
          </a:p>
        </p:txBody>
      </p:sp>
      <p:sp>
        <p:nvSpPr>
          <p:cNvPr id="11" name="Text Box 5"/>
          <p:cNvSpPr txBox="1">
            <a:spLocks noChangeArrowheads="1"/>
          </p:cNvSpPr>
          <p:nvPr/>
        </p:nvSpPr>
        <p:spPr bwMode="auto">
          <a:xfrm>
            <a:off x="1627126" y="5646956"/>
            <a:ext cx="8785729" cy="1097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nSpc>
                <a:spcPct val="120000"/>
              </a:lnSpc>
              <a:spcBef>
                <a:spcPts val="600"/>
              </a:spcBef>
            </a:pPr>
            <a:r>
              <a:rPr lang="zh-CN" altLang="en-US" sz="2800" b="0" i="0" u="none" dirty="0">
                <a:latin typeface="华文楷体" panose="02010600040101010101" pitchFamily="2" charset="-122"/>
                <a:ea typeface="华文楷体" panose="02010600040101010101" pitchFamily="2" charset="-122"/>
              </a:rPr>
              <a:t>此时互感系数除和回路的形状、相对位置有关外，还和电流有关，且不再是常量。</a:t>
            </a:r>
          </a:p>
        </p:txBody>
      </p:sp>
      <mc:AlternateContent xmlns:mc="http://schemas.openxmlformats.org/markup-compatibility/2006" xmlns:a14="http://schemas.microsoft.com/office/drawing/2010/main">
        <mc:Choice Requires="a14">
          <p:sp>
            <p:nvSpPr>
              <p:cNvPr id="4" name="矩形 3"/>
              <p:cNvSpPr/>
              <p:nvPr/>
            </p:nvSpPr>
            <p:spPr>
              <a:xfrm>
                <a:off x="1415480" y="1117638"/>
                <a:ext cx="8928991" cy="1415387"/>
              </a:xfrm>
              <a:prstGeom prst="rect">
                <a:avLst/>
              </a:prstGeom>
            </p:spPr>
            <p:txBody>
              <a:bodyPr wrap="square">
                <a:spAutoFit/>
              </a:bodyPr>
              <a:lstStyle/>
              <a:p>
                <a:pPr algn="ctr">
                  <a:lnSpc>
                    <a:spcPct val="120000"/>
                  </a:lnSpc>
                  <a:spcBef>
                    <a:spcPts val="1200"/>
                  </a:spcBef>
                </a:pPr>
                <a:r>
                  <a:rPr kumimoji="1" lang="zh-CN" altLang="en-US" sz="2800" dirty="0">
                    <a:solidFill>
                      <a:schemeClr val="tx1"/>
                    </a:solidFill>
                    <a:latin typeface="华文楷体" panose="02010600040101010101" pitchFamily="2" charset="-122"/>
                    <a:ea typeface="华文楷体" panose="02010600040101010101" pitchFamily="2" charset="-122"/>
                  </a:rPr>
                  <a:t>两个回路相对位置固定不变，周围没有铁磁性物质时</a:t>
                </a:r>
                <a14:m>
                  <m:oMath xmlns:m="http://schemas.openxmlformats.org/officeDocument/2006/math">
                    <m:r>
                      <a:rPr kumimoji="1" lang="en-US" altLang="zh-CN" sz="2800" b="0" i="1">
                        <a:solidFill>
                          <a:schemeClr val="tx1"/>
                        </a:solidFill>
                        <a:latin typeface="Cambria Math" panose="02040503050406030204" pitchFamily="18" charset="0"/>
                        <a:ea typeface="黑体" panose="02010609060101010101" pitchFamily="49" charset="-122"/>
                      </a:rPr>
                      <m:t>𝑀</m:t>
                    </m:r>
                    <m:r>
                      <a:rPr kumimoji="1" lang="en-US" altLang="zh-CN" sz="2800" b="0" i="1">
                        <a:solidFill>
                          <a:schemeClr val="tx1"/>
                        </a:solidFill>
                        <a:latin typeface="Cambria Math" panose="02040503050406030204" pitchFamily="18" charset="0"/>
                        <a:ea typeface="黑体" panose="02010609060101010101" pitchFamily="49" charset="-122"/>
                      </a:rPr>
                      <m:t>=</m:t>
                    </m:r>
                    <m:f>
                      <m:fPr>
                        <m:ctrlPr>
                          <a:rPr kumimoji="1" lang="en-US" altLang="zh-CN" sz="2800" i="1">
                            <a:solidFill>
                              <a:schemeClr val="tx1"/>
                            </a:solidFill>
                            <a:latin typeface="Cambria Math" panose="02040503050406030204" pitchFamily="18" charset="0"/>
                            <a:ea typeface="黑体" panose="02010609060101010101" pitchFamily="49" charset="-122"/>
                          </a:rPr>
                        </m:ctrlPr>
                      </m:fPr>
                      <m:num>
                        <m:sSub>
                          <m:sSubPr>
                            <m:ctrlPr>
                              <a:rPr lang="en-US" altLang="zh-CN" sz="2800" i="1">
                                <a:solidFill>
                                  <a:schemeClr val="tx1"/>
                                </a:solidFill>
                                <a:latin typeface="Cambria Math" panose="02040503050406030204" pitchFamily="18" charset="0"/>
                                <a:ea typeface="黑体" panose="02010609060101010101" pitchFamily="49" charset="-122"/>
                              </a:rPr>
                            </m:ctrlPr>
                          </m:sSubPr>
                          <m:e>
                            <m:r>
                              <m:rPr>
                                <m:sty m:val="p"/>
                              </m:rPr>
                              <a:rPr lang="zh-CN" altLang="en-US" sz="2800" b="0" i="1">
                                <a:solidFill>
                                  <a:schemeClr val="tx1"/>
                                </a:solidFill>
                                <a:latin typeface="Cambria Math" panose="02040503050406030204" pitchFamily="18" charset="0"/>
                                <a:ea typeface="黑体" panose="02010609060101010101" pitchFamily="49" charset="-122"/>
                              </a:rPr>
                              <m:t>Φ</m:t>
                            </m:r>
                          </m:e>
                          <m:sub>
                            <m:r>
                              <a:rPr lang="en-US" altLang="zh-CN" sz="2800" b="0" i="1">
                                <a:solidFill>
                                  <a:schemeClr val="tx1"/>
                                </a:solidFill>
                                <a:latin typeface="Cambria Math" panose="02040503050406030204" pitchFamily="18" charset="0"/>
                                <a:ea typeface="黑体" panose="02010609060101010101" pitchFamily="49" charset="-122"/>
                              </a:rPr>
                              <m:t>21</m:t>
                            </m:r>
                          </m:sub>
                        </m:sSub>
                      </m:num>
                      <m:den>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1</m:t>
                            </m:r>
                          </m:sub>
                        </m:sSub>
                      </m:den>
                    </m:f>
                    <m:r>
                      <a:rPr kumimoji="1" lang="en-US" altLang="zh-CN" sz="2800" b="0" i="1">
                        <a:solidFill>
                          <a:schemeClr val="tx1"/>
                        </a:solidFill>
                        <a:latin typeface="Cambria Math" panose="02040503050406030204" pitchFamily="18" charset="0"/>
                        <a:ea typeface="黑体" panose="02010609060101010101" pitchFamily="49" charset="-122"/>
                      </a:rPr>
                      <m:t>=</m:t>
                    </m:r>
                    <m:f>
                      <m:fPr>
                        <m:ctrlPr>
                          <a:rPr kumimoji="1" lang="en-US" altLang="zh-CN" sz="2800" i="1">
                            <a:solidFill>
                              <a:schemeClr val="tx1"/>
                            </a:solidFill>
                            <a:latin typeface="Cambria Math" panose="02040503050406030204" pitchFamily="18" charset="0"/>
                            <a:ea typeface="黑体" panose="02010609060101010101" pitchFamily="49" charset="-122"/>
                          </a:rPr>
                        </m:ctrlPr>
                      </m:fPr>
                      <m:num>
                        <m:sSub>
                          <m:sSubPr>
                            <m:ctrlPr>
                              <a:rPr lang="en-US" altLang="zh-CN" sz="2800" i="1">
                                <a:solidFill>
                                  <a:schemeClr val="tx1"/>
                                </a:solidFill>
                                <a:latin typeface="Cambria Math" panose="02040503050406030204" pitchFamily="18" charset="0"/>
                                <a:ea typeface="黑体" panose="02010609060101010101" pitchFamily="49" charset="-122"/>
                              </a:rPr>
                            </m:ctrlPr>
                          </m:sSubPr>
                          <m:e>
                            <m:r>
                              <m:rPr>
                                <m:sty m:val="p"/>
                              </m:rPr>
                              <a:rPr lang="zh-CN" altLang="en-US" sz="2800" b="0" i="1">
                                <a:solidFill>
                                  <a:schemeClr val="tx1"/>
                                </a:solidFill>
                                <a:latin typeface="Cambria Math" panose="02040503050406030204" pitchFamily="18" charset="0"/>
                                <a:ea typeface="黑体" panose="02010609060101010101" pitchFamily="49" charset="-122"/>
                              </a:rPr>
                              <m:t>Φ</m:t>
                            </m:r>
                          </m:e>
                          <m:sub>
                            <m:r>
                              <a:rPr lang="en-US" altLang="zh-CN" sz="2800" b="0" i="1">
                                <a:solidFill>
                                  <a:schemeClr val="tx1"/>
                                </a:solidFill>
                                <a:latin typeface="Cambria Math" panose="02040503050406030204" pitchFamily="18" charset="0"/>
                                <a:ea typeface="黑体" panose="02010609060101010101" pitchFamily="49" charset="-122"/>
                              </a:rPr>
                              <m:t>12</m:t>
                            </m:r>
                          </m:sub>
                        </m:sSub>
                      </m:num>
                      <m:den>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2</m:t>
                            </m:r>
                          </m:sub>
                        </m:sSub>
                      </m:den>
                    </m:f>
                  </m:oMath>
                </a14:m>
                <a:endParaRPr kumimoji="1" lang="zh-CN" altLang="en-US"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1415480" y="1117638"/>
                <a:ext cx="8928991" cy="1415387"/>
              </a:xfrm>
              <a:prstGeom prst="rect">
                <a:avLst/>
              </a:prstGeom>
              <a:blipFill>
                <a:blip r:embed="rId4"/>
                <a:stretch>
                  <a:fillRect t="-429"/>
                </a:stretch>
              </a:blipFill>
            </p:spPr>
            <p:txBody>
              <a:bodyPr/>
              <a:lstStyle/>
              <a:p>
                <a:r>
                  <a:rPr lang="en-US">
                    <a:noFill/>
                  </a:rPr>
                  <a:t> </a:t>
                </a:r>
              </a:p>
            </p:txBody>
          </p:sp>
        </mc:Fallback>
      </mc:AlternateContent>
      <p:sp>
        <p:nvSpPr>
          <p:cNvPr id="13" name="Text Box 9">
            <a:extLst>
              <a:ext uri="{FF2B5EF4-FFF2-40B4-BE49-F238E27FC236}">
                <a16:creationId xmlns:a16="http://schemas.microsoft.com/office/drawing/2014/main" id="{93613D07-DA8D-455F-931C-EE180D4ED2B1}"/>
              </a:ext>
            </a:extLst>
          </p:cNvPr>
          <p:cNvSpPr txBox="1">
            <a:spLocks noChangeArrowheads="1"/>
          </p:cNvSpPr>
          <p:nvPr/>
        </p:nvSpPr>
        <p:spPr bwMode="auto">
          <a:xfrm>
            <a:off x="903231" y="547209"/>
            <a:ext cx="2778477" cy="646331"/>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med" len="lg"/>
                <a:tailEnd type="none" w="med" len="lg"/>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互感系数</a:t>
            </a:r>
          </a:p>
        </p:txBody>
      </p:sp>
    </p:spTree>
    <p:extLst>
      <p:ext uri="{BB962C8B-B14F-4D97-AF65-F5344CB8AC3E}">
        <p14:creationId xmlns:p14="http://schemas.microsoft.com/office/powerpoint/2010/main" val="28599293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58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8" grpId="0"/>
      <p:bldP spid="675849" grpId="0"/>
      <p:bldP spid="675850" grpId="0"/>
      <p:bldP spid="3"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6589" name="Text Box 34"/>
              <p:cNvSpPr txBox="1">
                <a:spLocks noChangeArrowheads="1"/>
              </p:cNvSpPr>
              <p:nvPr/>
            </p:nvSpPr>
            <p:spPr bwMode="auto">
              <a:xfrm>
                <a:off x="1451130" y="1995439"/>
                <a:ext cx="5909173" cy="5777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800" b="0" i="0" u="none" dirty="0">
                    <a:solidFill>
                      <a:schemeClr val="tx1"/>
                    </a:solidFill>
                    <a:latin typeface="华文楷体" panose="02010600040101010101" pitchFamily="2" charset="-122"/>
                    <a:ea typeface="华文楷体" panose="02010600040101010101" pitchFamily="2" charset="-122"/>
                  </a:rPr>
                  <a:t>设长直导线通电流</a:t>
                </a:r>
                <a14:m>
                  <m:oMath xmlns:m="http://schemas.openxmlformats.org/officeDocument/2006/math">
                    <m:r>
                      <a:rPr kumimoji="1" lang="en-US" altLang="zh-CN" sz="2800" b="0" i="1" u="none" dirty="0">
                        <a:solidFill>
                          <a:schemeClr val="tx1"/>
                        </a:solidFill>
                        <a:latin typeface="Cambria Math" panose="02040503050406030204" pitchFamily="18" charset="0"/>
                        <a:ea typeface="黑体" panose="02010609060101010101" pitchFamily="49" charset="-122"/>
                      </a:rPr>
                      <m:t>𝐼</m:t>
                    </m:r>
                  </m:oMath>
                </a14:m>
                <a:r>
                  <a:rPr kumimoji="1" lang="zh-CN" altLang="en-US" sz="2800" b="0" i="0" u="none" dirty="0">
                    <a:solidFill>
                      <a:schemeClr val="tx1"/>
                    </a:solidFill>
                    <a:latin typeface="华文楷体" panose="02010600040101010101" pitchFamily="2" charset="-122"/>
                    <a:ea typeface="华文楷体" panose="02010600040101010101" pitchFamily="2" charset="-122"/>
                  </a:rPr>
                  <a:t>，则</a:t>
                </a:r>
                <a:endParaRPr kumimoji="1" lang="en-US" altLang="zh-CN"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66589" name="Text Box 34"/>
              <p:cNvSpPr txBox="1">
                <a:spLocks noRot="1" noChangeAspect="1" noMove="1" noResize="1" noEditPoints="1" noAdjustHandles="1" noChangeArrowheads="1" noChangeShapeType="1" noTextEdit="1"/>
              </p:cNvSpPr>
              <p:nvPr/>
            </p:nvSpPr>
            <p:spPr bwMode="auto">
              <a:xfrm>
                <a:off x="1451130" y="1995439"/>
                <a:ext cx="5909173" cy="577787"/>
              </a:xfrm>
              <a:prstGeom prst="rect">
                <a:avLst/>
              </a:prstGeom>
              <a:blipFill>
                <a:blip r:embed="rId2"/>
                <a:stretch>
                  <a:fillRect l="-2064" t="-1053" b="-284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6591" name="Line 15"/>
          <p:cNvSpPr>
            <a:spLocks noChangeShapeType="1"/>
          </p:cNvSpPr>
          <p:nvPr/>
        </p:nvSpPr>
        <p:spPr bwMode="auto">
          <a:xfrm>
            <a:off x="8030022" y="2223419"/>
            <a:ext cx="0" cy="2286000"/>
          </a:xfrm>
          <a:prstGeom prst="line">
            <a:avLst/>
          </a:prstGeom>
          <a:noFill/>
          <a:ln w="38100">
            <a:solidFill>
              <a:srgbClr val="0000FF"/>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2" name="Rectangle 16"/>
          <p:cNvSpPr>
            <a:spLocks noChangeArrowheads="1"/>
          </p:cNvSpPr>
          <p:nvPr/>
        </p:nvSpPr>
        <p:spPr bwMode="auto">
          <a:xfrm>
            <a:off x="8792022" y="2756819"/>
            <a:ext cx="990600" cy="1219200"/>
          </a:xfrm>
          <a:prstGeom prst="rect">
            <a:avLst/>
          </a:prstGeom>
          <a:noFill/>
          <a:ln w="4445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0" i="0" u="none"/>
          </a:p>
        </p:txBody>
      </p:sp>
      <p:sp>
        <p:nvSpPr>
          <p:cNvPr id="66593" name="Line 17"/>
          <p:cNvSpPr>
            <a:spLocks noChangeShapeType="1"/>
          </p:cNvSpPr>
          <p:nvPr/>
        </p:nvSpPr>
        <p:spPr bwMode="auto">
          <a:xfrm>
            <a:off x="9782622" y="2756819"/>
            <a:ext cx="609600" cy="0"/>
          </a:xfrm>
          <a:prstGeom prst="line">
            <a:avLst/>
          </a:prstGeom>
          <a:noFill/>
          <a:ln w="19050">
            <a:solidFill>
              <a:schemeClr val="tx1"/>
            </a:solidFill>
            <a:prstDash val="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4" name="Line 18"/>
          <p:cNvSpPr>
            <a:spLocks noChangeShapeType="1"/>
          </p:cNvSpPr>
          <p:nvPr/>
        </p:nvSpPr>
        <p:spPr bwMode="auto">
          <a:xfrm>
            <a:off x="9782622" y="3976019"/>
            <a:ext cx="609600" cy="0"/>
          </a:xfrm>
          <a:prstGeom prst="line">
            <a:avLst/>
          </a:prstGeom>
          <a:noFill/>
          <a:ln w="19050">
            <a:solidFill>
              <a:schemeClr val="tx1"/>
            </a:solidFill>
            <a:prstDash val="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5" name="Line 19"/>
          <p:cNvSpPr>
            <a:spLocks noChangeShapeType="1"/>
          </p:cNvSpPr>
          <p:nvPr/>
        </p:nvSpPr>
        <p:spPr bwMode="auto">
          <a:xfrm>
            <a:off x="10163622" y="2756819"/>
            <a:ext cx="0" cy="1219200"/>
          </a:xfrm>
          <a:prstGeom prst="line">
            <a:avLst/>
          </a:prstGeom>
          <a:noFill/>
          <a:ln w="19050">
            <a:solidFill>
              <a:srgbClr val="FF0066"/>
            </a:solidFill>
            <a:prstDash val="dash"/>
            <a:round/>
            <a:headEnd type="triangle" w="med" len="me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6" name="Line 20"/>
          <p:cNvSpPr>
            <a:spLocks noChangeShapeType="1"/>
          </p:cNvSpPr>
          <p:nvPr/>
        </p:nvSpPr>
        <p:spPr bwMode="auto">
          <a:xfrm>
            <a:off x="8030022" y="3747419"/>
            <a:ext cx="762000" cy="0"/>
          </a:xfrm>
          <a:prstGeom prst="line">
            <a:avLst/>
          </a:prstGeom>
          <a:noFill/>
          <a:ln w="44450">
            <a:solidFill>
              <a:srgbClr val="FF0066"/>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7" name="Line 21"/>
          <p:cNvSpPr>
            <a:spLocks noChangeShapeType="1"/>
          </p:cNvSpPr>
          <p:nvPr/>
        </p:nvSpPr>
        <p:spPr bwMode="auto">
          <a:xfrm>
            <a:off x="8792022" y="2552032"/>
            <a:ext cx="990600" cy="0"/>
          </a:xfrm>
          <a:prstGeom prst="line">
            <a:avLst/>
          </a:prstGeom>
          <a:noFill/>
          <a:ln w="12700">
            <a:solidFill>
              <a:srgbClr val="FF0066"/>
            </a:solidFill>
            <a:prstDash val="dash"/>
            <a:round/>
            <a:headEnd type="triangle" w="med" len="me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66571" name="Object 11"/>
              <p:cNvSpPr txBox="1"/>
              <p:nvPr/>
            </p:nvSpPr>
            <p:spPr bwMode="auto">
              <a:xfrm>
                <a:off x="9228585" y="2220244"/>
                <a:ext cx="295275" cy="40798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𝑏</m:t>
                      </m:r>
                    </m:oMath>
                  </m:oMathPara>
                </a14:m>
                <a:endParaRPr lang="en-US"/>
              </a:p>
            </p:txBody>
          </p:sp>
        </mc:Choice>
        <mc:Fallback xmlns="">
          <p:sp>
            <p:nvSpPr>
              <p:cNvPr id="66571" name="Object 11"/>
              <p:cNvSpPr txBox="1">
                <a:spLocks noRot="1" noChangeAspect="1" noMove="1" noResize="1" noEditPoints="1" noAdjustHandles="1" noChangeArrowheads="1" noChangeShapeType="1" noTextEdit="1"/>
              </p:cNvSpPr>
              <p:nvPr/>
            </p:nvSpPr>
            <p:spPr bwMode="auto">
              <a:xfrm>
                <a:off x="9228585" y="2220244"/>
                <a:ext cx="295275" cy="407988"/>
              </a:xfrm>
              <a:prstGeom prst="rect">
                <a:avLst/>
              </a:prstGeom>
              <a:blipFill>
                <a:blip r:embed="rId3"/>
                <a:stretch>
                  <a:fillRect r="-2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572" name="Object 12"/>
              <p:cNvSpPr txBox="1"/>
              <p:nvPr/>
            </p:nvSpPr>
            <p:spPr bwMode="auto">
              <a:xfrm>
                <a:off x="8377685" y="3572794"/>
                <a:ext cx="265113" cy="336550"/>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𝑑</m:t>
                      </m:r>
                    </m:oMath>
                  </m:oMathPara>
                </a14:m>
                <a:endParaRPr lang="en-US"/>
              </a:p>
            </p:txBody>
          </p:sp>
        </mc:Choice>
        <mc:Fallback xmlns="">
          <p:sp>
            <p:nvSpPr>
              <p:cNvPr id="66572" name="Object 12"/>
              <p:cNvSpPr txBox="1">
                <a:spLocks noRot="1" noChangeAspect="1" noMove="1" noResize="1" noEditPoints="1" noAdjustHandles="1" noChangeArrowheads="1" noChangeShapeType="1" noTextEdit="1"/>
              </p:cNvSpPr>
              <p:nvPr/>
            </p:nvSpPr>
            <p:spPr bwMode="auto">
              <a:xfrm>
                <a:off x="8377685" y="3572794"/>
                <a:ext cx="265113" cy="336550"/>
              </a:xfrm>
              <a:prstGeom prst="rect">
                <a:avLst/>
              </a:prstGeom>
              <a:blipFill>
                <a:blip r:embed="rId4"/>
                <a:stretch>
                  <a:fillRect r="-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573" name="Object 13"/>
              <p:cNvSpPr txBox="1"/>
              <p:nvPr/>
            </p:nvSpPr>
            <p:spPr bwMode="auto">
              <a:xfrm>
                <a:off x="10131872" y="3158457"/>
                <a:ext cx="428625" cy="45561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𝑙</m:t>
                      </m:r>
                    </m:oMath>
                  </m:oMathPara>
                </a14:m>
                <a:endParaRPr lang="en-US"/>
              </a:p>
            </p:txBody>
          </p:sp>
        </mc:Choice>
        <mc:Fallback xmlns="">
          <p:sp>
            <p:nvSpPr>
              <p:cNvPr id="66573" name="Object 13"/>
              <p:cNvSpPr txBox="1">
                <a:spLocks noRot="1" noChangeAspect="1" noMove="1" noResize="1" noEditPoints="1" noAdjustHandles="1" noChangeArrowheads="1" noChangeShapeType="1" noTextEdit="1"/>
              </p:cNvSpPr>
              <p:nvPr/>
            </p:nvSpPr>
            <p:spPr bwMode="auto">
              <a:xfrm>
                <a:off x="10131872" y="3158457"/>
                <a:ext cx="428625" cy="455613"/>
              </a:xfrm>
              <a:prstGeom prst="rect">
                <a:avLst/>
              </a:prstGeom>
              <a:blipFill>
                <a:blip r:embed="rId5"/>
                <a:stretch>
                  <a:fillRect/>
                </a:stretch>
              </a:blipFill>
            </p:spPr>
            <p:txBody>
              <a:bodyPr/>
              <a:lstStyle/>
              <a:p>
                <a:r>
                  <a:rPr lang="en-US">
                    <a:noFill/>
                  </a:rPr>
                  <a:t> </a:t>
                </a:r>
              </a:p>
            </p:txBody>
          </p:sp>
        </mc:Fallback>
      </mc:AlternateContent>
      <p:sp>
        <p:nvSpPr>
          <p:cNvPr id="66598" name="Line 25"/>
          <p:cNvSpPr>
            <a:spLocks noChangeShapeType="1"/>
          </p:cNvSpPr>
          <p:nvPr/>
        </p:nvSpPr>
        <p:spPr bwMode="auto">
          <a:xfrm>
            <a:off x="8030022" y="4433219"/>
            <a:ext cx="0" cy="762000"/>
          </a:xfrm>
          <a:prstGeom prst="line">
            <a:avLst/>
          </a:prstGeom>
          <a:noFill/>
          <a:ln w="44450">
            <a:solidFill>
              <a:schemeClr val="tx1"/>
            </a:solidFill>
            <a:prstDash val="dash"/>
            <a:round/>
            <a:headEnd/>
            <a:tailEnd type="non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6599" name="Line 26"/>
          <p:cNvSpPr>
            <a:spLocks noChangeShapeType="1"/>
          </p:cNvSpPr>
          <p:nvPr/>
        </p:nvSpPr>
        <p:spPr bwMode="auto">
          <a:xfrm>
            <a:off x="8030022" y="1918619"/>
            <a:ext cx="0" cy="762000"/>
          </a:xfrm>
          <a:prstGeom prst="line">
            <a:avLst/>
          </a:prstGeom>
          <a:noFill/>
          <a:ln w="44450">
            <a:solidFill>
              <a:schemeClr val="tx1"/>
            </a:solidFill>
            <a:prstDash val="dash"/>
            <a:round/>
            <a:headEnd/>
            <a:tailEnd type="non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6600" name="Line 38"/>
          <p:cNvSpPr>
            <a:spLocks noChangeShapeType="1"/>
          </p:cNvSpPr>
          <p:nvPr/>
        </p:nvSpPr>
        <p:spPr bwMode="auto">
          <a:xfrm>
            <a:off x="8030022" y="4128419"/>
            <a:ext cx="24384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6601" name="Line 41"/>
          <p:cNvSpPr>
            <a:spLocks noChangeShapeType="1"/>
          </p:cNvSpPr>
          <p:nvPr/>
        </p:nvSpPr>
        <p:spPr bwMode="auto">
          <a:xfrm flipV="1">
            <a:off x="8792022" y="2452019"/>
            <a:ext cx="0" cy="304800"/>
          </a:xfrm>
          <a:prstGeom prst="line">
            <a:avLst/>
          </a:prstGeom>
          <a:noFill/>
          <a:ln w="9525">
            <a:solidFill>
              <a:schemeClr val="tx1"/>
            </a:solidFill>
            <a:round/>
            <a:headEnd/>
            <a:tailEnd type="non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6602" name="Line 42"/>
          <p:cNvSpPr>
            <a:spLocks noChangeShapeType="1"/>
          </p:cNvSpPr>
          <p:nvPr/>
        </p:nvSpPr>
        <p:spPr bwMode="auto">
          <a:xfrm flipV="1">
            <a:off x="9782622" y="2452019"/>
            <a:ext cx="0" cy="304800"/>
          </a:xfrm>
          <a:prstGeom prst="line">
            <a:avLst/>
          </a:prstGeom>
          <a:noFill/>
          <a:ln w="9525">
            <a:solidFill>
              <a:schemeClr val="tx1"/>
            </a:solidFill>
            <a:round/>
            <a:headEnd/>
            <a:tailEnd type="none" w="sm" len="lg"/>
          </a:ln>
          <a:extLst>
            <a:ext uri="{909E8E84-426E-40DD-AFC4-6F175D3DCCD1}">
              <a14:hiddenFill xmlns:a14="http://schemas.microsoft.com/office/drawing/2010/main">
                <a:noFill/>
              </a14:hiddenFill>
            </a:ext>
          </a:extLst>
        </p:spPr>
        <p:txBody>
          <a:bodyPr wrap="none"/>
          <a:lstStyle/>
          <a:p>
            <a:endParaRPr lang="zh-CN" altLang="en-US"/>
          </a:p>
        </p:txBody>
      </p:sp>
      <p:grpSp>
        <p:nvGrpSpPr>
          <p:cNvPr id="66603" name="Group 11"/>
          <p:cNvGrpSpPr>
            <a:grpSpLocks/>
          </p:cNvGrpSpPr>
          <p:nvPr/>
        </p:nvGrpSpPr>
        <p:grpSpPr bwMode="auto">
          <a:xfrm>
            <a:off x="7680772" y="2591719"/>
            <a:ext cx="349250" cy="254000"/>
            <a:chOff x="404" y="1144"/>
            <a:chExt cx="220" cy="160"/>
          </a:xfrm>
        </p:grpSpPr>
        <p:sp>
          <p:nvSpPr>
            <p:cNvPr id="66604" name="Line 12"/>
            <p:cNvSpPr>
              <a:spLocks noChangeShapeType="1"/>
            </p:cNvSpPr>
            <p:nvPr/>
          </p:nvSpPr>
          <p:spPr bwMode="auto">
            <a:xfrm flipV="1">
              <a:off x="624" y="1152"/>
              <a:ext cx="0" cy="144"/>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66576" name="Object 16"/>
                <p:cNvSpPr txBox="1"/>
                <p:nvPr/>
              </p:nvSpPr>
              <p:spPr bwMode="auto">
                <a:xfrm>
                  <a:off x="404" y="1144"/>
                  <a:ext cx="133" cy="160"/>
                </a:xfrm>
                <a:prstGeom prst="rect">
                  <a:avLst/>
                </a:prstGeom>
                <a:noFill/>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𝐼</m:t>
                        </m:r>
                      </m:oMath>
                    </m:oMathPara>
                  </a14:m>
                  <a:endParaRPr lang="en-US"/>
                </a:p>
              </p:txBody>
            </p:sp>
          </mc:Choice>
          <mc:Fallback xmlns="">
            <p:sp>
              <p:nvSpPr>
                <p:cNvPr id="66576" name="Object 16"/>
                <p:cNvSpPr txBox="1">
                  <a:spLocks noRot="1" noChangeAspect="1" noMove="1" noResize="1" noEditPoints="1" noAdjustHandles="1" noChangeArrowheads="1" noChangeShapeType="1" noTextEdit="1"/>
                </p:cNvSpPr>
                <p:nvPr/>
              </p:nvSpPr>
              <p:spPr bwMode="auto">
                <a:xfrm>
                  <a:off x="404" y="1144"/>
                  <a:ext cx="133" cy="160"/>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6574" name="Object 14"/>
              <p:cNvSpPr txBox="1"/>
              <p:nvPr/>
            </p:nvSpPr>
            <p:spPr bwMode="auto">
              <a:xfrm>
                <a:off x="10146160" y="4204619"/>
                <a:ext cx="287338" cy="314325"/>
              </a:xfrm>
              <a:prstGeom prst="rect">
                <a:avLst/>
              </a:prstGeom>
              <a:noFill/>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𝑥</m:t>
                      </m:r>
                    </m:oMath>
                  </m:oMathPara>
                </a14:m>
                <a:endParaRPr lang="en-US"/>
              </a:p>
            </p:txBody>
          </p:sp>
        </mc:Choice>
        <mc:Fallback xmlns="">
          <p:sp>
            <p:nvSpPr>
              <p:cNvPr id="66574" name="Object 14"/>
              <p:cNvSpPr txBox="1">
                <a:spLocks noRot="1" noChangeAspect="1" noMove="1" noResize="1" noEditPoints="1" noAdjustHandles="1" noChangeArrowheads="1" noChangeShapeType="1" noTextEdit="1"/>
              </p:cNvSpPr>
              <p:nvPr/>
            </p:nvSpPr>
            <p:spPr bwMode="auto">
              <a:xfrm>
                <a:off x="10146160" y="4204619"/>
                <a:ext cx="287338" cy="31432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575" name="Object 15"/>
              <p:cNvSpPr txBox="1"/>
              <p:nvPr/>
            </p:nvSpPr>
            <p:spPr bwMode="auto">
              <a:xfrm>
                <a:off x="7682360" y="3976019"/>
                <a:ext cx="347663" cy="4191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𝑜</m:t>
                      </m:r>
                    </m:oMath>
                  </m:oMathPara>
                </a14:m>
                <a:endParaRPr lang="en-US"/>
              </a:p>
            </p:txBody>
          </p:sp>
        </mc:Choice>
        <mc:Fallback xmlns="">
          <p:sp>
            <p:nvSpPr>
              <p:cNvPr id="66575" name="Object 15"/>
              <p:cNvSpPr txBox="1">
                <a:spLocks noRot="1" noChangeAspect="1" noMove="1" noResize="1" noEditPoints="1" noAdjustHandles="1" noChangeArrowheads="1" noChangeShapeType="1" noTextEdit="1"/>
              </p:cNvSpPr>
              <p:nvPr/>
            </p:nvSpPr>
            <p:spPr bwMode="auto">
              <a:xfrm>
                <a:off x="7682360" y="3976019"/>
                <a:ext cx="347663" cy="419100"/>
              </a:xfrm>
              <a:prstGeom prst="rect">
                <a:avLst/>
              </a:prstGeom>
              <a:blipFill>
                <a:blip r:embed="rId8"/>
                <a:stretch>
                  <a:fillRect/>
                </a:stretch>
              </a:blipFill>
            </p:spPr>
            <p:txBody>
              <a:bodyPr/>
              <a:lstStyle/>
              <a:p>
                <a:r>
                  <a:rPr lang="en-US">
                    <a:noFill/>
                  </a:rPr>
                  <a:t> </a:t>
                </a:r>
              </a:p>
            </p:txBody>
          </p:sp>
        </mc:Fallback>
      </mc:AlternateContent>
      <p:sp>
        <p:nvSpPr>
          <p:cNvPr id="184325" name="Rectangle 5" descr="浅色上对角线"/>
          <p:cNvSpPr>
            <a:spLocks noChangeArrowheads="1"/>
          </p:cNvSpPr>
          <p:nvPr/>
        </p:nvSpPr>
        <p:spPr bwMode="auto">
          <a:xfrm>
            <a:off x="9048783" y="2766740"/>
            <a:ext cx="179802" cy="1191943"/>
          </a:xfrm>
          <a:prstGeom prst="rect">
            <a:avLst/>
          </a:prstGeom>
          <a:pattFill prst="ltUpDiag">
            <a:fgClr>
              <a:srgbClr val="0000FF"/>
            </a:fgClr>
            <a:bgClr>
              <a:schemeClr val="accent1"/>
            </a:bgClr>
          </a:pattFill>
          <a:ln w="9525">
            <a:solidFill>
              <a:schemeClr val="tx1"/>
            </a:solidFill>
            <a:miter lim="800000"/>
            <a:headEnd/>
            <a:tailEnd/>
          </a:ln>
        </p:spPr>
        <p:txBody>
          <a:bodyPr wrap="none" anchor="ct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0" i="0" u="none"/>
          </a:p>
        </p:txBody>
      </p:sp>
      <p:grpSp>
        <p:nvGrpSpPr>
          <p:cNvPr id="5" name="Group 53"/>
          <p:cNvGrpSpPr>
            <a:grpSpLocks/>
          </p:cNvGrpSpPr>
          <p:nvPr/>
        </p:nvGrpSpPr>
        <p:grpSpPr bwMode="auto">
          <a:xfrm>
            <a:off x="8053835" y="4038328"/>
            <a:ext cx="1600200" cy="781050"/>
            <a:chOff x="624" y="3120"/>
            <a:chExt cx="1008" cy="492"/>
          </a:xfrm>
        </p:grpSpPr>
        <mc:AlternateContent xmlns:mc="http://schemas.openxmlformats.org/markup-compatibility/2006" xmlns:a14="http://schemas.microsoft.com/office/drawing/2010/main">
          <mc:Choice Requires="a14">
            <p:sp>
              <p:nvSpPr>
                <p:cNvPr id="66568" name="Object 8"/>
                <p:cNvSpPr txBox="1"/>
                <p:nvPr/>
              </p:nvSpPr>
              <p:spPr bwMode="auto">
                <a:xfrm>
                  <a:off x="1175" y="3372"/>
                  <a:ext cx="250" cy="24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m:rPr>
                            <m:sty m:val="p"/>
                          </m:rPr>
                          <a:rPr lang="en-US" i="0">
                            <a:solidFill>
                              <a:srgbClr val="000000"/>
                            </a:solidFill>
                            <a:latin typeface="Cambria Math" panose="02040503050406030204" pitchFamily="18" charset="0"/>
                          </a:rPr>
                          <m:t>d</m:t>
                        </m:r>
                        <m:r>
                          <a:rPr lang="en-US" i="1">
                            <a:solidFill>
                              <a:srgbClr val="000000"/>
                            </a:solidFill>
                            <a:latin typeface="Cambria Math" panose="02040503050406030204" pitchFamily="18" charset="0"/>
                          </a:rPr>
                          <m:t>𝑥</m:t>
                        </m:r>
                      </m:oMath>
                    </m:oMathPara>
                  </a14:m>
                  <a:endParaRPr lang="en-US"/>
                </a:p>
              </p:txBody>
            </p:sp>
          </mc:Choice>
          <mc:Fallback xmlns="">
            <p:sp>
              <p:nvSpPr>
                <p:cNvPr id="66568" name="Object 8"/>
                <p:cNvSpPr txBox="1">
                  <a:spLocks noRot="1" noChangeAspect="1" noMove="1" noResize="1" noEditPoints="1" noAdjustHandles="1" noChangeArrowheads="1" noChangeShapeType="1" noTextEdit="1"/>
                </p:cNvSpPr>
                <p:nvPr/>
              </p:nvSpPr>
              <p:spPr bwMode="auto">
                <a:xfrm>
                  <a:off x="1175" y="3372"/>
                  <a:ext cx="250" cy="240"/>
                </a:xfrm>
                <a:prstGeom prst="rect">
                  <a:avLst/>
                </a:prstGeom>
                <a:blipFill>
                  <a:blip r:embed="rId9"/>
                  <a:stretch>
                    <a:fillRect r="-1538"/>
                  </a:stretch>
                </a:blipFill>
              </p:spPr>
              <p:txBody>
                <a:bodyPr/>
                <a:lstStyle/>
                <a:p>
                  <a:r>
                    <a:rPr lang="en-US">
                      <a:noFill/>
                    </a:rPr>
                    <a:t> </a:t>
                  </a:r>
                </a:p>
              </p:txBody>
            </p:sp>
          </mc:Fallback>
        </mc:AlternateContent>
        <p:sp>
          <p:nvSpPr>
            <p:cNvPr id="66584" name="Line 7"/>
            <p:cNvSpPr>
              <a:spLocks noChangeShapeType="1"/>
            </p:cNvSpPr>
            <p:nvPr/>
          </p:nvSpPr>
          <p:spPr bwMode="auto">
            <a:xfrm>
              <a:off x="1248" y="3120"/>
              <a:ext cx="0" cy="288"/>
            </a:xfrm>
            <a:prstGeom prst="line">
              <a:avLst/>
            </a:prstGeom>
            <a:noFill/>
            <a:ln w="19050">
              <a:solidFill>
                <a:srgbClr val="000000"/>
              </a:solidFill>
              <a:prstDash val="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5" name="Line 8"/>
            <p:cNvSpPr>
              <a:spLocks noChangeShapeType="1"/>
            </p:cNvSpPr>
            <p:nvPr/>
          </p:nvSpPr>
          <p:spPr bwMode="auto">
            <a:xfrm>
              <a:off x="1344" y="3120"/>
              <a:ext cx="0" cy="288"/>
            </a:xfrm>
            <a:prstGeom prst="line">
              <a:avLst/>
            </a:prstGeom>
            <a:noFill/>
            <a:ln w="19050">
              <a:solidFill>
                <a:srgbClr val="000000"/>
              </a:solidFill>
              <a:prstDash val="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6" name="Line 9"/>
            <p:cNvSpPr>
              <a:spLocks noChangeShapeType="1"/>
            </p:cNvSpPr>
            <p:nvPr/>
          </p:nvSpPr>
          <p:spPr bwMode="auto">
            <a:xfrm>
              <a:off x="1056" y="3312"/>
              <a:ext cx="192" cy="0"/>
            </a:xfrm>
            <a:prstGeom prst="line">
              <a:avLst/>
            </a:prstGeom>
            <a:noFill/>
            <a:ln w="9525">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7" name="Line 10"/>
            <p:cNvSpPr>
              <a:spLocks noChangeShapeType="1"/>
            </p:cNvSpPr>
            <p:nvPr/>
          </p:nvSpPr>
          <p:spPr bwMode="auto">
            <a:xfrm>
              <a:off x="1344" y="3312"/>
              <a:ext cx="288" cy="0"/>
            </a:xfrm>
            <a:prstGeom prst="line">
              <a:avLst/>
            </a:prstGeom>
            <a:noFill/>
            <a:ln w="9525">
              <a:solidFill>
                <a:srgbClr val="FF0000"/>
              </a:solidFill>
              <a:round/>
              <a:headEnd type="triangle" w="med" len="me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8" name="Line 39"/>
            <p:cNvSpPr>
              <a:spLocks noChangeShapeType="1"/>
            </p:cNvSpPr>
            <p:nvPr/>
          </p:nvSpPr>
          <p:spPr bwMode="auto">
            <a:xfrm>
              <a:off x="624" y="3312"/>
              <a:ext cx="288" cy="0"/>
            </a:xfrm>
            <a:prstGeom prst="line">
              <a:avLst/>
            </a:prstGeom>
            <a:noFill/>
            <a:ln w="9525">
              <a:solidFill>
                <a:srgbClr val="FF0000"/>
              </a:solidFill>
              <a:round/>
              <a:headEnd type="triangle" w="med" len="me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66569" name="Object 9"/>
                <p:cNvSpPr txBox="1"/>
                <p:nvPr/>
              </p:nvSpPr>
              <p:spPr bwMode="auto">
                <a:xfrm>
                  <a:off x="853" y="3216"/>
                  <a:ext cx="195" cy="214"/>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𝑥</m:t>
                        </m:r>
                      </m:oMath>
                    </m:oMathPara>
                  </a14:m>
                  <a:endParaRPr lang="en-US"/>
                </a:p>
              </p:txBody>
            </p:sp>
          </mc:Choice>
          <mc:Fallback xmlns="">
            <p:sp>
              <p:nvSpPr>
                <p:cNvPr id="66569" name="Object 9"/>
                <p:cNvSpPr txBox="1">
                  <a:spLocks noRot="1" noChangeAspect="1" noMove="1" noResize="1" noEditPoints="1" noAdjustHandles="1" noChangeArrowheads="1" noChangeShapeType="1" noTextEdit="1"/>
                </p:cNvSpPr>
                <p:nvPr/>
              </p:nvSpPr>
              <p:spPr bwMode="auto">
                <a:xfrm>
                  <a:off x="853" y="3216"/>
                  <a:ext cx="195" cy="214"/>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6583" name="Text Box 31"/>
              <p:cNvSpPr txBox="1">
                <a:spLocks noChangeArrowheads="1"/>
              </p:cNvSpPr>
              <p:nvPr/>
            </p:nvSpPr>
            <p:spPr bwMode="auto">
              <a:xfrm>
                <a:off x="1633487" y="44040"/>
                <a:ext cx="9034513" cy="164352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800" b="0" i="0" u="none" dirty="0">
                    <a:solidFill>
                      <a:srgbClr val="000000"/>
                    </a:solidFill>
                    <a:latin typeface="+mn-lt"/>
                    <a:ea typeface="华文楷体" panose="02010600040101010101" pitchFamily="2" charset="-122"/>
                  </a:rPr>
                  <a:t>例</a:t>
                </a:r>
                <a:r>
                  <a:rPr lang="en-US" altLang="zh-CN" sz="2800" b="0" i="0" u="none" dirty="0">
                    <a:solidFill>
                      <a:srgbClr val="000000"/>
                    </a:solidFill>
                    <a:latin typeface="+mn-lt"/>
                    <a:ea typeface="华文楷体" panose="02010600040101010101" pitchFamily="2" charset="-122"/>
                  </a:rPr>
                  <a:t>:  </a:t>
                </a:r>
                <a:r>
                  <a:rPr lang="zh-CN" altLang="en-US" sz="2800" b="0" i="0" u="none" dirty="0">
                    <a:solidFill>
                      <a:srgbClr val="000000"/>
                    </a:solidFill>
                    <a:latin typeface="+mn-lt"/>
                    <a:ea typeface="华文楷体" panose="02010600040101010101" pitchFamily="2" charset="-122"/>
                  </a:rPr>
                  <a:t>在磁导率为</a:t>
                </a:r>
                <a14:m>
                  <m:oMath xmlns:m="http://schemas.openxmlformats.org/officeDocument/2006/math">
                    <m:r>
                      <a:rPr lang="zh-CN" altLang="en-US" sz="2800" b="0" i="1" u="none">
                        <a:solidFill>
                          <a:srgbClr val="000000"/>
                        </a:solidFill>
                        <a:latin typeface="Cambria Math" panose="02040503050406030204" pitchFamily="18" charset="0"/>
                      </a:rPr>
                      <m:t>𝜇</m:t>
                    </m:r>
                  </m:oMath>
                </a14:m>
                <a:r>
                  <a:rPr lang="zh-CN" altLang="en-US" sz="2800" b="0" i="0" u="none" dirty="0">
                    <a:solidFill>
                      <a:srgbClr val="000000"/>
                    </a:solidFill>
                    <a:latin typeface="+mn-lt"/>
                    <a:ea typeface="华文楷体" panose="02010600040101010101" pitchFamily="2" charset="-122"/>
                  </a:rPr>
                  <a:t>的均匀无限大的磁介质中</a:t>
                </a:r>
                <a:r>
                  <a:rPr lang="en-US" altLang="zh-CN" sz="2800" b="0" i="0" u="none" dirty="0">
                    <a:solidFill>
                      <a:srgbClr val="000000"/>
                    </a:solidFill>
                    <a:latin typeface="+mn-lt"/>
                    <a:ea typeface="华文楷体" panose="02010600040101010101" pitchFamily="2" charset="-122"/>
                  </a:rPr>
                  <a:t>,  </a:t>
                </a:r>
                <a:r>
                  <a:rPr lang="zh-CN" altLang="en-US" sz="2800" b="0" i="0" u="none" dirty="0">
                    <a:solidFill>
                      <a:srgbClr val="000000"/>
                    </a:solidFill>
                    <a:latin typeface="+mn-lt"/>
                    <a:ea typeface="华文楷体" panose="02010600040101010101" pitchFamily="2" charset="-122"/>
                  </a:rPr>
                  <a:t>一</a:t>
                </a:r>
                <a:r>
                  <a:rPr kumimoji="1" lang="zh-CN" altLang="en-US" sz="2800" b="0" i="0" u="none" dirty="0">
                    <a:solidFill>
                      <a:srgbClr val="000000"/>
                    </a:solidFill>
                    <a:latin typeface="+mn-lt"/>
                    <a:ea typeface="华文楷体" panose="02010600040101010101" pitchFamily="2" charset="-122"/>
                  </a:rPr>
                  <a:t>无限长直导线与一宽长分别为</a:t>
                </a:r>
                <a14:m>
                  <m:oMath xmlns:m="http://schemas.openxmlformats.org/officeDocument/2006/math">
                    <m:r>
                      <a:rPr kumimoji="1" lang="en-US" altLang="zh-CN" sz="2800" b="0" i="1" u="none" dirty="0">
                        <a:solidFill>
                          <a:srgbClr val="000000"/>
                        </a:solidFill>
                        <a:latin typeface="Cambria Math" panose="02040503050406030204" pitchFamily="18" charset="0"/>
                        <a:ea typeface="黑体" panose="02010609060101010101" pitchFamily="49" charset="-122"/>
                      </a:rPr>
                      <m:t>𝑏</m:t>
                    </m:r>
                  </m:oMath>
                </a14:m>
                <a:r>
                  <a:rPr kumimoji="1" lang="zh-CN" altLang="en-US" sz="2800" b="0" i="0" u="none" dirty="0">
                    <a:solidFill>
                      <a:srgbClr val="000000"/>
                    </a:solidFill>
                    <a:latin typeface="+mn-lt"/>
                    <a:ea typeface="华文楷体" panose="02010600040101010101" pitchFamily="2" charset="-122"/>
                  </a:rPr>
                  <a:t>和</a:t>
                </a:r>
                <a14:m>
                  <m:oMath xmlns:m="http://schemas.openxmlformats.org/officeDocument/2006/math">
                    <m:r>
                      <a:rPr kumimoji="1" lang="en-US" altLang="zh-CN" sz="2800" b="0" i="1" u="none" dirty="0">
                        <a:solidFill>
                          <a:srgbClr val="000000"/>
                        </a:solidFill>
                        <a:latin typeface="Cambria Math" panose="02040503050406030204" pitchFamily="18" charset="0"/>
                        <a:ea typeface="黑体" panose="02010609060101010101" pitchFamily="49" charset="-122"/>
                      </a:rPr>
                      <m:t>𝑙</m:t>
                    </m:r>
                  </m:oMath>
                </a14:m>
                <a:r>
                  <a:rPr kumimoji="1" lang="zh-CN" altLang="en-US" sz="2800" b="0" i="0" u="none" dirty="0">
                    <a:solidFill>
                      <a:srgbClr val="000000"/>
                    </a:solidFill>
                    <a:latin typeface="+mn-lt"/>
                    <a:ea typeface="华文楷体" panose="02010600040101010101" pitchFamily="2" charset="-122"/>
                  </a:rPr>
                  <a:t>的矩形线圈共面</a:t>
                </a:r>
                <a:r>
                  <a:rPr kumimoji="1" lang="en-US" altLang="zh-CN" sz="2800" b="0" i="0" u="none" dirty="0">
                    <a:solidFill>
                      <a:srgbClr val="000000"/>
                    </a:solidFill>
                    <a:latin typeface="+mn-lt"/>
                    <a:ea typeface="华文楷体" panose="02010600040101010101" pitchFamily="2" charset="-122"/>
                  </a:rPr>
                  <a:t>,</a:t>
                </a:r>
                <a:r>
                  <a:rPr kumimoji="1" lang="zh-CN" altLang="en-US" sz="2800" b="0" i="0" u="none" dirty="0">
                    <a:solidFill>
                      <a:srgbClr val="000000"/>
                    </a:solidFill>
                    <a:latin typeface="+mn-lt"/>
                    <a:ea typeface="华文楷体" panose="02010600040101010101" pitchFamily="2" charset="-122"/>
                  </a:rPr>
                  <a:t>直导线与矩形线圈的一侧平行，且相距为</a:t>
                </a:r>
                <a14:m>
                  <m:oMath xmlns:m="http://schemas.openxmlformats.org/officeDocument/2006/math">
                    <m:r>
                      <a:rPr kumimoji="1" lang="en-US" altLang="zh-CN" sz="2800" b="0" i="1" u="none" dirty="0">
                        <a:solidFill>
                          <a:srgbClr val="000000"/>
                        </a:solidFill>
                        <a:latin typeface="Cambria Math" panose="02040503050406030204" pitchFamily="18" charset="0"/>
                        <a:ea typeface="黑体" panose="02010609060101010101" pitchFamily="49" charset="-122"/>
                      </a:rPr>
                      <m:t>𝑑</m:t>
                    </m:r>
                    <m:r>
                      <a:rPr kumimoji="1" lang="zh-CN" altLang="en-US" sz="2800" b="0" u="none" dirty="0">
                        <a:solidFill>
                          <a:srgbClr val="000000"/>
                        </a:solidFill>
                        <a:latin typeface="Cambria Math" panose="02040503050406030204" pitchFamily="18" charset="0"/>
                        <a:ea typeface="黑体" panose="02010609060101010101" pitchFamily="49" charset="-122"/>
                      </a:rPr>
                      <m:t>。</m:t>
                    </m:r>
                  </m:oMath>
                </a14:m>
                <a:r>
                  <a:rPr kumimoji="1" lang="en-US" altLang="zh-CN" sz="2800" b="0" i="0" u="none" dirty="0">
                    <a:solidFill>
                      <a:srgbClr val="000000"/>
                    </a:solidFill>
                    <a:latin typeface="+mn-lt"/>
                    <a:ea typeface="华文楷体" panose="02010600040101010101" pitchFamily="2" charset="-122"/>
                  </a:rPr>
                  <a:t> </a:t>
                </a:r>
                <a:r>
                  <a:rPr kumimoji="1" lang="zh-CN" altLang="en-US" sz="2800" b="0" i="0" u="none" dirty="0">
                    <a:solidFill>
                      <a:srgbClr val="000000"/>
                    </a:solidFill>
                    <a:latin typeface="+mn-lt"/>
                    <a:ea typeface="华文楷体" panose="02010600040101010101" pitchFamily="2" charset="-122"/>
                  </a:rPr>
                  <a:t>求二者的互感系数。</a:t>
                </a:r>
                <a:endParaRPr kumimoji="1" lang="en-US" altLang="zh-CN" sz="2800" b="0" i="0" u="none" dirty="0">
                  <a:solidFill>
                    <a:srgbClr val="000000"/>
                  </a:solidFill>
                  <a:latin typeface="+mn-lt"/>
                  <a:ea typeface="华文楷体" panose="02010600040101010101" pitchFamily="2" charset="-122"/>
                </a:endParaRPr>
              </a:p>
            </p:txBody>
          </p:sp>
        </mc:Choice>
        <mc:Fallback xmlns="">
          <p:sp>
            <p:nvSpPr>
              <p:cNvPr id="66583" name="Text Box 31"/>
              <p:cNvSpPr txBox="1">
                <a:spLocks noRot="1" noChangeAspect="1" noMove="1" noResize="1" noEditPoints="1" noAdjustHandles="1" noChangeArrowheads="1" noChangeShapeType="1" noTextEdit="1"/>
              </p:cNvSpPr>
              <p:nvPr/>
            </p:nvSpPr>
            <p:spPr bwMode="auto">
              <a:xfrm>
                <a:off x="1633487" y="44040"/>
                <a:ext cx="9034513" cy="1643527"/>
              </a:xfrm>
              <a:prstGeom prst="rect">
                <a:avLst/>
              </a:prstGeom>
              <a:blipFill>
                <a:blip r:embed="rId11"/>
                <a:stretch>
                  <a:fillRect l="-1417" t="-1111" b="-74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049974" y="4395119"/>
                <a:ext cx="3459667" cy="1265218"/>
              </a:xfrm>
              <a:prstGeom prst="rect">
                <a:avLst/>
              </a:prstGeom>
            </p:spPr>
            <p:txBody>
              <a:bodyPr wrap="square">
                <a:spAutoFit/>
              </a:bodyPr>
              <a:lstStyle/>
              <a:p>
                <a:pPr lvl="0">
                  <a:lnSpc>
                    <a:spcPct val="120000"/>
                  </a:lnSpc>
                  <a:spcBef>
                    <a:spcPct val="50000"/>
                  </a:spcBef>
                </a:pPr>
                <a14:m>
                  <m:oMathPara xmlns:m="http://schemas.openxmlformats.org/officeDocument/2006/math">
                    <m:oMathParaPr>
                      <m:jc m:val="centerGroup"/>
                    </m:oMathParaPr>
                    <m:oMath xmlns:m="http://schemas.openxmlformats.org/officeDocument/2006/math">
                      <m:r>
                        <a:rPr lang="zh-CN" altLang="en-US" sz="2800" b="0" i="1" smtClean="0">
                          <a:solidFill>
                            <a:schemeClr val="tx1"/>
                          </a:solidFill>
                          <a:latin typeface="Cambria Math" panose="02040503050406030204" pitchFamily="18" charset="0"/>
                          <a:ea typeface="黑体" panose="02010609060101010101" pitchFamily="49" charset="-122"/>
                        </a:rPr>
                        <m:t>𝛷</m:t>
                      </m:r>
                      <m:r>
                        <a:rPr lang="en-US" altLang="zh-CN" sz="2800" b="0">
                          <a:solidFill>
                            <a:schemeClr val="tx1"/>
                          </a:solidFill>
                          <a:latin typeface="Cambria Math" panose="02040503050406030204" pitchFamily="18" charset="0"/>
                          <a:ea typeface="黑体" panose="02010609060101010101" pitchFamily="49" charset="-122"/>
                        </a:rPr>
                        <m:t>=</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𝑑</m:t>
                          </m:r>
                        </m:sub>
                        <m:sup>
                          <m:r>
                            <a:rPr lang="en-US" altLang="zh-CN" sz="2800" b="0" i="1">
                              <a:solidFill>
                                <a:schemeClr val="tx1"/>
                              </a:solidFill>
                              <a:latin typeface="Cambria Math" panose="02040503050406030204" pitchFamily="18" charset="0"/>
                              <a:ea typeface="黑体" panose="02010609060101010101" pitchFamily="49" charset="-122"/>
                            </a:rPr>
                            <m:t>𝑑</m:t>
                          </m:r>
                          <m:r>
                            <a:rPr lang="en-US" altLang="zh-CN" sz="2800" b="0">
                              <a:solidFill>
                                <a:schemeClr val="tx1"/>
                              </a:solidFill>
                              <a:latin typeface="Cambria Math" panose="02040503050406030204" pitchFamily="18" charset="0"/>
                              <a:ea typeface="黑体" panose="02010609060101010101" pitchFamily="49" charset="-122"/>
                            </a:rPr>
                            <m:t>+</m:t>
                          </m:r>
                          <m:r>
                            <a:rPr lang="en-US" altLang="zh-CN" sz="2800" b="0" i="1">
                              <a:solidFill>
                                <a:schemeClr val="tx1"/>
                              </a:solidFill>
                              <a:latin typeface="Cambria Math" panose="02040503050406030204" pitchFamily="18" charset="0"/>
                              <a:ea typeface="黑体" panose="02010609060101010101" pitchFamily="49" charset="-122"/>
                            </a:rPr>
                            <m:t>𝑏</m:t>
                          </m:r>
                        </m:sup>
                        <m:e>
                          <m:f>
                            <m:fPr>
                              <m:ctrlPr>
                                <a:rPr kumimoji="1" lang="en-US" altLang="zh-CN" sz="2800" i="1">
                                  <a:solidFill>
                                    <a:schemeClr val="tx1"/>
                                  </a:solidFill>
                                  <a:latin typeface="Cambria Math" panose="02040503050406030204" pitchFamily="18" charset="0"/>
                                  <a:ea typeface="黑体" panose="02010609060101010101" pitchFamily="49" charset="-122"/>
                                </a:rPr>
                              </m:ctrlPr>
                            </m:fPr>
                            <m:num>
                              <m:r>
                                <a:rPr kumimoji="1" lang="zh-CN" altLang="en-US" sz="2800" b="0" i="1">
                                  <a:solidFill>
                                    <a:schemeClr val="tx1"/>
                                  </a:solidFill>
                                  <a:latin typeface="Cambria Math" panose="02040503050406030204" pitchFamily="18" charset="0"/>
                                  <a:ea typeface="黑体" panose="02010609060101010101" pitchFamily="49" charset="-122"/>
                                </a:rPr>
                                <m:t>𝜇</m:t>
                              </m:r>
                              <m:r>
                                <a:rPr kumimoji="1" lang="en-US" altLang="zh-CN" sz="2800" b="0" i="1">
                                  <a:solidFill>
                                    <a:schemeClr val="tx1"/>
                                  </a:solidFill>
                                  <a:latin typeface="Cambria Math" panose="02040503050406030204" pitchFamily="18" charset="0"/>
                                  <a:ea typeface="黑体" panose="02010609060101010101" pitchFamily="49" charset="-122"/>
                                </a:rPr>
                                <m:t>𝐼</m:t>
                              </m:r>
                            </m:num>
                            <m:den>
                              <m:r>
                                <a:rPr kumimoji="1" lang="en-US" altLang="zh-CN" sz="2800" b="0" i="1">
                                  <a:solidFill>
                                    <a:schemeClr val="tx1"/>
                                  </a:solidFill>
                                  <a:latin typeface="Cambria Math" panose="02040503050406030204" pitchFamily="18" charset="0"/>
                                  <a:ea typeface="黑体" panose="02010609060101010101" pitchFamily="49" charset="-122"/>
                                </a:rPr>
                                <m:t>2</m:t>
                              </m:r>
                              <m:r>
                                <a:rPr kumimoji="1" lang="zh-CN" altLang="en-US" sz="2800" b="0" i="1">
                                  <a:solidFill>
                                    <a:schemeClr val="tx1"/>
                                  </a:solidFill>
                                  <a:latin typeface="Cambria Math" panose="02040503050406030204" pitchFamily="18" charset="0"/>
                                  <a:ea typeface="黑体" panose="02010609060101010101" pitchFamily="49" charset="-122"/>
                                </a:rPr>
                                <m:t>𝜋</m:t>
                              </m:r>
                              <m:r>
                                <a:rPr kumimoji="1" lang="en-US" altLang="zh-CN" sz="2800" b="0" i="1">
                                  <a:solidFill>
                                    <a:schemeClr val="tx1"/>
                                  </a:solidFill>
                                  <a:latin typeface="Cambria Math" panose="02040503050406030204" pitchFamily="18" charset="0"/>
                                  <a:ea typeface="黑体" panose="02010609060101010101" pitchFamily="49" charset="-122"/>
                                </a:rPr>
                                <m:t>𝑥</m:t>
                              </m:r>
                            </m:den>
                          </m:f>
                          <m:r>
                            <a:rPr kumimoji="1" lang="en-US" altLang="zh-CN" sz="2800" b="0" i="1">
                              <a:solidFill>
                                <a:schemeClr val="tx1"/>
                              </a:solidFill>
                              <a:latin typeface="Cambria Math" panose="02040503050406030204" pitchFamily="18" charset="0"/>
                              <a:ea typeface="黑体" panose="02010609060101010101" pitchFamily="49" charset="-122"/>
                            </a:rPr>
                            <m:t>𝑙𝑑𝑥</m:t>
                          </m:r>
                        </m:e>
                      </m:nary>
                    </m:oMath>
                  </m:oMathPara>
                </a14:m>
                <a:endParaRPr lang="zh-CN" altLang="en-US" dirty="0">
                  <a:solidFill>
                    <a:schemeClr val="tx1"/>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1049974" y="4395119"/>
                <a:ext cx="3459667" cy="126521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 Box 34">
                <a:extLst>
                  <a:ext uri="{FF2B5EF4-FFF2-40B4-BE49-F238E27FC236}">
                    <a16:creationId xmlns:a16="http://schemas.microsoft.com/office/drawing/2014/main" id="{A5157F97-1D3B-4FA5-AEE5-ACD695D68B49}"/>
                  </a:ext>
                </a:extLst>
              </p:cNvPr>
              <p:cNvSpPr txBox="1">
                <a:spLocks noChangeArrowheads="1"/>
              </p:cNvSpPr>
              <p:nvPr/>
            </p:nvSpPr>
            <p:spPr bwMode="auto">
              <a:xfrm>
                <a:off x="2529555" y="2452019"/>
                <a:ext cx="3321764" cy="10602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14:m>
                  <m:oMathPara xmlns:m="http://schemas.openxmlformats.org/officeDocument/2006/math">
                    <m:oMathParaPr>
                      <m:jc m:val="centerGroup"/>
                    </m:oMathParaPr>
                    <m:oMath xmlns:m="http://schemas.openxmlformats.org/officeDocument/2006/math">
                      <m:r>
                        <a:rPr kumimoji="1" lang="en-US" altLang="zh-CN" sz="2800" b="0" i="1" u="none" smtClean="0">
                          <a:solidFill>
                            <a:schemeClr val="tx1"/>
                          </a:solidFill>
                          <a:latin typeface="Cambria Math" panose="02040503050406030204" pitchFamily="18" charset="0"/>
                          <a:ea typeface="黑体" panose="02010609060101010101" pitchFamily="49" charset="-122"/>
                        </a:rPr>
                        <m:t>𝐵</m:t>
                      </m:r>
                      <m:r>
                        <a:rPr kumimoji="1" lang="en-US" altLang="zh-CN" sz="2800" b="0" u="none">
                          <a:solidFill>
                            <a:schemeClr val="tx1"/>
                          </a:solidFill>
                          <a:latin typeface="Cambria Math" panose="02040503050406030204" pitchFamily="18" charset="0"/>
                          <a:ea typeface="黑体" panose="02010609060101010101" pitchFamily="49" charset="-122"/>
                        </a:rPr>
                        <m:t>=</m:t>
                      </m:r>
                      <m:f>
                        <m:fPr>
                          <m:ctrlPr>
                            <a:rPr kumimoji="1" lang="en-US" altLang="zh-CN" sz="2800" b="0" i="1" u="none">
                              <a:solidFill>
                                <a:schemeClr val="tx1"/>
                              </a:solidFill>
                              <a:latin typeface="Cambria Math" panose="02040503050406030204" pitchFamily="18" charset="0"/>
                              <a:ea typeface="黑体" panose="02010609060101010101" pitchFamily="49" charset="-122"/>
                            </a:rPr>
                          </m:ctrlPr>
                        </m:fPr>
                        <m:num>
                          <m:r>
                            <a:rPr kumimoji="1" lang="zh-CN" altLang="en-US" sz="2800" b="0" i="1" u="none">
                              <a:solidFill>
                                <a:schemeClr val="tx1"/>
                              </a:solidFill>
                              <a:latin typeface="Cambria Math" panose="02040503050406030204" pitchFamily="18" charset="0"/>
                              <a:ea typeface="黑体" panose="02010609060101010101" pitchFamily="49" charset="-122"/>
                            </a:rPr>
                            <m:t>𝜇</m:t>
                          </m:r>
                          <m:r>
                            <a:rPr kumimoji="1" lang="en-US" altLang="zh-CN" sz="2800" b="0" i="1" u="none">
                              <a:solidFill>
                                <a:schemeClr val="tx1"/>
                              </a:solidFill>
                              <a:latin typeface="Cambria Math" panose="02040503050406030204" pitchFamily="18" charset="0"/>
                              <a:ea typeface="黑体" panose="02010609060101010101" pitchFamily="49" charset="-122"/>
                            </a:rPr>
                            <m:t>𝐼</m:t>
                          </m:r>
                        </m:num>
                        <m:den>
                          <m:r>
                            <a:rPr kumimoji="1" lang="en-US" altLang="zh-CN" sz="2800" b="0" i="1" u="none">
                              <a:solidFill>
                                <a:schemeClr val="tx1"/>
                              </a:solidFill>
                              <a:latin typeface="Cambria Math" panose="02040503050406030204" pitchFamily="18" charset="0"/>
                              <a:ea typeface="黑体" panose="02010609060101010101" pitchFamily="49" charset="-122"/>
                            </a:rPr>
                            <m:t>2</m:t>
                          </m:r>
                          <m:r>
                            <a:rPr kumimoji="1" lang="zh-CN" altLang="en-US" sz="2800" b="0" i="1" u="none">
                              <a:solidFill>
                                <a:schemeClr val="tx1"/>
                              </a:solidFill>
                              <a:latin typeface="Cambria Math" panose="02040503050406030204" pitchFamily="18" charset="0"/>
                              <a:ea typeface="黑体" panose="02010609060101010101" pitchFamily="49" charset="-122"/>
                            </a:rPr>
                            <m:t>𝜋</m:t>
                          </m:r>
                          <m:r>
                            <a:rPr kumimoji="1" lang="en-US" altLang="zh-CN" sz="2800" b="0" i="1" u="none">
                              <a:solidFill>
                                <a:schemeClr val="tx1"/>
                              </a:solidFill>
                              <a:latin typeface="Cambria Math" panose="02040503050406030204" pitchFamily="18" charset="0"/>
                              <a:ea typeface="黑体" panose="02010609060101010101" pitchFamily="49" charset="-122"/>
                            </a:rPr>
                            <m:t>𝑥</m:t>
                          </m:r>
                        </m:den>
                      </m:f>
                    </m:oMath>
                  </m:oMathPara>
                </a14:m>
                <a:endParaRPr kumimoji="1" lang="zh-CN" altLang="en-US"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36" name="Text Box 34">
                <a:extLst>
                  <a:ext uri="{FF2B5EF4-FFF2-40B4-BE49-F238E27FC236}">
                    <a16:creationId xmlns:a16="http://schemas.microsoft.com/office/drawing/2014/main" id="{A5157F97-1D3B-4FA5-AEE5-ACD695D68B49}"/>
                  </a:ext>
                </a:extLst>
              </p:cNvPr>
              <p:cNvSpPr txBox="1">
                <a:spLocks noRot="1" noChangeAspect="1" noMove="1" noResize="1" noEditPoints="1" noAdjustHandles="1" noChangeArrowheads="1" noChangeShapeType="1" noTextEdit="1"/>
              </p:cNvSpPr>
              <p:nvPr/>
            </p:nvSpPr>
            <p:spPr bwMode="auto">
              <a:xfrm>
                <a:off x="2529555" y="2452019"/>
                <a:ext cx="3321764" cy="1060290"/>
              </a:xfrm>
              <a:prstGeom prst="rect">
                <a:avLst/>
              </a:prstGeom>
              <a:blipFill>
                <a:blip r:embed="rId1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7" name="矩形 36">
            <a:extLst>
              <a:ext uri="{FF2B5EF4-FFF2-40B4-BE49-F238E27FC236}">
                <a16:creationId xmlns:a16="http://schemas.microsoft.com/office/drawing/2014/main" id="{9FCF33B3-F584-4193-939E-433B8DE923D3}"/>
              </a:ext>
            </a:extLst>
          </p:cNvPr>
          <p:cNvSpPr/>
          <p:nvPr/>
        </p:nvSpPr>
        <p:spPr>
          <a:xfrm>
            <a:off x="1873876" y="3726940"/>
            <a:ext cx="5690538" cy="580159"/>
          </a:xfrm>
          <a:prstGeom prst="rect">
            <a:avLst/>
          </a:prstGeom>
        </p:spPr>
        <p:txBody>
          <a:bodyPr wrap="square">
            <a:spAutoFit/>
          </a:bodyPr>
          <a:lstStyle/>
          <a:p>
            <a:pPr lvl="0">
              <a:lnSpc>
                <a:spcPct val="120000"/>
              </a:lnSpc>
              <a:spcBef>
                <a:spcPct val="50000"/>
              </a:spcBef>
            </a:pPr>
            <a:r>
              <a:rPr kumimoji="1" lang="zh-CN" altLang="en-US" sz="2800" dirty="0">
                <a:latin typeface="华文楷体" panose="02010600040101010101" pitchFamily="2" charset="-122"/>
                <a:ea typeface="华文楷体" panose="02010600040101010101" pitchFamily="2" charset="-122"/>
              </a:rPr>
              <a:t>矩形线圈的磁通量为</a:t>
            </a:r>
            <a:endParaRPr kumimoji="1" lang="en-US" altLang="zh-CN" sz="280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6EB6780-3AB2-432B-8837-EB22FD29E5F5}"/>
                  </a:ext>
                </a:extLst>
              </p:cNvPr>
              <p:cNvSpPr/>
              <p:nvPr/>
            </p:nvSpPr>
            <p:spPr>
              <a:xfrm>
                <a:off x="1961414" y="5709965"/>
                <a:ext cx="5096454" cy="1074012"/>
              </a:xfrm>
              <a:prstGeom prst="rect">
                <a:avLst/>
              </a:prstGeom>
            </p:spPr>
            <p:txBody>
              <a:bodyPr wrap="square">
                <a:spAutoFit/>
              </a:bodyPr>
              <a:lstStyle/>
              <a:p>
                <a:pPr lvl="0">
                  <a:lnSpc>
                    <a:spcPct val="120000"/>
                  </a:lnSpc>
                  <a:spcBef>
                    <a:spcPct val="50000"/>
                  </a:spcBef>
                </a:pPr>
                <a14:m>
                  <m:oMathPara xmlns:m="http://schemas.openxmlformats.org/officeDocument/2006/math">
                    <m:oMathParaPr>
                      <m:jc m:val="centerGroup"/>
                    </m:oMathParaPr>
                    <m:oMath xmlns:m="http://schemas.openxmlformats.org/officeDocument/2006/math">
                      <m:r>
                        <a:rPr kumimoji="1" lang="en-US" altLang="zh-CN" sz="2800" b="0" smtClean="0">
                          <a:solidFill>
                            <a:schemeClr val="tx1"/>
                          </a:solidFill>
                          <a:latin typeface="Cambria Math" panose="02040503050406030204" pitchFamily="18" charset="0"/>
                          <a:ea typeface="Cambria Math" panose="020405030504060302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rPr>
                        <m:t>𝑀</m:t>
                      </m:r>
                      <m:r>
                        <a:rPr kumimoji="1" lang="en-US" altLang="zh-CN" sz="2800" b="0">
                          <a:solidFill>
                            <a:schemeClr val="tx1"/>
                          </a:solidFill>
                          <a:latin typeface="Cambria Math" panose="02040503050406030204" pitchFamily="18" charset="0"/>
                          <a:ea typeface="黑体" panose="02010609060101010101" pitchFamily="49" charset="-122"/>
                        </a:rPr>
                        <m:t>=</m:t>
                      </m:r>
                      <m:f>
                        <m:fPr>
                          <m:ctrlPr>
                            <a:rPr kumimoji="1" lang="en-US" altLang="zh-CN" sz="2800" i="1">
                              <a:solidFill>
                                <a:schemeClr val="tx1"/>
                              </a:solidFill>
                              <a:latin typeface="Cambria Math" panose="02040503050406030204" pitchFamily="18" charset="0"/>
                              <a:ea typeface="黑体" panose="02010609060101010101" pitchFamily="49" charset="-122"/>
                            </a:rPr>
                          </m:ctrlPr>
                        </m:fPr>
                        <m:num>
                          <m:r>
                            <a:rPr lang="zh-CN" altLang="en-US" sz="2800" b="0" i="1">
                              <a:solidFill>
                                <a:schemeClr val="tx1"/>
                              </a:solidFill>
                              <a:latin typeface="Cambria Math" panose="02040503050406030204" pitchFamily="18" charset="0"/>
                              <a:ea typeface="黑体" panose="02010609060101010101" pitchFamily="49" charset="-122"/>
                            </a:rPr>
                            <m:t>𝛷</m:t>
                          </m:r>
                        </m:num>
                        <m:den>
                          <m:r>
                            <a:rPr kumimoji="1" lang="en-US" altLang="zh-CN" sz="2800" b="0" i="1">
                              <a:solidFill>
                                <a:schemeClr val="tx1"/>
                              </a:solidFill>
                              <a:latin typeface="Cambria Math" panose="02040503050406030204" pitchFamily="18" charset="0"/>
                              <a:ea typeface="黑体" panose="02010609060101010101" pitchFamily="49" charset="-122"/>
                            </a:rPr>
                            <m:t>𝐼</m:t>
                          </m:r>
                        </m:den>
                      </m:f>
                      <m:r>
                        <a:rPr kumimoji="1" lang="en-US" altLang="zh-CN" sz="2800" b="0">
                          <a:solidFill>
                            <a:schemeClr val="tx1"/>
                          </a:solidFill>
                          <a:latin typeface="Cambria Math" panose="02040503050406030204" pitchFamily="18" charset="0"/>
                          <a:ea typeface="黑体" panose="02010609060101010101" pitchFamily="49" charset="-122"/>
                        </a:rPr>
                        <m:t>=</m:t>
                      </m:r>
                      <m:f>
                        <m:fPr>
                          <m:ctrlPr>
                            <a:rPr kumimoji="1" lang="en-US" altLang="zh-CN" sz="2800" i="1">
                              <a:solidFill>
                                <a:schemeClr val="tx1"/>
                              </a:solidFill>
                              <a:latin typeface="Cambria Math" panose="02040503050406030204" pitchFamily="18" charset="0"/>
                              <a:ea typeface="黑体" panose="02010609060101010101" pitchFamily="49" charset="-122"/>
                            </a:rPr>
                          </m:ctrlPr>
                        </m:fPr>
                        <m:num>
                          <m:r>
                            <a:rPr kumimoji="1" lang="zh-CN" altLang="en-US" sz="2800" b="0" i="1">
                              <a:solidFill>
                                <a:schemeClr val="tx1"/>
                              </a:solidFill>
                              <a:latin typeface="Cambria Math" panose="02040503050406030204" pitchFamily="18" charset="0"/>
                              <a:ea typeface="黑体" panose="02010609060101010101" pitchFamily="49" charset="-122"/>
                            </a:rPr>
                            <m:t>𝜇</m:t>
                          </m:r>
                          <m:r>
                            <a:rPr kumimoji="1" lang="en-US" altLang="zh-CN" sz="2800" b="0" i="1">
                              <a:solidFill>
                                <a:schemeClr val="tx1"/>
                              </a:solidFill>
                              <a:latin typeface="Cambria Math" panose="02040503050406030204" pitchFamily="18" charset="0"/>
                              <a:ea typeface="黑体" panose="02010609060101010101" pitchFamily="49" charset="-122"/>
                            </a:rPr>
                            <m:t>𝑙</m:t>
                          </m:r>
                        </m:num>
                        <m:den>
                          <m:r>
                            <a:rPr kumimoji="1" lang="en-US" altLang="zh-CN" sz="2800" b="0" i="1">
                              <a:solidFill>
                                <a:schemeClr val="tx1"/>
                              </a:solidFill>
                              <a:latin typeface="Cambria Math" panose="02040503050406030204" pitchFamily="18" charset="0"/>
                              <a:ea typeface="黑体" panose="02010609060101010101" pitchFamily="49" charset="-122"/>
                            </a:rPr>
                            <m:t>2</m:t>
                          </m:r>
                          <m:r>
                            <a:rPr kumimoji="1" lang="zh-CN" altLang="en-US" sz="2800" b="0" i="1">
                              <a:solidFill>
                                <a:schemeClr val="tx1"/>
                              </a:solidFill>
                              <a:latin typeface="Cambria Math" panose="02040503050406030204" pitchFamily="18" charset="0"/>
                              <a:ea typeface="黑体" panose="02010609060101010101" pitchFamily="49" charset="-122"/>
                            </a:rPr>
                            <m:t>𝜋</m:t>
                          </m:r>
                        </m:den>
                      </m:f>
                      <m:func>
                        <m:funcPr>
                          <m:ctrlPr>
                            <a:rPr kumimoji="1" lang="en-US" altLang="zh-CN" sz="2800" i="1">
                              <a:solidFill>
                                <a:schemeClr val="tx1"/>
                              </a:solidFill>
                              <a:latin typeface="Cambria Math" panose="02040503050406030204" pitchFamily="18" charset="0"/>
                              <a:ea typeface="黑体" panose="02010609060101010101" pitchFamily="49" charset="-122"/>
                            </a:rPr>
                          </m:ctrlPr>
                        </m:funcPr>
                        <m:fName>
                          <m:r>
                            <a:rPr kumimoji="1" lang="en-US" altLang="zh-CN" sz="2800" b="0" i="1">
                              <a:solidFill>
                                <a:schemeClr val="tx1"/>
                              </a:solidFill>
                              <a:latin typeface="Cambria Math" panose="02040503050406030204" pitchFamily="18" charset="0"/>
                              <a:ea typeface="黑体" panose="02010609060101010101" pitchFamily="49" charset="-122"/>
                            </a:rPr>
                            <m:t>𝑙𝑛</m:t>
                          </m:r>
                        </m:fName>
                        <m:e>
                          <m:f>
                            <m:fPr>
                              <m:ctrlPr>
                                <a:rPr kumimoji="1" lang="en-US" altLang="zh-CN" sz="2800" i="1">
                                  <a:solidFill>
                                    <a:schemeClr val="tx1"/>
                                  </a:solidFill>
                                  <a:latin typeface="Cambria Math" panose="02040503050406030204" pitchFamily="18" charset="0"/>
                                  <a:ea typeface="黑体" panose="02010609060101010101" pitchFamily="49" charset="-122"/>
                                </a:rPr>
                              </m:ctrlPr>
                            </m:fPr>
                            <m:num>
                              <m:r>
                                <a:rPr kumimoji="1" lang="en-US" altLang="zh-CN" sz="2800" b="0" i="1">
                                  <a:solidFill>
                                    <a:schemeClr val="tx1"/>
                                  </a:solidFill>
                                  <a:latin typeface="Cambria Math" panose="02040503050406030204" pitchFamily="18" charset="0"/>
                                  <a:ea typeface="黑体" panose="02010609060101010101" pitchFamily="49" charset="-122"/>
                                </a:rPr>
                                <m:t>𝑑</m:t>
                              </m:r>
                              <m:r>
                                <a:rPr kumimoji="1" lang="en-US" altLang="zh-CN" sz="2800" b="0">
                                  <a:solidFill>
                                    <a:schemeClr val="tx1"/>
                                  </a:solidFill>
                                  <a:latin typeface="Cambria Math" panose="02040503050406030204" pitchFamily="18" charset="0"/>
                                  <a:ea typeface="黑体" panose="02010609060101010101" pitchFamily="49" charset="-122"/>
                                </a:rPr>
                                <m:t>+</m:t>
                              </m:r>
                              <m:r>
                                <a:rPr kumimoji="1" lang="en-US" altLang="zh-CN" sz="2800" b="0" i="1">
                                  <a:solidFill>
                                    <a:schemeClr val="tx1"/>
                                  </a:solidFill>
                                  <a:latin typeface="Cambria Math" panose="02040503050406030204" pitchFamily="18" charset="0"/>
                                  <a:ea typeface="黑体" panose="02010609060101010101" pitchFamily="49" charset="-122"/>
                                </a:rPr>
                                <m:t>𝑏</m:t>
                              </m:r>
                            </m:num>
                            <m:den>
                              <m:r>
                                <a:rPr kumimoji="1" lang="en-US" altLang="zh-CN" sz="2800" b="0" i="1">
                                  <a:solidFill>
                                    <a:schemeClr val="tx1"/>
                                  </a:solidFill>
                                  <a:latin typeface="Cambria Math" panose="02040503050406030204" pitchFamily="18" charset="0"/>
                                  <a:ea typeface="黑体" panose="02010609060101010101" pitchFamily="49" charset="-122"/>
                                </a:rPr>
                                <m:t>𝑑</m:t>
                              </m:r>
                            </m:den>
                          </m:f>
                        </m:e>
                      </m:func>
                    </m:oMath>
                  </m:oMathPara>
                </a14:m>
                <a:endParaRPr lang="zh-CN" altLang="en-US" dirty="0">
                  <a:solidFill>
                    <a:schemeClr val="tx1"/>
                  </a:solidFill>
                </a:endParaRPr>
              </a:p>
            </p:txBody>
          </p:sp>
        </mc:Choice>
        <mc:Fallback xmlns="">
          <p:sp>
            <p:nvSpPr>
              <p:cNvPr id="38" name="矩形 37">
                <a:extLst>
                  <a:ext uri="{FF2B5EF4-FFF2-40B4-BE49-F238E27FC236}">
                    <a16:creationId xmlns:a16="http://schemas.microsoft.com/office/drawing/2014/main" id="{16EB6780-3AB2-432B-8837-EB22FD29E5F5}"/>
                  </a:ext>
                </a:extLst>
              </p:cNvPr>
              <p:cNvSpPr>
                <a:spLocks noRot="1" noChangeAspect="1" noMove="1" noResize="1" noEditPoints="1" noAdjustHandles="1" noChangeArrowheads="1" noChangeShapeType="1" noTextEdit="1"/>
              </p:cNvSpPr>
              <p:nvPr/>
            </p:nvSpPr>
            <p:spPr>
              <a:xfrm>
                <a:off x="1961414" y="5709965"/>
                <a:ext cx="5096454" cy="107401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35FDD8C6-8120-4FE8-8867-8A7784A29C17}"/>
                  </a:ext>
                </a:extLst>
              </p:cNvPr>
              <p:cNvSpPr/>
              <p:nvPr/>
            </p:nvSpPr>
            <p:spPr>
              <a:xfrm>
                <a:off x="4115122" y="4518944"/>
                <a:ext cx="2677138" cy="1074012"/>
              </a:xfrm>
              <a:prstGeom prst="rect">
                <a:avLst/>
              </a:prstGeom>
            </p:spPr>
            <p:txBody>
              <a:bodyPr wrap="square">
                <a:spAutoFit/>
              </a:bodyPr>
              <a:lstStyle/>
              <a:p>
                <a:pPr lvl="0">
                  <a:lnSpc>
                    <a:spcPct val="120000"/>
                  </a:lnSpc>
                  <a:spcBef>
                    <a:spcPct val="50000"/>
                  </a:spcBef>
                </a:pPr>
                <a14:m>
                  <m:oMathPara xmlns:m="http://schemas.openxmlformats.org/officeDocument/2006/math">
                    <m:oMathParaPr>
                      <m:jc m:val="centerGroup"/>
                    </m:oMathParaPr>
                    <m:oMath xmlns:m="http://schemas.openxmlformats.org/officeDocument/2006/math">
                      <m:r>
                        <a:rPr lang="en-US" altLang="zh-CN" sz="2800" b="0" smtClean="0">
                          <a:solidFill>
                            <a:schemeClr val="tx1"/>
                          </a:solidFill>
                          <a:latin typeface="Cambria Math" panose="02040503050406030204" pitchFamily="18" charset="0"/>
                          <a:ea typeface="黑体" panose="02010609060101010101" pitchFamily="49" charset="-122"/>
                        </a:rPr>
                        <m:t>=</m:t>
                      </m:r>
                      <m:f>
                        <m:fPr>
                          <m:ctrlPr>
                            <a:rPr kumimoji="1" lang="en-US" altLang="zh-CN" sz="2800" i="1">
                              <a:solidFill>
                                <a:schemeClr val="tx1"/>
                              </a:solidFill>
                              <a:latin typeface="Cambria Math" panose="02040503050406030204" pitchFamily="18" charset="0"/>
                              <a:ea typeface="黑体" panose="02010609060101010101" pitchFamily="49" charset="-122"/>
                            </a:rPr>
                          </m:ctrlPr>
                        </m:fPr>
                        <m:num>
                          <m:r>
                            <a:rPr kumimoji="1" lang="zh-CN" altLang="en-US" sz="2800" b="0" i="1">
                              <a:solidFill>
                                <a:schemeClr val="tx1"/>
                              </a:solidFill>
                              <a:latin typeface="Cambria Math" panose="02040503050406030204" pitchFamily="18" charset="0"/>
                              <a:ea typeface="黑体" panose="02010609060101010101" pitchFamily="49" charset="-122"/>
                            </a:rPr>
                            <m:t>𝜇</m:t>
                          </m:r>
                          <m:r>
                            <a:rPr kumimoji="1" lang="en-US" altLang="zh-CN" sz="2800" b="0" i="1">
                              <a:solidFill>
                                <a:schemeClr val="tx1"/>
                              </a:solidFill>
                              <a:latin typeface="Cambria Math" panose="02040503050406030204" pitchFamily="18" charset="0"/>
                              <a:ea typeface="黑体" panose="02010609060101010101" pitchFamily="49" charset="-122"/>
                            </a:rPr>
                            <m:t>𝐼𝑙</m:t>
                          </m:r>
                        </m:num>
                        <m:den>
                          <m:r>
                            <a:rPr kumimoji="1" lang="en-US" altLang="zh-CN" sz="2800" b="0" i="1">
                              <a:solidFill>
                                <a:schemeClr val="tx1"/>
                              </a:solidFill>
                              <a:latin typeface="Cambria Math" panose="02040503050406030204" pitchFamily="18" charset="0"/>
                              <a:ea typeface="黑体" panose="02010609060101010101" pitchFamily="49" charset="-122"/>
                            </a:rPr>
                            <m:t>2</m:t>
                          </m:r>
                          <m:r>
                            <a:rPr kumimoji="1" lang="zh-CN" altLang="en-US" sz="2800" b="0" i="1">
                              <a:solidFill>
                                <a:schemeClr val="tx1"/>
                              </a:solidFill>
                              <a:latin typeface="Cambria Math" panose="02040503050406030204" pitchFamily="18" charset="0"/>
                              <a:ea typeface="黑体" panose="02010609060101010101" pitchFamily="49" charset="-122"/>
                            </a:rPr>
                            <m:t>𝜋</m:t>
                          </m:r>
                        </m:den>
                      </m:f>
                      <m:func>
                        <m:funcPr>
                          <m:ctrlPr>
                            <a:rPr kumimoji="1" lang="en-US" altLang="zh-CN" sz="2800" i="1">
                              <a:solidFill>
                                <a:schemeClr val="tx1"/>
                              </a:solidFill>
                              <a:latin typeface="Cambria Math" panose="02040503050406030204" pitchFamily="18" charset="0"/>
                              <a:ea typeface="黑体" panose="02010609060101010101" pitchFamily="49" charset="-122"/>
                            </a:rPr>
                          </m:ctrlPr>
                        </m:funcPr>
                        <m:fName>
                          <m:r>
                            <a:rPr kumimoji="1" lang="en-US" altLang="zh-CN" sz="2800" b="0" i="1">
                              <a:solidFill>
                                <a:schemeClr val="tx1"/>
                              </a:solidFill>
                              <a:latin typeface="Cambria Math" panose="02040503050406030204" pitchFamily="18" charset="0"/>
                              <a:ea typeface="黑体" panose="02010609060101010101" pitchFamily="49" charset="-122"/>
                            </a:rPr>
                            <m:t>𝑙𝑛</m:t>
                          </m:r>
                        </m:fName>
                        <m:e>
                          <m:f>
                            <m:fPr>
                              <m:ctrlPr>
                                <a:rPr kumimoji="1" lang="en-US" altLang="zh-CN" sz="2800" i="1">
                                  <a:solidFill>
                                    <a:schemeClr val="tx1"/>
                                  </a:solidFill>
                                  <a:latin typeface="Cambria Math" panose="02040503050406030204" pitchFamily="18" charset="0"/>
                                  <a:ea typeface="黑体" panose="02010609060101010101" pitchFamily="49" charset="-122"/>
                                </a:rPr>
                              </m:ctrlPr>
                            </m:fPr>
                            <m:num>
                              <m:r>
                                <a:rPr kumimoji="1" lang="en-US" altLang="zh-CN" sz="2800" b="0" i="1">
                                  <a:solidFill>
                                    <a:schemeClr val="tx1"/>
                                  </a:solidFill>
                                  <a:latin typeface="Cambria Math" panose="02040503050406030204" pitchFamily="18" charset="0"/>
                                  <a:ea typeface="黑体" panose="02010609060101010101" pitchFamily="49" charset="-122"/>
                                </a:rPr>
                                <m:t>𝑑</m:t>
                              </m:r>
                              <m:r>
                                <a:rPr kumimoji="1" lang="en-US" altLang="zh-CN" sz="2800" b="0">
                                  <a:solidFill>
                                    <a:schemeClr val="tx1"/>
                                  </a:solidFill>
                                  <a:latin typeface="Cambria Math" panose="02040503050406030204" pitchFamily="18" charset="0"/>
                                  <a:ea typeface="黑体" panose="02010609060101010101" pitchFamily="49" charset="-122"/>
                                </a:rPr>
                                <m:t>+</m:t>
                              </m:r>
                              <m:r>
                                <a:rPr kumimoji="1" lang="en-US" altLang="zh-CN" sz="2800" b="0" i="1">
                                  <a:solidFill>
                                    <a:schemeClr val="tx1"/>
                                  </a:solidFill>
                                  <a:latin typeface="Cambria Math" panose="02040503050406030204" pitchFamily="18" charset="0"/>
                                  <a:ea typeface="黑体" panose="02010609060101010101" pitchFamily="49" charset="-122"/>
                                </a:rPr>
                                <m:t>𝑏</m:t>
                              </m:r>
                            </m:num>
                            <m:den>
                              <m:r>
                                <a:rPr kumimoji="1" lang="en-US" altLang="zh-CN" sz="2800" b="0" i="1">
                                  <a:solidFill>
                                    <a:schemeClr val="tx1"/>
                                  </a:solidFill>
                                  <a:latin typeface="Cambria Math" panose="02040503050406030204" pitchFamily="18" charset="0"/>
                                  <a:ea typeface="黑体" panose="02010609060101010101" pitchFamily="49" charset="-122"/>
                                </a:rPr>
                                <m:t>𝑑</m:t>
                              </m:r>
                            </m:den>
                          </m:f>
                        </m:e>
                      </m:func>
                    </m:oMath>
                  </m:oMathPara>
                </a14:m>
                <a:endParaRPr kumimoji="1" lang="en-US" altLang="zh-CN"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39" name="矩形 38">
                <a:extLst>
                  <a:ext uri="{FF2B5EF4-FFF2-40B4-BE49-F238E27FC236}">
                    <a16:creationId xmlns:a16="http://schemas.microsoft.com/office/drawing/2014/main" id="{35FDD8C6-8120-4FE8-8867-8A7784A29C17}"/>
                  </a:ext>
                </a:extLst>
              </p:cNvPr>
              <p:cNvSpPr>
                <a:spLocks noRot="1" noChangeAspect="1" noMove="1" noResize="1" noEditPoints="1" noAdjustHandles="1" noChangeArrowheads="1" noChangeShapeType="1" noTextEdit="1"/>
              </p:cNvSpPr>
              <p:nvPr/>
            </p:nvSpPr>
            <p:spPr>
              <a:xfrm>
                <a:off x="4115122" y="4518944"/>
                <a:ext cx="2677138" cy="1074012"/>
              </a:xfrm>
              <a:prstGeom prst="rect">
                <a:avLst/>
              </a:prstGeom>
              <a:blipFill>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5461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6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89" grpId="0"/>
      <p:bldP spid="184325" grpId="0" animBg="1"/>
      <p:bldP spid="3" grpId="0"/>
      <p:bldP spid="36" grpId="0"/>
      <p:bldP spid="37" grpId="0"/>
      <p:bldP spid="38" grpId="0"/>
      <p:bldP spid="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9" name="Text Box 115"/>
              <p:cNvSpPr txBox="1">
                <a:spLocks noChangeArrowheads="1"/>
              </p:cNvSpPr>
              <p:nvPr/>
            </p:nvSpPr>
            <p:spPr bwMode="auto">
              <a:xfrm>
                <a:off x="1016148" y="1016386"/>
                <a:ext cx="9279878" cy="5847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0" i="0" u="none" dirty="0">
                    <a:latin typeface="+mn-ea"/>
                    <a:ea typeface="+mn-ea"/>
                  </a:rPr>
                  <a:t>- </a:t>
                </a:r>
                <a:r>
                  <a:rPr lang="zh-CN" altLang="en-US" sz="3200" b="0" i="0" u="none" dirty="0">
                    <a:latin typeface="+mn-ea"/>
                    <a:ea typeface="+mn-ea"/>
                  </a:rPr>
                  <a:t>若导线内通有电流</a:t>
                </a:r>
                <a14:m>
                  <m:oMath xmlns:m="http://schemas.openxmlformats.org/officeDocument/2006/math">
                    <m:r>
                      <a:rPr lang="en-US" altLang="zh-CN" sz="3200" b="0" i="1" u="none">
                        <a:latin typeface="Cambria Math" panose="02040503050406030204" pitchFamily="18" charset="0"/>
                        <a:ea typeface="+mn-ea"/>
                      </a:rPr>
                      <m:t>𝐼</m:t>
                    </m:r>
                    <m:r>
                      <a:rPr lang="en-US" altLang="zh-CN" sz="3200" b="0" u="none">
                        <a:latin typeface="Cambria Math" panose="02040503050406030204" pitchFamily="18" charset="0"/>
                        <a:ea typeface="+mn-ea"/>
                      </a:rPr>
                      <m:t>=</m:t>
                    </m:r>
                    <m:r>
                      <a:rPr lang="en-US" altLang="zh-CN" sz="3200" b="0" i="1" u="none">
                        <a:latin typeface="Cambria Math" panose="02040503050406030204" pitchFamily="18" charset="0"/>
                        <a:ea typeface="+mn-ea"/>
                      </a:rPr>
                      <m:t>𝐼</m:t>
                    </m:r>
                    <m:r>
                      <a:rPr lang="en-US" altLang="zh-CN" sz="3200" b="0" i="1" u="none" baseline="-25000">
                        <a:latin typeface="Cambria Math" panose="02040503050406030204" pitchFamily="18" charset="0"/>
                        <a:ea typeface="+mn-ea"/>
                      </a:rPr>
                      <m:t>0</m:t>
                    </m:r>
                    <m:func>
                      <m:funcPr>
                        <m:ctrlPr>
                          <a:rPr lang="en-US" altLang="zh-CN" sz="3200" b="0" i="1" u="none">
                            <a:latin typeface="Cambria Math" panose="02040503050406030204" pitchFamily="18" charset="0"/>
                            <a:ea typeface="+mn-ea"/>
                          </a:rPr>
                        </m:ctrlPr>
                      </m:funcPr>
                      <m:fName>
                        <m:r>
                          <m:rPr>
                            <m:sty m:val="p"/>
                          </m:rPr>
                          <a:rPr lang="en-US" altLang="zh-CN" sz="3200" b="0" i="0" u="none">
                            <a:latin typeface="Cambria Math" panose="02040503050406030204" pitchFamily="18" charset="0"/>
                            <a:ea typeface="+mn-ea"/>
                          </a:rPr>
                          <m:t>sin</m:t>
                        </m:r>
                      </m:fName>
                      <m:e>
                        <m:r>
                          <a:rPr lang="zh-CN" altLang="en-US" sz="3200" b="0" i="1" u="none">
                            <a:latin typeface="Cambria Math" panose="02040503050406030204" pitchFamily="18" charset="0"/>
                            <a:ea typeface="+mn-ea"/>
                          </a:rPr>
                          <m:t>𝜔</m:t>
                        </m:r>
                        <m:r>
                          <a:rPr lang="en-US" altLang="zh-CN" sz="3200" b="0" i="1" u="none">
                            <a:latin typeface="Cambria Math" panose="02040503050406030204" pitchFamily="18" charset="0"/>
                            <a:ea typeface="+mn-ea"/>
                          </a:rPr>
                          <m:t>𝑡</m:t>
                        </m:r>
                      </m:e>
                    </m:func>
                  </m:oMath>
                </a14:m>
                <a:r>
                  <a:rPr lang="en-US" altLang="zh-CN" sz="3200" b="0" i="0" u="none" dirty="0">
                    <a:latin typeface="+mn-ea"/>
                    <a:ea typeface="+mn-ea"/>
                  </a:rPr>
                  <a:t>,</a:t>
                </a:r>
                <a:r>
                  <a:rPr lang="zh-CN" altLang="en-US" sz="3200" b="0" i="0" u="none" dirty="0">
                    <a:latin typeface="+mn-ea"/>
                    <a:ea typeface="+mn-ea"/>
                  </a:rPr>
                  <a:t> 则互感电动势为</a:t>
                </a:r>
              </a:p>
            </p:txBody>
          </p:sp>
        </mc:Choice>
        <mc:Fallback xmlns="">
          <p:sp>
            <p:nvSpPr>
              <p:cNvPr id="59" name="Text Box 115"/>
              <p:cNvSpPr txBox="1">
                <a:spLocks noRot="1" noChangeAspect="1" noMove="1" noResize="1" noEditPoints="1" noAdjustHandles="1" noChangeArrowheads="1" noChangeShapeType="1" noTextEdit="1"/>
              </p:cNvSpPr>
              <p:nvPr/>
            </p:nvSpPr>
            <p:spPr bwMode="auto">
              <a:xfrm>
                <a:off x="1016148" y="1016386"/>
                <a:ext cx="9279878" cy="584775"/>
              </a:xfrm>
              <a:prstGeom prst="rect">
                <a:avLst/>
              </a:prstGeom>
              <a:blipFill>
                <a:blip r:embed="rId2"/>
                <a:stretch>
                  <a:fillRect l="-1708" t="-13542" b="-3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2" name="Group 150"/>
          <p:cNvGrpSpPr>
            <a:grpSpLocks/>
          </p:cNvGrpSpPr>
          <p:nvPr/>
        </p:nvGrpSpPr>
        <p:grpSpPr bwMode="auto">
          <a:xfrm>
            <a:off x="7860848" y="4460249"/>
            <a:ext cx="1820864" cy="2051050"/>
            <a:chOff x="770" y="2784"/>
            <a:chExt cx="1147" cy="1292"/>
          </a:xfrm>
        </p:grpSpPr>
        <p:sp>
          <p:nvSpPr>
            <p:cNvPr id="23" name="Line 67"/>
            <p:cNvSpPr>
              <a:spLocks noChangeShapeType="1"/>
            </p:cNvSpPr>
            <p:nvPr/>
          </p:nvSpPr>
          <p:spPr bwMode="auto">
            <a:xfrm>
              <a:off x="1152" y="2784"/>
              <a:ext cx="0" cy="1200"/>
            </a:xfrm>
            <a:prstGeom prst="line">
              <a:avLst/>
            </a:prstGeom>
            <a:noFill/>
            <a:ln w="44450">
              <a:solidFill>
                <a:srgbClr val="0000FF"/>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p:sp>
          <p:nvSpPr>
            <p:cNvPr id="24" name="Rectangle 68"/>
            <p:cNvSpPr>
              <a:spLocks noChangeArrowheads="1"/>
            </p:cNvSpPr>
            <p:nvPr/>
          </p:nvSpPr>
          <p:spPr bwMode="auto">
            <a:xfrm>
              <a:off x="864" y="2928"/>
              <a:ext cx="576" cy="768"/>
            </a:xfrm>
            <a:prstGeom prst="rect">
              <a:avLst/>
            </a:prstGeom>
            <a:noFill/>
            <a:ln w="4445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0" i="0" u="none">
                <a:latin typeface="+mn-ea"/>
                <a:ea typeface="+mn-ea"/>
              </a:endParaRPr>
            </a:p>
          </p:txBody>
        </p:sp>
        <mc:AlternateContent xmlns:mc="http://schemas.openxmlformats.org/markup-compatibility/2006" xmlns:a14="http://schemas.microsoft.com/office/drawing/2010/main">
          <mc:Choice Requires="a14">
            <p:sp>
              <p:nvSpPr>
                <p:cNvPr id="25" name="Object 15"/>
                <p:cNvSpPr txBox="1"/>
                <p:nvPr/>
              </p:nvSpPr>
              <p:spPr bwMode="auto">
                <a:xfrm>
                  <a:off x="1245" y="3732"/>
                  <a:ext cx="428" cy="344"/>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
                          <m:fPr>
                            <m:type m:val="lin"/>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𝑏</m:t>
                            </m:r>
                          </m:num>
                          <m:den>
                            <m:r>
                              <a:rPr lang="en-US" i="1">
                                <a:solidFill>
                                  <a:srgbClr val="000000"/>
                                </a:solidFill>
                                <a:latin typeface="Cambria Math" panose="02040503050406030204" pitchFamily="18" charset="0"/>
                              </a:rPr>
                              <m:t>2</m:t>
                            </m:r>
                          </m:den>
                        </m:f>
                      </m:oMath>
                    </m:oMathPara>
                  </a14:m>
                  <a:endParaRPr lang="en-US"/>
                </a:p>
              </p:txBody>
            </p:sp>
          </mc:Choice>
          <mc:Fallback xmlns="">
            <p:sp>
              <p:nvSpPr>
                <p:cNvPr id="25" name="Object 15"/>
                <p:cNvSpPr txBox="1">
                  <a:spLocks noRot="1" noChangeAspect="1" noMove="1" noResize="1" noEditPoints="1" noAdjustHandles="1" noChangeArrowheads="1" noChangeShapeType="1" noTextEdit="1"/>
                </p:cNvSpPr>
                <p:nvPr/>
              </p:nvSpPr>
              <p:spPr bwMode="auto">
                <a:xfrm>
                  <a:off x="1245" y="3732"/>
                  <a:ext cx="428" cy="344"/>
                </a:xfrm>
                <a:prstGeom prst="rect">
                  <a:avLst/>
                </a:prstGeom>
                <a:blipFill>
                  <a:blip r:embed="rId4"/>
                  <a:stretch>
                    <a:fillRect l="-29730" t="-78652" r="-58559" b="-89888"/>
                  </a:stretch>
                </a:blipFill>
              </p:spPr>
              <p:txBody>
                <a:bodyPr/>
                <a:lstStyle/>
                <a:p>
                  <a:r>
                    <a:rPr lang="en-US">
                      <a:noFill/>
                    </a:rPr>
                    <a:t> </a:t>
                  </a:r>
                </a:p>
              </p:txBody>
            </p:sp>
          </mc:Fallback>
        </mc:AlternateContent>
        <p:sp>
          <p:nvSpPr>
            <p:cNvPr id="26" name="Line 100"/>
            <p:cNvSpPr>
              <a:spLocks noChangeShapeType="1"/>
            </p:cNvSpPr>
            <p:nvPr/>
          </p:nvSpPr>
          <p:spPr bwMode="auto">
            <a:xfrm>
              <a:off x="1440" y="2928"/>
              <a:ext cx="384" cy="0"/>
            </a:xfrm>
            <a:prstGeom prst="line">
              <a:avLst/>
            </a:prstGeom>
            <a:noFill/>
            <a:ln w="19050">
              <a:solidFill>
                <a:schemeClr val="tx1"/>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p:sp>
          <p:nvSpPr>
            <p:cNvPr id="27" name="Line 101"/>
            <p:cNvSpPr>
              <a:spLocks noChangeShapeType="1"/>
            </p:cNvSpPr>
            <p:nvPr/>
          </p:nvSpPr>
          <p:spPr bwMode="auto">
            <a:xfrm>
              <a:off x="1440" y="3696"/>
              <a:ext cx="384" cy="0"/>
            </a:xfrm>
            <a:prstGeom prst="line">
              <a:avLst/>
            </a:prstGeom>
            <a:noFill/>
            <a:ln w="19050">
              <a:solidFill>
                <a:schemeClr val="tx1"/>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p:sp>
          <p:nvSpPr>
            <p:cNvPr id="28" name="Line 102"/>
            <p:cNvSpPr>
              <a:spLocks noChangeShapeType="1"/>
            </p:cNvSpPr>
            <p:nvPr/>
          </p:nvSpPr>
          <p:spPr bwMode="auto">
            <a:xfrm>
              <a:off x="1680" y="2928"/>
              <a:ext cx="0" cy="768"/>
            </a:xfrm>
            <a:prstGeom prst="line">
              <a:avLst/>
            </a:prstGeom>
            <a:noFill/>
            <a:ln w="19050">
              <a:solidFill>
                <a:srgbClr val="FF0066"/>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mc:AlternateContent xmlns:mc="http://schemas.openxmlformats.org/markup-compatibility/2006" xmlns:a14="http://schemas.microsoft.com/office/drawing/2010/main">
          <mc:Choice Requires="a14">
            <p:sp>
              <p:nvSpPr>
                <p:cNvPr id="29" name="Object 16"/>
                <p:cNvSpPr txBox="1"/>
                <p:nvPr/>
              </p:nvSpPr>
              <p:spPr bwMode="auto">
                <a:xfrm>
                  <a:off x="1664" y="3152"/>
                  <a:ext cx="253" cy="269"/>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𝑙</m:t>
                        </m:r>
                      </m:oMath>
                    </m:oMathPara>
                  </a14:m>
                  <a:endParaRPr lang="en-US"/>
                </a:p>
              </p:txBody>
            </p:sp>
          </mc:Choice>
          <mc:Fallback xmlns="">
            <p:sp>
              <p:nvSpPr>
                <p:cNvPr id="29" name="Object 16"/>
                <p:cNvSpPr txBox="1">
                  <a:spLocks noRot="1" noChangeAspect="1" noMove="1" noResize="1" noEditPoints="1" noAdjustHandles="1" noChangeArrowheads="1" noChangeShapeType="1" noTextEdit="1"/>
                </p:cNvSpPr>
                <p:nvPr/>
              </p:nvSpPr>
              <p:spPr bwMode="auto">
                <a:xfrm>
                  <a:off x="1664" y="3152"/>
                  <a:ext cx="253" cy="269"/>
                </a:xfrm>
                <a:prstGeom prst="rect">
                  <a:avLst/>
                </a:prstGeom>
                <a:blipFill>
                  <a:blip r:embed="rId5"/>
                  <a:stretch>
                    <a:fillRect/>
                  </a:stretch>
                </a:blipFill>
              </p:spPr>
              <p:txBody>
                <a:bodyPr/>
                <a:lstStyle/>
                <a:p>
                  <a:r>
                    <a:rPr lang="en-US">
                      <a:noFill/>
                    </a:rPr>
                    <a:t> </a:t>
                  </a:r>
                </a:p>
              </p:txBody>
            </p:sp>
          </mc:Fallback>
        </mc:AlternateContent>
        <p:grpSp>
          <p:nvGrpSpPr>
            <p:cNvPr id="30" name="Group 104"/>
            <p:cNvGrpSpPr>
              <a:grpSpLocks/>
            </p:cNvGrpSpPr>
            <p:nvPr/>
          </p:nvGrpSpPr>
          <p:grpSpPr bwMode="auto">
            <a:xfrm>
              <a:off x="932" y="3016"/>
              <a:ext cx="220" cy="368"/>
              <a:chOff x="404" y="1144"/>
              <a:chExt cx="220" cy="368"/>
            </a:xfrm>
          </p:grpSpPr>
          <p:sp>
            <p:nvSpPr>
              <p:cNvPr id="36" name="Line 105"/>
              <p:cNvSpPr>
                <a:spLocks noChangeShapeType="1"/>
              </p:cNvSpPr>
              <p:nvPr/>
            </p:nvSpPr>
            <p:spPr bwMode="auto">
              <a:xfrm flipV="1">
                <a:off x="624" y="1152"/>
                <a:ext cx="0" cy="360"/>
              </a:xfrm>
              <a:prstGeom prst="line">
                <a:avLst/>
              </a:prstGeom>
              <a:noFill/>
              <a:ln w="57150">
                <a:solidFill>
                  <a:srgbClr val="FF00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mc:AlternateContent xmlns:mc="http://schemas.openxmlformats.org/markup-compatibility/2006" xmlns:a14="http://schemas.microsoft.com/office/drawing/2010/main">
            <mc:Choice Requires="a14">
              <p:sp>
                <p:nvSpPr>
                  <p:cNvPr id="37" name="Object 18"/>
                  <p:cNvSpPr txBox="1"/>
                  <p:nvPr/>
                </p:nvSpPr>
                <p:spPr bwMode="auto">
                  <a:xfrm>
                    <a:off x="404" y="1144"/>
                    <a:ext cx="172" cy="207"/>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𝐼</m:t>
                          </m:r>
                        </m:oMath>
                      </m:oMathPara>
                    </a14:m>
                    <a:endParaRPr lang="en-US"/>
                  </a:p>
                </p:txBody>
              </p:sp>
            </mc:Choice>
            <mc:Fallback xmlns="">
              <p:sp>
                <p:nvSpPr>
                  <p:cNvPr id="37" name="Object 18"/>
                  <p:cNvSpPr txBox="1">
                    <a:spLocks noRot="1" noChangeAspect="1" noMove="1" noResize="1" noEditPoints="1" noAdjustHandles="1" noChangeArrowheads="1" noChangeShapeType="1" noTextEdit="1"/>
                  </p:cNvSpPr>
                  <p:nvPr/>
                </p:nvSpPr>
                <p:spPr bwMode="auto">
                  <a:xfrm>
                    <a:off x="404" y="1144"/>
                    <a:ext cx="172" cy="207"/>
                  </a:xfrm>
                  <a:prstGeom prst="rect">
                    <a:avLst/>
                  </a:prstGeom>
                  <a:blipFill>
                    <a:blip r:embed="rId6"/>
                    <a:stretch>
                      <a:fillRect/>
                    </a:stretch>
                  </a:blipFill>
                </p:spPr>
                <p:txBody>
                  <a:bodyPr/>
                  <a:lstStyle/>
                  <a:p>
                    <a:r>
                      <a:rPr lang="en-US">
                        <a:noFill/>
                      </a:rPr>
                      <a:t> </a:t>
                    </a:r>
                  </a:p>
                </p:txBody>
              </p:sp>
            </mc:Fallback>
          </mc:AlternateContent>
        </p:grpSp>
        <p:sp>
          <p:nvSpPr>
            <p:cNvPr id="31" name="Line 107"/>
            <p:cNvSpPr>
              <a:spLocks noChangeShapeType="1"/>
            </p:cNvSpPr>
            <p:nvPr/>
          </p:nvSpPr>
          <p:spPr bwMode="auto">
            <a:xfrm>
              <a:off x="864" y="3744"/>
              <a:ext cx="288" cy="0"/>
            </a:xfrm>
            <a:prstGeom prst="line">
              <a:avLst/>
            </a:prstGeom>
            <a:noFill/>
            <a:ln w="12700">
              <a:solidFill>
                <a:srgbClr val="FF0066"/>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p:sp>
          <p:nvSpPr>
            <p:cNvPr id="32" name="Line 108"/>
            <p:cNvSpPr>
              <a:spLocks noChangeShapeType="1"/>
            </p:cNvSpPr>
            <p:nvPr/>
          </p:nvSpPr>
          <p:spPr bwMode="auto">
            <a:xfrm>
              <a:off x="864" y="3696"/>
              <a:ext cx="0" cy="14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lstStyle/>
            <a:p>
              <a:endParaRPr lang="zh-CN" altLang="en-US">
                <a:latin typeface="+mn-ea"/>
              </a:endParaRPr>
            </a:p>
          </p:txBody>
        </p:sp>
        <p:sp>
          <p:nvSpPr>
            <p:cNvPr id="33" name="Line 109"/>
            <p:cNvSpPr>
              <a:spLocks noChangeShapeType="1"/>
            </p:cNvSpPr>
            <p:nvPr/>
          </p:nvSpPr>
          <p:spPr bwMode="auto">
            <a:xfrm>
              <a:off x="1152" y="3744"/>
              <a:ext cx="288" cy="0"/>
            </a:xfrm>
            <a:prstGeom prst="line">
              <a:avLst/>
            </a:prstGeom>
            <a:noFill/>
            <a:ln w="12700">
              <a:solidFill>
                <a:srgbClr val="FF0066"/>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p:sp>
          <p:nvSpPr>
            <p:cNvPr id="34" name="Line 110"/>
            <p:cNvSpPr>
              <a:spLocks noChangeShapeType="1"/>
            </p:cNvSpPr>
            <p:nvPr/>
          </p:nvSpPr>
          <p:spPr bwMode="auto">
            <a:xfrm>
              <a:off x="1440" y="3696"/>
              <a:ext cx="0" cy="14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lstStyle/>
            <a:p>
              <a:endParaRPr lang="zh-CN" altLang="en-US">
                <a:latin typeface="+mn-ea"/>
              </a:endParaRPr>
            </a:p>
          </p:txBody>
        </p:sp>
        <mc:AlternateContent xmlns:mc="http://schemas.openxmlformats.org/markup-compatibility/2006" xmlns:a14="http://schemas.microsoft.com/office/drawing/2010/main">
          <mc:Choice Requires="a14">
            <p:sp>
              <p:nvSpPr>
                <p:cNvPr id="35" name="Object 17"/>
                <p:cNvSpPr txBox="1"/>
                <p:nvPr/>
              </p:nvSpPr>
              <p:spPr bwMode="auto">
                <a:xfrm>
                  <a:off x="770" y="3775"/>
                  <a:ext cx="358" cy="28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
                          <m:fPr>
                            <m:type m:val="lin"/>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𝑏</m:t>
                            </m:r>
                          </m:num>
                          <m:den>
                            <m:r>
                              <a:rPr lang="en-US" i="1">
                                <a:solidFill>
                                  <a:srgbClr val="000000"/>
                                </a:solidFill>
                                <a:latin typeface="Cambria Math" panose="02040503050406030204" pitchFamily="18" charset="0"/>
                              </a:rPr>
                              <m:t>2</m:t>
                            </m:r>
                          </m:den>
                        </m:f>
                      </m:oMath>
                    </m:oMathPara>
                  </a14:m>
                  <a:endParaRPr lang="en-US"/>
                </a:p>
              </p:txBody>
            </p:sp>
          </mc:Choice>
          <mc:Fallback xmlns="">
            <p:sp>
              <p:nvSpPr>
                <p:cNvPr id="35" name="Object 17"/>
                <p:cNvSpPr txBox="1">
                  <a:spLocks noRot="1" noChangeAspect="1" noMove="1" noResize="1" noEditPoints="1" noAdjustHandles="1" noChangeArrowheads="1" noChangeShapeType="1" noTextEdit="1"/>
                </p:cNvSpPr>
                <p:nvPr/>
              </p:nvSpPr>
              <p:spPr bwMode="auto">
                <a:xfrm>
                  <a:off x="770" y="3775"/>
                  <a:ext cx="358" cy="287"/>
                </a:xfrm>
                <a:prstGeom prst="rect">
                  <a:avLst/>
                </a:prstGeom>
                <a:blipFill>
                  <a:blip r:embed="rId7"/>
                  <a:stretch>
                    <a:fillRect l="-34409" t="-93333" r="-80645" b="-125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8" name="Text Box 115"/>
              <p:cNvSpPr txBox="1">
                <a:spLocks noChangeArrowheads="1"/>
              </p:cNvSpPr>
              <p:nvPr/>
            </p:nvSpPr>
            <p:spPr bwMode="auto">
              <a:xfrm>
                <a:off x="1502124" y="4618553"/>
                <a:ext cx="5832648" cy="10772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0" i="0" u="none" dirty="0">
                    <a:latin typeface="+mn-ea"/>
                    <a:ea typeface="+mn-ea"/>
                  </a:rPr>
                  <a:t>若导线如左图放置</a:t>
                </a:r>
                <a:r>
                  <a:rPr lang="en-US" altLang="zh-CN" sz="3200" b="0" i="0" u="none" dirty="0">
                    <a:latin typeface="+mn-ea"/>
                    <a:ea typeface="+mn-ea"/>
                  </a:rPr>
                  <a:t>,  </a:t>
                </a:r>
                <a:r>
                  <a:rPr lang="zh-CN" altLang="en-US" sz="3200" b="0" i="0" u="none" dirty="0">
                    <a:latin typeface="+mn-ea"/>
                    <a:ea typeface="+mn-ea"/>
                  </a:rPr>
                  <a:t>根据对称性可知</a:t>
                </a:r>
                <a14:m>
                  <m:oMath xmlns:m="http://schemas.openxmlformats.org/officeDocument/2006/math">
                    <m:r>
                      <a:rPr lang="zh-CN" altLang="en-US" sz="3200" b="0" i="1" u="none">
                        <a:latin typeface="Cambria Math" panose="02040503050406030204" pitchFamily="18" charset="0"/>
                        <a:ea typeface="+mn-ea"/>
                      </a:rPr>
                      <m:t>𝜙</m:t>
                    </m:r>
                    <m:r>
                      <a:rPr lang="en-US" altLang="zh-CN" sz="3200" b="0" u="none">
                        <a:latin typeface="Cambria Math" panose="02040503050406030204" pitchFamily="18" charset="0"/>
                        <a:ea typeface="+mn-ea"/>
                      </a:rPr>
                      <m:t>=</m:t>
                    </m:r>
                    <m:r>
                      <a:rPr lang="en-US" altLang="zh-CN" sz="3200" b="0" i="1" u="none">
                        <a:latin typeface="Cambria Math" panose="02040503050406030204" pitchFamily="18" charset="0"/>
                        <a:ea typeface="+mn-ea"/>
                      </a:rPr>
                      <m:t>0</m:t>
                    </m:r>
                  </m:oMath>
                </a14:m>
                <a:r>
                  <a:rPr lang="en-US" altLang="zh-CN" sz="3200" b="0" i="0" u="none" dirty="0">
                    <a:latin typeface="+mn-ea"/>
                    <a:ea typeface="+mn-ea"/>
                  </a:rPr>
                  <a:t>,</a:t>
                </a:r>
                <a:r>
                  <a:rPr lang="zh-CN" altLang="en-US" sz="3200" b="0" i="0" u="none" dirty="0">
                    <a:latin typeface="+mn-ea"/>
                    <a:ea typeface="+mn-ea"/>
                  </a:rPr>
                  <a:t>得</a:t>
                </a:r>
                <a14:m>
                  <m:oMath xmlns:m="http://schemas.openxmlformats.org/officeDocument/2006/math">
                    <m:r>
                      <a:rPr lang="en-US" altLang="zh-CN" sz="3200" b="0" i="1" u="none">
                        <a:latin typeface="Cambria Math" panose="02040503050406030204" pitchFamily="18" charset="0"/>
                        <a:ea typeface="+mn-ea"/>
                      </a:rPr>
                      <m:t>𝑀</m:t>
                    </m:r>
                    <m:r>
                      <a:rPr lang="en-US" altLang="zh-CN" sz="3200" b="0" u="none">
                        <a:latin typeface="Cambria Math" panose="02040503050406030204" pitchFamily="18" charset="0"/>
                        <a:ea typeface="+mn-ea"/>
                      </a:rPr>
                      <m:t>=</m:t>
                    </m:r>
                    <m:r>
                      <a:rPr lang="en-US" altLang="zh-CN" sz="3200" b="0" i="1" u="none">
                        <a:latin typeface="Cambria Math" panose="02040503050406030204" pitchFamily="18" charset="0"/>
                        <a:ea typeface="+mn-ea"/>
                      </a:rPr>
                      <m:t>0</m:t>
                    </m:r>
                  </m:oMath>
                </a14:m>
                <a:endParaRPr lang="zh-CN" altLang="en-US" sz="3200" b="0" i="0" u="none" dirty="0">
                  <a:latin typeface="+mn-ea"/>
                  <a:ea typeface="+mn-ea"/>
                </a:endParaRPr>
              </a:p>
            </p:txBody>
          </p:sp>
        </mc:Choice>
        <mc:Fallback xmlns="">
          <p:sp>
            <p:nvSpPr>
              <p:cNvPr id="38" name="Text Box 115"/>
              <p:cNvSpPr txBox="1">
                <a:spLocks noRot="1" noChangeAspect="1" noMove="1" noResize="1" noEditPoints="1" noAdjustHandles="1" noChangeArrowheads="1" noChangeShapeType="1" noTextEdit="1"/>
              </p:cNvSpPr>
              <p:nvPr/>
            </p:nvSpPr>
            <p:spPr bwMode="auto">
              <a:xfrm>
                <a:off x="1502124" y="4618553"/>
                <a:ext cx="5832648" cy="1077218"/>
              </a:xfrm>
              <a:prstGeom prst="rect">
                <a:avLst/>
              </a:prstGeom>
              <a:blipFill>
                <a:blip r:embed="rId8"/>
                <a:stretch>
                  <a:fillRect l="-2612" t="-7955" r="-1672" b="-1818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B2AACE7F-FBAA-472D-B8E7-B63691096C21}"/>
                  </a:ext>
                </a:extLst>
              </p:cNvPr>
              <p:cNvSpPr txBox="1"/>
              <p:nvPr/>
            </p:nvSpPr>
            <p:spPr>
              <a:xfrm>
                <a:off x="2640455" y="1726574"/>
                <a:ext cx="5974456" cy="935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3200" b="0" i="1">
                          <a:latin typeface="Cambria Math" panose="02040503050406030204" pitchFamily="18" charset="0"/>
                        </a:rPr>
                        <m:t>𝜀</m:t>
                      </m:r>
                      <m:r>
                        <m:rPr>
                          <m:nor/>
                        </m:rPr>
                        <a:rPr lang="en-US" altLang="zh-CN" sz="3200" dirty="0">
                          <a:latin typeface="+mn-ea"/>
                        </a:rPr>
                        <m:t>=</m:t>
                      </m:r>
                      <m:r>
                        <a:rPr lang="en-US" altLang="zh-CN" sz="3200" i="1">
                          <a:latin typeface="Cambria Math" panose="02040503050406030204" pitchFamily="18" charset="0"/>
                        </a:rPr>
                        <m:t>−</m:t>
                      </m:r>
                      <m:f>
                        <m:fPr>
                          <m:ctrlPr>
                            <a:rPr lang="en-US" altLang="zh-CN" sz="3200" i="1">
                              <a:latin typeface="Cambria Math" panose="02040503050406030204" pitchFamily="18" charset="0"/>
                            </a:rPr>
                          </m:ctrlPr>
                        </m:fPr>
                        <m:num>
                          <m:r>
                            <a:rPr lang="en-US" altLang="zh-CN" sz="3200" i="1">
                              <a:latin typeface="Cambria Math" panose="02040503050406030204" pitchFamily="18" charset="0"/>
                            </a:rPr>
                            <m:t>𝑑</m:t>
                          </m:r>
                          <m:r>
                            <a:rPr lang="zh-CN" altLang="en-US" sz="3200" i="1">
                              <a:latin typeface="Cambria Math" panose="02040503050406030204" pitchFamily="18" charset="0"/>
                            </a:rPr>
                            <m:t>𝛷</m:t>
                          </m:r>
                        </m:num>
                        <m:den>
                          <m:r>
                            <a:rPr lang="en-US" altLang="zh-CN" sz="3200" i="1">
                              <a:latin typeface="Cambria Math" panose="02040503050406030204" pitchFamily="18" charset="0"/>
                            </a:rPr>
                            <m:t>𝑑𝑡</m:t>
                          </m:r>
                        </m:den>
                      </m:f>
                      <m:r>
                        <a:rPr lang="en-US" altLang="zh-CN" sz="3200" b="0" i="1">
                          <a:latin typeface="Cambria Math" panose="02040503050406030204" pitchFamily="18" charset="0"/>
                        </a:rPr>
                        <m:t>=−</m:t>
                      </m:r>
                      <m:r>
                        <a:rPr lang="en-US" altLang="zh-CN" sz="3200" b="0" i="1">
                          <a:latin typeface="Cambria Math" panose="02040503050406030204" pitchFamily="18" charset="0"/>
                        </a:rPr>
                        <m:t>𝑀</m:t>
                      </m:r>
                      <m:f>
                        <m:fPr>
                          <m:ctrlPr>
                            <a:rPr lang="en-US" altLang="zh-CN" sz="3200" i="1">
                              <a:latin typeface="Cambria Math" panose="02040503050406030204" pitchFamily="18" charset="0"/>
                            </a:rPr>
                          </m:ctrlPr>
                        </m:fPr>
                        <m:num>
                          <m:r>
                            <a:rPr lang="en-US" altLang="zh-CN" sz="3200" b="0" i="1">
                              <a:latin typeface="Cambria Math" panose="02040503050406030204" pitchFamily="18" charset="0"/>
                            </a:rPr>
                            <m:t>𝑑𝐼</m:t>
                          </m:r>
                        </m:num>
                        <m:den>
                          <m:r>
                            <a:rPr lang="en-US" altLang="zh-CN" sz="3200" b="0" i="1">
                              <a:latin typeface="Cambria Math" panose="02040503050406030204" pitchFamily="18" charset="0"/>
                            </a:rPr>
                            <m:t>𝑑𝑡</m:t>
                          </m:r>
                        </m:den>
                      </m:f>
                      <m:r>
                        <a:rPr lang="en-US" altLang="zh-CN" sz="3200" b="0" i="1">
                          <a:latin typeface="Cambria Math" panose="02040503050406030204" pitchFamily="18" charset="0"/>
                        </a:rPr>
                        <m:t>=</m:t>
                      </m:r>
                      <m:r>
                        <a:rPr lang="en-US" altLang="zh-CN" sz="3200" b="0" i="1">
                          <a:latin typeface="Cambria Math" panose="02040503050406030204" pitchFamily="18" charset="0"/>
                        </a:rPr>
                        <m:t>𝑀</m:t>
                      </m:r>
                      <m:r>
                        <a:rPr lang="zh-CN" altLang="en-US" sz="3200" b="0" i="1">
                          <a:latin typeface="Cambria Math" panose="02040503050406030204" pitchFamily="18" charset="0"/>
                        </a:rPr>
                        <m:t>𝜔</m:t>
                      </m:r>
                      <m:sSub>
                        <m:sSubPr>
                          <m:ctrlPr>
                            <a:rPr lang="en-US" altLang="zh-CN" sz="3200" i="1">
                              <a:latin typeface="Cambria Math" panose="02040503050406030204" pitchFamily="18" charset="0"/>
                            </a:rPr>
                          </m:ctrlPr>
                        </m:sSubPr>
                        <m:e>
                          <m:r>
                            <a:rPr lang="en-US" altLang="zh-CN" sz="3200" b="0" i="1">
                              <a:latin typeface="Cambria Math" panose="02040503050406030204" pitchFamily="18" charset="0"/>
                            </a:rPr>
                            <m:t>𝐼</m:t>
                          </m:r>
                        </m:e>
                        <m:sub>
                          <m:r>
                            <a:rPr lang="en-US" altLang="zh-CN" sz="3200" b="0" i="1">
                              <a:latin typeface="Cambria Math" panose="02040503050406030204" pitchFamily="18" charset="0"/>
                            </a:rPr>
                            <m:t>0</m:t>
                          </m:r>
                        </m:sub>
                      </m:sSub>
                      <m:func>
                        <m:funcPr>
                          <m:ctrlPr>
                            <a:rPr lang="en-US" altLang="zh-CN" sz="3200" i="1">
                              <a:latin typeface="Cambria Math" panose="02040503050406030204" pitchFamily="18" charset="0"/>
                            </a:rPr>
                          </m:ctrlPr>
                        </m:funcPr>
                        <m:fName>
                          <m:r>
                            <m:rPr>
                              <m:sty m:val="p"/>
                            </m:rPr>
                            <a:rPr lang="en-US" altLang="zh-CN" sz="3200" b="0">
                              <a:latin typeface="Cambria Math" panose="02040503050406030204" pitchFamily="18" charset="0"/>
                            </a:rPr>
                            <m:t>cos</m:t>
                          </m:r>
                        </m:fName>
                        <m:e>
                          <m:r>
                            <a:rPr lang="zh-CN" altLang="en-US" sz="3200" b="0" i="1">
                              <a:latin typeface="Cambria Math" panose="02040503050406030204" pitchFamily="18" charset="0"/>
                            </a:rPr>
                            <m:t>𝜔</m:t>
                          </m:r>
                          <m:r>
                            <a:rPr lang="en-US" altLang="zh-CN" sz="3200" b="0" i="1">
                              <a:latin typeface="Cambria Math" panose="02040503050406030204" pitchFamily="18" charset="0"/>
                            </a:rPr>
                            <m:t>𝑡</m:t>
                          </m:r>
                        </m:e>
                      </m:func>
                    </m:oMath>
                  </m:oMathPara>
                </a14:m>
                <a:endParaRPr lang="en-US" altLang="zh-CN" sz="3200" dirty="0">
                  <a:latin typeface="+mn-ea"/>
                </a:endParaRPr>
              </a:p>
            </p:txBody>
          </p:sp>
        </mc:Choice>
        <mc:Fallback xmlns="">
          <p:sp>
            <p:nvSpPr>
              <p:cNvPr id="39" name="文本框 38">
                <a:extLst>
                  <a:ext uri="{FF2B5EF4-FFF2-40B4-BE49-F238E27FC236}">
                    <a16:creationId xmlns:a16="http://schemas.microsoft.com/office/drawing/2014/main" id="{B2AACE7F-FBAA-472D-B8E7-B63691096C21}"/>
                  </a:ext>
                </a:extLst>
              </p:cNvPr>
              <p:cNvSpPr txBox="1">
                <a:spLocks noRot="1" noChangeAspect="1" noMove="1" noResize="1" noEditPoints="1" noAdjustHandles="1" noChangeArrowheads="1" noChangeShapeType="1" noTextEdit="1"/>
              </p:cNvSpPr>
              <p:nvPr/>
            </p:nvSpPr>
            <p:spPr>
              <a:xfrm>
                <a:off x="2640455" y="1726574"/>
                <a:ext cx="5974456" cy="935000"/>
              </a:xfrm>
              <a:prstGeom prst="rect">
                <a:avLst/>
              </a:prstGeom>
              <a:blipFill>
                <a:blip r:embed="rId9"/>
                <a:stretch>
                  <a:fillRect/>
                </a:stretch>
              </a:blipFill>
            </p:spPr>
            <p:txBody>
              <a:bodyPr/>
              <a:lstStyle/>
              <a:p>
                <a:r>
                  <a:rPr lang="zh-CN" altLang="en-US">
                    <a:noFill/>
                  </a:rPr>
                  <a:t> </a:t>
                </a:r>
              </a:p>
            </p:txBody>
          </p:sp>
        </mc:Fallback>
      </mc:AlternateContent>
      <p:sp>
        <p:nvSpPr>
          <p:cNvPr id="3" name="Text Box 115">
            <a:extLst>
              <a:ext uri="{FF2B5EF4-FFF2-40B4-BE49-F238E27FC236}">
                <a16:creationId xmlns:a16="http://schemas.microsoft.com/office/drawing/2014/main" id="{672C60F6-8078-5FA6-BCFE-F2468100A892}"/>
              </a:ext>
            </a:extLst>
          </p:cNvPr>
          <p:cNvSpPr txBox="1">
            <a:spLocks noChangeArrowheads="1"/>
          </p:cNvSpPr>
          <p:nvPr/>
        </p:nvSpPr>
        <p:spPr bwMode="auto">
          <a:xfrm>
            <a:off x="1133953" y="2849555"/>
            <a:ext cx="46928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0" i="0" u="none" dirty="0">
                <a:latin typeface="+mn-lt"/>
                <a:ea typeface="+mn-ea"/>
              </a:rPr>
              <a:t>- </a:t>
            </a:r>
            <a:r>
              <a:rPr lang="zh-CN" altLang="en-US" sz="3200" b="0" i="0" u="none" dirty="0">
                <a:latin typeface="+mn-lt"/>
                <a:ea typeface="+mn-ea"/>
              </a:rPr>
              <a:t>若线圈匝数为</a:t>
            </a:r>
            <a:r>
              <a:rPr lang="en-US" altLang="zh-CN" sz="3200" b="0" i="0" u="none" dirty="0">
                <a:latin typeface="+mn-lt"/>
                <a:ea typeface="+mn-ea"/>
              </a:rPr>
              <a:t>N</a:t>
            </a:r>
            <a:r>
              <a:rPr lang="zh-CN" altLang="en-US" sz="3200" b="0" i="0" u="none" dirty="0">
                <a:latin typeface="+mn-lt"/>
                <a:ea typeface="+mn-ea"/>
              </a:rPr>
              <a:t>，则</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1F2331D-8E47-A1EB-C212-2370AC3F459B}"/>
                  </a:ext>
                </a:extLst>
              </p:cNvPr>
              <p:cNvSpPr txBox="1"/>
              <p:nvPr/>
            </p:nvSpPr>
            <p:spPr>
              <a:xfrm>
                <a:off x="5027505" y="2887780"/>
                <a:ext cx="300383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3200" b="0" i="1">
                          <a:latin typeface="Cambria Math" panose="02040503050406030204" pitchFamily="18" charset="0"/>
                        </a:rPr>
                        <m:t>𝜀</m:t>
                      </m:r>
                      <m:r>
                        <m:rPr>
                          <m:nor/>
                        </m:rPr>
                        <a:rPr lang="en-US" altLang="zh-CN" sz="3200" dirty="0">
                          <a:latin typeface="+mn-ea"/>
                        </a:rPr>
                        <m:t>=</m:t>
                      </m:r>
                      <m:r>
                        <m:rPr>
                          <m:sty m:val="p"/>
                        </m:rPr>
                        <a:rPr lang="en-US" altLang="zh-CN" sz="3200" i="1" dirty="0">
                          <a:latin typeface="Cambria Math" panose="02040503050406030204" pitchFamily="18" charset="0"/>
                        </a:rPr>
                        <m:t>N</m:t>
                      </m:r>
                      <m:r>
                        <a:rPr lang="en-US" altLang="zh-CN" sz="3200" b="0" i="1">
                          <a:latin typeface="Cambria Math" panose="02040503050406030204" pitchFamily="18" charset="0"/>
                        </a:rPr>
                        <m:t>𝑀</m:t>
                      </m:r>
                      <m:r>
                        <a:rPr lang="zh-CN" altLang="en-US" sz="3200" b="0" i="1">
                          <a:latin typeface="Cambria Math" panose="02040503050406030204" pitchFamily="18" charset="0"/>
                        </a:rPr>
                        <m:t>𝜔</m:t>
                      </m:r>
                      <m:sSub>
                        <m:sSubPr>
                          <m:ctrlPr>
                            <a:rPr lang="en-US" altLang="zh-CN" sz="3200" i="1">
                              <a:latin typeface="Cambria Math" panose="02040503050406030204" pitchFamily="18" charset="0"/>
                            </a:rPr>
                          </m:ctrlPr>
                        </m:sSubPr>
                        <m:e>
                          <m:r>
                            <a:rPr lang="en-US" altLang="zh-CN" sz="3200" b="0" i="1">
                              <a:latin typeface="Cambria Math" panose="02040503050406030204" pitchFamily="18" charset="0"/>
                            </a:rPr>
                            <m:t>𝐼</m:t>
                          </m:r>
                        </m:e>
                        <m:sub>
                          <m:r>
                            <a:rPr lang="en-US" altLang="zh-CN" sz="3200" b="0" i="1">
                              <a:latin typeface="Cambria Math" panose="02040503050406030204" pitchFamily="18" charset="0"/>
                            </a:rPr>
                            <m:t>0</m:t>
                          </m:r>
                        </m:sub>
                      </m:sSub>
                      <m:func>
                        <m:funcPr>
                          <m:ctrlPr>
                            <a:rPr lang="en-US" altLang="zh-CN" sz="3200" i="1">
                              <a:latin typeface="Cambria Math" panose="02040503050406030204" pitchFamily="18" charset="0"/>
                            </a:rPr>
                          </m:ctrlPr>
                        </m:funcPr>
                        <m:fName>
                          <m:r>
                            <m:rPr>
                              <m:sty m:val="p"/>
                            </m:rPr>
                            <a:rPr lang="en-US" altLang="zh-CN" sz="3200" b="0">
                              <a:latin typeface="Cambria Math" panose="02040503050406030204" pitchFamily="18" charset="0"/>
                            </a:rPr>
                            <m:t>cos</m:t>
                          </m:r>
                        </m:fName>
                        <m:e>
                          <m:r>
                            <a:rPr lang="zh-CN" altLang="en-US" sz="3200" b="0" i="1">
                              <a:latin typeface="Cambria Math" panose="02040503050406030204" pitchFamily="18" charset="0"/>
                            </a:rPr>
                            <m:t>𝜔</m:t>
                          </m:r>
                          <m:r>
                            <a:rPr lang="en-US" altLang="zh-CN" sz="3200" b="0" i="1">
                              <a:latin typeface="Cambria Math" panose="02040503050406030204" pitchFamily="18" charset="0"/>
                            </a:rPr>
                            <m:t>𝑡</m:t>
                          </m:r>
                        </m:e>
                      </m:func>
                    </m:oMath>
                  </m:oMathPara>
                </a14:m>
                <a:endParaRPr lang="en-US" altLang="zh-CN" sz="3200" dirty="0">
                  <a:latin typeface="+mn-ea"/>
                </a:endParaRPr>
              </a:p>
            </p:txBody>
          </p:sp>
        </mc:Choice>
        <mc:Fallback xmlns="">
          <p:sp>
            <p:nvSpPr>
              <p:cNvPr id="4" name="文本框 3">
                <a:extLst>
                  <a:ext uri="{FF2B5EF4-FFF2-40B4-BE49-F238E27FC236}">
                    <a16:creationId xmlns:a16="http://schemas.microsoft.com/office/drawing/2014/main" id="{E1F2331D-8E47-A1EB-C212-2370AC3F459B}"/>
                  </a:ext>
                </a:extLst>
              </p:cNvPr>
              <p:cNvSpPr txBox="1">
                <a:spLocks noRot="1" noChangeAspect="1" noMove="1" noResize="1" noEditPoints="1" noAdjustHandles="1" noChangeArrowheads="1" noChangeShapeType="1" noTextEdit="1"/>
              </p:cNvSpPr>
              <p:nvPr/>
            </p:nvSpPr>
            <p:spPr>
              <a:xfrm>
                <a:off x="5027505" y="2887780"/>
                <a:ext cx="3003836" cy="492443"/>
              </a:xfrm>
              <a:prstGeom prst="rect">
                <a:avLst/>
              </a:prstGeom>
              <a:blipFill>
                <a:blip r:embed="rId10"/>
                <a:stretch>
                  <a:fillRect/>
                </a:stretch>
              </a:blipFill>
            </p:spPr>
            <p:txBody>
              <a:bodyPr/>
              <a:lstStyle/>
              <a:p>
                <a:r>
                  <a:rPr lang="zh-CN" altLang="en-US">
                    <a:noFill/>
                  </a:rPr>
                  <a:t> </a:t>
                </a:r>
              </a:p>
            </p:txBody>
          </p:sp>
        </mc:Fallback>
      </mc:AlternateContent>
      <p:sp>
        <p:nvSpPr>
          <p:cNvPr id="5" name="Text Box 115">
            <a:extLst>
              <a:ext uri="{FF2B5EF4-FFF2-40B4-BE49-F238E27FC236}">
                <a16:creationId xmlns:a16="http://schemas.microsoft.com/office/drawing/2014/main" id="{93539D66-101F-6238-B26F-344CB6F73747}"/>
              </a:ext>
            </a:extLst>
          </p:cNvPr>
          <p:cNvSpPr txBox="1">
            <a:spLocks noChangeArrowheads="1"/>
          </p:cNvSpPr>
          <p:nvPr/>
        </p:nvSpPr>
        <p:spPr bwMode="auto">
          <a:xfrm>
            <a:off x="2342993" y="3554512"/>
            <a:ext cx="73780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0" i="0" u="none" dirty="0">
                <a:latin typeface="+mn-lt"/>
                <a:ea typeface="+mn-ea"/>
              </a:rPr>
              <a:t>线圈匝数可有效调节互感电动势</a:t>
            </a:r>
          </a:p>
        </p:txBody>
      </p:sp>
    </p:spTree>
    <p:extLst>
      <p:ext uri="{BB962C8B-B14F-4D97-AF65-F5344CB8AC3E}">
        <p14:creationId xmlns:p14="http://schemas.microsoft.com/office/powerpoint/2010/main" val="130956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Photograph of several soldiers in an open field. One soldier is searching for explosives by scanning the surface using a metal detector.">
            <a:extLst>
              <a:ext uri="{FF2B5EF4-FFF2-40B4-BE49-F238E27FC236}">
                <a16:creationId xmlns:a16="http://schemas.microsoft.com/office/drawing/2014/main" id="{92D1492F-5768-4D2E-9D6D-1DA5C0D916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1" y="3374656"/>
            <a:ext cx="4933133" cy="3263457"/>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10">
            <a:extLst>
              <a:ext uri="{FF2B5EF4-FFF2-40B4-BE49-F238E27FC236}">
                <a16:creationId xmlns:a16="http://schemas.microsoft.com/office/drawing/2014/main" id="{21141B78-77E9-498B-BD2F-9B1C11D25233}"/>
              </a:ext>
            </a:extLst>
          </p:cNvPr>
          <p:cNvSpPr txBox="1">
            <a:spLocks noChangeArrowheads="1"/>
          </p:cNvSpPr>
          <p:nvPr/>
        </p:nvSpPr>
        <p:spPr bwMode="auto">
          <a:xfrm>
            <a:off x="1631504" y="1350880"/>
            <a:ext cx="172878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3200" b="0" i="0" u="none" dirty="0">
                <a:latin typeface="华文楷体" panose="02010600040101010101" pitchFamily="2" charset="-122"/>
                <a:ea typeface="华文楷体" panose="02010600040101010101" pitchFamily="2" charset="-122"/>
              </a:rPr>
              <a:t>变压器</a:t>
            </a:r>
          </a:p>
          <a:p>
            <a:pPr>
              <a:spcBef>
                <a:spcPct val="50000"/>
              </a:spcBef>
            </a:pPr>
            <a:r>
              <a:rPr lang="zh-CN" altLang="en-US" sz="3200" b="0" i="0" u="none" dirty="0">
                <a:latin typeface="华文楷体" panose="02010600040101010101" pitchFamily="2" charset="-122"/>
                <a:ea typeface="华文楷体" panose="02010600040101010101" pitchFamily="2" charset="-122"/>
              </a:rPr>
              <a:t>感应圈</a:t>
            </a:r>
          </a:p>
        </p:txBody>
      </p:sp>
      <p:pic>
        <p:nvPicPr>
          <p:cNvPr id="10" name="Picture 12" descr="变压器１">
            <a:extLst>
              <a:ext uri="{FF2B5EF4-FFF2-40B4-BE49-F238E27FC236}">
                <a16:creationId xmlns:a16="http://schemas.microsoft.com/office/drawing/2014/main" id="{5EDBFBED-9C38-4A9A-882A-BE6AAED76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893"/>
          <a:stretch>
            <a:fillRect/>
          </a:stretch>
        </p:blipFill>
        <p:spPr bwMode="auto">
          <a:xfrm>
            <a:off x="3120866" y="1003744"/>
            <a:ext cx="4451350"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感应圈">
            <a:extLst>
              <a:ext uri="{FF2B5EF4-FFF2-40B4-BE49-F238E27FC236}">
                <a16:creationId xmlns:a16="http://schemas.microsoft.com/office/drawing/2014/main" id="{B4FF2E3A-CD8B-40A3-B3A3-A22181404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6693" b="11864"/>
          <a:stretch>
            <a:fillRect/>
          </a:stretch>
        </p:blipFill>
        <p:spPr bwMode="auto">
          <a:xfrm>
            <a:off x="7586503" y="932305"/>
            <a:ext cx="2014538"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9">
            <a:extLst>
              <a:ext uri="{FF2B5EF4-FFF2-40B4-BE49-F238E27FC236}">
                <a16:creationId xmlns:a16="http://schemas.microsoft.com/office/drawing/2014/main" id="{3866F061-C137-4A45-AB2B-176B368255D2}"/>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互感应用</a:t>
            </a:r>
          </a:p>
        </p:txBody>
      </p:sp>
    </p:spTree>
    <p:extLst>
      <p:ext uri="{BB962C8B-B14F-4D97-AF65-F5344CB8AC3E}">
        <p14:creationId xmlns:p14="http://schemas.microsoft.com/office/powerpoint/2010/main" val="399078728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71" name="Text Box 7"/>
          <p:cNvSpPr txBox="1">
            <a:spLocks noChangeArrowheads="1"/>
          </p:cNvSpPr>
          <p:nvPr/>
        </p:nvSpPr>
        <p:spPr bwMode="auto">
          <a:xfrm>
            <a:off x="1987290" y="994751"/>
            <a:ext cx="45370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0" i="0" u="none" dirty="0">
                <a:solidFill>
                  <a:srgbClr val="000000"/>
                </a:solidFill>
                <a:latin typeface="华文楷体" panose="02010600040101010101" pitchFamily="2" charset="-122"/>
                <a:ea typeface="华文楷体" panose="02010600040101010101" pitchFamily="2" charset="-122"/>
              </a:rPr>
              <a:t>两线圈自感分别为：</a:t>
            </a:r>
          </a:p>
        </p:txBody>
      </p:sp>
      <mc:AlternateContent xmlns:mc="http://schemas.openxmlformats.org/markup-compatibility/2006" xmlns:a14="http://schemas.microsoft.com/office/drawing/2010/main">
        <mc:Choice Requires="a14">
          <p:sp>
            <p:nvSpPr>
              <p:cNvPr id="676872" name="Object 3"/>
              <p:cNvSpPr txBox="1"/>
              <p:nvPr/>
            </p:nvSpPr>
            <p:spPr bwMode="auto">
              <a:xfrm>
                <a:off x="2280158" y="1540275"/>
                <a:ext cx="3082925" cy="11461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𝐿</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μ</m:t>
                          </m:r>
                        </m:e>
                        <m:sub>
                          <m:r>
                            <a:rPr lang="en-US" sz="2800" i="1">
                              <a:solidFill>
                                <a:srgbClr val="000000"/>
                              </a:solidFill>
                              <a:latin typeface="Cambria Math" panose="02040503050406030204" pitchFamily="18" charset="0"/>
                            </a:rPr>
                            <m:t>0</m:t>
                          </m:r>
                        </m:sub>
                      </m:sSub>
                      <m:f>
                        <m:fPr>
                          <m:ctrlPr>
                            <a:rPr lang="en-US" sz="2800" i="1">
                              <a:solidFill>
                                <a:srgbClr val="000000"/>
                              </a:solidFill>
                              <a:latin typeface="Cambria Math" panose="02040503050406030204" pitchFamily="18" charset="0"/>
                            </a:rPr>
                          </m:ctrlPr>
                        </m:fPr>
                        <m:num>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𝑁</m:t>
                              </m:r>
                              <m:r>
                                <a:rPr lang="en-US" sz="2800" i="1" baseline="-25000">
                                  <a:solidFill>
                                    <a:srgbClr val="000000"/>
                                  </a:solidFill>
                                  <a:latin typeface="Cambria Math" panose="02040503050406030204" pitchFamily="18" charset="0"/>
                                </a:rPr>
                                <m:t>1</m:t>
                              </m:r>
                            </m:e>
                            <m:sup>
                              <m:r>
                                <a:rPr lang="en-US" sz="2800" i="1">
                                  <a:solidFill>
                                    <a:srgbClr val="000000"/>
                                  </a:solidFill>
                                  <a:latin typeface="Cambria Math" panose="02040503050406030204" pitchFamily="18" charset="0"/>
                                </a:rPr>
                                <m:t>2</m:t>
                              </m:r>
                            </m:sup>
                          </m:sSup>
                        </m:num>
                        <m:den>
                          <m:r>
                            <a:rPr lang="en-US" sz="2800" i="1">
                              <a:solidFill>
                                <a:srgbClr val="000000"/>
                              </a:solidFill>
                              <a:latin typeface="Cambria Math" panose="02040503050406030204" pitchFamily="18" charset="0"/>
                            </a:rPr>
                            <m:t>𝑙</m:t>
                          </m:r>
                        </m:den>
                      </m:f>
                      <m:r>
                        <m:rPr>
                          <m:sty m:val="p"/>
                        </m:rPr>
                        <a:rPr lang="en-US" sz="2800" i="1">
                          <a:solidFill>
                            <a:srgbClr val="000000"/>
                          </a:solidFill>
                          <a:latin typeface="Cambria Math" panose="02040503050406030204" pitchFamily="18" charset="0"/>
                        </a:rPr>
                        <m:t>π</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oMath>
                  </m:oMathPara>
                </a14:m>
                <a:endParaRPr lang="en-US" sz="2800" dirty="0"/>
              </a:p>
            </p:txBody>
          </p:sp>
        </mc:Choice>
        <mc:Fallback xmlns="">
          <p:sp>
            <p:nvSpPr>
              <p:cNvPr id="676872" name="Object 3"/>
              <p:cNvSpPr txBox="1">
                <a:spLocks noRot="1" noChangeAspect="1" noMove="1" noResize="1" noEditPoints="1" noAdjustHandles="1" noChangeArrowheads="1" noChangeShapeType="1" noTextEdit="1"/>
              </p:cNvSpPr>
              <p:nvPr/>
            </p:nvSpPr>
            <p:spPr bwMode="auto">
              <a:xfrm>
                <a:off x="2280158" y="1540275"/>
                <a:ext cx="3082925" cy="114617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6873" name="Object 4"/>
              <p:cNvSpPr txBox="1"/>
              <p:nvPr/>
            </p:nvSpPr>
            <p:spPr bwMode="auto">
              <a:xfrm>
                <a:off x="2305558" y="2549925"/>
                <a:ext cx="3057525" cy="111918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𝐿</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μ</m:t>
                          </m:r>
                        </m:e>
                        <m:sub>
                          <m:r>
                            <a:rPr lang="en-US" sz="2800" i="1">
                              <a:solidFill>
                                <a:srgbClr val="000000"/>
                              </a:solidFill>
                              <a:latin typeface="Cambria Math" panose="02040503050406030204" pitchFamily="18" charset="0"/>
                            </a:rPr>
                            <m:t>0</m:t>
                          </m:r>
                        </m:sub>
                      </m:sSub>
                      <m:f>
                        <m:fPr>
                          <m:ctrlPr>
                            <a:rPr lang="en-US" sz="2800" i="1">
                              <a:solidFill>
                                <a:srgbClr val="000000"/>
                              </a:solidFill>
                              <a:latin typeface="Cambria Math" panose="02040503050406030204" pitchFamily="18" charset="0"/>
                            </a:rPr>
                          </m:ctrlPr>
                        </m:fPr>
                        <m:num>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𝑁</m:t>
                              </m:r>
                              <m:r>
                                <a:rPr lang="en-US" sz="2800" b="0" i="1" baseline="-25000" smtClean="0">
                                  <a:solidFill>
                                    <a:srgbClr val="000000"/>
                                  </a:solidFill>
                                  <a:latin typeface="Cambria Math" panose="02040503050406030204" pitchFamily="18" charset="0"/>
                                </a:rPr>
                                <m:t>2</m:t>
                              </m:r>
                            </m:e>
                            <m:sup>
                              <m:r>
                                <a:rPr lang="en-US" sz="2800" i="1">
                                  <a:solidFill>
                                    <a:srgbClr val="000000"/>
                                  </a:solidFill>
                                  <a:latin typeface="Cambria Math" panose="02040503050406030204" pitchFamily="18" charset="0"/>
                                </a:rPr>
                                <m:t>2</m:t>
                              </m:r>
                            </m:sup>
                          </m:sSup>
                        </m:num>
                        <m:den>
                          <m:r>
                            <a:rPr lang="en-US" sz="2800" i="1">
                              <a:solidFill>
                                <a:srgbClr val="000000"/>
                              </a:solidFill>
                              <a:latin typeface="Cambria Math" panose="02040503050406030204" pitchFamily="18" charset="0"/>
                            </a:rPr>
                            <m:t>𝑙</m:t>
                          </m:r>
                        </m:den>
                      </m:f>
                      <m:r>
                        <m:rPr>
                          <m:sty m:val="p"/>
                        </m:rPr>
                        <a:rPr lang="en-US" sz="2800" i="1">
                          <a:solidFill>
                            <a:srgbClr val="000000"/>
                          </a:solidFill>
                          <a:latin typeface="Cambria Math" panose="02040503050406030204" pitchFamily="18" charset="0"/>
                        </a:rPr>
                        <m:t>π</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oMath>
                  </m:oMathPara>
                </a14:m>
                <a:endParaRPr lang="en-US" sz="2800" dirty="0"/>
              </a:p>
            </p:txBody>
          </p:sp>
        </mc:Choice>
        <mc:Fallback xmlns="">
          <p:sp>
            <p:nvSpPr>
              <p:cNvPr id="676873" name="Object 4"/>
              <p:cNvSpPr txBox="1">
                <a:spLocks noRot="1" noChangeAspect="1" noMove="1" noResize="1" noEditPoints="1" noAdjustHandles="1" noChangeArrowheads="1" noChangeShapeType="1" noTextEdit="1"/>
              </p:cNvSpPr>
              <p:nvPr/>
            </p:nvSpPr>
            <p:spPr bwMode="auto">
              <a:xfrm>
                <a:off x="2305558" y="2549925"/>
                <a:ext cx="3057525" cy="111918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6874" name="Object 5"/>
              <p:cNvSpPr txBox="1"/>
              <p:nvPr/>
            </p:nvSpPr>
            <p:spPr bwMode="auto">
              <a:xfrm>
                <a:off x="2143051" y="4245094"/>
                <a:ext cx="3827130" cy="1106488"/>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𝑀</m:t>
                      </m:r>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𝜇</m:t>
                          </m:r>
                        </m:e>
                        <m:sub>
                          <m:r>
                            <a:rPr lang="zh-CN" altLang="en-US" sz="2800" b="0" i="1">
                              <a:solidFill>
                                <a:srgbClr val="000000"/>
                              </a:solidFill>
                              <a:latin typeface="Cambria Math" panose="02040503050406030204" pitchFamily="18" charset="0"/>
                            </a:rPr>
                            <m:t>0</m:t>
                          </m:r>
                        </m:sub>
                      </m:sSub>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𝑁</m:t>
                              </m:r>
                            </m:e>
                            <m:sub>
                              <m:r>
                                <a:rPr lang="zh-CN" altLang="en-US" sz="2800" b="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𝑁</m:t>
                              </m:r>
                            </m:e>
                            <m:sub>
                              <m:r>
                                <a:rPr lang="zh-CN" altLang="en-US" sz="2800" b="0" i="1">
                                  <a:solidFill>
                                    <a:srgbClr val="000000"/>
                                  </a:solidFill>
                                  <a:latin typeface="Cambria Math" panose="02040503050406030204" pitchFamily="18" charset="0"/>
                                </a:rPr>
                                <m:t>2</m:t>
                              </m:r>
                            </m:sub>
                          </m:sSub>
                        </m:num>
                        <m:den>
                          <m:r>
                            <a:rPr lang="zh-CN" altLang="en-US" sz="2800" b="0" i="1">
                              <a:solidFill>
                                <a:srgbClr val="000000"/>
                              </a:solidFill>
                              <a:latin typeface="Cambria Math" panose="02040503050406030204" pitchFamily="18" charset="0"/>
                            </a:rPr>
                            <m:t>𝑙</m:t>
                          </m:r>
                        </m:den>
                      </m:f>
                      <m:r>
                        <a:rPr lang="zh-CN" altLang="en-US" sz="2800" b="0" i="1">
                          <a:solidFill>
                            <a:srgbClr val="000000"/>
                          </a:solidFill>
                          <a:latin typeface="Cambria Math" panose="02040503050406030204" pitchFamily="18" charset="0"/>
                        </a:rPr>
                        <m:t>𝜋</m:t>
                      </m:r>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𝑟</m:t>
                          </m:r>
                        </m:e>
                        <m:sup>
                          <m:r>
                            <a:rPr lang="zh-CN" altLang="en-US" sz="2800" b="0" i="1">
                              <a:solidFill>
                                <a:srgbClr val="000000"/>
                              </a:solidFill>
                              <a:latin typeface="Cambria Math" panose="02040503050406030204" pitchFamily="18" charset="0"/>
                            </a:rPr>
                            <m:t>2</m:t>
                          </m:r>
                        </m:sup>
                      </m:sSup>
                    </m:oMath>
                  </m:oMathPara>
                </a14:m>
                <a:endParaRPr lang="zh-CN" altLang="en-US" sz="2800" dirty="0"/>
              </a:p>
            </p:txBody>
          </p:sp>
        </mc:Choice>
        <mc:Fallback xmlns="">
          <p:sp>
            <p:nvSpPr>
              <p:cNvPr id="676874" name="Object 5"/>
              <p:cNvSpPr txBox="1">
                <a:spLocks noRot="1" noChangeAspect="1" noMove="1" noResize="1" noEditPoints="1" noAdjustHandles="1" noChangeArrowheads="1" noChangeShapeType="1" noTextEdit="1"/>
              </p:cNvSpPr>
              <p:nvPr/>
            </p:nvSpPr>
            <p:spPr bwMode="auto">
              <a:xfrm>
                <a:off x="2143051" y="4245094"/>
                <a:ext cx="3827130" cy="110648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76875" name="Object 6"/>
              <p:cNvSpPr txBox="1"/>
              <p:nvPr/>
            </p:nvSpPr>
            <p:spPr bwMode="auto">
              <a:xfrm>
                <a:off x="5086350" y="5246688"/>
                <a:ext cx="5665788" cy="12525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m:t>
                      </m:r>
                      <m:d>
                        <m:dPr>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μ</m:t>
                              </m:r>
                            </m:e>
                            <m:sub>
                              <m:r>
                                <a:rPr lang="en-US" sz="2800" i="1">
                                  <a:solidFill>
                                    <a:srgbClr val="000000"/>
                                  </a:solidFill>
                                  <a:latin typeface="Cambria Math" panose="02040503050406030204" pitchFamily="18" charset="0"/>
                                </a:rPr>
                                <m:t>0</m:t>
                              </m:r>
                            </m:sub>
                          </m:sSub>
                          <m:f>
                            <m:fPr>
                              <m:ctrlPr>
                                <a:rPr lang="en-US" sz="2800" i="1">
                                  <a:solidFill>
                                    <a:srgbClr val="000000"/>
                                  </a:solidFill>
                                  <a:latin typeface="Cambria Math" panose="02040503050406030204" pitchFamily="18" charset="0"/>
                                </a:rPr>
                              </m:ctrlPr>
                            </m:fPr>
                            <m:num>
                              <m:sSup>
                                <m:sSupPr>
                                  <m:ctrlPr>
                                    <a:rPr lang="en-US" sz="2800" i="1">
                                      <a:solidFill>
                                        <a:srgbClr val="000000"/>
                                      </a:solidFill>
                                      <a:latin typeface="Cambria Math" panose="02040503050406030204" pitchFamily="18" charset="0"/>
                                    </a:rPr>
                                  </m:ctrlPr>
                                </m:sSupPr>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𝑁</m:t>
                                      </m:r>
                                    </m:e>
                                    <m:sub>
                                      <m:r>
                                        <a:rPr lang="en-US" sz="2800" i="1">
                                          <a:solidFill>
                                            <a:srgbClr val="000000"/>
                                          </a:solidFill>
                                          <a:latin typeface="Cambria Math" panose="02040503050406030204" pitchFamily="18" charset="0"/>
                                        </a:rPr>
                                        <m:t>1</m:t>
                                      </m:r>
                                    </m:sub>
                                  </m:sSub>
                                </m:e>
                                <m:sup>
                                  <m:r>
                                    <a:rPr lang="en-US" sz="2800" i="1">
                                      <a:solidFill>
                                        <a:srgbClr val="000000"/>
                                      </a:solidFill>
                                      <a:latin typeface="Cambria Math" panose="02040503050406030204" pitchFamily="18" charset="0"/>
                                    </a:rPr>
                                    <m:t>2</m:t>
                                  </m:r>
                                </m:sup>
                              </m:sSup>
                            </m:num>
                            <m:den>
                              <m:r>
                                <a:rPr lang="en-US" sz="2800" i="1">
                                  <a:solidFill>
                                    <a:srgbClr val="000000"/>
                                  </a:solidFill>
                                  <a:latin typeface="Cambria Math" panose="02040503050406030204" pitchFamily="18" charset="0"/>
                                </a:rPr>
                                <m:t>𝑙</m:t>
                              </m:r>
                            </m:den>
                          </m:f>
                          <m:r>
                            <m:rPr>
                              <m:sty m:val="p"/>
                            </m:rPr>
                            <a:rPr lang="en-US" sz="2800" i="1">
                              <a:solidFill>
                                <a:srgbClr val="000000"/>
                              </a:solidFill>
                              <a:latin typeface="Cambria Math" panose="02040503050406030204" pitchFamily="18" charset="0"/>
                            </a:rPr>
                            <m:t>π</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e>
                      </m:d>
                      <m:d>
                        <m:dPr>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μ</m:t>
                              </m:r>
                            </m:e>
                            <m:sub>
                              <m:r>
                                <a:rPr lang="en-US" sz="2800" i="1">
                                  <a:solidFill>
                                    <a:srgbClr val="000000"/>
                                  </a:solidFill>
                                  <a:latin typeface="Cambria Math" panose="02040503050406030204" pitchFamily="18" charset="0"/>
                                </a:rPr>
                                <m:t>0</m:t>
                              </m:r>
                            </m:sub>
                          </m:sSub>
                          <m:f>
                            <m:fPr>
                              <m:ctrlPr>
                                <a:rPr lang="en-US" sz="2800" i="1">
                                  <a:solidFill>
                                    <a:srgbClr val="000000"/>
                                  </a:solidFill>
                                  <a:latin typeface="Cambria Math" panose="02040503050406030204" pitchFamily="18" charset="0"/>
                                </a:rPr>
                              </m:ctrlPr>
                            </m:fPr>
                            <m:num>
                              <m:sSup>
                                <m:sSupPr>
                                  <m:ctrlPr>
                                    <a:rPr lang="en-US" sz="2800" i="1">
                                      <a:solidFill>
                                        <a:srgbClr val="000000"/>
                                      </a:solidFill>
                                      <a:latin typeface="Cambria Math" panose="02040503050406030204" pitchFamily="18" charset="0"/>
                                    </a:rPr>
                                  </m:ctrlPr>
                                </m:sSupPr>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𝑁</m:t>
                                      </m:r>
                                    </m:e>
                                    <m:sub>
                                      <m:r>
                                        <a:rPr lang="en-US" sz="2800" b="0" i="1" smtClean="0">
                                          <a:solidFill>
                                            <a:srgbClr val="000000"/>
                                          </a:solidFill>
                                          <a:latin typeface="Cambria Math" panose="02040503050406030204" pitchFamily="18" charset="0"/>
                                        </a:rPr>
                                        <m:t>2</m:t>
                                      </m:r>
                                    </m:sub>
                                  </m:sSub>
                                </m:e>
                                <m:sup>
                                  <m:r>
                                    <a:rPr lang="en-US" sz="2800" i="1">
                                      <a:solidFill>
                                        <a:srgbClr val="000000"/>
                                      </a:solidFill>
                                      <a:latin typeface="Cambria Math" panose="02040503050406030204" pitchFamily="18" charset="0"/>
                                    </a:rPr>
                                    <m:t>2</m:t>
                                  </m:r>
                                </m:sup>
                              </m:sSup>
                            </m:num>
                            <m:den>
                              <m:r>
                                <a:rPr lang="en-US" sz="2800" i="1">
                                  <a:solidFill>
                                    <a:srgbClr val="000000"/>
                                  </a:solidFill>
                                  <a:latin typeface="Cambria Math" panose="02040503050406030204" pitchFamily="18" charset="0"/>
                                </a:rPr>
                                <m:t>𝑙</m:t>
                              </m:r>
                            </m:den>
                          </m:f>
                          <m:r>
                            <m:rPr>
                              <m:sty m:val="p"/>
                            </m:rPr>
                            <a:rPr lang="en-US" sz="2800" i="1">
                              <a:solidFill>
                                <a:srgbClr val="000000"/>
                              </a:solidFill>
                              <a:latin typeface="Cambria Math" panose="02040503050406030204" pitchFamily="18" charset="0"/>
                            </a:rPr>
                            <m:t>π</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e>
                      </m:d>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𝐿</m:t>
                          </m:r>
                        </m:e>
                        <m:sub>
                          <m:r>
                            <a:rPr lang="en-US" sz="2800" i="1">
                              <a:solidFill>
                                <a:srgbClr val="000000"/>
                              </a:solidFill>
                              <a:latin typeface="Cambria Math" panose="02040503050406030204" pitchFamily="18" charset="0"/>
                            </a:rPr>
                            <m:t>1</m:t>
                          </m:r>
                        </m:sub>
                      </m:sSub>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𝐿</m:t>
                          </m:r>
                        </m:e>
                        <m:sub>
                          <m:r>
                            <a:rPr lang="en-US" sz="2800" i="1">
                              <a:solidFill>
                                <a:srgbClr val="000000"/>
                              </a:solidFill>
                              <a:latin typeface="Cambria Math" panose="02040503050406030204" pitchFamily="18" charset="0"/>
                            </a:rPr>
                            <m:t>2</m:t>
                          </m:r>
                        </m:sub>
                      </m:sSub>
                    </m:oMath>
                  </m:oMathPara>
                </a14:m>
                <a:endParaRPr lang="en-US" sz="2800" dirty="0"/>
              </a:p>
            </p:txBody>
          </p:sp>
        </mc:Choice>
        <mc:Fallback>
          <p:sp>
            <p:nvSpPr>
              <p:cNvPr id="676875" name="Object 6"/>
              <p:cNvSpPr txBox="1">
                <a:spLocks noRot="1" noChangeAspect="1" noMove="1" noResize="1" noEditPoints="1" noAdjustHandles="1" noChangeArrowheads="1" noChangeShapeType="1" noTextEdit="1"/>
              </p:cNvSpPr>
              <p:nvPr/>
            </p:nvSpPr>
            <p:spPr bwMode="auto">
              <a:xfrm>
                <a:off x="5086350" y="5246688"/>
                <a:ext cx="5665788" cy="1252537"/>
              </a:xfrm>
              <a:prstGeom prst="rect">
                <a:avLst/>
              </a:prstGeom>
              <a:blipFill>
                <a:blip r:embed="rId5"/>
                <a:stretch>
                  <a:fillRect b="-16585"/>
                </a:stretch>
              </a:blipFill>
            </p:spPr>
            <p:txBody>
              <a:bodyPr/>
              <a:lstStyle/>
              <a:p>
                <a:r>
                  <a:rPr lang="en-US">
                    <a:noFill/>
                  </a:rPr>
                  <a:t> </a:t>
                </a:r>
              </a:p>
            </p:txBody>
          </p:sp>
        </mc:Fallback>
      </mc:AlternateContent>
      <p:sp>
        <p:nvSpPr>
          <p:cNvPr id="12" name="Text Box 7"/>
          <p:cNvSpPr txBox="1">
            <a:spLocks noChangeArrowheads="1"/>
          </p:cNvSpPr>
          <p:nvPr/>
        </p:nvSpPr>
        <p:spPr bwMode="auto">
          <a:xfrm>
            <a:off x="1730301" y="3578976"/>
            <a:ext cx="45370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0" i="0" u="none" dirty="0">
                <a:solidFill>
                  <a:srgbClr val="000000"/>
                </a:solidFill>
                <a:latin typeface="华文楷体" panose="02010600040101010101" pitchFamily="2" charset="-122"/>
                <a:ea typeface="华文楷体" panose="02010600040101010101" pitchFamily="2" charset="-122"/>
              </a:rPr>
              <a:t>两线圈互感为：</a:t>
            </a:r>
          </a:p>
        </p:txBody>
      </p:sp>
      <p:pic>
        <p:nvPicPr>
          <p:cNvPr id="4" name="图片 3"/>
          <p:cNvPicPr>
            <a:picLocks noChangeAspect="1"/>
          </p:cNvPicPr>
          <p:nvPr/>
        </p:nvPicPr>
        <p:blipFill>
          <a:blip r:embed="rId6"/>
          <a:stretch>
            <a:fillRect/>
          </a:stretch>
        </p:blipFill>
        <p:spPr>
          <a:xfrm>
            <a:off x="6813126" y="742068"/>
            <a:ext cx="3387329" cy="2576830"/>
          </a:xfrm>
          <a:prstGeom prst="rect">
            <a:avLst/>
          </a:prstGeom>
        </p:spPr>
      </p:pic>
      <mc:AlternateContent xmlns:mc="http://schemas.openxmlformats.org/markup-compatibility/2006" xmlns:a14="http://schemas.microsoft.com/office/drawing/2010/main">
        <mc:Choice Requires="a14">
          <p:sp>
            <p:nvSpPr>
              <p:cNvPr id="10" name="Object 5">
                <a:extLst>
                  <a:ext uri="{FF2B5EF4-FFF2-40B4-BE49-F238E27FC236}">
                    <a16:creationId xmlns:a16="http://schemas.microsoft.com/office/drawing/2014/main" id="{12B4B3A8-902C-4A69-BECB-444A14D2BC69}"/>
                  </a:ext>
                </a:extLst>
              </p:cNvPr>
              <p:cNvSpPr txBox="1"/>
              <p:nvPr/>
            </p:nvSpPr>
            <p:spPr bwMode="auto">
              <a:xfrm>
                <a:off x="1730375" y="5289550"/>
                <a:ext cx="3438525" cy="1106488"/>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𝑀</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d>
                            <m:dPr>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μ</m:t>
                                  </m:r>
                                </m:e>
                                <m:sub>
                                  <m:r>
                                    <a:rPr lang="en-US" sz="2800" i="1">
                                      <a:solidFill>
                                        <a:srgbClr val="000000"/>
                                      </a:solidFill>
                                      <a:latin typeface="Cambria Math" panose="02040503050406030204" pitchFamily="18" charset="0"/>
                                    </a:rPr>
                                    <m:t>0</m:t>
                                  </m:r>
                                </m:sub>
                              </m:sSub>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𝑁</m:t>
                                      </m:r>
                                    </m:e>
                                    <m:sub>
                                      <m:r>
                                        <a:rPr lang="en-US" sz="2800" i="1">
                                          <a:solidFill>
                                            <a:srgbClr val="000000"/>
                                          </a:solidFill>
                                          <a:latin typeface="Cambria Math" panose="02040503050406030204" pitchFamily="18" charset="0"/>
                                        </a:rPr>
                                        <m:t>1</m:t>
                                      </m:r>
                                    </m:sub>
                                  </m:sSub>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𝑁</m:t>
                                      </m:r>
                                    </m:e>
                                    <m:sub>
                                      <m:r>
                                        <a:rPr lang="en-US" sz="2800" i="1">
                                          <a:solidFill>
                                            <a:srgbClr val="000000"/>
                                          </a:solidFill>
                                          <a:latin typeface="Cambria Math" panose="02040503050406030204" pitchFamily="18" charset="0"/>
                                        </a:rPr>
                                        <m:t>2</m:t>
                                      </m:r>
                                    </m:sub>
                                  </m:sSub>
                                </m:num>
                                <m:den>
                                  <m:r>
                                    <a:rPr lang="en-US" sz="2800" i="1">
                                      <a:solidFill>
                                        <a:srgbClr val="000000"/>
                                      </a:solidFill>
                                      <a:latin typeface="Cambria Math" panose="02040503050406030204" pitchFamily="18" charset="0"/>
                                    </a:rPr>
                                    <m:t>𝑙</m:t>
                                  </m:r>
                                </m:den>
                              </m:f>
                              <m:r>
                                <m:rPr>
                                  <m:sty m:val="p"/>
                                </m:rPr>
                                <a:rPr lang="en-US" sz="2800" i="1">
                                  <a:solidFill>
                                    <a:srgbClr val="000000"/>
                                  </a:solidFill>
                                  <a:latin typeface="Cambria Math" panose="02040503050406030204" pitchFamily="18" charset="0"/>
                                </a:rPr>
                                <m:t>π</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e>
                          </m:d>
                        </m:e>
                        <m:sup>
                          <m:r>
                            <a:rPr lang="en-US" sz="2800" i="1">
                              <a:solidFill>
                                <a:srgbClr val="000000"/>
                              </a:solidFill>
                              <a:latin typeface="Cambria Math" panose="02040503050406030204" pitchFamily="18" charset="0"/>
                            </a:rPr>
                            <m:t>2</m:t>
                          </m:r>
                        </m:sup>
                      </m:sSup>
                    </m:oMath>
                  </m:oMathPara>
                </a14:m>
                <a:endParaRPr lang="en-US" sz="2800" dirty="0"/>
              </a:p>
            </p:txBody>
          </p:sp>
        </mc:Choice>
        <mc:Fallback xmlns="">
          <p:sp>
            <p:nvSpPr>
              <p:cNvPr id="10" name="Object 5">
                <a:extLst>
                  <a:ext uri="{FF2B5EF4-FFF2-40B4-BE49-F238E27FC236}">
                    <a16:creationId xmlns:a16="http://schemas.microsoft.com/office/drawing/2014/main" id="{12B4B3A8-902C-4A69-BECB-444A14D2BC69}"/>
                  </a:ext>
                </a:extLst>
              </p:cNvPr>
              <p:cNvSpPr txBox="1">
                <a:spLocks noRot="1" noChangeAspect="1" noMove="1" noResize="1" noEditPoints="1" noAdjustHandles="1" noChangeArrowheads="1" noChangeShapeType="1" noTextEdit="1"/>
              </p:cNvSpPr>
              <p:nvPr/>
            </p:nvSpPr>
            <p:spPr bwMode="auto">
              <a:xfrm>
                <a:off x="1730375" y="5289550"/>
                <a:ext cx="3438525" cy="1106488"/>
              </a:xfrm>
              <a:prstGeom prst="rect">
                <a:avLst/>
              </a:prstGeom>
              <a:blipFill>
                <a:blip r:embed="rId7"/>
                <a:stretch>
                  <a:fillRect/>
                </a:stretch>
              </a:blipFill>
            </p:spPr>
            <p:txBody>
              <a:bodyPr/>
              <a:lstStyle/>
              <a:p>
                <a:r>
                  <a:rPr lang="en-US">
                    <a:noFill/>
                  </a:rPr>
                  <a:t> </a:t>
                </a:r>
              </a:p>
            </p:txBody>
          </p:sp>
        </mc:Fallback>
      </mc:AlternateContent>
      <p:sp>
        <p:nvSpPr>
          <p:cNvPr id="11" name="Text Box 9">
            <a:extLst>
              <a:ext uri="{FF2B5EF4-FFF2-40B4-BE49-F238E27FC236}">
                <a16:creationId xmlns:a16="http://schemas.microsoft.com/office/drawing/2014/main" id="{E9EFE625-1639-4DD9-99D4-ED83F33C721C}"/>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回路自感和互感的关系</a:t>
            </a:r>
          </a:p>
        </p:txBody>
      </p:sp>
    </p:spTree>
    <p:extLst>
      <p:ext uri="{BB962C8B-B14F-4D97-AF65-F5344CB8AC3E}">
        <p14:creationId xmlns:p14="http://schemas.microsoft.com/office/powerpoint/2010/main" val="16196515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68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68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68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68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68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71" grpId="0"/>
      <p:bldP spid="676872" grpId="0"/>
      <p:bldP spid="676873" grpId="0"/>
      <p:bldP spid="676874" grpId="0"/>
      <p:bldP spid="676875" grpId="0"/>
      <p:bldP spid="12"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3" name="Text Box 5"/>
          <p:cNvSpPr txBox="1">
            <a:spLocks noChangeArrowheads="1"/>
          </p:cNvSpPr>
          <p:nvPr/>
        </p:nvSpPr>
        <p:spPr bwMode="auto">
          <a:xfrm>
            <a:off x="1717321" y="2807128"/>
            <a:ext cx="875735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0" i="0" u="none" dirty="0">
                <a:latin typeface="华文楷体" panose="02010600040101010101" pitchFamily="2" charset="-122"/>
                <a:ea typeface="华文楷体" panose="02010600040101010101" pitchFamily="2" charset="-122"/>
              </a:rPr>
              <a:t>上式只适用于一个回路所产生的磁感应线全部穿过另一回路，一般情况下：</a:t>
            </a:r>
          </a:p>
        </p:txBody>
      </p:sp>
      <mc:AlternateContent xmlns:mc="http://schemas.openxmlformats.org/markup-compatibility/2006" xmlns:a14="http://schemas.microsoft.com/office/drawing/2010/main">
        <mc:Choice Requires="a14">
          <p:sp>
            <p:nvSpPr>
              <p:cNvPr id="677894" name="Object 3"/>
              <p:cNvSpPr txBox="1"/>
              <p:nvPr/>
            </p:nvSpPr>
            <p:spPr bwMode="auto">
              <a:xfrm>
                <a:off x="3964801" y="4190922"/>
                <a:ext cx="2994025" cy="858837"/>
              </a:xfrm>
              <a:prstGeom prst="rect">
                <a:avLst/>
              </a:prstGeom>
              <a:noFill/>
              <a:ln w="28575">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en-US" sz="2800" i="1" smtClean="0">
                          <a:solidFill>
                            <a:schemeClr val="tx1"/>
                          </a:solidFill>
                          <a:latin typeface="Cambria Math" panose="02040503050406030204" pitchFamily="18" charset="0"/>
                        </a:rPr>
                        <m:t>𝑀</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𝑘</m:t>
                      </m:r>
                      <m:rad>
                        <m:radPr>
                          <m:degHide m:val="on"/>
                          <m:ctrlPr>
                            <a:rPr lang="en-US" sz="2800" i="1">
                              <a:solidFill>
                                <a:schemeClr val="tx1"/>
                              </a:solidFill>
                              <a:latin typeface="Cambria Math" panose="02040503050406030204" pitchFamily="18" charset="0"/>
                            </a:rPr>
                          </m:ctrlPr>
                        </m:radPr>
                        <m:deg/>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𝐿</m:t>
                              </m:r>
                            </m:e>
                            <m:sub>
                              <m:r>
                                <a:rPr lang="en-US" sz="2800" i="1">
                                  <a:solidFill>
                                    <a:schemeClr val="tx1"/>
                                  </a:solidFill>
                                  <a:latin typeface="Cambria Math" panose="02040503050406030204" pitchFamily="18" charset="0"/>
                                </a:rPr>
                                <m:t>1</m:t>
                              </m:r>
                            </m:sub>
                          </m:sSub>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𝐿</m:t>
                              </m:r>
                            </m:e>
                            <m:sub>
                              <m:r>
                                <a:rPr lang="en-US" sz="2800" i="1">
                                  <a:solidFill>
                                    <a:schemeClr val="tx1"/>
                                  </a:solidFill>
                                  <a:latin typeface="Cambria Math" panose="02040503050406030204" pitchFamily="18" charset="0"/>
                                </a:rPr>
                                <m:t>2</m:t>
                              </m:r>
                            </m:sub>
                          </m:sSub>
                        </m:e>
                      </m:rad>
                    </m:oMath>
                  </m:oMathPara>
                </a14:m>
                <a:endParaRPr lang="en-US" sz="2800" dirty="0">
                  <a:solidFill>
                    <a:schemeClr val="tx1"/>
                  </a:solidFill>
                </a:endParaRPr>
              </a:p>
            </p:txBody>
          </p:sp>
        </mc:Choice>
        <mc:Fallback xmlns="">
          <p:sp>
            <p:nvSpPr>
              <p:cNvPr id="677894" name="Object 3"/>
              <p:cNvSpPr txBox="1">
                <a:spLocks noRot="1" noChangeAspect="1" noMove="1" noResize="1" noEditPoints="1" noAdjustHandles="1" noChangeArrowheads="1" noChangeShapeType="1" noTextEdit="1"/>
              </p:cNvSpPr>
              <p:nvPr/>
            </p:nvSpPr>
            <p:spPr bwMode="auto">
              <a:xfrm>
                <a:off x="3964801" y="4190922"/>
                <a:ext cx="2994025" cy="858837"/>
              </a:xfrm>
              <a:prstGeom prst="rect">
                <a:avLst/>
              </a:prstGeom>
              <a:blipFill>
                <a:blip r:embed="rId3"/>
                <a:stretch>
                  <a:fillRect/>
                </a:stretch>
              </a:blipFill>
              <a:ln w="2857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7895" name="Text Box 7"/>
              <p:cNvSpPr txBox="1">
                <a:spLocks noChangeArrowheads="1"/>
              </p:cNvSpPr>
              <p:nvPr/>
            </p:nvSpPr>
            <p:spPr bwMode="auto">
              <a:xfrm>
                <a:off x="1280538" y="5397818"/>
                <a:ext cx="8757358" cy="523220"/>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algn="ctr">
                  <a:spcBef>
                    <a:spcPct val="50000"/>
                  </a:spcBef>
                </a:pPr>
                <a14:m>
                  <m:oMath xmlns:m="http://schemas.openxmlformats.org/officeDocument/2006/math">
                    <m:r>
                      <a:rPr lang="en-US" altLang="zh-CN" sz="2800" b="0" i="1" u="none" dirty="0" smtClean="0">
                        <a:solidFill>
                          <a:schemeClr val="tx1"/>
                        </a:solidFill>
                        <a:latin typeface="Cambria Math" panose="02040503050406030204" pitchFamily="18" charset="0"/>
                        <a:ea typeface="黑体" panose="02010609060101010101" pitchFamily="49" charset="-122"/>
                      </a:rPr>
                      <m:t>𝐾</m:t>
                    </m:r>
                  </m:oMath>
                </a14:m>
                <a:r>
                  <a:rPr lang="zh-CN" altLang="en-US" sz="2800" b="0" i="0" u="none" dirty="0">
                    <a:solidFill>
                      <a:schemeClr val="tx1"/>
                    </a:solidFill>
                    <a:latin typeface="华文楷体" panose="02010600040101010101" pitchFamily="2" charset="-122"/>
                    <a:ea typeface="华文楷体" panose="02010600040101010101" pitchFamily="2" charset="-122"/>
                  </a:rPr>
                  <a:t>称为耦合因数</a:t>
                </a:r>
                <a:r>
                  <a:rPr lang="en-US" altLang="zh-CN" sz="2800" b="0" i="0" u="none" dirty="0">
                    <a:solidFill>
                      <a:schemeClr val="tx1"/>
                    </a:solidFill>
                    <a:latin typeface="华文楷体" panose="02010600040101010101" pitchFamily="2" charset="-122"/>
                    <a:ea typeface="华文楷体" panose="02010600040101010101" pitchFamily="2" charset="-122"/>
                  </a:rPr>
                  <a:t>,</a:t>
                </a:r>
                <a14:m>
                  <m:oMath xmlns:m="http://schemas.openxmlformats.org/officeDocument/2006/math">
                    <m:r>
                      <a:rPr lang="en-US" altLang="zh-CN" sz="2800" b="0" i="0" u="none">
                        <a:solidFill>
                          <a:schemeClr val="tx1"/>
                        </a:solidFill>
                        <a:latin typeface="Cambria Math" panose="02040503050406030204" pitchFamily="18" charset="0"/>
                        <a:ea typeface="Cambria Math" panose="02040503050406030204" pitchFamily="18" charset="0"/>
                      </a:rPr>
                      <m:t>0</m:t>
                    </m:r>
                    <m:r>
                      <a:rPr lang="en-US" altLang="zh-CN" sz="2800" b="0" u="none">
                        <a:solidFill>
                          <a:schemeClr val="tx1"/>
                        </a:solidFill>
                        <a:latin typeface="Cambria Math" panose="02040503050406030204" pitchFamily="18" charset="0"/>
                        <a:ea typeface="Cambria Math" panose="02040503050406030204" pitchFamily="18" charset="0"/>
                      </a:rPr>
                      <m:t>≤</m:t>
                    </m:r>
                    <m:r>
                      <a:rPr lang="en-US" altLang="zh-CN" sz="2800" b="0" i="1" u="none">
                        <a:solidFill>
                          <a:schemeClr val="tx1"/>
                        </a:solidFill>
                        <a:latin typeface="Cambria Math" panose="02040503050406030204" pitchFamily="18" charset="0"/>
                        <a:ea typeface="Cambria Math" panose="02040503050406030204" pitchFamily="18" charset="0"/>
                      </a:rPr>
                      <m:t>𝐾</m:t>
                    </m:r>
                    <m:r>
                      <a:rPr lang="en-US" altLang="zh-CN" sz="2800" b="0" u="none">
                        <a:solidFill>
                          <a:schemeClr val="tx1"/>
                        </a:solidFill>
                        <a:latin typeface="Cambria Math" panose="02040503050406030204" pitchFamily="18" charset="0"/>
                        <a:ea typeface="Cambria Math" panose="02040503050406030204" pitchFamily="18" charset="0"/>
                      </a:rPr>
                      <m:t>≤</m:t>
                    </m:r>
                    <m:r>
                      <a:rPr lang="en-US" altLang="zh-CN" sz="2800" b="0" i="1" u="none">
                        <a:solidFill>
                          <a:schemeClr val="tx1"/>
                        </a:solidFill>
                        <a:latin typeface="Cambria Math" panose="02040503050406030204" pitchFamily="18" charset="0"/>
                        <a:ea typeface="Cambria Math" panose="02040503050406030204" pitchFamily="18" charset="0"/>
                      </a:rPr>
                      <m:t>1</m:t>
                    </m:r>
                  </m:oMath>
                </a14:m>
                <a:r>
                  <a:rPr lang="en-US" altLang="zh-CN" sz="2800" b="0" i="0" u="none" dirty="0">
                    <a:solidFill>
                      <a:schemeClr val="tx1"/>
                    </a:solidFill>
                    <a:latin typeface="华文楷体" panose="02010600040101010101" pitchFamily="2" charset="-122"/>
                    <a:ea typeface="华文楷体" panose="02010600040101010101" pitchFamily="2" charset="-122"/>
                  </a:rPr>
                  <a:t>.</a:t>
                </a:r>
                <a:endParaRPr lang="zh-CN" altLang="en-US" sz="2800" b="0" i="0" u="none" dirty="0">
                  <a:solidFill>
                    <a:schemeClr val="tx1"/>
                  </a:solidFill>
                  <a:latin typeface="华文楷体" panose="02010600040101010101" pitchFamily="2" charset="-122"/>
                  <a:ea typeface="华文楷体" panose="02010600040101010101" pitchFamily="2" charset="-122"/>
                </a:endParaRPr>
              </a:p>
            </p:txBody>
          </p:sp>
        </mc:Choice>
        <mc:Fallback xmlns="">
          <p:sp>
            <p:nvSpPr>
              <p:cNvPr id="677895" name="Text Box 7"/>
              <p:cNvSpPr txBox="1">
                <a:spLocks noRot="1" noChangeAspect="1" noMove="1" noResize="1" noEditPoints="1" noAdjustHandles="1" noChangeArrowheads="1" noChangeShapeType="1" noTextEdit="1"/>
              </p:cNvSpPr>
              <p:nvPr/>
            </p:nvSpPr>
            <p:spPr bwMode="auto">
              <a:xfrm>
                <a:off x="1280538" y="5397818"/>
                <a:ext cx="8757358" cy="523220"/>
              </a:xfrm>
              <a:prstGeom prst="rect">
                <a:avLst/>
              </a:prstGeom>
              <a:blipFill>
                <a:blip r:embed="rId4"/>
                <a:stretch>
                  <a:fillRect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en-US">
                    <a:noFill/>
                  </a:rPr>
                  <a:t> </a:t>
                </a:r>
              </a:p>
            </p:txBody>
          </p:sp>
        </mc:Fallback>
      </mc:AlternateContent>
      <p:sp>
        <p:nvSpPr>
          <p:cNvPr id="7" name="Text Box 9">
            <a:extLst>
              <a:ext uri="{FF2B5EF4-FFF2-40B4-BE49-F238E27FC236}">
                <a16:creationId xmlns:a16="http://schemas.microsoft.com/office/drawing/2014/main" id="{34F68433-F271-47BC-BBC1-D6319DE93C33}"/>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回路自感和互感的关系</a:t>
            </a:r>
          </a:p>
        </p:txBody>
      </p:sp>
      <mc:AlternateContent xmlns:mc="http://schemas.openxmlformats.org/markup-compatibility/2006" xmlns:a14="http://schemas.microsoft.com/office/drawing/2010/main">
        <mc:Choice Requires="a14">
          <p:sp>
            <p:nvSpPr>
              <p:cNvPr id="9" name="Object 3">
                <a:extLst>
                  <a:ext uri="{FF2B5EF4-FFF2-40B4-BE49-F238E27FC236}">
                    <a16:creationId xmlns:a16="http://schemas.microsoft.com/office/drawing/2014/main" id="{5A04297D-A19A-4EBA-A2F9-ABFBD8D9EFF9}"/>
                  </a:ext>
                </a:extLst>
              </p:cNvPr>
              <p:cNvSpPr txBox="1"/>
              <p:nvPr/>
            </p:nvSpPr>
            <p:spPr bwMode="auto">
              <a:xfrm>
                <a:off x="5943042" y="1434719"/>
                <a:ext cx="2994025" cy="858837"/>
              </a:xfrm>
              <a:prstGeom prst="rect">
                <a:avLst/>
              </a:prstGeom>
              <a:noFill/>
              <a:ln w="28575">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en-US" sz="2800" i="1" smtClean="0">
                          <a:solidFill>
                            <a:schemeClr val="tx1"/>
                          </a:solidFill>
                          <a:latin typeface="Cambria Math" panose="02040503050406030204" pitchFamily="18" charset="0"/>
                        </a:rPr>
                        <m:t>𝑀</m:t>
                      </m:r>
                      <m:r>
                        <a:rPr lang="en-US" sz="2800" i="1" smtClean="0">
                          <a:solidFill>
                            <a:schemeClr val="tx1"/>
                          </a:solidFill>
                          <a:latin typeface="Cambria Math" panose="02040503050406030204" pitchFamily="18" charset="0"/>
                        </a:rPr>
                        <m:t>=</m:t>
                      </m:r>
                      <m:rad>
                        <m:radPr>
                          <m:degHide m:val="on"/>
                          <m:ctrlPr>
                            <a:rPr lang="en-US" sz="2800" i="1">
                              <a:solidFill>
                                <a:schemeClr val="tx1"/>
                              </a:solidFill>
                              <a:latin typeface="Cambria Math" panose="02040503050406030204" pitchFamily="18" charset="0"/>
                            </a:rPr>
                          </m:ctrlPr>
                        </m:radPr>
                        <m:deg/>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𝐿</m:t>
                              </m:r>
                            </m:e>
                            <m:sub>
                              <m:r>
                                <a:rPr lang="en-US" sz="2800" i="1">
                                  <a:solidFill>
                                    <a:schemeClr val="tx1"/>
                                  </a:solidFill>
                                  <a:latin typeface="Cambria Math" panose="02040503050406030204" pitchFamily="18" charset="0"/>
                                </a:rPr>
                                <m:t>1</m:t>
                              </m:r>
                            </m:sub>
                          </m:sSub>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𝐿</m:t>
                              </m:r>
                            </m:e>
                            <m:sub>
                              <m:r>
                                <a:rPr lang="en-US" sz="2800" i="1">
                                  <a:solidFill>
                                    <a:schemeClr val="tx1"/>
                                  </a:solidFill>
                                  <a:latin typeface="Cambria Math" panose="02040503050406030204" pitchFamily="18" charset="0"/>
                                </a:rPr>
                                <m:t>2</m:t>
                              </m:r>
                            </m:sub>
                          </m:sSub>
                        </m:e>
                      </m:rad>
                    </m:oMath>
                  </m:oMathPara>
                </a14:m>
                <a:endParaRPr lang="en-US" sz="2800" dirty="0">
                  <a:solidFill>
                    <a:schemeClr val="tx1"/>
                  </a:solidFill>
                </a:endParaRPr>
              </a:p>
            </p:txBody>
          </p:sp>
        </mc:Choice>
        <mc:Fallback xmlns="">
          <p:sp>
            <p:nvSpPr>
              <p:cNvPr id="9" name="Object 3">
                <a:extLst>
                  <a:ext uri="{FF2B5EF4-FFF2-40B4-BE49-F238E27FC236}">
                    <a16:creationId xmlns:a16="http://schemas.microsoft.com/office/drawing/2014/main" id="{5A04297D-A19A-4EBA-A2F9-ABFBD8D9EFF9}"/>
                  </a:ext>
                </a:extLst>
              </p:cNvPr>
              <p:cNvSpPr txBox="1">
                <a:spLocks noRot="1" noChangeAspect="1" noMove="1" noResize="1" noEditPoints="1" noAdjustHandles="1" noChangeArrowheads="1" noChangeShapeType="1" noTextEdit="1"/>
              </p:cNvSpPr>
              <p:nvPr/>
            </p:nvSpPr>
            <p:spPr bwMode="auto">
              <a:xfrm>
                <a:off x="5943042" y="1434719"/>
                <a:ext cx="2994025" cy="858837"/>
              </a:xfrm>
              <a:prstGeom prst="rect">
                <a:avLst/>
              </a:prstGeom>
              <a:blipFill>
                <a:blip r:embed="rId5"/>
                <a:stretch>
                  <a:fillRect/>
                </a:stretch>
              </a:blipFill>
              <a:ln w="2857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5">
                <a:extLst>
                  <a:ext uri="{FF2B5EF4-FFF2-40B4-BE49-F238E27FC236}">
                    <a16:creationId xmlns:a16="http://schemas.microsoft.com/office/drawing/2014/main" id="{7DC077DA-DDA0-4187-BB54-D0BDE30AC0C3}"/>
                  </a:ext>
                </a:extLst>
              </p:cNvPr>
              <p:cNvSpPr txBox="1"/>
              <p:nvPr/>
            </p:nvSpPr>
            <p:spPr bwMode="auto">
              <a:xfrm>
                <a:off x="3172802" y="1509171"/>
                <a:ext cx="2344860" cy="52322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p>
                        <m:sSupPr>
                          <m:ctrlPr>
                            <a:rPr lang="en-US" sz="2800" i="1" smtClean="0">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𝑀</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𝐿</m:t>
                          </m:r>
                        </m:e>
                        <m:sub>
                          <m:r>
                            <a:rPr lang="en-US" sz="2800" i="1">
                              <a:solidFill>
                                <a:srgbClr val="000000"/>
                              </a:solidFill>
                              <a:latin typeface="Cambria Math" panose="02040503050406030204" pitchFamily="18" charset="0"/>
                            </a:rPr>
                            <m:t>1</m:t>
                          </m:r>
                        </m:sub>
                      </m:sSub>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𝐿</m:t>
                          </m:r>
                        </m:e>
                        <m:sub>
                          <m:r>
                            <a:rPr lang="en-US" sz="2800" i="1">
                              <a:solidFill>
                                <a:srgbClr val="000000"/>
                              </a:solidFill>
                              <a:latin typeface="Cambria Math" panose="02040503050406030204" pitchFamily="18" charset="0"/>
                            </a:rPr>
                            <m:t>2</m:t>
                          </m:r>
                        </m:sub>
                      </m:sSub>
                    </m:oMath>
                  </m:oMathPara>
                </a14:m>
                <a:endParaRPr lang="en-US" sz="2800" dirty="0"/>
              </a:p>
            </p:txBody>
          </p:sp>
        </mc:Choice>
        <mc:Fallback xmlns="">
          <p:sp>
            <p:nvSpPr>
              <p:cNvPr id="11" name="Object 5">
                <a:extLst>
                  <a:ext uri="{FF2B5EF4-FFF2-40B4-BE49-F238E27FC236}">
                    <a16:creationId xmlns:a16="http://schemas.microsoft.com/office/drawing/2014/main" id="{7DC077DA-DDA0-4187-BB54-D0BDE30AC0C3}"/>
                  </a:ext>
                </a:extLst>
              </p:cNvPr>
              <p:cNvSpPr txBox="1">
                <a:spLocks noRot="1" noChangeAspect="1" noMove="1" noResize="1" noEditPoints="1" noAdjustHandles="1" noChangeArrowheads="1" noChangeShapeType="1" noTextEdit="1"/>
              </p:cNvSpPr>
              <p:nvPr/>
            </p:nvSpPr>
            <p:spPr bwMode="auto">
              <a:xfrm>
                <a:off x="3172802" y="1509171"/>
                <a:ext cx="2344860" cy="52322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552121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78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78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78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3" grpId="0"/>
      <p:bldP spid="677894" grpId="0"/>
      <p:bldP spid="677895"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Text Box 3"/>
          <p:cNvSpPr txBox="1">
            <a:spLocks noChangeArrowheads="1"/>
          </p:cNvSpPr>
          <p:nvPr/>
        </p:nvSpPr>
        <p:spPr bwMode="auto">
          <a:xfrm>
            <a:off x="1343781" y="964296"/>
            <a:ext cx="8424937" cy="1172629"/>
          </a:xfrm>
          <a:prstGeom prst="rect">
            <a:avLst/>
          </a:prstGeom>
          <a:noFill/>
          <a:ln w="9525">
            <a:noFill/>
            <a:miter lim="800000"/>
            <a:headEnd/>
            <a:tailEnd/>
          </a:ln>
          <a:effectLst/>
        </p:spPr>
        <p:txBody>
          <a:bodyPr wrap="square">
            <a:spAutoFit/>
          </a:bodyPr>
          <a:lstStyle/>
          <a:p>
            <a:pPr fontAlgn="base">
              <a:lnSpc>
                <a:spcPct val="130000"/>
              </a:lnSpc>
              <a:spcBef>
                <a:spcPct val="50000"/>
              </a:spcBef>
              <a:spcAft>
                <a:spcPct val="0"/>
              </a:spcAft>
              <a:defRPr/>
            </a:pPr>
            <a:r>
              <a:rPr lang="zh-CN" altLang="en-US" sz="2800" dirty="0">
                <a:solidFill>
                  <a:srgbClr val="000000"/>
                </a:solidFill>
                <a:latin typeface="华文楷体" panose="02010600040101010101" pitchFamily="2" charset="-122"/>
                <a:ea typeface="华文楷体" panose="02010600040101010101" pitchFamily="2" charset="-122"/>
              </a:rPr>
              <a:t>电键打开后，电源已不再向灯泡供应能量了，它们却突然闪亮一下再慢慢熄灭，所消耗的能量从哪里来的？</a:t>
            </a:r>
          </a:p>
        </p:txBody>
      </p:sp>
      <p:sp>
        <p:nvSpPr>
          <p:cNvPr id="149" name="Text Box 2"/>
          <p:cNvSpPr txBox="1">
            <a:spLocks noChangeArrowheads="1"/>
          </p:cNvSpPr>
          <p:nvPr/>
        </p:nvSpPr>
        <p:spPr bwMode="auto">
          <a:xfrm>
            <a:off x="3301144" y="5243614"/>
            <a:ext cx="8548855" cy="677108"/>
          </a:xfrm>
          <a:prstGeom prst="rect">
            <a:avLst/>
          </a:prstGeom>
          <a:noFill/>
          <a:ln w="9525">
            <a:noFill/>
            <a:miter lim="800000"/>
            <a:headEnd/>
            <a:tailEnd/>
          </a:ln>
          <a:effectLst/>
        </p:spPr>
        <p:txBody>
          <a:bodyPr wrap="square">
            <a:spAutoFit/>
          </a:bodyPr>
          <a:lstStyle/>
          <a:p>
            <a:pPr algn="just" fontAlgn="base">
              <a:lnSpc>
                <a:spcPct val="150000"/>
              </a:lnSpc>
              <a:spcBef>
                <a:spcPct val="50000"/>
              </a:spcBef>
              <a:spcAft>
                <a:spcPct val="0"/>
              </a:spcAft>
              <a:defRPr/>
            </a:pPr>
            <a:r>
              <a:rPr lang="zh-CN" altLang="en-US" sz="2800" dirty="0">
                <a:solidFill>
                  <a:srgbClr val="000000"/>
                </a:solidFill>
                <a:latin typeface="华文楷体" panose="02010600040101010101" pitchFamily="2" charset="-122"/>
                <a:ea typeface="华文楷体" panose="02010600040101010101" pitchFamily="2" charset="-122"/>
              </a:rPr>
              <a:t>储存在线圈内磁场中的</a:t>
            </a:r>
            <a:r>
              <a:rPr lang="zh-CN" altLang="en-US" sz="2800" dirty="0">
                <a:solidFill>
                  <a:srgbClr val="FF0000"/>
                </a:solidFill>
                <a:latin typeface="华文楷体" panose="02010600040101010101" pitchFamily="2" charset="-122"/>
                <a:ea typeface="华文楷体" panose="02010600040101010101" pitchFamily="2" charset="-122"/>
              </a:rPr>
              <a:t>磁能</a:t>
            </a:r>
          </a:p>
        </p:txBody>
      </p:sp>
      <p:grpSp>
        <p:nvGrpSpPr>
          <p:cNvPr id="8" name="组合 7"/>
          <p:cNvGrpSpPr/>
          <p:nvPr/>
        </p:nvGrpSpPr>
        <p:grpSpPr>
          <a:xfrm>
            <a:off x="3471300" y="2600432"/>
            <a:ext cx="3960440" cy="2389432"/>
            <a:chOff x="2627784" y="2068804"/>
            <a:chExt cx="3960440" cy="2389432"/>
          </a:xfrm>
        </p:grpSpPr>
        <p:grpSp>
          <p:nvGrpSpPr>
            <p:cNvPr id="7" name="组合 6"/>
            <p:cNvGrpSpPr/>
            <p:nvPr/>
          </p:nvGrpSpPr>
          <p:grpSpPr>
            <a:xfrm>
              <a:off x="2627784" y="2132856"/>
              <a:ext cx="3960440" cy="2325380"/>
              <a:chOff x="2483768" y="686172"/>
              <a:chExt cx="3960440" cy="2325380"/>
            </a:xfrm>
          </p:grpSpPr>
          <p:sp>
            <p:nvSpPr>
              <p:cNvPr id="115" name="Line 40"/>
              <p:cNvSpPr>
                <a:spLocks noChangeShapeType="1"/>
              </p:cNvSpPr>
              <p:nvPr/>
            </p:nvSpPr>
            <p:spPr bwMode="auto">
              <a:xfrm>
                <a:off x="2483768" y="1117404"/>
                <a:ext cx="151676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16" name="Line 41"/>
              <p:cNvSpPr>
                <a:spLocks noChangeShapeType="1"/>
              </p:cNvSpPr>
              <p:nvPr/>
            </p:nvSpPr>
            <p:spPr bwMode="auto">
              <a:xfrm>
                <a:off x="2483768" y="1940946"/>
                <a:ext cx="109544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17" name="Freeform 42"/>
              <p:cNvSpPr>
                <a:spLocks/>
              </p:cNvSpPr>
              <p:nvPr/>
            </p:nvSpPr>
            <p:spPr bwMode="auto">
              <a:xfrm>
                <a:off x="3157885" y="2555172"/>
                <a:ext cx="1924044" cy="374026"/>
              </a:xfrm>
              <a:custGeom>
                <a:avLst/>
                <a:gdLst>
                  <a:gd name="T0" fmla="*/ 0 w 2112"/>
                  <a:gd name="T1" fmla="*/ 216 h 392"/>
                  <a:gd name="T2" fmla="*/ 144 w 2112"/>
                  <a:gd name="T3" fmla="*/ 216 h 392"/>
                  <a:gd name="T4" fmla="*/ 288 w 2112"/>
                  <a:gd name="T5" fmla="*/ 24 h 392"/>
                  <a:gd name="T6" fmla="*/ 384 w 2112"/>
                  <a:gd name="T7" fmla="*/ 360 h 392"/>
                  <a:gd name="T8" fmla="*/ 528 w 2112"/>
                  <a:gd name="T9" fmla="*/ 24 h 392"/>
                  <a:gd name="T10" fmla="*/ 672 w 2112"/>
                  <a:gd name="T11" fmla="*/ 360 h 392"/>
                  <a:gd name="T12" fmla="*/ 816 w 2112"/>
                  <a:gd name="T13" fmla="*/ 24 h 392"/>
                  <a:gd name="T14" fmla="*/ 960 w 2112"/>
                  <a:gd name="T15" fmla="*/ 360 h 392"/>
                  <a:gd name="T16" fmla="*/ 1104 w 2112"/>
                  <a:gd name="T17" fmla="*/ 24 h 392"/>
                  <a:gd name="T18" fmla="*/ 1248 w 2112"/>
                  <a:gd name="T19" fmla="*/ 360 h 392"/>
                  <a:gd name="T20" fmla="*/ 1392 w 2112"/>
                  <a:gd name="T21" fmla="*/ 24 h 392"/>
                  <a:gd name="T22" fmla="*/ 1536 w 2112"/>
                  <a:gd name="T23" fmla="*/ 360 h 392"/>
                  <a:gd name="T24" fmla="*/ 1680 w 2112"/>
                  <a:gd name="T25" fmla="*/ 24 h 392"/>
                  <a:gd name="T26" fmla="*/ 1824 w 2112"/>
                  <a:gd name="T27" fmla="*/ 360 h 392"/>
                  <a:gd name="T28" fmla="*/ 1920 w 2112"/>
                  <a:gd name="T29" fmla="*/ 216 h 392"/>
                  <a:gd name="T30" fmla="*/ 2112 w 2112"/>
                  <a:gd name="T31" fmla="*/ 21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12" h="392">
                    <a:moveTo>
                      <a:pt x="0" y="216"/>
                    </a:moveTo>
                    <a:cubicBezTo>
                      <a:pt x="48" y="232"/>
                      <a:pt x="96" y="248"/>
                      <a:pt x="144" y="216"/>
                    </a:cubicBezTo>
                    <a:cubicBezTo>
                      <a:pt x="192" y="184"/>
                      <a:pt x="248" y="0"/>
                      <a:pt x="288" y="24"/>
                    </a:cubicBezTo>
                    <a:cubicBezTo>
                      <a:pt x="328" y="48"/>
                      <a:pt x="344" y="360"/>
                      <a:pt x="384" y="360"/>
                    </a:cubicBezTo>
                    <a:cubicBezTo>
                      <a:pt x="424" y="360"/>
                      <a:pt x="480" y="24"/>
                      <a:pt x="528" y="24"/>
                    </a:cubicBezTo>
                    <a:cubicBezTo>
                      <a:pt x="576" y="24"/>
                      <a:pt x="624" y="360"/>
                      <a:pt x="672" y="360"/>
                    </a:cubicBezTo>
                    <a:cubicBezTo>
                      <a:pt x="720" y="360"/>
                      <a:pt x="768" y="24"/>
                      <a:pt x="816" y="24"/>
                    </a:cubicBezTo>
                    <a:cubicBezTo>
                      <a:pt x="864" y="24"/>
                      <a:pt x="912" y="360"/>
                      <a:pt x="960" y="360"/>
                    </a:cubicBezTo>
                    <a:cubicBezTo>
                      <a:pt x="1008" y="360"/>
                      <a:pt x="1056" y="24"/>
                      <a:pt x="1104" y="24"/>
                    </a:cubicBezTo>
                    <a:cubicBezTo>
                      <a:pt x="1152" y="24"/>
                      <a:pt x="1200" y="360"/>
                      <a:pt x="1248" y="360"/>
                    </a:cubicBezTo>
                    <a:cubicBezTo>
                      <a:pt x="1296" y="360"/>
                      <a:pt x="1344" y="24"/>
                      <a:pt x="1392" y="24"/>
                    </a:cubicBezTo>
                    <a:cubicBezTo>
                      <a:pt x="1440" y="24"/>
                      <a:pt x="1488" y="360"/>
                      <a:pt x="1536" y="360"/>
                    </a:cubicBezTo>
                    <a:cubicBezTo>
                      <a:pt x="1584" y="360"/>
                      <a:pt x="1632" y="24"/>
                      <a:pt x="1680" y="24"/>
                    </a:cubicBezTo>
                    <a:cubicBezTo>
                      <a:pt x="1728" y="24"/>
                      <a:pt x="1784" y="328"/>
                      <a:pt x="1824" y="360"/>
                    </a:cubicBezTo>
                    <a:cubicBezTo>
                      <a:pt x="1864" y="392"/>
                      <a:pt x="1872" y="240"/>
                      <a:pt x="1920" y="216"/>
                    </a:cubicBezTo>
                    <a:cubicBezTo>
                      <a:pt x="1968" y="192"/>
                      <a:pt x="2040" y="204"/>
                      <a:pt x="2112" y="216"/>
                    </a:cubicBezTo>
                  </a:path>
                </a:pathLst>
              </a:cu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18" name="Line 43"/>
              <p:cNvSpPr>
                <a:spLocks noChangeShapeType="1"/>
              </p:cNvSpPr>
              <p:nvPr/>
            </p:nvSpPr>
            <p:spPr bwMode="auto">
              <a:xfrm>
                <a:off x="4169062" y="1117404"/>
                <a:ext cx="117970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19" name="Rectangle 44"/>
              <p:cNvSpPr>
                <a:spLocks noChangeArrowheads="1"/>
              </p:cNvSpPr>
              <p:nvPr/>
            </p:nvSpPr>
            <p:spPr bwMode="auto">
              <a:xfrm>
                <a:off x="3579209" y="1776238"/>
                <a:ext cx="1011176" cy="247063"/>
              </a:xfrm>
              <a:prstGeom prst="rect">
                <a:avLst/>
              </a:prstGeom>
              <a:solidFill>
                <a:schemeClr val="accent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0" name="Line 45"/>
              <p:cNvSpPr>
                <a:spLocks noChangeShapeType="1"/>
              </p:cNvSpPr>
              <p:nvPr/>
            </p:nvSpPr>
            <p:spPr bwMode="auto">
              <a:xfrm>
                <a:off x="2483768" y="1117404"/>
                <a:ext cx="0" cy="98825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1" name="Line 46"/>
              <p:cNvSpPr>
                <a:spLocks noChangeShapeType="1"/>
              </p:cNvSpPr>
              <p:nvPr/>
            </p:nvSpPr>
            <p:spPr bwMode="auto">
              <a:xfrm>
                <a:off x="4169062" y="787987"/>
                <a:ext cx="0" cy="65883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2" name="Line 47"/>
              <p:cNvSpPr>
                <a:spLocks noChangeShapeType="1"/>
              </p:cNvSpPr>
              <p:nvPr/>
            </p:nvSpPr>
            <p:spPr bwMode="auto">
              <a:xfrm>
                <a:off x="4000532" y="952695"/>
                <a:ext cx="0" cy="32941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3" name="Line 48"/>
              <p:cNvSpPr>
                <a:spLocks noChangeShapeType="1"/>
              </p:cNvSpPr>
              <p:nvPr/>
            </p:nvSpPr>
            <p:spPr bwMode="auto">
              <a:xfrm>
                <a:off x="5081929" y="2764489"/>
                <a:ext cx="134823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4" name="Line 49"/>
              <p:cNvSpPr>
                <a:spLocks noChangeShapeType="1"/>
              </p:cNvSpPr>
              <p:nvPr/>
            </p:nvSpPr>
            <p:spPr bwMode="auto">
              <a:xfrm flipV="1">
                <a:off x="2483768" y="2764489"/>
                <a:ext cx="75838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5" name="Line 50"/>
              <p:cNvSpPr>
                <a:spLocks noChangeShapeType="1"/>
              </p:cNvSpPr>
              <p:nvPr/>
            </p:nvSpPr>
            <p:spPr bwMode="auto">
              <a:xfrm>
                <a:off x="2483768" y="2105655"/>
                <a:ext cx="0" cy="65883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6" name="Line 51"/>
              <p:cNvSpPr>
                <a:spLocks noChangeShapeType="1"/>
              </p:cNvSpPr>
              <p:nvPr/>
            </p:nvSpPr>
            <p:spPr bwMode="auto">
              <a:xfrm>
                <a:off x="5938620" y="1117404"/>
                <a:ext cx="50558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7" name="Line 52"/>
              <p:cNvSpPr>
                <a:spLocks noChangeShapeType="1"/>
              </p:cNvSpPr>
              <p:nvPr/>
            </p:nvSpPr>
            <p:spPr bwMode="auto">
              <a:xfrm>
                <a:off x="6444208" y="1117404"/>
                <a:ext cx="0" cy="82354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8" name="Line 53"/>
              <p:cNvSpPr>
                <a:spLocks noChangeShapeType="1"/>
              </p:cNvSpPr>
              <p:nvPr/>
            </p:nvSpPr>
            <p:spPr bwMode="auto">
              <a:xfrm>
                <a:off x="4590385" y="1940946"/>
                <a:ext cx="185382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29" name="Oval 54"/>
              <p:cNvSpPr>
                <a:spLocks noChangeArrowheads="1"/>
              </p:cNvSpPr>
              <p:nvPr/>
            </p:nvSpPr>
            <p:spPr bwMode="auto">
              <a:xfrm>
                <a:off x="5348767" y="1035049"/>
                <a:ext cx="168529" cy="164709"/>
              </a:xfrm>
              <a:prstGeom prst="ellipse">
                <a:avLst/>
              </a:prstGeom>
              <a:solidFill>
                <a:schemeClr val="accent1"/>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31" name="Line 56"/>
              <p:cNvSpPr>
                <a:spLocks noChangeShapeType="1"/>
              </p:cNvSpPr>
              <p:nvPr/>
            </p:nvSpPr>
            <p:spPr bwMode="auto">
              <a:xfrm>
                <a:off x="6444208" y="1940946"/>
                <a:ext cx="0" cy="82354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32" name="Object 57"/>
                  <p:cNvSpPr txBox="1"/>
                  <p:nvPr/>
                </p:nvSpPr>
                <p:spPr bwMode="auto">
                  <a:xfrm>
                    <a:off x="5028609" y="686172"/>
                    <a:ext cx="478154" cy="37354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n-US" i="1">
                              <a:solidFill>
                                <a:srgbClr val="000000"/>
                              </a:solidFill>
                              <a:latin typeface="Cambria Math" panose="02040503050406030204" pitchFamily="18" charset="0"/>
                            </a:rPr>
                            <m:t>K</m:t>
                          </m:r>
                        </m:oMath>
                      </m:oMathPara>
                    </a14:m>
                    <a:endParaRPr lang="en-US"/>
                  </a:p>
                </p:txBody>
              </p:sp>
            </mc:Choice>
            <mc:Fallback xmlns="">
              <p:sp>
                <p:nvSpPr>
                  <p:cNvPr id="132" name="Object 57"/>
                  <p:cNvSpPr txBox="1">
                    <a:spLocks noRot="1" noChangeAspect="1" noMove="1" noResize="1" noEditPoints="1" noAdjustHandles="1" noChangeArrowheads="1" noChangeShapeType="1" noTextEdit="1"/>
                  </p:cNvSpPr>
                  <p:nvPr/>
                </p:nvSpPr>
                <p:spPr bwMode="auto">
                  <a:xfrm>
                    <a:off x="5028609" y="686172"/>
                    <a:ext cx="478154" cy="373542"/>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 name="Object 58"/>
                  <p:cNvSpPr txBox="1"/>
                  <p:nvPr/>
                </p:nvSpPr>
                <p:spPr bwMode="auto">
                  <a:xfrm>
                    <a:off x="3578672" y="694854"/>
                    <a:ext cx="309562" cy="4953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n-US" i="1">
                              <a:solidFill>
                                <a:srgbClr val="000000"/>
                              </a:solidFill>
                              <a:latin typeface="Cambria Math" panose="02040503050406030204" pitchFamily="18" charset="0"/>
                            </a:rPr>
                            <m:t>ε</m:t>
                          </m:r>
                        </m:oMath>
                      </m:oMathPara>
                    </a14:m>
                    <a:endParaRPr lang="en-US"/>
                  </a:p>
                </p:txBody>
              </p:sp>
            </mc:Choice>
            <mc:Fallback xmlns="">
              <p:sp>
                <p:nvSpPr>
                  <p:cNvPr id="133" name="Object 58"/>
                  <p:cNvSpPr txBox="1">
                    <a:spLocks noRot="1" noChangeAspect="1" noMove="1" noResize="1" noEditPoints="1" noAdjustHandles="1" noChangeArrowheads="1" noChangeShapeType="1" noTextEdit="1"/>
                  </p:cNvSpPr>
                  <p:nvPr/>
                </p:nvSpPr>
                <p:spPr bwMode="auto">
                  <a:xfrm>
                    <a:off x="3578672" y="694854"/>
                    <a:ext cx="309562" cy="49530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 name="Object 59"/>
                  <p:cNvSpPr txBox="1"/>
                  <p:nvPr/>
                </p:nvSpPr>
                <p:spPr bwMode="auto">
                  <a:xfrm>
                    <a:off x="3113089" y="1491077"/>
                    <a:ext cx="465584" cy="358362"/>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m:rPr>
                              <m:sty m:val="p"/>
                            </m:rPr>
                            <a:rPr lang="en-US" i="1">
                              <a:solidFill>
                                <a:srgbClr val="000000"/>
                              </a:solidFill>
                              <a:latin typeface="Cambria Math" panose="02040503050406030204" pitchFamily="18" charset="0"/>
                            </a:rPr>
                            <m:t>R</m:t>
                          </m:r>
                        </m:oMath>
                      </m:oMathPara>
                    </a14:m>
                    <a:endParaRPr lang="en-US"/>
                  </a:p>
                </p:txBody>
              </p:sp>
            </mc:Choice>
            <mc:Fallback xmlns="">
              <p:sp>
                <p:nvSpPr>
                  <p:cNvPr id="134" name="Object 59"/>
                  <p:cNvSpPr txBox="1">
                    <a:spLocks noRot="1" noChangeAspect="1" noMove="1" noResize="1" noEditPoints="1" noAdjustHandles="1" noChangeArrowheads="1" noChangeShapeType="1" noTextEdit="1"/>
                  </p:cNvSpPr>
                  <p:nvPr/>
                </p:nvSpPr>
                <p:spPr bwMode="auto">
                  <a:xfrm>
                    <a:off x="3113089" y="1491077"/>
                    <a:ext cx="465584" cy="358362"/>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5" name="Object 60"/>
                  <p:cNvSpPr txBox="1"/>
                  <p:nvPr/>
                </p:nvSpPr>
                <p:spPr bwMode="auto">
                  <a:xfrm>
                    <a:off x="2998138" y="2254250"/>
                    <a:ext cx="244012" cy="43027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n-US" i="1">
                              <a:solidFill>
                                <a:srgbClr val="000000"/>
                              </a:solidFill>
                              <a:latin typeface="Cambria Math" panose="02040503050406030204" pitchFamily="18" charset="0"/>
                            </a:rPr>
                            <m:t>L</m:t>
                          </m:r>
                        </m:oMath>
                      </m:oMathPara>
                    </a14:m>
                    <a:endParaRPr lang="en-US"/>
                  </a:p>
                </p:txBody>
              </p:sp>
            </mc:Choice>
            <mc:Fallback xmlns="">
              <p:sp>
                <p:nvSpPr>
                  <p:cNvPr id="135" name="Object 60"/>
                  <p:cNvSpPr txBox="1">
                    <a:spLocks noRot="1" noChangeAspect="1" noMove="1" noResize="1" noEditPoints="1" noAdjustHandles="1" noChangeArrowheads="1" noChangeShapeType="1" noTextEdit="1"/>
                  </p:cNvSpPr>
                  <p:nvPr/>
                </p:nvSpPr>
                <p:spPr bwMode="auto">
                  <a:xfrm>
                    <a:off x="2998138" y="2254250"/>
                    <a:ext cx="244012" cy="430279"/>
                  </a:xfrm>
                  <a:prstGeom prst="rect">
                    <a:avLst/>
                  </a:prstGeom>
                  <a:blipFill>
                    <a:blip r:embed="rId5"/>
                    <a:stretch>
                      <a:fillRect r="-20000"/>
                    </a:stretch>
                  </a:blipFill>
                  <a:ln>
                    <a:noFill/>
                  </a:ln>
                  <a:effectLst/>
                </p:spPr>
                <p:txBody>
                  <a:bodyPr/>
                  <a:lstStyle/>
                  <a:p>
                    <a:r>
                      <a:rPr lang="en-US">
                        <a:noFill/>
                      </a:rPr>
                      <a:t> </a:t>
                    </a:r>
                  </a:p>
                </p:txBody>
              </p:sp>
            </mc:Fallback>
          </mc:AlternateContent>
          <p:grpSp>
            <p:nvGrpSpPr>
              <p:cNvPr id="136" name="Group 61"/>
              <p:cNvGrpSpPr>
                <a:grpSpLocks/>
              </p:cNvGrpSpPr>
              <p:nvPr/>
            </p:nvGrpSpPr>
            <p:grpSpPr bwMode="auto">
              <a:xfrm>
                <a:off x="5433032" y="1611529"/>
                <a:ext cx="589853" cy="576480"/>
                <a:chOff x="3216" y="3072"/>
                <a:chExt cx="336" cy="336"/>
              </a:xfrm>
            </p:grpSpPr>
            <p:sp>
              <p:nvSpPr>
                <p:cNvPr id="143" name="Oval 62"/>
                <p:cNvSpPr>
                  <a:spLocks noChangeArrowheads="1"/>
                </p:cNvSpPr>
                <p:nvPr/>
              </p:nvSpPr>
              <p:spPr bwMode="auto">
                <a:xfrm>
                  <a:off x="3216" y="3072"/>
                  <a:ext cx="336" cy="336"/>
                </a:xfrm>
                <a:prstGeom prst="ellipse">
                  <a:avLst/>
                </a:prstGeom>
                <a:solidFill>
                  <a:srgbClr val="FFCC00"/>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44" name="Line 63"/>
                <p:cNvSpPr>
                  <a:spLocks noChangeShapeType="1"/>
                </p:cNvSpPr>
                <p:nvPr/>
              </p:nvSpPr>
              <p:spPr bwMode="auto">
                <a:xfrm>
                  <a:off x="3264" y="3120"/>
                  <a:ext cx="240" cy="2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45" name="Line 64"/>
                <p:cNvSpPr>
                  <a:spLocks noChangeShapeType="1"/>
                </p:cNvSpPr>
                <p:nvPr/>
              </p:nvSpPr>
              <p:spPr bwMode="auto">
                <a:xfrm flipH="1">
                  <a:off x="3264" y="3120"/>
                  <a:ext cx="240" cy="2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grpSp>
          <p:grpSp>
            <p:nvGrpSpPr>
              <p:cNvPr id="137" name="Group 65"/>
              <p:cNvGrpSpPr>
                <a:grpSpLocks/>
              </p:cNvGrpSpPr>
              <p:nvPr/>
            </p:nvGrpSpPr>
            <p:grpSpPr bwMode="auto">
              <a:xfrm>
                <a:off x="5433032" y="2435072"/>
                <a:ext cx="589853" cy="576480"/>
                <a:chOff x="3216" y="3072"/>
                <a:chExt cx="336" cy="336"/>
              </a:xfrm>
            </p:grpSpPr>
            <p:sp>
              <p:nvSpPr>
                <p:cNvPr id="140" name="Oval 66"/>
                <p:cNvSpPr>
                  <a:spLocks noChangeArrowheads="1"/>
                </p:cNvSpPr>
                <p:nvPr/>
              </p:nvSpPr>
              <p:spPr bwMode="auto">
                <a:xfrm>
                  <a:off x="3216" y="3072"/>
                  <a:ext cx="336" cy="336"/>
                </a:xfrm>
                <a:prstGeom prst="ellipse">
                  <a:avLst/>
                </a:prstGeom>
                <a:solidFill>
                  <a:srgbClr val="FFCC00"/>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41" name="Line 67"/>
                <p:cNvSpPr>
                  <a:spLocks noChangeShapeType="1"/>
                </p:cNvSpPr>
                <p:nvPr/>
              </p:nvSpPr>
              <p:spPr bwMode="auto">
                <a:xfrm>
                  <a:off x="3264" y="3120"/>
                  <a:ext cx="240" cy="2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42" name="Line 68"/>
                <p:cNvSpPr>
                  <a:spLocks noChangeShapeType="1"/>
                </p:cNvSpPr>
                <p:nvPr/>
              </p:nvSpPr>
              <p:spPr bwMode="auto">
                <a:xfrm flipH="1">
                  <a:off x="3264" y="3120"/>
                  <a:ext cx="240" cy="2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grpSp>
          <mc:AlternateContent xmlns:mc="http://schemas.openxmlformats.org/markup-compatibility/2006" xmlns:a14="http://schemas.microsoft.com/office/drawing/2010/main">
            <mc:Choice Requires="a14">
              <p:sp>
                <p:nvSpPr>
                  <p:cNvPr id="138" name="Object 69"/>
                  <p:cNvSpPr txBox="1"/>
                  <p:nvPr/>
                </p:nvSpPr>
                <p:spPr bwMode="auto">
                  <a:xfrm>
                    <a:off x="5014913" y="1509713"/>
                    <a:ext cx="581025"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n-US" i="1">
                              <a:solidFill>
                                <a:srgbClr val="000000"/>
                              </a:solidFill>
                              <a:latin typeface="Cambria Math" panose="02040503050406030204" pitchFamily="18" charset="0"/>
                            </a:rPr>
                            <m:t>A</m:t>
                          </m:r>
                        </m:oMath>
                      </m:oMathPara>
                    </a14:m>
                    <a:endParaRPr lang="en-US"/>
                  </a:p>
                </p:txBody>
              </p:sp>
            </mc:Choice>
            <mc:Fallback xmlns="">
              <p:sp>
                <p:nvSpPr>
                  <p:cNvPr id="138" name="Object 69"/>
                  <p:cNvSpPr txBox="1">
                    <a:spLocks noRot="1" noChangeAspect="1" noMove="1" noResize="1" noEditPoints="1" noAdjustHandles="1" noChangeArrowheads="1" noChangeShapeType="1" noTextEdit="1"/>
                  </p:cNvSpPr>
                  <p:nvPr/>
                </p:nvSpPr>
                <p:spPr bwMode="auto">
                  <a:xfrm>
                    <a:off x="5014913" y="1509713"/>
                    <a:ext cx="581025" cy="45720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Object 70"/>
                  <p:cNvSpPr txBox="1"/>
                  <p:nvPr/>
                </p:nvSpPr>
                <p:spPr bwMode="auto">
                  <a:xfrm>
                    <a:off x="5038725" y="2254250"/>
                    <a:ext cx="511175" cy="3857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n-US" i="1">
                              <a:solidFill>
                                <a:srgbClr val="000000"/>
                              </a:solidFill>
                              <a:latin typeface="Cambria Math" panose="02040503050406030204" pitchFamily="18" charset="0"/>
                            </a:rPr>
                            <m:t>B</m:t>
                          </m:r>
                        </m:oMath>
                      </m:oMathPara>
                    </a14:m>
                    <a:endParaRPr lang="en-US"/>
                  </a:p>
                </p:txBody>
              </p:sp>
            </mc:Choice>
            <mc:Fallback xmlns="">
              <p:sp>
                <p:nvSpPr>
                  <p:cNvPr id="139" name="Object 70"/>
                  <p:cNvSpPr txBox="1">
                    <a:spLocks noRot="1" noChangeAspect="1" noMove="1" noResize="1" noEditPoints="1" noAdjustHandles="1" noChangeArrowheads="1" noChangeShapeType="1" noTextEdit="1"/>
                  </p:cNvSpPr>
                  <p:nvPr/>
                </p:nvSpPr>
                <p:spPr bwMode="auto">
                  <a:xfrm>
                    <a:off x="5038725" y="2254250"/>
                    <a:ext cx="511175" cy="385763"/>
                  </a:xfrm>
                  <a:prstGeom prst="rect">
                    <a:avLst/>
                  </a:prstGeom>
                  <a:blipFill>
                    <a:blip r:embed="rId7"/>
                    <a:stretch>
                      <a:fillRect/>
                    </a:stretch>
                  </a:blipFill>
                  <a:ln>
                    <a:noFill/>
                  </a:ln>
                  <a:effectLst/>
                </p:spPr>
                <p:txBody>
                  <a:bodyPr/>
                  <a:lstStyle/>
                  <a:p>
                    <a:r>
                      <a:rPr lang="en-US">
                        <a:noFill/>
                      </a:rPr>
                      <a:t> </a:t>
                    </a:r>
                  </a:p>
                </p:txBody>
              </p:sp>
            </mc:Fallback>
          </mc:AlternateContent>
          <p:sp>
            <p:nvSpPr>
              <p:cNvPr id="114" name="Oval 71"/>
              <p:cNvSpPr>
                <a:spLocks noChangeArrowheads="1"/>
              </p:cNvSpPr>
              <p:nvPr/>
            </p:nvSpPr>
            <p:spPr bwMode="auto">
              <a:xfrm>
                <a:off x="5854355" y="1035049"/>
                <a:ext cx="168529" cy="164709"/>
              </a:xfrm>
              <a:prstGeom prst="ellipse">
                <a:avLst/>
              </a:prstGeom>
              <a:solidFill>
                <a:schemeClr val="accent1"/>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41" name="Line 55"/>
              <p:cNvSpPr>
                <a:spLocks noChangeShapeType="1"/>
              </p:cNvSpPr>
              <p:nvPr/>
            </p:nvSpPr>
            <p:spPr bwMode="auto">
              <a:xfrm>
                <a:off x="5443451" y="1107151"/>
                <a:ext cx="495168" cy="10251"/>
              </a:xfrm>
              <a:prstGeom prst="line">
                <a:avLst/>
              </a:prstGeom>
              <a:noFill/>
              <a:ln w="28575">
                <a:solidFill>
                  <a:srgbClr val="00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grpSp>
        <p:grpSp>
          <p:nvGrpSpPr>
            <p:cNvPr id="5" name="组合 4"/>
            <p:cNvGrpSpPr/>
            <p:nvPr/>
          </p:nvGrpSpPr>
          <p:grpSpPr>
            <a:xfrm>
              <a:off x="5577048" y="2068804"/>
              <a:ext cx="505588" cy="482116"/>
              <a:chOff x="5433032" y="635288"/>
              <a:chExt cx="505588" cy="482116"/>
            </a:xfrm>
          </p:grpSpPr>
          <p:sp>
            <p:nvSpPr>
              <p:cNvPr id="146" name="Line 72"/>
              <p:cNvSpPr>
                <a:spLocks noChangeShapeType="1"/>
              </p:cNvSpPr>
              <p:nvPr/>
            </p:nvSpPr>
            <p:spPr bwMode="auto">
              <a:xfrm flipH="1" flipV="1">
                <a:off x="5641936" y="635288"/>
                <a:ext cx="150974" cy="284932"/>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sp>
            <p:nvSpPr>
              <p:cNvPr id="130" name="Line 55"/>
              <p:cNvSpPr>
                <a:spLocks noChangeShapeType="1"/>
              </p:cNvSpPr>
              <p:nvPr/>
            </p:nvSpPr>
            <p:spPr bwMode="auto">
              <a:xfrm flipV="1">
                <a:off x="5433032" y="870341"/>
                <a:ext cx="505588" cy="2470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endParaRPr lang="zh-CN" altLang="en-US" b="1" i="1" u="sng">
                  <a:solidFill>
                    <a:srgbClr val="000099"/>
                  </a:solidFill>
                  <a:latin typeface="Arial" panose="020B0604020202020204" pitchFamily="34" charset="0"/>
                  <a:ea typeface="宋体" panose="02010600030101010101" pitchFamily="2" charset="-122"/>
                </a:endParaRPr>
              </a:p>
            </p:txBody>
          </p:sp>
        </p:grpSp>
      </p:grpSp>
      <p:sp>
        <p:nvSpPr>
          <p:cNvPr id="42" name="Text Box 9">
            <a:extLst>
              <a:ext uri="{FF2B5EF4-FFF2-40B4-BE49-F238E27FC236}">
                <a16:creationId xmlns:a16="http://schemas.microsoft.com/office/drawing/2014/main" id="{B9B2BF11-2A29-4A9C-A427-DF5BA426A1B2}"/>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磁场的能量</a:t>
            </a:r>
          </a:p>
        </p:txBody>
      </p:sp>
    </p:spTree>
    <p:extLst>
      <p:ext uri="{BB962C8B-B14F-4D97-AF65-F5344CB8AC3E}">
        <p14:creationId xmlns:p14="http://schemas.microsoft.com/office/powerpoint/2010/main" val="133240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1885" name="Rectangle 29"/>
              <p:cNvSpPr>
                <a:spLocks noChangeArrowheads="1"/>
              </p:cNvSpPr>
              <p:nvPr/>
            </p:nvSpPr>
            <p:spPr bwMode="auto">
              <a:xfrm>
                <a:off x="1929476" y="2391461"/>
                <a:ext cx="8280921" cy="4107022"/>
              </a:xfrm>
              <a:prstGeom prst="rect">
                <a:avLst/>
              </a:prstGeom>
              <a:noFill/>
              <a:ln w="9525">
                <a:noFill/>
                <a:miter lim="800000"/>
                <a:headEnd/>
                <a:tailEnd/>
              </a:ln>
              <a:effectLst/>
            </p:spPr>
            <p:txBody>
              <a:bodyPr wrap="square">
                <a:spAutoFit/>
              </a:bodyPr>
              <a:lstStyle/>
              <a:p>
                <a:pPr fontAlgn="base">
                  <a:lnSpc>
                    <a:spcPct val="130000"/>
                  </a:lnSpc>
                  <a:spcBef>
                    <a:spcPct val="0"/>
                  </a:spcBef>
                  <a:spcAft>
                    <a:spcPct val="0"/>
                  </a:spcAft>
                  <a:defRPr/>
                </a:pPr>
                <a:r>
                  <a:rPr lang="zh-CN" altLang="en-US" sz="2800" dirty="0">
                    <a:solidFill>
                      <a:schemeClr val="tx1"/>
                    </a:solidFill>
                    <a:latin typeface="Times New Roman"/>
                    <a:ea typeface="华文楷体" panose="02010600040101010101" pitchFamily="2" charset="-122"/>
                  </a:rPr>
                  <a:t>设</a:t>
                </a:r>
                <a14:m>
                  <m:oMath xmlns:m="http://schemas.openxmlformats.org/officeDocument/2006/math">
                    <m:r>
                      <m:rPr>
                        <m:sty m:val="p"/>
                      </m:rPr>
                      <a:rPr lang="en-US" altLang="zh-CN" sz="2800" b="0" i="1" dirty="0">
                        <a:solidFill>
                          <a:schemeClr val="tx1"/>
                        </a:solidFill>
                        <a:latin typeface="Cambria Math" panose="02040503050406030204" pitchFamily="18" charset="0"/>
                        <a:ea typeface="黑体" panose="02010609060101010101" pitchFamily="49" charset="-122"/>
                      </a:rPr>
                      <m:t>K</m:t>
                    </m:r>
                    <m:r>
                      <a:rPr lang="en-US" altLang="zh-CN" sz="2800" b="0" i="1" baseline="-25000" dirty="0">
                        <a:solidFill>
                          <a:schemeClr val="tx1"/>
                        </a:solidFill>
                        <a:latin typeface="Cambria Math" panose="02040503050406030204" pitchFamily="18" charset="0"/>
                        <a:ea typeface="黑体" panose="02010609060101010101" pitchFamily="49" charset="-122"/>
                      </a:rPr>
                      <m:t>1</m:t>
                    </m:r>
                  </m:oMath>
                </a14:m>
                <a:r>
                  <a:rPr lang="zh-CN" altLang="en-US" sz="2800" dirty="0">
                    <a:solidFill>
                      <a:schemeClr val="tx1"/>
                    </a:solidFill>
                    <a:latin typeface="Times New Roman"/>
                    <a:ea typeface="华文楷体" panose="02010600040101010101" pitchFamily="2" charset="-122"/>
                  </a:rPr>
                  <a:t>闭合瞬时电流为</a:t>
                </a:r>
                <a14:m>
                  <m:oMath xmlns:m="http://schemas.openxmlformats.org/officeDocument/2006/math">
                    <m:r>
                      <a:rPr lang="en-US" altLang="zh-CN" sz="2800" b="0" i="1" dirty="0">
                        <a:solidFill>
                          <a:schemeClr val="tx1"/>
                        </a:solidFill>
                        <a:latin typeface="Cambria Math" panose="02040503050406030204" pitchFamily="18" charset="0"/>
                        <a:ea typeface="黑体" panose="02010609060101010101" pitchFamily="49" charset="-122"/>
                      </a:rPr>
                      <m:t>𝐼</m:t>
                    </m:r>
                  </m:oMath>
                </a14:m>
                <a:r>
                  <a:rPr lang="zh-CN" altLang="en-US" sz="2800" dirty="0">
                    <a:solidFill>
                      <a:schemeClr val="tx1"/>
                    </a:solidFill>
                    <a:latin typeface="Times New Roman"/>
                    <a:ea typeface="华文楷体" panose="02010600040101010101" pitchFamily="2" charset="-122"/>
                  </a:rPr>
                  <a:t>，由欧姆定律得</a:t>
                </a:r>
                <a:endParaRPr lang="en-US" altLang="zh-CN" sz="2800" dirty="0">
                  <a:solidFill>
                    <a:schemeClr val="tx1"/>
                  </a:solidFill>
                  <a:latin typeface="Times New Roman"/>
                  <a:ea typeface="华文楷体" panose="02010600040101010101" pitchFamily="2" charset="-122"/>
                </a:endParaRPr>
              </a:p>
              <a:p>
                <a:pPr fontAlgn="base">
                  <a:lnSpc>
                    <a:spcPct val="130000"/>
                  </a:lnSpc>
                  <a:spcBef>
                    <a:spcPct val="0"/>
                  </a:spcBef>
                  <a:spcAft>
                    <a:spcPct val="0"/>
                  </a:spcAft>
                  <a:defRPr/>
                </a:pPr>
                <a14:m>
                  <m:oMathPara xmlns:m="http://schemas.openxmlformats.org/officeDocument/2006/math">
                    <m:oMathParaPr>
                      <m:jc m:val="centerGroup"/>
                    </m:oMathParaPr>
                    <m:oMath xmlns:m="http://schemas.openxmlformats.org/officeDocument/2006/math">
                      <m:r>
                        <a:rPr lang="zh-CN" altLang="en-US" sz="2800" b="0" i="1">
                          <a:solidFill>
                            <a:schemeClr val="tx1"/>
                          </a:solidFill>
                          <a:latin typeface="Cambria Math" panose="02040503050406030204" pitchFamily="18" charset="0"/>
                          <a:ea typeface="黑体" panose="02010609060101010101" pitchFamily="49" charset="-122"/>
                        </a:rPr>
                        <m:t>𝜀</m:t>
                      </m:r>
                      <m:r>
                        <a:rPr lang="en-US" altLang="zh-CN" sz="2800" b="0">
                          <a:solidFill>
                            <a:schemeClr val="tx1"/>
                          </a:solidFill>
                          <a:latin typeface="Cambria Math" panose="02040503050406030204" pitchFamily="18" charset="0"/>
                          <a:ea typeface="黑体" panose="02010609060101010101" pitchFamily="49" charset="-122"/>
                        </a:rPr>
                        <m:t>−</m:t>
                      </m:r>
                      <m:r>
                        <a:rPr lang="en-US" altLang="zh-CN" sz="2800" b="0" i="1">
                          <a:solidFill>
                            <a:schemeClr val="tx1"/>
                          </a:solidFill>
                          <a:latin typeface="Cambria Math" panose="02040503050406030204" pitchFamily="18" charset="0"/>
                          <a:ea typeface="黑体" panose="02010609060101010101" pitchFamily="49" charset="-122"/>
                        </a:rPr>
                        <m:t>𝐿</m:t>
                      </m:r>
                      <m:f>
                        <m:fPr>
                          <m:ctrlPr>
                            <a:rPr lang="en-US" altLang="zh-CN" sz="2800" i="1">
                              <a:solidFill>
                                <a:schemeClr val="tx1"/>
                              </a:solidFill>
                              <a:latin typeface="Cambria Math" panose="02040503050406030204" pitchFamily="18" charset="0"/>
                              <a:ea typeface="黑体" panose="02010609060101010101" pitchFamily="49" charset="-122"/>
                            </a:rPr>
                          </m:ctrlPr>
                        </m:fPr>
                        <m:num>
                          <m:r>
                            <a:rPr lang="en-US" altLang="zh-CN" sz="2800" b="0" i="1">
                              <a:solidFill>
                                <a:schemeClr val="tx1"/>
                              </a:solidFill>
                              <a:latin typeface="Cambria Math" panose="02040503050406030204" pitchFamily="18" charset="0"/>
                              <a:ea typeface="黑体" panose="02010609060101010101" pitchFamily="49" charset="-122"/>
                            </a:rPr>
                            <m:t>𝑑𝐼</m:t>
                          </m:r>
                        </m:num>
                        <m:den>
                          <m:r>
                            <a:rPr lang="en-US" altLang="zh-CN" sz="2800" b="0" i="1">
                              <a:solidFill>
                                <a:schemeClr val="tx1"/>
                              </a:solidFill>
                              <a:latin typeface="Cambria Math" panose="02040503050406030204" pitchFamily="18" charset="0"/>
                              <a:ea typeface="黑体" panose="02010609060101010101" pitchFamily="49" charset="-122"/>
                            </a:rPr>
                            <m:t>𝑑𝑡</m:t>
                          </m:r>
                        </m:den>
                      </m:f>
                      <m:r>
                        <a:rPr lang="en-US" altLang="zh-CN" sz="2800" b="0" i="1">
                          <a:solidFill>
                            <a:schemeClr val="tx1"/>
                          </a:solidFill>
                          <a:latin typeface="Cambria Math" panose="02040503050406030204" pitchFamily="18" charset="0"/>
                          <a:ea typeface="黑体" panose="02010609060101010101" pitchFamily="49" charset="-122"/>
                        </a:rPr>
                        <m:t>=</m:t>
                      </m:r>
                      <m:r>
                        <a:rPr lang="en-US" altLang="zh-CN" sz="2800" b="0" i="1">
                          <a:solidFill>
                            <a:schemeClr val="tx1"/>
                          </a:solidFill>
                          <a:latin typeface="Cambria Math" panose="02040503050406030204" pitchFamily="18" charset="0"/>
                          <a:ea typeface="黑体" panose="02010609060101010101" pitchFamily="49" charset="-122"/>
                        </a:rPr>
                        <m:t>𝐼𝑅</m:t>
                      </m:r>
                    </m:oMath>
                  </m:oMathPara>
                </a14:m>
                <a:endParaRPr lang="en-US" altLang="zh-CN" sz="2800" dirty="0">
                  <a:solidFill>
                    <a:schemeClr val="tx1"/>
                  </a:solidFill>
                  <a:latin typeface="Times New Roman"/>
                  <a:ea typeface="华文楷体" panose="02010600040101010101" pitchFamily="2" charset="-122"/>
                </a:endParaRPr>
              </a:p>
              <a:p>
                <a:pPr fontAlgn="base">
                  <a:lnSpc>
                    <a:spcPct val="130000"/>
                  </a:lnSpc>
                  <a:spcBef>
                    <a:spcPct val="0"/>
                  </a:spcBef>
                  <a:spcAft>
                    <a:spcPct val="0"/>
                  </a:spcAft>
                  <a:defRPr/>
                </a:pPr>
                <a14:m>
                  <m:oMathPara xmlns:m="http://schemas.openxmlformats.org/officeDocument/2006/math">
                    <m:oMathParaPr>
                      <m:jc m:val="centerGroup"/>
                    </m:oMathParaPr>
                    <m:oMath xmlns:m="http://schemas.openxmlformats.org/officeDocument/2006/math">
                      <m:r>
                        <a:rPr lang="zh-CN" altLang="en-US" sz="2800" b="0" i="1">
                          <a:solidFill>
                            <a:schemeClr val="tx1"/>
                          </a:solidFill>
                          <a:latin typeface="Cambria Math" panose="02040503050406030204" pitchFamily="18" charset="0"/>
                          <a:ea typeface="黑体" panose="02010609060101010101" pitchFamily="49" charset="-122"/>
                        </a:rPr>
                        <m:t>→</m:t>
                      </m:r>
                      <m:r>
                        <a:rPr lang="zh-CN" altLang="en-US" sz="2800" b="0" i="1">
                          <a:solidFill>
                            <a:schemeClr val="tx1"/>
                          </a:solidFill>
                          <a:latin typeface="Cambria Math" panose="02040503050406030204" pitchFamily="18" charset="0"/>
                          <a:ea typeface="黑体" panose="02010609060101010101" pitchFamily="49" charset="-122"/>
                        </a:rPr>
                        <m:t>𝜀</m:t>
                      </m:r>
                      <m:r>
                        <a:rPr lang="en-US" altLang="zh-CN" sz="2800" b="0" i="1">
                          <a:solidFill>
                            <a:schemeClr val="tx1"/>
                          </a:solidFill>
                          <a:latin typeface="Cambria Math" panose="02040503050406030204" pitchFamily="18" charset="0"/>
                          <a:ea typeface="黑体" panose="02010609060101010101" pitchFamily="49" charset="-122"/>
                        </a:rPr>
                        <m:t>𝑑𝑡</m:t>
                      </m:r>
                      <m:r>
                        <a:rPr lang="en-US" altLang="zh-CN" sz="2800" b="0">
                          <a:solidFill>
                            <a:schemeClr val="tx1"/>
                          </a:solidFill>
                          <a:latin typeface="Cambria Math" panose="02040503050406030204" pitchFamily="18" charset="0"/>
                          <a:ea typeface="黑体" panose="02010609060101010101" pitchFamily="49" charset="-122"/>
                        </a:rPr>
                        <m:t>−</m:t>
                      </m:r>
                      <m:r>
                        <a:rPr lang="en-US" altLang="zh-CN" sz="2800" b="0" i="1">
                          <a:solidFill>
                            <a:schemeClr val="tx1"/>
                          </a:solidFill>
                          <a:latin typeface="Cambria Math" panose="02040503050406030204" pitchFamily="18" charset="0"/>
                          <a:ea typeface="黑体" panose="02010609060101010101" pitchFamily="49" charset="-122"/>
                        </a:rPr>
                        <m:t>𝐿𝑑𝐼</m:t>
                      </m:r>
                      <m:r>
                        <a:rPr lang="en-US" altLang="zh-CN" sz="2800" b="0" i="1">
                          <a:solidFill>
                            <a:schemeClr val="tx1"/>
                          </a:solidFill>
                          <a:latin typeface="Cambria Math" panose="02040503050406030204" pitchFamily="18" charset="0"/>
                          <a:ea typeface="黑体" panose="02010609060101010101" pitchFamily="49" charset="-122"/>
                        </a:rPr>
                        <m:t>=</m:t>
                      </m:r>
                      <m:r>
                        <a:rPr lang="en-US" altLang="zh-CN" sz="2800" b="0" i="1">
                          <a:solidFill>
                            <a:schemeClr val="tx1"/>
                          </a:solidFill>
                          <a:latin typeface="Cambria Math" panose="02040503050406030204" pitchFamily="18" charset="0"/>
                          <a:ea typeface="黑体" panose="02010609060101010101" pitchFamily="49" charset="-122"/>
                        </a:rPr>
                        <m:t>𝐼𝑅𝑑𝑡</m:t>
                      </m:r>
                    </m:oMath>
                  </m:oMathPara>
                </a14:m>
                <a:endParaRPr lang="en-US" altLang="zh-CN" sz="2800" dirty="0">
                  <a:solidFill>
                    <a:schemeClr val="tx1"/>
                  </a:solidFill>
                  <a:latin typeface="Times New Roman"/>
                  <a:ea typeface="华文楷体" panose="02010600040101010101" pitchFamily="2" charset="-122"/>
                </a:endParaRPr>
              </a:p>
              <a:p>
                <a:pPr fontAlgn="base">
                  <a:lnSpc>
                    <a:spcPct val="130000"/>
                  </a:lnSpc>
                  <a:spcBef>
                    <a:spcPct val="0"/>
                  </a:spcBef>
                  <a:spcAft>
                    <a:spcPct val="0"/>
                  </a:spcAft>
                  <a:defRPr/>
                </a:pPr>
                <a:r>
                  <a:rPr lang="zh-CN" altLang="en-US" sz="2800" dirty="0">
                    <a:solidFill>
                      <a:schemeClr val="tx1"/>
                    </a:solidFill>
                    <a:latin typeface="Times New Roman"/>
                    <a:ea typeface="华文楷体" panose="02010600040101010101" pitchFamily="2" charset="-122"/>
                  </a:rPr>
                  <a:t>设</a:t>
                </a:r>
                <a14:m>
                  <m:oMath xmlns:m="http://schemas.openxmlformats.org/officeDocument/2006/math">
                    <m:r>
                      <a:rPr lang="en-US" altLang="zh-CN" sz="2800" b="0" i="1">
                        <a:solidFill>
                          <a:schemeClr val="tx1"/>
                        </a:solidFill>
                        <a:latin typeface="Cambria Math" panose="02040503050406030204" pitchFamily="18" charset="0"/>
                        <a:ea typeface="黑体" panose="02010609060101010101" pitchFamily="49" charset="-122"/>
                      </a:rPr>
                      <m:t>𝑡</m:t>
                    </m:r>
                  </m:oMath>
                </a14:m>
                <a:r>
                  <a:rPr lang="zh-CN" altLang="en-US" sz="2800" dirty="0">
                    <a:solidFill>
                      <a:schemeClr val="tx1"/>
                    </a:solidFill>
                    <a:latin typeface="Times New Roman"/>
                    <a:ea typeface="华文楷体" panose="02010600040101010101" pitchFamily="2" charset="-122"/>
                  </a:rPr>
                  <a:t>时刻达到稳态值</a:t>
                </a:r>
                <a:endParaRPr lang="en-US" altLang="zh-CN" sz="2800" dirty="0">
                  <a:solidFill>
                    <a:schemeClr val="tx1"/>
                  </a:solidFill>
                  <a:latin typeface="Times New Roman"/>
                  <a:ea typeface="华文楷体" panose="02010600040101010101" pitchFamily="2" charset="-122"/>
                </a:endParaRPr>
              </a:p>
              <a:p>
                <a:pPr fontAlgn="base">
                  <a:lnSpc>
                    <a:spcPct val="130000"/>
                  </a:lnSpc>
                  <a:spcBef>
                    <a:spcPct val="0"/>
                  </a:spcBef>
                  <a:spcAft>
                    <a:spcPct val="0"/>
                  </a:spcAft>
                  <a:defRPr/>
                </a:pPr>
                <a14:m>
                  <m:oMathPara xmlns:m="http://schemas.openxmlformats.org/officeDocument/2006/math">
                    <m:oMathParaPr>
                      <m:jc m:val="centerGroup"/>
                    </m:oMathParaPr>
                    <m:oMath xmlns:m="http://schemas.openxmlformats.org/officeDocument/2006/math">
                      <m:r>
                        <a:rPr lang="zh-CN" altLang="en-US" sz="2800" b="0" i="1">
                          <a:solidFill>
                            <a:schemeClr val="tx1"/>
                          </a:solidFill>
                          <a:latin typeface="Cambria Math" panose="02040503050406030204" pitchFamily="18" charset="0"/>
                          <a:ea typeface="黑体" panose="02010609060101010101" pitchFamily="49" charset="-122"/>
                        </a:rPr>
                        <m:t>→</m:t>
                      </m:r>
                      <m:nary>
                        <m:naryPr>
                          <m:ctrlPr>
                            <a:rPr lang="zh-CN" altLang="en-US"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𝑡</m:t>
                          </m:r>
                        </m:sup>
                        <m:e>
                          <m:r>
                            <a:rPr lang="zh-CN" altLang="en-US" sz="2800" b="0" i="1">
                              <a:solidFill>
                                <a:schemeClr val="tx1"/>
                              </a:solidFill>
                              <a:latin typeface="Cambria Math" panose="02040503050406030204" pitchFamily="18" charset="0"/>
                              <a:ea typeface="黑体" panose="02010609060101010101" pitchFamily="49" charset="-122"/>
                            </a:rPr>
                            <m:t>𝜀</m:t>
                          </m:r>
                          <m:r>
                            <a:rPr lang="en-US" altLang="zh-CN" sz="2800" b="0" i="1">
                              <a:solidFill>
                                <a:schemeClr val="tx1"/>
                              </a:solidFill>
                              <a:latin typeface="Cambria Math" panose="02040503050406030204" pitchFamily="18" charset="0"/>
                              <a:ea typeface="黑体" panose="02010609060101010101" pitchFamily="49" charset="-122"/>
                            </a:rPr>
                            <m:t>𝐼𝑑𝑡</m:t>
                          </m:r>
                        </m:e>
                      </m:nary>
                      <m:r>
                        <a:rPr lang="en-US" altLang="zh-CN" sz="2800" b="0">
                          <a:solidFill>
                            <a:schemeClr val="tx1"/>
                          </a:solidFill>
                          <a:latin typeface="Cambria Math" panose="02040503050406030204" pitchFamily="18" charset="0"/>
                          <a:ea typeface="黑体" panose="02010609060101010101" pitchFamily="49" charset="-122"/>
                        </a:rPr>
                        <m:t>−</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0</m:t>
                              </m:r>
                            </m:sub>
                          </m:sSub>
                        </m:sup>
                        <m:e>
                          <m:r>
                            <a:rPr lang="en-US" altLang="zh-CN" sz="2800" b="0" i="1">
                              <a:solidFill>
                                <a:schemeClr val="tx1"/>
                              </a:solidFill>
                              <a:latin typeface="Cambria Math" panose="02040503050406030204" pitchFamily="18" charset="0"/>
                              <a:ea typeface="黑体" panose="02010609060101010101" pitchFamily="49" charset="-122"/>
                            </a:rPr>
                            <m:t>𝐿𝐼𝑑𝐼</m:t>
                          </m:r>
                        </m:e>
                      </m:nary>
                      <m:r>
                        <a:rPr lang="en-US" altLang="zh-CN" sz="2800" b="0" i="1">
                          <a:solidFill>
                            <a:schemeClr val="tx1"/>
                          </a:solidFill>
                          <a:latin typeface="Cambria Math" panose="02040503050406030204" pitchFamily="18" charset="0"/>
                          <a:ea typeface="黑体" panose="02010609060101010101" pitchFamily="49" charset="-122"/>
                        </a:rPr>
                        <m:t>=</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𝑡</m:t>
                          </m:r>
                        </m:sup>
                        <m:e>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𝐼</m:t>
                              </m:r>
                            </m:e>
                            <m:sup>
                              <m:r>
                                <a:rPr lang="en-US" altLang="zh-CN" sz="2800" b="0" i="1">
                                  <a:solidFill>
                                    <a:schemeClr val="tx1"/>
                                  </a:solidFill>
                                  <a:latin typeface="Cambria Math" panose="02040503050406030204" pitchFamily="18" charset="0"/>
                                  <a:ea typeface="黑体" panose="02010609060101010101" pitchFamily="49" charset="-122"/>
                                </a:rPr>
                                <m:t>2</m:t>
                              </m:r>
                            </m:sup>
                          </m:sSup>
                          <m:r>
                            <a:rPr lang="en-US" altLang="zh-CN" sz="2800" b="0" i="1">
                              <a:solidFill>
                                <a:schemeClr val="tx1"/>
                              </a:solidFill>
                              <a:latin typeface="Cambria Math" panose="02040503050406030204" pitchFamily="18" charset="0"/>
                              <a:ea typeface="黑体" panose="02010609060101010101" pitchFamily="49" charset="-122"/>
                            </a:rPr>
                            <m:t>𝑅𝑑𝑡</m:t>
                          </m:r>
                          <m:r>
                            <m:rPr>
                              <m:nor/>
                            </m:rPr>
                            <a:rPr lang="zh-CN" altLang="en-US" sz="2800" dirty="0">
                              <a:solidFill>
                                <a:schemeClr val="tx1"/>
                              </a:solidFill>
                              <a:latin typeface="Times New Roman"/>
                              <a:ea typeface="华文楷体" panose="02010600040101010101" pitchFamily="2" charset="-122"/>
                            </a:rPr>
                            <m:t> </m:t>
                          </m:r>
                        </m:e>
                      </m:nary>
                    </m:oMath>
                  </m:oMathPara>
                </a14:m>
                <a:endParaRPr lang="zh-CN" altLang="en-US" sz="2800" dirty="0">
                  <a:solidFill>
                    <a:schemeClr val="tx1"/>
                  </a:solidFill>
                  <a:latin typeface="Times New Roman"/>
                  <a:ea typeface="华文楷体" panose="02010600040101010101" pitchFamily="2" charset="-122"/>
                </a:endParaRPr>
              </a:p>
            </p:txBody>
          </p:sp>
        </mc:Choice>
        <mc:Fallback xmlns="">
          <p:sp>
            <p:nvSpPr>
              <p:cNvPr id="121885" name="Rectangle 29"/>
              <p:cNvSpPr>
                <a:spLocks noRot="1" noChangeAspect="1" noMove="1" noResize="1" noEditPoints="1" noAdjustHandles="1" noChangeArrowheads="1" noChangeShapeType="1" noTextEdit="1"/>
              </p:cNvSpPr>
              <p:nvPr/>
            </p:nvSpPr>
            <p:spPr bwMode="auto">
              <a:xfrm>
                <a:off x="1929476" y="2391461"/>
                <a:ext cx="8280921" cy="4107022"/>
              </a:xfrm>
              <a:prstGeom prst="rect">
                <a:avLst/>
              </a:prstGeom>
              <a:blipFill>
                <a:blip r:embed="rId2"/>
                <a:stretch>
                  <a:fillRect l="-1546"/>
                </a:stretch>
              </a:blipFill>
              <a:ln w="9525">
                <a:noFill/>
                <a:miter lim="800000"/>
                <a:headEnd/>
                <a:tailEnd/>
              </a:ln>
              <a:effectLst/>
            </p:spPr>
            <p:txBody>
              <a:bodyPr/>
              <a:lstStyle/>
              <a:p>
                <a:r>
                  <a:rPr lang="en-US">
                    <a:noFill/>
                  </a:rPr>
                  <a:t> </a:t>
                </a:r>
              </a:p>
            </p:txBody>
          </p:sp>
        </mc:Fallback>
      </mc:AlternateContent>
      <p:pic>
        <p:nvPicPr>
          <p:cNvPr id="8" name="图片 7"/>
          <p:cNvPicPr>
            <a:picLocks noChangeAspect="1"/>
          </p:cNvPicPr>
          <p:nvPr/>
        </p:nvPicPr>
        <p:blipFill>
          <a:blip r:embed="rId3"/>
          <a:stretch>
            <a:fillRect/>
          </a:stretch>
        </p:blipFill>
        <p:spPr>
          <a:xfrm>
            <a:off x="4143684" y="260649"/>
            <a:ext cx="3849192" cy="2067787"/>
          </a:xfrm>
          <a:prstGeom prst="rect">
            <a:avLst/>
          </a:prstGeom>
        </p:spPr>
      </p:pic>
      <p:sp>
        <p:nvSpPr>
          <p:cNvPr id="6" name="Text Box 9">
            <a:extLst>
              <a:ext uri="{FF2B5EF4-FFF2-40B4-BE49-F238E27FC236}">
                <a16:creationId xmlns:a16="http://schemas.microsoft.com/office/drawing/2014/main" id="{57A0127D-D0C2-4077-89DC-6F4E807889AE}"/>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磁场的能量</a:t>
            </a:r>
          </a:p>
        </p:txBody>
      </p:sp>
    </p:spTree>
    <p:extLst>
      <p:ext uri="{BB962C8B-B14F-4D97-AF65-F5344CB8AC3E}">
        <p14:creationId xmlns:p14="http://schemas.microsoft.com/office/powerpoint/2010/main" val="310856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8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8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88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8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882" name="Rectangle 2"/>
              <p:cNvSpPr>
                <a:spLocks noChangeArrowheads="1"/>
              </p:cNvSpPr>
              <p:nvPr/>
            </p:nvSpPr>
            <p:spPr bwMode="auto">
              <a:xfrm>
                <a:off x="1906320" y="1871948"/>
                <a:ext cx="8208912" cy="1902252"/>
              </a:xfrm>
              <a:prstGeom prst="rect">
                <a:avLst/>
              </a:prstGeom>
              <a:noFill/>
              <a:ln w="9525">
                <a:noFill/>
                <a:miter lim="800000"/>
                <a:headEnd/>
                <a:tailEnd/>
              </a:ln>
              <a:effectLst/>
            </p:spPr>
            <p:txBody>
              <a:bodyPr wrap="square">
                <a:spAutoFit/>
              </a:bodyPr>
              <a:lstStyle/>
              <a:p>
                <a:pPr fontAlgn="base">
                  <a:lnSpc>
                    <a:spcPct val="130000"/>
                  </a:lnSpc>
                  <a:spcBef>
                    <a:spcPct val="0"/>
                  </a:spcBef>
                  <a:spcAft>
                    <a:spcPct val="0"/>
                  </a:spcAft>
                  <a:defRPr/>
                </a:pPr>
                <a:r>
                  <a:rPr lang="zh-CN" altLang="en-US" sz="2800" dirty="0">
                    <a:solidFill>
                      <a:schemeClr val="tx1"/>
                    </a:solidFill>
                    <a:latin typeface="华文楷体" panose="02010600040101010101" pitchFamily="2" charset="-122"/>
                    <a:ea typeface="华文楷体" panose="02010600040101010101" pitchFamily="2" charset="-122"/>
                  </a:rPr>
                  <a:t>在自感和电流无关的情况下</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有</a:t>
                </a:r>
                <a:endParaRPr lang="en-US" altLang="zh-CN" sz="2800" dirty="0">
                  <a:solidFill>
                    <a:schemeClr val="tx1"/>
                  </a:solidFill>
                  <a:latin typeface="华文楷体" panose="02010600040101010101" pitchFamily="2" charset="-122"/>
                  <a:ea typeface="华文楷体" panose="02010600040101010101" pitchFamily="2" charset="-122"/>
                </a:endParaRPr>
              </a:p>
              <a:p>
                <a:pPr fontAlgn="base">
                  <a:lnSpc>
                    <a:spcPct val="130000"/>
                  </a:lnSpc>
                  <a:spcBef>
                    <a:spcPct val="0"/>
                  </a:spcBef>
                  <a:spcAft>
                    <a:spcPct val="0"/>
                  </a:spcAft>
                  <a:defRPr/>
                </a:pPr>
                <a14:m>
                  <m:oMathPara xmlns:m="http://schemas.openxmlformats.org/officeDocument/2006/math">
                    <m:oMathParaPr>
                      <m:jc m:val="centerGroup"/>
                    </m:oMathParaPr>
                    <m:oMath xmlns:m="http://schemas.openxmlformats.org/officeDocument/2006/math">
                      <m:nary>
                        <m:naryPr>
                          <m:ctrlPr>
                            <a:rPr lang="zh-CN" altLang="en-US"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𝑡</m:t>
                          </m:r>
                        </m:sup>
                        <m:e>
                          <m:r>
                            <a:rPr lang="zh-CN" altLang="en-US" sz="2800" b="0" i="1">
                              <a:solidFill>
                                <a:schemeClr val="tx1"/>
                              </a:solidFill>
                              <a:latin typeface="Cambria Math" panose="02040503050406030204" pitchFamily="18" charset="0"/>
                              <a:ea typeface="黑体" panose="02010609060101010101" pitchFamily="49" charset="-122"/>
                            </a:rPr>
                            <m:t>𝜀</m:t>
                          </m:r>
                          <m:r>
                            <a:rPr lang="en-US" altLang="zh-CN" sz="2800" b="0" i="1">
                              <a:solidFill>
                                <a:schemeClr val="tx1"/>
                              </a:solidFill>
                              <a:latin typeface="Cambria Math" panose="02040503050406030204" pitchFamily="18" charset="0"/>
                              <a:ea typeface="黑体" panose="02010609060101010101" pitchFamily="49" charset="-122"/>
                            </a:rPr>
                            <m:t>𝐼𝑑𝑡</m:t>
                          </m:r>
                        </m:e>
                      </m:nary>
                      <m:r>
                        <a:rPr lang="en-US" altLang="zh-CN" sz="2800" b="0">
                          <a:solidFill>
                            <a:schemeClr val="tx1"/>
                          </a:solidFill>
                          <a:latin typeface="Cambria Math" panose="02040503050406030204" pitchFamily="18" charset="0"/>
                          <a:ea typeface="黑体" panose="02010609060101010101" pitchFamily="49" charset="-122"/>
                        </a:rPr>
                        <m:t>=</m:t>
                      </m:r>
                      <m:f>
                        <m:fPr>
                          <m:ctrlPr>
                            <a:rPr lang="en-US" altLang="zh-CN" sz="2800" i="1">
                              <a:solidFill>
                                <a:schemeClr val="tx1"/>
                              </a:solidFill>
                              <a:latin typeface="Cambria Math" panose="02040503050406030204" pitchFamily="18" charset="0"/>
                              <a:ea typeface="黑体" panose="02010609060101010101" pitchFamily="49" charset="-122"/>
                            </a:rPr>
                          </m:ctrlPr>
                        </m:fPr>
                        <m:num>
                          <m:r>
                            <a:rPr lang="en-US" altLang="zh-CN" sz="2800" b="0" i="1">
                              <a:solidFill>
                                <a:schemeClr val="tx1"/>
                              </a:solidFill>
                              <a:latin typeface="Cambria Math" panose="02040503050406030204" pitchFamily="18" charset="0"/>
                              <a:ea typeface="黑体" panose="02010609060101010101" pitchFamily="49" charset="-122"/>
                            </a:rPr>
                            <m:t>1</m:t>
                          </m:r>
                        </m:num>
                        <m:den>
                          <m:r>
                            <a:rPr lang="en-US" altLang="zh-CN" sz="2800" b="0" i="1">
                              <a:solidFill>
                                <a:schemeClr val="tx1"/>
                              </a:solidFill>
                              <a:latin typeface="Cambria Math" panose="02040503050406030204" pitchFamily="18" charset="0"/>
                              <a:ea typeface="黑体" panose="02010609060101010101" pitchFamily="49" charset="-122"/>
                            </a:rPr>
                            <m:t>2</m:t>
                          </m:r>
                        </m:den>
                      </m:f>
                      <m:r>
                        <a:rPr lang="en-US" altLang="zh-CN" sz="2800" b="0" i="1">
                          <a:solidFill>
                            <a:schemeClr val="tx1"/>
                          </a:solidFill>
                          <a:latin typeface="Cambria Math" panose="02040503050406030204" pitchFamily="18" charset="0"/>
                          <a:ea typeface="黑体" panose="02010609060101010101" pitchFamily="49" charset="-122"/>
                        </a:rPr>
                        <m:t>𝐿</m:t>
                      </m:r>
                      <m:sSubSup>
                        <m:sSubSupPr>
                          <m:ctrlPr>
                            <a:rPr lang="en-US" altLang="zh-CN" sz="2800" i="1">
                              <a:solidFill>
                                <a:schemeClr val="tx1"/>
                              </a:solidFill>
                              <a:latin typeface="Cambria Math" panose="02040503050406030204" pitchFamily="18" charset="0"/>
                              <a:ea typeface="黑体" panose="02010609060101010101" pitchFamily="49" charset="-122"/>
                            </a:rPr>
                          </m:ctrlPr>
                        </m:sSubSup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2</m:t>
                          </m:r>
                        </m:sup>
                      </m:sSubSup>
                      <m:r>
                        <a:rPr lang="en-US" altLang="zh-CN" sz="2800" b="0" i="1">
                          <a:solidFill>
                            <a:schemeClr val="tx1"/>
                          </a:solidFill>
                          <a:latin typeface="Cambria Math" panose="02040503050406030204" pitchFamily="18" charset="0"/>
                          <a:ea typeface="黑体" panose="02010609060101010101" pitchFamily="49" charset="-122"/>
                        </a:rPr>
                        <m:t>+</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𝑡</m:t>
                          </m:r>
                        </m:sup>
                        <m:e>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𝐼</m:t>
                              </m:r>
                            </m:e>
                            <m:sup>
                              <m:r>
                                <a:rPr lang="en-US" altLang="zh-CN" sz="2800" b="0" i="1">
                                  <a:solidFill>
                                    <a:schemeClr val="tx1"/>
                                  </a:solidFill>
                                  <a:latin typeface="Cambria Math" panose="02040503050406030204" pitchFamily="18" charset="0"/>
                                  <a:ea typeface="黑体" panose="02010609060101010101" pitchFamily="49" charset="-122"/>
                                </a:rPr>
                                <m:t>2</m:t>
                              </m:r>
                            </m:sup>
                          </m:sSup>
                          <m:r>
                            <a:rPr lang="en-US" altLang="zh-CN" sz="2800" b="0" i="1">
                              <a:solidFill>
                                <a:schemeClr val="tx1"/>
                              </a:solidFill>
                              <a:latin typeface="Cambria Math" panose="02040503050406030204" pitchFamily="18" charset="0"/>
                              <a:ea typeface="黑体" panose="02010609060101010101" pitchFamily="49" charset="-122"/>
                            </a:rPr>
                            <m:t>𝑅𝑑𝑡</m:t>
                          </m:r>
                          <m:r>
                            <m:rPr>
                              <m:nor/>
                            </m:rPr>
                            <a:rPr lang="zh-CN" altLang="en-US" sz="2800" dirty="0">
                              <a:solidFill>
                                <a:schemeClr val="tx1"/>
                              </a:solidFill>
                              <a:latin typeface="Times New Roman"/>
                              <a:ea typeface="华文楷体" panose="02010600040101010101" pitchFamily="2" charset="-122"/>
                            </a:rPr>
                            <m:t> </m:t>
                          </m:r>
                        </m:e>
                      </m:nary>
                    </m:oMath>
                  </m:oMathPara>
                </a14:m>
                <a:endParaRPr lang="zh-CN" altLang="en-US"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22882" name="Rectangle 2"/>
              <p:cNvSpPr>
                <a:spLocks noRot="1" noChangeAspect="1" noMove="1" noResize="1" noEditPoints="1" noAdjustHandles="1" noChangeArrowheads="1" noChangeShapeType="1" noTextEdit="1"/>
              </p:cNvSpPr>
              <p:nvPr/>
            </p:nvSpPr>
            <p:spPr bwMode="auto">
              <a:xfrm>
                <a:off x="1906320" y="1871948"/>
                <a:ext cx="8208912" cy="1902252"/>
              </a:xfrm>
              <a:prstGeom prst="rect">
                <a:avLst/>
              </a:prstGeom>
              <a:blipFill>
                <a:blip r:embed="rId2"/>
                <a:stretch>
                  <a:fillRect l="-1560"/>
                </a:stretch>
              </a:blipFill>
              <a:ln w="9525">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889" name="Rectangle 9"/>
              <p:cNvSpPr>
                <a:spLocks noChangeArrowheads="1"/>
              </p:cNvSpPr>
              <p:nvPr/>
            </p:nvSpPr>
            <p:spPr bwMode="auto">
              <a:xfrm>
                <a:off x="1793424" y="4417371"/>
                <a:ext cx="8549456" cy="2386935"/>
              </a:xfrm>
              <a:prstGeom prst="rect">
                <a:avLst/>
              </a:prstGeom>
              <a:noFill/>
              <a:ln w="9525">
                <a:noFill/>
                <a:miter lim="800000"/>
                <a:headEnd/>
                <a:tailEnd/>
              </a:ln>
              <a:effectLst/>
            </p:spPr>
            <p:txBody>
              <a:bodyPr wrap="square">
                <a:spAutoFit/>
              </a:bodyPr>
              <a:lstStyle/>
              <a:p>
                <a:pPr fontAlgn="base">
                  <a:lnSpc>
                    <a:spcPct val="150000"/>
                  </a:lnSpc>
                  <a:spcBef>
                    <a:spcPct val="0"/>
                  </a:spcBef>
                  <a:spcAft>
                    <a:spcPct val="0"/>
                  </a:spcAft>
                  <a:defRPr/>
                </a:pPr>
                <a14:m>
                  <m:oMath xmlns:m="http://schemas.openxmlformats.org/officeDocument/2006/math">
                    <m:f>
                      <m:fPr>
                        <m:ctrlPr>
                          <a:rPr lang="en-US" altLang="zh-CN" sz="3200" i="1" smtClean="0">
                            <a:solidFill>
                              <a:schemeClr val="tx1"/>
                            </a:solidFill>
                            <a:latin typeface="Cambria Math" panose="02040503050406030204" pitchFamily="18" charset="0"/>
                            <a:ea typeface="华文新魏" panose="02010800040101010101" pitchFamily="2" charset="-122"/>
                          </a:rPr>
                        </m:ctrlPr>
                      </m:fPr>
                      <m:num>
                        <m:r>
                          <a:rPr lang="en-US" altLang="zh-CN" sz="3200" b="0" i="1">
                            <a:solidFill>
                              <a:schemeClr val="tx1"/>
                            </a:solidFill>
                            <a:latin typeface="Cambria Math" panose="02040503050406030204" pitchFamily="18" charset="0"/>
                            <a:ea typeface="华文新魏" panose="02010800040101010101" pitchFamily="2" charset="-122"/>
                          </a:rPr>
                          <m:t>1</m:t>
                        </m:r>
                      </m:num>
                      <m:den>
                        <m:r>
                          <a:rPr lang="en-US" altLang="zh-CN" sz="3200" b="0" i="1">
                            <a:solidFill>
                              <a:schemeClr val="tx1"/>
                            </a:solidFill>
                            <a:latin typeface="Cambria Math" panose="02040503050406030204" pitchFamily="18" charset="0"/>
                            <a:ea typeface="华文新魏" panose="02010800040101010101" pitchFamily="2" charset="-122"/>
                          </a:rPr>
                          <m:t>2</m:t>
                        </m:r>
                      </m:den>
                    </m:f>
                    <m:r>
                      <a:rPr lang="en-US" altLang="zh-CN" sz="3200" b="0" i="1">
                        <a:solidFill>
                          <a:schemeClr val="tx1"/>
                        </a:solidFill>
                        <a:latin typeface="Cambria Math" panose="02040503050406030204" pitchFamily="18" charset="0"/>
                        <a:ea typeface="华文新魏" panose="02010800040101010101" pitchFamily="2" charset="-122"/>
                      </a:rPr>
                      <m:t>𝐿</m:t>
                    </m:r>
                    <m:sSubSup>
                      <m:sSubSupPr>
                        <m:ctrlPr>
                          <a:rPr lang="en-US" altLang="zh-CN" sz="3200" i="1">
                            <a:solidFill>
                              <a:schemeClr val="tx1"/>
                            </a:solidFill>
                            <a:latin typeface="Cambria Math" panose="02040503050406030204" pitchFamily="18" charset="0"/>
                            <a:ea typeface="华文新魏" panose="02010800040101010101" pitchFamily="2" charset="-122"/>
                          </a:rPr>
                        </m:ctrlPr>
                      </m:sSubSupPr>
                      <m:e>
                        <m:r>
                          <a:rPr lang="en-US" altLang="zh-CN" sz="3200" b="0" i="1">
                            <a:solidFill>
                              <a:schemeClr val="tx1"/>
                            </a:solidFill>
                            <a:latin typeface="Cambria Math" panose="02040503050406030204" pitchFamily="18" charset="0"/>
                            <a:ea typeface="华文新魏" panose="02010800040101010101" pitchFamily="2" charset="-122"/>
                          </a:rPr>
                          <m:t>𝐼</m:t>
                        </m:r>
                      </m:e>
                      <m:sub>
                        <m:r>
                          <a:rPr lang="en-US" altLang="zh-CN" sz="3200" b="0" i="1">
                            <a:solidFill>
                              <a:schemeClr val="tx1"/>
                            </a:solidFill>
                            <a:latin typeface="Cambria Math" panose="02040503050406030204" pitchFamily="18" charset="0"/>
                            <a:ea typeface="华文新魏" panose="02010800040101010101" pitchFamily="2" charset="-122"/>
                          </a:rPr>
                          <m:t>0</m:t>
                        </m:r>
                      </m:sub>
                      <m:sup>
                        <m:r>
                          <a:rPr lang="en-US" altLang="zh-CN" sz="3200" b="0" i="1">
                            <a:solidFill>
                              <a:schemeClr val="tx1"/>
                            </a:solidFill>
                            <a:latin typeface="Cambria Math" panose="02040503050406030204" pitchFamily="18" charset="0"/>
                            <a:ea typeface="华文新魏" panose="02010800040101010101" pitchFamily="2" charset="-122"/>
                          </a:rPr>
                          <m:t>2</m:t>
                        </m:r>
                      </m:sup>
                    </m:sSubSup>
                  </m:oMath>
                </a14:m>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是回路中建立电流的过程中电源电动势克服自感电动势所作的功，这部分功转化为载流回路的能量储存在磁场中。</a:t>
                </a:r>
              </a:p>
            </p:txBody>
          </p:sp>
        </mc:Choice>
        <mc:Fallback xmlns="">
          <p:sp>
            <p:nvSpPr>
              <p:cNvPr id="122889" name="Rectangle 9"/>
              <p:cNvSpPr>
                <a:spLocks noRot="1" noChangeAspect="1" noMove="1" noResize="1" noEditPoints="1" noAdjustHandles="1" noChangeArrowheads="1" noChangeShapeType="1" noTextEdit="1"/>
              </p:cNvSpPr>
              <p:nvPr/>
            </p:nvSpPr>
            <p:spPr bwMode="auto">
              <a:xfrm>
                <a:off x="1793424" y="4417371"/>
                <a:ext cx="8549456" cy="2386935"/>
              </a:xfrm>
              <a:prstGeom prst="rect">
                <a:avLst/>
              </a:prstGeom>
              <a:blipFill>
                <a:blip r:embed="rId3"/>
                <a:stretch>
                  <a:fillRect l="-1426" r="-1069" b="-5371"/>
                </a:stretch>
              </a:blipFill>
              <a:ln w="9525">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1732160" y="3650920"/>
                <a:ext cx="8959800" cy="889731"/>
              </a:xfrm>
              <a:prstGeom prst="rect">
                <a:avLst/>
              </a:prstGeom>
            </p:spPr>
            <p:txBody>
              <a:bodyPr wrap="square">
                <a:spAutoFit/>
              </a:bodyPr>
              <a:lstStyle/>
              <a:p>
                <a:pPr fontAlgn="base">
                  <a:lnSpc>
                    <a:spcPct val="150000"/>
                  </a:lnSpc>
                  <a:spcBef>
                    <a:spcPct val="0"/>
                  </a:spcBef>
                  <a:spcAft>
                    <a:spcPct val="0"/>
                  </a:spcAft>
                  <a:defRPr/>
                </a:pPr>
                <a14:m>
                  <m:oMath xmlns:m="http://schemas.openxmlformats.org/officeDocument/2006/math">
                    <m:nary>
                      <m:naryPr>
                        <m:ctrlPr>
                          <a:rPr lang="zh-CN" altLang="en-US" sz="2800" i="1" smtClean="0">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𝑡</m:t>
                        </m:r>
                      </m:sup>
                      <m:e>
                        <m:r>
                          <a:rPr lang="zh-CN" altLang="en-US" sz="2800" b="0" i="1">
                            <a:solidFill>
                              <a:schemeClr val="tx1"/>
                            </a:solidFill>
                            <a:latin typeface="Cambria Math" panose="02040503050406030204" pitchFamily="18" charset="0"/>
                            <a:ea typeface="黑体" panose="02010609060101010101" pitchFamily="49" charset="-122"/>
                          </a:rPr>
                          <m:t>𝜀</m:t>
                        </m:r>
                        <m:r>
                          <a:rPr lang="en-US" altLang="zh-CN" sz="2800" b="0" i="1">
                            <a:solidFill>
                              <a:schemeClr val="tx1"/>
                            </a:solidFill>
                            <a:latin typeface="Cambria Math" panose="02040503050406030204" pitchFamily="18" charset="0"/>
                            <a:ea typeface="黑体" panose="02010609060101010101" pitchFamily="49" charset="-122"/>
                          </a:rPr>
                          <m:t>𝐼𝑑𝑡</m:t>
                        </m:r>
                      </m:e>
                    </m:nary>
                  </m:oMath>
                </a14:m>
                <a:r>
                  <a:rPr lang="zh-CN" altLang="en-US" sz="2800" dirty="0">
                    <a:solidFill>
                      <a:schemeClr val="tx1"/>
                    </a:solidFill>
                    <a:latin typeface="华文楷体" panose="02010600040101010101" pitchFamily="2" charset="-122"/>
                    <a:ea typeface="华文楷体" panose="02010600040101010101" pitchFamily="2" charset="-122"/>
                  </a:rPr>
                  <a:t>：电源的功</a:t>
                </a:r>
                <a:r>
                  <a:rPr lang="zh-CN" altLang="en-US" sz="2800" dirty="0">
                    <a:latin typeface="华文楷体" panose="02010600040101010101" pitchFamily="2" charset="-122"/>
                    <a:ea typeface="华文楷体" panose="02010600040101010101" pitchFamily="2" charset="-122"/>
                  </a:rPr>
                  <a:t>；</a:t>
                </a:r>
                <a14:m>
                  <m:oMath xmlns:m="http://schemas.openxmlformats.org/officeDocument/2006/math">
                    <m:nary>
                      <m:naryPr>
                        <m:ctrlPr>
                          <a:rPr lang="en-US" altLang="zh-CN" sz="2800" i="1">
                            <a:solidFill>
                              <a:schemeClr val="tx1"/>
                            </a:solidFill>
                            <a:latin typeface="Cambria Math" panose="02040503050406030204" pitchFamily="18" charset="0"/>
                            <a:ea typeface="华文新魏" panose="02010800040101010101" pitchFamily="2" charset="-122"/>
                          </a:rPr>
                        </m:ctrlPr>
                      </m:naryPr>
                      <m:sub>
                        <m:r>
                          <m:rPr>
                            <m:brk m:alnAt="23"/>
                          </m:rPr>
                          <a:rPr lang="en-US" altLang="zh-CN" sz="2800" b="0" i="1">
                            <a:solidFill>
                              <a:schemeClr val="tx1"/>
                            </a:solidFill>
                            <a:latin typeface="Cambria Math" panose="02040503050406030204" pitchFamily="18" charset="0"/>
                            <a:ea typeface="华文新魏" panose="02010800040101010101" pitchFamily="2" charset="-122"/>
                          </a:rPr>
                          <m:t>0</m:t>
                        </m:r>
                      </m:sub>
                      <m:sup>
                        <m:r>
                          <a:rPr lang="en-US" altLang="zh-CN" sz="2800" b="0" i="1">
                            <a:solidFill>
                              <a:schemeClr val="tx1"/>
                            </a:solidFill>
                            <a:latin typeface="Cambria Math" panose="02040503050406030204" pitchFamily="18" charset="0"/>
                            <a:ea typeface="华文新魏" panose="02010800040101010101" pitchFamily="2" charset="-122"/>
                          </a:rPr>
                          <m:t>𝑡</m:t>
                        </m:r>
                      </m:sup>
                      <m:e>
                        <m:r>
                          <a:rPr lang="en-US" altLang="zh-CN" sz="2800" b="0" i="1">
                            <a:solidFill>
                              <a:schemeClr val="tx1"/>
                            </a:solidFill>
                            <a:latin typeface="Cambria Math" panose="02040503050406030204" pitchFamily="18" charset="0"/>
                            <a:ea typeface="华文新魏" panose="02010800040101010101" pitchFamily="2" charset="-122"/>
                          </a:rPr>
                          <m:t>𝑅𝐼</m:t>
                        </m:r>
                        <m:r>
                          <a:rPr lang="en-US" altLang="zh-CN" sz="2800" b="0" i="1" baseline="30000">
                            <a:solidFill>
                              <a:schemeClr val="tx1"/>
                            </a:solidFill>
                            <a:latin typeface="Cambria Math" panose="02040503050406030204" pitchFamily="18" charset="0"/>
                            <a:ea typeface="华文新魏" panose="02010800040101010101" pitchFamily="2" charset="-122"/>
                          </a:rPr>
                          <m:t>2</m:t>
                        </m:r>
                        <m:r>
                          <a:rPr lang="en-US" altLang="zh-CN" sz="2800" b="0" i="1">
                            <a:solidFill>
                              <a:schemeClr val="tx1"/>
                            </a:solidFill>
                            <a:latin typeface="Cambria Math" panose="02040503050406030204" pitchFamily="18" charset="0"/>
                            <a:ea typeface="华文新魏" panose="02010800040101010101" pitchFamily="2" charset="-122"/>
                          </a:rPr>
                          <m:t>𝑑𝑡</m:t>
                        </m:r>
                      </m:e>
                    </m:nary>
                  </m:oMath>
                </a14:m>
                <a:r>
                  <a:rPr lang="zh-CN" altLang="en-US" sz="2800" dirty="0">
                    <a:solidFill>
                      <a:schemeClr val="tx1"/>
                    </a:solidFill>
                    <a:latin typeface="华文楷体" panose="02010600040101010101" pitchFamily="2" charset="-122"/>
                    <a:ea typeface="华文楷体" panose="02010600040101010101" pitchFamily="2" charset="-122"/>
                  </a:rPr>
                  <a:t>：电阻</a:t>
                </a:r>
                <a14:m>
                  <m:oMath xmlns:m="http://schemas.openxmlformats.org/officeDocument/2006/math">
                    <m:r>
                      <m:rPr>
                        <m:sty m:val="p"/>
                      </m:rPr>
                      <a:rPr lang="en-US" altLang="zh-CN" sz="2800" b="0" i="1">
                        <a:solidFill>
                          <a:schemeClr val="tx1"/>
                        </a:solidFill>
                        <a:latin typeface="Cambria Math" panose="02040503050406030204" pitchFamily="18" charset="0"/>
                        <a:ea typeface="黑体" panose="02010609060101010101" pitchFamily="49" charset="-122"/>
                      </a:rPr>
                      <m:t>R</m:t>
                    </m:r>
                  </m:oMath>
                </a14:m>
                <a:r>
                  <a:rPr lang="zh-CN" altLang="en-US" sz="2800" dirty="0">
                    <a:solidFill>
                      <a:schemeClr val="tx1"/>
                    </a:solidFill>
                    <a:latin typeface="华文楷体" panose="02010600040101010101" pitchFamily="2" charset="-122"/>
                    <a:ea typeface="华文楷体" panose="02010600040101010101" pitchFamily="2" charset="-122"/>
                  </a:rPr>
                  <a:t>的焦耳热</a:t>
                </a:r>
                <a:endParaRPr lang="zh-CN" altLang="en-US" sz="2800" i="1" u="sng" dirty="0">
                  <a:solidFill>
                    <a:schemeClr val="tx1"/>
                  </a:solidFill>
                  <a:latin typeface="Arial" panose="020B0604020202020204" pitchFamily="34" charset="0"/>
                  <a:ea typeface="宋体" panose="02010600030101010101" pitchFamily="2"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1732160" y="3650920"/>
                <a:ext cx="8959800" cy="889731"/>
              </a:xfrm>
              <a:prstGeom prst="rect">
                <a:avLst/>
              </a:prstGeom>
              <a:blipFill>
                <a:blip r:embed="rId4"/>
                <a:stretch>
                  <a:fillRect b="-12329"/>
                </a:stretch>
              </a:blipFill>
            </p:spPr>
            <p:txBody>
              <a:bodyPr/>
              <a:lstStyle/>
              <a:p>
                <a:r>
                  <a:rPr lang="zh-CN" altLang="en-US">
                    <a:noFill/>
                  </a:rPr>
                  <a:t> </a:t>
                </a:r>
              </a:p>
            </p:txBody>
          </p:sp>
        </mc:Fallback>
      </mc:AlternateContent>
      <p:sp>
        <p:nvSpPr>
          <p:cNvPr id="7" name="Text Box 9">
            <a:extLst>
              <a:ext uri="{FF2B5EF4-FFF2-40B4-BE49-F238E27FC236}">
                <a16:creationId xmlns:a16="http://schemas.microsoft.com/office/drawing/2014/main" id="{C3CBE92F-70A9-4ED5-94FA-38DDBC63D4E4}"/>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磁场的能量</a:t>
            </a:r>
          </a:p>
        </p:txBody>
      </p:sp>
      <mc:AlternateContent xmlns:mc="http://schemas.openxmlformats.org/markup-compatibility/2006" xmlns:a14="http://schemas.microsoft.com/office/drawing/2010/main">
        <mc:Choice Requires="a14">
          <p:sp>
            <p:nvSpPr>
              <p:cNvPr id="3" name="Rectangle 29">
                <a:extLst>
                  <a:ext uri="{FF2B5EF4-FFF2-40B4-BE49-F238E27FC236}">
                    <a16:creationId xmlns:a16="http://schemas.microsoft.com/office/drawing/2014/main" id="{CFF82838-4DAF-D2F7-E819-93E36FAEDFC6}"/>
                  </a:ext>
                </a:extLst>
              </p:cNvPr>
              <p:cNvSpPr>
                <a:spLocks noChangeArrowheads="1"/>
              </p:cNvSpPr>
              <p:nvPr/>
            </p:nvSpPr>
            <p:spPr bwMode="auto">
              <a:xfrm>
                <a:off x="3513801" y="578699"/>
                <a:ext cx="5396519" cy="1352101"/>
              </a:xfrm>
              <a:prstGeom prst="rect">
                <a:avLst/>
              </a:prstGeom>
              <a:noFill/>
              <a:ln w="9525">
                <a:noFill/>
                <a:miter lim="800000"/>
                <a:headEnd/>
                <a:tailEnd/>
              </a:ln>
              <a:effectLst/>
            </p:spPr>
            <p:txBody>
              <a:bodyPr wrap="square">
                <a:spAutoFit/>
              </a:bodyPr>
              <a:lstStyle/>
              <a:p>
                <a:pPr fontAlgn="base">
                  <a:lnSpc>
                    <a:spcPct val="130000"/>
                  </a:lnSpc>
                  <a:spcBef>
                    <a:spcPct val="0"/>
                  </a:spcBef>
                  <a:spcAft>
                    <a:spcPct val="0"/>
                  </a:spcAft>
                  <a:defRPr/>
                </a:pPr>
                <a14:m>
                  <m:oMathPara xmlns:m="http://schemas.openxmlformats.org/officeDocument/2006/math">
                    <m:oMathParaPr>
                      <m:jc m:val="centerGroup"/>
                    </m:oMathParaPr>
                    <m:oMath xmlns:m="http://schemas.openxmlformats.org/officeDocument/2006/math">
                      <m:nary>
                        <m:naryPr>
                          <m:ctrlPr>
                            <a:rPr lang="zh-CN" altLang="en-US"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𝑡</m:t>
                          </m:r>
                        </m:sup>
                        <m:e>
                          <m:r>
                            <a:rPr lang="zh-CN" altLang="en-US" sz="2800" b="0" i="1">
                              <a:solidFill>
                                <a:schemeClr val="tx1"/>
                              </a:solidFill>
                              <a:latin typeface="Cambria Math" panose="02040503050406030204" pitchFamily="18" charset="0"/>
                              <a:ea typeface="黑体" panose="02010609060101010101" pitchFamily="49" charset="-122"/>
                            </a:rPr>
                            <m:t>𝜀</m:t>
                          </m:r>
                          <m:r>
                            <a:rPr lang="en-US" altLang="zh-CN" sz="2800" b="0" i="1">
                              <a:solidFill>
                                <a:schemeClr val="tx1"/>
                              </a:solidFill>
                              <a:latin typeface="Cambria Math" panose="02040503050406030204" pitchFamily="18" charset="0"/>
                              <a:ea typeface="黑体" panose="02010609060101010101" pitchFamily="49" charset="-122"/>
                            </a:rPr>
                            <m:t>𝐼𝑑𝑡</m:t>
                          </m:r>
                        </m:e>
                      </m:nary>
                      <m:r>
                        <a:rPr lang="en-US" altLang="zh-CN" sz="2800" b="0">
                          <a:solidFill>
                            <a:schemeClr val="tx1"/>
                          </a:solidFill>
                          <a:latin typeface="Cambria Math" panose="02040503050406030204" pitchFamily="18" charset="0"/>
                          <a:ea typeface="黑体" panose="02010609060101010101" pitchFamily="49" charset="-122"/>
                        </a:rPr>
                        <m:t>−</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0</m:t>
                              </m:r>
                            </m:sub>
                          </m:sSub>
                        </m:sup>
                        <m:e>
                          <m:r>
                            <a:rPr lang="en-US" altLang="zh-CN" sz="2800" b="0" i="1">
                              <a:solidFill>
                                <a:schemeClr val="tx1"/>
                              </a:solidFill>
                              <a:latin typeface="Cambria Math" panose="02040503050406030204" pitchFamily="18" charset="0"/>
                              <a:ea typeface="黑体" panose="02010609060101010101" pitchFamily="49" charset="-122"/>
                            </a:rPr>
                            <m:t>𝐿𝐼𝑑𝐼</m:t>
                          </m:r>
                        </m:e>
                      </m:nary>
                      <m:r>
                        <a:rPr lang="en-US" altLang="zh-CN" sz="2800" b="0" i="1">
                          <a:solidFill>
                            <a:schemeClr val="tx1"/>
                          </a:solidFill>
                          <a:latin typeface="Cambria Math" panose="02040503050406030204" pitchFamily="18" charset="0"/>
                          <a:ea typeface="黑体" panose="02010609060101010101" pitchFamily="49" charset="-122"/>
                        </a:rPr>
                        <m:t>=</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𝑡</m:t>
                          </m:r>
                        </m:sup>
                        <m:e>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𝐼</m:t>
                              </m:r>
                            </m:e>
                            <m:sup>
                              <m:r>
                                <a:rPr lang="en-US" altLang="zh-CN" sz="2800" b="0" i="1">
                                  <a:solidFill>
                                    <a:schemeClr val="tx1"/>
                                  </a:solidFill>
                                  <a:latin typeface="Cambria Math" panose="02040503050406030204" pitchFamily="18" charset="0"/>
                                  <a:ea typeface="黑体" panose="02010609060101010101" pitchFamily="49" charset="-122"/>
                                </a:rPr>
                                <m:t>2</m:t>
                              </m:r>
                            </m:sup>
                          </m:sSup>
                          <m:r>
                            <a:rPr lang="en-US" altLang="zh-CN" sz="2800" b="0" i="1">
                              <a:solidFill>
                                <a:schemeClr val="tx1"/>
                              </a:solidFill>
                              <a:latin typeface="Cambria Math" panose="02040503050406030204" pitchFamily="18" charset="0"/>
                              <a:ea typeface="黑体" panose="02010609060101010101" pitchFamily="49" charset="-122"/>
                            </a:rPr>
                            <m:t>𝑅𝑑𝑡</m:t>
                          </m:r>
                          <m:r>
                            <m:rPr>
                              <m:nor/>
                            </m:rPr>
                            <a:rPr lang="zh-CN" altLang="en-US" sz="2800" dirty="0">
                              <a:solidFill>
                                <a:schemeClr val="tx1"/>
                              </a:solidFill>
                              <a:latin typeface="Times New Roman"/>
                              <a:ea typeface="华文楷体" panose="02010600040101010101" pitchFamily="2" charset="-122"/>
                            </a:rPr>
                            <m:t> </m:t>
                          </m:r>
                        </m:e>
                      </m:nary>
                    </m:oMath>
                  </m:oMathPara>
                </a14:m>
                <a:endParaRPr lang="zh-CN" altLang="en-US" sz="2800" dirty="0">
                  <a:solidFill>
                    <a:schemeClr val="tx1"/>
                  </a:solidFill>
                  <a:latin typeface="Times New Roman"/>
                  <a:ea typeface="华文楷体" panose="02010600040101010101" pitchFamily="2" charset="-122"/>
                </a:endParaRPr>
              </a:p>
            </p:txBody>
          </p:sp>
        </mc:Choice>
        <mc:Fallback xmlns="">
          <p:sp>
            <p:nvSpPr>
              <p:cNvPr id="3" name="Rectangle 29">
                <a:extLst>
                  <a:ext uri="{FF2B5EF4-FFF2-40B4-BE49-F238E27FC236}">
                    <a16:creationId xmlns:a16="http://schemas.microsoft.com/office/drawing/2014/main" id="{CFF82838-4DAF-D2F7-E819-93E36FAEDFC6}"/>
                  </a:ext>
                </a:extLst>
              </p:cNvPr>
              <p:cNvSpPr>
                <a:spLocks noRot="1" noChangeAspect="1" noMove="1" noResize="1" noEditPoints="1" noAdjustHandles="1" noChangeArrowheads="1" noChangeShapeType="1" noTextEdit="1"/>
              </p:cNvSpPr>
              <p:nvPr/>
            </p:nvSpPr>
            <p:spPr bwMode="auto">
              <a:xfrm>
                <a:off x="3513801" y="578699"/>
                <a:ext cx="5396519" cy="1352101"/>
              </a:xfrm>
              <a:prstGeom prst="rect">
                <a:avLst/>
              </a:prstGeom>
              <a:blipFill>
                <a:blip r:embed="rId5"/>
                <a:stretch>
                  <a:fillRect/>
                </a:stretch>
              </a:blipFill>
              <a:ln w="9525">
                <a:no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333908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8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p:bldP spid="12288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2713" name="Text Box 11"/>
              <p:cNvSpPr txBox="1">
                <a:spLocks noChangeArrowheads="1"/>
              </p:cNvSpPr>
              <p:nvPr/>
            </p:nvSpPr>
            <p:spPr bwMode="auto">
              <a:xfrm>
                <a:off x="1348266" y="3021324"/>
                <a:ext cx="10081734" cy="2262094"/>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fontAlgn="base">
                  <a:lnSpc>
                    <a:spcPct val="130000"/>
                  </a:lnSpc>
                  <a:spcBef>
                    <a:spcPct val="50000"/>
                  </a:spcBef>
                  <a:spcAft>
                    <a:spcPct val="0"/>
                  </a:spcAft>
                  <a:buFontTx/>
                  <a:buChar char="-"/>
                  <a:defRPr/>
                </a:pPr>
                <a:r>
                  <a:rPr lang="zh-CN" altLang="en-US" sz="2800" b="0" i="0" u="none" dirty="0">
                    <a:solidFill>
                      <a:schemeClr val="tx1"/>
                    </a:solidFill>
                    <a:latin typeface="Times New Roman"/>
                    <a:ea typeface="华文楷体" panose="02010600040101010101" pitchFamily="2" charset="-122"/>
                  </a:rPr>
                  <a:t>随着电流衰减引起的磁场消失，原来储存在磁场中的能量又反馈到回路中以热能的形式全部释放出来</a:t>
                </a:r>
                <a:endParaRPr lang="en-US" altLang="zh-CN" sz="2800" b="0" i="0" u="none" dirty="0">
                  <a:solidFill>
                    <a:schemeClr val="tx1"/>
                  </a:solidFill>
                  <a:latin typeface="Times New Roman"/>
                  <a:ea typeface="华文楷体" panose="02010600040101010101" pitchFamily="2" charset="-122"/>
                </a:endParaRPr>
              </a:p>
              <a:p>
                <a:pPr marL="457200" indent="-457200" fontAlgn="base">
                  <a:lnSpc>
                    <a:spcPct val="130000"/>
                  </a:lnSpc>
                  <a:spcBef>
                    <a:spcPct val="50000"/>
                  </a:spcBef>
                  <a:spcAft>
                    <a:spcPct val="0"/>
                  </a:spcAft>
                  <a:buFontTx/>
                  <a:buChar char="-"/>
                  <a:defRPr/>
                </a:pPr>
                <a:r>
                  <a:rPr lang="zh-CN" altLang="en-US" sz="2800" b="0" i="0" u="none" dirty="0">
                    <a:solidFill>
                      <a:schemeClr val="tx1"/>
                    </a:solidFill>
                    <a:latin typeface="Times New Roman"/>
                    <a:ea typeface="华文楷体" panose="02010600040101010101" pitchFamily="2" charset="-122"/>
                  </a:rPr>
                  <a:t>磁场具有能量</a:t>
                </a:r>
                <a14:m>
                  <m:oMath xmlns:m="http://schemas.openxmlformats.org/officeDocument/2006/math">
                    <m:f>
                      <m:fPr>
                        <m:ctrlPr>
                          <a:rPr lang="en-US" altLang="zh-CN" sz="2800" b="0" i="1" u="none">
                            <a:solidFill>
                              <a:schemeClr val="tx1"/>
                            </a:solidFill>
                            <a:latin typeface="Cambria Math" panose="02040503050406030204" pitchFamily="18" charset="0"/>
                            <a:ea typeface="华文新魏" panose="02010800040101010101" pitchFamily="2" charset="-122"/>
                          </a:rPr>
                        </m:ctrlPr>
                      </m:fPr>
                      <m:num>
                        <m:r>
                          <a:rPr lang="en-US" altLang="zh-CN" sz="2800" b="0" i="1" u="none">
                            <a:solidFill>
                              <a:schemeClr val="tx1"/>
                            </a:solidFill>
                            <a:latin typeface="Cambria Math" panose="02040503050406030204" pitchFamily="18" charset="0"/>
                            <a:ea typeface="华文新魏" panose="02010800040101010101" pitchFamily="2" charset="-122"/>
                          </a:rPr>
                          <m:t>1</m:t>
                        </m:r>
                      </m:num>
                      <m:den>
                        <m:r>
                          <a:rPr lang="en-US" altLang="zh-CN" sz="2800" b="0" i="1" u="none">
                            <a:solidFill>
                              <a:schemeClr val="tx1"/>
                            </a:solidFill>
                            <a:latin typeface="Cambria Math" panose="02040503050406030204" pitchFamily="18" charset="0"/>
                            <a:ea typeface="华文新魏" panose="02010800040101010101" pitchFamily="2" charset="-122"/>
                          </a:rPr>
                          <m:t>2</m:t>
                        </m:r>
                      </m:den>
                    </m:f>
                    <m:r>
                      <a:rPr lang="en-US" altLang="zh-CN" sz="2800" b="0" i="1" u="none">
                        <a:solidFill>
                          <a:schemeClr val="tx1"/>
                        </a:solidFill>
                        <a:latin typeface="Cambria Math" panose="02040503050406030204" pitchFamily="18" charset="0"/>
                        <a:ea typeface="华文新魏" panose="02010800040101010101" pitchFamily="2" charset="-122"/>
                      </a:rPr>
                      <m:t>𝐿</m:t>
                    </m:r>
                    <m:sSubSup>
                      <m:sSubSupPr>
                        <m:ctrlPr>
                          <a:rPr lang="en-US" altLang="zh-CN" sz="2800" b="0" i="1" u="none">
                            <a:solidFill>
                              <a:schemeClr val="tx1"/>
                            </a:solidFill>
                            <a:latin typeface="Cambria Math" panose="02040503050406030204" pitchFamily="18" charset="0"/>
                            <a:ea typeface="华文新魏" panose="02010800040101010101" pitchFamily="2" charset="-122"/>
                          </a:rPr>
                        </m:ctrlPr>
                      </m:sSubSupPr>
                      <m:e>
                        <m:r>
                          <a:rPr lang="en-US" altLang="zh-CN" sz="2800" b="0" i="1" u="none">
                            <a:solidFill>
                              <a:schemeClr val="tx1"/>
                            </a:solidFill>
                            <a:latin typeface="Cambria Math" panose="02040503050406030204" pitchFamily="18" charset="0"/>
                            <a:ea typeface="华文新魏" panose="02010800040101010101" pitchFamily="2" charset="-122"/>
                          </a:rPr>
                          <m:t>𝐼</m:t>
                        </m:r>
                      </m:e>
                      <m:sub>
                        <m:r>
                          <a:rPr lang="en-US" altLang="zh-CN" sz="2800" b="0" i="1" u="none">
                            <a:solidFill>
                              <a:schemeClr val="tx1"/>
                            </a:solidFill>
                            <a:latin typeface="Cambria Math" panose="02040503050406030204" pitchFamily="18" charset="0"/>
                            <a:ea typeface="华文新魏" panose="02010800040101010101" pitchFamily="2" charset="-122"/>
                          </a:rPr>
                          <m:t>0</m:t>
                        </m:r>
                      </m:sub>
                      <m:sup>
                        <m:r>
                          <a:rPr lang="en-US" altLang="zh-CN" sz="2800" b="0" i="1" u="none">
                            <a:solidFill>
                              <a:schemeClr val="tx1"/>
                            </a:solidFill>
                            <a:latin typeface="Cambria Math" panose="02040503050406030204" pitchFamily="18" charset="0"/>
                            <a:ea typeface="华文新魏" panose="02010800040101010101" pitchFamily="2" charset="-122"/>
                          </a:rPr>
                          <m:t>2</m:t>
                        </m:r>
                      </m:sup>
                    </m:sSubSup>
                  </m:oMath>
                </a14:m>
                <a:r>
                  <a:rPr lang="zh-CN" altLang="en-US" sz="2800" b="0" i="0" u="none" dirty="0">
                    <a:solidFill>
                      <a:schemeClr val="tx1"/>
                    </a:solidFill>
                    <a:latin typeface="Times New Roman"/>
                    <a:ea typeface="华文楷体" panose="02010600040101010101" pitchFamily="2" charset="-122"/>
                  </a:rPr>
                  <a:t>的推断是正确的</a:t>
                </a:r>
                <a:r>
                  <a:rPr lang="zh-CN" altLang="en-US" sz="2800" b="0" i="0" u="none" dirty="0">
                    <a:latin typeface="Times New Roman"/>
                    <a:ea typeface="华文楷体" panose="02010600040101010101" pitchFamily="2" charset="-122"/>
                  </a:rPr>
                  <a:t>，</a:t>
                </a:r>
                <a:r>
                  <a:rPr lang="zh-CN" altLang="en-US" sz="2800" b="0" i="0" u="none" dirty="0">
                    <a:solidFill>
                      <a:schemeClr val="tx1"/>
                    </a:solidFill>
                    <a:latin typeface="Times New Roman"/>
                    <a:ea typeface="华文楷体" panose="02010600040101010101" pitchFamily="2" charset="-122"/>
                  </a:rPr>
                  <a:t>因此磁场能量可表示为</a:t>
                </a:r>
              </a:p>
            </p:txBody>
          </p:sp>
        </mc:Choice>
        <mc:Fallback xmlns="">
          <p:sp>
            <p:nvSpPr>
              <p:cNvPr id="72713" name="Text Box 11"/>
              <p:cNvSpPr txBox="1">
                <a:spLocks noRot="1" noChangeAspect="1" noMove="1" noResize="1" noEditPoints="1" noAdjustHandles="1" noChangeArrowheads="1" noChangeShapeType="1" noTextEdit="1"/>
              </p:cNvSpPr>
              <p:nvPr/>
            </p:nvSpPr>
            <p:spPr bwMode="auto">
              <a:xfrm>
                <a:off x="1348266" y="3021324"/>
                <a:ext cx="10081734" cy="2262094"/>
              </a:xfrm>
              <a:prstGeom prst="rect">
                <a:avLst/>
              </a:prstGeom>
              <a:blipFill>
                <a:blip r:embed="rId2"/>
                <a:stretch>
                  <a:fillRect l="-1088" b="-29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12"/>
              <p:cNvSpPr>
                <a:spLocks noChangeArrowheads="1"/>
              </p:cNvSpPr>
              <p:nvPr/>
            </p:nvSpPr>
            <p:spPr bwMode="auto">
              <a:xfrm>
                <a:off x="1758093" y="1023374"/>
                <a:ext cx="8424936" cy="1878143"/>
              </a:xfrm>
              <a:prstGeom prst="rect">
                <a:avLst/>
              </a:prstGeom>
              <a:noFill/>
              <a:ln w="9525">
                <a:noFill/>
                <a:miter lim="800000"/>
                <a:headEnd/>
                <a:tailEnd/>
              </a:ln>
              <a:effectLst/>
            </p:spPr>
            <p:txBody>
              <a:bodyPr wrap="square">
                <a:spAutoFit/>
              </a:bodyPr>
              <a:lstStyle/>
              <a:p>
                <a:pPr fontAlgn="base">
                  <a:lnSpc>
                    <a:spcPct val="130000"/>
                  </a:lnSpc>
                  <a:spcBef>
                    <a:spcPct val="0"/>
                  </a:spcBef>
                  <a:spcAft>
                    <a:spcPct val="0"/>
                  </a:spcAft>
                  <a:defRPr/>
                </a:pPr>
                <a:r>
                  <a:rPr lang="zh-CN" altLang="en-US" sz="2800" dirty="0">
                    <a:solidFill>
                      <a:schemeClr val="tx1"/>
                    </a:solidFill>
                    <a:latin typeface="华文楷体" panose="02010600040101010101" pitchFamily="2" charset="-122"/>
                    <a:ea typeface="华文楷体" panose="02010600040101010101" pitchFamily="2" charset="-122"/>
                  </a:rPr>
                  <a:t>断开</a:t>
                </a:r>
                <a14:m>
                  <m:oMath xmlns:m="http://schemas.openxmlformats.org/officeDocument/2006/math">
                    <m:r>
                      <a:rPr lang="en-US" altLang="zh-CN" sz="2800" b="0" i="1" dirty="0">
                        <a:solidFill>
                          <a:schemeClr val="tx1"/>
                        </a:solidFill>
                        <a:latin typeface="Cambria Math" panose="02040503050406030204" pitchFamily="18" charset="0"/>
                        <a:ea typeface="华文新魏" panose="02010800040101010101" pitchFamily="2" charset="-122"/>
                      </a:rPr>
                      <m:t>𝐾</m:t>
                    </m:r>
                    <m:r>
                      <a:rPr lang="en-US" altLang="zh-CN" sz="2800" b="0" i="1" baseline="-25000" dirty="0">
                        <a:solidFill>
                          <a:schemeClr val="tx1"/>
                        </a:solidFill>
                        <a:latin typeface="Cambria Math" panose="02040503050406030204" pitchFamily="18" charset="0"/>
                        <a:ea typeface="华文新魏" panose="02010800040101010101" pitchFamily="2" charset="-122"/>
                      </a:rPr>
                      <m:t>1</m:t>
                    </m:r>
                  </m:oMath>
                </a14:m>
                <a:r>
                  <a:rPr lang="zh-CN" altLang="en-US" sz="2800" dirty="0">
                    <a:solidFill>
                      <a:schemeClr val="tx1"/>
                    </a:solidFill>
                    <a:latin typeface="华文楷体" panose="02010600040101010101" pitchFamily="2" charset="-122"/>
                    <a:ea typeface="华文楷体" panose="02010600040101010101" pitchFamily="2" charset="-122"/>
                  </a:rPr>
                  <a:t>，接通</a:t>
                </a:r>
                <a14:m>
                  <m:oMath xmlns:m="http://schemas.openxmlformats.org/officeDocument/2006/math">
                    <m:r>
                      <a:rPr lang="en-US" altLang="zh-CN" sz="2800" b="0" i="1" dirty="0">
                        <a:solidFill>
                          <a:schemeClr val="tx1"/>
                        </a:solidFill>
                        <a:latin typeface="Cambria Math" panose="02040503050406030204" pitchFamily="18" charset="0"/>
                        <a:ea typeface="华文新魏" panose="02010800040101010101" pitchFamily="2" charset="-122"/>
                      </a:rPr>
                      <m:t>𝐾</m:t>
                    </m:r>
                    <m:r>
                      <a:rPr lang="en-US" altLang="zh-CN" sz="2800" b="0" i="1" baseline="-25000" dirty="0">
                        <a:solidFill>
                          <a:schemeClr val="tx1"/>
                        </a:solidFill>
                        <a:latin typeface="Cambria Math" panose="02040503050406030204" pitchFamily="18" charset="0"/>
                        <a:ea typeface="华文新魏" panose="02010800040101010101" pitchFamily="2" charset="-122"/>
                      </a:rPr>
                      <m:t>2</m:t>
                    </m:r>
                  </m:oMath>
                </a14:m>
                <a:r>
                  <a:rPr lang="zh-CN" altLang="en-US" sz="2800" dirty="0">
                    <a:solidFill>
                      <a:schemeClr val="tx1"/>
                    </a:solidFill>
                    <a:latin typeface="华文楷体" panose="02010600040101010101" pitchFamily="2" charset="-122"/>
                    <a:ea typeface="华文楷体" panose="02010600040101010101" pitchFamily="2" charset="-122"/>
                  </a:rPr>
                  <a:t>，电阻放出的焦耳热为</a:t>
                </a:r>
                <a:endParaRPr lang="en-US" altLang="zh-CN" sz="2800" dirty="0">
                  <a:solidFill>
                    <a:schemeClr val="tx1"/>
                  </a:solidFill>
                  <a:latin typeface="华文楷体" panose="02010600040101010101" pitchFamily="2" charset="-122"/>
                  <a:ea typeface="华文楷体" panose="02010600040101010101" pitchFamily="2" charset="-122"/>
                </a:endParaRPr>
              </a:p>
              <a:p>
                <a:pPr fontAlgn="base">
                  <a:lnSpc>
                    <a:spcPct val="130000"/>
                  </a:lnSpc>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b="0" i="1">
                          <a:solidFill>
                            <a:schemeClr val="tx1"/>
                          </a:solidFill>
                          <a:latin typeface="Cambria Math" panose="02040503050406030204" pitchFamily="18" charset="0"/>
                          <a:ea typeface="黑体" panose="02010609060101010101" pitchFamily="49" charset="-122"/>
                        </a:rPr>
                        <m:t>𝑄</m:t>
                      </m:r>
                      <m:r>
                        <a:rPr lang="en-US" altLang="zh-CN" sz="2800" b="0" i="1">
                          <a:solidFill>
                            <a:schemeClr val="tx1"/>
                          </a:solidFill>
                          <a:latin typeface="Cambria Math" panose="02040503050406030204" pitchFamily="18" charset="0"/>
                          <a:ea typeface="黑体" panose="02010609060101010101" pitchFamily="49" charset="-122"/>
                        </a:rPr>
                        <m:t>=</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Cambria Math" panose="02040503050406030204" pitchFamily="18" charset="0"/>
                            </a:rPr>
                            <m:t>∞</m:t>
                          </m:r>
                        </m:sup>
                        <m:e>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𝐼</m:t>
                              </m:r>
                            </m:e>
                            <m:sup>
                              <m:r>
                                <a:rPr lang="en-US" altLang="zh-CN" sz="2800" b="0" i="1">
                                  <a:solidFill>
                                    <a:schemeClr val="tx1"/>
                                  </a:solidFill>
                                  <a:latin typeface="Cambria Math" panose="02040503050406030204" pitchFamily="18" charset="0"/>
                                  <a:ea typeface="黑体" panose="02010609060101010101" pitchFamily="49" charset="-122"/>
                                </a:rPr>
                                <m:t>2</m:t>
                              </m:r>
                            </m:sup>
                          </m:sSup>
                          <m:r>
                            <a:rPr lang="en-US" altLang="zh-CN" sz="2800" b="0" i="1">
                              <a:solidFill>
                                <a:schemeClr val="tx1"/>
                              </a:solidFill>
                              <a:latin typeface="Cambria Math" panose="02040503050406030204" pitchFamily="18" charset="0"/>
                              <a:ea typeface="黑体" panose="02010609060101010101" pitchFamily="49" charset="-122"/>
                            </a:rPr>
                            <m:t>𝑅𝑑𝑡</m:t>
                          </m:r>
                        </m:e>
                      </m:nary>
                      <m:r>
                        <a:rPr lang="en-US" altLang="zh-CN" sz="2800" b="0" i="1">
                          <a:solidFill>
                            <a:schemeClr val="tx1"/>
                          </a:solidFill>
                          <a:latin typeface="Cambria Math" panose="02040503050406030204" pitchFamily="18" charset="0"/>
                          <a:ea typeface="黑体" panose="02010609060101010101" pitchFamily="49" charset="-122"/>
                        </a:rPr>
                        <m:t>=</m:t>
                      </m:r>
                      <m:sSubSup>
                        <m:sSubSupPr>
                          <m:ctrlPr>
                            <a:rPr lang="en-US" altLang="zh-CN" sz="2800" i="1">
                              <a:solidFill>
                                <a:schemeClr val="tx1"/>
                              </a:solidFill>
                              <a:latin typeface="Cambria Math" panose="02040503050406030204" pitchFamily="18" charset="0"/>
                              <a:ea typeface="黑体" panose="02010609060101010101" pitchFamily="49" charset="-122"/>
                            </a:rPr>
                          </m:ctrlPr>
                        </m:sSubSup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黑体" panose="02010609060101010101" pitchFamily="49" charset="-122"/>
                            </a:rPr>
                            <m:t>2</m:t>
                          </m:r>
                        </m:sup>
                      </m:sSubSup>
                      <m:r>
                        <a:rPr lang="en-US" altLang="zh-CN" sz="2800" b="0" i="1">
                          <a:solidFill>
                            <a:schemeClr val="tx1"/>
                          </a:solidFill>
                          <a:latin typeface="Cambria Math" panose="02040503050406030204" pitchFamily="18" charset="0"/>
                          <a:ea typeface="黑体" panose="02010609060101010101" pitchFamily="49" charset="-122"/>
                        </a:rPr>
                        <m:t>𝑅</m:t>
                      </m:r>
                      <m:nary>
                        <m:naryPr>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0</m:t>
                          </m:r>
                        </m:sub>
                        <m:sup>
                          <m:r>
                            <a:rPr lang="en-US" altLang="zh-CN" sz="2800" b="0" i="1">
                              <a:solidFill>
                                <a:schemeClr val="tx1"/>
                              </a:solidFill>
                              <a:latin typeface="Cambria Math" panose="02040503050406030204" pitchFamily="18" charset="0"/>
                              <a:ea typeface="Cambria Math" panose="02040503050406030204" pitchFamily="18" charset="0"/>
                            </a:rPr>
                            <m:t>∞</m:t>
                          </m:r>
                        </m:sup>
                        <m:e>
                          <m:sSup>
                            <m:sSupPr>
                              <m:ctrlPr>
                                <a:rPr lang="en-US" altLang="zh-CN" sz="2800" i="1">
                                  <a:solidFill>
                                    <a:schemeClr val="tx1"/>
                                  </a:solidFill>
                                  <a:latin typeface="Cambria Math" panose="02040503050406030204" pitchFamily="18" charset="0"/>
                                  <a:ea typeface="Cambria Math" panose="02040503050406030204" pitchFamily="18" charset="0"/>
                                </a:rPr>
                              </m:ctrlPr>
                            </m:sSupPr>
                            <m:e>
                              <m:r>
                                <a:rPr lang="en-US" altLang="zh-CN" sz="2800" b="0" i="1">
                                  <a:solidFill>
                                    <a:schemeClr val="tx1"/>
                                  </a:solidFill>
                                  <a:latin typeface="Cambria Math" panose="02040503050406030204" pitchFamily="18" charset="0"/>
                                  <a:ea typeface="Cambria Math" panose="02040503050406030204" pitchFamily="18" charset="0"/>
                                </a:rPr>
                                <m:t>𝑒</m:t>
                              </m:r>
                            </m:e>
                            <m:sup>
                              <m:r>
                                <a:rPr lang="en-US" altLang="zh-CN" sz="2800" b="0" i="1">
                                  <a:solidFill>
                                    <a:schemeClr val="tx1"/>
                                  </a:solidFill>
                                  <a:latin typeface="Cambria Math" panose="02040503050406030204" pitchFamily="18" charset="0"/>
                                  <a:ea typeface="Cambria Math" panose="02040503050406030204" pitchFamily="18" charset="0"/>
                                </a:rPr>
                                <m:t>−2</m:t>
                              </m:r>
                              <m:f>
                                <m:fPr>
                                  <m:ctrlPr>
                                    <a:rPr lang="en-US" altLang="zh-CN" sz="2800" i="1">
                                      <a:solidFill>
                                        <a:schemeClr val="tx1"/>
                                      </a:solidFill>
                                      <a:latin typeface="Cambria Math" panose="02040503050406030204" pitchFamily="18" charset="0"/>
                                      <a:ea typeface="Cambria Math" panose="02040503050406030204" pitchFamily="18" charset="0"/>
                                    </a:rPr>
                                  </m:ctrlPr>
                                </m:fPr>
                                <m:num>
                                  <m:r>
                                    <a:rPr lang="en-US" altLang="zh-CN" sz="2800" b="0" i="1">
                                      <a:solidFill>
                                        <a:schemeClr val="tx1"/>
                                      </a:solidFill>
                                      <a:latin typeface="Cambria Math" panose="02040503050406030204" pitchFamily="18" charset="0"/>
                                      <a:ea typeface="Cambria Math" panose="02040503050406030204" pitchFamily="18" charset="0"/>
                                    </a:rPr>
                                    <m:t>𝑅</m:t>
                                  </m:r>
                                </m:num>
                                <m:den>
                                  <m:r>
                                    <a:rPr lang="en-US" altLang="zh-CN" sz="2800" b="0" i="1">
                                      <a:solidFill>
                                        <a:schemeClr val="tx1"/>
                                      </a:solidFill>
                                      <a:latin typeface="Cambria Math" panose="02040503050406030204" pitchFamily="18" charset="0"/>
                                      <a:ea typeface="Cambria Math" panose="02040503050406030204" pitchFamily="18" charset="0"/>
                                    </a:rPr>
                                    <m:t>𝐿</m:t>
                                  </m:r>
                                </m:den>
                              </m:f>
                            </m:sup>
                          </m:sSup>
                          <m:r>
                            <a:rPr lang="en-US" altLang="zh-CN" sz="2800" b="0" i="1">
                              <a:solidFill>
                                <a:schemeClr val="tx1"/>
                              </a:solidFill>
                              <a:latin typeface="Cambria Math" panose="02040503050406030204" pitchFamily="18" charset="0"/>
                              <a:ea typeface="黑体" panose="02010609060101010101" pitchFamily="49" charset="-122"/>
                            </a:rPr>
                            <m:t>𝑑𝑡</m:t>
                          </m:r>
                        </m:e>
                      </m:nary>
                      <m:r>
                        <a:rPr lang="en-US" altLang="zh-CN" sz="2800" b="0" i="1">
                          <a:solidFill>
                            <a:schemeClr val="tx1"/>
                          </a:solidFill>
                          <a:latin typeface="Cambria Math" panose="02040503050406030204" pitchFamily="18" charset="0"/>
                          <a:ea typeface="黑体" panose="02010609060101010101" pitchFamily="49" charset="-122"/>
                        </a:rPr>
                        <m:t>=</m:t>
                      </m:r>
                      <m:f>
                        <m:fPr>
                          <m:ctrlPr>
                            <a:rPr lang="en-US" altLang="zh-CN" sz="3200" i="1">
                              <a:solidFill>
                                <a:schemeClr val="tx1"/>
                              </a:solidFill>
                              <a:latin typeface="Cambria Math" panose="02040503050406030204" pitchFamily="18" charset="0"/>
                              <a:ea typeface="华文新魏" panose="02010800040101010101" pitchFamily="2" charset="-122"/>
                            </a:rPr>
                          </m:ctrlPr>
                        </m:fPr>
                        <m:num>
                          <m:r>
                            <a:rPr lang="en-US" altLang="zh-CN" sz="3200" b="0" i="1">
                              <a:solidFill>
                                <a:schemeClr val="tx1"/>
                              </a:solidFill>
                              <a:latin typeface="Cambria Math" panose="02040503050406030204" pitchFamily="18" charset="0"/>
                              <a:ea typeface="华文新魏" panose="02010800040101010101" pitchFamily="2" charset="-122"/>
                            </a:rPr>
                            <m:t>1</m:t>
                          </m:r>
                        </m:num>
                        <m:den>
                          <m:r>
                            <a:rPr lang="en-US" altLang="zh-CN" sz="3200" b="0" i="1">
                              <a:solidFill>
                                <a:schemeClr val="tx1"/>
                              </a:solidFill>
                              <a:latin typeface="Cambria Math" panose="02040503050406030204" pitchFamily="18" charset="0"/>
                              <a:ea typeface="华文新魏" panose="02010800040101010101" pitchFamily="2" charset="-122"/>
                            </a:rPr>
                            <m:t>2</m:t>
                          </m:r>
                        </m:den>
                      </m:f>
                      <m:r>
                        <a:rPr lang="en-US" altLang="zh-CN" sz="3200" b="0" i="1">
                          <a:solidFill>
                            <a:schemeClr val="tx1"/>
                          </a:solidFill>
                          <a:latin typeface="Cambria Math" panose="02040503050406030204" pitchFamily="18" charset="0"/>
                          <a:ea typeface="华文新魏" panose="02010800040101010101" pitchFamily="2" charset="-122"/>
                        </a:rPr>
                        <m:t>𝐿</m:t>
                      </m:r>
                      <m:sSubSup>
                        <m:sSubSupPr>
                          <m:ctrlPr>
                            <a:rPr lang="en-US" altLang="zh-CN" sz="3200" i="1">
                              <a:solidFill>
                                <a:schemeClr val="tx1"/>
                              </a:solidFill>
                              <a:latin typeface="Cambria Math" panose="02040503050406030204" pitchFamily="18" charset="0"/>
                              <a:ea typeface="华文新魏" panose="02010800040101010101" pitchFamily="2" charset="-122"/>
                            </a:rPr>
                          </m:ctrlPr>
                        </m:sSubSupPr>
                        <m:e>
                          <m:r>
                            <a:rPr lang="en-US" altLang="zh-CN" sz="3200" b="0" i="1">
                              <a:solidFill>
                                <a:schemeClr val="tx1"/>
                              </a:solidFill>
                              <a:latin typeface="Cambria Math" panose="02040503050406030204" pitchFamily="18" charset="0"/>
                              <a:ea typeface="华文新魏" panose="02010800040101010101" pitchFamily="2" charset="-122"/>
                            </a:rPr>
                            <m:t>𝐼</m:t>
                          </m:r>
                        </m:e>
                        <m:sub>
                          <m:r>
                            <a:rPr lang="en-US" altLang="zh-CN" sz="3200" b="0" i="1">
                              <a:solidFill>
                                <a:schemeClr val="tx1"/>
                              </a:solidFill>
                              <a:latin typeface="Cambria Math" panose="02040503050406030204" pitchFamily="18" charset="0"/>
                              <a:ea typeface="华文新魏" panose="02010800040101010101" pitchFamily="2" charset="-122"/>
                            </a:rPr>
                            <m:t>0</m:t>
                          </m:r>
                        </m:sub>
                        <m:sup>
                          <m:r>
                            <a:rPr lang="en-US" altLang="zh-CN" sz="3200" b="0" i="1">
                              <a:solidFill>
                                <a:schemeClr val="tx1"/>
                              </a:solidFill>
                              <a:latin typeface="Cambria Math" panose="02040503050406030204" pitchFamily="18" charset="0"/>
                              <a:ea typeface="华文新魏" panose="02010800040101010101" pitchFamily="2" charset="-122"/>
                            </a:rPr>
                            <m:t>2</m:t>
                          </m:r>
                        </m:sup>
                      </m:sSubSup>
                    </m:oMath>
                  </m:oMathPara>
                </a14:m>
                <a:endParaRPr lang="zh-CN" altLang="en-US"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2" name="Rectangle 12"/>
              <p:cNvSpPr>
                <a:spLocks noRot="1" noChangeAspect="1" noMove="1" noResize="1" noEditPoints="1" noAdjustHandles="1" noChangeArrowheads="1" noChangeShapeType="1" noTextEdit="1"/>
              </p:cNvSpPr>
              <p:nvPr/>
            </p:nvSpPr>
            <p:spPr bwMode="auto">
              <a:xfrm>
                <a:off x="1758093" y="1023374"/>
                <a:ext cx="8424936" cy="1878143"/>
              </a:xfrm>
              <a:prstGeom prst="rect">
                <a:avLst/>
              </a:prstGeom>
              <a:blipFill>
                <a:blip r:embed="rId3"/>
                <a:stretch>
                  <a:fillRect l="-1447"/>
                </a:stretch>
              </a:blipFill>
              <a:ln w="9525">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4603121" y="5327467"/>
                <a:ext cx="2412135" cy="1014317"/>
              </a:xfrm>
              <a:prstGeom prst="rect">
                <a:avLst/>
              </a:prstGeom>
            </p:spPr>
            <p:txBody>
              <a:bodyPr wrap="none">
                <a:spAutoFit/>
              </a:bodyPr>
              <a:lstStyle/>
              <a:p>
                <a:pPr fontAlgn="base">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b="0" i="1" smtClean="0">
                          <a:solidFill>
                            <a:srgbClr val="FF0000"/>
                          </a:solidFill>
                          <a:latin typeface="Cambria Math" panose="02040503050406030204" pitchFamily="18" charset="0"/>
                        </a:rPr>
                        <m:t>𝑊</m:t>
                      </m:r>
                      <m:r>
                        <a:rPr lang="en-US" altLang="zh-CN" sz="3200" b="0" i="1" baseline="-25000">
                          <a:solidFill>
                            <a:srgbClr val="FF0000"/>
                          </a:solidFill>
                          <a:latin typeface="Cambria Math" panose="02040503050406030204" pitchFamily="18" charset="0"/>
                        </a:rPr>
                        <m:t>𝑚</m:t>
                      </m:r>
                      <m:r>
                        <a:rPr lang="en-US" altLang="zh-CN" sz="3200" b="0" i="1">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r>
                            <a:rPr lang="en-US" altLang="zh-CN" sz="3200" b="0" i="1">
                              <a:solidFill>
                                <a:srgbClr val="FF0000"/>
                              </a:solidFill>
                              <a:latin typeface="Cambria Math" panose="02040503050406030204" pitchFamily="18" charset="0"/>
                            </a:rPr>
                            <m:t>1</m:t>
                          </m:r>
                        </m:num>
                        <m:den>
                          <m:r>
                            <a:rPr lang="en-US" altLang="zh-CN" sz="3200" b="0" i="1">
                              <a:solidFill>
                                <a:srgbClr val="FF0000"/>
                              </a:solidFill>
                              <a:latin typeface="Cambria Math" panose="02040503050406030204" pitchFamily="18" charset="0"/>
                            </a:rPr>
                            <m:t>2</m:t>
                          </m:r>
                        </m:den>
                      </m:f>
                      <m:r>
                        <a:rPr lang="en-US" altLang="zh-CN" sz="3200" b="0" i="1">
                          <a:solidFill>
                            <a:srgbClr val="FF0000"/>
                          </a:solidFill>
                          <a:latin typeface="Cambria Math" panose="02040503050406030204" pitchFamily="18" charset="0"/>
                        </a:rPr>
                        <m:t>𝐿</m:t>
                      </m:r>
                      <m:sSubSup>
                        <m:sSubSupPr>
                          <m:ctrlPr>
                            <a:rPr lang="en-US" altLang="zh-CN" sz="3200" i="1">
                              <a:solidFill>
                                <a:srgbClr val="FF0000"/>
                              </a:solidFill>
                              <a:latin typeface="Cambria Math" panose="02040503050406030204" pitchFamily="18" charset="0"/>
                            </a:rPr>
                          </m:ctrlPr>
                        </m:sSubSupPr>
                        <m:e>
                          <m:r>
                            <a:rPr lang="en-US" altLang="zh-CN" sz="3200" b="0" i="1">
                              <a:solidFill>
                                <a:srgbClr val="FF0000"/>
                              </a:solidFill>
                              <a:latin typeface="Cambria Math" panose="02040503050406030204" pitchFamily="18" charset="0"/>
                            </a:rPr>
                            <m:t>𝐼</m:t>
                          </m:r>
                        </m:e>
                        <m:sub>
                          <m:r>
                            <a:rPr lang="en-US" altLang="zh-CN" sz="3200" b="0" i="1">
                              <a:solidFill>
                                <a:srgbClr val="FF0000"/>
                              </a:solidFill>
                              <a:latin typeface="Cambria Math" panose="02040503050406030204" pitchFamily="18" charset="0"/>
                            </a:rPr>
                            <m:t>0</m:t>
                          </m:r>
                        </m:sub>
                        <m:sup>
                          <m:r>
                            <a:rPr lang="en-US" altLang="zh-CN" sz="3200" b="0" i="1">
                              <a:solidFill>
                                <a:srgbClr val="FF0000"/>
                              </a:solidFill>
                              <a:latin typeface="Cambria Math" panose="02040503050406030204" pitchFamily="18" charset="0"/>
                            </a:rPr>
                            <m:t>2</m:t>
                          </m:r>
                        </m:sup>
                      </m:sSubSup>
                    </m:oMath>
                  </m:oMathPara>
                </a14:m>
                <a:endParaRPr lang="zh-CN" altLang="en-US" sz="3200" i="1" dirty="0">
                  <a:solidFill>
                    <a:srgbClr val="FF0000"/>
                  </a:solidFill>
                  <a:latin typeface="Arial" panose="020B0604020202020204" pitchFamily="34" charset="0"/>
                  <a:ea typeface="宋体" panose="02010600030101010101" pitchFamily="2"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4603121" y="5327467"/>
                <a:ext cx="2412135" cy="1014317"/>
              </a:xfrm>
              <a:prstGeom prst="rect">
                <a:avLst/>
              </a:prstGeom>
              <a:blipFill>
                <a:blip r:embed="rId4"/>
                <a:stretch>
                  <a:fillRect/>
                </a:stretch>
              </a:blipFill>
            </p:spPr>
            <p:txBody>
              <a:bodyPr/>
              <a:lstStyle/>
              <a:p>
                <a:r>
                  <a:rPr lang="zh-CN" altLang="en-US">
                    <a:noFill/>
                  </a:rPr>
                  <a:t> </a:t>
                </a:r>
              </a:p>
            </p:txBody>
          </p:sp>
        </mc:Fallback>
      </mc:AlternateContent>
      <p:sp>
        <p:nvSpPr>
          <p:cNvPr id="8" name="Text Box 9">
            <a:extLst>
              <a:ext uri="{FF2B5EF4-FFF2-40B4-BE49-F238E27FC236}">
                <a16:creationId xmlns:a16="http://schemas.microsoft.com/office/drawing/2014/main" id="{56A99258-9178-4C2E-90F3-B26E369F9383}"/>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磁场的能量</a:t>
            </a:r>
          </a:p>
        </p:txBody>
      </p:sp>
    </p:spTree>
    <p:extLst>
      <p:ext uri="{BB962C8B-B14F-4D97-AF65-F5344CB8AC3E}">
        <p14:creationId xmlns:p14="http://schemas.microsoft.com/office/powerpoint/2010/main" val="35184562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3"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1588931" y="1362425"/>
                <a:ext cx="8029400" cy="3888693"/>
              </a:xfrm>
              <a:prstGeom prst="rect">
                <a:avLst/>
              </a:prstGeom>
            </p:spPr>
            <p:txBody>
              <a:bodyPr wrap="square">
                <a:spAutoFit/>
              </a:bodyPr>
              <a:lstStyle/>
              <a:p>
                <a:pPr fontAlgn="base">
                  <a:lnSpc>
                    <a:spcPct val="150000"/>
                  </a:lnSpc>
                  <a:spcAft>
                    <a:spcPct val="0"/>
                  </a:spcAft>
                  <a:defRPr/>
                </a:pPr>
                <a:r>
                  <a:rPr lang="zh-CN" altLang="en-US" sz="2800" dirty="0">
                    <a:solidFill>
                      <a:schemeClr val="tx1"/>
                    </a:solidFill>
                    <a:latin typeface="Arial" panose="020B0604020202020204" pitchFamily="34" charset="0"/>
                    <a:ea typeface="华文楷体" panose="02010600040101010101" pitchFamily="2" charset="-122"/>
                  </a:rPr>
                  <a:t>考虑一充满均匀磁介质的长直螺线管，有</a:t>
                </a:r>
                <a:endParaRPr lang="en-US" altLang="zh-CN" sz="2800" dirty="0">
                  <a:solidFill>
                    <a:schemeClr val="tx1"/>
                  </a:solidFill>
                  <a:latin typeface="Arial" panose="020B0604020202020204" pitchFamily="34" charset="0"/>
                  <a:ea typeface="华文楷体" panose="02010600040101010101" pitchFamily="2" charset="-122"/>
                </a:endParaRPr>
              </a:p>
              <a:p>
                <a:pPr fontAlgn="base">
                  <a:lnSpc>
                    <a:spcPct val="150000"/>
                  </a:lnSpc>
                  <a:spcAft>
                    <a:spcPct val="0"/>
                  </a:spcAft>
                  <a:defRPr/>
                </a:pPr>
                <a14:m>
                  <m:oMathPara xmlns:m="http://schemas.openxmlformats.org/officeDocument/2006/math">
                    <m:oMathParaPr>
                      <m:jc m:val="centerGroup"/>
                    </m:oMathParaPr>
                    <m:oMath xmlns:m="http://schemas.openxmlformats.org/officeDocument/2006/math">
                      <m:r>
                        <a:rPr lang="en-US" altLang="zh-CN" sz="2800" b="0" i="1">
                          <a:solidFill>
                            <a:schemeClr val="tx1"/>
                          </a:solidFill>
                          <a:latin typeface="Cambria Math" panose="02040503050406030204" pitchFamily="18" charset="0"/>
                          <a:ea typeface="黑体" panose="02010609060101010101" pitchFamily="49" charset="-122"/>
                        </a:rPr>
                        <m:t>𝐿</m:t>
                      </m:r>
                      <m:r>
                        <a:rPr lang="en-US" altLang="zh-CN" sz="2800" b="0" i="1">
                          <a:solidFill>
                            <a:schemeClr val="tx1"/>
                          </a:solidFill>
                          <a:latin typeface="Cambria Math" panose="02040503050406030204" pitchFamily="18" charset="0"/>
                          <a:ea typeface="黑体" panose="02010609060101010101" pitchFamily="49" charset="-122"/>
                        </a:rPr>
                        <m:t>=</m:t>
                      </m:r>
                      <m:r>
                        <a:rPr lang="zh-CN" altLang="en-US" sz="2800" b="0" i="1">
                          <a:solidFill>
                            <a:schemeClr val="tx1"/>
                          </a:solidFill>
                          <a:latin typeface="Cambria Math" panose="02040503050406030204" pitchFamily="18" charset="0"/>
                          <a:ea typeface="黑体" panose="02010609060101010101" pitchFamily="49" charset="-122"/>
                        </a:rPr>
                        <m:t>𝜇</m:t>
                      </m:r>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𝑛</m:t>
                          </m:r>
                        </m:e>
                        <m:sup>
                          <m:r>
                            <a:rPr lang="en-US" altLang="zh-CN" sz="2800" b="0" i="1">
                              <a:solidFill>
                                <a:schemeClr val="tx1"/>
                              </a:solidFill>
                              <a:latin typeface="Cambria Math" panose="02040503050406030204" pitchFamily="18" charset="0"/>
                              <a:ea typeface="黑体" panose="02010609060101010101" pitchFamily="49" charset="-122"/>
                            </a:rPr>
                            <m:t>2</m:t>
                          </m:r>
                        </m:sup>
                      </m:sSup>
                      <m:r>
                        <a:rPr lang="en-US" altLang="zh-CN" sz="2800" b="0" i="1">
                          <a:solidFill>
                            <a:schemeClr val="tx1"/>
                          </a:solidFill>
                          <a:latin typeface="Cambria Math" panose="02040503050406030204" pitchFamily="18" charset="0"/>
                          <a:ea typeface="黑体" panose="02010609060101010101" pitchFamily="49" charset="-122"/>
                        </a:rPr>
                        <m:t>𝑉</m:t>
                      </m:r>
                      <m:r>
                        <a:rPr lang="en-US" altLang="zh-CN" sz="2800" b="0" i="1">
                          <a:solidFill>
                            <a:schemeClr val="tx1"/>
                          </a:solidFill>
                          <a:latin typeface="Cambria Math" panose="02040503050406030204" pitchFamily="18" charset="0"/>
                          <a:ea typeface="黑体" panose="02010609060101010101" pitchFamily="49" charset="-122"/>
                        </a:rPr>
                        <m:t>,  </m:t>
                      </m:r>
                      <m:r>
                        <a:rPr lang="en-US" altLang="zh-CN" sz="2800" b="0" i="1">
                          <a:solidFill>
                            <a:schemeClr val="tx1"/>
                          </a:solidFill>
                          <a:latin typeface="Cambria Math" panose="02040503050406030204" pitchFamily="18" charset="0"/>
                          <a:ea typeface="黑体" panose="02010609060101010101" pitchFamily="49" charset="-122"/>
                        </a:rPr>
                        <m:t>𝐵</m:t>
                      </m:r>
                      <m:r>
                        <a:rPr lang="en-US" altLang="zh-CN" sz="2800" b="0" i="1">
                          <a:solidFill>
                            <a:schemeClr val="tx1"/>
                          </a:solidFill>
                          <a:latin typeface="Cambria Math" panose="02040503050406030204" pitchFamily="18" charset="0"/>
                          <a:ea typeface="黑体" panose="02010609060101010101" pitchFamily="49" charset="-122"/>
                        </a:rPr>
                        <m:t>=</m:t>
                      </m:r>
                      <m:r>
                        <a:rPr lang="zh-CN" altLang="en-US" sz="2800" b="0" i="1">
                          <a:solidFill>
                            <a:schemeClr val="tx1"/>
                          </a:solidFill>
                          <a:latin typeface="Cambria Math" panose="02040503050406030204" pitchFamily="18" charset="0"/>
                          <a:ea typeface="黑体" panose="02010609060101010101" pitchFamily="49" charset="-122"/>
                        </a:rPr>
                        <m:t>𝜇</m:t>
                      </m:r>
                      <m:r>
                        <a:rPr lang="en-US" altLang="zh-CN" sz="2800" b="0" i="1">
                          <a:solidFill>
                            <a:schemeClr val="tx1"/>
                          </a:solidFill>
                          <a:latin typeface="Cambria Math" panose="02040503050406030204" pitchFamily="18" charset="0"/>
                          <a:ea typeface="黑体" panose="02010609060101010101" pitchFamily="49" charset="-122"/>
                        </a:rPr>
                        <m:t>𝑛</m:t>
                      </m:r>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𝐼</m:t>
                          </m:r>
                        </m:e>
                        <m:sub>
                          <m:r>
                            <a:rPr lang="en-US" altLang="zh-CN" sz="2800" b="0" i="1">
                              <a:solidFill>
                                <a:schemeClr val="tx1"/>
                              </a:solidFill>
                              <a:latin typeface="Cambria Math" panose="02040503050406030204" pitchFamily="18" charset="0"/>
                              <a:ea typeface="黑体" panose="02010609060101010101" pitchFamily="49" charset="-122"/>
                            </a:rPr>
                            <m:t>0</m:t>
                          </m:r>
                        </m:sub>
                      </m:sSub>
                    </m:oMath>
                  </m:oMathPara>
                </a14:m>
                <a:endParaRPr lang="en-US" altLang="zh-CN" sz="2800" dirty="0">
                  <a:solidFill>
                    <a:schemeClr val="tx1"/>
                  </a:solidFill>
                  <a:latin typeface="Arial" panose="020B0604020202020204" pitchFamily="34" charset="0"/>
                  <a:ea typeface="华文楷体" panose="02010600040101010101" pitchFamily="2" charset="-122"/>
                </a:endParaRPr>
              </a:p>
              <a:p>
                <a:pPr fontAlgn="base">
                  <a:lnSpc>
                    <a:spcPct val="150000"/>
                  </a:lnSpc>
                  <a:spcAft>
                    <a:spcPct val="0"/>
                  </a:spcAft>
                  <a:defRPr/>
                </a:pPr>
                <a14:m>
                  <m:oMathPara xmlns:m="http://schemas.openxmlformats.org/officeDocument/2006/math">
                    <m:oMathParaPr>
                      <m:jc m:val="centerGroup"/>
                    </m:oMathParaPr>
                    <m:oMath xmlns:m="http://schemas.openxmlformats.org/officeDocument/2006/math">
                      <m:r>
                        <a:rPr lang="en-US" altLang="zh-CN" sz="3200" b="0" i="1" smtClean="0">
                          <a:solidFill>
                            <a:schemeClr val="tx1"/>
                          </a:solidFill>
                          <a:latin typeface="Cambria Math" panose="02040503050406030204" pitchFamily="18" charset="0"/>
                          <a:ea typeface="Cambria Math" panose="02040503050406030204" pitchFamily="18" charset="0"/>
                        </a:rPr>
                        <m:t> </m:t>
                      </m:r>
                      <m:r>
                        <a:rPr lang="en-US" altLang="zh-CN" sz="3200" b="0" i="1" smtClean="0">
                          <a:solidFill>
                            <a:schemeClr val="tx1"/>
                          </a:solidFill>
                          <a:latin typeface="Cambria Math" panose="02040503050406030204" pitchFamily="18" charset="0"/>
                        </a:rPr>
                        <m:t>𝑊</m:t>
                      </m:r>
                      <m:r>
                        <a:rPr lang="en-US" altLang="zh-CN" sz="3200" b="0" i="1" baseline="-25000">
                          <a:solidFill>
                            <a:schemeClr val="tx1"/>
                          </a:solidFill>
                          <a:latin typeface="Cambria Math" panose="02040503050406030204" pitchFamily="18" charset="0"/>
                        </a:rPr>
                        <m:t>𝑚</m:t>
                      </m:r>
                      <m:r>
                        <a:rPr lang="en-US" altLang="zh-CN" sz="3200" b="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i="1">
                              <a:solidFill>
                                <a:schemeClr val="tx1"/>
                              </a:solidFill>
                              <a:latin typeface="Cambria Math" panose="02040503050406030204" pitchFamily="18" charset="0"/>
                            </a:rPr>
                            <m:t>1</m:t>
                          </m:r>
                        </m:num>
                        <m:den>
                          <m:r>
                            <a:rPr lang="en-US" altLang="zh-CN" sz="3200" i="1">
                              <a:solidFill>
                                <a:schemeClr val="tx1"/>
                              </a:solidFill>
                              <a:latin typeface="Cambria Math" panose="02040503050406030204" pitchFamily="18" charset="0"/>
                            </a:rPr>
                            <m:t>2</m:t>
                          </m:r>
                        </m:den>
                      </m:f>
                      <m:r>
                        <a:rPr lang="en-US" altLang="zh-CN" sz="3200" i="1">
                          <a:solidFill>
                            <a:schemeClr val="tx1"/>
                          </a:solidFill>
                          <a:latin typeface="Cambria Math" panose="02040503050406030204" pitchFamily="18" charset="0"/>
                        </a:rPr>
                        <m:t>𝐿</m:t>
                      </m:r>
                      <m:sSubSup>
                        <m:sSubSupPr>
                          <m:ctrlPr>
                            <a:rPr lang="en-US" altLang="zh-CN" sz="3200" i="1">
                              <a:solidFill>
                                <a:schemeClr val="tx1"/>
                              </a:solidFill>
                              <a:latin typeface="Cambria Math" panose="02040503050406030204" pitchFamily="18" charset="0"/>
                            </a:rPr>
                          </m:ctrlPr>
                        </m:sSubSupPr>
                        <m:e>
                          <m:r>
                            <a:rPr lang="en-US" altLang="zh-CN" sz="3200" i="1">
                              <a:solidFill>
                                <a:schemeClr val="tx1"/>
                              </a:solidFill>
                              <a:latin typeface="Cambria Math" panose="02040503050406030204" pitchFamily="18" charset="0"/>
                            </a:rPr>
                            <m:t>𝐼</m:t>
                          </m:r>
                        </m:e>
                        <m:sub>
                          <m:r>
                            <a:rPr lang="en-US" altLang="zh-CN" sz="3200" i="1">
                              <a:solidFill>
                                <a:schemeClr val="tx1"/>
                              </a:solidFill>
                              <a:latin typeface="Cambria Math" panose="02040503050406030204" pitchFamily="18" charset="0"/>
                            </a:rPr>
                            <m:t>0</m:t>
                          </m:r>
                        </m:sub>
                        <m:sup>
                          <m:r>
                            <a:rPr lang="en-US" altLang="zh-CN" sz="3200" i="1">
                              <a:solidFill>
                                <a:schemeClr val="tx1"/>
                              </a:solidFill>
                              <a:latin typeface="Cambria Math" panose="02040503050406030204" pitchFamily="18" charset="0"/>
                            </a:rPr>
                            <m:t>2</m:t>
                          </m:r>
                        </m:sup>
                      </m:sSubSup>
                      <m:r>
                        <a:rPr lang="en-US" altLang="zh-CN" sz="320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1</m:t>
                          </m:r>
                        </m:num>
                        <m:den>
                          <m:r>
                            <a:rPr lang="en-US" altLang="zh-CN" sz="3200" b="0" i="1">
                              <a:solidFill>
                                <a:schemeClr val="tx1"/>
                              </a:solidFill>
                              <a:latin typeface="Cambria Math" panose="02040503050406030204" pitchFamily="18" charset="0"/>
                            </a:rPr>
                            <m:t>2</m:t>
                          </m:r>
                        </m:den>
                      </m:f>
                      <m:r>
                        <a:rPr lang="zh-CN" altLang="en-US" sz="2800" b="0" i="1">
                          <a:solidFill>
                            <a:schemeClr val="tx1"/>
                          </a:solidFill>
                          <a:latin typeface="Cambria Math" panose="02040503050406030204" pitchFamily="18" charset="0"/>
                          <a:ea typeface="黑体" panose="02010609060101010101" pitchFamily="49" charset="-122"/>
                        </a:rPr>
                        <m:t>𝜇</m:t>
                      </m:r>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𝑛</m:t>
                          </m:r>
                        </m:e>
                        <m:sup>
                          <m:r>
                            <a:rPr lang="en-US" altLang="zh-CN" sz="2800" b="0" i="1">
                              <a:solidFill>
                                <a:schemeClr val="tx1"/>
                              </a:solidFill>
                              <a:latin typeface="Cambria Math" panose="02040503050406030204" pitchFamily="18" charset="0"/>
                              <a:ea typeface="黑体" panose="02010609060101010101" pitchFamily="49" charset="-122"/>
                            </a:rPr>
                            <m:t>2</m:t>
                          </m:r>
                        </m:sup>
                      </m:sSup>
                      <m:r>
                        <a:rPr lang="en-US" altLang="zh-CN" sz="2800" b="0" i="1">
                          <a:solidFill>
                            <a:schemeClr val="tx1"/>
                          </a:solidFill>
                          <a:latin typeface="Cambria Math" panose="02040503050406030204" pitchFamily="18" charset="0"/>
                          <a:ea typeface="黑体" panose="02010609060101010101" pitchFamily="49" charset="-122"/>
                        </a:rPr>
                        <m:t>𝑉</m:t>
                      </m:r>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m:t>
                          </m:r>
                          <m:f>
                            <m:fPr>
                              <m:ctrlPr>
                                <a:rPr lang="en-US" altLang="zh-CN" sz="2800" i="1">
                                  <a:solidFill>
                                    <a:schemeClr val="tx1"/>
                                  </a:solidFill>
                                  <a:latin typeface="Cambria Math" panose="02040503050406030204" pitchFamily="18" charset="0"/>
                                  <a:ea typeface="黑体" panose="02010609060101010101" pitchFamily="49" charset="-122"/>
                                </a:rPr>
                              </m:ctrlPr>
                            </m:fPr>
                            <m:num>
                              <m:r>
                                <a:rPr lang="en-US" altLang="zh-CN" sz="2800" b="0" i="1">
                                  <a:solidFill>
                                    <a:schemeClr val="tx1"/>
                                  </a:solidFill>
                                  <a:latin typeface="Cambria Math" panose="02040503050406030204" pitchFamily="18" charset="0"/>
                                  <a:ea typeface="黑体" panose="02010609060101010101" pitchFamily="49" charset="-122"/>
                                </a:rPr>
                                <m:t>𝐵</m:t>
                              </m:r>
                            </m:num>
                            <m:den>
                              <m:r>
                                <a:rPr lang="zh-CN" altLang="en-US" sz="2800" b="0" i="1">
                                  <a:solidFill>
                                    <a:schemeClr val="tx1"/>
                                  </a:solidFill>
                                  <a:latin typeface="Cambria Math" panose="02040503050406030204" pitchFamily="18" charset="0"/>
                                  <a:ea typeface="黑体" panose="02010609060101010101" pitchFamily="49" charset="-122"/>
                                </a:rPr>
                                <m:t>𝜇</m:t>
                              </m:r>
                              <m:r>
                                <a:rPr lang="en-US" altLang="zh-CN" sz="2800" b="0" i="1">
                                  <a:solidFill>
                                    <a:schemeClr val="tx1"/>
                                  </a:solidFill>
                                  <a:latin typeface="Cambria Math" panose="02040503050406030204" pitchFamily="18" charset="0"/>
                                  <a:ea typeface="黑体" panose="02010609060101010101" pitchFamily="49" charset="-122"/>
                                </a:rPr>
                                <m:t>𝑛</m:t>
                              </m:r>
                            </m:den>
                          </m:f>
                          <m:r>
                            <a:rPr lang="en-US" altLang="zh-CN" sz="2800" b="0" i="1">
                              <a:solidFill>
                                <a:schemeClr val="tx1"/>
                              </a:solidFill>
                              <a:latin typeface="Cambria Math" panose="02040503050406030204" pitchFamily="18" charset="0"/>
                              <a:ea typeface="黑体" panose="02010609060101010101" pitchFamily="49" charset="-122"/>
                            </a:rPr>
                            <m:t>)</m:t>
                          </m:r>
                        </m:e>
                        <m:sup>
                          <m:r>
                            <a:rPr lang="en-US" altLang="zh-CN" sz="2800" b="0" i="1">
                              <a:solidFill>
                                <a:schemeClr val="tx1"/>
                              </a:solidFill>
                              <a:latin typeface="Cambria Math" panose="02040503050406030204" pitchFamily="18" charset="0"/>
                              <a:ea typeface="黑体" panose="02010609060101010101" pitchFamily="49" charset="-122"/>
                            </a:rPr>
                            <m:t>2</m:t>
                          </m:r>
                        </m:sup>
                      </m:sSup>
                      <m:r>
                        <a:rPr lang="en-US" altLang="zh-CN" sz="2800" b="0" i="1">
                          <a:solidFill>
                            <a:schemeClr val="tx1"/>
                          </a:solidFill>
                          <a:latin typeface="Cambria Math" panose="02040503050406030204" pitchFamily="18" charset="0"/>
                          <a:ea typeface="黑体" panose="02010609060101010101" pitchFamily="49" charset="-122"/>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1</m:t>
                          </m:r>
                        </m:num>
                        <m:den>
                          <m:r>
                            <a:rPr lang="en-US" altLang="zh-CN" sz="3200" b="0" i="1">
                              <a:solidFill>
                                <a:schemeClr val="tx1"/>
                              </a:solidFill>
                              <a:latin typeface="Cambria Math" panose="02040503050406030204" pitchFamily="18" charset="0"/>
                            </a:rPr>
                            <m:t>2</m:t>
                          </m:r>
                        </m:den>
                      </m:f>
                      <m:f>
                        <m:fPr>
                          <m:ctrlPr>
                            <a:rPr lang="en-US" altLang="zh-CN" sz="2800" i="1">
                              <a:solidFill>
                                <a:schemeClr val="tx1"/>
                              </a:solidFill>
                              <a:latin typeface="Cambria Math" panose="02040503050406030204" pitchFamily="18" charset="0"/>
                              <a:ea typeface="黑体" panose="02010609060101010101" pitchFamily="49" charset="-122"/>
                            </a:rPr>
                          </m:ctrlPr>
                        </m:fPr>
                        <m:num>
                          <m:sSup>
                            <m:sSupPr>
                              <m:ctrlPr>
                                <a:rPr lang="en-US" altLang="zh-CN" sz="2800" i="1">
                                  <a:solidFill>
                                    <a:schemeClr val="tx1"/>
                                  </a:solidFill>
                                  <a:latin typeface="Cambria Math" panose="02040503050406030204" pitchFamily="18" charset="0"/>
                                  <a:ea typeface="黑体" panose="02010609060101010101" pitchFamily="49" charset="-122"/>
                                </a:rPr>
                              </m:ctrlPr>
                            </m:sSupPr>
                            <m:e>
                              <m:r>
                                <a:rPr lang="en-US" altLang="zh-CN" sz="2800" b="0" i="1">
                                  <a:solidFill>
                                    <a:schemeClr val="tx1"/>
                                  </a:solidFill>
                                  <a:latin typeface="Cambria Math" panose="02040503050406030204" pitchFamily="18" charset="0"/>
                                  <a:ea typeface="黑体" panose="02010609060101010101" pitchFamily="49" charset="-122"/>
                                </a:rPr>
                                <m:t>𝐵</m:t>
                              </m:r>
                            </m:e>
                            <m:sup>
                              <m:r>
                                <a:rPr lang="en-US" altLang="zh-CN" sz="2800" b="0" i="1">
                                  <a:solidFill>
                                    <a:schemeClr val="tx1"/>
                                  </a:solidFill>
                                  <a:latin typeface="Cambria Math" panose="02040503050406030204" pitchFamily="18" charset="0"/>
                                  <a:ea typeface="黑体" panose="02010609060101010101" pitchFamily="49" charset="-122"/>
                                </a:rPr>
                                <m:t>2</m:t>
                              </m:r>
                            </m:sup>
                          </m:sSup>
                        </m:num>
                        <m:den>
                          <m:r>
                            <a:rPr lang="zh-CN" altLang="en-US" sz="2800" b="0" i="1">
                              <a:solidFill>
                                <a:schemeClr val="tx1"/>
                              </a:solidFill>
                              <a:latin typeface="Cambria Math" panose="02040503050406030204" pitchFamily="18" charset="0"/>
                              <a:ea typeface="黑体" panose="02010609060101010101" pitchFamily="49" charset="-122"/>
                            </a:rPr>
                            <m:t>𝜇</m:t>
                          </m:r>
                        </m:den>
                      </m:f>
                      <m:r>
                        <a:rPr lang="en-US" altLang="zh-CN" sz="2800" b="0" i="1">
                          <a:solidFill>
                            <a:schemeClr val="tx1"/>
                          </a:solidFill>
                          <a:latin typeface="Cambria Math" panose="02040503050406030204" pitchFamily="18" charset="0"/>
                          <a:ea typeface="黑体" panose="02010609060101010101" pitchFamily="49" charset="-122"/>
                        </a:rPr>
                        <m:t>𝑉</m:t>
                      </m:r>
                      <m:r>
                        <a:rPr lang="en-US" altLang="zh-CN" sz="2800" b="0" i="1">
                          <a:solidFill>
                            <a:schemeClr val="tx1"/>
                          </a:solidFill>
                          <a:latin typeface="Cambria Math" panose="02040503050406030204" pitchFamily="18" charset="0"/>
                          <a:ea typeface="黑体" panose="02010609060101010101" pitchFamily="49" charset="-122"/>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1</m:t>
                          </m:r>
                        </m:num>
                        <m:den>
                          <m:r>
                            <a:rPr lang="en-US" altLang="zh-CN" sz="3200" b="0" i="1">
                              <a:solidFill>
                                <a:schemeClr val="tx1"/>
                              </a:solidFill>
                              <a:latin typeface="Cambria Math" panose="02040503050406030204" pitchFamily="18" charset="0"/>
                            </a:rPr>
                            <m:t>2</m:t>
                          </m:r>
                        </m:den>
                      </m:f>
                      <m:r>
                        <a:rPr lang="en-US" altLang="zh-CN" sz="2800" b="0" i="1">
                          <a:solidFill>
                            <a:schemeClr val="tx1"/>
                          </a:solidFill>
                          <a:latin typeface="Cambria Math" panose="02040503050406030204" pitchFamily="18" charset="0"/>
                          <a:ea typeface="黑体" panose="02010609060101010101" pitchFamily="49" charset="-122"/>
                        </a:rPr>
                        <m:t>𝐵𝐻𝑉</m:t>
                      </m:r>
                    </m:oMath>
                  </m:oMathPara>
                </a14:m>
                <a:endParaRPr lang="zh-CN" altLang="en-US" sz="2800" dirty="0">
                  <a:solidFill>
                    <a:schemeClr val="tx1"/>
                  </a:solidFill>
                  <a:latin typeface="Arial" panose="020B0604020202020204" pitchFamily="34" charset="0"/>
                  <a:ea typeface="华文楷体" panose="02010600040101010101" pitchFamily="2" charset="-122"/>
                </a:endParaRPr>
              </a:p>
              <a:p>
                <a:pPr fontAlgn="base">
                  <a:lnSpc>
                    <a:spcPct val="150000"/>
                  </a:lnSpc>
                  <a:spcAft>
                    <a:spcPct val="0"/>
                  </a:spcAft>
                  <a:defRPr/>
                </a:pPr>
                <a:r>
                  <a:rPr lang="zh-CN" altLang="en-US" sz="2800" dirty="0">
                    <a:solidFill>
                      <a:schemeClr val="tx1"/>
                    </a:solidFill>
                    <a:latin typeface="Arial" panose="020B0604020202020204" pitchFamily="34" charset="0"/>
                    <a:ea typeface="华文楷体" panose="02010600040101010101" pitchFamily="2" charset="-122"/>
                  </a:rPr>
                  <a:t>则磁场能量密度为</a:t>
                </a:r>
                <a14:m>
                  <m:oMath xmlns:m="http://schemas.openxmlformats.org/officeDocument/2006/math">
                    <m:r>
                      <a:rPr lang="zh-CN" altLang="en-US" sz="3200">
                        <a:latin typeface="Cambria Math" panose="02040503050406030204" pitchFamily="18" charset="0"/>
                      </a:rPr>
                      <m:t>：</m:t>
                    </m:r>
                    <m:r>
                      <a:rPr lang="en-US" altLang="zh-CN" sz="3200" b="0" i="1">
                        <a:solidFill>
                          <a:schemeClr val="tx1"/>
                        </a:solidFill>
                        <a:latin typeface="Cambria Math" panose="02040503050406030204" pitchFamily="18" charset="0"/>
                      </a:rPr>
                      <m:t>𝑤</m:t>
                    </m:r>
                    <m:r>
                      <a:rPr lang="en-US" altLang="zh-CN" sz="3200" b="0" i="1" baseline="-25000">
                        <a:solidFill>
                          <a:schemeClr val="tx1"/>
                        </a:solidFill>
                        <a:latin typeface="Cambria Math" panose="02040503050406030204" pitchFamily="18" charset="0"/>
                      </a:rPr>
                      <m:t>𝑚</m:t>
                    </m:r>
                    <m:r>
                      <a:rPr lang="en-US" altLang="zh-CN" sz="3200" b="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1</m:t>
                        </m:r>
                      </m:num>
                      <m:den>
                        <m:r>
                          <a:rPr lang="en-US" altLang="zh-CN" sz="3200" b="0" i="1">
                            <a:solidFill>
                              <a:schemeClr val="tx1"/>
                            </a:solidFill>
                            <a:latin typeface="Cambria Math" panose="02040503050406030204" pitchFamily="18" charset="0"/>
                          </a:rPr>
                          <m:t>2</m:t>
                        </m:r>
                      </m:den>
                    </m:f>
                    <m:r>
                      <a:rPr lang="en-US" altLang="zh-CN" sz="2800" b="0" i="1">
                        <a:solidFill>
                          <a:schemeClr val="tx1"/>
                        </a:solidFill>
                        <a:latin typeface="Cambria Math" panose="02040503050406030204" pitchFamily="18" charset="0"/>
                        <a:ea typeface="黑体" panose="02010609060101010101" pitchFamily="49" charset="-122"/>
                      </a:rPr>
                      <m:t>𝐵𝐻</m:t>
                    </m:r>
                  </m:oMath>
                </a14:m>
                <a:endParaRPr lang="en-US" altLang="zh-CN" sz="2800" dirty="0">
                  <a:solidFill>
                    <a:schemeClr val="tx1"/>
                  </a:solidFill>
                  <a:latin typeface="Arial" panose="020B0604020202020204" pitchFamily="34" charset="0"/>
                  <a:ea typeface="华文楷体" panose="0201060004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1588931" y="1362425"/>
                <a:ext cx="8029400" cy="3888693"/>
              </a:xfrm>
              <a:prstGeom prst="rect">
                <a:avLst/>
              </a:prstGeom>
              <a:blipFill>
                <a:blip r:embed="rId2"/>
                <a:stretch>
                  <a:fillRect l="-1595" b="-6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57E9F6B-B792-4F5D-855E-30047351322D}"/>
                  </a:ext>
                </a:extLst>
              </p:cNvPr>
              <p:cNvSpPr/>
              <p:nvPr/>
            </p:nvSpPr>
            <p:spPr>
              <a:xfrm>
                <a:off x="1756571" y="5306998"/>
                <a:ext cx="6377489" cy="928844"/>
              </a:xfrm>
              <a:prstGeom prst="rect">
                <a:avLst/>
              </a:prstGeom>
            </p:spPr>
            <p:txBody>
              <a:bodyPr wrap="square">
                <a:spAutoFit/>
              </a:bodyPr>
              <a:lstStyle>
                <a:defPPr>
                  <a:defRPr lang="zh-CN"/>
                </a:defPPr>
                <a:lvl1pPr algn="l" rtl="0" fontAlgn="base">
                  <a:spcBef>
                    <a:spcPct val="0"/>
                  </a:spcBef>
                  <a:spcAft>
                    <a:spcPct val="0"/>
                  </a:spcAft>
                  <a:defRPr b="1" i="1" u="sng"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i="1" u="sng"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i="1" u="sng"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i="1" u="sng"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i="1" u="sng"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i="1" u="sng"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i="1" u="sng"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i="1" u="sng"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i="1" u="sng" kern="1200">
                    <a:solidFill>
                      <a:schemeClr val="tx1"/>
                    </a:solidFill>
                    <a:latin typeface="Arial" panose="020B0604020202020204" pitchFamily="34" charset="0"/>
                    <a:ea typeface="宋体" panose="02010600030101010101" pitchFamily="2" charset="-122"/>
                    <a:cs typeface="+mn-cs"/>
                  </a:defRPr>
                </a:lvl9pPr>
              </a:lstStyle>
              <a:p>
                <a:pPr>
                  <a:lnSpc>
                    <a:spcPct val="150000"/>
                  </a:lnSpc>
                  <a:spcBef>
                    <a:spcPts val="0"/>
                  </a:spcBef>
                  <a:defRPr/>
                </a:pPr>
                <a:r>
                  <a:rPr lang="zh-CN" altLang="en-US" sz="2800" b="0" i="0" u="none" dirty="0">
                    <a:solidFill>
                      <a:srgbClr val="FF0000"/>
                    </a:solidFill>
                    <a:latin typeface="华文楷体" panose="02010600040101010101" pitchFamily="2" charset="-122"/>
                    <a:ea typeface="华文楷体" panose="02010600040101010101" pitchFamily="2" charset="-122"/>
                  </a:rPr>
                  <a:t>普适公式</a:t>
                </a:r>
                <a14:m>
                  <m:oMath xmlns:m="http://schemas.openxmlformats.org/officeDocument/2006/math">
                    <m:r>
                      <a:rPr lang="zh-CN" altLang="en-US" sz="2800" b="0" i="0" u="none" dirty="0" smtClean="0">
                        <a:solidFill>
                          <a:srgbClr val="FF0000"/>
                        </a:solidFill>
                        <a:latin typeface="Cambria Math" panose="02040503050406030204" pitchFamily="18" charset="0"/>
                      </a:rPr>
                      <m:t>：</m:t>
                    </m:r>
                    <m:r>
                      <a:rPr lang="en-US" altLang="zh-CN" sz="2800" b="0" i="1" u="none" smtClean="0">
                        <a:solidFill>
                          <a:srgbClr val="FF0000"/>
                        </a:solidFill>
                        <a:latin typeface="Cambria Math" panose="02040503050406030204" pitchFamily="18" charset="0"/>
                      </a:rPr>
                      <m:t>𝑤</m:t>
                    </m:r>
                    <m:r>
                      <a:rPr lang="en-US" altLang="zh-CN" sz="2800" b="0" i="1" u="none" baseline="-25000">
                        <a:solidFill>
                          <a:srgbClr val="FF0000"/>
                        </a:solidFill>
                        <a:latin typeface="Cambria Math" panose="02040503050406030204" pitchFamily="18" charset="0"/>
                      </a:rPr>
                      <m:t>𝑚</m:t>
                    </m:r>
                    <m:r>
                      <a:rPr lang="en-US" altLang="zh-CN" sz="2800" b="0" u="none">
                        <a:solidFill>
                          <a:srgbClr val="FF0000"/>
                        </a:solidFill>
                        <a:latin typeface="Cambria Math" panose="02040503050406030204" pitchFamily="18" charset="0"/>
                      </a:rPr>
                      <m:t>=</m:t>
                    </m:r>
                    <m:f>
                      <m:fPr>
                        <m:ctrlPr>
                          <a:rPr lang="en-US" altLang="zh-CN" sz="2800" b="0" i="1" u="none">
                            <a:solidFill>
                              <a:srgbClr val="FF0000"/>
                            </a:solidFill>
                            <a:latin typeface="Cambria Math" panose="02040503050406030204" pitchFamily="18" charset="0"/>
                          </a:rPr>
                        </m:ctrlPr>
                      </m:fPr>
                      <m:num>
                        <m:r>
                          <a:rPr lang="en-US" altLang="zh-CN" sz="2800" b="0" i="1" u="none">
                            <a:solidFill>
                              <a:srgbClr val="FF0000"/>
                            </a:solidFill>
                            <a:latin typeface="Cambria Math" panose="02040503050406030204" pitchFamily="18" charset="0"/>
                          </a:rPr>
                          <m:t>1</m:t>
                        </m:r>
                      </m:num>
                      <m:den>
                        <m:r>
                          <a:rPr lang="en-US" altLang="zh-CN" sz="2800" b="0" i="1" u="none">
                            <a:solidFill>
                              <a:srgbClr val="FF0000"/>
                            </a:solidFill>
                            <a:latin typeface="Cambria Math" panose="02040503050406030204" pitchFamily="18" charset="0"/>
                          </a:rPr>
                          <m:t>2</m:t>
                        </m:r>
                      </m:den>
                    </m:f>
                    <m:acc>
                      <m:accPr>
                        <m:chr m:val="⃗"/>
                        <m:ctrlPr>
                          <a:rPr lang="en-US" altLang="zh-CN" sz="2800" b="0" i="1" u="none">
                            <a:solidFill>
                              <a:srgbClr val="FF0000"/>
                            </a:solidFill>
                            <a:latin typeface="Cambria Math" panose="02040503050406030204" pitchFamily="18" charset="0"/>
                            <a:ea typeface="Cambria Math" panose="02040503050406030204" pitchFamily="18" charset="0"/>
                          </a:rPr>
                        </m:ctrlPr>
                      </m:accPr>
                      <m:e>
                        <m:r>
                          <a:rPr lang="en-US" altLang="zh-CN" sz="2800" b="0" i="1" u="none">
                            <a:solidFill>
                              <a:srgbClr val="FF0000"/>
                            </a:solidFill>
                            <a:latin typeface="Cambria Math" panose="02040503050406030204" pitchFamily="18" charset="0"/>
                            <a:ea typeface="黑体" panose="02010609060101010101" pitchFamily="49" charset="-122"/>
                          </a:rPr>
                          <m:t>𝐵</m:t>
                        </m:r>
                      </m:e>
                    </m:acc>
                    <m:r>
                      <a:rPr lang="en-US" altLang="zh-CN" sz="2800" b="0" u="none">
                        <a:solidFill>
                          <a:srgbClr val="FF0000"/>
                        </a:solidFill>
                        <a:latin typeface="Cambria Math" panose="02040503050406030204" pitchFamily="18" charset="0"/>
                        <a:ea typeface="Cambria Math" panose="02040503050406030204" pitchFamily="18" charset="0"/>
                      </a:rPr>
                      <m:t>∙</m:t>
                    </m:r>
                    <m:acc>
                      <m:accPr>
                        <m:chr m:val="⃗"/>
                        <m:ctrlPr>
                          <a:rPr lang="en-US" altLang="zh-CN" sz="2800" b="0" i="1" u="none">
                            <a:solidFill>
                              <a:srgbClr val="FF0000"/>
                            </a:solidFill>
                            <a:latin typeface="Cambria Math" panose="02040503050406030204" pitchFamily="18" charset="0"/>
                          </a:rPr>
                        </m:ctrlPr>
                      </m:accPr>
                      <m:e>
                        <m:r>
                          <a:rPr lang="en-US" altLang="zh-CN" sz="2800" b="0" i="1" u="none">
                            <a:solidFill>
                              <a:srgbClr val="FF0000"/>
                            </a:solidFill>
                            <a:latin typeface="Cambria Math" panose="02040503050406030204" pitchFamily="18" charset="0"/>
                            <a:ea typeface="黑体" panose="02010609060101010101" pitchFamily="49" charset="-122"/>
                          </a:rPr>
                          <m:t>𝐻</m:t>
                        </m:r>
                      </m:e>
                    </m:acc>
                  </m:oMath>
                </a14:m>
                <a:endParaRPr lang="en-US" altLang="zh-CN" sz="2800" b="0" i="0" u="none" dirty="0">
                  <a:solidFill>
                    <a:srgbClr val="FF0000"/>
                  </a:solidFill>
                  <a:ea typeface="华文楷体" panose="02010600040101010101" pitchFamily="2" charset="-122"/>
                </a:endParaRPr>
              </a:p>
            </p:txBody>
          </p:sp>
        </mc:Choice>
        <mc:Fallback xmlns="">
          <p:sp>
            <p:nvSpPr>
              <p:cNvPr id="4" name="矩形 3">
                <a:extLst>
                  <a:ext uri="{FF2B5EF4-FFF2-40B4-BE49-F238E27FC236}">
                    <a16:creationId xmlns:a16="http://schemas.microsoft.com/office/drawing/2014/main" id="{A57E9F6B-B792-4F5D-855E-30047351322D}"/>
                  </a:ext>
                </a:extLst>
              </p:cNvPr>
              <p:cNvSpPr>
                <a:spLocks noRot="1" noChangeAspect="1" noMove="1" noResize="1" noEditPoints="1" noAdjustHandles="1" noChangeArrowheads="1" noChangeShapeType="1" noTextEdit="1"/>
              </p:cNvSpPr>
              <p:nvPr/>
            </p:nvSpPr>
            <p:spPr>
              <a:xfrm>
                <a:off x="1756571" y="5306998"/>
                <a:ext cx="6377489" cy="928844"/>
              </a:xfrm>
              <a:prstGeom prst="rect">
                <a:avLst/>
              </a:prstGeom>
              <a:blipFill>
                <a:blip r:embed="rId3"/>
                <a:stretch>
                  <a:fillRect l="-1912" b="-9211"/>
                </a:stretch>
              </a:blipFill>
            </p:spPr>
            <p:txBody>
              <a:bodyPr/>
              <a:lstStyle/>
              <a:p>
                <a:r>
                  <a:rPr lang="zh-CN" altLang="en-US">
                    <a:noFill/>
                  </a:rPr>
                  <a:t> </a:t>
                </a:r>
              </a:p>
            </p:txBody>
          </p:sp>
        </mc:Fallback>
      </mc:AlternateContent>
      <p:sp>
        <p:nvSpPr>
          <p:cNvPr id="5" name="Text Box 9">
            <a:extLst>
              <a:ext uri="{FF2B5EF4-FFF2-40B4-BE49-F238E27FC236}">
                <a16:creationId xmlns:a16="http://schemas.microsoft.com/office/drawing/2014/main" id="{1590E8D9-1E2C-499A-B91D-BF823BD3CFD5}"/>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磁场的能量</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096BC83-25C4-5548-C0B0-AC5BFF94050C}"/>
                  </a:ext>
                </a:extLst>
              </p:cNvPr>
              <p:cNvSpPr/>
              <p:nvPr/>
            </p:nvSpPr>
            <p:spPr>
              <a:xfrm>
                <a:off x="6528620" y="5117164"/>
                <a:ext cx="4769575" cy="1302280"/>
              </a:xfrm>
              <a:prstGeom prst="rect">
                <a:avLst/>
              </a:prstGeom>
            </p:spPr>
            <p:txBody>
              <a:bodyPr wrap="none">
                <a:spAutoFit/>
              </a:bodyPr>
              <a:lstStyle/>
              <a:p>
                <a:pPr algn="ctr">
                  <a:lnSpc>
                    <a:spcPct val="150000"/>
                  </a:lnSpc>
                </a:pPr>
                <a14:m>
                  <m:oMathPara xmlns:m="http://schemas.openxmlformats.org/officeDocument/2006/math">
                    <m:oMathParaPr>
                      <m:jc m:val="centerGroup"/>
                    </m:oMathParaPr>
                    <m:oMath xmlns:m="http://schemas.openxmlformats.org/officeDocument/2006/math">
                      <m:r>
                        <a:rPr lang="zh-CN" altLang="en-US" sz="2800" i="1">
                          <a:solidFill>
                            <a:srgbClr val="009999"/>
                          </a:solidFill>
                          <a:latin typeface="Cambria Math" panose="02040503050406030204" pitchFamily="18" charset="0"/>
                        </a:rPr>
                        <m:t>电场</m:t>
                      </m:r>
                      <m:r>
                        <a:rPr lang="zh-CN" altLang="en-US" sz="2800" i="1" smtClean="0">
                          <a:solidFill>
                            <a:srgbClr val="009999"/>
                          </a:solidFill>
                          <a:latin typeface="Cambria Math" panose="02040503050406030204" pitchFamily="18" charset="0"/>
                        </a:rPr>
                        <m:t>能量密度</m:t>
                      </m:r>
                      <m:r>
                        <a:rPr lang="zh-CN" altLang="en-US" sz="2800" i="1">
                          <a:solidFill>
                            <a:srgbClr val="009999"/>
                          </a:solidFill>
                          <a:latin typeface="Cambria Math" panose="02040503050406030204" pitchFamily="18" charset="0"/>
                        </a:rPr>
                        <m:t>：</m:t>
                      </m:r>
                      <m:sSub>
                        <m:sSubPr>
                          <m:ctrlPr>
                            <a:rPr lang="en-US" altLang="zh-CN" sz="2800" i="1" smtClean="0">
                              <a:solidFill>
                                <a:srgbClr val="009999"/>
                              </a:solidFill>
                              <a:latin typeface="Cambria Math" panose="02040503050406030204" pitchFamily="18" charset="0"/>
                            </a:rPr>
                          </m:ctrlPr>
                        </m:sSubPr>
                        <m:e>
                          <m:r>
                            <a:rPr lang="zh-CN" altLang="en-US" sz="2800" b="0" i="1" smtClean="0">
                              <a:solidFill>
                                <a:srgbClr val="009999"/>
                              </a:solidFill>
                              <a:latin typeface="Cambria Math" panose="02040503050406030204" pitchFamily="18" charset="0"/>
                            </a:rPr>
                            <m:t>𝓌</m:t>
                          </m:r>
                        </m:e>
                        <m:sub>
                          <m:r>
                            <a:rPr lang="en-US" altLang="zh-CN" sz="2800" b="0" i="1" smtClean="0">
                              <a:solidFill>
                                <a:srgbClr val="009999"/>
                              </a:solidFill>
                              <a:latin typeface="Cambria Math" panose="02040503050406030204" pitchFamily="18" charset="0"/>
                            </a:rPr>
                            <m:t>𝑒</m:t>
                          </m:r>
                        </m:sub>
                      </m:sSub>
                      <m:r>
                        <a:rPr lang="en-US" altLang="zh-CN" sz="2800" b="0" i="1" smtClean="0">
                          <a:solidFill>
                            <a:srgbClr val="009999"/>
                          </a:solidFill>
                          <a:latin typeface="Cambria Math" panose="02040503050406030204" pitchFamily="18" charset="0"/>
                        </a:rPr>
                        <m:t>=</m:t>
                      </m:r>
                      <m:f>
                        <m:fPr>
                          <m:ctrlPr>
                            <a:rPr kumimoji="1" lang="en-US" altLang="zh-CN" sz="2800" i="1">
                              <a:solidFill>
                                <a:srgbClr val="009999"/>
                              </a:solidFill>
                              <a:latin typeface="Cambria Math" panose="02040503050406030204" pitchFamily="18" charset="0"/>
                              <a:cs typeface="Times New Roman" panose="02020603050405020304" pitchFamily="18" charset="0"/>
                            </a:rPr>
                          </m:ctrlPr>
                        </m:fPr>
                        <m:num>
                          <m:r>
                            <a:rPr kumimoji="1" lang="en-US" altLang="zh-CN" sz="2800" b="0" i="1">
                              <a:solidFill>
                                <a:srgbClr val="009999"/>
                              </a:solidFill>
                              <a:latin typeface="Cambria Math" panose="02040503050406030204" pitchFamily="18" charset="0"/>
                              <a:cs typeface="Times New Roman" panose="02020603050405020304" pitchFamily="18" charset="0"/>
                            </a:rPr>
                            <m:t>1</m:t>
                          </m:r>
                        </m:num>
                        <m:den>
                          <m:r>
                            <a:rPr kumimoji="1" lang="en-US" altLang="zh-CN" sz="2800" b="0" i="1">
                              <a:solidFill>
                                <a:srgbClr val="009999"/>
                              </a:solidFill>
                              <a:latin typeface="Cambria Math" panose="02040503050406030204" pitchFamily="18" charset="0"/>
                              <a:cs typeface="Times New Roman" panose="02020603050405020304" pitchFamily="18" charset="0"/>
                            </a:rPr>
                            <m:t>2</m:t>
                          </m:r>
                        </m:den>
                      </m:f>
                      <m:acc>
                        <m:accPr>
                          <m:chr m:val="⃗"/>
                          <m:ctrlPr>
                            <a:rPr kumimoji="1" lang="en-US" altLang="zh-CN" sz="2800" i="1">
                              <a:solidFill>
                                <a:srgbClr val="009999"/>
                              </a:solidFill>
                              <a:latin typeface="Cambria Math" panose="02040503050406030204" pitchFamily="18" charset="0"/>
                              <a:cs typeface="Times New Roman" panose="02020603050405020304" pitchFamily="18" charset="0"/>
                            </a:rPr>
                          </m:ctrlPr>
                        </m:accPr>
                        <m:e>
                          <m:r>
                            <a:rPr kumimoji="1" lang="en-US" altLang="zh-CN" sz="2800" b="0" i="1">
                              <a:solidFill>
                                <a:srgbClr val="009999"/>
                              </a:solidFill>
                              <a:latin typeface="Cambria Math" panose="02040503050406030204" pitchFamily="18" charset="0"/>
                              <a:cs typeface="Times New Roman" panose="02020603050405020304" pitchFamily="18" charset="0"/>
                            </a:rPr>
                            <m:t>𝐷</m:t>
                          </m:r>
                        </m:e>
                      </m:acc>
                      <m:r>
                        <a:rPr kumimoji="1" lang="zh-CN" altLang="en-US" sz="2800" b="0" i="1">
                          <a:solidFill>
                            <a:srgbClr val="009999"/>
                          </a:solidFill>
                          <a:latin typeface="Cambria Math" panose="02040503050406030204" pitchFamily="18" charset="0"/>
                          <a:cs typeface="Times New Roman" panose="02020603050405020304" pitchFamily="18" charset="0"/>
                        </a:rPr>
                        <m:t>∙</m:t>
                      </m:r>
                      <m:acc>
                        <m:accPr>
                          <m:chr m:val="⃗"/>
                          <m:ctrlPr>
                            <a:rPr kumimoji="1" lang="zh-CN" altLang="en-US" sz="2800" i="1">
                              <a:solidFill>
                                <a:srgbClr val="009999"/>
                              </a:solidFill>
                              <a:latin typeface="Cambria Math" panose="02040503050406030204" pitchFamily="18" charset="0"/>
                              <a:cs typeface="Times New Roman" panose="02020603050405020304" pitchFamily="18" charset="0"/>
                            </a:rPr>
                          </m:ctrlPr>
                        </m:accPr>
                        <m:e>
                          <m:r>
                            <a:rPr kumimoji="1" lang="en-US" altLang="zh-CN" sz="2800" b="0" i="1">
                              <a:solidFill>
                                <a:srgbClr val="009999"/>
                              </a:solidFill>
                              <a:latin typeface="Cambria Math" panose="02040503050406030204" pitchFamily="18" charset="0"/>
                              <a:cs typeface="Times New Roman" panose="02020603050405020304" pitchFamily="18" charset="0"/>
                            </a:rPr>
                            <m:t>𝐸</m:t>
                          </m:r>
                        </m:e>
                      </m:acc>
                    </m:oMath>
                  </m:oMathPara>
                </a14:m>
                <a:endParaRPr lang="en-US" altLang="zh-CN" sz="2800" dirty="0">
                  <a:solidFill>
                    <a:srgbClr val="009999"/>
                  </a:solidFill>
                </a:endParaRPr>
              </a:p>
            </p:txBody>
          </p:sp>
        </mc:Choice>
        <mc:Fallback xmlns="">
          <p:sp>
            <p:nvSpPr>
              <p:cNvPr id="2" name="矩形 1">
                <a:extLst>
                  <a:ext uri="{FF2B5EF4-FFF2-40B4-BE49-F238E27FC236}">
                    <a16:creationId xmlns:a16="http://schemas.microsoft.com/office/drawing/2014/main" id="{8096BC83-25C4-5548-C0B0-AC5BFF94050C}"/>
                  </a:ext>
                </a:extLst>
              </p:cNvPr>
              <p:cNvSpPr>
                <a:spLocks noRot="1" noChangeAspect="1" noMove="1" noResize="1" noEditPoints="1" noAdjustHandles="1" noChangeArrowheads="1" noChangeShapeType="1" noTextEdit="1"/>
              </p:cNvSpPr>
              <p:nvPr/>
            </p:nvSpPr>
            <p:spPr>
              <a:xfrm>
                <a:off x="6528620" y="5117164"/>
                <a:ext cx="4769575" cy="130228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7936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1919536" y="1039664"/>
                <a:ext cx="8352928" cy="2246384"/>
              </a:xfrm>
              <a:prstGeom prst="rect">
                <a:avLst/>
              </a:prstGeom>
            </p:spPr>
            <p:txBody>
              <a:bodyPr wrap="square">
                <a:spAutoFit/>
              </a:bodyPr>
              <a:lstStyle/>
              <a:p>
                <a:pPr fontAlgn="base">
                  <a:lnSpc>
                    <a:spcPct val="150000"/>
                  </a:lnSpc>
                  <a:spcBef>
                    <a:spcPct val="0"/>
                  </a:spcBef>
                  <a:spcAft>
                    <a:spcPct val="0"/>
                  </a:spcAft>
                  <a:defRPr/>
                </a:pPr>
                <a:r>
                  <a:rPr lang="zh-CN" altLang="en-US" sz="2800" dirty="0">
                    <a:solidFill>
                      <a:schemeClr val="tx1"/>
                    </a:solidFill>
                    <a:latin typeface="华文楷体" panose="02010600040101010101" pitchFamily="2" charset="-122"/>
                    <a:ea typeface="华文楷体" panose="02010600040101010101" pitchFamily="2" charset="-122"/>
                  </a:rPr>
                  <a:t>磁场的总能量：</a:t>
                </a:r>
                <a:endParaRPr lang="en-US" altLang="zh-CN" sz="2800" dirty="0">
                  <a:solidFill>
                    <a:schemeClr val="tx1"/>
                  </a:solidFill>
                  <a:latin typeface="华文楷体" panose="02010600040101010101" pitchFamily="2" charset="-122"/>
                  <a:ea typeface="华文楷体" panose="02010600040101010101" pitchFamily="2" charset="-122"/>
                </a:endParaRPr>
              </a:p>
              <a:p>
                <a:pPr fontAlgn="base">
                  <a:lnSpc>
                    <a:spcPct val="150000"/>
                  </a:lnSpc>
                  <a:spcBef>
                    <a:spcPct val="0"/>
                  </a:spcBef>
                  <a:spcAft>
                    <a:spcPct val="0"/>
                  </a:spcAft>
                  <a:defRPr/>
                </a:pPr>
                <a14:m>
                  <m:oMathPara xmlns:m="http://schemas.openxmlformats.org/officeDocument/2006/math">
                    <m:oMathParaPr>
                      <m:jc m:val="centerGroup"/>
                    </m:oMathParaPr>
                    <m:oMath xmlns:m="http://schemas.openxmlformats.org/officeDocument/2006/math">
                      <m:sSub>
                        <m:sSubPr>
                          <m:ctrlPr>
                            <a:rPr lang="en-US" altLang="zh-CN" sz="2800" i="1">
                              <a:solidFill>
                                <a:schemeClr val="tx1"/>
                              </a:solidFill>
                              <a:latin typeface="Cambria Math" panose="02040503050406030204" pitchFamily="18" charset="0"/>
                            </a:rPr>
                          </m:ctrlPr>
                        </m:sSubPr>
                        <m:e>
                          <m:r>
                            <a:rPr lang="en-US" altLang="zh-CN" sz="2800" b="0" i="1">
                              <a:solidFill>
                                <a:schemeClr val="tx1"/>
                              </a:solidFill>
                              <a:latin typeface="Cambria Math" panose="02040503050406030204" pitchFamily="18" charset="0"/>
                            </a:rPr>
                            <m:t>𝑊</m:t>
                          </m:r>
                        </m:e>
                        <m:sub>
                          <m:r>
                            <a:rPr lang="en-US" altLang="zh-CN" sz="2800" b="0" i="1">
                              <a:solidFill>
                                <a:schemeClr val="tx1"/>
                              </a:solidFill>
                              <a:latin typeface="Cambria Math" panose="02040503050406030204" pitchFamily="18" charset="0"/>
                            </a:rPr>
                            <m:t>𝑚</m:t>
                          </m:r>
                        </m:sub>
                      </m:sSub>
                      <m:r>
                        <a:rPr lang="en-US" altLang="zh-CN" sz="2800" b="0" i="1">
                          <a:solidFill>
                            <a:schemeClr val="tx1"/>
                          </a:solidFill>
                          <a:latin typeface="Cambria Math" panose="02040503050406030204" pitchFamily="18" charset="0"/>
                        </a:rPr>
                        <m:t>=</m:t>
                      </m:r>
                      <m:nary>
                        <m:naryPr>
                          <m:chr m:val="∭"/>
                          <m:ctrlPr>
                            <a:rPr lang="en-US" altLang="zh-CN" sz="2800" i="1">
                              <a:solidFill>
                                <a:schemeClr val="tx1"/>
                              </a:solidFill>
                              <a:latin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rPr>
                            <m:t>𝑉</m:t>
                          </m:r>
                        </m:sub>
                        <m:sup/>
                        <m:e>
                          <m:sSub>
                            <m:sSubPr>
                              <m:ctrlPr>
                                <a:rPr lang="en-US" altLang="zh-CN" sz="2800" i="1">
                                  <a:solidFill>
                                    <a:schemeClr val="tx1"/>
                                  </a:solidFill>
                                  <a:latin typeface="Cambria Math" panose="02040503050406030204" pitchFamily="18" charset="0"/>
                                </a:rPr>
                              </m:ctrlPr>
                            </m:sSubPr>
                            <m:e>
                              <m:r>
                                <a:rPr lang="en-US" altLang="zh-CN" sz="2800" b="0" i="1">
                                  <a:solidFill>
                                    <a:schemeClr val="tx1"/>
                                  </a:solidFill>
                                  <a:latin typeface="Cambria Math" panose="02040503050406030204" pitchFamily="18" charset="0"/>
                                </a:rPr>
                                <m:t>𝑤</m:t>
                              </m:r>
                            </m:e>
                            <m:sub>
                              <m:r>
                                <a:rPr lang="en-US" altLang="zh-CN" sz="2800" b="0" i="1">
                                  <a:solidFill>
                                    <a:schemeClr val="tx1"/>
                                  </a:solidFill>
                                  <a:latin typeface="Cambria Math" panose="02040503050406030204" pitchFamily="18" charset="0"/>
                                </a:rPr>
                                <m:t>𝑚</m:t>
                              </m:r>
                            </m:sub>
                          </m:sSub>
                          <m:r>
                            <a:rPr lang="en-US" altLang="zh-CN" sz="2800" b="0" i="1">
                              <a:solidFill>
                                <a:schemeClr val="tx1"/>
                              </a:solidFill>
                              <a:latin typeface="Cambria Math" panose="02040503050406030204" pitchFamily="18" charset="0"/>
                            </a:rPr>
                            <m:t>𝑑𝑉</m:t>
                          </m:r>
                        </m:e>
                      </m:nary>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1</m:t>
                          </m:r>
                        </m:num>
                        <m:den>
                          <m:r>
                            <a:rPr lang="en-US" altLang="zh-CN" sz="2800" b="0" i="1">
                              <a:solidFill>
                                <a:schemeClr val="tx1"/>
                              </a:solidFill>
                              <a:latin typeface="Cambria Math" panose="02040503050406030204" pitchFamily="18" charset="0"/>
                            </a:rPr>
                            <m:t>2</m:t>
                          </m:r>
                        </m:den>
                      </m:f>
                      <m:nary>
                        <m:naryPr>
                          <m:chr m:val="∭"/>
                          <m:ctrlPr>
                            <a:rPr lang="en-US" altLang="zh-CN" sz="2800" i="1">
                              <a:solidFill>
                                <a:schemeClr val="tx1"/>
                              </a:solidFill>
                              <a:latin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rPr>
                            <m:t>𝑉</m:t>
                          </m:r>
                        </m:sub>
                        <m:sup/>
                        <m:e>
                          <m:acc>
                            <m:accPr>
                              <m:chr m:val="⃗"/>
                              <m:ctrlPr>
                                <a:rPr lang="en-US" altLang="zh-CN" sz="2800" i="1">
                                  <a:solidFill>
                                    <a:schemeClr val="tx1"/>
                                  </a:solidFill>
                                  <a:latin typeface="Cambria Math" panose="02040503050406030204" pitchFamily="18" charset="0"/>
                                  <a:ea typeface="Cambria Math" panose="02040503050406030204" pitchFamily="18" charset="0"/>
                                </a:rPr>
                              </m:ctrlPr>
                            </m:accPr>
                            <m:e>
                              <m:r>
                                <a:rPr lang="en-US" altLang="zh-CN" sz="2800" b="0" i="1">
                                  <a:solidFill>
                                    <a:schemeClr val="tx1"/>
                                  </a:solidFill>
                                  <a:latin typeface="Cambria Math" panose="02040503050406030204" pitchFamily="18" charset="0"/>
                                  <a:ea typeface="黑体" panose="02010609060101010101" pitchFamily="49" charset="-122"/>
                                </a:rPr>
                                <m:t>𝐵</m:t>
                              </m:r>
                            </m:e>
                          </m:acc>
                          <m:r>
                            <a:rPr lang="en-US" altLang="zh-CN" sz="2800" b="0" i="1">
                              <a:solidFill>
                                <a:schemeClr val="tx1"/>
                              </a:solidFill>
                              <a:latin typeface="Cambria Math" panose="02040503050406030204" pitchFamily="18" charset="0"/>
                              <a:ea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ea typeface="黑体" panose="02010609060101010101" pitchFamily="49" charset="-122"/>
                                </a:rPr>
                                <m:t>𝐻</m:t>
                              </m:r>
                            </m:e>
                          </m:acc>
                          <m:r>
                            <a:rPr lang="en-US" altLang="zh-CN" sz="2800" b="0" i="1">
                              <a:solidFill>
                                <a:schemeClr val="tx1"/>
                              </a:solidFill>
                              <a:latin typeface="Cambria Math" panose="02040503050406030204" pitchFamily="18" charset="0"/>
                            </a:rPr>
                            <m:t>𝑑𝑉</m:t>
                          </m:r>
                        </m:e>
                      </m:nary>
                    </m:oMath>
                  </m:oMathPara>
                </a14:m>
                <a:endParaRPr lang="zh-CN" altLang="en-US"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1919536" y="1039664"/>
                <a:ext cx="8352928" cy="2246384"/>
              </a:xfrm>
              <a:prstGeom prst="rect">
                <a:avLst/>
              </a:prstGeom>
              <a:blipFill>
                <a:blip r:embed="rId2"/>
                <a:stretch>
                  <a:fillRect l="-15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775520" y="3429000"/>
                <a:ext cx="8640960" cy="2839560"/>
              </a:xfrm>
              <a:prstGeom prst="rect">
                <a:avLst/>
              </a:prstGeom>
            </p:spPr>
            <p:txBody>
              <a:bodyPr wrap="square">
                <a:spAutoFit/>
              </a:bodyPr>
              <a:lstStyle/>
              <a:p>
                <a:pPr fontAlgn="base">
                  <a:lnSpc>
                    <a:spcPct val="15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altLang="zh-CN" sz="3200" i="1" smtClean="0">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1</m:t>
                          </m:r>
                        </m:num>
                        <m:den>
                          <m:r>
                            <a:rPr lang="en-US" altLang="zh-CN" sz="3200" b="0" i="1">
                              <a:solidFill>
                                <a:schemeClr val="tx1"/>
                              </a:solidFill>
                              <a:latin typeface="Cambria Math" panose="02040503050406030204" pitchFamily="18" charset="0"/>
                            </a:rPr>
                            <m:t>2</m:t>
                          </m:r>
                        </m:den>
                      </m:f>
                      <m:r>
                        <a:rPr lang="en-US" altLang="zh-CN" sz="3200" b="0" i="1">
                          <a:solidFill>
                            <a:schemeClr val="tx1"/>
                          </a:solidFill>
                          <a:latin typeface="Cambria Math" panose="02040503050406030204" pitchFamily="18" charset="0"/>
                        </a:rPr>
                        <m:t>𝐿</m:t>
                      </m:r>
                      <m:sSubSup>
                        <m:sSubSupPr>
                          <m:ctrlPr>
                            <a:rPr lang="en-US" altLang="zh-CN" sz="3200" i="1">
                              <a:solidFill>
                                <a:schemeClr val="tx1"/>
                              </a:solidFill>
                              <a:latin typeface="Cambria Math" panose="02040503050406030204" pitchFamily="18" charset="0"/>
                            </a:rPr>
                          </m:ctrlPr>
                        </m:sSubSupPr>
                        <m:e>
                          <m:r>
                            <a:rPr lang="en-US" altLang="zh-CN" sz="3200" b="0" i="1">
                              <a:solidFill>
                                <a:schemeClr val="tx1"/>
                              </a:solidFill>
                              <a:latin typeface="Cambria Math" panose="02040503050406030204" pitchFamily="18" charset="0"/>
                            </a:rPr>
                            <m:t>𝐼</m:t>
                          </m:r>
                        </m:e>
                        <m:sub>
                          <m:r>
                            <a:rPr lang="en-US" altLang="zh-CN" sz="3200" b="0" i="1">
                              <a:solidFill>
                                <a:schemeClr val="tx1"/>
                              </a:solidFill>
                              <a:latin typeface="Cambria Math" panose="02040503050406030204" pitchFamily="18" charset="0"/>
                            </a:rPr>
                            <m:t>0</m:t>
                          </m:r>
                        </m:sub>
                        <m:sup>
                          <m:r>
                            <a:rPr lang="en-US" altLang="zh-CN" sz="3200" b="0" i="1">
                              <a:solidFill>
                                <a:schemeClr val="tx1"/>
                              </a:solidFill>
                              <a:latin typeface="Cambria Math" panose="02040503050406030204" pitchFamily="18" charset="0"/>
                            </a:rPr>
                            <m:t>2</m:t>
                          </m:r>
                        </m:sup>
                      </m:sSubSup>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1</m:t>
                          </m:r>
                        </m:num>
                        <m:den>
                          <m:r>
                            <a:rPr lang="en-US" altLang="zh-CN" sz="2800" b="0" i="1">
                              <a:solidFill>
                                <a:schemeClr val="tx1"/>
                              </a:solidFill>
                              <a:latin typeface="Cambria Math" panose="02040503050406030204" pitchFamily="18" charset="0"/>
                            </a:rPr>
                            <m:t>2</m:t>
                          </m:r>
                        </m:den>
                      </m:f>
                      <m:nary>
                        <m:naryPr>
                          <m:chr m:val="∭"/>
                          <m:ctrlPr>
                            <a:rPr lang="en-US" altLang="zh-CN" sz="2800" i="1">
                              <a:solidFill>
                                <a:schemeClr val="tx1"/>
                              </a:solidFill>
                              <a:latin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rPr>
                            <m:t>𝑉</m:t>
                          </m:r>
                        </m:sub>
                        <m:sup/>
                        <m:e>
                          <m:acc>
                            <m:accPr>
                              <m:chr m:val="⃗"/>
                              <m:ctrlPr>
                                <a:rPr lang="en-US" altLang="zh-CN" sz="2800" i="1">
                                  <a:solidFill>
                                    <a:schemeClr val="tx1"/>
                                  </a:solidFill>
                                  <a:latin typeface="Cambria Math" panose="02040503050406030204" pitchFamily="18" charset="0"/>
                                  <a:ea typeface="Cambria Math" panose="02040503050406030204" pitchFamily="18" charset="0"/>
                                </a:rPr>
                              </m:ctrlPr>
                            </m:accPr>
                            <m:e>
                              <m:r>
                                <a:rPr lang="en-US" altLang="zh-CN" sz="2800" b="0" i="1">
                                  <a:solidFill>
                                    <a:schemeClr val="tx1"/>
                                  </a:solidFill>
                                  <a:latin typeface="Cambria Math" panose="02040503050406030204" pitchFamily="18" charset="0"/>
                                  <a:ea typeface="黑体" panose="02010609060101010101" pitchFamily="49" charset="-122"/>
                                </a:rPr>
                                <m:t>𝐵</m:t>
                              </m:r>
                            </m:e>
                          </m:acc>
                          <m:r>
                            <a:rPr lang="en-US" altLang="zh-CN" sz="2800" b="0" i="1">
                              <a:solidFill>
                                <a:schemeClr val="tx1"/>
                              </a:solidFill>
                              <a:latin typeface="Cambria Math" panose="02040503050406030204" pitchFamily="18" charset="0"/>
                              <a:ea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ea typeface="黑体" panose="02010609060101010101" pitchFamily="49" charset="-122"/>
                                </a:rPr>
                                <m:t>𝐻</m:t>
                              </m:r>
                            </m:e>
                          </m:acc>
                          <m:r>
                            <a:rPr lang="en-US" altLang="zh-CN" sz="2800" b="0" i="1">
                              <a:solidFill>
                                <a:schemeClr val="tx1"/>
                              </a:solidFill>
                              <a:latin typeface="Cambria Math" panose="02040503050406030204" pitchFamily="18" charset="0"/>
                            </a:rPr>
                            <m:t>𝑑𝑉</m:t>
                          </m:r>
                        </m:e>
                      </m:nary>
                    </m:oMath>
                    <m:oMath xmlns:m="http://schemas.openxmlformats.org/officeDocument/2006/math">
                      <m:r>
                        <m:rPr>
                          <m:nor/>
                        </m:rPr>
                        <a:rPr lang="zh-CN" altLang="en-US" sz="2800" dirty="0">
                          <a:latin typeface="华文楷体" panose="02010600040101010101" pitchFamily="2" charset="-122"/>
                          <a:ea typeface="华文楷体" panose="02010600040101010101" pitchFamily="2" charset="-122"/>
                        </a:rPr>
                        <m:t>可先计算磁能，然后求出自感</m:t>
                      </m:r>
                    </m:oMath>
                  </m:oMathPara>
                </a14:m>
                <a:endParaRPr lang="en-US" altLang="zh-CN" sz="2800" dirty="0">
                  <a:latin typeface="华文楷体" panose="02010600040101010101" pitchFamily="2" charset="-122"/>
                  <a:ea typeface="华文楷体" panose="02010600040101010101" pitchFamily="2" charset="-122"/>
                </a:endParaRPr>
              </a:p>
              <a:p>
                <a:pPr fontAlgn="base">
                  <a:lnSpc>
                    <a:spcPct val="150000"/>
                  </a:lnSpc>
                  <a:spcBef>
                    <a:spcPct val="0"/>
                  </a:spcBef>
                  <a:spcAft>
                    <a:spcPct val="0"/>
                  </a:spcAft>
                  <a:defRPr/>
                </a:pPr>
                <a:endParaRPr lang="en-US" altLang="zh-CN" sz="2800" dirty="0">
                  <a:solidFill>
                    <a:schemeClr val="tx1"/>
                  </a:solidFill>
                  <a:latin typeface="华文楷体" panose="02010600040101010101" pitchFamily="2" charset="-122"/>
                  <a:ea typeface="宋体" panose="02010600030101010101"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1775520" y="3429000"/>
                <a:ext cx="8640960" cy="2839560"/>
              </a:xfrm>
              <a:prstGeom prst="rect">
                <a:avLst/>
              </a:prstGeom>
              <a:blipFill>
                <a:blip r:embed="rId3"/>
                <a:stretch>
                  <a:fillRect/>
                </a:stretch>
              </a:blipFill>
            </p:spPr>
            <p:txBody>
              <a:bodyPr/>
              <a:lstStyle/>
              <a:p>
                <a:r>
                  <a:rPr lang="zh-CN" altLang="en-US">
                    <a:noFill/>
                  </a:rPr>
                  <a:t> </a:t>
                </a:r>
              </a:p>
            </p:txBody>
          </p:sp>
        </mc:Fallback>
      </mc:AlternateContent>
      <p:sp>
        <p:nvSpPr>
          <p:cNvPr id="5" name="Text Box 9">
            <a:extLst>
              <a:ext uri="{FF2B5EF4-FFF2-40B4-BE49-F238E27FC236}">
                <a16:creationId xmlns:a16="http://schemas.microsoft.com/office/drawing/2014/main" id="{0910D4B1-1540-4051-91E2-2DD69ED48110}"/>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磁场的能量</a:t>
            </a:r>
          </a:p>
        </p:txBody>
      </p:sp>
    </p:spTree>
    <p:extLst>
      <p:ext uri="{BB962C8B-B14F-4D97-AF65-F5344CB8AC3E}">
        <p14:creationId xmlns:p14="http://schemas.microsoft.com/office/powerpoint/2010/main" val="225396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D36DB43-3ED7-47D4-AD2A-9D6D1F14BBD4}"/>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如果所示电路，达到平衡时，电路磁场的能量：</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A674B97-2521-482A-B4FD-7B913BFCDD03}"/>
                  </a:ext>
                </a:extLst>
              </p:cNvPr>
              <p:cNvSpPr txBox="1"/>
              <p:nvPr>
                <p:custDataLst>
                  <p:tags r:id="rId3"/>
                </p:custDataLst>
              </p:nvPr>
            </p:nvSpPr>
            <p:spPr>
              <a:xfrm>
                <a:off x="2438400" y="2786063"/>
                <a:ext cx="30607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1</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e>
                        <m:sup>
                          <m:r>
                            <a:rPr lang="en-US" sz="2600" b="0" i="1">
                              <a:solidFill>
                                <a:schemeClr val="tx1"/>
                              </a:solidFill>
                              <a:latin typeface="Cambria Math" panose="02040503050406030204" pitchFamily="18" charset="0"/>
                            </a:rPr>
                            <m:t>2</m:t>
                          </m:r>
                        </m:sup>
                      </m:sSup>
                      <m:r>
                        <a:rPr lang="en-US" sz="2600" b="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2</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e>
                        <m:sup>
                          <m:r>
                            <a:rPr lang="en-US" sz="2600" b="0" i="1">
                              <a:solidFill>
                                <a:schemeClr val="tx1"/>
                              </a:solidFill>
                              <a:latin typeface="Cambria Math" panose="02040503050406030204" pitchFamily="18" charset="0"/>
                            </a:rPr>
                            <m:t>2</m:t>
                          </m:r>
                        </m:sup>
                      </m:sSup>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DA674B97-2521-482A-B4FD-7B913BFCDD03}"/>
                  </a:ext>
                </a:extLst>
              </p:cNvPr>
              <p:cNvSpPr txBox="1">
                <a:spLocks noRot="1" noChangeAspect="1" noMove="1" noResize="1" noEditPoints="1" noAdjustHandles="1" noChangeArrowheads="1" noChangeShapeType="1" noTextEdit="1"/>
              </p:cNvSpPr>
              <p:nvPr>
                <p:custDataLst>
                  <p:tags r:id="rId19"/>
                </p:custDataLst>
              </p:nvPr>
            </p:nvSpPr>
            <p:spPr>
              <a:xfrm>
                <a:off x="2438400" y="2786063"/>
                <a:ext cx="3060700" cy="642938"/>
              </a:xfrm>
              <a:prstGeom prst="rect">
                <a:avLst/>
              </a:prstGeom>
              <a:blipFill>
                <a:blip r:embed="rId20"/>
                <a:stretch>
                  <a:fillRect t="-943"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93846D2-200F-4A99-892B-3ACD05E40875}"/>
                  </a:ext>
                </a:extLst>
              </p:cNvPr>
              <p:cNvSpPr txBox="1"/>
              <p:nvPr>
                <p:custDataLst>
                  <p:tags r:id="rId4"/>
                </p:custDataLst>
              </p:nvPr>
            </p:nvSpPr>
            <p:spPr>
              <a:xfrm>
                <a:off x="2438400" y="3643313"/>
                <a:ext cx="30988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solidFill>
                          <a:latin typeface="Cambria Math" panose="02040503050406030204" pitchFamily="18" charset="0"/>
                        </a:rPr>
                        <m:t>&gt;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1</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e>
                        <m:sup>
                          <m:r>
                            <a:rPr lang="en-US" sz="2600" b="0" i="1">
                              <a:solidFill>
                                <a:schemeClr val="tx1"/>
                              </a:solidFill>
                              <a:latin typeface="Cambria Math" panose="02040503050406030204" pitchFamily="18" charset="0"/>
                            </a:rPr>
                            <m:t>2</m:t>
                          </m:r>
                        </m:sup>
                      </m:sSup>
                      <m:r>
                        <a:rPr lang="en-US" sz="2600" b="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2</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e>
                        <m:sup>
                          <m:r>
                            <a:rPr lang="en-US" sz="2600" b="0" i="1">
                              <a:solidFill>
                                <a:schemeClr val="tx1"/>
                              </a:solidFill>
                              <a:latin typeface="Cambria Math" panose="02040503050406030204" pitchFamily="18" charset="0"/>
                            </a:rPr>
                            <m:t>2</m:t>
                          </m:r>
                        </m:sup>
                      </m:sSup>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493846D2-200F-4A99-892B-3ACD05E40875}"/>
                  </a:ext>
                </a:extLst>
              </p:cNvPr>
              <p:cNvSpPr txBox="1">
                <a:spLocks noRot="1" noChangeAspect="1" noMove="1" noResize="1" noEditPoints="1" noAdjustHandles="1" noChangeArrowheads="1" noChangeShapeType="1" noTextEdit="1"/>
              </p:cNvSpPr>
              <p:nvPr>
                <p:custDataLst>
                  <p:tags r:id="rId21"/>
                </p:custDataLst>
              </p:nvPr>
            </p:nvSpPr>
            <p:spPr>
              <a:xfrm>
                <a:off x="2438400" y="3643313"/>
                <a:ext cx="3098800" cy="642938"/>
              </a:xfrm>
              <a:prstGeom prst="rect">
                <a:avLst/>
              </a:prstGeom>
              <a:blipFill>
                <a:blip r:embed="rId22"/>
                <a:stretch>
                  <a:fillRect t="-952" b="-7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5B86AA8-080B-485B-B034-7666A3705B34}"/>
                  </a:ext>
                </a:extLst>
              </p:cNvPr>
              <p:cNvSpPr txBox="1"/>
              <p:nvPr>
                <p:custDataLst>
                  <p:tags r:id="rId5"/>
                </p:custDataLst>
              </p:nvPr>
            </p:nvSpPr>
            <p:spPr>
              <a:xfrm>
                <a:off x="2438400" y="4500563"/>
                <a:ext cx="30607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600" b="0" i="1" smtClean="0">
                          <a:solidFill>
                            <a:schemeClr val="tx1"/>
                          </a:solidFill>
                          <a:latin typeface="Cambria Math" panose="02040503050406030204" pitchFamily="18" charset="0"/>
                        </a:rPr>
                        <m:t>&lt;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1</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e>
                        <m:sup>
                          <m:r>
                            <a:rPr lang="en-US" sz="2600" b="0" i="1">
                              <a:solidFill>
                                <a:schemeClr val="tx1"/>
                              </a:solidFill>
                              <a:latin typeface="Cambria Math" panose="02040503050406030204" pitchFamily="18" charset="0"/>
                            </a:rPr>
                            <m:t>2</m:t>
                          </m:r>
                        </m:sup>
                      </m:sSup>
                      <m:r>
                        <a:rPr lang="en-US" sz="2600" b="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2</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e>
                        <m:sup>
                          <m:r>
                            <a:rPr lang="en-US" sz="2600" b="0" i="1">
                              <a:solidFill>
                                <a:schemeClr val="tx1"/>
                              </a:solidFill>
                              <a:latin typeface="Cambria Math" panose="02040503050406030204" pitchFamily="18" charset="0"/>
                            </a:rPr>
                            <m:t>2</m:t>
                          </m:r>
                        </m:sup>
                      </m:sSup>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35B86AA8-080B-485B-B034-7666A3705B34}"/>
                  </a:ext>
                </a:extLst>
              </p:cNvPr>
              <p:cNvSpPr txBox="1">
                <a:spLocks noRot="1" noChangeAspect="1" noMove="1" noResize="1" noEditPoints="1" noAdjustHandles="1" noChangeArrowheads="1" noChangeShapeType="1" noTextEdit="1"/>
              </p:cNvSpPr>
              <p:nvPr>
                <p:custDataLst>
                  <p:tags r:id="rId23"/>
                </p:custDataLst>
              </p:nvPr>
            </p:nvSpPr>
            <p:spPr>
              <a:xfrm>
                <a:off x="2438400" y="4500563"/>
                <a:ext cx="3060700" cy="642938"/>
              </a:xfrm>
              <a:prstGeom prst="rect">
                <a:avLst/>
              </a:prstGeom>
              <a:blipFill>
                <a:blip r:embed="rId24"/>
                <a:stretch>
                  <a:fillRect t="-943" b="-7547"/>
                </a:stretch>
              </a:blipFill>
            </p:spPr>
            <p:txBody>
              <a:bodyPr/>
              <a:lstStyle/>
              <a:p>
                <a:r>
                  <a:rPr lang="en-US">
                    <a:noFill/>
                  </a:rPr>
                  <a:t> </a:t>
                </a:r>
              </a:p>
            </p:txBody>
          </p:sp>
        </mc:Fallback>
      </mc:AlternateContent>
      <p:sp>
        <p:nvSpPr>
          <p:cNvPr id="8" name="文本框 7">
            <a:extLst>
              <a:ext uri="{FF2B5EF4-FFF2-40B4-BE49-F238E27FC236}">
                <a16:creationId xmlns:a16="http://schemas.microsoft.com/office/drawing/2014/main" id="{A3AE0954-1BEA-4B3D-A85C-06FAAEF180CA}"/>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不确定</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FB7CBA6B-D3B2-49B3-85F0-925F2A332F6F}"/>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C4DF0CB7-7E89-49D0-921D-E1C944D5FA1D}"/>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A94E1269-8C03-4A29-A2A2-CAAF16BB62A1}"/>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DA32860E-9056-4E51-80B2-9D1B303F3041}"/>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EA47A8DE-84DB-4647-84F2-9E810DA7DF61}"/>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20" name="图片 19">
            <a:extLst>
              <a:ext uri="{FF2B5EF4-FFF2-40B4-BE49-F238E27FC236}">
                <a16:creationId xmlns:a16="http://schemas.microsoft.com/office/drawing/2014/main" id="{4832DE93-AB94-493B-A8D4-B2557A0866D4}"/>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7137400" y="2525379"/>
            <a:ext cx="4927600" cy="2774363"/>
          </a:xfrm>
          <a:prstGeom prst="rect">
            <a:avLst/>
          </a:prstGeom>
        </p:spPr>
      </p:pic>
      <p:grpSp>
        <p:nvGrpSpPr>
          <p:cNvPr id="18" name="组合 17">
            <a:extLst>
              <a:ext uri="{FF2B5EF4-FFF2-40B4-BE49-F238E27FC236}">
                <a16:creationId xmlns:a16="http://schemas.microsoft.com/office/drawing/2014/main" id="{7C3397C5-EBAB-4D5B-B046-D04DC6B046EB}"/>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2E026869-D623-4951-ABB5-261C76756789}"/>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82B90648-CCA7-4BB8-A5CC-3502FC8DC21A}"/>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6EA9F96F-9483-479C-9FF9-654DE221108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6CB69060-D549-4DFC-A461-04D0F9DB3D90}"/>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BCA495DD-922D-4C0B-AB52-4E56FEAB8C90}"/>
              </a:ext>
            </a:extLst>
          </p:cNvPr>
          <p:cNvPicPr>
            <a:picLocks/>
          </p:cNvPicPr>
          <p:nvPr>
            <p:custDataLst>
              <p:tags r:id="rId13"/>
            </p:custDataLst>
          </p:nvPr>
        </p:nvPicPr>
        <p:blipFill>
          <a:blip r:embed="rId2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100779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83" name="Text Box 31"/>
          <p:cNvSpPr txBox="1">
            <a:spLocks noChangeArrowheads="1"/>
          </p:cNvSpPr>
          <p:nvPr/>
        </p:nvSpPr>
        <p:spPr bwMode="auto">
          <a:xfrm>
            <a:off x="127000" y="278285"/>
            <a:ext cx="12149667" cy="545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fontAlgn="base" hangingPunct="1">
              <a:lnSpc>
                <a:spcPct val="120000"/>
              </a:lnSpc>
              <a:spcBef>
                <a:spcPct val="50000"/>
              </a:spcBef>
              <a:spcAft>
                <a:spcPct val="0"/>
              </a:spcAft>
              <a:defRPr/>
            </a:pPr>
            <a:r>
              <a:rPr kumimoji="1" lang="zh-CN" altLang="en-US" sz="2600" b="0" i="0" u="none" dirty="0">
                <a:solidFill>
                  <a:srgbClr val="000000"/>
                </a:solidFill>
                <a:latin typeface="+mn-lt"/>
                <a:ea typeface="华文楷体" panose="02010600040101010101" pitchFamily="2" charset="-122"/>
              </a:rPr>
              <a:t>例：分析两个相互邻近的电流回路的磁场能量，这两个回路的电流分别是</a:t>
            </a:r>
            <a:r>
              <a:rPr kumimoji="1" lang="en-US" altLang="zh-CN" sz="2600" b="0" i="0" u="none" dirty="0">
                <a:solidFill>
                  <a:srgbClr val="000000"/>
                </a:solidFill>
                <a:latin typeface="+mn-lt"/>
                <a:ea typeface="华文楷体" panose="02010600040101010101" pitchFamily="2" charset="-122"/>
              </a:rPr>
              <a:t>I</a:t>
            </a:r>
            <a:r>
              <a:rPr kumimoji="1" lang="en-US" altLang="zh-CN" sz="2600" b="0" i="0" u="none" baseline="-25000" dirty="0">
                <a:solidFill>
                  <a:srgbClr val="000000"/>
                </a:solidFill>
                <a:latin typeface="+mn-lt"/>
                <a:ea typeface="华文楷体" panose="02010600040101010101" pitchFamily="2" charset="-122"/>
              </a:rPr>
              <a:t>1</a:t>
            </a:r>
            <a:r>
              <a:rPr kumimoji="1" lang="zh-CN" altLang="en-US" sz="2600" b="0" i="0" u="none" dirty="0">
                <a:solidFill>
                  <a:srgbClr val="000000"/>
                </a:solidFill>
                <a:latin typeface="+mn-lt"/>
                <a:ea typeface="华文楷体" panose="02010600040101010101" pitchFamily="2" charset="-122"/>
              </a:rPr>
              <a:t>和</a:t>
            </a:r>
            <a:r>
              <a:rPr kumimoji="1" lang="en-US" altLang="zh-CN" sz="2600" b="0" i="0" u="none" dirty="0">
                <a:solidFill>
                  <a:srgbClr val="000000"/>
                </a:solidFill>
                <a:latin typeface="+mn-lt"/>
                <a:ea typeface="华文楷体" panose="02010600040101010101" pitchFamily="2" charset="-122"/>
              </a:rPr>
              <a:t>I</a:t>
            </a:r>
            <a:r>
              <a:rPr kumimoji="1" lang="en-US" altLang="zh-CN" sz="2600" b="0" i="0" u="none" baseline="-25000" dirty="0">
                <a:solidFill>
                  <a:srgbClr val="000000"/>
                </a:solidFill>
                <a:latin typeface="+mn-lt"/>
                <a:ea typeface="华文楷体" panose="02010600040101010101" pitchFamily="2" charset="-122"/>
              </a:rPr>
              <a:t>2</a:t>
            </a:r>
            <a:endParaRPr kumimoji="1" lang="en-US" altLang="zh-CN" sz="2600" b="0" i="0" u="none" dirty="0">
              <a:solidFill>
                <a:srgbClr val="000000"/>
              </a:solidFill>
              <a:latin typeface="+mn-lt"/>
              <a:ea typeface="华文楷体" panose="02010600040101010101" pitchFamily="2"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8708" y="912479"/>
            <a:ext cx="4927600" cy="2774363"/>
          </a:xfrm>
          <a:prstGeom prst="rect">
            <a:avLst/>
          </a:prstGeom>
        </p:spPr>
      </p:pic>
      <p:sp>
        <p:nvSpPr>
          <p:cNvPr id="2" name="文本框 1">
            <a:extLst>
              <a:ext uri="{FF2B5EF4-FFF2-40B4-BE49-F238E27FC236}">
                <a16:creationId xmlns:a16="http://schemas.microsoft.com/office/drawing/2014/main" id="{FECEC6B4-9C80-4054-BC3F-E3BF67244E0A}"/>
              </a:ext>
            </a:extLst>
          </p:cNvPr>
          <p:cNvSpPr txBox="1"/>
          <p:nvPr/>
        </p:nvSpPr>
        <p:spPr>
          <a:xfrm>
            <a:off x="719667" y="1136023"/>
            <a:ext cx="4964821" cy="492443"/>
          </a:xfrm>
          <a:prstGeom prst="rect">
            <a:avLst/>
          </a:prstGeom>
          <a:noFill/>
        </p:spPr>
        <p:txBody>
          <a:bodyPr wrap="none" rtlCol="0">
            <a:spAutoFit/>
          </a:bodyPr>
          <a:lstStyle/>
          <a:p>
            <a:r>
              <a:rPr lang="zh-CN" altLang="en-US" sz="2600" dirty="0"/>
              <a:t>设想</a:t>
            </a:r>
            <a:r>
              <a:rPr kumimoji="1" lang="en-US" altLang="zh-CN" sz="2600" b="0" i="0" u="none" dirty="0">
                <a:solidFill>
                  <a:srgbClr val="000000"/>
                </a:solidFill>
                <a:ea typeface="华文楷体" panose="02010600040101010101" pitchFamily="2" charset="-122"/>
              </a:rPr>
              <a:t>I</a:t>
            </a:r>
            <a:r>
              <a:rPr kumimoji="1" lang="en-US" altLang="zh-CN" sz="2600" b="0" i="0" u="none" baseline="-25000" dirty="0">
                <a:solidFill>
                  <a:srgbClr val="000000"/>
                </a:solidFill>
                <a:ea typeface="华文楷体" panose="02010600040101010101" pitchFamily="2" charset="-122"/>
              </a:rPr>
              <a:t>1</a:t>
            </a:r>
            <a:r>
              <a:rPr kumimoji="1" lang="zh-CN" altLang="en-US" sz="2600" b="0" i="0" u="none" dirty="0">
                <a:solidFill>
                  <a:srgbClr val="000000"/>
                </a:solidFill>
                <a:ea typeface="华文楷体" panose="02010600040101010101" pitchFamily="2" charset="-122"/>
              </a:rPr>
              <a:t>和</a:t>
            </a:r>
            <a:r>
              <a:rPr kumimoji="1" lang="en-US" altLang="zh-CN" sz="2600" b="0" i="0" u="none" dirty="0">
                <a:solidFill>
                  <a:srgbClr val="000000"/>
                </a:solidFill>
                <a:ea typeface="华文楷体" panose="02010600040101010101" pitchFamily="2" charset="-122"/>
              </a:rPr>
              <a:t>I</a:t>
            </a:r>
            <a:r>
              <a:rPr kumimoji="1" lang="en-US" altLang="zh-CN" sz="2600" b="0" i="0" u="none" baseline="-25000" dirty="0">
                <a:solidFill>
                  <a:srgbClr val="000000"/>
                </a:solidFill>
                <a:ea typeface="华文楷体" panose="02010600040101010101" pitchFamily="2" charset="-122"/>
              </a:rPr>
              <a:t>2</a:t>
            </a:r>
            <a:r>
              <a:rPr lang="zh-CN" altLang="en-US" sz="2600" dirty="0"/>
              <a:t>是按下述步骤建立的：</a:t>
            </a:r>
            <a:endParaRPr lang="en-US" sz="26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DA9C25C-4CDC-4C35-8731-6635E8CF8B2F}"/>
                  </a:ext>
                </a:extLst>
              </p:cNvPr>
              <p:cNvSpPr txBox="1"/>
              <p:nvPr/>
            </p:nvSpPr>
            <p:spPr>
              <a:xfrm>
                <a:off x="145692" y="1750970"/>
                <a:ext cx="6993466" cy="892552"/>
              </a:xfrm>
              <a:prstGeom prst="rect">
                <a:avLst/>
              </a:prstGeom>
              <a:noFill/>
            </p:spPr>
            <p:txBody>
              <a:bodyPr wrap="square" rtlCol="0">
                <a:spAutoFit/>
              </a:bodyPr>
              <a:lstStyle/>
              <a:p>
                <a:r>
                  <a:rPr lang="zh-CN" altLang="en-US" sz="2600" dirty="0"/>
                  <a:t>（</a:t>
                </a:r>
                <a:r>
                  <a:rPr lang="en-US" altLang="zh-CN" sz="2600" dirty="0"/>
                  <a:t>1</a:t>
                </a:r>
                <a:r>
                  <a:rPr lang="zh-CN" altLang="en-US" sz="2600" dirty="0"/>
                  <a:t>）</a:t>
                </a:r>
                <a:r>
                  <a:rPr lang="zh-CN" altLang="en-US" sz="2600" dirty="0">
                    <a:ea typeface="华文楷体" panose="02010600040101010101" pitchFamily="2" charset="-122"/>
                  </a:rPr>
                  <a:t>在</a:t>
                </a:r>
                <a14:m>
                  <m:oMath xmlns:m="http://schemas.openxmlformats.org/officeDocument/2006/math">
                    <m:r>
                      <m:rPr>
                        <m:sty m:val="p"/>
                      </m:rPr>
                      <a:rPr lang="en-US" altLang="zh-CN" sz="2600" b="0" i="1" dirty="0">
                        <a:solidFill>
                          <a:schemeClr val="tx1"/>
                        </a:solidFill>
                        <a:latin typeface="Cambria Math" panose="02040503050406030204" pitchFamily="18" charset="0"/>
                        <a:ea typeface="黑体" panose="02010609060101010101" pitchFamily="49" charset="-122"/>
                      </a:rPr>
                      <m:t>K</m:t>
                    </m:r>
                    <m:r>
                      <a:rPr lang="en-US" altLang="zh-CN" sz="2600" b="0" i="1" baseline="-25000" dirty="0">
                        <a:solidFill>
                          <a:schemeClr val="tx1"/>
                        </a:solidFill>
                        <a:latin typeface="Cambria Math" panose="02040503050406030204" pitchFamily="18" charset="0"/>
                        <a:ea typeface="黑体" panose="02010609060101010101" pitchFamily="49" charset="-122"/>
                      </a:rPr>
                      <m:t>1</m:t>
                    </m:r>
                  </m:oMath>
                </a14:m>
                <a:r>
                  <a:rPr lang="zh-CN" altLang="en-US" sz="2600" dirty="0">
                    <a:ea typeface="华文楷体" panose="02010600040101010101" pitchFamily="2" charset="-122"/>
                  </a:rPr>
                  <a:t>闭合，</a:t>
                </a:r>
                <a14:m>
                  <m:oMath xmlns:m="http://schemas.openxmlformats.org/officeDocument/2006/math">
                    <m:r>
                      <m:rPr>
                        <m:sty m:val="p"/>
                      </m:rPr>
                      <a:rPr lang="en-US" altLang="zh-CN" sz="2600" i="1" dirty="0">
                        <a:latin typeface="Cambria Math" panose="02040503050406030204" pitchFamily="18" charset="0"/>
                        <a:ea typeface="黑体" panose="02010609060101010101" pitchFamily="49" charset="-122"/>
                      </a:rPr>
                      <m:t>K</m:t>
                    </m:r>
                    <m:r>
                      <a:rPr lang="en-US" altLang="zh-CN" sz="2600" b="0" i="1" baseline="-25000" dirty="0" smtClean="0">
                        <a:latin typeface="Cambria Math" panose="02040503050406030204" pitchFamily="18" charset="0"/>
                        <a:ea typeface="黑体" panose="02010609060101010101" pitchFamily="49" charset="-122"/>
                      </a:rPr>
                      <m:t>2</m:t>
                    </m:r>
                  </m:oMath>
                </a14:m>
                <a:r>
                  <a:rPr lang="zh-CN" altLang="en-US" sz="2600" dirty="0"/>
                  <a:t>保持断开时，由于</a:t>
                </a:r>
                <a:r>
                  <a:rPr lang="en-US" altLang="zh-CN" sz="2600" dirty="0"/>
                  <a:t>L</a:t>
                </a:r>
                <a:r>
                  <a:rPr lang="en-US" altLang="zh-CN" sz="2600" baseline="-25000" dirty="0"/>
                  <a:t>1</a:t>
                </a:r>
                <a:r>
                  <a:rPr lang="zh-CN" altLang="en-US" sz="2600" dirty="0"/>
                  <a:t>的存在，电源做功储存到磁场中的能量为：</a:t>
                </a:r>
                <a:endParaRPr lang="en-US" sz="2600" dirty="0"/>
              </a:p>
            </p:txBody>
          </p:sp>
        </mc:Choice>
        <mc:Fallback xmlns="">
          <p:sp>
            <p:nvSpPr>
              <p:cNvPr id="4" name="文本框 3">
                <a:extLst>
                  <a:ext uri="{FF2B5EF4-FFF2-40B4-BE49-F238E27FC236}">
                    <a16:creationId xmlns:a16="http://schemas.microsoft.com/office/drawing/2014/main" id="{EDA9C25C-4CDC-4C35-8731-6635E8CF8B2F}"/>
                  </a:ext>
                </a:extLst>
              </p:cNvPr>
              <p:cNvSpPr txBox="1">
                <a:spLocks noRot="1" noChangeAspect="1" noMove="1" noResize="1" noEditPoints="1" noAdjustHandles="1" noChangeArrowheads="1" noChangeShapeType="1" noTextEdit="1"/>
              </p:cNvSpPr>
              <p:nvPr/>
            </p:nvSpPr>
            <p:spPr>
              <a:xfrm>
                <a:off x="145692" y="1750970"/>
                <a:ext cx="6993466" cy="892552"/>
              </a:xfrm>
              <a:prstGeom prst="rect">
                <a:avLst/>
              </a:prstGeom>
              <a:blipFill>
                <a:blip r:embed="rId3"/>
                <a:stretch>
                  <a:fillRect l="-1569" t="-7483" r="-6277" b="-163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77232A5-F647-48EC-BC4F-F54F63310432}"/>
                  </a:ext>
                </a:extLst>
              </p:cNvPr>
              <p:cNvSpPr txBox="1"/>
              <p:nvPr/>
            </p:nvSpPr>
            <p:spPr>
              <a:xfrm>
                <a:off x="145692" y="3781100"/>
                <a:ext cx="7281334" cy="892552"/>
              </a:xfrm>
              <a:prstGeom prst="rect">
                <a:avLst/>
              </a:prstGeom>
              <a:noFill/>
            </p:spPr>
            <p:txBody>
              <a:bodyPr wrap="square" rtlCol="0">
                <a:spAutoFit/>
              </a:bodyPr>
              <a:lstStyle/>
              <a:p>
                <a:r>
                  <a:rPr lang="zh-CN" altLang="en-US" sz="2600" dirty="0"/>
                  <a:t>（</a:t>
                </a:r>
                <a:r>
                  <a:rPr lang="en-US" altLang="zh-CN" sz="2600" dirty="0"/>
                  <a:t>2</a:t>
                </a:r>
                <a:r>
                  <a:rPr lang="zh-CN" altLang="en-US" sz="2600" dirty="0"/>
                  <a:t>）</a:t>
                </a:r>
                <a14:m>
                  <m:oMath xmlns:m="http://schemas.openxmlformats.org/officeDocument/2006/math">
                    <m:r>
                      <m:rPr>
                        <m:sty m:val="p"/>
                      </m:rPr>
                      <a:rPr lang="en-US" altLang="zh-CN" sz="2600" b="0" i="1" dirty="0">
                        <a:solidFill>
                          <a:schemeClr val="tx1"/>
                        </a:solidFill>
                        <a:latin typeface="Cambria Math" panose="02040503050406030204" pitchFamily="18" charset="0"/>
                        <a:ea typeface="黑体" panose="02010609060101010101" pitchFamily="49" charset="-122"/>
                      </a:rPr>
                      <m:t>K</m:t>
                    </m:r>
                    <m:r>
                      <a:rPr lang="en-US" altLang="zh-CN" sz="2600" b="0" i="1" baseline="-25000" dirty="0" smtClean="0">
                        <a:solidFill>
                          <a:schemeClr val="tx1"/>
                        </a:solidFill>
                        <a:latin typeface="Cambria Math" panose="02040503050406030204" pitchFamily="18" charset="0"/>
                        <a:ea typeface="黑体" panose="02010609060101010101" pitchFamily="49" charset="-122"/>
                      </a:rPr>
                      <m:t>2</m:t>
                    </m:r>
                  </m:oMath>
                </a14:m>
                <a:r>
                  <a:rPr lang="zh-CN" altLang="en-US" sz="2600" dirty="0">
                    <a:ea typeface="华文楷体" panose="02010600040101010101" pitchFamily="2" charset="-122"/>
                  </a:rPr>
                  <a:t>闭合，调节</a:t>
                </a:r>
                <a14:m>
                  <m:oMath xmlns:m="http://schemas.openxmlformats.org/officeDocument/2006/math">
                    <m:r>
                      <m:rPr>
                        <m:sty m:val="p"/>
                      </m:rPr>
                      <a:rPr lang="en-US" altLang="zh-CN" sz="2600" i="1" dirty="0">
                        <a:latin typeface="Cambria Math" panose="02040503050406030204" pitchFamily="18" charset="0"/>
                        <a:ea typeface="黑体" panose="02010609060101010101" pitchFamily="49" charset="-122"/>
                      </a:rPr>
                      <m:t>R</m:t>
                    </m:r>
                    <m:r>
                      <a:rPr lang="en-US" altLang="zh-CN" sz="2600" b="0" i="1" baseline="-25000" dirty="0" smtClean="0">
                        <a:latin typeface="Cambria Math" panose="02040503050406030204" pitchFamily="18" charset="0"/>
                        <a:ea typeface="黑体" panose="02010609060101010101" pitchFamily="49" charset="-122"/>
                      </a:rPr>
                      <m:t>1</m:t>
                    </m:r>
                  </m:oMath>
                </a14:m>
                <a:r>
                  <a:rPr lang="zh-CN" altLang="en-US" sz="2600" dirty="0"/>
                  <a:t>使</a:t>
                </a:r>
                <a:r>
                  <a:rPr kumimoji="1" lang="en-US" altLang="zh-CN" sz="2600" dirty="0">
                    <a:solidFill>
                      <a:srgbClr val="000000"/>
                    </a:solidFill>
                    <a:ea typeface="华文楷体" panose="02010600040101010101" pitchFamily="2" charset="-122"/>
                  </a:rPr>
                  <a:t>I</a:t>
                </a:r>
                <a:r>
                  <a:rPr kumimoji="1" lang="en-US" altLang="zh-CN" sz="2600" baseline="-25000" dirty="0">
                    <a:solidFill>
                      <a:srgbClr val="000000"/>
                    </a:solidFill>
                    <a:ea typeface="华文楷体" panose="02010600040101010101" pitchFamily="2" charset="-122"/>
                  </a:rPr>
                  <a:t>1</a:t>
                </a:r>
                <a:r>
                  <a:rPr lang="zh-CN" altLang="en-US" sz="2600" dirty="0"/>
                  <a:t>保持不变，由于</a:t>
                </a:r>
                <a:r>
                  <a:rPr lang="en-US" altLang="zh-CN" sz="2600" dirty="0"/>
                  <a:t>L</a:t>
                </a:r>
                <a:r>
                  <a:rPr lang="en-US" altLang="zh-CN" sz="2600" baseline="-25000" dirty="0"/>
                  <a:t>2</a:t>
                </a:r>
                <a:r>
                  <a:rPr lang="zh-CN" altLang="en-US" sz="2600" dirty="0"/>
                  <a:t>的存在，电源做功储存到磁场中的能量为：</a:t>
                </a:r>
                <a:endParaRPr lang="en-US" sz="2600" dirty="0"/>
              </a:p>
            </p:txBody>
          </p:sp>
        </mc:Choice>
        <mc:Fallback xmlns="">
          <p:sp>
            <p:nvSpPr>
              <p:cNvPr id="10" name="文本框 9">
                <a:extLst>
                  <a:ext uri="{FF2B5EF4-FFF2-40B4-BE49-F238E27FC236}">
                    <a16:creationId xmlns:a16="http://schemas.microsoft.com/office/drawing/2014/main" id="{C77232A5-F647-48EC-BC4F-F54F63310432}"/>
                  </a:ext>
                </a:extLst>
              </p:cNvPr>
              <p:cNvSpPr txBox="1">
                <a:spLocks noRot="1" noChangeAspect="1" noMove="1" noResize="1" noEditPoints="1" noAdjustHandles="1" noChangeArrowheads="1" noChangeShapeType="1" noTextEdit="1"/>
              </p:cNvSpPr>
              <p:nvPr/>
            </p:nvSpPr>
            <p:spPr>
              <a:xfrm>
                <a:off x="145692" y="3781100"/>
                <a:ext cx="7281334" cy="892552"/>
              </a:xfrm>
              <a:prstGeom prst="rect">
                <a:avLst/>
              </a:prstGeom>
              <a:blipFill>
                <a:blip r:embed="rId4"/>
                <a:stretch>
                  <a:fillRect l="-1508" t="-7483" b="-16327"/>
                </a:stretch>
              </a:blipFill>
            </p:spPr>
            <p:txBody>
              <a:bodyPr/>
              <a:lstStyle/>
              <a:p>
                <a:r>
                  <a:rPr lang="en-US">
                    <a:noFill/>
                  </a:rPr>
                  <a:t> </a:t>
                </a:r>
              </a:p>
            </p:txBody>
          </p:sp>
        </mc:Fallback>
      </mc:AlternateContent>
      <p:sp>
        <p:nvSpPr>
          <p:cNvPr id="12" name="Text Box 17">
            <a:extLst>
              <a:ext uri="{FF2B5EF4-FFF2-40B4-BE49-F238E27FC236}">
                <a16:creationId xmlns:a16="http://schemas.microsoft.com/office/drawing/2014/main" id="{D01E0E2E-5B2B-4673-9B18-08B0D855A2BA}"/>
              </a:ext>
            </a:extLst>
          </p:cNvPr>
          <p:cNvSpPr txBox="1">
            <a:spLocks noChangeArrowheads="1"/>
          </p:cNvSpPr>
          <p:nvPr/>
        </p:nvSpPr>
        <p:spPr bwMode="auto">
          <a:xfrm>
            <a:off x="494094" y="5953797"/>
            <a:ext cx="85693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600" dirty="0"/>
              <a:t>在此过程中</a:t>
            </a:r>
            <a:r>
              <a:rPr lang="en-US" altLang="zh-CN" sz="2600" dirty="0"/>
              <a:t>,</a:t>
            </a:r>
            <a:r>
              <a:rPr lang="zh-CN" altLang="en-US" sz="2600" dirty="0"/>
              <a:t>回路</a:t>
            </a:r>
            <a:r>
              <a:rPr lang="en-US" altLang="zh-CN" sz="2600" dirty="0"/>
              <a:t>1</a:t>
            </a:r>
            <a:r>
              <a:rPr lang="zh-CN" altLang="en-US" sz="2600" dirty="0"/>
              <a:t>中将产生互感电动势</a:t>
            </a:r>
            <a:r>
              <a:rPr lang="en-US" altLang="zh-CN" sz="2600" dirty="0"/>
              <a:t>:</a:t>
            </a:r>
          </a:p>
        </p:txBody>
      </p:sp>
      <mc:AlternateContent xmlns:mc="http://schemas.openxmlformats.org/markup-compatibility/2006" xmlns:a14="http://schemas.microsoft.com/office/drawing/2010/main">
        <mc:Choice Requires="a14">
          <p:sp>
            <p:nvSpPr>
              <p:cNvPr id="13" name="Object 18">
                <a:extLst>
                  <a:ext uri="{FF2B5EF4-FFF2-40B4-BE49-F238E27FC236}">
                    <a16:creationId xmlns:a16="http://schemas.microsoft.com/office/drawing/2014/main" id="{930A833E-2ABC-4D00-818F-8F49FAC22D00}"/>
                  </a:ext>
                </a:extLst>
              </p:cNvPr>
              <p:cNvSpPr txBox="1">
                <a:spLocks/>
              </p:cNvSpPr>
              <p:nvPr/>
            </p:nvSpPr>
            <p:spPr bwMode="auto">
              <a:xfrm>
                <a:off x="6644599" y="5778500"/>
                <a:ext cx="2808287" cy="1079500"/>
              </a:xfrm>
              <a:prstGeom prst="rect">
                <a:avLst/>
              </a:prstGeom>
              <a:noFill/>
              <a:ln>
                <a:noFill/>
              </a:ln>
              <a:effectLst/>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en-US" sz="2600" i="1" smtClean="0">
                              <a:latin typeface="Cambria Math" panose="02040503050406030204" pitchFamily="18" charset="0"/>
                            </a:rPr>
                          </m:ctrlPr>
                        </m:sSubPr>
                        <m:e>
                          <m:r>
                            <a:rPr lang="en-US" sz="2600" b="0" i="1">
                              <a:latin typeface="Cambria Math" panose="02040503050406030204" pitchFamily="18" charset="0"/>
                            </a:rPr>
                            <m:t>𝜀</m:t>
                          </m:r>
                        </m:e>
                        <m:sub>
                          <m:r>
                            <a:rPr lang="en-US" sz="2600" b="0" i="1">
                              <a:latin typeface="Cambria Math" panose="02040503050406030204" pitchFamily="18" charset="0"/>
                            </a:rPr>
                            <m:t>12</m:t>
                          </m:r>
                        </m:sub>
                      </m:sSub>
                      <m:r>
                        <a:rPr lang="en-US" sz="2600" b="0" i="1">
                          <a:latin typeface="Cambria Math" panose="02040503050406030204" pitchFamily="18" charset="0"/>
                        </a:rPr>
                        <m:t>=−</m:t>
                      </m:r>
                      <m:r>
                        <a:rPr lang="en-US" sz="2600" b="0" i="1">
                          <a:latin typeface="Cambria Math" panose="02040503050406030204" pitchFamily="18" charset="0"/>
                        </a:rPr>
                        <m:t>𝑀</m:t>
                      </m:r>
                      <m:f>
                        <m:fPr>
                          <m:ctrlPr>
                            <a:rPr lang="en-US" sz="2600" i="1">
                              <a:latin typeface="Cambria Math" panose="02040503050406030204" pitchFamily="18" charset="0"/>
                            </a:rPr>
                          </m:ctrlPr>
                        </m:fPr>
                        <m:num>
                          <m:r>
                            <a:rPr lang="en-US" sz="2600" b="0" i="1">
                              <a:latin typeface="Cambria Math" panose="02040503050406030204" pitchFamily="18" charset="0"/>
                            </a:rPr>
                            <m:t>𝑑</m:t>
                          </m:r>
                          <m:sSub>
                            <m:sSubPr>
                              <m:ctrlPr>
                                <a:rPr lang="en-US" sz="2600" i="1">
                                  <a:latin typeface="Cambria Math" panose="02040503050406030204" pitchFamily="18" charset="0"/>
                                </a:rPr>
                              </m:ctrlPr>
                            </m:sSubPr>
                            <m:e>
                              <m:r>
                                <a:rPr lang="en-US" sz="2600" b="0" i="1">
                                  <a:latin typeface="Cambria Math" panose="02040503050406030204" pitchFamily="18" charset="0"/>
                                </a:rPr>
                                <m:t>𝑖</m:t>
                              </m:r>
                            </m:e>
                            <m:sub>
                              <m:r>
                                <a:rPr lang="en-US" sz="2600" b="0" i="1">
                                  <a:latin typeface="Cambria Math" panose="02040503050406030204" pitchFamily="18" charset="0"/>
                                </a:rPr>
                                <m:t>2</m:t>
                              </m:r>
                            </m:sub>
                          </m:sSub>
                        </m:num>
                        <m:den>
                          <m:r>
                            <a:rPr lang="en-US" sz="2600" b="0" i="1">
                              <a:latin typeface="Cambria Math" panose="02040503050406030204" pitchFamily="18" charset="0"/>
                            </a:rPr>
                            <m:t>𝑑𝑡</m:t>
                          </m:r>
                        </m:den>
                      </m:f>
                    </m:oMath>
                  </m:oMathPara>
                </a14:m>
                <a:endParaRPr lang="en-US" sz="2600" dirty="0"/>
              </a:p>
            </p:txBody>
          </p:sp>
        </mc:Choice>
        <mc:Fallback xmlns="">
          <p:sp>
            <p:nvSpPr>
              <p:cNvPr id="13" name="Object 18">
                <a:extLst>
                  <a:ext uri="{FF2B5EF4-FFF2-40B4-BE49-F238E27FC236}">
                    <a16:creationId xmlns:a16="http://schemas.microsoft.com/office/drawing/2014/main" id="{930A833E-2ABC-4D00-818F-8F49FAC22D00}"/>
                  </a:ext>
                </a:extLst>
              </p:cNvPr>
              <p:cNvSpPr txBox="1">
                <a:spLocks noRot="1" noChangeAspect="1" noMove="1" noResize="1" noEditPoints="1" noAdjustHandles="1" noChangeArrowheads="1" noChangeShapeType="1" noTextEdit="1"/>
              </p:cNvSpPr>
              <p:nvPr/>
            </p:nvSpPr>
            <p:spPr bwMode="auto">
              <a:xfrm>
                <a:off x="6644599" y="5778500"/>
                <a:ext cx="2808287" cy="107950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28">
                <a:extLst>
                  <a:ext uri="{FF2B5EF4-FFF2-40B4-BE49-F238E27FC236}">
                    <a16:creationId xmlns:a16="http://schemas.microsoft.com/office/drawing/2014/main" id="{37D29910-25D7-425B-83FA-7B8356DB71E1}"/>
                  </a:ext>
                </a:extLst>
              </p:cNvPr>
              <p:cNvSpPr txBox="1">
                <a:spLocks/>
              </p:cNvSpPr>
              <p:nvPr/>
            </p:nvSpPr>
            <p:spPr bwMode="auto">
              <a:xfrm>
                <a:off x="2553931" y="2825291"/>
                <a:ext cx="2519362" cy="1079500"/>
              </a:xfrm>
              <a:prstGeom prst="rect">
                <a:avLst/>
              </a:prstGeom>
              <a:noFill/>
              <a:ln>
                <a:noFill/>
              </a:ln>
              <a:effectLst/>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en-US" sz="2600" i="1" smtClean="0">
                              <a:latin typeface="Cambria Math" panose="02040503050406030204" pitchFamily="18" charset="0"/>
                            </a:rPr>
                          </m:ctrlPr>
                        </m:sSubPr>
                        <m:e>
                          <m:r>
                            <a:rPr lang="en-US" sz="2600" i="1">
                              <a:latin typeface="Cambria Math" panose="02040503050406030204" pitchFamily="18" charset="0"/>
                            </a:rPr>
                            <m:t>𝑊</m:t>
                          </m:r>
                        </m:e>
                        <m:sub>
                          <m:r>
                            <a:rPr lang="en-US" sz="2600" i="1">
                              <a:latin typeface="Cambria Math" panose="02040503050406030204" pitchFamily="18" charset="0"/>
                            </a:rPr>
                            <m:t>1</m:t>
                          </m:r>
                        </m:sub>
                      </m:sSub>
                      <m:r>
                        <a:rPr lang="en-US" sz="2600" i="1">
                          <a:latin typeface="Cambria Math" panose="02040503050406030204" pitchFamily="18" charset="0"/>
                        </a:rPr>
                        <m:t>=</m:t>
                      </m:r>
                      <m:f>
                        <m:fPr>
                          <m:ctrlPr>
                            <a:rPr lang="en-US" sz="2600" i="1">
                              <a:latin typeface="Cambria Math" panose="02040503050406030204" pitchFamily="18" charset="0"/>
                            </a:rPr>
                          </m:ctrlPr>
                        </m:fPr>
                        <m:num>
                          <m:r>
                            <a:rPr lang="en-US" sz="2600" i="1">
                              <a:latin typeface="Cambria Math" panose="02040503050406030204" pitchFamily="18" charset="0"/>
                            </a:rPr>
                            <m:t>1</m:t>
                          </m:r>
                        </m:num>
                        <m:den>
                          <m:r>
                            <a:rPr lang="en-US" sz="2600" i="1">
                              <a:latin typeface="Cambria Math" panose="02040503050406030204" pitchFamily="18" charset="0"/>
                            </a:rPr>
                            <m:t>2</m:t>
                          </m:r>
                        </m:den>
                      </m:f>
                      <m:sSub>
                        <m:sSubPr>
                          <m:ctrlPr>
                            <a:rPr lang="en-US" sz="2600" i="1">
                              <a:latin typeface="Cambria Math" panose="02040503050406030204" pitchFamily="18" charset="0"/>
                            </a:rPr>
                          </m:ctrlPr>
                        </m:sSubPr>
                        <m:e>
                          <m:r>
                            <a:rPr lang="en-US" sz="2600" i="1">
                              <a:latin typeface="Cambria Math" panose="02040503050406030204" pitchFamily="18" charset="0"/>
                            </a:rPr>
                            <m:t>𝐿</m:t>
                          </m:r>
                        </m:e>
                        <m:sub>
                          <m:r>
                            <a:rPr lang="en-US" sz="2600" i="1">
                              <a:latin typeface="Cambria Math" panose="02040503050406030204" pitchFamily="18" charset="0"/>
                            </a:rPr>
                            <m:t>1</m:t>
                          </m:r>
                        </m:sub>
                      </m:sSub>
                      <m:sSup>
                        <m:sSupPr>
                          <m:ctrlPr>
                            <a:rPr lang="en-US" sz="2600" i="1">
                              <a:latin typeface="Cambria Math" panose="02040503050406030204" pitchFamily="18" charset="0"/>
                            </a:rPr>
                          </m:ctrlPr>
                        </m:sSupPr>
                        <m:e>
                          <m:sSub>
                            <m:sSubPr>
                              <m:ctrlPr>
                                <a:rPr lang="en-US" sz="2600" i="1">
                                  <a:latin typeface="Cambria Math" panose="02040503050406030204" pitchFamily="18" charset="0"/>
                                </a:rPr>
                              </m:ctrlPr>
                            </m:sSubPr>
                            <m:e>
                              <m:r>
                                <a:rPr lang="en-US" sz="2600" i="1">
                                  <a:latin typeface="Cambria Math" panose="02040503050406030204" pitchFamily="18" charset="0"/>
                                </a:rPr>
                                <m:t>𝐼</m:t>
                              </m:r>
                            </m:e>
                            <m:sub>
                              <m:r>
                                <a:rPr lang="en-US" sz="2600" i="1">
                                  <a:latin typeface="Cambria Math" panose="02040503050406030204" pitchFamily="18" charset="0"/>
                                </a:rPr>
                                <m:t>1</m:t>
                              </m:r>
                            </m:sub>
                          </m:sSub>
                        </m:e>
                        <m:sup>
                          <m:r>
                            <a:rPr lang="en-US" sz="2600" i="1">
                              <a:latin typeface="Cambria Math" panose="02040503050406030204" pitchFamily="18" charset="0"/>
                            </a:rPr>
                            <m:t>2</m:t>
                          </m:r>
                        </m:sup>
                      </m:sSup>
                    </m:oMath>
                  </m:oMathPara>
                </a14:m>
                <a:endParaRPr lang="en-US" sz="2600" dirty="0"/>
              </a:p>
            </p:txBody>
          </p:sp>
        </mc:Choice>
        <mc:Fallback xmlns="">
          <p:sp>
            <p:nvSpPr>
              <p:cNvPr id="14" name="Object 28">
                <a:extLst>
                  <a:ext uri="{FF2B5EF4-FFF2-40B4-BE49-F238E27FC236}">
                    <a16:creationId xmlns:a16="http://schemas.microsoft.com/office/drawing/2014/main" id="{37D29910-25D7-425B-83FA-7B8356DB71E1}"/>
                  </a:ext>
                </a:extLst>
              </p:cNvPr>
              <p:cNvSpPr txBox="1">
                <a:spLocks noRot="1" noChangeAspect="1" noMove="1" noResize="1" noEditPoints="1" noAdjustHandles="1" noChangeArrowheads="1" noChangeShapeType="1" noTextEdit="1"/>
              </p:cNvSpPr>
              <p:nvPr/>
            </p:nvSpPr>
            <p:spPr bwMode="auto">
              <a:xfrm>
                <a:off x="2553931" y="2825291"/>
                <a:ext cx="2519362" cy="107950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bject 13">
                <a:extLst>
                  <a:ext uri="{FF2B5EF4-FFF2-40B4-BE49-F238E27FC236}">
                    <a16:creationId xmlns:a16="http://schemas.microsoft.com/office/drawing/2014/main" id="{05107C40-E19C-4A18-92B1-EFA4720DB0F9}"/>
                  </a:ext>
                </a:extLst>
              </p:cNvPr>
              <p:cNvSpPr txBox="1">
                <a:spLocks noGrp="1"/>
              </p:cNvSpPr>
              <p:nvPr>
                <p:ph sz="half" idx="1"/>
              </p:nvPr>
            </p:nvSpPr>
            <p:spPr bwMode="auto">
              <a:xfrm>
                <a:off x="2553931" y="4709768"/>
                <a:ext cx="3132138" cy="1152525"/>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𝑊</m:t>
                          </m:r>
                        </m:e>
                        <m:sub>
                          <m:r>
                            <a:rPr lang="en-US" b="0" i="1">
                              <a:solidFill>
                                <a:schemeClr val="tx1"/>
                              </a:solidFill>
                              <a:latin typeface="Cambria Math" panose="02040503050406030204" pitchFamily="18" charset="0"/>
                            </a:rPr>
                            <m:t>2</m:t>
                          </m:r>
                        </m:sub>
                      </m:sSub>
                      <m:r>
                        <a:rPr lang="en-US" b="0"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b="0" i="1">
                              <a:solidFill>
                                <a:schemeClr val="tx1"/>
                              </a:solidFill>
                              <a:latin typeface="Cambria Math" panose="02040503050406030204" pitchFamily="18" charset="0"/>
                            </a:rPr>
                            <m:t>1</m:t>
                          </m:r>
                        </m:num>
                        <m:den>
                          <m:r>
                            <a:rPr lang="en-US" b="0" i="1">
                              <a:solidFill>
                                <a:schemeClr val="tx1"/>
                              </a:solidFill>
                              <a:latin typeface="Cambria Math" panose="02040503050406030204" pitchFamily="18" charset="0"/>
                            </a:rPr>
                            <m:t>2</m:t>
                          </m:r>
                        </m:den>
                      </m:f>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𝐿</m:t>
                          </m:r>
                        </m:e>
                        <m:sub>
                          <m:r>
                            <a:rPr lang="en-US" b="0" i="1">
                              <a:solidFill>
                                <a:schemeClr val="tx1"/>
                              </a:solidFill>
                              <a:latin typeface="Cambria Math" panose="02040503050406030204" pitchFamily="18" charset="0"/>
                            </a:rPr>
                            <m:t>2</m:t>
                          </m:r>
                        </m:sub>
                      </m:sSub>
                      <m:sSup>
                        <m:sSupPr>
                          <m:ctrlPr>
                            <a:rPr lang="en-US" i="1">
                              <a:solidFill>
                                <a:schemeClr val="tx1"/>
                              </a:solidFill>
                              <a:latin typeface="Cambria Math" panose="02040503050406030204" pitchFamily="18" charset="0"/>
                            </a:rPr>
                          </m:ctrlPr>
                        </m:sSupPr>
                        <m:e>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𝐼</m:t>
                              </m:r>
                            </m:e>
                            <m:sub>
                              <m:r>
                                <a:rPr lang="en-US" b="0" i="1">
                                  <a:solidFill>
                                    <a:schemeClr val="tx1"/>
                                  </a:solidFill>
                                  <a:latin typeface="Cambria Math" panose="02040503050406030204" pitchFamily="18" charset="0"/>
                                </a:rPr>
                                <m:t>2</m:t>
                              </m:r>
                            </m:sub>
                          </m:sSub>
                        </m:e>
                        <m:sup>
                          <m:r>
                            <a:rPr lang="en-US" b="0" i="1">
                              <a:solidFill>
                                <a:schemeClr val="tx1"/>
                              </a:solidFill>
                              <a:latin typeface="Cambria Math" panose="02040503050406030204" pitchFamily="18" charset="0"/>
                            </a:rPr>
                            <m:t>2</m:t>
                          </m:r>
                        </m:sup>
                      </m:sSup>
                    </m:oMath>
                  </m:oMathPara>
                </a14:m>
                <a:endParaRPr lang="en-US" dirty="0">
                  <a:solidFill>
                    <a:schemeClr val="tx1"/>
                  </a:solidFill>
                </a:endParaRPr>
              </a:p>
            </p:txBody>
          </p:sp>
        </mc:Choice>
        <mc:Fallback xmlns="">
          <p:sp>
            <p:nvSpPr>
              <p:cNvPr id="15" name="Object 13">
                <a:extLst>
                  <a:ext uri="{FF2B5EF4-FFF2-40B4-BE49-F238E27FC236}">
                    <a16:creationId xmlns:a16="http://schemas.microsoft.com/office/drawing/2014/main" id="{05107C40-E19C-4A18-92B1-EFA4720DB0F9}"/>
                  </a:ext>
                </a:extLst>
              </p:cNvPr>
              <p:cNvSpPr txBox="1">
                <a:spLocks noRot="1" noChangeAspect="1" noMove="1" noResize="1" noEditPoints="1" noAdjustHandles="1" noChangeArrowheads="1" noChangeShapeType="1" noTextEdit="1"/>
              </p:cNvSpPr>
              <p:nvPr>
                <p:ph sz="half" idx="1"/>
              </p:nvPr>
            </p:nvSpPr>
            <p:spPr bwMode="auto">
              <a:xfrm>
                <a:off x="2553931" y="4709768"/>
                <a:ext cx="3132138" cy="1152525"/>
              </a:xfrm>
              <a:prstGeom prst="rect">
                <a:avLst/>
              </a:prstGeom>
              <a:blipFill>
                <a:blip r:embed="rId7"/>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402462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0" grpId="0"/>
      <p:bldP spid="12" grpId="0"/>
      <p:bldP spid="13" grpId="0"/>
      <p:bldP spid="14" grpId="0"/>
      <p:bldP spid="1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83" name="Text Box 31"/>
          <p:cNvSpPr txBox="1">
            <a:spLocks noChangeArrowheads="1"/>
          </p:cNvSpPr>
          <p:nvPr/>
        </p:nvSpPr>
        <p:spPr bwMode="auto">
          <a:xfrm>
            <a:off x="127000" y="278285"/>
            <a:ext cx="12149667" cy="545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eaLnBrk="1" fontAlgn="base" hangingPunct="1">
              <a:lnSpc>
                <a:spcPct val="120000"/>
              </a:lnSpc>
              <a:spcBef>
                <a:spcPct val="50000"/>
              </a:spcBef>
              <a:spcAft>
                <a:spcPct val="0"/>
              </a:spcAft>
              <a:defRPr/>
            </a:pPr>
            <a:r>
              <a:rPr kumimoji="1" lang="zh-CN" altLang="en-US" sz="2600" b="0" i="0" u="none" dirty="0">
                <a:solidFill>
                  <a:srgbClr val="000000"/>
                </a:solidFill>
                <a:latin typeface="+mn-lt"/>
                <a:ea typeface="华文楷体" panose="02010600040101010101" pitchFamily="2" charset="-122"/>
              </a:rPr>
              <a:t>例：分析两个相互邻近的电流回路的磁场能量，这两个回路的电流分别是</a:t>
            </a:r>
            <a:r>
              <a:rPr kumimoji="1" lang="en-US" altLang="zh-CN" sz="2600" b="0" i="0" u="none" dirty="0">
                <a:solidFill>
                  <a:srgbClr val="000000"/>
                </a:solidFill>
                <a:latin typeface="+mn-lt"/>
                <a:ea typeface="华文楷体" panose="02010600040101010101" pitchFamily="2" charset="-122"/>
              </a:rPr>
              <a:t>I</a:t>
            </a:r>
            <a:r>
              <a:rPr kumimoji="1" lang="en-US" altLang="zh-CN" sz="2600" b="0" i="0" u="none" baseline="-25000" dirty="0">
                <a:solidFill>
                  <a:srgbClr val="000000"/>
                </a:solidFill>
                <a:latin typeface="+mn-lt"/>
                <a:ea typeface="华文楷体" panose="02010600040101010101" pitchFamily="2" charset="-122"/>
              </a:rPr>
              <a:t>1</a:t>
            </a:r>
            <a:r>
              <a:rPr kumimoji="1" lang="zh-CN" altLang="en-US" sz="2600" b="0" i="0" u="none" dirty="0">
                <a:solidFill>
                  <a:srgbClr val="000000"/>
                </a:solidFill>
                <a:latin typeface="+mn-lt"/>
                <a:ea typeface="华文楷体" panose="02010600040101010101" pitchFamily="2" charset="-122"/>
              </a:rPr>
              <a:t>和</a:t>
            </a:r>
            <a:r>
              <a:rPr kumimoji="1" lang="en-US" altLang="zh-CN" sz="2600" b="0" i="0" u="none" dirty="0">
                <a:solidFill>
                  <a:srgbClr val="000000"/>
                </a:solidFill>
                <a:latin typeface="+mn-lt"/>
                <a:ea typeface="华文楷体" panose="02010600040101010101" pitchFamily="2" charset="-122"/>
              </a:rPr>
              <a:t>I</a:t>
            </a:r>
            <a:r>
              <a:rPr kumimoji="1" lang="en-US" altLang="zh-CN" sz="2600" b="0" i="0" u="none" baseline="-25000" dirty="0">
                <a:solidFill>
                  <a:srgbClr val="000000"/>
                </a:solidFill>
                <a:latin typeface="+mn-lt"/>
                <a:ea typeface="华文楷体" panose="02010600040101010101" pitchFamily="2" charset="-122"/>
              </a:rPr>
              <a:t>2</a:t>
            </a:r>
            <a:endParaRPr kumimoji="1" lang="en-US" altLang="zh-CN" sz="2600" b="0" i="0" u="none" dirty="0">
              <a:solidFill>
                <a:srgbClr val="000000"/>
              </a:solidFill>
              <a:latin typeface="+mn-lt"/>
              <a:ea typeface="华文楷体" panose="02010600040101010101" pitchFamily="2"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8708" y="912479"/>
            <a:ext cx="4927600" cy="2774363"/>
          </a:xfrm>
          <a:prstGeom prst="rect">
            <a:avLst/>
          </a:prstGeom>
        </p:spPr>
      </p:pic>
      <p:sp>
        <p:nvSpPr>
          <p:cNvPr id="17" name="Text Box 17">
            <a:extLst>
              <a:ext uri="{FF2B5EF4-FFF2-40B4-BE49-F238E27FC236}">
                <a16:creationId xmlns:a16="http://schemas.microsoft.com/office/drawing/2014/main" id="{991305FD-4DB1-4A92-A611-C556B3B3B994}"/>
              </a:ext>
            </a:extLst>
          </p:cNvPr>
          <p:cNvSpPr txBox="1">
            <a:spLocks noChangeArrowheads="1"/>
          </p:cNvSpPr>
          <p:nvPr/>
        </p:nvSpPr>
        <p:spPr bwMode="auto">
          <a:xfrm>
            <a:off x="469412" y="1219204"/>
            <a:ext cx="85693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600" dirty="0"/>
              <a:t>在此过程中</a:t>
            </a:r>
            <a:r>
              <a:rPr lang="en-US" altLang="zh-CN" sz="2600" dirty="0"/>
              <a:t>,</a:t>
            </a:r>
            <a:r>
              <a:rPr lang="zh-CN" altLang="en-US" sz="2600" dirty="0"/>
              <a:t>回路</a:t>
            </a:r>
            <a:r>
              <a:rPr lang="en-US" altLang="zh-CN" sz="2600" dirty="0"/>
              <a:t>1</a:t>
            </a:r>
            <a:r>
              <a:rPr lang="zh-CN" altLang="en-US" sz="2600" dirty="0"/>
              <a:t>中将产生互感电动势</a:t>
            </a:r>
            <a:r>
              <a:rPr lang="en-US" altLang="zh-CN" sz="2600" dirty="0"/>
              <a:t>:</a:t>
            </a:r>
          </a:p>
        </p:txBody>
      </p:sp>
      <mc:AlternateContent xmlns:mc="http://schemas.openxmlformats.org/markup-compatibility/2006" xmlns:a14="http://schemas.microsoft.com/office/drawing/2010/main">
        <mc:Choice Requires="a14">
          <p:sp>
            <p:nvSpPr>
              <p:cNvPr id="18" name="Object 18">
                <a:extLst>
                  <a:ext uri="{FF2B5EF4-FFF2-40B4-BE49-F238E27FC236}">
                    <a16:creationId xmlns:a16="http://schemas.microsoft.com/office/drawing/2014/main" id="{07FFA4C6-CE7F-44B9-A348-6B0F3BC68127}"/>
                  </a:ext>
                </a:extLst>
              </p:cNvPr>
              <p:cNvSpPr txBox="1">
                <a:spLocks/>
              </p:cNvSpPr>
              <p:nvPr/>
            </p:nvSpPr>
            <p:spPr bwMode="auto">
              <a:xfrm>
                <a:off x="2953850" y="1795465"/>
                <a:ext cx="2808287" cy="1079500"/>
              </a:xfrm>
              <a:prstGeom prst="rect">
                <a:avLst/>
              </a:prstGeom>
              <a:noFill/>
              <a:ln>
                <a:noFill/>
              </a:ln>
              <a:effectLst/>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en-US" sz="2600" i="1" smtClean="0">
                              <a:latin typeface="Cambria Math" panose="02040503050406030204" pitchFamily="18" charset="0"/>
                            </a:rPr>
                          </m:ctrlPr>
                        </m:sSubPr>
                        <m:e>
                          <m:r>
                            <a:rPr lang="en-US" sz="2600" b="0" i="1">
                              <a:latin typeface="Cambria Math" panose="02040503050406030204" pitchFamily="18" charset="0"/>
                            </a:rPr>
                            <m:t>𝜀</m:t>
                          </m:r>
                        </m:e>
                        <m:sub>
                          <m:r>
                            <a:rPr lang="en-US" sz="2600" b="0" i="1">
                              <a:latin typeface="Cambria Math" panose="02040503050406030204" pitchFamily="18" charset="0"/>
                            </a:rPr>
                            <m:t>12</m:t>
                          </m:r>
                        </m:sub>
                      </m:sSub>
                      <m:r>
                        <a:rPr lang="en-US" sz="2600" b="0" i="1">
                          <a:latin typeface="Cambria Math" panose="02040503050406030204" pitchFamily="18" charset="0"/>
                        </a:rPr>
                        <m:t>=−</m:t>
                      </m:r>
                      <m:r>
                        <a:rPr lang="en-US" sz="2600" b="0" i="1">
                          <a:latin typeface="Cambria Math" panose="02040503050406030204" pitchFamily="18" charset="0"/>
                        </a:rPr>
                        <m:t>𝑀</m:t>
                      </m:r>
                      <m:f>
                        <m:fPr>
                          <m:ctrlPr>
                            <a:rPr lang="en-US" sz="2600" i="1">
                              <a:latin typeface="Cambria Math" panose="02040503050406030204" pitchFamily="18" charset="0"/>
                            </a:rPr>
                          </m:ctrlPr>
                        </m:fPr>
                        <m:num>
                          <m:r>
                            <a:rPr lang="en-US" sz="2600" b="0" i="1">
                              <a:latin typeface="Cambria Math" panose="02040503050406030204" pitchFamily="18" charset="0"/>
                            </a:rPr>
                            <m:t>𝑑</m:t>
                          </m:r>
                          <m:sSub>
                            <m:sSubPr>
                              <m:ctrlPr>
                                <a:rPr lang="en-US" sz="2600" i="1">
                                  <a:latin typeface="Cambria Math" panose="02040503050406030204" pitchFamily="18" charset="0"/>
                                </a:rPr>
                              </m:ctrlPr>
                            </m:sSubPr>
                            <m:e>
                              <m:r>
                                <a:rPr lang="en-US" sz="2600" b="0" i="1">
                                  <a:latin typeface="Cambria Math" panose="02040503050406030204" pitchFamily="18" charset="0"/>
                                </a:rPr>
                                <m:t>𝑖</m:t>
                              </m:r>
                            </m:e>
                            <m:sub>
                              <m:r>
                                <a:rPr lang="en-US" sz="2600" b="0" i="1">
                                  <a:latin typeface="Cambria Math" panose="02040503050406030204" pitchFamily="18" charset="0"/>
                                </a:rPr>
                                <m:t>2</m:t>
                              </m:r>
                            </m:sub>
                          </m:sSub>
                        </m:num>
                        <m:den>
                          <m:r>
                            <a:rPr lang="en-US" sz="2600" b="0" i="1">
                              <a:latin typeface="Cambria Math" panose="02040503050406030204" pitchFamily="18" charset="0"/>
                            </a:rPr>
                            <m:t>𝑑𝑡</m:t>
                          </m:r>
                        </m:den>
                      </m:f>
                    </m:oMath>
                  </m:oMathPara>
                </a14:m>
                <a:endParaRPr lang="en-US" sz="2600"/>
              </a:p>
            </p:txBody>
          </p:sp>
        </mc:Choice>
        <mc:Fallback xmlns="">
          <p:sp>
            <p:nvSpPr>
              <p:cNvPr id="18" name="Object 18">
                <a:extLst>
                  <a:ext uri="{FF2B5EF4-FFF2-40B4-BE49-F238E27FC236}">
                    <a16:creationId xmlns:a16="http://schemas.microsoft.com/office/drawing/2014/main" id="{07FFA4C6-CE7F-44B9-A348-6B0F3BC68127}"/>
                  </a:ext>
                </a:extLst>
              </p:cNvPr>
              <p:cNvSpPr txBox="1">
                <a:spLocks noRot="1" noChangeAspect="1" noMove="1" noResize="1" noEditPoints="1" noAdjustHandles="1" noChangeArrowheads="1" noChangeShapeType="1" noTextEdit="1"/>
              </p:cNvSpPr>
              <p:nvPr/>
            </p:nvSpPr>
            <p:spPr bwMode="auto">
              <a:xfrm>
                <a:off x="2953850" y="1795465"/>
                <a:ext cx="2808287" cy="1079500"/>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19" name="Group 23">
            <a:extLst>
              <a:ext uri="{FF2B5EF4-FFF2-40B4-BE49-F238E27FC236}">
                <a16:creationId xmlns:a16="http://schemas.microsoft.com/office/drawing/2014/main" id="{CF29D1CB-54FD-4A21-8599-F322B4A6C8B6}"/>
              </a:ext>
            </a:extLst>
          </p:cNvPr>
          <p:cNvGrpSpPr>
            <a:grpSpLocks/>
          </p:cNvGrpSpPr>
          <p:nvPr/>
        </p:nvGrpSpPr>
        <p:grpSpPr bwMode="auto">
          <a:xfrm>
            <a:off x="469412" y="2843145"/>
            <a:ext cx="5713413" cy="649287"/>
            <a:chOff x="158" y="286"/>
            <a:chExt cx="3599" cy="409"/>
          </a:xfrm>
        </p:grpSpPr>
        <p:sp>
          <p:nvSpPr>
            <p:cNvPr id="20" name="Text Box 24">
              <a:extLst>
                <a:ext uri="{FF2B5EF4-FFF2-40B4-BE49-F238E27FC236}">
                  <a16:creationId xmlns:a16="http://schemas.microsoft.com/office/drawing/2014/main" id="{7A899654-E3B6-44E3-A69B-03F9050CA56D}"/>
                </a:ext>
              </a:extLst>
            </p:cNvPr>
            <p:cNvSpPr txBox="1">
              <a:spLocks noChangeArrowheads="1"/>
            </p:cNvSpPr>
            <p:nvPr/>
          </p:nvSpPr>
          <p:spPr bwMode="auto">
            <a:xfrm>
              <a:off x="158" y="300"/>
              <a:ext cx="359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600" dirty="0"/>
                <a:t>由电源     做功而存储到磁场中的能量</a:t>
              </a:r>
              <a:r>
                <a:rPr lang="en-US" altLang="zh-CN" sz="2600" dirty="0"/>
                <a:t>:</a:t>
              </a:r>
            </a:p>
          </p:txBody>
        </p:sp>
        <mc:AlternateContent xmlns:mc="http://schemas.openxmlformats.org/markup-compatibility/2006" xmlns:a14="http://schemas.microsoft.com/office/drawing/2010/main">
          <mc:Choice Requires="a14">
            <p:sp>
              <p:nvSpPr>
                <p:cNvPr id="21" name="Object 25">
                  <a:extLst>
                    <a:ext uri="{FF2B5EF4-FFF2-40B4-BE49-F238E27FC236}">
                      <a16:creationId xmlns:a16="http://schemas.microsoft.com/office/drawing/2014/main" id="{E7BB893E-7D26-42E2-A080-BEEE11A56A42}"/>
                    </a:ext>
                  </a:extLst>
                </p:cNvPr>
                <p:cNvSpPr txBox="1"/>
                <p:nvPr/>
              </p:nvSpPr>
              <p:spPr bwMode="auto">
                <a:xfrm>
                  <a:off x="829" y="286"/>
                  <a:ext cx="273" cy="40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600" i="1" smtClean="0">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𝜀</m:t>
                            </m:r>
                          </m:e>
                          <m:sub>
                            <m:r>
                              <a:rPr lang="en-US" sz="2600" b="0" i="1">
                                <a:solidFill>
                                  <a:schemeClr val="tx1"/>
                                </a:solidFill>
                                <a:latin typeface="Cambria Math" panose="02040503050406030204" pitchFamily="18" charset="0"/>
                              </a:rPr>
                              <m:t>1</m:t>
                            </m:r>
                          </m:sub>
                        </m:sSub>
                      </m:oMath>
                    </m:oMathPara>
                  </a14:m>
                  <a:endParaRPr lang="en-US" sz="2600" dirty="0">
                    <a:solidFill>
                      <a:schemeClr val="tx1"/>
                    </a:solidFill>
                  </a:endParaRPr>
                </a:p>
              </p:txBody>
            </p:sp>
          </mc:Choice>
          <mc:Fallback xmlns="">
            <p:sp>
              <p:nvSpPr>
                <p:cNvPr id="21" name="Object 25">
                  <a:extLst>
                    <a:ext uri="{FF2B5EF4-FFF2-40B4-BE49-F238E27FC236}">
                      <a16:creationId xmlns:a16="http://schemas.microsoft.com/office/drawing/2014/main" id="{E7BB893E-7D26-42E2-A080-BEEE11A56A42}"/>
                    </a:ext>
                  </a:extLst>
                </p:cNvPr>
                <p:cNvSpPr txBox="1">
                  <a:spLocks noRot="1" noChangeAspect="1" noMove="1" noResize="1" noEditPoints="1" noAdjustHandles="1" noChangeArrowheads="1" noChangeShapeType="1" noTextEdit="1"/>
                </p:cNvSpPr>
                <p:nvPr/>
              </p:nvSpPr>
              <p:spPr bwMode="auto">
                <a:xfrm>
                  <a:off x="829" y="286"/>
                  <a:ext cx="273" cy="409"/>
                </a:xfrm>
                <a:prstGeom prst="rect">
                  <a:avLst/>
                </a:prstGeom>
                <a:blipFill>
                  <a:blip r:embed="rId4"/>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2" name="Object 26">
                <a:extLst>
                  <a:ext uri="{FF2B5EF4-FFF2-40B4-BE49-F238E27FC236}">
                    <a16:creationId xmlns:a16="http://schemas.microsoft.com/office/drawing/2014/main" id="{E80787CA-17EC-4A85-896D-FA5A68DAFF2B}"/>
                  </a:ext>
                </a:extLst>
              </p:cNvPr>
              <p:cNvSpPr txBox="1"/>
              <p:nvPr/>
            </p:nvSpPr>
            <p:spPr bwMode="auto">
              <a:xfrm>
                <a:off x="595801" y="3536149"/>
                <a:ext cx="6983412" cy="10810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600" i="1" smtClean="0">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𝑊</m:t>
                          </m:r>
                        </m:e>
                        <m:sub>
                          <m:r>
                            <a:rPr lang="en-US" sz="2600" b="0" i="1">
                              <a:solidFill>
                                <a:schemeClr val="tx1"/>
                              </a:solidFill>
                              <a:latin typeface="Cambria Math" panose="02040503050406030204" pitchFamily="18" charset="0"/>
                            </a:rPr>
                            <m:t>12</m:t>
                          </m:r>
                        </m:sub>
                      </m:sSub>
                      <m:r>
                        <a:rPr lang="en-US" sz="2600" b="0" i="1">
                          <a:solidFill>
                            <a:schemeClr val="tx1"/>
                          </a:solidFill>
                          <a:latin typeface="Cambria Math" panose="02040503050406030204" pitchFamily="18" charset="0"/>
                        </a:rPr>
                        <m:t>=−</m:t>
                      </m:r>
                      <m:nary>
                        <m:naryPr>
                          <m:ctrlPr>
                            <a:rPr lang="en-US" sz="2600" i="1">
                              <a:solidFill>
                                <a:schemeClr val="tx1"/>
                              </a:solidFill>
                              <a:latin typeface="Cambria Math" panose="02040503050406030204" pitchFamily="18" charset="0"/>
                            </a:rPr>
                          </m:ctrlPr>
                        </m:naryPr>
                        <m:sub>
                          <m:r>
                            <a:rPr lang="en-US" sz="2600" b="0" i="1">
                              <a:solidFill>
                                <a:schemeClr val="tx1"/>
                              </a:solidFill>
                              <a:latin typeface="Cambria Math" panose="02040503050406030204" pitchFamily="18" charset="0"/>
                            </a:rPr>
                            <m:t>0</m:t>
                          </m:r>
                        </m:sub>
                        <m:sup>
                          <m:r>
                            <a:rPr lang="en-US" sz="2600" b="0" i="0">
                              <a:solidFill>
                                <a:schemeClr val="tx1"/>
                              </a:solidFill>
                              <a:latin typeface="Cambria Math" panose="02040503050406030204" pitchFamily="18" charset="0"/>
                            </a:rPr>
                            <m:t> </m:t>
                          </m:r>
                          <m:r>
                            <a:rPr lang="en-US" sz="2600" b="0" i="1">
                              <a:solidFill>
                                <a:schemeClr val="tx1"/>
                              </a:solidFill>
                              <a:latin typeface="Cambria Math" panose="02040503050406030204" pitchFamily="18" charset="0"/>
                            </a:rPr>
                            <m:t>𝑡</m:t>
                          </m:r>
                        </m:sup>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𝜀</m:t>
                              </m:r>
                            </m:e>
                            <m:sub>
                              <m:r>
                                <a:rPr lang="en-US" sz="2600" b="0" i="1">
                                  <a:solidFill>
                                    <a:schemeClr val="tx1"/>
                                  </a:solidFill>
                                  <a:latin typeface="Cambria Math" panose="02040503050406030204" pitchFamily="18" charset="0"/>
                                </a:rPr>
                                <m:t>12</m:t>
                              </m:r>
                            </m:sub>
                          </m:sSub>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r>
                            <a:rPr lang="en-US" sz="2600" b="0" i="1">
                              <a:solidFill>
                                <a:schemeClr val="tx1"/>
                              </a:solidFill>
                              <a:latin typeface="Cambria Math" panose="02040503050406030204" pitchFamily="18" charset="0"/>
                            </a:rPr>
                            <m:t>𝑑𝑡</m:t>
                          </m:r>
                        </m:e>
                      </m:nary>
                      <m:r>
                        <a:rPr lang="en-US" sz="2600" b="0" i="1">
                          <a:solidFill>
                            <a:schemeClr val="tx1"/>
                          </a:solidFill>
                          <a:latin typeface="Cambria Math" panose="02040503050406030204" pitchFamily="18" charset="0"/>
                        </a:rPr>
                        <m:t>=</m:t>
                      </m:r>
                      <m:nary>
                        <m:naryPr>
                          <m:ctrlPr>
                            <a:rPr lang="en-US" sz="2600" i="1">
                              <a:solidFill>
                                <a:schemeClr val="tx1"/>
                              </a:solidFill>
                              <a:latin typeface="Cambria Math" panose="02040503050406030204" pitchFamily="18" charset="0"/>
                            </a:rPr>
                          </m:ctrlPr>
                        </m:naryPr>
                        <m:sub>
                          <m:r>
                            <a:rPr lang="en-US" sz="2600" b="0" i="1">
                              <a:solidFill>
                                <a:schemeClr val="tx1"/>
                              </a:solidFill>
                              <a:latin typeface="Cambria Math" panose="02040503050406030204" pitchFamily="18" charset="0"/>
                            </a:rPr>
                            <m:t>0</m:t>
                          </m:r>
                        </m:sub>
                        <m:sup>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sup>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𝑀</m:t>
                              </m:r>
                            </m:e>
                            <m:sub>
                              <m:r>
                                <a:rPr lang="en-US" sz="2600" b="0" i="1">
                                  <a:solidFill>
                                    <a:schemeClr val="tx1"/>
                                  </a:solidFill>
                                  <a:latin typeface="Cambria Math" panose="02040503050406030204" pitchFamily="18" charset="0"/>
                                </a:rPr>
                                <m:t>12</m:t>
                              </m:r>
                            </m:sub>
                          </m:sSub>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r>
                            <a:rPr lang="en-US" sz="2600" b="0" i="1">
                              <a:solidFill>
                                <a:schemeClr val="tx1"/>
                              </a:solidFill>
                              <a:latin typeface="Cambria Math" panose="02040503050406030204" pitchFamily="18" charset="0"/>
                            </a:rPr>
                            <m:t>𝑑</m:t>
                          </m:r>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𝑖</m:t>
                              </m:r>
                            </m:e>
                            <m:sub>
                              <m:r>
                                <a:rPr lang="en-US" sz="2600" b="0" i="1">
                                  <a:solidFill>
                                    <a:schemeClr val="tx1"/>
                                  </a:solidFill>
                                  <a:latin typeface="Cambria Math" panose="02040503050406030204" pitchFamily="18" charset="0"/>
                                </a:rPr>
                                <m:t>2</m:t>
                              </m:r>
                            </m:sub>
                          </m:sSub>
                        </m:e>
                      </m:nary>
                      <m:r>
                        <a:rPr lang="en-US" sz="2600" b="0" i="1">
                          <a:solidFill>
                            <a:schemeClr val="tx1"/>
                          </a:solidFill>
                          <a:latin typeface="Cambria Math" panose="02040503050406030204" pitchFamily="18" charset="0"/>
                        </a:rPr>
                        <m:t>=</m:t>
                      </m:r>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𝑀</m:t>
                          </m:r>
                        </m:e>
                        <m:sub>
                          <m:r>
                            <a:rPr lang="en-US" sz="2600" b="0" i="1">
                              <a:solidFill>
                                <a:schemeClr val="tx1"/>
                              </a:solidFill>
                              <a:latin typeface="Cambria Math" panose="02040503050406030204" pitchFamily="18" charset="0"/>
                            </a:rPr>
                            <m:t>12</m:t>
                          </m:r>
                        </m:sub>
                      </m:sSub>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oMath>
                  </m:oMathPara>
                </a14:m>
                <a:endParaRPr lang="en-US" sz="2600" dirty="0">
                  <a:solidFill>
                    <a:schemeClr val="tx1"/>
                  </a:solidFill>
                </a:endParaRPr>
              </a:p>
            </p:txBody>
          </p:sp>
        </mc:Choice>
        <mc:Fallback xmlns="">
          <p:sp>
            <p:nvSpPr>
              <p:cNvPr id="22" name="Object 26">
                <a:extLst>
                  <a:ext uri="{FF2B5EF4-FFF2-40B4-BE49-F238E27FC236}">
                    <a16:creationId xmlns:a16="http://schemas.microsoft.com/office/drawing/2014/main" id="{E80787CA-17EC-4A85-896D-FA5A68DAFF2B}"/>
                  </a:ext>
                </a:extLst>
              </p:cNvPr>
              <p:cNvSpPr txBox="1">
                <a:spLocks noRot="1" noChangeAspect="1" noMove="1" noResize="1" noEditPoints="1" noAdjustHandles="1" noChangeArrowheads="1" noChangeShapeType="1" noTextEdit="1"/>
              </p:cNvSpPr>
              <p:nvPr/>
            </p:nvSpPr>
            <p:spPr bwMode="auto">
              <a:xfrm>
                <a:off x="595801" y="3536149"/>
                <a:ext cx="6983412" cy="1081088"/>
              </a:xfrm>
              <a:prstGeom prst="rect">
                <a:avLst/>
              </a:prstGeom>
              <a:blipFill>
                <a:blip r:embed="rId5"/>
                <a:stretch>
                  <a:fillRect/>
                </a:stretch>
              </a:blipFill>
              <a:ln>
                <a:noFill/>
              </a:ln>
              <a:effectLst/>
            </p:spPr>
            <p:txBody>
              <a:bodyPr/>
              <a:lstStyle/>
              <a:p>
                <a:r>
                  <a:rPr lang="en-US">
                    <a:noFill/>
                  </a:rPr>
                  <a:t> </a:t>
                </a:r>
              </a:p>
            </p:txBody>
          </p:sp>
        </mc:Fallback>
      </mc:AlternateContent>
      <p:grpSp>
        <p:nvGrpSpPr>
          <p:cNvPr id="23" name="Group 27">
            <a:extLst>
              <a:ext uri="{FF2B5EF4-FFF2-40B4-BE49-F238E27FC236}">
                <a16:creationId xmlns:a16="http://schemas.microsoft.com/office/drawing/2014/main" id="{EBCE3F0D-7C99-41C6-8E75-7D6101341D35}"/>
              </a:ext>
            </a:extLst>
          </p:cNvPr>
          <p:cNvGrpSpPr>
            <a:grpSpLocks/>
          </p:cNvGrpSpPr>
          <p:nvPr/>
        </p:nvGrpSpPr>
        <p:grpSpPr bwMode="auto">
          <a:xfrm>
            <a:off x="361462" y="4699467"/>
            <a:ext cx="8677275" cy="598488"/>
            <a:chOff x="158" y="1457"/>
            <a:chExt cx="5466" cy="377"/>
          </a:xfrm>
        </p:grpSpPr>
        <p:sp>
          <p:nvSpPr>
            <p:cNvPr id="24" name="Text Box 28">
              <a:extLst>
                <a:ext uri="{FF2B5EF4-FFF2-40B4-BE49-F238E27FC236}">
                  <a16:creationId xmlns:a16="http://schemas.microsoft.com/office/drawing/2014/main" id="{EEB1CD1E-5566-4986-B123-B649FC778574}"/>
                </a:ext>
              </a:extLst>
            </p:cNvPr>
            <p:cNvSpPr txBox="1">
              <a:spLocks noChangeArrowheads="1"/>
            </p:cNvSpPr>
            <p:nvPr/>
          </p:nvSpPr>
          <p:spPr bwMode="auto">
            <a:xfrm>
              <a:off x="158" y="1457"/>
              <a:ext cx="5466"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600" dirty="0"/>
                <a:t>当系统达到电流为    和     时</a:t>
              </a:r>
              <a:r>
                <a:rPr lang="en-US" altLang="zh-CN" sz="2600" dirty="0"/>
                <a:t>,</a:t>
              </a:r>
              <a:r>
                <a:rPr lang="zh-CN" altLang="en-US" sz="2600" dirty="0"/>
                <a:t>存储到磁场中的总能量</a:t>
              </a:r>
              <a:r>
                <a:rPr lang="en-US" altLang="zh-CN" sz="2600" dirty="0"/>
                <a:t>:</a:t>
              </a:r>
            </a:p>
          </p:txBody>
        </p:sp>
        <mc:AlternateContent xmlns:mc="http://schemas.openxmlformats.org/markup-compatibility/2006" xmlns:a14="http://schemas.microsoft.com/office/drawing/2010/main">
          <mc:Choice Requires="a14">
            <p:sp>
              <p:nvSpPr>
                <p:cNvPr id="25" name="Object 29">
                  <a:extLst>
                    <a:ext uri="{FF2B5EF4-FFF2-40B4-BE49-F238E27FC236}">
                      <a16:creationId xmlns:a16="http://schemas.microsoft.com/office/drawing/2014/main" id="{80C4A523-B7C4-40DA-9A23-83D60C28090E}"/>
                    </a:ext>
                  </a:extLst>
                </p:cNvPr>
                <p:cNvSpPr txBox="1"/>
                <p:nvPr/>
              </p:nvSpPr>
              <p:spPr bwMode="auto">
                <a:xfrm>
                  <a:off x="1880" y="1471"/>
                  <a:ext cx="222" cy="3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600" i="1" smtClean="0">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oMath>
                    </m:oMathPara>
                  </a14:m>
                  <a:endParaRPr lang="en-US" sz="2600" dirty="0">
                    <a:solidFill>
                      <a:schemeClr val="tx1"/>
                    </a:solidFill>
                  </a:endParaRPr>
                </a:p>
              </p:txBody>
            </p:sp>
          </mc:Choice>
          <mc:Fallback xmlns="">
            <p:sp>
              <p:nvSpPr>
                <p:cNvPr id="25" name="Object 29">
                  <a:extLst>
                    <a:ext uri="{FF2B5EF4-FFF2-40B4-BE49-F238E27FC236}">
                      <a16:creationId xmlns:a16="http://schemas.microsoft.com/office/drawing/2014/main" id="{80C4A523-B7C4-40DA-9A23-83D60C28090E}"/>
                    </a:ext>
                  </a:extLst>
                </p:cNvPr>
                <p:cNvSpPr txBox="1">
                  <a:spLocks noRot="1" noChangeAspect="1" noMove="1" noResize="1" noEditPoints="1" noAdjustHandles="1" noChangeArrowheads="1" noChangeShapeType="1" noTextEdit="1"/>
                </p:cNvSpPr>
                <p:nvPr/>
              </p:nvSpPr>
              <p:spPr bwMode="auto">
                <a:xfrm>
                  <a:off x="1880" y="1471"/>
                  <a:ext cx="222" cy="363"/>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30">
                  <a:extLst>
                    <a:ext uri="{FF2B5EF4-FFF2-40B4-BE49-F238E27FC236}">
                      <a16:creationId xmlns:a16="http://schemas.microsoft.com/office/drawing/2014/main" id="{9AFAA30B-56D9-4CC4-BC97-32F8A6B050A4}"/>
                    </a:ext>
                  </a:extLst>
                </p:cNvPr>
                <p:cNvSpPr txBox="1"/>
                <p:nvPr/>
              </p:nvSpPr>
              <p:spPr bwMode="auto">
                <a:xfrm>
                  <a:off x="2316" y="1471"/>
                  <a:ext cx="227" cy="341"/>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600" i="1" smtClean="0">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oMath>
                    </m:oMathPara>
                  </a14:m>
                  <a:endParaRPr lang="en-US" sz="2600">
                    <a:solidFill>
                      <a:schemeClr val="tx1"/>
                    </a:solidFill>
                  </a:endParaRPr>
                </a:p>
              </p:txBody>
            </p:sp>
          </mc:Choice>
          <mc:Fallback xmlns="">
            <p:sp>
              <p:nvSpPr>
                <p:cNvPr id="26" name="Object 30">
                  <a:extLst>
                    <a:ext uri="{FF2B5EF4-FFF2-40B4-BE49-F238E27FC236}">
                      <a16:creationId xmlns:a16="http://schemas.microsoft.com/office/drawing/2014/main" id="{9AFAA30B-56D9-4CC4-BC97-32F8A6B050A4}"/>
                    </a:ext>
                  </a:extLst>
                </p:cNvPr>
                <p:cNvSpPr txBox="1">
                  <a:spLocks noRot="1" noChangeAspect="1" noMove="1" noResize="1" noEditPoints="1" noAdjustHandles="1" noChangeArrowheads="1" noChangeShapeType="1" noTextEdit="1"/>
                </p:cNvSpPr>
                <p:nvPr/>
              </p:nvSpPr>
              <p:spPr bwMode="auto">
                <a:xfrm>
                  <a:off x="2316" y="1471"/>
                  <a:ext cx="227" cy="341"/>
                </a:xfrm>
                <a:prstGeom prst="rect">
                  <a:avLst/>
                </a:prstGeom>
                <a:blipFill>
                  <a:blip r:embed="rId7"/>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Object 31">
                <a:extLst>
                  <a:ext uri="{FF2B5EF4-FFF2-40B4-BE49-F238E27FC236}">
                    <a16:creationId xmlns:a16="http://schemas.microsoft.com/office/drawing/2014/main" id="{E04F7C28-DA70-4067-B261-A35B09429031}"/>
                  </a:ext>
                </a:extLst>
              </p:cNvPr>
              <p:cNvSpPr txBox="1"/>
              <p:nvPr/>
            </p:nvSpPr>
            <p:spPr bwMode="auto">
              <a:xfrm>
                <a:off x="1411165" y="5430364"/>
                <a:ext cx="3565525" cy="9001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600" i="1" smtClean="0">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𝑊</m:t>
                          </m:r>
                        </m:e>
                        <m:sub>
                          <m:r>
                            <a:rPr lang="en-US" sz="2600" b="0" i="1">
                              <a:solidFill>
                                <a:schemeClr val="tx1"/>
                              </a:solidFill>
                              <a:latin typeface="Cambria Math" panose="02040503050406030204" pitchFamily="18" charset="0"/>
                            </a:rPr>
                            <m:t>𝑚</m:t>
                          </m:r>
                        </m:sub>
                      </m:sSub>
                      <m:r>
                        <a:rPr lang="en-US" sz="2600" b="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1</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e>
                        <m:sup>
                          <m:r>
                            <a:rPr lang="en-US" sz="2600" b="0" i="1">
                              <a:solidFill>
                                <a:schemeClr val="tx1"/>
                              </a:solidFill>
                              <a:latin typeface="Cambria Math" panose="02040503050406030204" pitchFamily="18" charset="0"/>
                            </a:rPr>
                            <m:t>2</m:t>
                          </m:r>
                        </m:sup>
                      </m:sSup>
                      <m:r>
                        <a:rPr lang="en-US" sz="2600" b="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2</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e>
                        <m:sup>
                          <m:r>
                            <a:rPr lang="en-US" sz="2600" b="0" i="1">
                              <a:solidFill>
                                <a:schemeClr val="tx1"/>
                              </a:solidFill>
                              <a:latin typeface="Cambria Math" panose="02040503050406030204" pitchFamily="18" charset="0"/>
                            </a:rPr>
                            <m:t>2</m:t>
                          </m:r>
                        </m:sup>
                      </m:sSup>
                    </m:oMath>
                  </m:oMathPara>
                </a14:m>
                <a:endParaRPr lang="en-US" sz="2600" dirty="0">
                  <a:solidFill>
                    <a:schemeClr val="tx1"/>
                  </a:solidFill>
                </a:endParaRPr>
              </a:p>
            </p:txBody>
          </p:sp>
        </mc:Choice>
        <mc:Fallback xmlns="">
          <p:sp>
            <p:nvSpPr>
              <p:cNvPr id="27" name="Object 31">
                <a:extLst>
                  <a:ext uri="{FF2B5EF4-FFF2-40B4-BE49-F238E27FC236}">
                    <a16:creationId xmlns:a16="http://schemas.microsoft.com/office/drawing/2014/main" id="{E04F7C28-DA70-4067-B261-A35B09429031}"/>
                  </a:ext>
                </a:extLst>
              </p:cNvPr>
              <p:cNvSpPr txBox="1">
                <a:spLocks noRot="1" noChangeAspect="1" noMove="1" noResize="1" noEditPoints="1" noAdjustHandles="1" noChangeArrowheads="1" noChangeShapeType="1" noTextEdit="1"/>
              </p:cNvSpPr>
              <p:nvPr/>
            </p:nvSpPr>
            <p:spPr bwMode="auto">
              <a:xfrm>
                <a:off x="1411165" y="5430364"/>
                <a:ext cx="3565525" cy="900112"/>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bject 32">
                <a:extLst>
                  <a:ext uri="{FF2B5EF4-FFF2-40B4-BE49-F238E27FC236}">
                    <a16:creationId xmlns:a16="http://schemas.microsoft.com/office/drawing/2014/main" id="{4BA95078-A58C-4902-9254-D724BA9A1EBE}"/>
                  </a:ext>
                </a:extLst>
              </p:cNvPr>
              <p:cNvSpPr txBox="1"/>
              <p:nvPr/>
            </p:nvSpPr>
            <p:spPr bwMode="auto">
              <a:xfrm>
                <a:off x="4756882" y="5629862"/>
                <a:ext cx="1676400" cy="6556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600" b="0" i="1" smtClean="0">
                          <a:solidFill>
                            <a:schemeClr val="tx1"/>
                          </a:solidFill>
                          <a:latin typeface="Cambria Math" panose="02040503050406030204" pitchFamily="18" charset="0"/>
                        </a:rPr>
                        <m:t>+</m:t>
                      </m:r>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𝑀</m:t>
                          </m:r>
                        </m:e>
                        <m:sub>
                          <m:r>
                            <a:rPr lang="en-US" sz="2600" b="0" i="1">
                              <a:solidFill>
                                <a:schemeClr val="tx1"/>
                              </a:solidFill>
                              <a:latin typeface="Cambria Math" panose="02040503050406030204" pitchFamily="18" charset="0"/>
                            </a:rPr>
                            <m:t>12</m:t>
                          </m:r>
                        </m:sub>
                      </m:sSub>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oMath>
                  </m:oMathPara>
                </a14:m>
                <a:endParaRPr lang="en-US" sz="2600" dirty="0">
                  <a:solidFill>
                    <a:schemeClr val="tx1"/>
                  </a:solidFill>
                </a:endParaRPr>
              </a:p>
            </p:txBody>
          </p:sp>
        </mc:Choice>
        <mc:Fallback xmlns="">
          <p:sp>
            <p:nvSpPr>
              <p:cNvPr id="28" name="Object 32">
                <a:extLst>
                  <a:ext uri="{FF2B5EF4-FFF2-40B4-BE49-F238E27FC236}">
                    <a16:creationId xmlns:a16="http://schemas.microsoft.com/office/drawing/2014/main" id="{4BA95078-A58C-4902-9254-D724BA9A1EBE}"/>
                  </a:ext>
                </a:extLst>
              </p:cNvPr>
              <p:cNvSpPr txBox="1">
                <a:spLocks noRot="1" noChangeAspect="1" noMove="1" noResize="1" noEditPoints="1" noAdjustHandles="1" noChangeArrowheads="1" noChangeShapeType="1" noTextEdit="1"/>
              </p:cNvSpPr>
              <p:nvPr/>
            </p:nvSpPr>
            <p:spPr bwMode="auto">
              <a:xfrm>
                <a:off x="4756882" y="5629862"/>
                <a:ext cx="1676400" cy="655638"/>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bject 27">
                <a:extLst>
                  <a:ext uri="{FF2B5EF4-FFF2-40B4-BE49-F238E27FC236}">
                    <a16:creationId xmlns:a16="http://schemas.microsoft.com/office/drawing/2014/main" id="{21C6CCD1-3727-41CE-83B0-4F9D9A69FDC8}"/>
                  </a:ext>
                </a:extLst>
              </p:cNvPr>
              <p:cNvSpPr txBox="1"/>
              <p:nvPr/>
            </p:nvSpPr>
            <p:spPr bwMode="auto">
              <a:xfrm>
                <a:off x="6201833" y="5468074"/>
                <a:ext cx="3205162" cy="11160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600" b="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1</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e>
                        <m:sup>
                          <m:r>
                            <a:rPr lang="en-US" sz="2600" b="0" i="1">
                              <a:solidFill>
                                <a:schemeClr val="tx1"/>
                              </a:solidFill>
                              <a:latin typeface="Cambria Math" panose="02040503050406030204" pitchFamily="18" charset="0"/>
                            </a:rPr>
                            <m:t>2</m:t>
                          </m:r>
                        </m:sup>
                      </m:sSup>
                      <m:r>
                        <a:rPr lang="en-US" sz="2600" b="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r>
                            <a:rPr lang="en-US" sz="2600" b="0" i="1">
                              <a:solidFill>
                                <a:schemeClr val="tx1"/>
                              </a:solidFill>
                              <a:latin typeface="Cambria Math" panose="02040503050406030204" pitchFamily="18" charset="0"/>
                            </a:rPr>
                            <m:t>1</m:t>
                          </m:r>
                        </m:num>
                        <m:den>
                          <m:r>
                            <a:rPr lang="en-US" sz="2600" b="0" i="1">
                              <a:solidFill>
                                <a:schemeClr val="tx1"/>
                              </a:solidFill>
                              <a:latin typeface="Cambria Math" panose="02040503050406030204" pitchFamily="18" charset="0"/>
                            </a:rPr>
                            <m:t>2</m:t>
                          </m:r>
                        </m:den>
                      </m:f>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𝐿</m:t>
                          </m:r>
                        </m:e>
                        <m:sub>
                          <m:r>
                            <a:rPr lang="en-US" sz="2600" b="0" i="1">
                              <a:solidFill>
                                <a:schemeClr val="tx1"/>
                              </a:solidFill>
                              <a:latin typeface="Cambria Math" panose="02040503050406030204" pitchFamily="18" charset="0"/>
                            </a:rPr>
                            <m:t>2</m:t>
                          </m:r>
                        </m:sub>
                      </m:sSub>
                      <m:sSup>
                        <m:sSupPr>
                          <m:ctrlPr>
                            <a:rPr lang="en-US" sz="2600" i="1">
                              <a:solidFill>
                                <a:schemeClr val="tx1"/>
                              </a:solidFill>
                              <a:latin typeface="Cambria Math" panose="02040503050406030204" pitchFamily="18" charset="0"/>
                            </a:rPr>
                          </m:ctrlPr>
                        </m:sSupPr>
                        <m:e>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e>
                        <m:sup>
                          <m:r>
                            <a:rPr lang="en-US" sz="2600" b="0" i="1">
                              <a:solidFill>
                                <a:schemeClr val="tx1"/>
                              </a:solidFill>
                              <a:latin typeface="Cambria Math" panose="02040503050406030204" pitchFamily="18" charset="0"/>
                            </a:rPr>
                            <m:t>2</m:t>
                          </m:r>
                        </m:sup>
                      </m:sSup>
                    </m:oMath>
                  </m:oMathPara>
                </a14:m>
                <a:endParaRPr lang="en-US" sz="2600" dirty="0">
                  <a:solidFill>
                    <a:schemeClr val="tx1"/>
                  </a:solidFill>
                </a:endParaRPr>
              </a:p>
            </p:txBody>
          </p:sp>
        </mc:Choice>
        <mc:Fallback xmlns="">
          <p:sp>
            <p:nvSpPr>
              <p:cNvPr id="30" name="Object 27">
                <a:extLst>
                  <a:ext uri="{FF2B5EF4-FFF2-40B4-BE49-F238E27FC236}">
                    <a16:creationId xmlns:a16="http://schemas.microsoft.com/office/drawing/2014/main" id="{21C6CCD1-3727-41CE-83B0-4F9D9A69FDC8}"/>
                  </a:ext>
                </a:extLst>
              </p:cNvPr>
              <p:cNvSpPr txBox="1">
                <a:spLocks noRot="1" noChangeAspect="1" noMove="1" noResize="1" noEditPoints="1" noAdjustHandles="1" noChangeArrowheads="1" noChangeShapeType="1" noTextEdit="1"/>
              </p:cNvSpPr>
              <p:nvPr/>
            </p:nvSpPr>
            <p:spPr bwMode="auto">
              <a:xfrm>
                <a:off x="6201833" y="5468074"/>
                <a:ext cx="3205162" cy="1116013"/>
              </a:xfrm>
              <a:prstGeom prst="rect">
                <a:avLst/>
              </a:prstGeom>
              <a:blipFill>
                <a:blip r:embed="rId1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28">
                <a:extLst>
                  <a:ext uri="{FF2B5EF4-FFF2-40B4-BE49-F238E27FC236}">
                    <a16:creationId xmlns:a16="http://schemas.microsoft.com/office/drawing/2014/main" id="{558374F9-5CB8-4672-985D-A1C70FFBB950}"/>
                  </a:ext>
                </a:extLst>
              </p:cNvPr>
              <p:cNvSpPr txBox="1"/>
              <p:nvPr/>
            </p:nvSpPr>
            <p:spPr bwMode="auto">
              <a:xfrm>
                <a:off x="8933310" y="5739399"/>
                <a:ext cx="1511300" cy="7207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𝑀</m:t>
                      </m:r>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1</m:t>
                          </m:r>
                        </m:sub>
                      </m:sSub>
                      <m:sSub>
                        <m:sSubPr>
                          <m:ctrlPr>
                            <a:rPr lang="en-US" sz="2600" i="1">
                              <a:solidFill>
                                <a:schemeClr val="tx1"/>
                              </a:solidFill>
                              <a:latin typeface="Cambria Math" panose="02040503050406030204" pitchFamily="18" charset="0"/>
                            </a:rPr>
                          </m:ctrlPr>
                        </m:sSubPr>
                        <m:e>
                          <m:r>
                            <a:rPr lang="en-US" sz="2600" b="0" i="1">
                              <a:solidFill>
                                <a:schemeClr val="tx1"/>
                              </a:solidFill>
                              <a:latin typeface="Cambria Math" panose="02040503050406030204" pitchFamily="18" charset="0"/>
                            </a:rPr>
                            <m:t>𝐼</m:t>
                          </m:r>
                        </m:e>
                        <m:sub>
                          <m:r>
                            <a:rPr lang="en-US" sz="2600" b="0" i="1">
                              <a:solidFill>
                                <a:schemeClr val="tx1"/>
                              </a:solidFill>
                              <a:latin typeface="Cambria Math" panose="02040503050406030204" pitchFamily="18" charset="0"/>
                            </a:rPr>
                            <m:t>2</m:t>
                          </m:r>
                        </m:sub>
                      </m:sSub>
                    </m:oMath>
                  </m:oMathPara>
                </a14:m>
                <a:endParaRPr lang="en-US" sz="2600" dirty="0">
                  <a:solidFill>
                    <a:schemeClr val="tx1"/>
                  </a:solidFill>
                </a:endParaRPr>
              </a:p>
            </p:txBody>
          </p:sp>
        </mc:Choice>
        <mc:Fallback xmlns="">
          <p:sp>
            <p:nvSpPr>
              <p:cNvPr id="31" name="Object 28">
                <a:extLst>
                  <a:ext uri="{FF2B5EF4-FFF2-40B4-BE49-F238E27FC236}">
                    <a16:creationId xmlns:a16="http://schemas.microsoft.com/office/drawing/2014/main" id="{558374F9-5CB8-4672-985D-A1C70FFBB950}"/>
                  </a:ext>
                </a:extLst>
              </p:cNvPr>
              <p:cNvSpPr txBox="1">
                <a:spLocks noRot="1" noChangeAspect="1" noMove="1" noResize="1" noEditPoints="1" noAdjustHandles="1" noChangeArrowheads="1" noChangeShapeType="1" noTextEdit="1"/>
              </p:cNvSpPr>
              <p:nvPr/>
            </p:nvSpPr>
            <p:spPr bwMode="auto">
              <a:xfrm>
                <a:off x="8933310" y="5739399"/>
                <a:ext cx="1511300" cy="720725"/>
              </a:xfrm>
              <a:prstGeom prst="rect">
                <a:avLst/>
              </a:prstGeom>
              <a:blipFill>
                <a:blip r:embed="rId11"/>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425969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P spid="28" grpId="0"/>
      <p:bldP spid="30" grpId="0"/>
      <p:bldP spid="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1027946" y="2393618"/>
            <a:ext cx="9007594" cy="1077218"/>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作业 ：课后习题</a:t>
            </a:r>
            <a:r>
              <a:rPr lang="en-US" altLang="zh-CN" sz="3200" kern="0" dirty="0">
                <a:solidFill>
                  <a:srgbClr val="000000"/>
                </a:solidFill>
                <a:cs typeface="宋体" panose="02010600030101010101" pitchFamily="2" charset="-122"/>
              </a:rPr>
              <a:t>20.1</a:t>
            </a:r>
            <a:r>
              <a:rPr lang="zh-CN" altLang="en-US" sz="3200" kern="0" dirty="0">
                <a:solidFill>
                  <a:srgbClr val="000000"/>
                </a:solidFill>
                <a:cs typeface="宋体" panose="02010600030101010101" pitchFamily="2" charset="-122"/>
              </a:rPr>
              <a:t>，</a:t>
            </a:r>
            <a:r>
              <a:rPr lang="en-US" altLang="zh-CN" sz="3200" kern="0" dirty="0">
                <a:solidFill>
                  <a:srgbClr val="000000"/>
                </a:solidFill>
                <a:cs typeface="宋体" panose="02010600030101010101" pitchFamily="2" charset="-122"/>
              </a:rPr>
              <a:t>20.5</a:t>
            </a:r>
            <a:r>
              <a:rPr lang="zh-CN" altLang="en-US" sz="3200" kern="0" dirty="0">
                <a:solidFill>
                  <a:srgbClr val="000000"/>
                </a:solidFill>
                <a:cs typeface="宋体" panose="02010600030101010101" pitchFamily="2" charset="-122"/>
              </a:rPr>
              <a:t>，</a:t>
            </a:r>
            <a:r>
              <a:rPr lang="en-US" altLang="zh-CN" sz="3200" kern="0" dirty="0">
                <a:solidFill>
                  <a:srgbClr val="000000"/>
                </a:solidFill>
                <a:cs typeface="宋体" panose="02010600030101010101" pitchFamily="2" charset="-122"/>
              </a:rPr>
              <a:t>20.10</a:t>
            </a:r>
            <a:r>
              <a:rPr lang="zh-CN" altLang="en-US" sz="3200" kern="0" dirty="0">
                <a:solidFill>
                  <a:srgbClr val="000000"/>
                </a:solidFill>
                <a:cs typeface="宋体" panose="02010600030101010101" pitchFamily="2" charset="-122"/>
              </a:rPr>
              <a:t>，</a:t>
            </a:r>
            <a:r>
              <a:rPr lang="en-US" altLang="zh-CN" sz="3200" kern="0" dirty="0">
                <a:solidFill>
                  <a:srgbClr val="000000"/>
                </a:solidFill>
                <a:cs typeface="宋体" panose="02010600030101010101" pitchFamily="2" charset="-122"/>
              </a:rPr>
              <a:t>20.14</a:t>
            </a:r>
            <a:r>
              <a:rPr lang="zh-CN" altLang="en-US" sz="3200" kern="0" dirty="0">
                <a:solidFill>
                  <a:srgbClr val="000000"/>
                </a:solidFill>
                <a:cs typeface="宋体" panose="02010600030101010101" pitchFamily="2" charset="-122"/>
              </a:rPr>
              <a:t>，</a:t>
            </a:r>
            <a:r>
              <a:rPr lang="en-US" altLang="zh-CN" sz="3200" kern="0" dirty="0">
                <a:solidFill>
                  <a:srgbClr val="000000"/>
                </a:solidFill>
                <a:cs typeface="宋体" panose="02010600030101010101" pitchFamily="2" charset="-122"/>
              </a:rPr>
              <a:t>20.22</a:t>
            </a:r>
            <a:endParaRPr lang="en-US" sz="3200" dirty="0"/>
          </a:p>
          <a:p>
            <a:endParaRPr lang="en-US" sz="3200" kern="100" dirty="0">
              <a:effectLst/>
              <a:latin typeface="+mj-lt"/>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348143" y="3617037"/>
            <a:ext cx="6032421"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截止时间： </a:t>
            </a:r>
            <a:r>
              <a:rPr lang="en-US" altLang="zh-CN" sz="3200" kern="0" dirty="0">
                <a:solidFill>
                  <a:srgbClr val="000000"/>
                </a:solidFill>
                <a:latin typeface="+mj-lt"/>
                <a:ea typeface="+mj-ea"/>
                <a:cs typeface="宋体" panose="02010600030101010101" pitchFamily="2" charset="-122"/>
              </a:rPr>
              <a:t>5</a:t>
            </a:r>
            <a:r>
              <a:rPr lang="zh-CN" altLang="en-US" sz="3200" kern="0" dirty="0">
                <a:solidFill>
                  <a:srgbClr val="000000"/>
                </a:solidFill>
                <a:latin typeface="+mj-lt"/>
                <a:ea typeface="+mj-ea"/>
                <a:cs typeface="宋体" panose="02010600030101010101" pitchFamily="2" charset="-122"/>
              </a:rPr>
              <a:t>月</a:t>
            </a:r>
            <a:r>
              <a:rPr lang="en-US" altLang="zh-CN" sz="3200" kern="0" dirty="0">
                <a:solidFill>
                  <a:srgbClr val="000000"/>
                </a:solidFill>
                <a:latin typeface="+mj-lt"/>
                <a:ea typeface="+mj-ea"/>
                <a:cs typeface="宋体" panose="02010600030101010101" pitchFamily="2" charset="-122"/>
              </a:rPr>
              <a:t>21</a:t>
            </a:r>
            <a:r>
              <a:rPr lang="zh-CN" altLang="en-US" sz="3200" kern="0" dirty="0">
                <a:solidFill>
                  <a:srgbClr val="000000"/>
                </a:solidFill>
                <a:latin typeface="+mj-lt"/>
                <a:ea typeface="+mj-ea"/>
                <a:cs typeface="宋体" panose="02010600030101010101" pitchFamily="2" charset="-122"/>
              </a:rPr>
              <a:t>日上午</a:t>
            </a:r>
            <a:r>
              <a:rPr lang="en-US" altLang="zh-CN" sz="3200" kern="0" dirty="0">
                <a:solidFill>
                  <a:srgbClr val="000000"/>
                </a:solidFill>
                <a:latin typeface="+mj-lt"/>
                <a:ea typeface="+mj-ea"/>
                <a:cs typeface="宋体" panose="02010600030101010101" pitchFamily="2" charset="-122"/>
              </a:rPr>
              <a:t>10</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10</a:t>
            </a:r>
            <a:endParaRPr lang="en-US" sz="3200" kern="100" dirty="0">
              <a:effectLst/>
              <a:latin typeface="+mj-lt"/>
              <a:ea typeface="+mj-ea"/>
              <a:cs typeface="Times New Roman" panose="02020603050405020304" pitchFamily="18" charset="0"/>
            </a:endParaRPr>
          </a:p>
        </p:txBody>
      </p:sp>
    </p:spTree>
    <p:extLst>
      <p:ext uri="{BB962C8B-B14F-4D97-AF65-F5344CB8AC3E}">
        <p14:creationId xmlns:p14="http://schemas.microsoft.com/office/powerpoint/2010/main" val="142537365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5155E767-1779-41FD-ADD7-F68108D8084B}"/>
              </a:ext>
            </a:extLst>
          </p:cNvPr>
          <p:cNvSpPr txBox="1"/>
          <p:nvPr/>
        </p:nvSpPr>
        <p:spPr>
          <a:xfrm>
            <a:off x="676120" y="1326676"/>
            <a:ext cx="2167581" cy="584775"/>
          </a:xfrm>
          <a:prstGeom prst="rect">
            <a:avLst/>
          </a:prstGeom>
          <a:noFill/>
        </p:spPr>
        <p:txBody>
          <a:bodyPr wrap="none" rtlCol="0">
            <a:spAutoFit/>
          </a:bodyPr>
          <a:lstStyle/>
          <a:p>
            <a:r>
              <a:rPr lang="zh-CN" altLang="en-US" sz="3200" dirty="0"/>
              <a:t>电场 </a:t>
            </a:r>
            <a:r>
              <a:rPr lang="en-US" altLang="zh-CN" sz="3200" dirty="0"/>
              <a:t>-</a:t>
            </a:r>
            <a:r>
              <a:rPr lang="zh-CN" altLang="en-US" sz="3200" dirty="0"/>
              <a:t> 电荷</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9E0800C-D4D4-4208-A063-F7983A0A9E37}"/>
                  </a:ext>
                </a:extLst>
              </p:cNvPr>
              <p:cNvSpPr/>
              <p:nvPr/>
            </p:nvSpPr>
            <p:spPr>
              <a:xfrm>
                <a:off x="2169165" y="4880638"/>
                <a:ext cx="3850199" cy="1098634"/>
              </a:xfrm>
              <a:prstGeom prst="rect">
                <a:avLst/>
              </a:prstGeom>
            </p:spPr>
            <p:txBody>
              <a:bodyPr wrap="square">
                <a:spAutoFit/>
              </a:bodyPr>
              <a:lstStyle/>
              <a:p>
                <a:pPr>
                  <a:spcBef>
                    <a:spcPct val="50000"/>
                  </a:spcBef>
                </a:pPr>
                <a14:m>
                  <m:oMathPara xmlns:m="http://schemas.openxmlformats.org/officeDocument/2006/math">
                    <m:oMathParaPr>
                      <m:jc m:val="centerGroup"/>
                    </m:oMathParaPr>
                    <m:oMath xmlns:m="http://schemas.openxmlformats.org/officeDocument/2006/math">
                      <m:nary>
                        <m:naryPr>
                          <m:chr m:val="∯"/>
                          <m:ctrlPr>
                            <a:rPr lang="en-US" altLang="zh-CN" sz="2800" b="1" i="1" smtClean="0">
                              <a:solidFill>
                                <a:srgbClr val="FF0000"/>
                              </a:solidFill>
                              <a:latin typeface="Cambria Math" panose="02040503050406030204" pitchFamily="18" charset="0"/>
                              <a:ea typeface="Cambria Math" panose="02040503050406030204" pitchFamily="18" charset="0"/>
                            </a:rPr>
                          </m:ctrlPr>
                        </m:naryPr>
                        <m:sub>
                          <m:r>
                            <m:rPr>
                              <m:brk m:alnAt="23"/>
                            </m:rPr>
                            <a:rPr lang="en-US" altLang="zh-CN" sz="2800" b="1" i="1">
                              <a:solidFill>
                                <a:srgbClr val="FF0000"/>
                              </a:solidFill>
                              <a:latin typeface="Cambria Math" panose="02040503050406030204" pitchFamily="18" charset="0"/>
                              <a:ea typeface="Cambria Math" panose="02040503050406030204" pitchFamily="18" charset="0"/>
                            </a:rPr>
                            <m:t>𝑺</m:t>
                          </m:r>
                        </m:sub>
                        <m:sup/>
                        <m:e>
                          <m:acc>
                            <m:accPr>
                              <m:chr m:val="⃗"/>
                              <m:ctrlPr>
                                <a:rPr lang="en-US" altLang="zh-CN" sz="2800" b="1" i="1">
                                  <a:solidFill>
                                    <a:srgbClr val="FF0000"/>
                                  </a:solidFill>
                                  <a:latin typeface="Cambria Math" panose="02040503050406030204" pitchFamily="18" charset="0"/>
                                  <a:ea typeface="Cambria Math" panose="02040503050406030204" pitchFamily="18" charset="0"/>
                                </a:rPr>
                              </m:ctrlPr>
                            </m:accPr>
                            <m:e>
                              <m:r>
                                <a:rPr lang="en-US" altLang="zh-CN" sz="2800" b="1" i="1">
                                  <a:solidFill>
                                    <a:srgbClr val="FF0000"/>
                                  </a:solidFill>
                                  <a:latin typeface="Cambria Math" panose="02040503050406030204" pitchFamily="18" charset="0"/>
                                  <a:ea typeface="Cambria Math" panose="02040503050406030204" pitchFamily="18" charset="0"/>
                                </a:rPr>
                                <m:t>𝑬</m:t>
                              </m:r>
                            </m:e>
                          </m:acc>
                          <m:r>
                            <a:rPr lang="en-US" altLang="zh-CN" sz="2800" b="1" i="1">
                              <a:solidFill>
                                <a:srgbClr val="FF0000"/>
                              </a:solidFill>
                              <a:latin typeface="Cambria Math" panose="02040503050406030204" pitchFamily="18" charset="0"/>
                              <a:ea typeface="Cambria Math" panose="02040503050406030204" pitchFamily="18" charset="0"/>
                            </a:rPr>
                            <m:t>∙</m:t>
                          </m:r>
                          <m:r>
                            <a:rPr lang="en-US" altLang="zh-CN" sz="2800" b="1" i="1">
                              <a:solidFill>
                                <a:srgbClr val="FF0000"/>
                              </a:solidFill>
                              <a:latin typeface="Cambria Math" panose="02040503050406030204" pitchFamily="18" charset="0"/>
                              <a:ea typeface="Cambria Math" panose="02040503050406030204" pitchFamily="18" charset="0"/>
                            </a:rPr>
                            <m:t>𝒅</m:t>
                          </m:r>
                          <m:acc>
                            <m:accPr>
                              <m:chr m:val="⃗"/>
                              <m:ctrlPr>
                                <a:rPr lang="en-US" altLang="zh-CN" sz="2800" b="1" i="1">
                                  <a:solidFill>
                                    <a:srgbClr val="FF0000"/>
                                  </a:solidFill>
                                  <a:latin typeface="Cambria Math" panose="02040503050406030204" pitchFamily="18" charset="0"/>
                                  <a:ea typeface="Cambria Math" panose="02040503050406030204" pitchFamily="18" charset="0"/>
                                </a:rPr>
                              </m:ctrlPr>
                            </m:accPr>
                            <m:e>
                              <m:r>
                                <a:rPr lang="en-US" altLang="zh-CN" sz="2800" b="1" i="1">
                                  <a:solidFill>
                                    <a:srgbClr val="FF0000"/>
                                  </a:solidFill>
                                  <a:latin typeface="Cambria Math" panose="02040503050406030204" pitchFamily="18" charset="0"/>
                                  <a:ea typeface="Cambria Math" panose="02040503050406030204" pitchFamily="18" charset="0"/>
                                </a:rPr>
                                <m:t>𝑺</m:t>
                              </m:r>
                            </m:e>
                          </m:acc>
                        </m:e>
                      </m:nary>
                      <m:r>
                        <a:rPr lang="en-US" altLang="zh-CN" sz="2800" b="1" i="1">
                          <a:solidFill>
                            <a:srgbClr val="FF0000"/>
                          </a:solidFill>
                          <a:latin typeface="Cambria Math" panose="02040503050406030204" pitchFamily="18" charset="0"/>
                          <a:ea typeface="Cambria Math" panose="02040503050406030204" pitchFamily="18" charset="0"/>
                        </a:rPr>
                        <m:t>=</m:t>
                      </m:r>
                      <m:f>
                        <m:fPr>
                          <m:ctrlPr>
                            <a:rPr lang="en-US" altLang="zh-CN" sz="2800" b="1" i="1">
                              <a:solidFill>
                                <a:srgbClr val="FF0000"/>
                              </a:solidFill>
                              <a:latin typeface="Cambria Math" panose="02040503050406030204" pitchFamily="18" charset="0"/>
                              <a:ea typeface="Cambria Math" panose="02040503050406030204" pitchFamily="18" charset="0"/>
                            </a:rPr>
                          </m:ctrlPr>
                        </m:fPr>
                        <m:num>
                          <m:r>
                            <a:rPr lang="en-US" altLang="zh-CN" sz="2800" b="1" i="1" smtClean="0">
                              <a:solidFill>
                                <a:srgbClr val="FF0000"/>
                              </a:solidFill>
                              <a:latin typeface="Cambria Math" panose="02040503050406030204" pitchFamily="18" charset="0"/>
                              <a:ea typeface="Cambria Math" panose="02040503050406030204" pitchFamily="18" charset="0"/>
                            </a:rPr>
                            <m:t>𝒒</m:t>
                          </m:r>
                        </m:num>
                        <m:den>
                          <m:sSub>
                            <m:sSubPr>
                              <m:ctrlPr>
                                <a:rPr lang="en-US" altLang="zh-CN" sz="2800" b="1" i="1">
                                  <a:solidFill>
                                    <a:srgbClr val="FF0000"/>
                                  </a:solidFill>
                                  <a:latin typeface="Cambria Math" panose="02040503050406030204" pitchFamily="18" charset="0"/>
                                  <a:ea typeface="Cambria Math" panose="02040503050406030204" pitchFamily="18" charset="0"/>
                                </a:rPr>
                              </m:ctrlPr>
                            </m:sSubPr>
                            <m:e>
                              <m:r>
                                <a:rPr lang="zh-CN" altLang="en-US" sz="2800" b="1" i="1">
                                  <a:solidFill>
                                    <a:srgbClr val="FF0000"/>
                                  </a:solidFill>
                                  <a:latin typeface="Cambria Math" panose="02040503050406030204" pitchFamily="18" charset="0"/>
                                  <a:ea typeface="Cambria Math" panose="02040503050406030204" pitchFamily="18" charset="0"/>
                                </a:rPr>
                                <m:t>𝜺</m:t>
                              </m:r>
                            </m:e>
                            <m:sub>
                              <m:r>
                                <a:rPr lang="en-US" altLang="zh-CN" sz="2800" b="1" i="1">
                                  <a:solidFill>
                                    <a:srgbClr val="FF0000"/>
                                  </a:solidFill>
                                  <a:latin typeface="Cambria Math" panose="02040503050406030204" pitchFamily="18" charset="0"/>
                                  <a:ea typeface="Cambria Math" panose="02040503050406030204" pitchFamily="18" charset="0"/>
                                </a:rPr>
                                <m:t>𝟎</m:t>
                              </m:r>
                            </m:sub>
                          </m:sSub>
                        </m:den>
                      </m:f>
                    </m:oMath>
                  </m:oMathPara>
                </a14:m>
                <a:endParaRPr lang="en-US" sz="2800" dirty="0">
                  <a:solidFill>
                    <a:srgbClr val="FF0000"/>
                  </a:solidFill>
                </a:endParaRPr>
              </a:p>
            </p:txBody>
          </p:sp>
        </mc:Choice>
        <mc:Fallback xmlns="">
          <p:sp>
            <p:nvSpPr>
              <p:cNvPr id="9" name="矩形 8">
                <a:extLst>
                  <a:ext uri="{FF2B5EF4-FFF2-40B4-BE49-F238E27FC236}">
                    <a16:creationId xmlns:a16="http://schemas.microsoft.com/office/drawing/2014/main" id="{A9E0800C-D4D4-4208-A063-F7983A0A9E37}"/>
                  </a:ext>
                </a:extLst>
              </p:cNvPr>
              <p:cNvSpPr>
                <a:spLocks noRot="1" noChangeAspect="1" noMove="1" noResize="1" noEditPoints="1" noAdjustHandles="1" noChangeArrowheads="1" noChangeShapeType="1" noTextEdit="1"/>
              </p:cNvSpPr>
              <p:nvPr/>
            </p:nvSpPr>
            <p:spPr>
              <a:xfrm>
                <a:off x="2169165" y="4880638"/>
                <a:ext cx="3850199" cy="1098634"/>
              </a:xfrm>
              <a:prstGeom prst="rect">
                <a:avLst/>
              </a:prstGeom>
              <a:blipFill>
                <a:blip r:embed="rId2"/>
                <a:stretch>
                  <a:fillRect/>
                </a:stretch>
              </a:blipFill>
            </p:spPr>
            <p:txBody>
              <a:bodyPr/>
              <a:lstStyle/>
              <a:p>
                <a:r>
                  <a:rPr lang="zh-CN" altLang="en-US">
                    <a:noFill/>
                  </a:rPr>
                  <a:t> </a:t>
                </a:r>
              </a:p>
            </p:txBody>
          </p:sp>
        </mc:Fallback>
      </mc:AlternateContent>
      <p:grpSp>
        <p:nvGrpSpPr>
          <p:cNvPr id="124" name="组合 123">
            <a:extLst>
              <a:ext uri="{FF2B5EF4-FFF2-40B4-BE49-F238E27FC236}">
                <a16:creationId xmlns:a16="http://schemas.microsoft.com/office/drawing/2014/main" id="{D205383B-C897-40FE-BD48-8826127BA9EC}"/>
              </a:ext>
            </a:extLst>
          </p:cNvPr>
          <p:cNvGrpSpPr/>
          <p:nvPr/>
        </p:nvGrpSpPr>
        <p:grpSpPr>
          <a:xfrm>
            <a:off x="2661920" y="765269"/>
            <a:ext cx="4158313" cy="3557811"/>
            <a:chOff x="6096000" y="-313265"/>
            <a:chExt cx="6019800" cy="5325532"/>
          </a:xfrm>
        </p:grpSpPr>
        <p:grpSp>
          <p:nvGrpSpPr>
            <p:cNvPr id="61" name="Group 3">
              <a:extLst>
                <a:ext uri="{FF2B5EF4-FFF2-40B4-BE49-F238E27FC236}">
                  <a16:creationId xmlns:a16="http://schemas.microsoft.com/office/drawing/2014/main" id="{E2BEC9C6-827C-4366-9E80-03AA7B554B34}"/>
                </a:ext>
              </a:extLst>
            </p:cNvPr>
            <p:cNvGrpSpPr>
              <a:grpSpLocks/>
            </p:cNvGrpSpPr>
            <p:nvPr/>
          </p:nvGrpSpPr>
          <p:grpSpPr bwMode="auto">
            <a:xfrm>
              <a:off x="6096000" y="-313265"/>
              <a:ext cx="6019800" cy="5325532"/>
              <a:chOff x="624" y="77"/>
              <a:chExt cx="4704" cy="4133"/>
            </a:xfrm>
          </p:grpSpPr>
          <p:sp>
            <p:nvSpPr>
              <p:cNvPr id="62" name="Arc 4">
                <a:extLst>
                  <a:ext uri="{FF2B5EF4-FFF2-40B4-BE49-F238E27FC236}">
                    <a16:creationId xmlns:a16="http://schemas.microsoft.com/office/drawing/2014/main" id="{D2CD36C8-E669-40CB-8EE1-1845B9CA277A}"/>
                  </a:ext>
                </a:extLst>
              </p:cNvPr>
              <p:cNvSpPr>
                <a:spLocks/>
              </p:cNvSpPr>
              <p:nvPr/>
            </p:nvSpPr>
            <p:spPr bwMode="auto">
              <a:xfrm>
                <a:off x="980" y="77"/>
                <a:ext cx="1372" cy="1555"/>
              </a:xfrm>
              <a:custGeom>
                <a:avLst/>
                <a:gdLst>
                  <a:gd name="T0" fmla="*/ 0 w 20574"/>
                  <a:gd name="T1" fmla="*/ 0 h 16664"/>
                  <a:gd name="T2" fmla="*/ 0 w 20574"/>
                  <a:gd name="T3" fmla="*/ 0 h 16664"/>
                  <a:gd name="T4" fmla="*/ 0 w 20574"/>
                  <a:gd name="T5" fmla="*/ 0 h 16664"/>
                  <a:gd name="T6" fmla="*/ 0 60000 65536"/>
                  <a:gd name="T7" fmla="*/ 0 60000 65536"/>
                  <a:gd name="T8" fmla="*/ 0 60000 65536"/>
                </a:gdLst>
                <a:ahLst/>
                <a:cxnLst>
                  <a:cxn ang="T6">
                    <a:pos x="T0" y="T1"/>
                  </a:cxn>
                  <a:cxn ang="T7">
                    <a:pos x="T2" y="T3"/>
                  </a:cxn>
                  <a:cxn ang="T8">
                    <a:pos x="T4" y="T5"/>
                  </a:cxn>
                </a:cxnLst>
                <a:rect l="0" t="0" r="r" b="b"/>
                <a:pathLst>
                  <a:path w="20574" h="16664" fill="none" extrusionOk="0">
                    <a:moveTo>
                      <a:pt x="6830" y="16664"/>
                    </a:moveTo>
                    <a:cubicBezTo>
                      <a:pt x="3633" y="14026"/>
                      <a:pt x="1261" y="10525"/>
                      <a:pt x="-1" y="6577"/>
                    </a:cubicBezTo>
                  </a:path>
                  <a:path w="20574" h="16664" stroke="0" extrusionOk="0">
                    <a:moveTo>
                      <a:pt x="6830" y="16664"/>
                    </a:moveTo>
                    <a:cubicBezTo>
                      <a:pt x="3633" y="14026"/>
                      <a:pt x="1261" y="10525"/>
                      <a:pt x="-1" y="6577"/>
                    </a:cubicBezTo>
                    <a:lnTo>
                      <a:pt x="20574" y="0"/>
                    </a:lnTo>
                    <a:lnTo>
                      <a:pt x="6830" y="16664"/>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nvGrpSpPr>
              <p:cNvPr id="63" name="Group 5">
                <a:extLst>
                  <a:ext uri="{FF2B5EF4-FFF2-40B4-BE49-F238E27FC236}">
                    <a16:creationId xmlns:a16="http://schemas.microsoft.com/office/drawing/2014/main" id="{F6B66B5F-1D3A-477C-BD75-96D031914977}"/>
                  </a:ext>
                </a:extLst>
              </p:cNvPr>
              <p:cNvGrpSpPr>
                <a:grpSpLocks/>
              </p:cNvGrpSpPr>
              <p:nvPr/>
            </p:nvGrpSpPr>
            <p:grpSpPr bwMode="auto">
              <a:xfrm>
                <a:off x="624" y="240"/>
                <a:ext cx="4704" cy="3970"/>
                <a:chOff x="624" y="240"/>
                <a:chExt cx="4704" cy="3970"/>
              </a:xfrm>
            </p:grpSpPr>
            <p:sp>
              <p:nvSpPr>
                <p:cNvPr id="64" name="Arc 6">
                  <a:extLst>
                    <a:ext uri="{FF2B5EF4-FFF2-40B4-BE49-F238E27FC236}">
                      <a16:creationId xmlns:a16="http://schemas.microsoft.com/office/drawing/2014/main" id="{D65A7492-24E9-4BF3-8849-83F9C7595D0D}"/>
                    </a:ext>
                  </a:extLst>
                </p:cNvPr>
                <p:cNvSpPr>
                  <a:spLocks/>
                </p:cNvSpPr>
                <p:nvPr/>
              </p:nvSpPr>
              <p:spPr bwMode="auto">
                <a:xfrm>
                  <a:off x="2200" y="1872"/>
                  <a:ext cx="1506" cy="1500"/>
                </a:xfrm>
                <a:custGeom>
                  <a:avLst/>
                  <a:gdLst>
                    <a:gd name="T0" fmla="*/ 0 w 25098"/>
                    <a:gd name="T1" fmla="*/ 0 h 21600"/>
                    <a:gd name="T2" fmla="*/ 0 w 25098"/>
                    <a:gd name="T3" fmla="*/ 0 h 21600"/>
                    <a:gd name="T4" fmla="*/ 0 w 25098"/>
                    <a:gd name="T5" fmla="*/ 0 h 21600"/>
                    <a:gd name="T6" fmla="*/ 0 60000 65536"/>
                    <a:gd name="T7" fmla="*/ 0 60000 65536"/>
                    <a:gd name="T8" fmla="*/ 0 60000 65536"/>
                  </a:gdLst>
                  <a:ahLst/>
                  <a:cxnLst>
                    <a:cxn ang="T6">
                      <a:pos x="T0" y="T1"/>
                    </a:cxn>
                    <a:cxn ang="T7">
                      <a:pos x="T2" y="T3"/>
                    </a:cxn>
                    <a:cxn ang="T8">
                      <a:pos x="T4" y="T5"/>
                    </a:cxn>
                  </a:cxnLst>
                  <a:rect l="0" t="0" r="r" b="b"/>
                  <a:pathLst>
                    <a:path w="25098" h="21600" fill="none" extrusionOk="0">
                      <a:moveTo>
                        <a:pt x="-1" y="4296"/>
                      </a:moveTo>
                      <a:cubicBezTo>
                        <a:pt x="3733" y="1507"/>
                        <a:pt x="8268" y="-1"/>
                        <a:pt x="12929" y="0"/>
                      </a:cubicBezTo>
                      <a:cubicBezTo>
                        <a:pt x="17270" y="0"/>
                        <a:pt x="21511" y="1308"/>
                        <a:pt x="25097" y="3754"/>
                      </a:cubicBezTo>
                    </a:path>
                    <a:path w="25098" h="21600" stroke="0" extrusionOk="0">
                      <a:moveTo>
                        <a:pt x="-1" y="4296"/>
                      </a:moveTo>
                      <a:cubicBezTo>
                        <a:pt x="3733" y="1507"/>
                        <a:pt x="8268" y="-1"/>
                        <a:pt x="12929" y="0"/>
                      </a:cubicBezTo>
                      <a:cubicBezTo>
                        <a:pt x="17270" y="0"/>
                        <a:pt x="21511" y="1308"/>
                        <a:pt x="25097" y="3754"/>
                      </a:cubicBezTo>
                      <a:lnTo>
                        <a:pt x="12929" y="21600"/>
                      </a:lnTo>
                      <a:lnTo>
                        <a:pt x="-1" y="4296"/>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5" name="Arc 7">
                  <a:extLst>
                    <a:ext uri="{FF2B5EF4-FFF2-40B4-BE49-F238E27FC236}">
                      <a16:creationId xmlns:a16="http://schemas.microsoft.com/office/drawing/2014/main" id="{E04BEFB4-3BAA-4915-A498-8414EDED34B6}"/>
                    </a:ext>
                  </a:extLst>
                </p:cNvPr>
                <p:cNvSpPr>
                  <a:spLocks/>
                </p:cNvSpPr>
                <p:nvPr/>
              </p:nvSpPr>
              <p:spPr bwMode="auto">
                <a:xfrm>
                  <a:off x="1438" y="240"/>
                  <a:ext cx="1059" cy="1899"/>
                </a:xfrm>
                <a:custGeom>
                  <a:avLst/>
                  <a:gdLst>
                    <a:gd name="T0" fmla="*/ 0 w 15885"/>
                    <a:gd name="T1" fmla="*/ 0 h 20348"/>
                    <a:gd name="T2" fmla="*/ 0 w 15885"/>
                    <a:gd name="T3" fmla="*/ 0 h 20348"/>
                    <a:gd name="T4" fmla="*/ 0 w 15885"/>
                    <a:gd name="T5" fmla="*/ 0 h 20348"/>
                    <a:gd name="T6" fmla="*/ 0 60000 65536"/>
                    <a:gd name="T7" fmla="*/ 0 60000 65536"/>
                    <a:gd name="T8" fmla="*/ 0 60000 65536"/>
                  </a:gdLst>
                  <a:ahLst/>
                  <a:cxnLst>
                    <a:cxn ang="T6">
                      <a:pos x="T0" y="T1"/>
                    </a:cxn>
                    <a:cxn ang="T7">
                      <a:pos x="T2" y="T3"/>
                    </a:cxn>
                    <a:cxn ang="T8">
                      <a:pos x="T4" y="T5"/>
                    </a:cxn>
                  </a:cxnLst>
                  <a:rect l="0" t="0" r="r" b="b"/>
                  <a:pathLst>
                    <a:path w="15885" h="20348" fill="none" extrusionOk="0">
                      <a:moveTo>
                        <a:pt x="8638" y="20348"/>
                      </a:moveTo>
                      <a:cubicBezTo>
                        <a:pt x="5338" y="19173"/>
                        <a:pt x="2373" y="17212"/>
                        <a:pt x="-1" y="14636"/>
                      </a:cubicBezTo>
                    </a:path>
                    <a:path w="15885" h="20348" stroke="0" extrusionOk="0">
                      <a:moveTo>
                        <a:pt x="8638" y="20348"/>
                      </a:moveTo>
                      <a:cubicBezTo>
                        <a:pt x="5338" y="19173"/>
                        <a:pt x="2373" y="17212"/>
                        <a:pt x="-1" y="14636"/>
                      </a:cubicBezTo>
                      <a:lnTo>
                        <a:pt x="15885" y="0"/>
                      </a:lnTo>
                      <a:lnTo>
                        <a:pt x="8638" y="20348"/>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6" name="Arc 8">
                  <a:extLst>
                    <a:ext uri="{FF2B5EF4-FFF2-40B4-BE49-F238E27FC236}">
                      <a16:creationId xmlns:a16="http://schemas.microsoft.com/office/drawing/2014/main" id="{B2EFD998-1571-4264-8394-90BEE6ED5F5D}"/>
                    </a:ext>
                  </a:extLst>
                </p:cNvPr>
                <p:cNvSpPr>
                  <a:spLocks/>
                </p:cNvSpPr>
                <p:nvPr/>
              </p:nvSpPr>
              <p:spPr bwMode="auto">
                <a:xfrm>
                  <a:off x="1212" y="336"/>
                  <a:ext cx="803" cy="1824"/>
                </a:xfrm>
                <a:custGeom>
                  <a:avLst/>
                  <a:gdLst>
                    <a:gd name="T0" fmla="*/ 0 w 10723"/>
                    <a:gd name="T1" fmla="*/ 0 h 21600"/>
                    <a:gd name="T2" fmla="*/ 0 w 10723"/>
                    <a:gd name="T3" fmla="*/ 0 h 21600"/>
                    <a:gd name="T4" fmla="*/ 0 w 10723"/>
                    <a:gd name="T5" fmla="*/ 0 h 21600"/>
                    <a:gd name="T6" fmla="*/ 0 60000 65536"/>
                    <a:gd name="T7" fmla="*/ 0 60000 65536"/>
                    <a:gd name="T8" fmla="*/ 0 60000 65536"/>
                  </a:gdLst>
                  <a:ahLst/>
                  <a:cxnLst>
                    <a:cxn ang="T6">
                      <a:pos x="T0" y="T1"/>
                    </a:cxn>
                    <a:cxn ang="T7">
                      <a:pos x="T2" y="T3"/>
                    </a:cxn>
                    <a:cxn ang="T8">
                      <a:pos x="T4" y="T5"/>
                    </a:cxn>
                  </a:cxnLst>
                  <a:rect l="0" t="0" r="r" b="b"/>
                  <a:pathLst>
                    <a:path w="10723" h="21600" fill="none" extrusionOk="0">
                      <a:moveTo>
                        <a:pt x="10723" y="21600"/>
                      </a:moveTo>
                      <a:cubicBezTo>
                        <a:pt x="6961" y="21600"/>
                        <a:pt x="3265" y="20617"/>
                        <a:pt x="0" y="18750"/>
                      </a:cubicBezTo>
                    </a:path>
                    <a:path w="10723" h="21600" stroke="0" extrusionOk="0">
                      <a:moveTo>
                        <a:pt x="10723" y="21600"/>
                      </a:moveTo>
                      <a:cubicBezTo>
                        <a:pt x="6961" y="21600"/>
                        <a:pt x="3265" y="20617"/>
                        <a:pt x="0" y="18750"/>
                      </a:cubicBezTo>
                      <a:lnTo>
                        <a:pt x="10723" y="0"/>
                      </a:lnTo>
                      <a:lnTo>
                        <a:pt x="10723" y="21600"/>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7" name="Arc 9">
                  <a:extLst>
                    <a:ext uri="{FF2B5EF4-FFF2-40B4-BE49-F238E27FC236}">
                      <a16:creationId xmlns:a16="http://schemas.microsoft.com/office/drawing/2014/main" id="{55D50EED-5403-4877-8684-F38C67E5BBF2}"/>
                    </a:ext>
                  </a:extLst>
                </p:cNvPr>
                <p:cNvSpPr>
                  <a:spLocks/>
                </p:cNvSpPr>
                <p:nvPr/>
              </p:nvSpPr>
              <p:spPr bwMode="auto">
                <a:xfrm>
                  <a:off x="1845" y="576"/>
                  <a:ext cx="412" cy="1538"/>
                </a:xfrm>
                <a:custGeom>
                  <a:avLst/>
                  <a:gdLst>
                    <a:gd name="T0" fmla="*/ 0 w 18526"/>
                    <a:gd name="T1" fmla="*/ 0 h 19738"/>
                    <a:gd name="T2" fmla="*/ 0 w 18526"/>
                    <a:gd name="T3" fmla="*/ 0 h 19738"/>
                    <a:gd name="T4" fmla="*/ 0 w 18526"/>
                    <a:gd name="T5" fmla="*/ 0 h 19738"/>
                    <a:gd name="T6" fmla="*/ 0 60000 65536"/>
                    <a:gd name="T7" fmla="*/ 0 60000 65536"/>
                    <a:gd name="T8" fmla="*/ 0 60000 65536"/>
                  </a:gdLst>
                  <a:ahLst/>
                  <a:cxnLst>
                    <a:cxn ang="T6">
                      <a:pos x="T0" y="T1"/>
                    </a:cxn>
                    <a:cxn ang="T7">
                      <a:pos x="T2" y="T3"/>
                    </a:cxn>
                    <a:cxn ang="T8">
                      <a:pos x="T4" y="T5"/>
                    </a:cxn>
                  </a:cxnLst>
                  <a:rect l="0" t="0" r="r" b="b"/>
                  <a:pathLst>
                    <a:path w="18526" h="19738" fill="none" extrusionOk="0">
                      <a:moveTo>
                        <a:pt x="9752" y="19737"/>
                      </a:moveTo>
                      <a:cubicBezTo>
                        <a:pt x="5690" y="17932"/>
                        <a:pt x="2285" y="14918"/>
                        <a:pt x="-1" y="11106"/>
                      </a:cubicBezTo>
                    </a:path>
                    <a:path w="18526" h="19738" stroke="0" extrusionOk="0">
                      <a:moveTo>
                        <a:pt x="9752" y="19737"/>
                      </a:moveTo>
                      <a:cubicBezTo>
                        <a:pt x="5690" y="17932"/>
                        <a:pt x="2285" y="14918"/>
                        <a:pt x="-1" y="11106"/>
                      </a:cubicBezTo>
                      <a:lnTo>
                        <a:pt x="18526" y="0"/>
                      </a:lnTo>
                      <a:lnTo>
                        <a:pt x="9752" y="1973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8" name="Arc 10">
                  <a:extLst>
                    <a:ext uri="{FF2B5EF4-FFF2-40B4-BE49-F238E27FC236}">
                      <a16:creationId xmlns:a16="http://schemas.microsoft.com/office/drawing/2014/main" id="{7C77B716-053E-4284-A10F-AFDE9B19A2DC}"/>
                    </a:ext>
                  </a:extLst>
                </p:cNvPr>
                <p:cNvSpPr>
                  <a:spLocks/>
                </p:cNvSpPr>
                <p:nvPr/>
              </p:nvSpPr>
              <p:spPr bwMode="auto">
                <a:xfrm rot="10800000">
                  <a:off x="2716" y="1585"/>
                  <a:ext cx="1156" cy="830"/>
                </a:xfrm>
                <a:custGeom>
                  <a:avLst/>
                  <a:gdLst>
                    <a:gd name="T0" fmla="*/ 0 w 16763"/>
                    <a:gd name="T1" fmla="*/ 0 h 21600"/>
                    <a:gd name="T2" fmla="*/ 0 w 16763"/>
                    <a:gd name="T3" fmla="*/ 0 h 21600"/>
                    <a:gd name="T4" fmla="*/ 0 w 16763"/>
                    <a:gd name="T5" fmla="*/ 0 h 21600"/>
                    <a:gd name="T6" fmla="*/ 0 60000 65536"/>
                    <a:gd name="T7" fmla="*/ 0 60000 65536"/>
                    <a:gd name="T8" fmla="*/ 0 60000 65536"/>
                  </a:gdLst>
                  <a:ahLst/>
                  <a:cxnLst>
                    <a:cxn ang="T6">
                      <a:pos x="T0" y="T1"/>
                    </a:cxn>
                    <a:cxn ang="T7">
                      <a:pos x="T2" y="T3"/>
                    </a:cxn>
                    <a:cxn ang="T8">
                      <a:pos x="T4" y="T5"/>
                    </a:cxn>
                  </a:cxnLst>
                  <a:rect l="0" t="0" r="r" b="b"/>
                  <a:pathLst>
                    <a:path w="16763" h="21600" fill="none" extrusionOk="0">
                      <a:moveTo>
                        <a:pt x="-1" y="2975"/>
                      </a:moveTo>
                      <a:cubicBezTo>
                        <a:pt x="3316" y="1027"/>
                        <a:pt x="7093" y="-1"/>
                        <a:pt x="10940" y="0"/>
                      </a:cubicBezTo>
                      <a:cubicBezTo>
                        <a:pt x="12908" y="0"/>
                        <a:pt x="14867" y="269"/>
                        <a:pt x="16763" y="799"/>
                      </a:cubicBezTo>
                    </a:path>
                    <a:path w="16763" h="21600" stroke="0" extrusionOk="0">
                      <a:moveTo>
                        <a:pt x="-1" y="2975"/>
                      </a:moveTo>
                      <a:cubicBezTo>
                        <a:pt x="3316" y="1027"/>
                        <a:pt x="7093" y="-1"/>
                        <a:pt x="10940" y="0"/>
                      </a:cubicBezTo>
                      <a:cubicBezTo>
                        <a:pt x="12908" y="0"/>
                        <a:pt x="14867" y="269"/>
                        <a:pt x="16763" y="799"/>
                      </a:cubicBezTo>
                      <a:lnTo>
                        <a:pt x="10940" y="21600"/>
                      </a:lnTo>
                      <a:lnTo>
                        <a:pt x="-1" y="2975"/>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69" name="Arc 11">
                  <a:extLst>
                    <a:ext uri="{FF2B5EF4-FFF2-40B4-BE49-F238E27FC236}">
                      <a16:creationId xmlns:a16="http://schemas.microsoft.com/office/drawing/2014/main" id="{EABDB175-6A5E-445F-8FB2-E3A62A06B3A8}"/>
                    </a:ext>
                  </a:extLst>
                </p:cNvPr>
                <p:cNvSpPr>
                  <a:spLocks/>
                </p:cNvSpPr>
                <p:nvPr/>
              </p:nvSpPr>
              <p:spPr bwMode="auto">
                <a:xfrm>
                  <a:off x="2204" y="2321"/>
                  <a:ext cx="1637" cy="1759"/>
                </a:xfrm>
                <a:custGeom>
                  <a:avLst/>
                  <a:gdLst>
                    <a:gd name="T0" fmla="*/ 0 w 40925"/>
                    <a:gd name="T1" fmla="*/ 0 h 21988"/>
                    <a:gd name="T2" fmla="*/ 0 w 40925"/>
                    <a:gd name="T3" fmla="*/ 0 h 21988"/>
                    <a:gd name="T4" fmla="*/ 0 w 40925"/>
                    <a:gd name="T5" fmla="*/ 0 h 21988"/>
                    <a:gd name="T6" fmla="*/ 0 60000 65536"/>
                    <a:gd name="T7" fmla="*/ 0 60000 65536"/>
                    <a:gd name="T8" fmla="*/ 0 60000 65536"/>
                  </a:gdLst>
                  <a:ahLst/>
                  <a:cxnLst>
                    <a:cxn ang="T6">
                      <a:pos x="T0" y="T1"/>
                    </a:cxn>
                    <a:cxn ang="T7">
                      <a:pos x="T2" y="T3"/>
                    </a:cxn>
                    <a:cxn ang="T8">
                      <a:pos x="T4" y="T5"/>
                    </a:cxn>
                  </a:cxnLst>
                  <a:rect l="0" t="0" r="r" b="b"/>
                  <a:pathLst>
                    <a:path w="40925" h="21988" fill="none" extrusionOk="0">
                      <a:moveTo>
                        <a:pt x="40921" y="0"/>
                      </a:moveTo>
                      <a:cubicBezTo>
                        <a:pt x="40923" y="129"/>
                        <a:pt x="40925" y="258"/>
                        <a:pt x="40925" y="388"/>
                      </a:cubicBezTo>
                      <a:cubicBezTo>
                        <a:pt x="40925" y="12317"/>
                        <a:pt x="31254" y="21988"/>
                        <a:pt x="19325" y="21988"/>
                      </a:cubicBezTo>
                      <a:cubicBezTo>
                        <a:pt x="11139" y="21988"/>
                        <a:pt x="3657" y="17361"/>
                        <a:pt x="0" y="10037"/>
                      </a:cubicBezTo>
                    </a:path>
                    <a:path w="40925" h="21988" stroke="0" extrusionOk="0">
                      <a:moveTo>
                        <a:pt x="40921" y="0"/>
                      </a:moveTo>
                      <a:cubicBezTo>
                        <a:pt x="40923" y="129"/>
                        <a:pt x="40925" y="258"/>
                        <a:pt x="40925" y="388"/>
                      </a:cubicBezTo>
                      <a:cubicBezTo>
                        <a:pt x="40925" y="12317"/>
                        <a:pt x="31254" y="21988"/>
                        <a:pt x="19325" y="21988"/>
                      </a:cubicBezTo>
                      <a:cubicBezTo>
                        <a:pt x="11139" y="21988"/>
                        <a:pt x="3657" y="17361"/>
                        <a:pt x="0" y="10037"/>
                      </a:cubicBezTo>
                      <a:lnTo>
                        <a:pt x="19325" y="388"/>
                      </a:lnTo>
                      <a:lnTo>
                        <a:pt x="40921" y="0"/>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0" name="Arc 12">
                  <a:extLst>
                    <a:ext uri="{FF2B5EF4-FFF2-40B4-BE49-F238E27FC236}">
                      <a16:creationId xmlns:a16="http://schemas.microsoft.com/office/drawing/2014/main" id="{FC05B812-3A67-4E9C-BACE-B1BF7F69F9B2}"/>
                    </a:ext>
                  </a:extLst>
                </p:cNvPr>
                <p:cNvSpPr>
                  <a:spLocks/>
                </p:cNvSpPr>
                <p:nvPr/>
              </p:nvSpPr>
              <p:spPr bwMode="auto">
                <a:xfrm>
                  <a:off x="3408" y="816"/>
                  <a:ext cx="1344" cy="1313"/>
                </a:xfrm>
                <a:custGeom>
                  <a:avLst/>
                  <a:gdLst>
                    <a:gd name="T0" fmla="*/ 0 w 21600"/>
                    <a:gd name="T1" fmla="*/ 0 h 20150"/>
                    <a:gd name="T2" fmla="*/ 0 w 21600"/>
                    <a:gd name="T3" fmla="*/ 0 h 20150"/>
                    <a:gd name="T4" fmla="*/ 0 w 21600"/>
                    <a:gd name="T5" fmla="*/ 0 h 20150"/>
                    <a:gd name="T6" fmla="*/ 0 60000 65536"/>
                    <a:gd name="T7" fmla="*/ 0 60000 65536"/>
                    <a:gd name="T8" fmla="*/ 0 60000 65536"/>
                  </a:gdLst>
                  <a:ahLst/>
                  <a:cxnLst>
                    <a:cxn ang="T6">
                      <a:pos x="T0" y="T1"/>
                    </a:cxn>
                    <a:cxn ang="T7">
                      <a:pos x="T2" y="T3"/>
                    </a:cxn>
                    <a:cxn ang="T8">
                      <a:pos x="T4" y="T5"/>
                    </a:cxn>
                  </a:cxnLst>
                  <a:rect l="0" t="0" r="r" b="b"/>
                  <a:pathLst>
                    <a:path w="21600" h="20150" fill="none" extrusionOk="0">
                      <a:moveTo>
                        <a:pt x="21600" y="0"/>
                      </a:moveTo>
                      <a:cubicBezTo>
                        <a:pt x="21600" y="8926"/>
                        <a:pt x="16108" y="16933"/>
                        <a:pt x="7781" y="20149"/>
                      </a:cubicBezTo>
                    </a:path>
                    <a:path w="21600" h="20150" stroke="0" extrusionOk="0">
                      <a:moveTo>
                        <a:pt x="21600" y="0"/>
                      </a:moveTo>
                      <a:cubicBezTo>
                        <a:pt x="21600" y="8926"/>
                        <a:pt x="16108" y="16933"/>
                        <a:pt x="7781" y="20149"/>
                      </a:cubicBezTo>
                      <a:lnTo>
                        <a:pt x="0" y="0"/>
                      </a:lnTo>
                      <a:lnTo>
                        <a:pt x="21600" y="0"/>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1" name="Arc 13">
                  <a:extLst>
                    <a:ext uri="{FF2B5EF4-FFF2-40B4-BE49-F238E27FC236}">
                      <a16:creationId xmlns:a16="http://schemas.microsoft.com/office/drawing/2014/main" id="{E7B0D122-7D76-48D5-8378-0DE8759225D5}"/>
                    </a:ext>
                  </a:extLst>
                </p:cNvPr>
                <p:cNvSpPr>
                  <a:spLocks/>
                </p:cNvSpPr>
                <p:nvPr/>
              </p:nvSpPr>
              <p:spPr bwMode="auto">
                <a:xfrm rot="10800000">
                  <a:off x="3361" y="2302"/>
                  <a:ext cx="1416" cy="1860"/>
                </a:xfrm>
                <a:custGeom>
                  <a:avLst/>
                  <a:gdLst>
                    <a:gd name="T0" fmla="*/ 0 w 21239"/>
                    <a:gd name="T1" fmla="*/ 0 h 19926"/>
                    <a:gd name="T2" fmla="*/ 0 w 21239"/>
                    <a:gd name="T3" fmla="*/ 0 h 19926"/>
                    <a:gd name="T4" fmla="*/ 0 w 21239"/>
                    <a:gd name="T5" fmla="*/ 0 h 19926"/>
                    <a:gd name="T6" fmla="*/ 0 60000 65536"/>
                    <a:gd name="T7" fmla="*/ 0 60000 65536"/>
                    <a:gd name="T8" fmla="*/ 0 60000 65536"/>
                  </a:gdLst>
                  <a:ahLst/>
                  <a:cxnLst>
                    <a:cxn ang="T6">
                      <a:pos x="T0" y="T1"/>
                    </a:cxn>
                    <a:cxn ang="T7">
                      <a:pos x="T2" y="T3"/>
                    </a:cxn>
                    <a:cxn ang="T8">
                      <a:pos x="T4" y="T5"/>
                    </a:cxn>
                  </a:cxnLst>
                  <a:rect l="0" t="0" r="r" b="b"/>
                  <a:pathLst>
                    <a:path w="21239" h="19926" fill="none" extrusionOk="0">
                      <a:moveTo>
                        <a:pt x="12900" y="19925"/>
                      </a:moveTo>
                      <a:cubicBezTo>
                        <a:pt x="6177" y="17111"/>
                        <a:pt x="1326" y="11098"/>
                        <a:pt x="-1" y="3932"/>
                      </a:cubicBezTo>
                    </a:path>
                    <a:path w="21239" h="19926" stroke="0" extrusionOk="0">
                      <a:moveTo>
                        <a:pt x="12900" y="19925"/>
                      </a:moveTo>
                      <a:cubicBezTo>
                        <a:pt x="6177" y="17111"/>
                        <a:pt x="1326" y="11098"/>
                        <a:pt x="-1" y="3932"/>
                      </a:cubicBezTo>
                      <a:lnTo>
                        <a:pt x="21239" y="0"/>
                      </a:lnTo>
                      <a:lnTo>
                        <a:pt x="12900" y="19925"/>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2" name="Arc 14">
                  <a:extLst>
                    <a:ext uri="{FF2B5EF4-FFF2-40B4-BE49-F238E27FC236}">
                      <a16:creationId xmlns:a16="http://schemas.microsoft.com/office/drawing/2014/main" id="{7037AD1E-1876-4422-ADD7-442A4EE5934F}"/>
                    </a:ext>
                  </a:extLst>
                </p:cNvPr>
                <p:cNvSpPr>
                  <a:spLocks/>
                </p:cNvSpPr>
                <p:nvPr/>
              </p:nvSpPr>
              <p:spPr bwMode="auto">
                <a:xfrm>
                  <a:off x="3696" y="528"/>
                  <a:ext cx="480" cy="1596"/>
                </a:xfrm>
                <a:custGeom>
                  <a:avLst/>
                  <a:gdLst>
                    <a:gd name="T0" fmla="*/ 0 w 21600"/>
                    <a:gd name="T1" fmla="*/ 0 h 20487"/>
                    <a:gd name="T2" fmla="*/ 0 w 21600"/>
                    <a:gd name="T3" fmla="*/ 0 h 20487"/>
                    <a:gd name="T4" fmla="*/ 0 w 21600"/>
                    <a:gd name="T5" fmla="*/ 0 h 20487"/>
                    <a:gd name="T6" fmla="*/ 0 60000 65536"/>
                    <a:gd name="T7" fmla="*/ 0 60000 65536"/>
                    <a:gd name="T8" fmla="*/ 0 60000 65536"/>
                  </a:gdLst>
                  <a:ahLst/>
                  <a:cxnLst>
                    <a:cxn ang="T6">
                      <a:pos x="T0" y="T1"/>
                    </a:cxn>
                    <a:cxn ang="T7">
                      <a:pos x="T2" y="T3"/>
                    </a:cxn>
                    <a:cxn ang="T8">
                      <a:pos x="T4" y="T5"/>
                    </a:cxn>
                  </a:cxnLst>
                  <a:rect l="0" t="0" r="r" b="b"/>
                  <a:pathLst>
                    <a:path w="21600" h="20487" fill="none" extrusionOk="0">
                      <a:moveTo>
                        <a:pt x="21600" y="0"/>
                      </a:moveTo>
                      <a:cubicBezTo>
                        <a:pt x="21600" y="9291"/>
                        <a:pt x="15657" y="17542"/>
                        <a:pt x="6844" y="20486"/>
                      </a:cubicBezTo>
                    </a:path>
                    <a:path w="21600" h="20487" stroke="0" extrusionOk="0">
                      <a:moveTo>
                        <a:pt x="21600" y="0"/>
                      </a:moveTo>
                      <a:cubicBezTo>
                        <a:pt x="21600" y="9291"/>
                        <a:pt x="15657" y="17542"/>
                        <a:pt x="6844" y="20486"/>
                      </a:cubicBezTo>
                      <a:lnTo>
                        <a:pt x="0" y="0"/>
                      </a:lnTo>
                      <a:lnTo>
                        <a:pt x="21600" y="0"/>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3" name="Arc 15">
                  <a:extLst>
                    <a:ext uri="{FF2B5EF4-FFF2-40B4-BE49-F238E27FC236}">
                      <a16:creationId xmlns:a16="http://schemas.microsoft.com/office/drawing/2014/main" id="{C0127C30-5E06-43A5-B71E-01A63065AE36}"/>
                    </a:ext>
                  </a:extLst>
                </p:cNvPr>
                <p:cNvSpPr>
                  <a:spLocks/>
                </p:cNvSpPr>
                <p:nvPr/>
              </p:nvSpPr>
              <p:spPr bwMode="auto">
                <a:xfrm rot="10800000">
                  <a:off x="3745" y="2338"/>
                  <a:ext cx="480" cy="1608"/>
                </a:xfrm>
                <a:custGeom>
                  <a:avLst/>
                  <a:gdLst>
                    <a:gd name="T0" fmla="*/ 0 w 21600"/>
                    <a:gd name="T1" fmla="*/ 0 h 20634"/>
                    <a:gd name="T2" fmla="*/ 0 w 21600"/>
                    <a:gd name="T3" fmla="*/ 0 h 20634"/>
                    <a:gd name="T4" fmla="*/ 0 w 21600"/>
                    <a:gd name="T5" fmla="*/ 0 h 20634"/>
                    <a:gd name="T6" fmla="*/ 0 60000 65536"/>
                    <a:gd name="T7" fmla="*/ 0 60000 65536"/>
                    <a:gd name="T8" fmla="*/ 0 60000 65536"/>
                  </a:gdLst>
                  <a:ahLst/>
                  <a:cxnLst>
                    <a:cxn ang="T6">
                      <a:pos x="T0" y="T1"/>
                    </a:cxn>
                    <a:cxn ang="T7">
                      <a:pos x="T2" y="T3"/>
                    </a:cxn>
                    <a:cxn ang="T8">
                      <a:pos x="T4" y="T5"/>
                    </a:cxn>
                  </a:cxnLst>
                  <a:rect l="0" t="0" r="r" b="b"/>
                  <a:pathLst>
                    <a:path w="21600" h="20634" fill="none" extrusionOk="0">
                      <a:moveTo>
                        <a:pt x="15211" y="20633"/>
                      </a:moveTo>
                      <a:cubicBezTo>
                        <a:pt x="6166" y="17832"/>
                        <a:pt x="0" y="9468"/>
                        <a:pt x="0" y="0"/>
                      </a:cubicBezTo>
                    </a:path>
                    <a:path w="21600" h="20634" stroke="0" extrusionOk="0">
                      <a:moveTo>
                        <a:pt x="15211" y="20633"/>
                      </a:moveTo>
                      <a:cubicBezTo>
                        <a:pt x="6166" y="17832"/>
                        <a:pt x="0" y="9468"/>
                        <a:pt x="0" y="0"/>
                      </a:cubicBezTo>
                      <a:lnTo>
                        <a:pt x="21600" y="0"/>
                      </a:lnTo>
                      <a:lnTo>
                        <a:pt x="15211" y="20633"/>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4" name="Arc 16">
                  <a:extLst>
                    <a:ext uri="{FF2B5EF4-FFF2-40B4-BE49-F238E27FC236}">
                      <a16:creationId xmlns:a16="http://schemas.microsoft.com/office/drawing/2014/main" id="{339E344D-5AAA-4EC9-B2AD-DD0534E226E1}"/>
                    </a:ext>
                  </a:extLst>
                </p:cNvPr>
                <p:cNvSpPr>
                  <a:spLocks/>
                </p:cNvSpPr>
                <p:nvPr/>
              </p:nvSpPr>
              <p:spPr bwMode="auto">
                <a:xfrm>
                  <a:off x="3936" y="336"/>
                  <a:ext cx="1151" cy="1824"/>
                </a:xfrm>
                <a:custGeom>
                  <a:avLst/>
                  <a:gdLst>
                    <a:gd name="T0" fmla="*/ 0 w 15371"/>
                    <a:gd name="T1" fmla="*/ 0 h 21600"/>
                    <a:gd name="T2" fmla="*/ 0 w 15371"/>
                    <a:gd name="T3" fmla="*/ 0 h 21600"/>
                    <a:gd name="T4" fmla="*/ 0 w 15371"/>
                    <a:gd name="T5" fmla="*/ 0 h 21600"/>
                    <a:gd name="T6" fmla="*/ 0 60000 65536"/>
                    <a:gd name="T7" fmla="*/ 0 60000 65536"/>
                    <a:gd name="T8" fmla="*/ 0 60000 65536"/>
                  </a:gdLst>
                  <a:ahLst/>
                  <a:cxnLst>
                    <a:cxn ang="T6">
                      <a:pos x="T0" y="T1"/>
                    </a:cxn>
                    <a:cxn ang="T7">
                      <a:pos x="T2" y="T3"/>
                    </a:cxn>
                    <a:cxn ang="T8">
                      <a:pos x="T4" y="T5"/>
                    </a:cxn>
                  </a:cxnLst>
                  <a:rect l="0" t="0" r="r" b="b"/>
                  <a:pathLst>
                    <a:path w="15371" h="21600" fill="none" extrusionOk="0">
                      <a:moveTo>
                        <a:pt x="15371" y="15175"/>
                      </a:moveTo>
                      <a:cubicBezTo>
                        <a:pt x="11312" y="19286"/>
                        <a:pt x="5776" y="21599"/>
                        <a:pt x="0" y="21600"/>
                      </a:cubicBezTo>
                    </a:path>
                    <a:path w="15371" h="21600" stroke="0" extrusionOk="0">
                      <a:moveTo>
                        <a:pt x="15371" y="15175"/>
                      </a:moveTo>
                      <a:cubicBezTo>
                        <a:pt x="11312" y="19286"/>
                        <a:pt x="5776" y="21599"/>
                        <a:pt x="0" y="21600"/>
                      </a:cubicBezTo>
                      <a:lnTo>
                        <a:pt x="0" y="0"/>
                      </a:lnTo>
                      <a:lnTo>
                        <a:pt x="15371" y="15175"/>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5" name="Arc 17">
                  <a:extLst>
                    <a:ext uri="{FF2B5EF4-FFF2-40B4-BE49-F238E27FC236}">
                      <a16:creationId xmlns:a16="http://schemas.microsoft.com/office/drawing/2014/main" id="{F9166FD7-AB44-4DAF-98D7-3B83D064BCD2}"/>
                    </a:ext>
                  </a:extLst>
                </p:cNvPr>
                <p:cNvSpPr>
                  <a:spLocks/>
                </p:cNvSpPr>
                <p:nvPr/>
              </p:nvSpPr>
              <p:spPr bwMode="auto">
                <a:xfrm rot="10800000">
                  <a:off x="3888" y="2256"/>
                  <a:ext cx="1152" cy="1824"/>
                </a:xfrm>
                <a:custGeom>
                  <a:avLst/>
                  <a:gdLst>
                    <a:gd name="T0" fmla="*/ 0 w 15378"/>
                    <a:gd name="T1" fmla="*/ 0 h 21600"/>
                    <a:gd name="T2" fmla="*/ 0 w 15378"/>
                    <a:gd name="T3" fmla="*/ 0 h 21600"/>
                    <a:gd name="T4" fmla="*/ 0 w 15378"/>
                    <a:gd name="T5" fmla="*/ 0 h 21600"/>
                    <a:gd name="T6" fmla="*/ 0 60000 65536"/>
                    <a:gd name="T7" fmla="*/ 0 60000 65536"/>
                    <a:gd name="T8" fmla="*/ 0 60000 65536"/>
                  </a:gdLst>
                  <a:ahLst/>
                  <a:cxnLst>
                    <a:cxn ang="T6">
                      <a:pos x="T0" y="T1"/>
                    </a:cxn>
                    <a:cxn ang="T7">
                      <a:pos x="T2" y="T3"/>
                    </a:cxn>
                    <a:cxn ang="T8">
                      <a:pos x="T4" y="T5"/>
                    </a:cxn>
                  </a:cxnLst>
                  <a:rect l="0" t="0" r="r" b="b"/>
                  <a:pathLst>
                    <a:path w="15378" h="21600" fill="none" extrusionOk="0">
                      <a:moveTo>
                        <a:pt x="15378" y="21600"/>
                      </a:moveTo>
                      <a:cubicBezTo>
                        <a:pt x="9598" y="21600"/>
                        <a:pt x="4059" y="19283"/>
                        <a:pt x="0" y="15168"/>
                      </a:cubicBezTo>
                    </a:path>
                    <a:path w="15378" h="21600" stroke="0" extrusionOk="0">
                      <a:moveTo>
                        <a:pt x="15378" y="21600"/>
                      </a:moveTo>
                      <a:cubicBezTo>
                        <a:pt x="9598" y="21600"/>
                        <a:pt x="4059" y="19283"/>
                        <a:pt x="0" y="15168"/>
                      </a:cubicBezTo>
                      <a:lnTo>
                        <a:pt x="15378" y="0"/>
                      </a:lnTo>
                      <a:lnTo>
                        <a:pt x="15378" y="21600"/>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6" name="Line 18">
                  <a:extLst>
                    <a:ext uri="{FF2B5EF4-FFF2-40B4-BE49-F238E27FC236}">
                      <a16:creationId xmlns:a16="http://schemas.microsoft.com/office/drawing/2014/main" id="{3A89F33C-5C37-4A55-AC91-52623E455EAF}"/>
                    </a:ext>
                  </a:extLst>
                </p:cNvPr>
                <p:cNvSpPr>
                  <a:spLocks noChangeShapeType="1"/>
                </p:cNvSpPr>
                <p:nvPr/>
              </p:nvSpPr>
              <p:spPr bwMode="auto">
                <a:xfrm>
                  <a:off x="3936" y="2208"/>
                  <a:ext cx="1392" cy="0"/>
                </a:xfrm>
                <a:prstGeom prst="line">
                  <a:avLst/>
                </a:prstGeom>
                <a:noFill/>
                <a:ln w="317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7" name="Arc 19">
                  <a:extLst>
                    <a:ext uri="{FF2B5EF4-FFF2-40B4-BE49-F238E27FC236}">
                      <a16:creationId xmlns:a16="http://schemas.microsoft.com/office/drawing/2014/main" id="{5902DE9E-6D91-4841-83CD-9F9842FCF5A1}"/>
                    </a:ext>
                  </a:extLst>
                </p:cNvPr>
                <p:cNvSpPr>
                  <a:spLocks/>
                </p:cNvSpPr>
                <p:nvPr/>
              </p:nvSpPr>
              <p:spPr bwMode="auto">
                <a:xfrm rot="10800000">
                  <a:off x="2609" y="1105"/>
                  <a:ext cx="1242" cy="1500"/>
                </a:xfrm>
                <a:custGeom>
                  <a:avLst/>
                  <a:gdLst>
                    <a:gd name="T0" fmla="*/ 0 w 20695"/>
                    <a:gd name="T1" fmla="*/ 0 h 21600"/>
                    <a:gd name="T2" fmla="*/ 0 w 20695"/>
                    <a:gd name="T3" fmla="*/ 0 h 21600"/>
                    <a:gd name="T4" fmla="*/ 0 w 20695"/>
                    <a:gd name="T5" fmla="*/ 0 h 21600"/>
                    <a:gd name="T6" fmla="*/ 0 60000 65536"/>
                    <a:gd name="T7" fmla="*/ 0 60000 65536"/>
                    <a:gd name="T8" fmla="*/ 0 60000 65536"/>
                  </a:gdLst>
                  <a:ahLst/>
                  <a:cxnLst>
                    <a:cxn ang="T6">
                      <a:pos x="T0" y="T1"/>
                    </a:cxn>
                    <a:cxn ang="T7">
                      <a:pos x="T2" y="T3"/>
                    </a:cxn>
                    <a:cxn ang="T8">
                      <a:pos x="T4" y="T5"/>
                    </a:cxn>
                  </a:cxnLst>
                  <a:rect l="0" t="0" r="r" b="b"/>
                  <a:pathLst>
                    <a:path w="20695" h="21600" fill="none" extrusionOk="0">
                      <a:moveTo>
                        <a:pt x="0" y="3762"/>
                      </a:moveTo>
                      <a:cubicBezTo>
                        <a:pt x="3589" y="1311"/>
                        <a:pt x="7834" y="-1"/>
                        <a:pt x="12181" y="0"/>
                      </a:cubicBezTo>
                      <a:cubicBezTo>
                        <a:pt x="15108" y="0"/>
                        <a:pt x="18004" y="594"/>
                        <a:pt x="20695" y="1748"/>
                      </a:cubicBezTo>
                    </a:path>
                    <a:path w="20695" h="21600" stroke="0" extrusionOk="0">
                      <a:moveTo>
                        <a:pt x="0" y="3762"/>
                      </a:moveTo>
                      <a:cubicBezTo>
                        <a:pt x="3589" y="1311"/>
                        <a:pt x="7834" y="-1"/>
                        <a:pt x="12181" y="0"/>
                      </a:cubicBezTo>
                      <a:cubicBezTo>
                        <a:pt x="15108" y="0"/>
                        <a:pt x="18004" y="594"/>
                        <a:pt x="20695" y="1748"/>
                      </a:cubicBezTo>
                      <a:lnTo>
                        <a:pt x="12181" y="21600"/>
                      </a:lnTo>
                      <a:lnTo>
                        <a:pt x="0" y="3762"/>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8" name="Arc 20">
                  <a:extLst>
                    <a:ext uri="{FF2B5EF4-FFF2-40B4-BE49-F238E27FC236}">
                      <a16:creationId xmlns:a16="http://schemas.microsoft.com/office/drawing/2014/main" id="{8C0891D1-541A-40C2-AE9E-9581AE2546B6}"/>
                    </a:ext>
                  </a:extLst>
                </p:cNvPr>
                <p:cNvSpPr>
                  <a:spLocks/>
                </p:cNvSpPr>
                <p:nvPr/>
              </p:nvSpPr>
              <p:spPr bwMode="auto">
                <a:xfrm>
                  <a:off x="2113" y="528"/>
                  <a:ext cx="1680" cy="1539"/>
                </a:xfrm>
                <a:custGeom>
                  <a:avLst/>
                  <a:gdLst>
                    <a:gd name="T0" fmla="*/ 0 w 43200"/>
                    <a:gd name="T1" fmla="*/ 0 h 22972"/>
                    <a:gd name="T2" fmla="*/ 0 w 43200"/>
                    <a:gd name="T3" fmla="*/ 0 h 22972"/>
                    <a:gd name="T4" fmla="*/ 0 w 43200"/>
                    <a:gd name="T5" fmla="*/ 0 h 22972"/>
                    <a:gd name="T6" fmla="*/ 0 60000 65536"/>
                    <a:gd name="T7" fmla="*/ 0 60000 65536"/>
                    <a:gd name="T8" fmla="*/ 0 60000 65536"/>
                  </a:gdLst>
                  <a:ahLst/>
                  <a:cxnLst>
                    <a:cxn ang="T6">
                      <a:pos x="T0" y="T1"/>
                    </a:cxn>
                    <a:cxn ang="T7">
                      <a:pos x="T2" y="T3"/>
                    </a:cxn>
                    <a:cxn ang="T8">
                      <a:pos x="T4" y="T5"/>
                    </a:cxn>
                  </a:cxnLst>
                  <a:rect l="0" t="0" r="r" b="b"/>
                  <a:pathLst>
                    <a:path w="43200" h="22972" fill="none" extrusionOk="0">
                      <a:moveTo>
                        <a:pt x="43" y="22972"/>
                      </a:moveTo>
                      <a:cubicBezTo>
                        <a:pt x="14" y="22515"/>
                        <a:pt x="0" y="22057"/>
                        <a:pt x="0" y="21600"/>
                      </a:cubicBezTo>
                      <a:cubicBezTo>
                        <a:pt x="0" y="9670"/>
                        <a:pt x="9670" y="0"/>
                        <a:pt x="21600" y="0"/>
                      </a:cubicBezTo>
                      <a:cubicBezTo>
                        <a:pt x="33529" y="0"/>
                        <a:pt x="43200" y="9670"/>
                        <a:pt x="43200" y="21600"/>
                      </a:cubicBezTo>
                      <a:cubicBezTo>
                        <a:pt x="43200" y="21799"/>
                        <a:pt x="43197" y="21998"/>
                        <a:pt x="43191" y="22196"/>
                      </a:cubicBezTo>
                    </a:path>
                    <a:path w="43200" h="22972" stroke="0" extrusionOk="0">
                      <a:moveTo>
                        <a:pt x="43" y="22972"/>
                      </a:moveTo>
                      <a:cubicBezTo>
                        <a:pt x="14" y="22515"/>
                        <a:pt x="0" y="22057"/>
                        <a:pt x="0" y="21600"/>
                      </a:cubicBezTo>
                      <a:cubicBezTo>
                        <a:pt x="0" y="9670"/>
                        <a:pt x="9670" y="0"/>
                        <a:pt x="21600" y="0"/>
                      </a:cubicBezTo>
                      <a:cubicBezTo>
                        <a:pt x="33529" y="0"/>
                        <a:pt x="43200" y="9670"/>
                        <a:pt x="43200" y="21600"/>
                      </a:cubicBezTo>
                      <a:cubicBezTo>
                        <a:pt x="43200" y="21799"/>
                        <a:pt x="43197" y="21998"/>
                        <a:pt x="43191" y="22196"/>
                      </a:cubicBezTo>
                      <a:lnTo>
                        <a:pt x="21600" y="21600"/>
                      </a:lnTo>
                      <a:lnTo>
                        <a:pt x="43" y="22972"/>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9" name="Arc 21">
                  <a:extLst>
                    <a:ext uri="{FF2B5EF4-FFF2-40B4-BE49-F238E27FC236}">
                      <a16:creationId xmlns:a16="http://schemas.microsoft.com/office/drawing/2014/main" id="{60CF6476-9303-449C-9374-795BDE73CF39}"/>
                    </a:ext>
                  </a:extLst>
                </p:cNvPr>
                <p:cNvSpPr>
                  <a:spLocks/>
                </p:cNvSpPr>
                <p:nvPr/>
              </p:nvSpPr>
              <p:spPr bwMode="auto">
                <a:xfrm>
                  <a:off x="2174" y="529"/>
                  <a:ext cx="1619" cy="1488"/>
                </a:xfrm>
                <a:custGeom>
                  <a:avLst/>
                  <a:gdLst>
                    <a:gd name="T0" fmla="*/ 0 w 41624"/>
                    <a:gd name="T1" fmla="*/ 0 h 22197"/>
                    <a:gd name="T2" fmla="*/ 0 w 41624"/>
                    <a:gd name="T3" fmla="*/ 0 h 22197"/>
                    <a:gd name="T4" fmla="*/ 0 w 41624"/>
                    <a:gd name="T5" fmla="*/ 0 h 22197"/>
                    <a:gd name="T6" fmla="*/ 0 60000 65536"/>
                    <a:gd name="T7" fmla="*/ 0 60000 65536"/>
                    <a:gd name="T8" fmla="*/ 0 60000 65536"/>
                  </a:gdLst>
                  <a:ahLst/>
                  <a:cxnLst>
                    <a:cxn ang="T6">
                      <a:pos x="T0" y="T1"/>
                    </a:cxn>
                    <a:cxn ang="T7">
                      <a:pos x="T2" y="T3"/>
                    </a:cxn>
                    <a:cxn ang="T8">
                      <a:pos x="T4" y="T5"/>
                    </a:cxn>
                  </a:cxnLst>
                  <a:rect l="0" t="0" r="r" b="b"/>
                  <a:pathLst>
                    <a:path w="41624" h="22197" fill="none" extrusionOk="0">
                      <a:moveTo>
                        <a:pt x="0" y="13500"/>
                      </a:moveTo>
                      <a:cubicBezTo>
                        <a:pt x="3300" y="5340"/>
                        <a:pt x="11222" y="-1"/>
                        <a:pt x="20024" y="0"/>
                      </a:cubicBezTo>
                      <a:cubicBezTo>
                        <a:pt x="31953" y="0"/>
                        <a:pt x="41624" y="9670"/>
                        <a:pt x="41624" y="21600"/>
                      </a:cubicBezTo>
                      <a:cubicBezTo>
                        <a:pt x="41624" y="21799"/>
                        <a:pt x="41621" y="21998"/>
                        <a:pt x="41615" y="22196"/>
                      </a:cubicBezTo>
                    </a:path>
                    <a:path w="41624" h="22197" stroke="0" extrusionOk="0">
                      <a:moveTo>
                        <a:pt x="0" y="13500"/>
                      </a:moveTo>
                      <a:cubicBezTo>
                        <a:pt x="3300" y="5340"/>
                        <a:pt x="11222" y="-1"/>
                        <a:pt x="20024" y="0"/>
                      </a:cubicBezTo>
                      <a:cubicBezTo>
                        <a:pt x="31953" y="0"/>
                        <a:pt x="41624" y="9670"/>
                        <a:pt x="41624" y="21600"/>
                      </a:cubicBezTo>
                      <a:cubicBezTo>
                        <a:pt x="41624" y="21799"/>
                        <a:pt x="41621" y="21998"/>
                        <a:pt x="41615" y="22196"/>
                      </a:cubicBezTo>
                      <a:lnTo>
                        <a:pt x="20024" y="21600"/>
                      </a:lnTo>
                      <a:lnTo>
                        <a:pt x="0" y="13500"/>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0" name="Arc 22">
                  <a:extLst>
                    <a:ext uri="{FF2B5EF4-FFF2-40B4-BE49-F238E27FC236}">
                      <a16:creationId xmlns:a16="http://schemas.microsoft.com/office/drawing/2014/main" id="{EA5AB909-3C94-45E9-B78D-7790D6CFC367}"/>
                    </a:ext>
                  </a:extLst>
                </p:cNvPr>
                <p:cNvSpPr>
                  <a:spLocks/>
                </p:cNvSpPr>
                <p:nvPr/>
              </p:nvSpPr>
              <p:spPr bwMode="auto">
                <a:xfrm>
                  <a:off x="2226" y="2065"/>
                  <a:ext cx="1473" cy="830"/>
                </a:xfrm>
                <a:custGeom>
                  <a:avLst/>
                  <a:gdLst>
                    <a:gd name="T0" fmla="*/ 0 w 21365"/>
                    <a:gd name="T1" fmla="*/ 0 h 21600"/>
                    <a:gd name="T2" fmla="*/ 0 w 21365"/>
                    <a:gd name="T3" fmla="*/ 0 h 21600"/>
                    <a:gd name="T4" fmla="*/ 0 w 21365"/>
                    <a:gd name="T5" fmla="*/ 0 h 21600"/>
                    <a:gd name="T6" fmla="*/ 0 60000 65536"/>
                    <a:gd name="T7" fmla="*/ 0 60000 65536"/>
                    <a:gd name="T8" fmla="*/ 0 60000 65536"/>
                  </a:gdLst>
                  <a:ahLst/>
                  <a:cxnLst>
                    <a:cxn ang="T6">
                      <a:pos x="T0" y="T1"/>
                    </a:cxn>
                    <a:cxn ang="T7">
                      <a:pos x="T2" y="T3"/>
                    </a:cxn>
                    <a:cxn ang="T8">
                      <a:pos x="T4" y="T5"/>
                    </a:cxn>
                  </a:cxnLst>
                  <a:rect l="0" t="0" r="r" b="b"/>
                  <a:pathLst>
                    <a:path w="21365" h="21600" fill="none" extrusionOk="0">
                      <a:moveTo>
                        <a:pt x="0" y="2937"/>
                      </a:moveTo>
                      <a:cubicBezTo>
                        <a:pt x="3301" y="1013"/>
                        <a:pt x="7054" y="-1"/>
                        <a:pt x="10875" y="0"/>
                      </a:cubicBezTo>
                      <a:cubicBezTo>
                        <a:pt x="14545" y="0"/>
                        <a:pt x="18156" y="935"/>
                        <a:pt x="21364" y="2718"/>
                      </a:cubicBezTo>
                    </a:path>
                    <a:path w="21365" h="21600" stroke="0" extrusionOk="0">
                      <a:moveTo>
                        <a:pt x="0" y="2937"/>
                      </a:moveTo>
                      <a:cubicBezTo>
                        <a:pt x="3301" y="1013"/>
                        <a:pt x="7054" y="-1"/>
                        <a:pt x="10875" y="0"/>
                      </a:cubicBezTo>
                      <a:cubicBezTo>
                        <a:pt x="14545" y="0"/>
                        <a:pt x="18156" y="935"/>
                        <a:pt x="21364" y="2718"/>
                      </a:cubicBezTo>
                      <a:lnTo>
                        <a:pt x="10875" y="21600"/>
                      </a:lnTo>
                      <a:lnTo>
                        <a:pt x="0" y="293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1" name="Arc 23">
                  <a:extLst>
                    <a:ext uri="{FF2B5EF4-FFF2-40B4-BE49-F238E27FC236}">
                      <a16:creationId xmlns:a16="http://schemas.microsoft.com/office/drawing/2014/main" id="{59A74B69-1560-4B5D-9594-96A398BDE104}"/>
                    </a:ext>
                  </a:extLst>
                </p:cNvPr>
                <p:cNvSpPr>
                  <a:spLocks/>
                </p:cNvSpPr>
                <p:nvPr/>
              </p:nvSpPr>
              <p:spPr bwMode="auto">
                <a:xfrm rot="10800000">
                  <a:off x="2276" y="1585"/>
                  <a:ext cx="744" cy="804"/>
                </a:xfrm>
                <a:custGeom>
                  <a:avLst/>
                  <a:gdLst>
                    <a:gd name="T0" fmla="*/ 0 w 10798"/>
                    <a:gd name="T1" fmla="*/ 0 h 20949"/>
                    <a:gd name="T2" fmla="*/ 0 w 10798"/>
                    <a:gd name="T3" fmla="*/ 0 h 20949"/>
                    <a:gd name="T4" fmla="*/ 0 w 10798"/>
                    <a:gd name="T5" fmla="*/ 0 h 20949"/>
                    <a:gd name="T6" fmla="*/ 0 60000 65536"/>
                    <a:gd name="T7" fmla="*/ 0 60000 65536"/>
                    <a:gd name="T8" fmla="*/ 0 60000 65536"/>
                  </a:gdLst>
                  <a:ahLst/>
                  <a:cxnLst>
                    <a:cxn ang="T6">
                      <a:pos x="T0" y="T1"/>
                    </a:cxn>
                    <a:cxn ang="T7">
                      <a:pos x="T2" y="T3"/>
                    </a:cxn>
                    <a:cxn ang="T8">
                      <a:pos x="T4" y="T5"/>
                    </a:cxn>
                  </a:cxnLst>
                  <a:rect l="0" t="0" r="r" b="b"/>
                  <a:pathLst>
                    <a:path w="10798" h="20949" fill="none" extrusionOk="0">
                      <a:moveTo>
                        <a:pt x="5263" y="-1"/>
                      </a:moveTo>
                      <a:cubicBezTo>
                        <a:pt x="7202" y="487"/>
                        <a:pt x="9065" y="1241"/>
                        <a:pt x="10798" y="2241"/>
                      </a:cubicBezTo>
                    </a:path>
                    <a:path w="10798" h="20949" stroke="0" extrusionOk="0">
                      <a:moveTo>
                        <a:pt x="5263" y="-1"/>
                      </a:moveTo>
                      <a:cubicBezTo>
                        <a:pt x="7202" y="487"/>
                        <a:pt x="9065" y="1241"/>
                        <a:pt x="10798" y="2241"/>
                      </a:cubicBezTo>
                      <a:lnTo>
                        <a:pt x="0" y="20949"/>
                      </a:lnTo>
                      <a:lnTo>
                        <a:pt x="5263" y="-1"/>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2" name="Arc 24">
                  <a:extLst>
                    <a:ext uri="{FF2B5EF4-FFF2-40B4-BE49-F238E27FC236}">
                      <a16:creationId xmlns:a16="http://schemas.microsoft.com/office/drawing/2014/main" id="{5079982E-97FB-43F0-A372-2893FCB83BF5}"/>
                    </a:ext>
                  </a:extLst>
                </p:cNvPr>
                <p:cNvSpPr>
                  <a:spLocks/>
                </p:cNvSpPr>
                <p:nvPr/>
              </p:nvSpPr>
              <p:spPr bwMode="auto">
                <a:xfrm rot="10800000">
                  <a:off x="2250" y="1106"/>
                  <a:ext cx="775" cy="1413"/>
                </a:xfrm>
                <a:custGeom>
                  <a:avLst/>
                  <a:gdLst>
                    <a:gd name="T0" fmla="*/ 0 w 12918"/>
                    <a:gd name="T1" fmla="*/ 0 h 20347"/>
                    <a:gd name="T2" fmla="*/ 0 w 12918"/>
                    <a:gd name="T3" fmla="*/ 0 h 20347"/>
                    <a:gd name="T4" fmla="*/ 0 w 12918"/>
                    <a:gd name="T5" fmla="*/ 0 h 20347"/>
                    <a:gd name="T6" fmla="*/ 0 60000 65536"/>
                    <a:gd name="T7" fmla="*/ 0 60000 65536"/>
                    <a:gd name="T8" fmla="*/ 0 60000 65536"/>
                  </a:gdLst>
                  <a:ahLst/>
                  <a:cxnLst>
                    <a:cxn ang="T6">
                      <a:pos x="T0" y="T1"/>
                    </a:cxn>
                    <a:cxn ang="T7">
                      <a:pos x="T2" y="T3"/>
                    </a:cxn>
                    <a:cxn ang="T8">
                      <a:pos x="T4" y="T5"/>
                    </a:cxn>
                  </a:cxnLst>
                  <a:rect l="0" t="0" r="r" b="b"/>
                  <a:pathLst>
                    <a:path w="12918" h="20347" fill="none" extrusionOk="0">
                      <a:moveTo>
                        <a:pt x="7249" y="0"/>
                      </a:moveTo>
                      <a:cubicBezTo>
                        <a:pt x="9280" y="723"/>
                        <a:pt x="11190" y="1746"/>
                        <a:pt x="12918" y="3035"/>
                      </a:cubicBezTo>
                    </a:path>
                    <a:path w="12918" h="20347" stroke="0" extrusionOk="0">
                      <a:moveTo>
                        <a:pt x="7249" y="0"/>
                      </a:moveTo>
                      <a:cubicBezTo>
                        <a:pt x="9280" y="723"/>
                        <a:pt x="11190" y="1746"/>
                        <a:pt x="12918" y="3035"/>
                      </a:cubicBezTo>
                      <a:lnTo>
                        <a:pt x="0" y="20347"/>
                      </a:lnTo>
                      <a:lnTo>
                        <a:pt x="7249" y="0"/>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3" name="Arc 25">
                  <a:extLst>
                    <a:ext uri="{FF2B5EF4-FFF2-40B4-BE49-F238E27FC236}">
                      <a16:creationId xmlns:a16="http://schemas.microsoft.com/office/drawing/2014/main" id="{2E37CD78-6AE8-4AA7-851B-0851234DAAC8}"/>
                    </a:ext>
                  </a:extLst>
                </p:cNvPr>
                <p:cNvSpPr>
                  <a:spLocks/>
                </p:cNvSpPr>
                <p:nvPr/>
              </p:nvSpPr>
              <p:spPr bwMode="auto">
                <a:xfrm>
                  <a:off x="2560" y="1873"/>
                  <a:ext cx="1147" cy="1500"/>
                </a:xfrm>
                <a:custGeom>
                  <a:avLst/>
                  <a:gdLst>
                    <a:gd name="T0" fmla="*/ 0 w 19116"/>
                    <a:gd name="T1" fmla="*/ 0 h 21600"/>
                    <a:gd name="T2" fmla="*/ 0 w 19116"/>
                    <a:gd name="T3" fmla="*/ 0 h 21600"/>
                    <a:gd name="T4" fmla="*/ 0 w 19116"/>
                    <a:gd name="T5" fmla="*/ 0 h 21600"/>
                    <a:gd name="T6" fmla="*/ 0 60000 65536"/>
                    <a:gd name="T7" fmla="*/ 0 60000 65536"/>
                    <a:gd name="T8" fmla="*/ 0 60000 65536"/>
                  </a:gdLst>
                  <a:ahLst/>
                  <a:cxnLst>
                    <a:cxn ang="T6">
                      <a:pos x="T0" y="T1"/>
                    </a:cxn>
                    <a:cxn ang="T7">
                      <a:pos x="T2" y="T3"/>
                    </a:cxn>
                    <a:cxn ang="T8">
                      <a:pos x="T4" y="T5"/>
                    </a:cxn>
                  </a:cxnLst>
                  <a:rect l="0" t="0" r="r" b="b"/>
                  <a:pathLst>
                    <a:path w="19116" h="21600" fill="none" extrusionOk="0">
                      <a:moveTo>
                        <a:pt x="-1" y="1147"/>
                      </a:moveTo>
                      <a:cubicBezTo>
                        <a:pt x="2237" y="387"/>
                        <a:pt x="4584" y="-1"/>
                        <a:pt x="6947" y="0"/>
                      </a:cubicBezTo>
                      <a:cubicBezTo>
                        <a:pt x="11288" y="0"/>
                        <a:pt x="15529" y="1308"/>
                        <a:pt x="19115" y="3754"/>
                      </a:cubicBezTo>
                    </a:path>
                    <a:path w="19116" h="21600" stroke="0" extrusionOk="0">
                      <a:moveTo>
                        <a:pt x="-1" y="1147"/>
                      </a:moveTo>
                      <a:cubicBezTo>
                        <a:pt x="2237" y="387"/>
                        <a:pt x="4584" y="-1"/>
                        <a:pt x="6947" y="0"/>
                      </a:cubicBezTo>
                      <a:cubicBezTo>
                        <a:pt x="11288" y="0"/>
                        <a:pt x="15529" y="1308"/>
                        <a:pt x="19115" y="3754"/>
                      </a:cubicBezTo>
                      <a:lnTo>
                        <a:pt x="6947" y="21600"/>
                      </a:lnTo>
                      <a:lnTo>
                        <a:pt x="-1" y="1147"/>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4" name="Arc 26">
                  <a:extLst>
                    <a:ext uri="{FF2B5EF4-FFF2-40B4-BE49-F238E27FC236}">
                      <a16:creationId xmlns:a16="http://schemas.microsoft.com/office/drawing/2014/main" id="{3D8FC8A9-CF6A-41C0-A186-A52604D7EAAF}"/>
                    </a:ext>
                  </a:extLst>
                </p:cNvPr>
                <p:cNvSpPr>
                  <a:spLocks/>
                </p:cNvSpPr>
                <p:nvPr/>
              </p:nvSpPr>
              <p:spPr bwMode="auto">
                <a:xfrm>
                  <a:off x="2573" y="2065"/>
                  <a:ext cx="1125" cy="830"/>
                </a:xfrm>
                <a:custGeom>
                  <a:avLst/>
                  <a:gdLst>
                    <a:gd name="T0" fmla="*/ 0 w 16326"/>
                    <a:gd name="T1" fmla="*/ 0 h 21600"/>
                    <a:gd name="T2" fmla="*/ 0 w 16326"/>
                    <a:gd name="T3" fmla="*/ 0 h 21600"/>
                    <a:gd name="T4" fmla="*/ 0 w 16326"/>
                    <a:gd name="T5" fmla="*/ 0 h 21600"/>
                    <a:gd name="T6" fmla="*/ 0 60000 65536"/>
                    <a:gd name="T7" fmla="*/ 0 60000 65536"/>
                    <a:gd name="T8" fmla="*/ 0 60000 65536"/>
                  </a:gdLst>
                  <a:ahLst/>
                  <a:cxnLst>
                    <a:cxn ang="T6">
                      <a:pos x="T0" y="T1"/>
                    </a:cxn>
                    <a:cxn ang="T7">
                      <a:pos x="T2" y="T3"/>
                    </a:cxn>
                    <a:cxn ang="T8">
                      <a:pos x="T4" y="T5"/>
                    </a:cxn>
                  </a:cxnLst>
                  <a:rect l="0" t="0" r="r" b="b"/>
                  <a:pathLst>
                    <a:path w="16326" h="21600" fill="none" extrusionOk="0">
                      <a:moveTo>
                        <a:pt x="0" y="803"/>
                      </a:moveTo>
                      <a:cubicBezTo>
                        <a:pt x="1899" y="270"/>
                        <a:pt x="3863" y="-1"/>
                        <a:pt x="5836" y="0"/>
                      </a:cubicBezTo>
                      <a:cubicBezTo>
                        <a:pt x="9506" y="0"/>
                        <a:pt x="13117" y="935"/>
                        <a:pt x="16325" y="2718"/>
                      </a:cubicBezTo>
                    </a:path>
                    <a:path w="16326" h="21600" stroke="0" extrusionOk="0">
                      <a:moveTo>
                        <a:pt x="0" y="803"/>
                      </a:moveTo>
                      <a:cubicBezTo>
                        <a:pt x="1899" y="270"/>
                        <a:pt x="3863" y="-1"/>
                        <a:pt x="5836" y="0"/>
                      </a:cubicBezTo>
                      <a:cubicBezTo>
                        <a:pt x="9506" y="0"/>
                        <a:pt x="13117" y="935"/>
                        <a:pt x="16325" y="2718"/>
                      </a:cubicBezTo>
                      <a:lnTo>
                        <a:pt x="5836" y="21600"/>
                      </a:lnTo>
                      <a:lnTo>
                        <a:pt x="0" y="803"/>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5" name="Arc 27">
                  <a:extLst>
                    <a:ext uri="{FF2B5EF4-FFF2-40B4-BE49-F238E27FC236}">
                      <a16:creationId xmlns:a16="http://schemas.microsoft.com/office/drawing/2014/main" id="{652575ED-CD1E-4B2D-9974-FDFEA7DA8370}"/>
                    </a:ext>
                  </a:extLst>
                </p:cNvPr>
                <p:cNvSpPr>
                  <a:spLocks/>
                </p:cNvSpPr>
                <p:nvPr/>
              </p:nvSpPr>
              <p:spPr bwMode="auto">
                <a:xfrm>
                  <a:off x="2215" y="1537"/>
                  <a:ext cx="1531" cy="1205"/>
                </a:xfrm>
                <a:custGeom>
                  <a:avLst/>
                  <a:gdLst>
                    <a:gd name="T0" fmla="*/ 0 w 36267"/>
                    <a:gd name="T1" fmla="*/ 0 h 21600"/>
                    <a:gd name="T2" fmla="*/ 0 w 36267"/>
                    <a:gd name="T3" fmla="*/ 0 h 21600"/>
                    <a:gd name="T4" fmla="*/ 0 w 36267"/>
                    <a:gd name="T5" fmla="*/ 0 h 21600"/>
                    <a:gd name="T6" fmla="*/ 0 60000 65536"/>
                    <a:gd name="T7" fmla="*/ 0 60000 65536"/>
                    <a:gd name="T8" fmla="*/ 0 60000 65536"/>
                  </a:gdLst>
                  <a:ahLst/>
                  <a:cxnLst>
                    <a:cxn ang="T6">
                      <a:pos x="T0" y="T1"/>
                    </a:cxn>
                    <a:cxn ang="T7">
                      <a:pos x="T2" y="T3"/>
                    </a:cxn>
                    <a:cxn ang="T8">
                      <a:pos x="T4" y="T5"/>
                    </a:cxn>
                  </a:cxnLst>
                  <a:rect l="0" t="0" r="r" b="b"/>
                  <a:pathLst>
                    <a:path w="36267" h="21600" fill="none" extrusionOk="0">
                      <a:moveTo>
                        <a:pt x="0" y="9708"/>
                      </a:moveTo>
                      <a:cubicBezTo>
                        <a:pt x="3997" y="3647"/>
                        <a:pt x="10771" y="-1"/>
                        <a:pt x="18032" y="0"/>
                      </a:cubicBezTo>
                      <a:cubicBezTo>
                        <a:pt x="25424" y="0"/>
                        <a:pt x="32304" y="3780"/>
                        <a:pt x="36266" y="10022"/>
                      </a:cubicBezTo>
                    </a:path>
                    <a:path w="36267" h="21600" stroke="0" extrusionOk="0">
                      <a:moveTo>
                        <a:pt x="0" y="9708"/>
                      </a:moveTo>
                      <a:cubicBezTo>
                        <a:pt x="3997" y="3647"/>
                        <a:pt x="10771" y="-1"/>
                        <a:pt x="18032" y="0"/>
                      </a:cubicBezTo>
                      <a:cubicBezTo>
                        <a:pt x="25424" y="0"/>
                        <a:pt x="32304" y="3780"/>
                        <a:pt x="36266" y="10022"/>
                      </a:cubicBezTo>
                      <a:lnTo>
                        <a:pt x="18032" y="21600"/>
                      </a:lnTo>
                      <a:lnTo>
                        <a:pt x="0" y="9708"/>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6" name="Arc 28">
                  <a:extLst>
                    <a:ext uri="{FF2B5EF4-FFF2-40B4-BE49-F238E27FC236}">
                      <a16:creationId xmlns:a16="http://schemas.microsoft.com/office/drawing/2014/main" id="{4A839AD5-1BBF-4AFF-B377-15B6A334C6E0}"/>
                    </a:ext>
                  </a:extLst>
                </p:cNvPr>
                <p:cNvSpPr>
                  <a:spLocks/>
                </p:cNvSpPr>
                <p:nvPr/>
              </p:nvSpPr>
              <p:spPr bwMode="auto">
                <a:xfrm rot="10800000">
                  <a:off x="2215" y="1679"/>
                  <a:ext cx="761" cy="1087"/>
                </a:xfrm>
                <a:custGeom>
                  <a:avLst/>
                  <a:gdLst>
                    <a:gd name="T0" fmla="*/ 0 w 18024"/>
                    <a:gd name="T1" fmla="*/ 0 h 19481"/>
                    <a:gd name="T2" fmla="*/ 0 w 18024"/>
                    <a:gd name="T3" fmla="*/ 0 h 19481"/>
                    <a:gd name="T4" fmla="*/ 0 w 18024"/>
                    <a:gd name="T5" fmla="*/ 0 h 19481"/>
                    <a:gd name="T6" fmla="*/ 0 60000 65536"/>
                    <a:gd name="T7" fmla="*/ 0 60000 65536"/>
                    <a:gd name="T8" fmla="*/ 0 60000 65536"/>
                  </a:gdLst>
                  <a:ahLst/>
                  <a:cxnLst>
                    <a:cxn ang="T6">
                      <a:pos x="T0" y="T1"/>
                    </a:cxn>
                    <a:cxn ang="T7">
                      <a:pos x="T2" y="T3"/>
                    </a:cxn>
                    <a:cxn ang="T8">
                      <a:pos x="T4" y="T5"/>
                    </a:cxn>
                  </a:cxnLst>
                  <a:rect l="0" t="0" r="r" b="b"/>
                  <a:pathLst>
                    <a:path w="18024" h="19481" fill="none" extrusionOk="0">
                      <a:moveTo>
                        <a:pt x="9330" y="-1"/>
                      </a:moveTo>
                      <a:cubicBezTo>
                        <a:pt x="12861" y="1691"/>
                        <a:pt x="15866" y="4310"/>
                        <a:pt x="18024" y="7577"/>
                      </a:cubicBezTo>
                    </a:path>
                    <a:path w="18024" h="19481" stroke="0" extrusionOk="0">
                      <a:moveTo>
                        <a:pt x="9330" y="-1"/>
                      </a:moveTo>
                      <a:cubicBezTo>
                        <a:pt x="12861" y="1691"/>
                        <a:pt x="15866" y="4310"/>
                        <a:pt x="18024" y="7577"/>
                      </a:cubicBezTo>
                      <a:lnTo>
                        <a:pt x="0" y="19481"/>
                      </a:lnTo>
                      <a:lnTo>
                        <a:pt x="9330" y="-1"/>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7" name="Arc 29">
                  <a:extLst>
                    <a:ext uri="{FF2B5EF4-FFF2-40B4-BE49-F238E27FC236}">
                      <a16:creationId xmlns:a16="http://schemas.microsoft.com/office/drawing/2014/main" id="{94F0611A-FA80-4191-968A-B381AB139C19}"/>
                    </a:ext>
                  </a:extLst>
                </p:cNvPr>
                <p:cNvSpPr>
                  <a:spLocks/>
                </p:cNvSpPr>
                <p:nvPr/>
              </p:nvSpPr>
              <p:spPr bwMode="auto">
                <a:xfrm>
                  <a:off x="2471" y="1537"/>
                  <a:ext cx="1275" cy="1205"/>
                </a:xfrm>
                <a:custGeom>
                  <a:avLst/>
                  <a:gdLst>
                    <a:gd name="T0" fmla="*/ 0 w 30207"/>
                    <a:gd name="T1" fmla="*/ 0 h 21600"/>
                    <a:gd name="T2" fmla="*/ 0 w 30207"/>
                    <a:gd name="T3" fmla="*/ 0 h 21600"/>
                    <a:gd name="T4" fmla="*/ 0 w 30207"/>
                    <a:gd name="T5" fmla="*/ 0 h 21600"/>
                    <a:gd name="T6" fmla="*/ 0 60000 65536"/>
                    <a:gd name="T7" fmla="*/ 0 60000 65536"/>
                    <a:gd name="T8" fmla="*/ 0 60000 65536"/>
                  </a:gdLst>
                  <a:ahLst/>
                  <a:cxnLst>
                    <a:cxn ang="T6">
                      <a:pos x="T0" y="T1"/>
                    </a:cxn>
                    <a:cxn ang="T7">
                      <a:pos x="T2" y="T3"/>
                    </a:cxn>
                    <a:cxn ang="T8">
                      <a:pos x="T4" y="T5"/>
                    </a:cxn>
                  </a:cxnLst>
                  <a:rect l="0" t="0" r="r" b="b"/>
                  <a:pathLst>
                    <a:path w="30207" h="21600" fill="none" extrusionOk="0">
                      <a:moveTo>
                        <a:pt x="0" y="3621"/>
                      </a:moveTo>
                      <a:cubicBezTo>
                        <a:pt x="3546" y="1259"/>
                        <a:pt x="7711" y="-1"/>
                        <a:pt x="11972" y="0"/>
                      </a:cubicBezTo>
                      <a:cubicBezTo>
                        <a:pt x="19364" y="0"/>
                        <a:pt x="26244" y="3780"/>
                        <a:pt x="30206" y="10022"/>
                      </a:cubicBezTo>
                    </a:path>
                    <a:path w="30207" h="21600" stroke="0" extrusionOk="0">
                      <a:moveTo>
                        <a:pt x="0" y="3621"/>
                      </a:moveTo>
                      <a:cubicBezTo>
                        <a:pt x="3546" y="1259"/>
                        <a:pt x="7711" y="-1"/>
                        <a:pt x="11972" y="0"/>
                      </a:cubicBezTo>
                      <a:cubicBezTo>
                        <a:pt x="19364" y="0"/>
                        <a:pt x="26244" y="3780"/>
                        <a:pt x="30206" y="10022"/>
                      </a:cubicBezTo>
                      <a:lnTo>
                        <a:pt x="11972" y="21600"/>
                      </a:lnTo>
                      <a:lnTo>
                        <a:pt x="0" y="3621"/>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8" name="Arc 30">
                  <a:extLst>
                    <a:ext uri="{FF2B5EF4-FFF2-40B4-BE49-F238E27FC236}">
                      <a16:creationId xmlns:a16="http://schemas.microsoft.com/office/drawing/2014/main" id="{7B09711D-9C0E-4ED6-A468-2710BF524F2F}"/>
                    </a:ext>
                  </a:extLst>
                </p:cNvPr>
                <p:cNvSpPr>
                  <a:spLocks/>
                </p:cNvSpPr>
                <p:nvPr/>
              </p:nvSpPr>
              <p:spPr bwMode="auto">
                <a:xfrm rot="10800000">
                  <a:off x="2544" y="1728"/>
                  <a:ext cx="1349" cy="1205"/>
                </a:xfrm>
                <a:custGeom>
                  <a:avLst/>
                  <a:gdLst>
                    <a:gd name="T0" fmla="*/ 0 w 30485"/>
                    <a:gd name="T1" fmla="*/ 0 h 21600"/>
                    <a:gd name="T2" fmla="*/ 0 w 30485"/>
                    <a:gd name="T3" fmla="*/ 0 h 21600"/>
                    <a:gd name="T4" fmla="*/ 0 w 30485"/>
                    <a:gd name="T5" fmla="*/ 0 h 21600"/>
                    <a:gd name="T6" fmla="*/ 0 60000 65536"/>
                    <a:gd name="T7" fmla="*/ 0 60000 65536"/>
                    <a:gd name="T8" fmla="*/ 0 60000 65536"/>
                  </a:gdLst>
                  <a:ahLst/>
                  <a:cxnLst>
                    <a:cxn ang="T6">
                      <a:pos x="T0" y="T1"/>
                    </a:cxn>
                    <a:cxn ang="T7">
                      <a:pos x="T2" y="T3"/>
                    </a:cxn>
                    <a:cxn ang="T8">
                      <a:pos x="T4" y="T5"/>
                    </a:cxn>
                  </a:cxnLst>
                  <a:rect l="0" t="0" r="r" b="b"/>
                  <a:pathLst>
                    <a:path w="30485" h="21600" fill="none" extrusionOk="0">
                      <a:moveTo>
                        <a:pt x="-1" y="10226"/>
                      </a:moveTo>
                      <a:cubicBezTo>
                        <a:pt x="3937" y="3868"/>
                        <a:pt x="10884" y="-1"/>
                        <a:pt x="18363" y="0"/>
                      </a:cubicBezTo>
                      <a:cubicBezTo>
                        <a:pt x="22685" y="0"/>
                        <a:pt x="26907" y="1296"/>
                        <a:pt x="30484" y="3722"/>
                      </a:cubicBezTo>
                    </a:path>
                    <a:path w="30485" h="21600" stroke="0" extrusionOk="0">
                      <a:moveTo>
                        <a:pt x="-1" y="10226"/>
                      </a:moveTo>
                      <a:cubicBezTo>
                        <a:pt x="3937" y="3868"/>
                        <a:pt x="10884" y="-1"/>
                        <a:pt x="18363" y="0"/>
                      </a:cubicBezTo>
                      <a:cubicBezTo>
                        <a:pt x="22685" y="0"/>
                        <a:pt x="26907" y="1296"/>
                        <a:pt x="30484" y="3722"/>
                      </a:cubicBezTo>
                      <a:lnTo>
                        <a:pt x="18363" y="21600"/>
                      </a:lnTo>
                      <a:lnTo>
                        <a:pt x="-1" y="10226"/>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9" name="Arc 31">
                  <a:extLst>
                    <a:ext uri="{FF2B5EF4-FFF2-40B4-BE49-F238E27FC236}">
                      <a16:creationId xmlns:a16="http://schemas.microsoft.com/office/drawing/2014/main" id="{C1DACBA7-7642-4ECC-BE15-B1FD58111D92}"/>
                    </a:ext>
                  </a:extLst>
                </p:cNvPr>
                <p:cNvSpPr>
                  <a:spLocks/>
                </p:cNvSpPr>
                <p:nvPr/>
              </p:nvSpPr>
              <p:spPr bwMode="auto">
                <a:xfrm>
                  <a:off x="2132" y="1057"/>
                  <a:ext cx="1644" cy="1488"/>
                </a:xfrm>
                <a:custGeom>
                  <a:avLst/>
                  <a:gdLst>
                    <a:gd name="T0" fmla="*/ 0 w 40847"/>
                    <a:gd name="T1" fmla="*/ 0 h 21600"/>
                    <a:gd name="T2" fmla="*/ 0 w 40847"/>
                    <a:gd name="T3" fmla="*/ 0 h 21600"/>
                    <a:gd name="T4" fmla="*/ 0 w 40847"/>
                    <a:gd name="T5" fmla="*/ 0 h 21600"/>
                    <a:gd name="T6" fmla="*/ 0 60000 65536"/>
                    <a:gd name="T7" fmla="*/ 0 60000 65536"/>
                    <a:gd name="T8" fmla="*/ 0 60000 65536"/>
                  </a:gdLst>
                  <a:ahLst/>
                  <a:cxnLst>
                    <a:cxn ang="T6">
                      <a:pos x="T0" y="T1"/>
                    </a:cxn>
                    <a:cxn ang="T7">
                      <a:pos x="T2" y="T3"/>
                    </a:cxn>
                    <a:cxn ang="T8">
                      <a:pos x="T4" y="T5"/>
                    </a:cxn>
                  </a:cxnLst>
                  <a:rect l="0" t="0" r="r" b="b"/>
                  <a:pathLst>
                    <a:path w="40847" h="21600" fill="none" extrusionOk="0">
                      <a:moveTo>
                        <a:pt x="0" y="14699"/>
                      </a:moveTo>
                      <a:cubicBezTo>
                        <a:pt x="2961" y="5914"/>
                        <a:pt x="11198" y="-1"/>
                        <a:pt x="20468" y="0"/>
                      </a:cubicBezTo>
                      <a:cubicBezTo>
                        <a:pt x="29637" y="0"/>
                        <a:pt x="37807" y="5789"/>
                        <a:pt x="40847" y="14440"/>
                      </a:cubicBezTo>
                    </a:path>
                    <a:path w="40847" h="21600" stroke="0" extrusionOk="0">
                      <a:moveTo>
                        <a:pt x="0" y="14699"/>
                      </a:moveTo>
                      <a:cubicBezTo>
                        <a:pt x="2961" y="5914"/>
                        <a:pt x="11198" y="-1"/>
                        <a:pt x="20468" y="0"/>
                      </a:cubicBezTo>
                      <a:cubicBezTo>
                        <a:pt x="29637" y="0"/>
                        <a:pt x="37807" y="5789"/>
                        <a:pt x="40847" y="14440"/>
                      </a:cubicBezTo>
                      <a:lnTo>
                        <a:pt x="20468" y="21600"/>
                      </a:lnTo>
                      <a:lnTo>
                        <a:pt x="0" y="14699"/>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0" name="Arc 32">
                  <a:extLst>
                    <a:ext uri="{FF2B5EF4-FFF2-40B4-BE49-F238E27FC236}">
                      <a16:creationId xmlns:a16="http://schemas.microsoft.com/office/drawing/2014/main" id="{8DC8BA31-0176-4C08-A7E9-E7D49B7D6213}"/>
                    </a:ext>
                  </a:extLst>
                </p:cNvPr>
                <p:cNvSpPr>
                  <a:spLocks/>
                </p:cNvSpPr>
                <p:nvPr/>
              </p:nvSpPr>
              <p:spPr bwMode="auto">
                <a:xfrm rot="-10440000">
                  <a:off x="2152" y="1920"/>
                  <a:ext cx="850" cy="1039"/>
                </a:xfrm>
                <a:custGeom>
                  <a:avLst/>
                  <a:gdLst>
                    <a:gd name="T0" fmla="*/ 0 w 20673"/>
                    <a:gd name="T1" fmla="*/ 0 h 15075"/>
                    <a:gd name="T2" fmla="*/ 0 w 20673"/>
                    <a:gd name="T3" fmla="*/ 0 h 15075"/>
                    <a:gd name="T4" fmla="*/ 0 w 20673"/>
                    <a:gd name="T5" fmla="*/ 0 h 15075"/>
                    <a:gd name="T6" fmla="*/ 0 60000 65536"/>
                    <a:gd name="T7" fmla="*/ 0 60000 65536"/>
                    <a:gd name="T8" fmla="*/ 0 60000 65536"/>
                  </a:gdLst>
                  <a:ahLst/>
                  <a:cxnLst>
                    <a:cxn ang="T6">
                      <a:pos x="T0" y="T1"/>
                    </a:cxn>
                    <a:cxn ang="T7">
                      <a:pos x="T2" y="T3"/>
                    </a:cxn>
                    <a:cxn ang="T8">
                      <a:pos x="T4" y="T5"/>
                    </a:cxn>
                  </a:cxnLst>
                  <a:rect l="0" t="0" r="r" b="b"/>
                  <a:pathLst>
                    <a:path w="20673" h="15075" fill="none" extrusionOk="0">
                      <a:moveTo>
                        <a:pt x="15469" y="-1"/>
                      </a:moveTo>
                      <a:cubicBezTo>
                        <a:pt x="17885" y="2479"/>
                        <a:pt x="19670" y="5502"/>
                        <a:pt x="20673" y="8815"/>
                      </a:cubicBezTo>
                    </a:path>
                    <a:path w="20673" h="15075" stroke="0" extrusionOk="0">
                      <a:moveTo>
                        <a:pt x="15469" y="-1"/>
                      </a:moveTo>
                      <a:cubicBezTo>
                        <a:pt x="17885" y="2479"/>
                        <a:pt x="19670" y="5502"/>
                        <a:pt x="20673" y="8815"/>
                      </a:cubicBezTo>
                      <a:lnTo>
                        <a:pt x="0" y="15075"/>
                      </a:lnTo>
                      <a:lnTo>
                        <a:pt x="15469" y="-1"/>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1" name="Arc 33">
                  <a:extLst>
                    <a:ext uri="{FF2B5EF4-FFF2-40B4-BE49-F238E27FC236}">
                      <a16:creationId xmlns:a16="http://schemas.microsoft.com/office/drawing/2014/main" id="{8D2FD744-431E-445B-8BFB-DB730B60A4D3}"/>
                    </a:ext>
                  </a:extLst>
                </p:cNvPr>
                <p:cNvSpPr>
                  <a:spLocks/>
                </p:cNvSpPr>
                <p:nvPr/>
              </p:nvSpPr>
              <p:spPr bwMode="auto">
                <a:xfrm>
                  <a:off x="2112" y="2352"/>
                  <a:ext cx="1728" cy="1728"/>
                </a:xfrm>
                <a:custGeom>
                  <a:avLst/>
                  <a:gdLst>
                    <a:gd name="T0" fmla="*/ 0 w 43199"/>
                    <a:gd name="T1" fmla="*/ 0 h 21600"/>
                    <a:gd name="T2" fmla="*/ 0 w 43199"/>
                    <a:gd name="T3" fmla="*/ 0 h 21600"/>
                    <a:gd name="T4" fmla="*/ 0 w 43199"/>
                    <a:gd name="T5" fmla="*/ 0 h 21600"/>
                    <a:gd name="T6" fmla="*/ 0 60000 65536"/>
                    <a:gd name="T7" fmla="*/ 0 60000 65536"/>
                    <a:gd name="T8" fmla="*/ 0 60000 65536"/>
                  </a:gdLst>
                  <a:ahLst/>
                  <a:cxnLst>
                    <a:cxn ang="T6">
                      <a:pos x="T0" y="T1"/>
                    </a:cxn>
                    <a:cxn ang="T7">
                      <a:pos x="T2" y="T3"/>
                    </a:cxn>
                    <a:cxn ang="T8">
                      <a:pos x="T4" y="T5"/>
                    </a:cxn>
                  </a:cxnLst>
                  <a:rect l="0" t="0" r="r" b="b"/>
                  <a:pathLst>
                    <a:path w="43199" h="21600" fill="none" extrusionOk="0">
                      <a:moveTo>
                        <a:pt x="43198" y="224"/>
                      </a:moveTo>
                      <a:cubicBezTo>
                        <a:pt x="43075" y="12065"/>
                        <a:pt x="33441" y="21599"/>
                        <a:pt x="21600" y="21600"/>
                      </a:cubicBezTo>
                      <a:cubicBezTo>
                        <a:pt x="9670" y="21600"/>
                        <a:pt x="0" y="11929"/>
                        <a:pt x="0" y="0"/>
                      </a:cubicBezTo>
                    </a:path>
                    <a:path w="43199" h="21600" stroke="0" extrusionOk="0">
                      <a:moveTo>
                        <a:pt x="43198" y="224"/>
                      </a:moveTo>
                      <a:cubicBezTo>
                        <a:pt x="43075" y="12065"/>
                        <a:pt x="33441" y="21599"/>
                        <a:pt x="21600" y="21600"/>
                      </a:cubicBezTo>
                      <a:cubicBezTo>
                        <a:pt x="9670" y="21600"/>
                        <a:pt x="0" y="11929"/>
                        <a:pt x="0" y="0"/>
                      </a:cubicBezTo>
                      <a:lnTo>
                        <a:pt x="21600" y="0"/>
                      </a:lnTo>
                      <a:lnTo>
                        <a:pt x="43198" y="224"/>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2" name="Arc 34">
                  <a:extLst>
                    <a:ext uri="{FF2B5EF4-FFF2-40B4-BE49-F238E27FC236}">
                      <a16:creationId xmlns:a16="http://schemas.microsoft.com/office/drawing/2014/main" id="{77CD2E9C-466D-469B-8F17-BCFFBF52B296}"/>
                    </a:ext>
                  </a:extLst>
                </p:cNvPr>
                <p:cNvSpPr>
                  <a:spLocks/>
                </p:cNvSpPr>
                <p:nvPr/>
              </p:nvSpPr>
              <p:spPr bwMode="auto">
                <a:xfrm rot="10800000">
                  <a:off x="1784" y="2352"/>
                  <a:ext cx="424" cy="1596"/>
                </a:xfrm>
                <a:custGeom>
                  <a:avLst/>
                  <a:gdLst>
                    <a:gd name="T0" fmla="*/ 0 w 19059"/>
                    <a:gd name="T1" fmla="*/ 0 h 20487"/>
                    <a:gd name="T2" fmla="*/ 0 w 19059"/>
                    <a:gd name="T3" fmla="*/ 0 h 20487"/>
                    <a:gd name="T4" fmla="*/ 0 w 19059"/>
                    <a:gd name="T5" fmla="*/ 0 h 20487"/>
                    <a:gd name="T6" fmla="*/ 0 60000 65536"/>
                    <a:gd name="T7" fmla="*/ 0 60000 65536"/>
                    <a:gd name="T8" fmla="*/ 0 60000 65536"/>
                  </a:gdLst>
                  <a:ahLst/>
                  <a:cxnLst>
                    <a:cxn ang="T6">
                      <a:pos x="T0" y="T1"/>
                    </a:cxn>
                    <a:cxn ang="T7">
                      <a:pos x="T2" y="T3"/>
                    </a:cxn>
                    <a:cxn ang="T8">
                      <a:pos x="T4" y="T5"/>
                    </a:cxn>
                  </a:cxnLst>
                  <a:rect l="0" t="0" r="r" b="b"/>
                  <a:pathLst>
                    <a:path w="19059" h="20487" fill="none" extrusionOk="0">
                      <a:moveTo>
                        <a:pt x="19058" y="10164"/>
                      </a:moveTo>
                      <a:cubicBezTo>
                        <a:pt x="16457" y="15041"/>
                        <a:pt x="12086" y="18735"/>
                        <a:pt x="6844" y="20486"/>
                      </a:cubicBezTo>
                    </a:path>
                    <a:path w="19059" h="20487" stroke="0" extrusionOk="0">
                      <a:moveTo>
                        <a:pt x="19058" y="10164"/>
                      </a:moveTo>
                      <a:cubicBezTo>
                        <a:pt x="16457" y="15041"/>
                        <a:pt x="12086" y="18735"/>
                        <a:pt x="6844" y="20486"/>
                      </a:cubicBezTo>
                      <a:lnTo>
                        <a:pt x="0" y="0"/>
                      </a:lnTo>
                      <a:lnTo>
                        <a:pt x="19058" y="10164"/>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3" name="Arc 35">
                  <a:extLst>
                    <a:ext uri="{FF2B5EF4-FFF2-40B4-BE49-F238E27FC236}">
                      <a16:creationId xmlns:a16="http://schemas.microsoft.com/office/drawing/2014/main" id="{EC9105FF-97C5-46E5-BBAC-70765F720DD8}"/>
                    </a:ext>
                  </a:extLst>
                </p:cNvPr>
                <p:cNvSpPr>
                  <a:spLocks/>
                </p:cNvSpPr>
                <p:nvPr/>
              </p:nvSpPr>
              <p:spPr bwMode="auto">
                <a:xfrm>
                  <a:off x="1777" y="528"/>
                  <a:ext cx="480" cy="941"/>
                </a:xfrm>
                <a:custGeom>
                  <a:avLst/>
                  <a:gdLst>
                    <a:gd name="T0" fmla="*/ 0 w 21600"/>
                    <a:gd name="T1" fmla="*/ 0 h 12076"/>
                    <a:gd name="T2" fmla="*/ 0 w 21600"/>
                    <a:gd name="T3" fmla="*/ 0 h 12076"/>
                    <a:gd name="T4" fmla="*/ 0 w 21600"/>
                    <a:gd name="T5" fmla="*/ 0 h 12076"/>
                    <a:gd name="T6" fmla="*/ 0 60000 65536"/>
                    <a:gd name="T7" fmla="*/ 0 60000 65536"/>
                    <a:gd name="T8" fmla="*/ 0 60000 65536"/>
                  </a:gdLst>
                  <a:ahLst/>
                  <a:cxnLst>
                    <a:cxn ang="T6">
                      <a:pos x="T0" y="T1"/>
                    </a:cxn>
                    <a:cxn ang="T7">
                      <a:pos x="T2" y="T3"/>
                    </a:cxn>
                    <a:cxn ang="T8">
                      <a:pos x="T4" y="T5"/>
                    </a:cxn>
                  </a:cxnLst>
                  <a:rect l="0" t="0" r="r" b="b"/>
                  <a:pathLst>
                    <a:path w="21600" h="12076" fill="none" extrusionOk="0">
                      <a:moveTo>
                        <a:pt x="3691" y="12075"/>
                      </a:moveTo>
                      <a:cubicBezTo>
                        <a:pt x="1285" y="8508"/>
                        <a:pt x="0" y="4303"/>
                        <a:pt x="0" y="0"/>
                      </a:cubicBezTo>
                    </a:path>
                    <a:path w="21600" h="12076" stroke="0" extrusionOk="0">
                      <a:moveTo>
                        <a:pt x="3691" y="12075"/>
                      </a:moveTo>
                      <a:cubicBezTo>
                        <a:pt x="1285" y="8508"/>
                        <a:pt x="0" y="4303"/>
                        <a:pt x="0" y="0"/>
                      </a:cubicBezTo>
                      <a:lnTo>
                        <a:pt x="21600" y="0"/>
                      </a:lnTo>
                      <a:lnTo>
                        <a:pt x="3691" y="12075"/>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4" name="Arc 36">
                  <a:extLst>
                    <a:ext uri="{FF2B5EF4-FFF2-40B4-BE49-F238E27FC236}">
                      <a16:creationId xmlns:a16="http://schemas.microsoft.com/office/drawing/2014/main" id="{7008369A-0237-4F9A-8F30-11BB0129B01E}"/>
                    </a:ext>
                  </a:extLst>
                </p:cNvPr>
                <p:cNvSpPr>
                  <a:spLocks/>
                </p:cNvSpPr>
                <p:nvPr/>
              </p:nvSpPr>
              <p:spPr bwMode="auto">
                <a:xfrm rot="10800000">
                  <a:off x="1309" y="2258"/>
                  <a:ext cx="704" cy="1823"/>
                </a:xfrm>
                <a:custGeom>
                  <a:avLst/>
                  <a:gdLst>
                    <a:gd name="T0" fmla="*/ 0 w 9400"/>
                    <a:gd name="T1" fmla="*/ 0 h 21592"/>
                    <a:gd name="T2" fmla="*/ 0 w 9400"/>
                    <a:gd name="T3" fmla="*/ 0 h 21592"/>
                    <a:gd name="T4" fmla="*/ 0 w 9400"/>
                    <a:gd name="T5" fmla="*/ 0 h 21592"/>
                    <a:gd name="T6" fmla="*/ 0 60000 65536"/>
                    <a:gd name="T7" fmla="*/ 0 60000 65536"/>
                    <a:gd name="T8" fmla="*/ 0 60000 65536"/>
                  </a:gdLst>
                  <a:ahLst/>
                  <a:cxnLst>
                    <a:cxn ang="T6">
                      <a:pos x="T0" y="T1"/>
                    </a:cxn>
                    <a:cxn ang="T7">
                      <a:pos x="T2" y="T3"/>
                    </a:cxn>
                    <a:cxn ang="T8">
                      <a:pos x="T4" y="T5"/>
                    </a:cxn>
                  </a:cxnLst>
                  <a:rect l="0" t="0" r="r" b="b"/>
                  <a:pathLst>
                    <a:path w="9400" h="21592" fill="none" extrusionOk="0">
                      <a:moveTo>
                        <a:pt x="9399" y="19447"/>
                      </a:moveTo>
                      <a:cubicBezTo>
                        <a:pt x="6651" y="20775"/>
                        <a:pt x="3652" y="21506"/>
                        <a:pt x="600" y="21591"/>
                      </a:cubicBezTo>
                    </a:path>
                    <a:path w="9400" h="21592" stroke="0" extrusionOk="0">
                      <a:moveTo>
                        <a:pt x="9399" y="19447"/>
                      </a:moveTo>
                      <a:cubicBezTo>
                        <a:pt x="6651" y="20775"/>
                        <a:pt x="3652" y="21506"/>
                        <a:pt x="600" y="21591"/>
                      </a:cubicBezTo>
                      <a:lnTo>
                        <a:pt x="0" y="0"/>
                      </a:lnTo>
                      <a:lnTo>
                        <a:pt x="9399" y="1944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5" name="Line 37">
                  <a:extLst>
                    <a:ext uri="{FF2B5EF4-FFF2-40B4-BE49-F238E27FC236}">
                      <a16:creationId xmlns:a16="http://schemas.microsoft.com/office/drawing/2014/main" id="{B2C2AC68-81BE-4C74-8478-CBFAC85946C0}"/>
                    </a:ext>
                  </a:extLst>
                </p:cNvPr>
                <p:cNvSpPr>
                  <a:spLocks noChangeShapeType="1"/>
                </p:cNvSpPr>
                <p:nvPr/>
              </p:nvSpPr>
              <p:spPr bwMode="auto">
                <a:xfrm>
                  <a:off x="2256" y="2208"/>
                  <a:ext cx="1392"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6" name="Line 38">
                  <a:extLst>
                    <a:ext uri="{FF2B5EF4-FFF2-40B4-BE49-F238E27FC236}">
                      <a16:creationId xmlns:a16="http://schemas.microsoft.com/office/drawing/2014/main" id="{567F4300-EA29-4EFC-B6B8-BD82C054A68F}"/>
                    </a:ext>
                  </a:extLst>
                </p:cNvPr>
                <p:cNvSpPr>
                  <a:spLocks noChangeShapeType="1"/>
                </p:cNvSpPr>
                <p:nvPr/>
              </p:nvSpPr>
              <p:spPr bwMode="auto">
                <a:xfrm>
                  <a:off x="1200" y="2208"/>
                  <a:ext cx="720" cy="0"/>
                </a:xfrm>
                <a:prstGeom prst="line">
                  <a:avLst/>
                </a:prstGeom>
                <a:noFill/>
                <a:ln w="317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7" name="Line 39">
                  <a:extLst>
                    <a:ext uri="{FF2B5EF4-FFF2-40B4-BE49-F238E27FC236}">
                      <a16:creationId xmlns:a16="http://schemas.microsoft.com/office/drawing/2014/main" id="{BE0C3C34-D473-4D2E-91BE-8350C481DFA0}"/>
                    </a:ext>
                  </a:extLst>
                </p:cNvPr>
                <p:cNvSpPr>
                  <a:spLocks noChangeShapeType="1"/>
                </p:cNvSpPr>
                <p:nvPr/>
              </p:nvSpPr>
              <p:spPr bwMode="auto">
                <a:xfrm>
                  <a:off x="624" y="2208"/>
                  <a:ext cx="576" cy="0"/>
                </a:xfrm>
                <a:prstGeom prst="line">
                  <a:avLst/>
                </a:prstGeom>
                <a:noFill/>
                <a:ln w="317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8" name="Arc 40">
                  <a:extLst>
                    <a:ext uri="{FF2B5EF4-FFF2-40B4-BE49-F238E27FC236}">
                      <a16:creationId xmlns:a16="http://schemas.microsoft.com/office/drawing/2014/main" id="{EE47928E-C669-4E16-B851-2FDAE5F950E2}"/>
                    </a:ext>
                  </a:extLst>
                </p:cNvPr>
                <p:cNvSpPr>
                  <a:spLocks/>
                </p:cNvSpPr>
                <p:nvPr/>
              </p:nvSpPr>
              <p:spPr bwMode="auto">
                <a:xfrm>
                  <a:off x="863" y="336"/>
                  <a:ext cx="1152" cy="1607"/>
                </a:xfrm>
                <a:custGeom>
                  <a:avLst/>
                  <a:gdLst>
                    <a:gd name="T0" fmla="*/ 0 w 15378"/>
                    <a:gd name="T1" fmla="*/ 0 h 19033"/>
                    <a:gd name="T2" fmla="*/ 0 w 15378"/>
                    <a:gd name="T3" fmla="*/ 0 h 19033"/>
                    <a:gd name="T4" fmla="*/ 0 w 15378"/>
                    <a:gd name="T5" fmla="*/ 0 h 19033"/>
                    <a:gd name="T6" fmla="*/ 0 60000 65536"/>
                    <a:gd name="T7" fmla="*/ 0 60000 65536"/>
                    <a:gd name="T8" fmla="*/ 0 60000 65536"/>
                  </a:gdLst>
                  <a:ahLst/>
                  <a:cxnLst>
                    <a:cxn ang="T6">
                      <a:pos x="T0" y="T1"/>
                    </a:cxn>
                    <a:cxn ang="T7">
                      <a:pos x="T2" y="T3"/>
                    </a:cxn>
                    <a:cxn ang="T8">
                      <a:pos x="T4" y="T5"/>
                    </a:cxn>
                  </a:cxnLst>
                  <a:rect l="0" t="0" r="r" b="b"/>
                  <a:pathLst>
                    <a:path w="15378" h="19033" fill="none" extrusionOk="0">
                      <a:moveTo>
                        <a:pt x="5164" y="19032"/>
                      </a:moveTo>
                      <a:cubicBezTo>
                        <a:pt x="3259" y="18010"/>
                        <a:pt x="1518" y="16707"/>
                        <a:pt x="0" y="15168"/>
                      </a:cubicBezTo>
                    </a:path>
                    <a:path w="15378" h="19033" stroke="0" extrusionOk="0">
                      <a:moveTo>
                        <a:pt x="5164" y="19032"/>
                      </a:moveTo>
                      <a:cubicBezTo>
                        <a:pt x="3259" y="18010"/>
                        <a:pt x="1518" y="16707"/>
                        <a:pt x="0" y="15168"/>
                      </a:cubicBezTo>
                      <a:lnTo>
                        <a:pt x="15378" y="0"/>
                      </a:lnTo>
                      <a:lnTo>
                        <a:pt x="5164" y="19032"/>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9" name="Arc 41">
                  <a:extLst>
                    <a:ext uri="{FF2B5EF4-FFF2-40B4-BE49-F238E27FC236}">
                      <a16:creationId xmlns:a16="http://schemas.microsoft.com/office/drawing/2014/main" id="{F22D1489-E3B8-4EF8-A212-9E51BB7BF673}"/>
                    </a:ext>
                  </a:extLst>
                </p:cNvPr>
                <p:cNvSpPr>
                  <a:spLocks/>
                </p:cNvSpPr>
                <p:nvPr/>
              </p:nvSpPr>
              <p:spPr bwMode="auto">
                <a:xfrm rot="10800000">
                  <a:off x="1416" y="2286"/>
                  <a:ext cx="1081" cy="1878"/>
                </a:xfrm>
                <a:custGeom>
                  <a:avLst/>
                  <a:gdLst>
                    <a:gd name="T0" fmla="*/ 0 w 16208"/>
                    <a:gd name="T1" fmla="*/ 0 h 20118"/>
                    <a:gd name="T2" fmla="*/ 0 w 16208"/>
                    <a:gd name="T3" fmla="*/ 0 h 20118"/>
                    <a:gd name="T4" fmla="*/ 0 w 16208"/>
                    <a:gd name="T5" fmla="*/ 0 h 20118"/>
                    <a:gd name="T6" fmla="*/ 0 60000 65536"/>
                    <a:gd name="T7" fmla="*/ 0 60000 65536"/>
                    <a:gd name="T8" fmla="*/ 0 60000 65536"/>
                  </a:gdLst>
                  <a:ahLst/>
                  <a:cxnLst>
                    <a:cxn ang="T6">
                      <a:pos x="T0" y="T1"/>
                    </a:cxn>
                    <a:cxn ang="T7">
                      <a:pos x="T2" y="T3"/>
                    </a:cxn>
                    <a:cxn ang="T8">
                      <a:pos x="T4" y="T5"/>
                    </a:cxn>
                  </a:cxnLst>
                  <a:rect l="0" t="0" r="r" b="b"/>
                  <a:pathLst>
                    <a:path w="16208" h="20118" fill="none" extrusionOk="0">
                      <a:moveTo>
                        <a:pt x="16207" y="14277"/>
                      </a:moveTo>
                      <a:cubicBezTo>
                        <a:pt x="13931" y="16862"/>
                        <a:pt x="11070" y="18864"/>
                        <a:pt x="7862" y="20117"/>
                      </a:cubicBezTo>
                    </a:path>
                    <a:path w="16208" h="20118" stroke="0" extrusionOk="0">
                      <a:moveTo>
                        <a:pt x="16207" y="14277"/>
                      </a:moveTo>
                      <a:cubicBezTo>
                        <a:pt x="13931" y="16862"/>
                        <a:pt x="11070" y="18864"/>
                        <a:pt x="7862" y="20117"/>
                      </a:cubicBezTo>
                      <a:lnTo>
                        <a:pt x="0" y="0"/>
                      </a:lnTo>
                      <a:lnTo>
                        <a:pt x="16207" y="14277"/>
                      </a:lnTo>
                      <a:close/>
                    </a:path>
                  </a:pathLst>
                </a:custGeom>
                <a:noFill/>
                <a:ln w="3175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0" name="Arc 42">
                  <a:extLst>
                    <a:ext uri="{FF2B5EF4-FFF2-40B4-BE49-F238E27FC236}">
                      <a16:creationId xmlns:a16="http://schemas.microsoft.com/office/drawing/2014/main" id="{AF005D92-ACE5-4637-827A-2217D273234E}"/>
                    </a:ext>
                  </a:extLst>
                </p:cNvPr>
                <p:cNvSpPr>
                  <a:spLocks/>
                </p:cNvSpPr>
                <p:nvPr/>
              </p:nvSpPr>
              <p:spPr bwMode="auto">
                <a:xfrm>
                  <a:off x="2331" y="1057"/>
                  <a:ext cx="1445" cy="1488"/>
                </a:xfrm>
                <a:custGeom>
                  <a:avLst/>
                  <a:gdLst>
                    <a:gd name="T0" fmla="*/ 0 w 35894"/>
                    <a:gd name="T1" fmla="*/ 0 h 21600"/>
                    <a:gd name="T2" fmla="*/ 0 w 35894"/>
                    <a:gd name="T3" fmla="*/ 0 h 21600"/>
                    <a:gd name="T4" fmla="*/ 0 w 35894"/>
                    <a:gd name="T5" fmla="*/ 0 h 21600"/>
                    <a:gd name="T6" fmla="*/ 0 60000 65536"/>
                    <a:gd name="T7" fmla="*/ 0 60000 65536"/>
                    <a:gd name="T8" fmla="*/ 0 60000 65536"/>
                  </a:gdLst>
                  <a:ahLst/>
                  <a:cxnLst>
                    <a:cxn ang="T6">
                      <a:pos x="T0" y="T1"/>
                    </a:cxn>
                    <a:cxn ang="T7">
                      <a:pos x="T2" y="T3"/>
                    </a:cxn>
                    <a:cxn ang="T8">
                      <a:pos x="T4" y="T5"/>
                    </a:cxn>
                  </a:cxnLst>
                  <a:rect l="0" t="0" r="r" b="b"/>
                  <a:pathLst>
                    <a:path w="35894" h="21600" fill="none" extrusionOk="0">
                      <a:moveTo>
                        <a:pt x="-1" y="6571"/>
                      </a:moveTo>
                      <a:cubicBezTo>
                        <a:pt x="4068" y="2371"/>
                        <a:pt x="9666" y="-1"/>
                        <a:pt x="15515" y="0"/>
                      </a:cubicBezTo>
                      <a:cubicBezTo>
                        <a:pt x="24684" y="0"/>
                        <a:pt x="32854" y="5789"/>
                        <a:pt x="35894" y="14440"/>
                      </a:cubicBezTo>
                    </a:path>
                    <a:path w="35894" h="21600" stroke="0" extrusionOk="0">
                      <a:moveTo>
                        <a:pt x="-1" y="6571"/>
                      </a:moveTo>
                      <a:cubicBezTo>
                        <a:pt x="4068" y="2371"/>
                        <a:pt x="9666" y="-1"/>
                        <a:pt x="15515" y="0"/>
                      </a:cubicBezTo>
                      <a:cubicBezTo>
                        <a:pt x="24684" y="0"/>
                        <a:pt x="32854" y="5789"/>
                        <a:pt x="35894" y="14440"/>
                      </a:cubicBezTo>
                      <a:lnTo>
                        <a:pt x="15515" y="21600"/>
                      </a:lnTo>
                      <a:lnTo>
                        <a:pt x="-1" y="6571"/>
                      </a:lnTo>
                      <a:close/>
                    </a:path>
                  </a:pathLst>
                </a:custGeom>
                <a:noFill/>
                <a:ln w="3175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1" name="Line 43">
                  <a:extLst>
                    <a:ext uri="{FF2B5EF4-FFF2-40B4-BE49-F238E27FC236}">
                      <a16:creationId xmlns:a16="http://schemas.microsoft.com/office/drawing/2014/main" id="{0223665C-7490-4966-82BF-31E03B4A4246}"/>
                    </a:ext>
                  </a:extLst>
                </p:cNvPr>
                <p:cNvSpPr>
                  <a:spLocks noChangeShapeType="1"/>
                </p:cNvSpPr>
                <p:nvPr/>
              </p:nvSpPr>
              <p:spPr bwMode="auto">
                <a:xfrm>
                  <a:off x="2640" y="2208"/>
                  <a:ext cx="1056" cy="0"/>
                </a:xfrm>
                <a:prstGeom prst="line">
                  <a:avLst/>
                </a:prstGeom>
                <a:noFill/>
                <a:ln w="3175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2" name="Arc 44">
                  <a:extLst>
                    <a:ext uri="{FF2B5EF4-FFF2-40B4-BE49-F238E27FC236}">
                      <a16:creationId xmlns:a16="http://schemas.microsoft.com/office/drawing/2014/main" id="{41F605EA-7509-4E7B-8D15-AD2AAA48DB18}"/>
                    </a:ext>
                  </a:extLst>
                </p:cNvPr>
                <p:cNvSpPr>
                  <a:spLocks/>
                </p:cNvSpPr>
                <p:nvPr/>
              </p:nvSpPr>
              <p:spPr bwMode="auto">
                <a:xfrm rot="10800000">
                  <a:off x="767" y="2400"/>
                  <a:ext cx="1151" cy="1726"/>
                </a:xfrm>
                <a:custGeom>
                  <a:avLst/>
                  <a:gdLst>
                    <a:gd name="T0" fmla="*/ 0 w 15371"/>
                    <a:gd name="T1" fmla="*/ 0 h 20439"/>
                    <a:gd name="T2" fmla="*/ 0 w 15371"/>
                    <a:gd name="T3" fmla="*/ 0 h 20439"/>
                    <a:gd name="T4" fmla="*/ 0 w 15371"/>
                    <a:gd name="T5" fmla="*/ 0 h 20439"/>
                    <a:gd name="T6" fmla="*/ 0 60000 65536"/>
                    <a:gd name="T7" fmla="*/ 0 60000 65536"/>
                    <a:gd name="T8" fmla="*/ 0 60000 65536"/>
                  </a:gdLst>
                  <a:ahLst/>
                  <a:cxnLst>
                    <a:cxn ang="T6">
                      <a:pos x="T0" y="T1"/>
                    </a:cxn>
                    <a:cxn ang="T7">
                      <a:pos x="T2" y="T3"/>
                    </a:cxn>
                    <a:cxn ang="T8">
                      <a:pos x="T4" y="T5"/>
                    </a:cxn>
                  </a:cxnLst>
                  <a:rect l="0" t="0" r="r" b="b"/>
                  <a:pathLst>
                    <a:path w="15371" h="20439" fill="none" extrusionOk="0">
                      <a:moveTo>
                        <a:pt x="15371" y="15175"/>
                      </a:moveTo>
                      <a:cubicBezTo>
                        <a:pt x="13021" y="17555"/>
                        <a:pt x="10150" y="19357"/>
                        <a:pt x="6986" y="20439"/>
                      </a:cubicBezTo>
                    </a:path>
                    <a:path w="15371" h="20439" stroke="0" extrusionOk="0">
                      <a:moveTo>
                        <a:pt x="15371" y="15175"/>
                      </a:moveTo>
                      <a:cubicBezTo>
                        <a:pt x="13021" y="17555"/>
                        <a:pt x="10150" y="19357"/>
                        <a:pt x="6986" y="20439"/>
                      </a:cubicBezTo>
                      <a:lnTo>
                        <a:pt x="0" y="0"/>
                      </a:lnTo>
                      <a:lnTo>
                        <a:pt x="15371" y="15175"/>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3" name="Arc 45">
                  <a:extLst>
                    <a:ext uri="{FF2B5EF4-FFF2-40B4-BE49-F238E27FC236}">
                      <a16:creationId xmlns:a16="http://schemas.microsoft.com/office/drawing/2014/main" id="{7097E0BC-520A-4152-B353-3601C0F1AD38}"/>
                    </a:ext>
                  </a:extLst>
                </p:cNvPr>
                <p:cNvSpPr>
                  <a:spLocks/>
                </p:cNvSpPr>
                <p:nvPr/>
              </p:nvSpPr>
              <p:spPr bwMode="auto">
                <a:xfrm rot="10800000">
                  <a:off x="1104" y="2832"/>
                  <a:ext cx="1201" cy="1378"/>
                </a:xfrm>
                <a:custGeom>
                  <a:avLst/>
                  <a:gdLst>
                    <a:gd name="T0" fmla="*/ 0 w 20913"/>
                    <a:gd name="T1" fmla="*/ 0 h 14765"/>
                    <a:gd name="T2" fmla="*/ 0 w 20913"/>
                    <a:gd name="T3" fmla="*/ 0 h 14765"/>
                    <a:gd name="T4" fmla="*/ 0 w 20913"/>
                    <a:gd name="T5" fmla="*/ 0 h 14765"/>
                    <a:gd name="T6" fmla="*/ 0 60000 65536"/>
                    <a:gd name="T7" fmla="*/ 0 60000 65536"/>
                    <a:gd name="T8" fmla="*/ 0 60000 65536"/>
                  </a:gdLst>
                  <a:ahLst/>
                  <a:cxnLst>
                    <a:cxn ang="T6">
                      <a:pos x="T0" y="T1"/>
                    </a:cxn>
                    <a:cxn ang="T7">
                      <a:pos x="T2" y="T3"/>
                    </a:cxn>
                    <a:cxn ang="T8">
                      <a:pos x="T4" y="T5"/>
                    </a:cxn>
                  </a:cxnLst>
                  <a:rect l="0" t="0" r="r" b="b"/>
                  <a:pathLst>
                    <a:path w="20913" h="14765" fill="none" extrusionOk="0">
                      <a:moveTo>
                        <a:pt x="20913" y="5403"/>
                      </a:moveTo>
                      <a:cubicBezTo>
                        <a:pt x="20008" y="8905"/>
                        <a:pt x="18238" y="12124"/>
                        <a:pt x="15765" y="14765"/>
                      </a:cubicBezTo>
                    </a:path>
                    <a:path w="20913" h="14765" stroke="0" extrusionOk="0">
                      <a:moveTo>
                        <a:pt x="20913" y="5403"/>
                      </a:moveTo>
                      <a:cubicBezTo>
                        <a:pt x="20008" y="8905"/>
                        <a:pt x="18238" y="12124"/>
                        <a:pt x="15765" y="14765"/>
                      </a:cubicBezTo>
                      <a:lnTo>
                        <a:pt x="0" y="0"/>
                      </a:lnTo>
                      <a:lnTo>
                        <a:pt x="20913" y="5403"/>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4" name="Arc 46">
                  <a:extLst>
                    <a:ext uri="{FF2B5EF4-FFF2-40B4-BE49-F238E27FC236}">
                      <a16:creationId xmlns:a16="http://schemas.microsoft.com/office/drawing/2014/main" id="{49DF04C2-4B1B-43F5-88FC-F5F713AE71FB}"/>
                    </a:ext>
                  </a:extLst>
                </p:cNvPr>
                <p:cNvSpPr>
                  <a:spLocks/>
                </p:cNvSpPr>
                <p:nvPr/>
              </p:nvSpPr>
              <p:spPr bwMode="auto">
                <a:xfrm rot="10800000">
                  <a:off x="1680" y="3168"/>
                  <a:ext cx="480" cy="850"/>
                </a:xfrm>
                <a:custGeom>
                  <a:avLst/>
                  <a:gdLst>
                    <a:gd name="T0" fmla="*/ 0 w 21600"/>
                    <a:gd name="T1" fmla="*/ 0 h 10905"/>
                    <a:gd name="T2" fmla="*/ 0 w 21600"/>
                    <a:gd name="T3" fmla="*/ 0 h 10905"/>
                    <a:gd name="T4" fmla="*/ 0 w 21600"/>
                    <a:gd name="T5" fmla="*/ 0 h 10905"/>
                    <a:gd name="T6" fmla="*/ 0 60000 65536"/>
                    <a:gd name="T7" fmla="*/ 0 60000 65536"/>
                    <a:gd name="T8" fmla="*/ 0 60000 65536"/>
                  </a:gdLst>
                  <a:ahLst/>
                  <a:cxnLst>
                    <a:cxn ang="T6">
                      <a:pos x="T0" y="T1"/>
                    </a:cxn>
                    <a:cxn ang="T7">
                      <a:pos x="T2" y="T3"/>
                    </a:cxn>
                    <a:cxn ang="T8">
                      <a:pos x="T4" y="T5"/>
                    </a:cxn>
                  </a:cxnLst>
                  <a:rect l="0" t="0" r="r" b="b"/>
                  <a:pathLst>
                    <a:path w="21600" h="10905" fill="none" extrusionOk="0">
                      <a:moveTo>
                        <a:pt x="21600" y="0"/>
                      </a:moveTo>
                      <a:cubicBezTo>
                        <a:pt x="21600" y="3832"/>
                        <a:pt x="20580" y="7596"/>
                        <a:pt x="18645" y="10905"/>
                      </a:cubicBezTo>
                    </a:path>
                    <a:path w="21600" h="10905" stroke="0" extrusionOk="0">
                      <a:moveTo>
                        <a:pt x="21600" y="0"/>
                      </a:moveTo>
                      <a:cubicBezTo>
                        <a:pt x="21600" y="3832"/>
                        <a:pt x="20580" y="7596"/>
                        <a:pt x="18645" y="10905"/>
                      </a:cubicBezTo>
                      <a:lnTo>
                        <a:pt x="0" y="0"/>
                      </a:lnTo>
                      <a:lnTo>
                        <a:pt x="21600" y="0"/>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5" name="Arc 47">
                  <a:extLst>
                    <a:ext uri="{FF2B5EF4-FFF2-40B4-BE49-F238E27FC236}">
                      <a16:creationId xmlns:a16="http://schemas.microsoft.com/office/drawing/2014/main" id="{89E65B2A-DA59-4CD8-819A-AB15316B8B86}"/>
                    </a:ext>
                  </a:extLst>
                </p:cNvPr>
                <p:cNvSpPr>
                  <a:spLocks/>
                </p:cNvSpPr>
                <p:nvPr/>
              </p:nvSpPr>
              <p:spPr bwMode="auto">
                <a:xfrm rot="10800000">
                  <a:off x="2352" y="1921"/>
                  <a:ext cx="1525" cy="1488"/>
                </a:xfrm>
                <a:custGeom>
                  <a:avLst/>
                  <a:gdLst>
                    <a:gd name="T0" fmla="*/ 0 w 36819"/>
                    <a:gd name="T1" fmla="*/ 0 h 21600"/>
                    <a:gd name="T2" fmla="*/ 0 w 36819"/>
                    <a:gd name="T3" fmla="*/ 0 h 21600"/>
                    <a:gd name="T4" fmla="*/ 0 w 36819"/>
                    <a:gd name="T5" fmla="*/ 0 h 21600"/>
                    <a:gd name="T6" fmla="*/ 0 60000 65536"/>
                    <a:gd name="T7" fmla="*/ 0 60000 65536"/>
                    <a:gd name="T8" fmla="*/ 0 60000 65536"/>
                  </a:gdLst>
                  <a:ahLst/>
                  <a:cxnLst>
                    <a:cxn ang="T6">
                      <a:pos x="T0" y="T1"/>
                    </a:cxn>
                    <a:cxn ang="T7">
                      <a:pos x="T2" y="T3"/>
                    </a:cxn>
                    <a:cxn ang="T8">
                      <a:pos x="T4" y="T5"/>
                    </a:cxn>
                  </a:cxnLst>
                  <a:rect l="0" t="0" r="r" b="b"/>
                  <a:pathLst>
                    <a:path w="36819" h="21600" fill="none" extrusionOk="0">
                      <a:moveTo>
                        <a:pt x="-1" y="14898"/>
                      </a:moveTo>
                      <a:cubicBezTo>
                        <a:pt x="2899" y="6012"/>
                        <a:pt x="11186" y="-1"/>
                        <a:pt x="20534" y="0"/>
                      </a:cubicBezTo>
                      <a:cubicBezTo>
                        <a:pt x="26778" y="0"/>
                        <a:pt x="32716" y="2702"/>
                        <a:pt x="36819" y="7409"/>
                      </a:cubicBezTo>
                    </a:path>
                    <a:path w="36819" h="21600" stroke="0" extrusionOk="0">
                      <a:moveTo>
                        <a:pt x="-1" y="14898"/>
                      </a:moveTo>
                      <a:cubicBezTo>
                        <a:pt x="2899" y="6012"/>
                        <a:pt x="11186" y="-1"/>
                        <a:pt x="20534" y="0"/>
                      </a:cubicBezTo>
                      <a:cubicBezTo>
                        <a:pt x="26778" y="0"/>
                        <a:pt x="32716" y="2702"/>
                        <a:pt x="36819" y="7409"/>
                      </a:cubicBezTo>
                      <a:lnTo>
                        <a:pt x="20534" y="21600"/>
                      </a:lnTo>
                      <a:lnTo>
                        <a:pt x="-1" y="14898"/>
                      </a:lnTo>
                      <a:close/>
                    </a:path>
                  </a:pathLst>
                </a:custGeom>
                <a:noFill/>
                <a:ln w="3175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grpSp>
          <p:nvGrpSpPr>
            <p:cNvPr id="106" name="Group 48">
              <a:extLst>
                <a:ext uri="{FF2B5EF4-FFF2-40B4-BE49-F238E27FC236}">
                  <a16:creationId xmlns:a16="http://schemas.microsoft.com/office/drawing/2014/main" id="{47F762D3-BB10-4BCE-9564-293112B0C08E}"/>
                </a:ext>
              </a:extLst>
            </p:cNvPr>
            <p:cNvGrpSpPr>
              <a:grpSpLocks/>
            </p:cNvGrpSpPr>
            <p:nvPr/>
          </p:nvGrpSpPr>
          <p:grpSpPr bwMode="auto">
            <a:xfrm>
              <a:off x="6102350" y="929748"/>
              <a:ext cx="5945086" cy="3587008"/>
              <a:chOff x="628" y="960"/>
              <a:chExt cx="4696" cy="2784"/>
            </a:xfrm>
          </p:grpSpPr>
          <p:sp>
            <p:nvSpPr>
              <p:cNvPr id="107" name="Oval 49">
                <a:extLst>
                  <a:ext uri="{FF2B5EF4-FFF2-40B4-BE49-F238E27FC236}">
                    <a16:creationId xmlns:a16="http://schemas.microsoft.com/office/drawing/2014/main" id="{9A93AA0F-4E1A-4F62-AACE-379F76D6DFAB}"/>
                  </a:ext>
                </a:extLst>
              </p:cNvPr>
              <p:cNvSpPr>
                <a:spLocks noChangeArrowheads="1"/>
              </p:cNvSpPr>
              <p:nvPr/>
            </p:nvSpPr>
            <p:spPr bwMode="auto">
              <a:xfrm>
                <a:off x="1488" y="1728"/>
                <a:ext cx="952" cy="952"/>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08" name="Oval 50">
                <a:extLst>
                  <a:ext uri="{FF2B5EF4-FFF2-40B4-BE49-F238E27FC236}">
                    <a16:creationId xmlns:a16="http://schemas.microsoft.com/office/drawing/2014/main" id="{367D6513-A621-427A-889B-3512C205D01E}"/>
                  </a:ext>
                </a:extLst>
              </p:cNvPr>
              <p:cNvSpPr>
                <a:spLocks noChangeArrowheads="1"/>
              </p:cNvSpPr>
              <p:nvPr/>
            </p:nvSpPr>
            <p:spPr bwMode="auto">
              <a:xfrm>
                <a:off x="628" y="1156"/>
                <a:ext cx="2056" cy="2056"/>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09" name="Oval 51">
                <a:extLst>
                  <a:ext uri="{FF2B5EF4-FFF2-40B4-BE49-F238E27FC236}">
                    <a16:creationId xmlns:a16="http://schemas.microsoft.com/office/drawing/2014/main" id="{7239A678-4B33-44D3-AF7F-89C349B5BB3D}"/>
                  </a:ext>
                </a:extLst>
              </p:cNvPr>
              <p:cNvSpPr>
                <a:spLocks noChangeArrowheads="1"/>
              </p:cNvSpPr>
              <p:nvPr/>
            </p:nvSpPr>
            <p:spPr bwMode="auto">
              <a:xfrm>
                <a:off x="1108" y="1540"/>
                <a:ext cx="1432" cy="1384"/>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10" name="Oval 52">
                <a:extLst>
                  <a:ext uri="{FF2B5EF4-FFF2-40B4-BE49-F238E27FC236}">
                    <a16:creationId xmlns:a16="http://schemas.microsoft.com/office/drawing/2014/main" id="{A524BEE9-6263-4615-84B7-34CA74DFF7CC}"/>
                  </a:ext>
                </a:extLst>
              </p:cNvPr>
              <p:cNvSpPr>
                <a:spLocks noChangeArrowheads="1"/>
              </p:cNvSpPr>
              <p:nvPr/>
            </p:nvSpPr>
            <p:spPr bwMode="auto">
              <a:xfrm>
                <a:off x="1780" y="1924"/>
                <a:ext cx="568" cy="568"/>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11" name="Oval 53">
                <a:extLst>
                  <a:ext uri="{FF2B5EF4-FFF2-40B4-BE49-F238E27FC236}">
                    <a16:creationId xmlns:a16="http://schemas.microsoft.com/office/drawing/2014/main" id="{34ED6F5B-A197-4475-8B45-3B966E9323F2}"/>
                  </a:ext>
                </a:extLst>
              </p:cNvPr>
              <p:cNvSpPr>
                <a:spLocks noChangeArrowheads="1"/>
              </p:cNvSpPr>
              <p:nvPr/>
            </p:nvSpPr>
            <p:spPr bwMode="auto">
              <a:xfrm>
                <a:off x="3604" y="1924"/>
                <a:ext cx="568" cy="568"/>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dirty="0">
                  <a:ea typeface="华文楷体" panose="02010600040101010101" pitchFamily="2" charset="-122"/>
                </a:endParaRPr>
              </a:p>
            </p:txBody>
          </p:sp>
          <p:sp>
            <p:nvSpPr>
              <p:cNvPr id="112" name="Oval 54">
                <a:extLst>
                  <a:ext uri="{FF2B5EF4-FFF2-40B4-BE49-F238E27FC236}">
                    <a16:creationId xmlns:a16="http://schemas.microsoft.com/office/drawing/2014/main" id="{882B7003-F1AF-4180-B96B-B8B04C40976F}"/>
                  </a:ext>
                </a:extLst>
              </p:cNvPr>
              <p:cNvSpPr>
                <a:spLocks noChangeArrowheads="1"/>
              </p:cNvSpPr>
              <p:nvPr/>
            </p:nvSpPr>
            <p:spPr bwMode="auto">
              <a:xfrm>
                <a:off x="3508" y="1732"/>
                <a:ext cx="952" cy="952"/>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13" name="Oval 55">
                <a:extLst>
                  <a:ext uri="{FF2B5EF4-FFF2-40B4-BE49-F238E27FC236}">
                    <a16:creationId xmlns:a16="http://schemas.microsoft.com/office/drawing/2014/main" id="{E4311924-3DD9-484F-9175-220A11FBC962}"/>
                  </a:ext>
                </a:extLst>
              </p:cNvPr>
              <p:cNvSpPr>
                <a:spLocks noChangeArrowheads="1"/>
              </p:cNvSpPr>
              <p:nvPr/>
            </p:nvSpPr>
            <p:spPr bwMode="auto">
              <a:xfrm>
                <a:off x="3412" y="1540"/>
                <a:ext cx="1432" cy="1384"/>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14" name="Oval 56">
                <a:extLst>
                  <a:ext uri="{FF2B5EF4-FFF2-40B4-BE49-F238E27FC236}">
                    <a16:creationId xmlns:a16="http://schemas.microsoft.com/office/drawing/2014/main" id="{B477E253-8D89-474D-B125-CA0A7D3A12E2}"/>
                  </a:ext>
                </a:extLst>
              </p:cNvPr>
              <p:cNvSpPr>
                <a:spLocks noChangeArrowheads="1"/>
              </p:cNvSpPr>
              <p:nvPr/>
            </p:nvSpPr>
            <p:spPr bwMode="auto">
              <a:xfrm>
                <a:off x="3268" y="1156"/>
                <a:ext cx="2056" cy="2056"/>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15" name="Line 57">
                <a:extLst>
                  <a:ext uri="{FF2B5EF4-FFF2-40B4-BE49-F238E27FC236}">
                    <a16:creationId xmlns:a16="http://schemas.microsoft.com/office/drawing/2014/main" id="{E969A6AB-AA5A-40FD-82C4-E5A6985C990F}"/>
                  </a:ext>
                </a:extLst>
              </p:cNvPr>
              <p:cNvSpPr>
                <a:spLocks noChangeShapeType="1"/>
              </p:cNvSpPr>
              <p:nvPr/>
            </p:nvSpPr>
            <p:spPr bwMode="auto">
              <a:xfrm>
                <a:off x="2976" y="960"/>
                <a:ext cx="0" cy="2784"/>
              </a:xfrm>
              <a:prstGeom prst="lin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16" name="Arc 58">
                <a:extLst>
                  <a:ext uri="{FF2B5EF4-FFF2-40B4-BE49-F238E27FC236}">
                    <a16:creationId xmlns:a16="http://schemas.microsoft.com/office/drawing/2014/main" id="{688388BA-91E6-40D9-9326-DA633198EF56}"/>
                  </a:ext>
                </a:extLst>
              </p:cNvPr>
              <p:cNvSpPr>
                <a:spLocks/>
              </p:cNvSpPr>
              <p:nvPr/>
            </p:nvSpPr>
            <p:spPr bwMode="auto">
              <a:xfrm>
                <a:off x="3122" y="972"/>
                <a:ext cx="1248" cy="2405"/>
              </a:xfrm>
              <a:custGeom>
                <a:avLst/>
                <a:gdLst>
                  <a:gd name="T0" fmla="*/ 0 w 21600"/>
                  <a:gd name="T1" fmla="*/ 0 h 36078"/>
                  <a:gd name="T2" fmla="*/ 0 w 21600"/>
                  <a:gd name="T3" fmla="*/ 0 h 36078"/>
                  <a:gd name="T4" fmla="*/ 0 w 21600"/>
                  <a:gd name="T5" fmla="*/ 0 h 36078"/>
                  <a:gd name="T6" fmla="*/ 0 60000 65536"/>
                  <a:gd name="T7" fmla="*/ 0 60000 65536"/>
                  <a:gd name="T8" fmla="*/ 0 60000 65536"/>
                </a:gdLst>
                <a:ahLst/>
                <a:cxnLst>
                  <a:cxn ang="T6">
                    <a:pos x="T0" y="T1"/>
                  </a:cxn>
                  <a:cxn ang="T7">
                    <a:pos x="T2" y="T3"/>
                  </a:cxn>
                  <a:cxn ang="T8">
                    <a:pos x="T4" y="T5"/>
                  </a:cxn>
                </a:cxnLst>
                <a:rect l="0" t="0" r="r" b="b"/>
                <a:pathLst>
                  <a:path w="21600" h="36078" fill="none" extrusionOk="0">
                    <a:moveTo>
                      <a:pt x="8984" y="36077"/>
                    </a:moveTo>
                    <a:cubicBezTo>
                      <a:pt x="3343" y="32019"/>
                      <a:pt x="0" y="25494"/>
                      <a:pt x="0" y="18545"/>
                    </a:cubicBezTo>
                    <a:cubicBezTo>
                      <a:pt x="-1" y="10941"/>
                      <a:pt x="3997" y="3898"/>
                      <a:pt x="10525" y="0"/>
                    </a:cubicBezTo>
                  </a:path>
                  <a:path w="21600" h="36078" stroke="0" extrusionOk="0">
                    <a:moveTo>
                      <a:pt x="8984" y="36077"/>
                    </a:moveTo>
                    <a:cubicBezTo>
                      <a:pt x="3343" y="32019"/>
                      <a:pt x="0" y="25494"/>
                      <a:pt x="0" y="18545"/>
                    </a:cubicBezTo>
                    <a:cubicBezTo>
                      <a:pt x="-1" y="10941"/>
                      <a:pt x="3997" y="3898"/>
                      <a:pt x="10525" y="0"/>
                    </a:cubicBezTo>
                    <a:lnTo>
                      <a:pt x="21600" y="18545"/>
                    </a:lnTo>
                    <a:lnTo>
                      <a:pt x="8984" y="36077"/>
                    </a:lnTo>
                    <a:close/>
                  </a:path>
                </a:pathLst>
              </a:cu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sp>
            <p:nvSpPr>
              <p:cNvPr id="117" name="Arc 59">
                <a:extLst>
                  <a:ext uri="{FF2B5EF4-FFF2-40B4-BE49-F238E27FC236}">
                    <a16:creationId xmlns:a16="http://schemas.microsoft.com/office/drawing/2014/main" id="{91F431BC-6EE1-4109-B7BB-3483517FEC53}"/>
                  </a:ext>
                </a:extLst>
              </p:cNvPr>
              <p:cNvSpPr>
                <a:spLocks/>
              </p:cNvSpPr>
              <p:nvPr/>
            </p:nvSpPr>
            <p:spPr bwMode="auto">
              <a:xfrm rot="10800000">
                <a:off x="1440" y="1082"/>
                <a:ext cx="1392" cy="2404"/>
              </a:xfrm>
              <a:custGeom>
                <a:avLst/>
                <a:gdLst>
                  <a:gd name="T0" fmla="*/ 0 w 21600"/>
                  <a:gd name="T1" fmla="*/ 0 h 37310"/>
                  <a:gd name="T2" fmla="*/ 0 w 21600"/>
                  <a:gd name="T3" fmla="*/ 0 h 37310"/>
                  <a:gd name="T4" fmla="*/ 0 w 21600"/>
                  <a:gd name="T5" fmla="*/ 0 h 37310"/>
                  <a:gd name="T6" fmla="*/ 0 60000 65536"/>
                  <a:gd name="T7" fmla="*/ 0 60000 65536"/>
                  <a:gd name="T8" fmla="*/ 0 60000 65536"/>
                </a:gdLst>
                <a:ahLst/>
                <a:cxnLst>
                  <a:cxn ang="T6">
                    <a:pos x="T0" y="T1"/>
                  </a:cxn>
                  <a:cxn ang="T7">
                    <a:pos x="T2" y="T3"/>
                  </a:cxn>
                  <a:cxn ang="T8">
                    <a:pos x="T4" y="T5"/>
                  </a:cxn>
                </a:cxnLst>
                <a:rect l="0" t="0" r="r" b="b"/>
                <a:pathLst>
                  <a:path w="21600" h="37310" fill="none" extrusionOk="0">
                    <a:moveTo>
                      <a:pt x="8922" y="37309"/>
                    </a:moveTo>
                    <a:cubicBezTo>
                      <a:pt x="3317" y="33247"/>
                      <a:pt x="0" y="26744"/>
                      <a:pt x="0" y="19822"/>
                    </a:cubicBezTo>
                    <a:cubicBezTo>
                      <a:pt x="-1" y="11210"/>
                      <a:pt x="5115" y="3421"/>
                      <a:pt x="13018" y="0"/>
                    </a:cubicBezTo>
                  </a:path>
                  <a:path w="21600" h="37310" stroke="0" extrusionOk="0">
                    <a:moveTo>
                      <a:pt x="8922" y="37309"/>
                    </a:moveTo>
                    <a:cubicBezTo>
                      <a:pt x="3317" y="33247"/>
                      <a:pt x="0" y="26744"/>
                      <a:pt x="0" y="19822"/>
                    </a:cubicBezTo>
                    <a:cubicBezTo>
                      <a:pt x="-1" y="11210"/>
                      <a:pt x="5115" y="3421"/>
                      <a:pt x="13018" y="0"/>
                    </a:cubicBezTo>
                    <a:lnTo>
                      <a:pt x="21600" y="19822"/>
                    </a:lnTo>
                    <a:lnTo>
                      <a:pt x="8922" y="37309"/>
                    </a:lnTo>
                    <a:close/>
                  </a:path>
                </a:pathLst>
              </a:cu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grpSp>
        <p:grpSp>
          <p:nvGrpSpPr>
            <p:cNvPr id="118" name="Group 60">
              <a:extLst>
                <a:ext uri="{FF2B5EF4-FFF2-40B4-BE49-F238E27FC236}">
                  <a16:creationId xmlns:a16="http://schemas.microsoft.com/office/drawing/2014/main" id="{798DE48D-B14A-4461-B7CA-8004E61F4B35}"/>
                </a:ext>
              </a:extLst>
            </p:cNvPr>
            <p:cNvGrpSpPr>
              <a:grpSpLocks/>
            </p:cNvGrpSpPr>
            <p:nvPr/>
          </p:nvGrpSpPr>
          <p:grpSpPr bwMode="auto">
            <a:xfrm>
              <a:off x="7782080" y="2065522"/>
              <a:ext cx="2593125" cy="691792"/>
              <a:chOff x="3604" y="-55"/>
              <a:chExt cx="2041" cy="497"/>
            </a:xfrm>
          </p:grpSpPr>
          <p:sp>
            <p:nvSpPr>
              <p:cNvPr id="119" name="Oval 61">
                <a:extLst>
                  <a:ext uri="{FF2B5EF4-FFF2-40B4-BE49-F238E27FC236}">
                    <a16:creationId xmlns:a16="http://schemas.microsoft.com/office/drawing/2014/main" id="{BDD668ED-20BE-4F16-8BE4-AC148B17EF35}"/>
                  </a:ext>
                </a:extLst>
              </p:cNvPr>
              <p:cNvSpPr>
                <a:spLocks noChangeArrowheads="1"/>
              </p:cNvSpPr>
              <p:nvPr/>
            </p:nvSpPr>
            <p:spPr bwMode="auto">
              <a:xfrm>
                <a:off x="5359" y="62"/>
                <a:ext cx="280" cy="280"/>
              </a:xfrm>
              <a:prstGeom prst="ellipse">
                <a:avLst/>
              </a:prstGeom>
              <a:gradFill rotWithShape="0">
                <a:gsLst>
                  <a:gs pos="0">
                    <a:srgbClr val="CC0066"/>
                  </a:gs>
                  <a:gs pos="100000">
                    <a:srgbClr val="58002C"/>
                  </a:gs>
                </a:gsLst>
                <a:path path="shape">
                  <a:fillToRect l="50000" t="50000" r="50000" b="50000"/>
                </a:path>
              </a:gradFill>
              <a:ln>
                <a:noFill/>
              </a:ln>
              <a:effectLst/>
              <a:extLst>
                <a:ext uri="{91240B29-F687-4F45-9708-019B960494DF}">
                  <a14:hiddenLine xmlns:a14="http://schemas.microsoft.com/office/drawing/2010/main" w="31750">
                    <a:solidFill>
                      <a:srgbClr val="CC33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dirty="0">
                  <a:ea typeface="华文楷体" panose="02010600040101010101" pitchFamily="2" charset="-122"/>
                </a:endParaRPr>
              </a:p>
            </p:txBody>
          </p:sp>
          <p:sp>
            <p:nvSpPr>
              <p:cNvPr id="120" name="Rectangle 62">
                <a:extLst>
                  <a:ext uri="{FF2B5EF4-FFF2-40B4-BE49-F238E27FC236}">
                    <a16:creationId xmlns:a16="http://schemas.microsoft.com/office/drawing/2014/main" id="{831B3D69-DCB8-408E-AA6D-692ED202360E}"/>
                  </a:ext>
                </a:extLst>
              </p:cNvPr>
              <p:cNvSpPr>
                <a:spLocks noChangeArrowheads="1"/>
              </p:cNvSpPr>
              <p:nvPr/>
            </p:nvSpPr>
            <p:spPr bwMode="auto">
              <a:xfrm>
                <a:off x="5283" y="-55"/>
                <a:ext cx="362"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en-US" altLang="zh-CN" sz="2400" dirty="0">
                    <a:solidFill>
                      <a:srgbClr val="FFFF00"/>
                    </a:solidFill>
                    <a:latin typeface="华文楷体" panose="02010600040101010101" pitchFamily="2" charset="-122"/>
                    <a:ea typeface="华文楷体" panose="02010600040101010101" pitchFamily="2" charset="-122"/>
                  </a:rPr>
                  <a:t>+</a:t>
                </a:r>
              </a:p>
            </p:txBody>
          </p:sp>
          <p:sp>
            <p:nvSpPr>
              <p:cNvPr id="121" name="Oval 63">
                <a:extLst>
                  <a:ext uri="{FF2B5EF4-FFF2-40B4-BE49-F238E27FC236}">
                    <a16:creationId xmlns:a16="http://schemas.microsoft.com/office/drawing/2014/main" id="{E8D50009-7732-44C8-9ECC-2AAB22669F89}"/>
                  </a:ext>
                </a:extLst>
              </p:cNvPr>
              <p:cNvSpPr>
                <a:spLocks noChangeArrowheads="1"/>
              </p:cNvSpPr>
              <p:nvPr/>
            </p:nvSpPr>
            <p:spPr bwMode="auto">
              <a:xfrm>
                <a:off x="3604" y="87"/>
                <a:ext cx="288" cy="288"/>
              </a:xfrm>
              <a:prstGeom prst="ellipse">
                <a:avLst/>
              </a:prstGeom>
              <a:gradFill rotWithShape="0">
                <a:gsLst>
                  <a:gs pos="0">
                    <a:srgbClr val="009900"/>
                  </a:gs>
                  <a:gs pos="100000">
                    <a:srgbClr val="004200"/>
                  </a:gs>
                </a:gsLst>
                <a:path path="shape">
                  <a:fillToRect l="50000" t="50000" r="50000" b="50000"/>
                </a:path>
              </a:gradFill>
              <a:ln>
                <a:noFill/>
              </a:ln>
              <a:effectLst/>
              <a:extLst>
                <a:ext uri="{91240B29-F687-4F45-9708-019B960494DF}">
                  <a14:hiddenLine xmlns:a14="http://schemas.microsoft.com/office/drawing/2010/main" w="317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dirty="0">
                  <a:ea typeface="华文楷体" panose="02010600040101010101" pitchFamily="2" charset="-122"/>
                </a:endParaRPr>
              </a:p>
            </p:txBody>
          </p:sp>
          <p:sp>
            <p:nvSpPr>
              <p:cNvPr id="122" name="Line 64">
                <a:extLst>
                  <a:ext uri="{FF2B5EF4-FFF2-40B4-BE49-F238E27FC236}">
                    <a16:creationId xmlns:a16="http://schemas.microsoft.com/office/drawing/2014/main" id="{A921F42D-F6E7-4BA8-B8B7-A0F28225C613}"/>
                  </a:ext>
                </a:extLst>
              </p:cNvPr>
              <p:cNvSpPr>
                <a:spLocks noChangeShapeType="1"/>
              </p:cNvSpPr>
              <p:nvPr/>
            </p:nvSpPr>
            <p:spPr bwMode="auto">
              <a:xfrm>
                <a:off x="3700" y="231"/>
                <a:ext cx="96" cy="0"/>
              </a:xfrm>
              <a:prstGeom prst="line">
                <a:avLst/>
              </a:prstGeom>
              <a:noFill/>
              <a:ln w="3175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grpSp>
      <p:pic>
        <p:nvPicPr>
          <p:cNvPr id="123" name="Picture 2" descr="Lecture 24">
            <a:extLst>
              <a:ext uri="{FF2B5EF4-FFF2-40B4-BE49-F238E27FC236}">
                <a16:creationId xmlns:a16="http://schemas.microsoft.com/office/drawing/2014/main" id="{69F953DC-0EB6-4F21-85F8-6A2279EE2F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570" t="18773" r="31496"/>
          <a:stretch/>
        </p:blipFill>
        <p:spPr bwMode="auto">
          <a:xfrm>
            <a:off x="7289500" y="988224"/>
            <a:ext cx="3742531" cy="312316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8" name="矩形 127">
                <a:extLst>
                  <a:ext uri="{FF2B5EF4-FFF2-40B4-BE49-F238E27FC236}">
                    <a16:creationId xmlns:a16="http://schemas.microsoft.com/office/drawing/2014/main" id="{6027024B-F184-43CC-9DFD-F393330B41E8}"/>
                  </a:ext>
                </a:extLst>
              </p:cNvPr>
              <p:cNvSpPr/>
              <p:nvPr/>
            </p:nvSpPr>
            <p:spPr>
              <a:xfrm>
                <a:off x="6848442" y="4488017"/>
                <a:ext cx="3613150" cy="1549399"/>
              </a:xfrm>
              <a:prstGeom prst="rect">
                <a:avLst/>
              </a:prstGeom>
            </p:spPr>
            <p:txBody>
              <a:bodyPr wrap="square">
                <a:spAutoFit/>
              </a:bodyPr>
              <a:lstStyle/>
              <a:p>
                <a:pPr lvl="0">
                  <a:lnSpc>
                    <a:spcPct val="120000"/>
                  </a:lnSpc>
                  <a:spcBef>
                    <a:spcPts val="600"/>
                  </a:spcBef>
                  <a:spcAft>
                    <a:spcPts val="600"/>
                  </a:spcAft>
                  <a:defRPr/>
                </a:pPr>
                <a14:m>
                  <m:oMathPara xmlns:m="http://schemas.openxmlformats.org/officeDocument/2006/math">
                    <m:oMathParaPr>
                      <m:jc m:val="centerGroup"/>
                    </m:oMathParaPr>
                    <m:oMath xmlns:m="http://schemas.openxmlformats.org/officeDocument/2006/math">
                      <m:nary>
                        <m:naryPr>
                          <m:chr m:val="∯"/>
                          <m:ctrlPr>
                            <a:rPr lang="zh-CN" altLang="en-US" sz="3200" b="1" i="1" smtClean="0">
                              <a:solidFill>
                                <a:srgbClr val="FF0000"/>
                              </a:solidFill>
                              <a:latin typeface="Cambria Math" panose="02040503050406030204" pitchFamily="18" charset="0"/>
                            </a:rPr>
                          </m:ctrlPr>
                        </m:naryPr>
                        <m:sub>
                          <m:r>
                            <m:rPr>
                              <m:brk m:alnAt="23"/>
                            </m:rPr>
                            <a:rPr lang="en-US" altLang="zh-CN" sz="3200" b="1" i="1">
                              <a:solidFill>
                                <a:srgbClr val="FF0000"/>
                              </a:solidFill>
                              <a:latin typeface="Cambria Math" panose="02040503050406030204" pitchFamily="18" charset="0"/>
                            </a:rPr>
                            <m:t>𝑺</m:t>
                          </m:r>
                        </m:sub>
                        <m:sup/>
                        <m:e>
                          <m:acc>
                            <m:accPr>
                              <m:chr m:val="⃗"/>
                              <m:ctrlPr>
                                <a:rPr kumimoji="1" lang="en-US" altLang="zh-CN" sz="3200" i="1">
                                  <a:solidFill>
                                    <a:srgbClr val="FF0000"/>
                                  </a:solidFill>
                                  <a:latin typeface="Cambria Math" panose="02040503050406030204" pitchFamily="18" charset="0"/>
                                </a:rPr>
                              </m:ctrlPr>
                            </m:accPr>
                            <m:e>
                              <m:r>
                                <m:rPr>
                                  <m:sty m:val="p"/>
                                </m:rPr>
                                <a:rPr kumimoji="1" lang="en-US" altLang="zh-CN" sz="3200" i="1">
                                  <a:solidFill>
                                    <a:srgbClr val="FF0000"/>
                                  </a:solidFill>
                                  <a:latin typeface="Cambria Math" panose="02040503050406030204" pitchFamily="18" charset="0"/>
                                </a:rPr>
                                <m:t>D</m:t>
                              </m:r>
                            </m:e>
                          </m:acc>
                          <m:r>
                            <m:rPr>
                              <m:brk m:alnAt="23"/>
                            </m:rPr>
                            <a:rPr lang="zh-CN" altLang="en-US" sz="3200" b="1" i="1">
                              <a:solidFill>
                                <a:srgbClr val="FF0000"/>
                              </a:solidFill>
                              <a:latin typeface="Cambria Math" panose="02040503050406030204" pitchFamily="18" charset="0"/>
                            </a:rPr>
                            <m:t>∙</m:t>
                          </m:r>
                          <m:r>
                            <a:rPr lang="en-US" altLang="zh-CN" sz="3200" b="1" i="1">
                              <a:solidFill>
                                <a:srgbClr val="FF0000"/>
                              </a:solidFill>
                              <a:latin typeface="Cambria Math" panose="02040503050406030204" pitchFamily="18" charset="0"/>
                            </a:rPr>
                            <m:t>𝒅</m:t>
                          </m:r>
                          <m:acc>
                            <m:accPr>
                              <m:chr m:val="⃗"/>
                              <m:ctrlPr>
                                <a:rPr lang="en-US" altLang="zh-CN" sz="3200" b="1" i="1">
                                  <a:solidFill>
                                    <a:srgbClr val="FF0000"/>
                                  </a:solidFill>
                                  <a:latin typeface="Cambria Math" panose="02040503050406030204" pitchFamily="18" charset="0"/>
                                </a:rPr>
                              </m:ctrlPr>
                            </m:accPr>
                            <m:e>
                              <m:r>
                                <a:rPr lang="en-US" altLang="zh-CN" sz="3200" b="1" i="1">
                                  <a:solidFill>
                                    <a:srgbClr val="FF0000"/>
                                  </a:solidFill>
                                  <a:latin typeface="Cambria Math" panose="02040503050406030204" pitchFamily="18" charset="0"/>
                                </a:rPr>
                                <m:t>𝑺</m:t>
                              </m:r>
                            </m:e>
                          </m:acc>
                        </m:e>
                      </m:nary>
                      <m:r>
                        <a:rPr lang="en-US" altLang="zh-CN" sz="3200" b="1" i="1">
                          <a:solidFill>
                            <a:srgbClr val="FF0000"/>
                          </a:solidFill>
                          <a:latin typeface="Cambria Math" panose="02040503050406030204" pitchFamily="18" charset="0"/>
                        </a:rPr>
                        <m:t>=</m:t>
                      </m:r>
                      <m:sSub>
                        <m:sSubPr>
                          <m:ctrlPr>
                            <a:rPr lang="en-US" altLang="zh-CN" sz="3200" b="1" i="1">
                              <a:solidFill>
                                <a:srgbClr val="FF0000"/>
                              </a:solidFill>
                              <a:latin typeface="Cambria Math" panose="02040503050406030204" pitchFamily="18" charset="0"/>
                            </a:rPr>
                          </m:ctrlPr>
                        </m:sSubPr>
                        <m:e>
                          <m:r>
                            <a:rPr lang="en-US" altLang="zh-CN" sz="3200" b="1" i="1">
                              <a:solidFill>
                                <a:srgbClr val="FF0000"/>
                              </a:solidFill>
                              <a:latin typeface="Cambria Math" panose="02040503050406030204" pitchFamily="18" charset="0"/>
                            </a:rPr>
                            <m:t>𝒒</m:t>
                          </m:r>
                        </m:e>
                        <m:sub>
                          <m:r>
                            <a:rPr lang="en-US" altLang="zh-CN" sz="3200" b="1" i="1">
                              <a:solidFill>
                                <a:srgbClr val="FF0000"/>
                              </a:solidFill>
                              <a:latin typeface="Cambria Math" panose="02040503050406030204" pitchFamily="18" charset="0"/>
                            </a:rPr>
                            <m:t>𝟎</m:t>
                          </m:r>
                        </m:sub>
                      </m:sSub>
                    </m:oMath>
                  </m:oMathPara>
                </a14:m>
                <a:endParaRPr lang="en-US" sz="3200" b="1" dirty="0">
                  <a:solidFill>
                    <a:srgbClr val="FF0000"/>
                  </a:solidFill>
                </a:endParaRPr>
              </a:p>
            </p:txBody>
          </p:sp>
        </mc:Choice>
        <mc:Fallback xmlns="">
          <p:sp>
            <p:nvSpPr>
              <p:cNvPr id="128" name="矩形 127">
                <a:extLst>
                  <a:ext uri="{FF2B5EF4-FFF2-40B4-BE49-F238E27FC236}">
                    <a16:creationId xmlns:a16="http://schemas.microsoft.com/office/drawing/2014/main" id="{6027024B-F184-43CC-9DFD-F393330B41E8}"/>
                  </a:ext>
                </a:extLst>
              </p:cNvPr>
              <p:cNvSpPr>
                <a:spLocks noRot="1" noChangeAspect="1" noMove="1" noResize="1" noEditPoints="1" noAdjustHandles="1" noChangeArrowheads="1" noChangeShapeType="1" noTextEdit="1"/>
              </p:cNvSpPr>
              <p:nvPr/>
            </p:nvSpPr>
            <p:spPr>
              <a:xfrm>
                <a:off x="6848442" y="4488017"/>
                <a:ext cx="3613150" cy="1549399"/>
              </a:xfrm>
              <a:prstGeom prst="rect">
                <a:avLst/>
              </a:prstGeom>
              <a:blipFill>
                <a:blip r:embed="rId4"/>
                <a:stretch>
                  <a:fillRect/>
                </a:stretch>
              </a:blipFill>
            </p:spPr>
            <p:txBody>
              <a:bodyPr/>
              <a:lstStyle/>
              <a:p>
                <a:r>
                  <a:rPr lang="zh-CN" altLang="en-US">
                    <a:noFill/>
                  </a:rPr>
                  <a:t> </a:t>
                </a:r>
              </a:p>
            </p:txBody>
          </p:sp>
        </mc:Fallback>
      </mc:AlternateContent>
      <p:sp>
        <p:nvSpPr>
          <p:cNvPr id="2" name="Text Box 9">
            <a:extLst>
              <a:ext uri="{FF2B5EF4-FFF2-40B4-BE49-F238E27FC236}">
                <a16:creationId xmlns:a16="http://schemas.microsoft.com/office/drawing/2014/main" id="{773F6662-BE73-E168-9A21-76A70742D5F8}"/>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电磁场基本性质方程 </a:t>
            </a:r>
            <a:r>
              <a:rPr lang="en-US" altLang="zh-CN" sz="3600" i="0" u="none" dirty="0">
                <a:solidFill>
                  <a:srgbClr val="0066FF"/>
                </a:solidFill>
                <a:latin typeface="+mn-lt"/>
                <a:ea typeface="华文楷体" panose="02010600040101010101" pitchFamily="2" charset="-122"/>
              </a:rPr>
              <a:t>(1)</a:t>
            </a:r>
            <a:endParaRPr lang="zh-CN" altLang="en-US" sz="3600" i="0" u="none" dirty="0">
              <a:solidFill>
                <a:srgbClr val="0066FF"/>
              </a:solidFill>
              <a:latin typeface="+mn-lt"/>
              <a:ea typeface="华文楷体" panose="02010600040101010101" pitchFamily="2" charset="-122"/>
            </a:endParaRPr>
          </a:p>
        </p:txBody>
      </p:sp>
      <p:sp>
        <p:nvSpPr>
          <p:cNvPr id="3" name="文本框 2">
            <a:extLst>
              <a:ext uri="{FF2B5EF4-FFF2-40B4-BE49-F238E27FC236}">
                <a16:creationId xmlns:a16="http://schemas.microsoft.com/office/drawing/2014/main" id="{AD296D0A-B23D-798D-C9ED-964695C7024C}"/>
              </a:ext>
            </a:extLst>
          </p:cNvPr>
          <p:cNvSpPr txBox="1"/>
          <p:nvPr/>
        </p:nvSpPr>
        <p:spPr>
          <a:xfrm>
            <a:off x="1428647" y="4360030"/>
            <a:ext cx="1826141" cy="584775"/>
          </a:xfrm>
          <a:prstGeom prst="rect">
            <a:avLst/>
          </a:prstGeom>
          <a:noFill/>
        </p:spPr>
        <p:txBody>
          <a:bodyPr wrap="none" rtlCol="0">
            <a:spAutoFit/>
          </a:bodyPr>
          <a:lstStyle/>
          <a:p>
            <a:r>
              <a:rPr lang="zh-CN" altLang="en-US" sz="3200" dirty="0"/>
              <a:t>真空中：</a:t>
            </a:r>
          </a:p>
        </p:txBody>
      </p:sp>
      <p:sp>
        <p:nvSpPr>
          <p:cNvPr id="4" name="文本框 3">
            <a:extLst>
              <a:ext uri="{FF2B5EF4-FFF2-40B4-BE49-F238E27FC236}">
                <a16:creationId xmlns:a16="http://schemas.microsoft.com/office/drawing/2014/main" id="{7CBCB38A-EF7F-D3EA-2147-E11D9A027057}"/>
              </a:ext>
            </a:extLst>
          </p:cNvPr>
          <p:cNvSpPr txBox="1"/>
          <p:nvPr/>
        </p:nvSpPr>
        <p:spPr>
          <a:xfrm>
            <a:off x="6610247" y="4269221"/>
            <a:ext cx="2236510" cy="584775"/>
          </a:xfrm>
          <a:prstGeom prst="rect">
            <a:avLst/>
          </a:prstGeom>
          <a:noFill/>
        </p:spPr>
        <p:txBody>
          <a:bodyPr wrap="none" rtlCol="0">
            <a:spAutoFit/>
          </a:bodyPr>
          <a:lstStyle/>
          <a:p>
            <a:r>
              <a:rPr lang="zh-CN" altLang="en-US" sz="3200" dirty="0"/>
              <a:t>有电介质：</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24089D16-E904-BAEF-9F49-DABB4119D456}"/>
                  </a:ext>
                </a:extLst>
              </p:cNvPr>
              <p:cNvSpPr/>
              <p:nvPr/>
            </p:nvSpPr>
            <p:spPr>
              <a:xfrm>
                <a:off x="6433633" y="6037416"/>
                <a:ext cx="4097707" cy="623184"/>
              </a:xfrm>
              <a:prstGeom prst="rect">
                <a:avLst/>
              </a:prstGeom>
            </p:spPr>
            <p:txBody>
              <a:bodyPr wrap="square">
                <a:spAutoFit/>
              </a:bodyPr>
              <a:lstStyle/>
              <a:p>
                <a:pPr lvl="0" algn="ctr">
                  <a:lnSpc>
                    <a:spcPct val="120000"/>
                  </a:lnSpc>
                  <a:spcBef>
                    <a:spcPts val="600"/>
                  </a:spcBef>
                  <a:spcAft>
                    <a:spcPts val="600"/>
                  </a:spcAft>
                  <a:defRPr/>
                </a:pPr>
                <a:r>
                  <a:rPr lang="zh-CN" altLang="en-US" sz="2800" dirty="0">
                    <a:solidFill>
                      <a:srgbClr val="FF0000"/>
                    </a:solidFill>
                    <a:latin typeface="华文楷体" panose="02010600040101010101" pitchFamily="2" charset="-122"/>
                  </a:rPr>
                  <a:t>电位移：</a:t>
                </a:r>
                <a14:m>
                  <m:oMath xmlns:m="http://schemas.openxmlformats.org/officeDocument/2006/math">
                    <m:acc>
                      <m:accPr>
                        <m:chr m:val="⃗"/>
                        <m:ctrlPr>
                          <a:rPr lang="zh-CN" altLang="en-US" sz="2800" i="1">
                            <a:solidFill>
                              <a:srgbClr val="FF0000"/>
                            </a:solidFill>
                            <a:latin typeface="Cambria Math" panose="02040503050406030204" pitchFamily="18" charset="0"/>
                          </a:rPr>
                        </m:ctrlPr>
                      </m:accPr>
                      <m:e>
                        <m:r>
                          <a:rPr lang="en-US" altLang="zh-CN" sz="2800" i="1">
                            <a:solidFill>
                              <a:srgbClr val="FF0000"/>
                            </a:solidFill>
                            <a:latin typeface="Cambria Math" panose="02040503050406030204" pitchFamily="18" charset="0"/>
                          </a:rPr>
                          <m:t>𝑫</m:t>
                        </m:r>
                      </m:e>
                    </m:acc>
                    <m:r>
                      <a:rPr lang="en-US" altLang="zh-CN" sz="2800" b="0" i="1" smtClean="0">
                        <a:solidFill>
                          <a:srgbClr val="FF0000"/>
                        </a:solidFill>
                        <a:latin typeface="Cambria Math" panose="02040503050406030204" pitchFamily="18" charset="0"/>
                      </a:rPr>
                      <m:t>=</m:t>
                    </m:r>
                    <m:sSub>
                      <m:sSubPr>
                        <m:ctrlPr>
                          <a:rPr kumimoji="1" lang="en-US" altLang="zh-CN" sz="2800" i="1">
                            <a:solidFill>
                              <a:srgbClr val="FF0000"/>
                            </a:solidFill>
                            <a:latin typeface="Cambria Math" panose="02040503050406030204" pitchFamily="18" charset="0"/>
                          </a:rPr>
                        </m:ctrlPr>
                      </m:sSubPr>
                      <m:e>
                        <m:r>
                          <a:rPr kumimoji="1" lang="zh-CN" altLang="en-US" sz="2800" i="1">
                            <a:solidFill>
                              <a:srgbClr val="FF0000"/>
                            </a:solidFill>
                            <a:latin typeface="Cambria Math" panose="02040503050406030204" pitchFamily="18" charset="0"/>
                          </a:rPr>
                          <m:t>𝜺</m:t>
                        </m:r>
                      </m:e>
                      <m:sub>
                        <m:r>
                          <a:rPr kumimoji="1" lang="en-US" altLang="zh-CN" sz="2800" i="1">
                            <a:solidFill>
                              <a:srgbClr val="FF0000"/>
                            </a:solidFill>
                            <a:latin typeface="Cambria Math" panose="02040503050406030204" pitchFamily="18" charset="0"/>
                          </a:rPr>
                          <m:t>𝟎</m:t>
                        </m:r>
                      </m:sub>
                    </m:sSub>
                    <m:acc>
                      <m:accPr>
                        <m:chr m:val="⃗"/>
                        <m:ctrlPr>
                          <a:rPr kumimoji="1" lang="en-US" altLang="zh-CN" sz="2800" i="1">
                            <a:solidFill>
                              <a:srgbClr val="FF0000"/>
                            </a:solidFill>
                            <a:latin typeface="Cambria Math" panose="02040503050406030204" pitchFamily="18" charset="0"/>
                          </a:rPr>
                        </m:ctrlPr>
                      </m:accPr>
                      <m:e>
                        <m:r>
                          <a:rPr kumimoji="1" lang="en-US" altLang="zh-CN" sz="2800" i="1">
                            <a:solidFill>
                              <a:srgbClr val="FF0000"/>
                            </a:solidFill>
                            <a:latin typeface="Cambria Math" panose="02040503050406030204" pitchFamily="18" charset="0"/>
                          </a:rPr>
                          <m:t>𝑬</m:t>
                        </m:r>
                      </m:e>
                    </m:acc>
                    <m:r>
                      <a:rPr kumimoji="1" lang="en-US" altLang="zh-CN" sz="2800" i="1">
                        <a:solidFill>
                          <a:srgbClr val="FF0000"/>
                        </a:solidFill>
                        <a:latin typeface="Cambria Math" panose="02040503050406030204" pitchFamily="18" charset="0"/>
                      </a:rPr>
                      <m:t>+</m:t>
                    </m:r>
                    <m:acc>
                      <m:accPr>
                        <m:chr m:val="⃗"/>
                        <m:ctrlPr>
                          <a:rPr kumimoji="1" lang="en-US" altLang="zh-CN" sz="2800" i="1">
                            <a:solidFill>
                              <a:srgbClr val="FF0000"/>
                            </a:solidFill>
                            <a:latin typeface="Cambria Math" panose="02040503050406030204" pitchFamily="18" charset="0"/>
                          </a:rPr>
                        </m:ctrlPr>
                      </m:accPr>
                      <m:e>
                        <m:r>
                          <a:rPr kumimoji="1" lang="en-US" altLang="zh-CN" sz="2800" i="1">
                            <a:solidFill>
                              <a:srgbClr val="FF0000"/>
                            </a:solidFill>
                            <a:latin typeface="Cambria Math" panose="02040503050406030204" pitchFamily="18" charset="0"/>
                          </a:rPr>
                          <m:t>𝑷</m:t>
                        </m:r>
                      </m:e>
                    </m:acc>
                  </m:oMath>
                </a14:m>
                <a:endParaRPr kumimoji="1" lang="en-US" altLang="zh-CN" sz="2800" i="1" dirty="0">
                  <a:solidFill>
                    <a:srgbClr val="FF0000"/>
                  </a:solidFill>
                  <a:latin typeface="Cambria Math" panose="02040503050406030204" pitchFamily="18" charset="0"/>
                </a:endParaRPr>
              </a:p>
            </p:txBody>
          </p:sp>
        </mc:Choice>
        <mc:Fallback xmlns="">
          <p:sp>
            <p:nvSpPr>
              <p:cNvPr id="5" name="矩形 4">
                <a:extLst>
                  <a:ext uri="{FF2B5EF4-FFF2-40B4-BE49-F238E27FC236}">
                    <a16:creationId xmlns:a16="http://schemas.microsoft.com/office/drawing/2014/main" id="{24089D16-E904-BAEF-9F49-DABB4119D456}"/>
                  </a:ext>
                </a:extLst>
              </p:cNvPr>
              <p:cNvSpPr>
                <a:spLocks noRot="1" noChangeAspect="1" noMove="1" noResize="1" noEditPoints="1" noAdjustHandles="1" noChangeArrowheads="1" noChangeShapeType="1" noTextEdit="1"/>
              </p:cNvSpPr>
              <p:nvPr/>
            </p:nvSpPr>
            <p:spPr>
              <a:xfrm>
                <a:off x="6433633" y="6037416"/>
                <a:ext cx="4097707" cy="623184"/>
              </a:xfrm>
              <a:prstGeom prst="rect">
                <a:avLst/>
              </a:prstGeom>
              <a:blipFill>
                <a:blip r:embed="rId5"/>
                <a:stretch>
                  <a:fillRect b="-262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5547446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8" grpId="0"/>
      <p:bldP spid="3" grpId="0"/>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电磁波的产生– i叨咕物理">
            <a:extLst>
              <a:ext uri="{FF2B5EF4-FFF2-40B4-BE49-F238E27FC236}">
                <a16:creationId xmlns:a16="http://schemas.microsoft.com/office/drawing/2014/main" id="{3C292C63-C1A6-40C6-917A-30A9BFEF2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5233" y="2744418"/>
            <a:ext cx="4469827" cy="2930220"/>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通电直导线周围磁场图(第1页) - 要无忧健康图库">
            <a:extLst>
              <a:ext uri="{FF2B5EF4-FFF2-40B4-BE49-F238E27FC236}">
                <a16:creationId xmlns:a16="http://schemas.microsoft.com/office/drawing/2014/main" id="{FBC1422E-5098-4F7B-B5A2-034D141BE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110" y="1935976"/>
            <a:ext cx="2229394" cy="383857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64E025D-6A29-47F4-B4D5-233CDC55E2F0}"/>
                  </a:ext>
                </a:extLst>
              </p:cNvPr>
              <p:cNvSpPr/>
              <p:nvPr/>
            </p:nvSpPr>
            <p:spPr>
              <a:xfrm>
                <a:off x="7490601" y="3852864"/>
                <a:ext cx="3391685" cy="17348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3200" i="1" smtClean="0">
                              <a:solidFill>
                                <a:srgbClr val="FF0000"/>
                              </a:solidFill>
                              <a:latin typeface="Cambria Math" panose="02040503050406030204" pitchFamily="18" charset="0"/>
                            </a:rPr>
                          </m:ctrlPr>
                        </m:naryPr>
                        <m:sub>
                          <m:r>
                            <m:rPr>
                              <m:brk m:alnAt="23"/>
                            </m:rPr>
                            <a:rPr lang="en-US" altLang="zh-CN" sz="3200" i="1">
                              <a:solidFill>
                                <a:srgbClr val="FF0000"/>
                              </a:solidFill>
                              <a:latin typeface="Cambria Math" panose="02040503050406030204" pitchFamily="18" charset="0"/>
                            </a:rPr>
                            <m:t>𝑺</m:t>
                          </m:r>
                        </m:sub>
                        <m:sup/>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𝑩</m:t>
                              </m:r>
                            </m:e>
                          </m:acc>
                          <m:r>
                            <m:rPr>
                              <m:brk m:alnAt="23"/>
                            </m:rPr>
                            <a:rPr lang="zh-CN" altLang="en-US" sz="3200" i="1">
                              <a:solidFill>
                                <a:srgbClr val="FF0000"/>
                              </a:solidFill>
                              <a:latin typeface="Cambria Math" panose="02040503050406030204" pitchFamily="18" charset="0"/>
                            </a:rPr>
                            <m:t>∙</m:t>
                          </m:r>
                          <m:r>
                            <a:rPr lang="en-US" altLang="zh-CN" sz="3200" i="1">
                              <a:solidFill>
                                <a:srgbClr val="FF0000"/>
                              </a:solidFill>
                              <a:latin typeface="Cambria Math" panose="02040503050406030204" pitchFamily="18" charset="0"/>
                            </a:rPr>
                            <m:t>𝒅</m:t>
                          </m:r>
                          <m:acc>
                            <m:accPr>
                              <m:chr m:val="⃗"/>
                              <m:ctrlPr>
                                <a:rPr lang="zh-CN" altLang="en-US"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𝑺</m:t>
                              </m:r>
                            </m:e>
                          </m:acc>
                        </m:e>
                      </m:nary>
                      <m:r>
                        <a:rPr lang="en-US" altLang="zh-CN" sz="3200" i="1">
                          <a:solidFill>
                            <a:srgbClr val="FF0000"/>
                          </a:solidFill>
                          <a:latin typeface="Cambria Math" panose="02040503050406030204" pitchFamily="18" charset="0"/>
                        </a:rPr>
                        <m:t>=</m:t>
                      </m:r>
                      <m:r>
                        <a:rPr lang="en-US" altLang="zh-CN" sz="3200" i="1">
                          <a:solidFill>
                            <a:srgbClr val="FF0000"/>
                          </a:solidFill>
                          <a:latin typeface="Cambria Math" panose="02040503050406030204" pitchFamily="18" charset="0"/>
                        </a:rPr>
                        <m:t>𝟎</m:t>
                      </m:r>
                    </m:oMath>
                  </m:oMathPara>
                </a14:m>
                <a:endPar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64E025D-6A29-47F4-B4D5-233CDC55E2F0}"/>
                  </a:ext>
                </a:extLst>
              </p:cNvPr>
              <p:cNvSpPr>
                <a:spLocks noRot="1" noChangeAspect="1" noMove="1" noResize="1" noEditPoints="1" noAdjustHandles="1" noChangeArrowheads="1" noChangeShapeType="1" noTextEdit="1"/>
              </p:cNvSpPr>
              <p:nvPr/>
            </p:nvSpPr>
            <p:spPr>
              <a:xfrm>
                <a:off x="7490601" y="3852864"/>
                <a:ext cx="3391685" cy="1734899"/>
              </a:xfrm>
              <a:prstGeom prst="rect">
                <a:avLst/>
              </a:prstGeom>
              <a:blipFill>
                <a:blip r:embed="rId4"/>
                <a:stretch>
                  <a:fillRect/>
                </a:stretch>
              </a:blipFill>
            </p:spPr>
            <p:txBody>
              <a:bodyPr/>
              <a:lstStyle/>
              <a:p>
                <a:r>
                  <a:rPr lang="en-US">
                    <a:noFill/>
                  </a:rPr>
                  <a:t> </a:t>
                </a:r>
              </a:p>
            </p:txBody>
          </p:sp>
        </mc:Fallback>
      </mc:AlternateContent>
      <p:sp>
        <p:nvSpPr>
          <p:cNvPr id="10" name="矩形 9">
            <a:extLst>
              <a:ext uri="{FF2B5EF4-FFF2-40B4-BE49-F238E27FC236}">
                <a16:creationId xmlns:a16="http://schemas.microsoft.com/office/drawing/2014/main" id="{D7321209-B1AD-442B-B760-398A1DD71C8A}"/>
              </a:ext>
            </a:extLst>
          </p:cNvPr>
          <p:cNvSpPr/>
          <p:nvPr/>
        </p:nvSpPr>
        <p:spPr>
          <a:xfrm>
            <a:off x="6937015" y="2879047"/>
            <a:ext cx="4224233" cy="645818"/>
          </a:xfrm>
          <a:prstGeom prst="rect">
            <a:avLst/>
          </a:prstGeom>
        </p:spPr>
        <p:txBody>
          <a:bodyPr wrap="none">
            <a:spAutoFit/>
          </a:bodyPr>
          <a:lstStyle/>
          <a:p>
            <a:pPr>
              <a:lnSpc>
                <a:spcPct val="120000"/>
              </a:lnSpc>
              <a:spcBef>
                <a:spcPts val="600"/>
              </a:spcBef>
            </a:pPr>
            <a:r>
              <a:rPr kumimoji="1" lang="zh-CN" altLang="en-US" sz="3200" spc="300" dirty="0">
                <a:latin typeface="Times New Roman" panose="02020603050405020304" pitchFamily="18" charset="0"/>
                <a:ea typeface="华文楷体" panose="02010600040101010101" pitchFamily="2" charset="-122"/>
                <a:cs typeface="Times New Roman" panose="02020603050405020304" pitchFamily="18" charset="0"/>
              </a:rPr>
              <a:t>磁感应线是闭合曲线</a:t>
            </a:r>
            <a:endParaRPr kumimoji="1" lang="en-US" altLang="zh-CN" sz="3200" spc="3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Text Box 6">
            <a:extLst>
              <a:ext uri="{FF2B5EF4-FFF2-40B4-BE49-F238E27FC236}">
                <a16:creationId xmlns:a16="http://schemas.microsoft.com/office/drawing/2014/main" id="{F04217BA-C93F-4376-AA7C-0BB87F2B08AD}"/>
              </a:ext>
            </a:extLst>
          </p:cNvPr>
          <p:cNvSpPr txBox="1">
            <a:spLocks noChangeArrowheads="1"/>
          </p:cNvSpPr>
          <p:nvPr/>
        </p:nvSpPr>
        <p:spPr bwMode="auto">
          <a:xfrm>
            <a:off x="5705976" y="1365487"/>
            <a:ext cx="61953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algn="ctr"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spcBef>
                <a:spcPct val="50000"/>
              </a:spcBef>
            </a:pPr>
            <a:r>
              <a:rPr lang="zh-CN" altLang="en-US" sz="3200" b="1" dirty="0">
                <a:solidFill>
                  <a:srgbClr val="FF0000"/>
                </a:solidFill>
                <a:ea typeface="华文楷体" panose="02010600040101010101" pitchFamily="2" charset="-122"/>
                <a:cs typeface="Times New Roman" panose="02020603050405020304" pitchFamily="18" charset="0"/>
              </a:rPr>
              <a:t>无源场     没有磁荷（磁单极子）</a:t>
            </a:r>
          </a:p>
        </p:txBody>
      </p:sp>
      <p:sp>
        <p:nvSpPr>
          <p:cNvPr id="2" name="Text Box 9">
            <a:extLst>
              <a:ext uri="{FF2B5EF4-FFF2-40B4-BE49-F238E27FC236}">
                <a16:creationId xmlns:a16="http://schemas.microsoft.com/office/drawing/2014/main" id="{1D417744-6A2D-ED59-8B07-87A42E2F6D84}"/>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电磁场基本性质方程 </a:t>
            </a:r>
            <a:r>
              <a:rPr lang="en-US" altLang="zh-CN" sz="3600" i="0" u="none" dirty="0">
                <a:solidFill>
                  <a:srgbClr val="0066FF"/>
                </a:solidFill>
                <a:latin typeface="+mn-lt"/>
                <a:ea typeface="华文楷体" panose="02010600040101010101" pitchFamily="2" charset="-122"/>
              </a:rPr>
              <a:t>(2)</a:t>
            </a:r>
            <a:endParaRPr lang="zh-CN" altLang="en-US" sz="3600" i="0" u="none" dirty="0">
              <a:solidFill>
                <a:srgbClr val="0066FF"/>
              </a:solidFill>
              <a:latin typeface="+mn-lt"/>
              <a:ea typeface="华文楷体" panose="02010600040101010101" pitchFamily="2" charset="-122"/>
            </a:endParaRPr>
          </a:p>
        </p:txBody>
      </p:sp>
      <p:sp>
        <p:nvSpPr>
          <p:cNvPr id="3" name="文本框 2">
            <a:extLst>
              <a:ext uri="{FF2B5EF4-FFF2-40B4-BE49-F238E27FC236}">
                <a16:creationId xmlns:a16="http://schemas.microsoft.com/office/drawing/2014/main" id="{B132B4AB-EFFA-B83B-7C7B-0CB10D30C146}"/>
              </a:ext>
            </a:extLst>
          </p:cNvPr>
          <p:cNvSpPr txBox="1"/>
          <p:nvPr/>
        </p:nvSpPr>
        <p:spPr>
          <a:xfrm>
            <a:off x="676120" y="1326676"/>
            <a:ext cx="2236510" cy="584775"/>
          </a:xfrm>
          <a:prstGeom prst="rect">
            <a:avLst/>
          </a:prstGeom>
          <a:noFill/>
        </p:spPr>
        <p:txBody>
          <a:bodyPr wrap="none" rtlCol="0">
            <a:spAutoFit/>
          </a:bodyPr>
          <a:lstStyle/>
          <a:p>
            <a:r>
              <a:rPr lang="zh-CN" altLang="en-US" sz="3200" dirty="0"/>
              <a:t>磁场 </a:t>
            </a:r>
            <a:r>
              <a:rPr lang="en-US" altLang="zh-CN" sz="3200" dirty="0"/>
              <a:t>–</a:t>
            </a:r>
            <a:r>
              <a:rPr lang="zh-CN" altLang="en-US" sz="3200" dirty="0"/>
              <a:t> 磁荷</a:t>
            </a:r>
          </a:p>
        </p:txBody>
      </p:sp>
    </p:spTree>
    <p:extLst>
      <p:ext uri="{BB962C8B-B14F-4D97-AF65-F5344CB8AC3E}">
        <p14:creationId xmlns:p14="http://schemas.microsoft.com/office/powerpoint/2010/main" val="66496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3D25B139-784A-E154-D70F-F6F98698AAE5}"/>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电磁场基本性质方程 </a:t>
            </a:r>
            <a:r>
              <a:rPr lang="en-US" altLang="zh-CN" sz="3600" i="0" u="none" dirty="0">
                <a:solidFill>
                  <a:srgbClr val="0066FF"/>
                </a:solidFill>
                <a:latin typeface="+mn-lt"/>
                <a:ea typeface="华文楷体" panose="02010600040101010101" pitchFamily="2" charset="-122"/>
              </a:rPr>
              <a:t>(3)</a:t>
            </a:r>
            <a:endParaRPr lang="zh-CN" altLang="en-US" sz="3600" i="0" u="none" dirty="0">
              <a:solidFill>
                <a:srgbClr val="0066FF"/>
              </a:solidFill>
              <a:latin typeface="+mn-lt"/>
              <a:ea typeface="华文楷体" panose="02010600040101010101" pitchFamily="2" charset="-122"/>
            </a:endParaRPr>
          </a:p>
        </p:txBody>
      </p:sp>
      <p:sp>
        <p:nvSpPr>
          <p:cNvPr id="3" name="文本框 2">
            <a:extLst>
              <a:ext uri="{FF2B5EF4-FFF2-40B4-BE49-F238E27FC236}">
                <a16:creationId xmlns:a16="http://schemas.microsoft.com/office/drawing/2014/main" id="{461C7D0F-7825-9D25-8AAD-076FC95E35D1}"/>
              </a:ext>
            </a:extLst>
          </p:cNvPr>
          <p:cNvSpPr txBox="1"/>
          <p:nvPr/>
        </p:nvSpPr>
        <p:spPr>
          <a:xfrm>
            <a:off x="823440" y="1326676"/>
            <a:ext cx="3057247" cy="584775"/>
          </a:xfrm>
          <a:prstGeom prst="rect">
            <a:avLst/>
          </a:prstGeom>
          <a:noFill/>
        </p:spPr>
        <p:txBody>
          <a:bodyPr wrap="none" rtlCol="0">
            <a:spAutoFit/>
          </a:bodyPr>
          <a:lstStyle/>
          <a:p>
            <a:r>
              <a:rPr lang="zh-CN" altLang="en-US" sz="3200" dirty="0"/>
              <a:t>变化磁场 </a:t>
            </a:r>
            <a:r>
              <a:rPr lang="en-US" altLang="zh-CN" sz="3200" dirty="0"/>
              <a:t>–</a:t>
            </a:r>
            <a:r>
              <a:rPr lang="zh-CN" altLang="en-US" sz="3200" dirty="0"/>
              <a:t> 电场</a:t>
            </a:r>
          </a:p>
        </p:txBody>
      </p:sp>
      <p:sp>
        <p:nvSpPr>
          <p:cNvPr id="8" name="Text Box 25">
            <a:extLst>
              <a:ext uri="{FF2B5EF4-FFF2-40B4-BE49-F238E27FC236}">
                <a16:creationId xmlns:a16="http://schemas.microsoft.com/office/drawing/2014/main" id="{7C462A7E-4D9D-1629-ABEF-8D50F896B658}"/>
              </a:ext>
            </a:extLst>
          </p:cNvPr>
          <p:cNvSpPr txBox="1">
            <a:spLocks noChangeArrowheads="1"/>
          </p:cNvSpPr>
          <p:nvPr/>
        </p:nvSpPr>
        <p:spPr bwMode="auto">
          <a:xfrm>
            <a:off x="4352290" y="2280143"/>
            <a:ext cx="50355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非静电场（有变化磁场）</a:t>
            </a:r>
          </a:p>
        </p:txBody>
      </p:sp>
      <p:sp>
        <p:nvSpPr>
          <p:cNvPr id="9" name="Text Box 25">
            <a:extLst>
              <a:ext uri="{FF2B5EF4-FFF2-40B4-BE49-F238E27FC236}">
                <a16:creationId xmlns:a16="http://schemas.microsoft.com/office/drawing/2014/main" id="{224C06CE-B559-D2DD-DED8-5C7A5DB7A289}"/>
              </a:ext>
            </a:extLst>
          </p:cNvPr>
          <p:cNvSpPr txBox="1">
            <a:spLocks noChangeArrowheads="1"/>
          </p:cNvSpPr>
          <p:nvPr/>
        </p:nvSpPr>
        <p:spPr bwMode="auto">
          <a:xfrm>
            <a:off x="1298903" y="2338907"/>
            <a:ext cx="44021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静电场</a:t>
            </a:r>
          </a:p>
        </p:txBody>
      </p:sp>
      <mc:AlternateContent xmlns:mc="http://schemas.openxmlformats.org/markup-compatibility/2006" xmlns:a14="http://schemas.microsoft.com/office/drawing/2010/main">
        <mc:Choice Requires="a14">
          <p:sp>
            <p:nvSpPr>
              <p:cNvPr id="10" name="Object 23">
                <a:extLst>
                  <a:ext uri="{FF2B5EF4-FFF2-40B4-BE49-F238E27FC236}">
                    <a16:creationId xmlns:a16="http://schemas.microsoft.com/office/drawing/2014/main" id="{FDD04B9B-3147-0E9B-7A11-5D275A72B170}"/>
                  </a:ext>
                </a:extLst>
              </p:cNvPr>
              <p:cNvSpPr txBox="1"/>
              <p:nvPr/>
            </p:nvSpPr>
            <p:spPr bwMode="auto">
              <a:xfrm>
                <a:off x="4528287" y="2891331"/>
                <a:ext cx="1979613" cy="10429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3200" i="1" smtClean="0">
                              <a:solidFill>
                                <a:schemeClr val="tx1"/>
                              </a:solidFill>
                              <a:latin typeface="Cambria Math" panose="02040503050406030204" pitchFamily="18" charset="0"/>
                            </a:rPr>
                          </m:ctrlPr>
                        </m:naryPr>
                        <m:sub>
                          <m:r>
                            <a:rPr lang="en-US" sz="3200" b="0" i="1">
                              <a:solidFill>
                                <a:schemeClr val="tx1"/>
                              </a:solidFill>
                              <a:latin typeface="Cambria Math" panose="02040503050406030204" pitchFamily="18" charset="0"/>
                            </a:rPr>
                            <m:t>𝐿</m:t>
                          </m:r>
                        </m:sub>
                        <m:sup/>
                        <m:e>
                          <m:acc>
                            <m:accPr>
                              <m:chr m:val="⃗"/>
                              <m:ctrlPr>
                                <a:rPr lang="en-US" sz="3200" i="1">
                                  <a:solidFill>
                                    <a:schemeClr val="tx1"/>
                                  </a:solidFill>
                                  <a:latin typeface="Cambria Math" panose="02040503050406030204" pitchFamily="18" charset="0"/>
                                </a:rPr>
                              </m:ctrlPr>
                            </m:accPr>
                            <m:e>
                              <m:r>
                                <a:rPr lang="en-US" sz="3200" b="0" i="1">
                                  <a:solidFill>
                                    <a:schemeClr val="tx1"/>
                                  </a:solidFill>
                                  <a:latin typeface="Cambria Math" panose="02040503050406030204" pitchFamily="18" charset="0"/>
                                </a:rPr>
                                <m:t>𝐸</m:t>
                              </m:r>
                            </m:e>
                          </m:acc>
                          <m:r>
                            <a:rPr lang="en-US" sz="3200" b="0" i="1">
                              <a:solidFill>
                                <a:schemeClr val="tx1"/>
                              </a:solidFill>
                              <a:latin typeface="Cambria Math" panose="02040503050406030204" pitchFamily="18" charset="0"/>
                            </a:rPr>
                            <m:t>⋅</m:t>
                          </m:r>
                          <m:r>
                            <a:rPr lang="en-US" sz="3200" b="0" i="1">
                              <a:solidFill>
                                <a:schemeClr val="tx1"/>
                              </a:solidFill>
                              <a:latin typeface="Cambria Math" panose="02040503050406030204" pitchFamily="18" charset="0"/>
                            </a:rPr>
                            <m:t>𝑑</m:t>
                          </m:r>
                          <m:acc>
                            <m:accPr>
                              <m:chr m:val="⃗"/>
                              <m:ctrlPr>
                                <a:rPr lang="en-US" sz="3200" i="1">
                                  <a:solidFill>
                                    <a:schemeClr val="tx1"/>
                                  </a:solidFill>
                                  <a:latin typeface="Cambria Math" panose="02040503050406030204" pitchFamily="18" charset="0"/>
                                </a:rPr>
                              </m:ctrlPr>
                            </m:accPr>
                            <m:e>
                              <m:r>
                                <a:rPr lang="en-US" sz="3200" b="0" i="1">
                                  <a:solidFill>
                                    <a:schemeClr val="tx1"/>
                                  </a:solidFill>
                                  <a:latin typeface="Cambria Math" panose="02040503050406030204" pitchFamily="18" charset="0"/>
                                </a:rPr>
                                <m:t>𝑙</m:t>
                              </m:r>
                            </m:e>
                          </m:acc>
                          <m:r>
                            <a:rPr lang="en-US" sz="3200" b="0" i="1">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m:t>
                          </m:r>
                          <m:nary>
                            <m:naryPr>
                              <m:chr m:val="∬"/>
                              <m:limLoc m:val="undOvr"/>
                              <m:subHide m:val="on"/>
                              <m:supHide m:val="on"/>
                              <m:ctrlPr>
                                <a:rPr kumimoji="1" lang="en-US" altLang="zh-CN" sz="32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naryPr>
                            <m:sub/>
                            <m:sup/>
                            <m:e>
                              <m:f>
                                <m:fPr>
                                  <m:ctrlPr>
                                    <a:rPr lang="zh-CN" altLang="en-US" sz="3200" i="1">
                                      <a:solidFill>
                                        <a:schemeClr val="tx1"/>
                                      </a:solidFill>
                                      <a:latin typeface="Cambria Math" panose="02040503050406030204" pitchFamily="18" charset="0"/>
                                    </a:rPr>
                                  </m:ctrlPr>
                                </m:fPr>
                                <m:num>
                                  <m:r>
                                    <a:rPr lang="zh-CN" altLang="en-US" sz="3200" b="0" i="1">
                                      <a:solidFill>
                                        <a:schemeClr val="tx1"/>
                                      </a:solidFill>
                                      <a:latin typeface="Cambria Math" panose="02040503050406030204" pitchFamily="18" charset="0"/>
                                    </a:rPr>
                                    <m:t>𝜕</m:t>
                                  </m:r>
                                  <m:acc>
                                    <m:accPr>
                                      <m:chr m:val="⃗"/>
                                      <m:ctrlPr>
                                        <a:rPr lang="zh-CN" altLang="en-US" sz="3200" i="1">
                                          <a:solidFill>
                                            <a:schemeClr val="tx1"/>
                                          </a:solidFill>
                                          <a:latin typeface="Cambria Math" panose="02040503050406030204" pitchFamily="18" charset="0"/>
                                        </a:rPr>
                                      </m:ctrlPr>
                                    </m:accPr>
                                    <m:e>
                                      <m:r>
                                        <a:rPr lang="zh-CN" altLang="en-US" sz="3200" b="0" i="1">
                                          <a:solidFill>
                                            <a:schemeClr val="tx1"/>
                                          </a:solidFill>
                                          <a:latin typeface="Cambria Math" panose="02040503050406030204" pitchFamily="18" charset="0"/>
                                        </a:rPr>
                                        <m:t>𝐵</m:t>
                                      </m:r>
                                    </m:e>
                                  </m:acc>
                                </m:num>
                                <m:den>
                                  <m:r>
                                    <a:rPr lang="zh-CN" altLang="en-US" sz="3200" b="0" i="1">
                                      <a:solidFill>
                                        <a:schemeClr val="tx1"/>
                                      </a:solidFill>
                                      <a:latin typeface="Cambria Math" panose="02040503050406030204" pitchFamily="18" charset="0"/>
                                    </a:rPr>
                                    <m:t>𝜕</m:t>
                                  </m:r>
                                  <m:r>
                                    <a:rPr lang="zh-CN" altLang="en-US" sz="3200" b="0" i="1">
                                      <a:solidFill>
                                        <a:schemeClr val="tx1"/>
                                      </a:solidFill>
                                      <a:latin typeface="Cambria Math" panose="02040503050406030204" pitchFamily="18" charset="0"/>
                                    </a:rPr>
                                    <m:t>𝑡</m:t>
                                  </m:r>
                                </m:den>
                              </m:f>
                              <m:r>
                                <m:rPr>
                                  <m:brk m:alnAt="15"/>
                                </m:rPr>
                                <a:rPr kumimoji="1" lang="zh-CN" altLang="en-US" sz="32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32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acc>
                                <m:accPr>
                                  <m:chr m:val="⃗"/>
                                  <m:ctrlPr>
                                    <a:rPr kumimoji="1" lang="en-US" altLang="zh-CN" sz="32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32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𝑆</m:t>
                                  </m:r>
                                </m:e>
                              </m:acc>
                            </m:e>
                          </m:nary>
                        </m:e>
                      </m:nary>
                    </m:oMath>
                  </m:oMathPara>
                </a14:m>
                <a:endParaRPr lang="en-US" sz="3200" dirty="0">
                  <a:solidFill>
                    <a:schemeClr val="tx1"/>
                  </a:solidFill>
                </a:endParaRPr>
              </a:p>
            </p:txBody>
          </p:sp>
        </mc:Choice>
        <mc:Fallback xmlns="">
          <p:sp>
            <p:nvSpPr>
              <p:cNvPr id="10" name="Object 23">
                <a:extLst>
                  <a:ext uri="{FF2B5EF4-FFF2-40B4-BE49-F238E27FC236}">
                    <a16:creationId xmlns:a16="http://schemas.microsoft.com/office/drawing/2014/main" id="{FDD04B9B-3147-0E9B-7A11-5D275A72B170}"/>
                  </a:ext>
                </a:extLst>
              </p:cNvPr>
              <p:cNvSpPr txBox="1">
                <a:spLocks noRot="1" noChangeAspect="1" noMove="1" noResize="1" noEditPoints="1" noAdjustHandles="1" noChangeArrowheads="1" noChangeShapeType="1" noTextEdit="1"/>
              </p:cNvSpPr>
              <p:nvPr/>
            </p:nvSpPr>
            <p:spPr bwMode="auto">
              <a:xfrm>
                <a:off x="4528287" y="2891331"/>
                <a:ext cx="1979613" cy="1042988"/>
              </a:xfrm>
              <a:prstGeom prst="rect">
                <a:avLst/>
              </a:prstGeom>
              <a:blipFill>
                <a:blip r:embed="rId2"/>
                <a:stretch>
                  <a:fillRect r="-111385" b="-3274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23">
                <a:extLst>
                  <a:ext uri="{FF2B5EF4-FFF2-40B4-BE49-F238E27FC236}">
                    <a16:creationId xmlns:a16="http://schemas.microsoft.com/office/drawing/2014/main" id="{9B2F16EA-8952-08B3-5D02-310DCD7E9DDC}"/>
                  </a:ext>
                </a:extLst>
              </p:cNvPr>
              <p:cNvSpPr txBox="1"/>
              <p:nvPr/>
            </p:nvSpPr>
            <p:spPr bwMode="auto">
              <a:xfrm>
                <a:off x="1298903" y="2943542"/>
                <a:ext cx="1979613" cy="10429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3200" i="1" smtClean="0">
                              <a:solidFill>
                                <a:schemeClr val="tx1"/>
                              </a:solidFill>
                              <a:latin typeface="Cambria Math" panose="02040503050406030204" pitchFamily="18" charset="0"/>
                            </a:rPr>
                          </m:ctrlPr>
                        </m:naryPr>
                        <m:sub>
                          <m:r>
                            <a:rPr lang="en-US" sz="3200" b="0" i="1">
                              <a:solidFill>
                                <a:schemeClr val="tx1"/>
                              </a:solidFill>
                              <a:latin typeface="Cambria Math" panose="02040503050406030204" pitchFamily="18" charset="0"/>
                            </a:rPr>
                            <m:t>𝐿</m:t>
                          </m:r>
                        </m:sub>
                        <m:sup/>
                        <m:e>
                          <m:acc>
                            <m:accPr>
                              <m:chr m:val="⃗"/>
                              <m:ctrlPr>
                                <a:rPr lang="en-US" sz="3200" i="1">
                                  <a:solidFill>
                                    <a:schemeClr val="tx1"/>
                                  </a:solidFill>
                                  <a:latin typeface="Cambria Math" panose="02040503050406030204" pitchFamily="18" charset="0"/>
                                </a:rPr>
                              </m:ctrlPr>
                            </m:accPr>
                            <m:e>
                              <m:r>
                                <a:rPr lang="en-US" sz="3200" b="0" i="1">
                                  <a:solidFill>
                                    <a:schemeClr val="tx1"/>
                                  </a:solidFill>
                                  <a:latin typeface="Cambria Math" panose="02040503050406030204" pitchFamily="18" charset="0"/>
                                </a:rPr>
                                <m:t>𝐸</m:t>
                              </m:r>
                            </m:e>
                          </m:acc>
                          <m:r>
                            <a:rPr lang="en-US" sz="3200" b="0" i="1">
                              <a:solidFill>
                                <a:schemeClr val="tx1"/>
                              </a:solidFill>
                              <a:latin typeface="Cambria Math" panose="02040503050406030204" pitchFamily="18" charset="0"/>
                            </a:rPr>
                            <m:t>⋅</m:t>
                          </m:r>
                          <m:r>
                            <a:rPr lang="en-US" sz="3200" b="0" i="1">
                              <a:solidFill>
                                <a:schemeClr val="tx1"/>
                              </a:solidFill>
                              <a:latin typeface="Cambria Math" panose="02040503050406030204" pitchFamily="18" charset="0"/>
                            </a:rPr>
                            <m:t>𝑑</m:t>
                          </m:r>
                          <m:acc>
                            <m:accPr>
                              <m:chr m:val="⃗"/>
                              <m:ctrlPr>
                                <a:rPr lang="en-US" sz="3200" i="1">
                                  <a:solidFill>
                                    <a:schemeClr val="tx1"/>
                                  </a:solidFill>
                                  <a:latin typeface="Cambria Math" panose="02040503050406030204" pitchFamily="18" charset="0"/>
                                </a:rPr>
                              </m:ctrlPr>
                            </m:accPr>
                            <m:e>
                              <m:r>
                                <a:rPr lang="en-US" sz="3200" b="0" i="1">
                                  <a:solidFill>
                                    <a:schemeClr val="tx1"/>
                                  </a:solidFill>
                                  <a:latin typeface="Cambria Math" panose="02040503050406030204" pitchFamily="18" charset="0"/>
                                </a:rPr>
                                <m:t>𝑙</m:t>
                              </m:r>
                            </m:e>
                          </m:acc>
                          <m:r>
                            <a:rPr lang="en-US" sz="3200" b="0" i="1">
                              <a:solidFill>
                                <a:schemeClr val="tx1"/>
                              </a:solidFill>
                              <a:latin typeface="Cambria Math" panose="02040503050406030204" pitchFamily="18" charset="0"/>
                            </a:rPr>
                            <m:t>=</m:t>
                          </m:r>
                          <m:r>
                            <a:rPr kumimoji="1" lang="en-US" altLang="zh-CN" sz="3200" b="0" i="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0</m:t>
                          </m:r>
                        </m:e>
                      </m:nary>
                    </m:oMath>
                  </m:oMathPara>
                </a14:m>
                <a:endParaRPr lang="en-US" sz="3200" dirty="0">
                  <a:solidFill>
                    <a:schemeClr val="tx1"/>
                  </a:solidFill>
                </a:endParaRPr>
              </a:p>
            </p:txBody>
          </p:sp>
        </mc:Choice>
        <mc:Fallback xmlns="">
          <p:sp>
            <p:nvSpPr>
              <p:cNvPr id="11" name="Object 23">
                <a:extLst>
                  <a:ext uri="{FF2B5EF4-FFF2-40B4-BE49-F238E27FC236}">
                    <a16:creationId xmlns:a16="http://schemas.microsoft.com/office/drawing/2014/main" id="{9B2F16EA-8952-08B3-5D02-310DCD7E9DDC}"/>
                  </a:ext>
                </a:extLst>
              </p:cNvPr>
              <p:cNvSpPr txBox="1">
                <a:spLocks noRot="1" noChangeAspect="1" noMove="1" noResize="1" noEditPoints="1" noAdjustHandles="1" noChangeArrowheads="1" noChangeShapeType="1" noTextEdit="1"/>
              </p:cNvSpPr>
              <p:nvPr/>
            </p:nvSpPr>
            <p:spPr bwMode="auto">
              <a:xfrm>
                <a:off x="1298903" y="2943542"/>
                <a:ext cx="1979613" cy="1042988"/>
              </a:xfrm>
              <a:prstGeom prst="rect">
                <a:avLst/>
              </a:prstGeom>
              <a:blipFill>
                <a:blip r:embed="rId3"/>
                <a:stretch>
                  <a:fillRect r="-9538" b="-28070"/>
                </a:stretch>
              </a:blipFill>
              <a:ln>
                <a:noFill/>
              </a:ln>
              <a:effectLst/>
            </p:spPr>
            <p:txBody>
              <a:bodyPr/>
              <a:lstStyle/>
              <a:p>
                <a:r>
                  <a:rPr lang="zh-CN" altLang="en-US">
                    <a:noFill/>
                  </a:rPr>
                  <a:t> </a:t>
                </a:r>
              </a:p>
            </p:txBody>
          </p:sp>
        </mc:Fallback>
      </mc:AlternateContent>
      <p:sp>
        <p:nvSpPr>
          <p:cNvPr id="20" name="Text Box 25">
            <a:extLst>
              <a:ext uri="{FF2B5EF4-FFF2-40B4-BE49-F238E27FC236}">
                <a16:creationId xmlns:a16="http://schemas.microsoft.com/office/drawing/2014/main" id="{A5B17E84-8886-4990-9F02-7C36FAD22CEC}"/>
              </a:ext>
            </a:extLst>
          </p:cNvPr>
          <p:cNvSpPr txBox="1">
            <a:spLocks noChangeArrowheads="1"/>
          </p:cNvSpPr>
          <p:nvPr/>
        </p:nvSpPr>
        <p:spPr bwMode="auto">
          <a:xfrm>
            <a:off x="1938020" y="5386704"/>
            <a:ext cx="22796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任意电场</a:t>
            </a:r>
          </a:p>
        </p:txBody>
      </p:sp>
      <mc:AlternateContent xmlns:mc="http://schemas.openxmlformats.org/markup-compatibility/2006" xmlns:a14="http://schemas.microsoft.com/office/drawing/2010/main">
        <mc:Choice Requires="a14">
          <p:sp>
            <p:nvSpPr>
              <p:cNvPr id="21" name="Object 23">
                <a:extLst>
                  <a:ext uri="{FF2B5EF4-FFF2-40B4-BE49-F238E27FC236}">
                    <a16:creationId xmlns:a16="http://schemas.microsoft.com/office/drawing/2014/main" id="{59AFB2B2-A6D0-4ADC-ACE2-043B6CA6D97F}"/>
                  </a:ext>
                </a:extLst>
              </p:cNvPr>
              <p:cNvSpPr txBox="1"/>
              <p:nvPr/>
            </p:nvSpPr>
            <p:spPr bwMode="auto">
              <a:xfrm>
                <a:off x="4756887" y="5058092"/>
                <a:ext cx="1979613" cy="10429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3200" b="1" i="1" smtClean="0">
                              <a:solidFill>
                                <a:srgbClr val="FF0000"/>
                              </a:solidFill>
                              <a:latin typeface="Cambria Math" panose="02040503050406030204" pitchFamily="18" charset="0"/>
                            </a:rPr>
                          </m:ctrlPr>
                        </m:naryPr>
                        <m:sub>
                          <m:r>
                            <a:rPr lang="en-US" sz="3200" b="1" i="1">
                              <a:solidFill>
                                <a:srgbClr val="FF0000"/>
                              </a:solidFill>
                              <a:latin typeface="Cambria Math" panose="02040503050406030204" pitchFamily="18" charset="0"/>
                            </a:rPr>
                            <m:t>𝑳</m:t>
                          </m:r>
                        </m:sub>
                        <m:sup/>
                        <m:e>
                          <m:acc>
                            <m:accPr>
                              <m:chr m:val="⃗"/>
                              <m:ctrlPr>
                                <a:rPr lang="en-US" sz="3200" b="1" i="1">
                                  <a:solidFill>
                                    <a:srgbClr val="FF0000"/>
                                  </a:solidFill>
                                  <a:latin typeface="Cambria Math" panose="02040503050406030204" pitchFamily="18" charset="0"/>
                                </a:rPr>
                              </m:ctrlPr>
                            </m:accPr>
                            <m:e>
                              <m:r>
                                <a:rPr lang="en-US" sz="3200" b="1" i="1">
                                  <a:solidFill>
                                    <a:srgbClr val="FF0000"/>
                                  </a:solidFill>
                                  <a:latin typeface="Cambria Math" panose="02040503050406030204" pitchFamily="18" charset="0"/>
                                </a:rPr>
                                <m:t>𝑬</m:t>
                              </m:r>
                            </m:e>
                          </m:acc>
                          <m:r>
                            <a:rPr lang="en-US" sz="3200" b="1" i="1">
                              <a:solidFill>
                                <a:srgbClr val="FF0000"/>
                              </a:solidFill>
                              <a:latin typeface="Cambria Math" panose="02040503050406030204" pitchFamily="18" charset="0"/>
                            </a:rPr>
                            <m:t>⋅</m:t>
                          </m:r>
                          <m:r>
                            <a:rPr lang="en-US" sz="3200" b="1" i="1">
                              <a:solidFill>
                                <a:srgbClr val="FF0000"/>
                              </a:solidFill>
                              <a:latin typeface="Cambria Math" panose="02040503050406030204" pitchFamily="18" charset="0"/>
                            </a:rPr>
                            <m:t>𝒅</m:t>
                          </m:r>
                          <m:acc>
                            <m:accPr>
                              <m:chr m:val="⃗"/>
                              <m:ctrlPr>
                                <a:rPr lang="en-US" sz="3200" b="1" i="1">
                                  <a:solidFill>
                                    <a:srgbClr val="FF0000"/>
                                  </a:solidFill>
                                  <a:latin typeface="Cambria Math" panose="02040503050406030204" pitchFamily="18" charset="0"/>
                                </a:rPr>
                              </m:ctrlPr>
                            </m:accPr>
                            <m:e>
                              <m:r>
                                <a:rPr lang="en-US" sz="3200" b="1" i="1">
                                  <a:solidFill>
                                    <a:srgbClr val="FF0000"/>
                                  </a:solidFill>
                                  <a:latin typeface="Cambria Math" panose="02040503050406030204" pitchFamily="18" charset="0"/>
                                </a:rPr>
                                <m:t>𝒍</m:t>
                              </m:r>
                            </m:e>
                          </m:acc>
                          <m:r>
                            <a:rPr lang="en-US" sz="3200" b="1" i="1">
                              <a:solidFill>
                                <a:srgbClr val="FF0000"/>
                              </a:solidFill>
                              <a:latin typeface="Cambria Math" panose="02040503050406030204" pitchFamily="18" charset="0"/>
                            </a:rPr>
                            <m:t>=</m:t>
                          </m:r>
                          <m:r>
                            <a:rPr lang="en-US" sz="3200" b="1" i="1" smtClean="0">
                              <a:solidFill>
                                <a:srgbClr val="FF0000"/>
                              </a:solidFill>
                              <a:latin typeface="Cambria Math" panose="02040503050406030204" pitchFamily="18" charset="0"/>
                            </a:rPr>
                            <m:t>−</m:t>
                          </m:r>
                          <m:nary>
                            <m:naryPr>
                              <m:chr m:val="∬"/>
                              <m:limLoc m:val="undOvr"/>
                              <m:subHide m:val="on"/>
                              <m:supHide m:val="on"/>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naryPr>
                            <m:sub/>
                            <m:sup/>
                            <m:e>
                              <m:f>
                                <m:fPr>
                                  <m:ctrlPr>
                                    <a:rPr lang="zh-CN" altLang="en-US" sz="3200" b="1" i="1">
                                      <a:solidFill>
                                        <a:srgbClr val="FF0000"/>
                                      </a:solidFill>
                                      <a:latin typeface="Cambria Math" panose="02040503050406030204" pitchFamily="18" charset="0"/>
                                    </a:rPr>
                                  </m:ctrlPr>
                                </m:fPr>
                                <m:num>
                                  <m:r>
                                    <a:rPr lang="zh-CN" altLang="en-US" sz="3200" b="1" i="1">
                                      <a:solidFill>
                                        <a:srgbClr val="FF0000"/>
                                      </a:solidFill>
                                      <a:latin typeface="Cambria Math" panose="02040503050406030204" pitchFamily="18" charset="0"/>
                                    </a:rPr>
                                    <m:t>𝝏</m:t>
                                  </m:r>
                                  <m:acc>
                                    <m:accPr>
                                      <m:chr m:val="⃗"/>
                                      <m:ctrlPr>
                                        <a:rPr lang="zh-CN" altLang="en-US" sz="3200" b="1" i="1">
                                          <a:solidFill>
                                            <a:srgbClr val="FF0000"/>
                                          </a:solidFill>
                                          <a:latin typeface="Cambria Math" panose="02040503050406030204" pitchFamily="18" charset="0"/>
                                        </a:rPr>
                                      </m:ctrlPr>
                                    </m:accPr>
                                    <m:e>
                                      <m:r>
                                        <a:rPr lang="zh-CN" altLang="en-US" sz="3200" b="1" i="1">
                                          <a:solidFill>
                                            <a:srgbClr val="FF0000"/>
                                          </a:solidFill>
                                          <a:latin typeface="Cambria Math" panose="02040503050406030204" pitchFamily="18" charset="0"/>
                                        </a:rPr>
                                        <m:t>𝑩</m:t>
                                      </m:r>
                                    </m:e>
                                  </m:acc>
                                </m:num>
                                <m:den>
                                  <m:r>
                                    <a:rPr lang="zh-CN" altLang="en-US" sz="3200" b="1" i="1">
                                      <a:solidFill>
                                        <a:srgbClr val="FF0000"/>
                                      </a:solidFill>
                                      <a:latin typeface="Cambria Math" panose="02040503050406030204" pitchFamily="18" charset="0"/>
                                    </a:rPr>
                                    <m:t>𝝏</m:t>
                                  </m:r>
                                  <m:r>
                                    <a:rPr lang="zh-CN" altLang="en-US" sz="3200" b="1" i="1">
                                      <a:solidFill>
                                        <a:srgbClr val="FF0000"/>
                                      </a:solidFill>
                                      <a:latin typeface="Cambria Math" panose="02040503050406030204" pitchFamily="18" charset="0"/>
                                    </a:rPr>
                                    <m:t>𝒕</m:t>
                                  </m:r>
                                </m:den>
                              </m:f>
                              <m:r>
                                <m:rPr>
                                  <m:brk m:alnAt="15"/>
                                </m:rPr>
                                <a:rPr kumimoji="1" lang="zh-CN" altLang="en-US"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𝒅</m:t>
                              </m:r>
                              <m:acc>
                                <m:accPr>
                                  <m:chr m:val="⃗"/>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𝑺</m:t>
                                  </m:r>
                                </m:e>
                              </m:acc>
                            </m:e>
                          </m:nary>
                        </m:e>
                      </m:nary>
                    </m:oMath>
                  </m:oMathPara>
                </a14:m>
                <a:endParaRPr lang="en-US" sz="3200" b="1" dirty="0">
                  <a:solidFill>
                    <a:srgbClr val="FF0000"/>
                  </a:solidFill>
                </a:endParaRPr>
              </a:p>
            </p:txBody>
          </p:sp>
        </mc:Choice>
        <mc:Fallback xmlns="">
          <p:sp>
            <p:nvSpPr>
              <p:cNvPr id="21" name="Object 23">
                <a:extLst>
                  <a:ext uri="{FF2B5EF4-FFF2-40B4-BE49-F238E27FC236}">
                    <a16:creationId xmlns:a16="http://schemas.microsoft.com/office/drawing/2014/main" id="{59AFB2B2-A6D0-4ADC-ACE2-043B6CA6D97F}"/>
                  </a:ext>
                </a:extLst>
              </p:cNvPr>
              <p:cNvSpPr txBox="1">
                <a:spLocks noRot="1" noChangeAspect="1" noMove="1" noResize="1" noEditPoints="1" noAdjustHandles="1" noChangeArrowheads="1" noChangeShapeType="1" noTextEdit="1"/>
              </p:cNvSpPr>
              <p:nvPr/>
            </p:nvSpPr>
            <p:spPr bwMode="auto">
              <a:xfrm>
                <a:off x="4756887" y="5058092"/>
                <a:ext cx="1979613" cy="1042988"/>
              </a:xfrm>
              <a:prstGeom prst="rect">
                <a:avLst/>
              </a:prstGeom>
              <a:blipFill>
                <a:blip r:embed="rId4"/>
                <a:stretch>
                  <a:fillRect r="-114462" b="-32749"/>
                </a:stretch>
              </a:blipFill>
              <a:ln>
                <a:noFill/>
              </a:ln>
              <a:effectLst/>
            </p:spPr>
            <p:txBody>
              <a:bodyPr/>
              <a:lstStyle/>
              <a:p>
                <a:r>
                  <a:rPr lang="zh-CN" altLang="en-US">
                    <a:noFill/>
                  </a:rPr>
                  <a:t> </a:t>
                </a:r>
              </a:p>
            </p:txBody>
          </p:sp>
        </mc:Fallback>
      </mc:AlternateContent>
      <p:pic>
        <p:nvPicPr>
          <p:cNvPr id="12" name="Picture 2" descr="FG30_08">
            <a:extLst>
              <a:ext uri="{FF2B5EF4-FFF2-40B4-BE49-F238E27FC236}">
                <a16:creationId xmlns:a16="http://schemas.microsoft.com/office/drawing/2014/main" id="{2FBE4E2A-9E27-A728-A191-A614A81968B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8185" b="18998"/>
          <a:stretch/>
        </p:blipFill>
        <p:spPr bwMode="auto">
          <a:xfrm>
            <a:off x="9387840" y="1043161"/>
            <a:ext cx="1818898" cy="4191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4430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11" grpId="0"/>
      <p:bldP spid="20" grpId="0"/>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电磁波的产生– i叨咕物理">
            <a:extLst>
              <a:ext uri="{FF2B5EF4-FFF2-40B4-BE49-F238E27FC236}">
                <a16:creationId xmlns:a16="http://schemas.microsoft.com/office/drawing/2014/main" id="{5F69D39B-55E6-607B-6082-86268E709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5233" y="2744418"/>
            <a:ext cx="4469827" cy="293022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9">
            <a:extLst>
              <a:ext uri="{FF2B5EF4-FFF2-40B4-BE49-F238E27FC236}">
                <a16:creationId xmlns:a16="http://schemas.microsoft.com/office/drawing/2014/main" id="{3D25B139-784A-E154-D70F-F6F98698AAE5}"/>
              </a:ext>
            </a:extLst>
          </p:cNvPr>
          <p:cNvSpPr txBox="1">
            <a:spLocks noChangeArrowheads="1"/>
          </p:cNvSpPr>
          <p:nvPr/>
        </p:nvSpPr>
        <p:spPr bwMode="auto">
          <a:xfrm>
            <a:off x="903231" y="438556"/>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电磁场基本性质方程 </a:t>
            </a:r>
            <a:r>
              <a:rPr lang="en-US" altLang="zh-CN" sz="3600" i="0" u="none" dirty="0">
                <a:solidFill>
                  <a:srgbClr val="0066FF"/>
                </a:solidFill>
                <a:latin typeface="+mn-lt"/>
                <a:ea typeface="华文楷体" panose="02010600040101010101" pitchFamily="2" charset="-122"/>
              </a:rPr>
              <a:t>(4)</a:t>
            </a:r>
            <a:endParaRPr lang="zh-CN" altLang="en-US" sz="3600" i="0" u="none" dirty="0">
              <a:solidFill>
                <a:srgbClr val="0066FF"/>
              </a:solidFill>
              <a:latin typeface="+mn-lt"/>
              <a:ea typeface="华文楷体" panose="02010600040101010101" pitchFamily="2" charset="-122"/>
            </a:endParaRPr>
          </a:p>
        </p:txBody>
      </p:sp>
      <p:sp>
        <p:nvSpPr>
          <p:cNvPr id="3" name="文本框 2">
            <a:extLst>
              <a:ext uri="{FF2B5EF4-FFF2-40B4-BE49-F238E27FC236}">
                <a16:creationId xmlns:a16="http://schemas.microsoft.com/office/drawing/2014/main" id="{461C7D0F-7825-9D25-8AAD-076FC95E35D1}"/>
              </a:ext>
            </a:extLst>
          </p:cNvPr>
          <p:cNvSpPr txBox="1"/>
          <p:nvPr/>
        </p:nvSpPr>
        <p:spPr>
          <a:xfrm>
            <a:off x="823440" y="1326676"/>
            <a:ext cx="4929555" cy="584775"/>
          </a:xfrm>
          <a:prstGeom prst="rect">
            <a:avLst/>
          </a:prstGeom>
          <a:noFill/>
        </p:spPr>
        <p:txBody>
          <a:bodyPr wrap="none" rtlCol="0">
            <a:spAutoFit/>
          </a:bodyPr>
          <a:lstStyle/>
          <a:p>
            <a:r>
              <a:rPr lang="zh-CN" altLang="en-US" sz="3200" dirty="0"/>
              <a:t>磁场的源 </a:t>
            </a:r>
            <a:r>
              <a:rPr lang="en-US" altLang="zh-CN" sz="3200" dirty="0"/>
              <a:t>–</a:t>
            </a:r>
            <a:r>
              <a:rPr lang="zh-CN" altLang="en-US" sz="3200" dirty="0"/>
              <a:t> 电流</a:t>
            </a:r>
            <a:r>
              <a:rPr lang="en-US" altLang="zh-CN" sz="3200" dirty="0"/>
              <a:t>+</a:t>
            </a:r>
            <a:r>
              <a:rPr lang="zh-CN" altLang="en-US" sz="3200" dirty="0"/>
              <a:t>变化电场</a:t>
            </a:r>
          </a:p>
        </p:txBody>
      </p:sp>
      <p:grpSp>
        <p:nvGrpSpPr>
          <p:cNvPr id="4" name="组合 3">
            <a:extLst>
              <a:ext uri="{FF2B5EF4-FFF2-40B4-BE49-F238E27FC236}">
                <a16:creationId xmlns:a16="http://schemas.microsoft.com/office/drawing/2014/main" id="{C52E08BD-460E-4481-B2B1-9ED06C1C021B}"/>
              </a:ext>
            </a:extLst>
          </p:cNvPr>
          <p:cNvGrpSpPr/>
          <p:nvPr/>
        </p:nvGrpSpPr>
        <p:grpSpPr>
          <a:xfrm>
            <a:off x="5755965" y="2088865"/>
            <a:ext cx="6478586" cy="1482457"/>
            <a:chOff x="1041081" y="4296732"/>
            <a:chExt cx="6478586" cy="1482457"/>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CAAB5CA-3DC9-4063-8345-2A19F88B3CA5}"/>
                    </a:ext>
                  </a:extLst>
                </p:cNvPr>
                <p:cNvSpPr/>
                <p:nvPr/>
              </p:nvSpPr>
              <p:spPr>
                <a:xfrm>
                  <a:off x="1041081" y="4358144"/>
                  <a:ext cx="2032319" cy="124239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sz="3200" b="1" i="1"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𝒍</m:t>
                            </m:r>
                          </m:sub>
                          <m:sup/>
                          <m:e>
                            <m:acc>
                              <m:accPr>
                                <m:chr m:val="⃗"/>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𝑩</m:t>
                                </m:r>
                              </m:e>
                            </m:acc>
                          </m:e>
                        </m:nary>
                        <m:r>
                          <a:rPr kumimoji="1" lang="en-US" altLang="zh-CN"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CN"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𝒅</m:t>
                        </m:r>
                        <m:acc>
                          <m:accPr>
                            <m:chr m:val="⃗"/>
                            <m:ctrlPr>
                              <a:rPr kumimoji="1" lang="en-US" altLang="zh-CN"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accPr>
                          <m:e>
                            <m:r>
                              <a:rPr kumimoji="1" lang="en-US" altLang="zh-CN" sz="32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𝒍</m:t>
                            </m:r>
                          </m:e>
                        </m:acc>
                      </m:oMath>
                    </m:oMathPara>
                  </a14:m>
                  <a:endParaRPr kumimoji="1" lang="en-US" altLang="zh-CN" sz="3200" b="1" dirty="0">
                    <a:solidFill>
                      <a:srgbClr val="FF0000"/>
                    </a:solidFill>
                    <a:ea typeface="华文楷体" panose="02010600040101010101" pitchFamily="2"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0CAAB5CA-3DC9-4063-8345-2A19F88B3CA5}"/>
                    </a:ext>
                  </a:extLst>
                </p:cNvPr>
                <p:cNvSpPr>
                  <a:spLocks noRot="1" noChangeAspect="1" noMove="1" noResize="1" noEditPoints="1" noAdjustHandles="1" noChangeArrowheads="1" noChangeShapeType="1" noTextEdit="1"/>
                </p:cNvSpPr>
                <p:nvPr/>
              </p:nvSpPr>
              <p:spPr>
                <a:xfrm>
                  <a:off x="1041081" y="4358144"/>
                  <a:ext cx="2032319" cy="124239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0BF4099B-50A5-4BAF-BFED-AE3DEC0A9780}"/>
                    </a:ext>
                  </a:extLst>
                </p:cNvPr>
                <p:cNvSpPr/>
                <p:nvPr/>
              </p:nvSpPr>
              <p:spPr>
                <a:xfrm>
                  <a:off x="2736498" y="4296732"/>
                  <a:ext cx="4783169" cy="1482457"/>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kumimoji="1" lang="en-US" altLang="zh-CN" sz="3200" b="1" i="1"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𝝁</m:t>
                            </m:r>
                          </m:e>
                          <m:sub>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𝟎</m:t>
                            </m:r>
                          </m:sub>
                        </m:sSub>
                        <m:nary>
                          <m:naryPr>
                            <m:chr m:val="∬"/>
                            <m:limLoc m:val="undOvr"/>
                            <m:subHide m:val="on"/>
                            <m:supHide m:val="on"/>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naryPr>
                          <m:sub/>
                          <m:sup/>
                          <m:e>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𝑱</m:t>
                                </m:r>
                              </m:e>
                              <m:sub>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𝒄</m:t>
                                </m:r>
                              </m:sub>
                            </m:sSub>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𝜺</m:t>
                                </m:r>
                              </m:e>
                              <m:sub>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𝟎</m:t>
                                </m:r>
                              </m:sub>
                            </m:sSub>
                            <m:f>
                              <m:fPr>
                                <m:ctrlPr>
                                  <a:rPr lang="en-US" altLang="zh-CN" sz="3200" i="1">
                                    <a:solidFill>
                                      <a:srgbClr val="FF0000"/>
                                    </a:solidFill>
                                    <a:latin typeface="Cambria Math" panose="02040503050406030204" pitchFamily="18" charset="0"/>
                                  </a:rPr>
                                </m:ctrlPr>
                              </m:fPr>
                              <m:num>
                                <m:r>
                                  <a:rPr lang="en-US" altLang="zh-CN" sz="3200">
                                    <a:solidFill>
                                      <a:srgbClr val="FF0000"/>
                                    </a:solidFill>
                                    <a:latin typeface="Cambria Math" panose="02040503050406030204" pitchFamily="18" charset="0"/>
                                  </a:rPr>
                                  <m:t>𝜕</m:t>
                                </m:r>
                                <m:acc>
                                  <m:accPr>
                                    <m:chr m:val="⃗"/>
                                    <m:ctrlPr>
                                      <a:rPr lang="en-US" altLang="zh-CN" sz="3200" i="1">
                                        <a:solidFill>
                                          <a:srgbClr val="FF0000"/>
                                        </a:solidFill>
                                        <a:latin typeface="Cambria Math" panose="02040503050406030204" pitchFamily="18" charset="0"/>
                                      </a:rPr>
                                    </m:ctrlPr>
                                  </m:accPr>
                                  <m:e>
                                    <m:r>
                                      <a:rPr lang="en-US" altLang="zh-CN" sz="3200" b="0" i="1" smtClean="0">
                                        <a:solidFill>
                                          <a:srgbClr val="FF0000"/>
                                        </a:solidFill>
                                        <a:latin typeface="Cambria Math" panose="02040503050406030204" pitchFamily="18" charset="0"/>
                                      </a:rPr>
                                      <m:t>𝐸</m:t>
                                    </m:r>
                                  </m:e>
                                </m:acc>
                              </m:num>
                              <m:den>
                                <m:r>
                                  <a:rPr lang="en-US" altLang="zh-CN" sz="3200">
                                    <a:solidFill>
                                      <a:srgbClr val="FF0000"/>
                                    </a:solidFill>
                                    <a:latin typeface="Cambria Math" panose="02040503050406030204" pitchFamily="18" charset="0"/>
                                  </a:rPr>
                                  <m:t>𝜕</m:t>
                                </m:r>
                                <m:r>
                                  <a:rPr lang="en-US" altLang="zh-CN" sz="3200">
                                    <a:solidFill>
                                      <a:srgbClr val="FF0000"/>
                                    </a:solidFill>
                                    <a:latin typeface="Cambria Math" panose="02040503050406030204" pitchFamily="18" charset="0"/>
                                  </a:rPr>
                                  <m:t>𝒕</m:t>
                                </m:r>
                              </m:den>
                            </m:f>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m:rPr>
                                <m:brk m:alnAt="15"/>
                              </m:rPr>
                              <a:rPr kumimoji="1" lang="zh-CN" altLang="en-US"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𝒅</m:t>
                            </m:r>
                            <m:acc>
                              <m:accPr>
                                <m:chr m:val="⃗"/>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𝑺</m:t>
                                </m:r>
                              </m:e>
                            </m:acc>
                          </m:e>
                        </m:nary>
                      </m:oMath>
                    </m:oMathPara>
                  </a14:m>
                  <a:endParaRPr lang="en-US" sz="3200" b="1" dirty="0">
                    <a:solidFill>
                      <a:srgbClr val="FF0000"/>
                    </a:solidFill>
                  </a:endParaRPr>
                </a:p>
              </p:txBody>
            </p:sp>
          </mc:Choice>
          <mc:Fallback xmlns="">
            <p:sp>
              <p:nvSpPr>
                <p:cNvPr id="13" name="矩形 12">
                  <a:extLst>
                    <a:ext uri="{FF2B5EF4-FFF2-40B4-BE49-F238E27FC236}">
                      <a16:creationId xmlns:a16="http://schemas.microsoft.com/office/drawing/2014/main" id="{0BF4099B-50A5-4BAF-BFED-AE3DEC0A9780}"/>
                    </a:ext>
                  </a:extLst>
                </p:cNvPr>
                <p:cNvSpPr>
                  <a:spLocks noRot="1" noChangeAspect="1" noMove="1" noResize="1" noEditPoints="1" noAdjustHandles="1" noChangeArrowheads="1" noChangeShapeType="1" noTextEdit="1"/>
                </p:cNvSpPr>
                <p:nvPr/>
              </p:nvSpPr>
              <p:spPr>
                <a:xfrm>
                  <a:off x="2736498" y="4296732"/>
                  <a:ext cx="4783169" cy="1482457"/>
                </a:xfrm>
                <a:prstGeom prst="rect">
                  <a:avLst/>
                </a:prstGeom>
                <a:blipFill>
                  <a:blip r:embed="rId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1F77E47-E530-4AF3-8B06-0E19FE447FE7}"/>
                  </a:ext>
                </a:extLst>
              </p:cNvPr>
              <p:cNvSpPr/>
              <p:nvPr/>
            </p:nvSpPr>
            <p:spPr>
              <a:xfrm>
                <a:off x="5601490" y="4729630"/>
                <a:ext cx="6670020" cy="1603388"/>
              </a:xfrm>
              <a:prstGeom prst="rect">
                <a:avLst/>
              </a:prstGeom>
            </p:spPr>
            <p:txBody>
              <a:bodyPr wrap="square">
                <a:spAutoFit/>
              </a:bodyPr>
              <a:lstStyle/>
              <a:p>
                <a:pPr>
                  <a:lnSpc>
                    <a:spcPct val="130000"/>
                  </a:lnSpc>
                </a:pPr>
                <a14:m>
                  <m:oMathPara xmlns:m="http://schemas.openxmlformats.org/officeDocument/2006/math">
                    <m:oMathParaPr>
                      <m:jc m:val="centerGroup"/>
                    </m:oMathParaPr>
                    <m:oMath xmlns:m="http://schemas.openxmlformats.org/officeDocument/2006/math">
                      <m:nary>
                        <m:naryPr>
                          <m:chr m:val="∮"/>
                          <m:ctrlPr>
                            <a:rPr kumimoji="1" lang="zh-CN" altLang="en-US" sz="3200" i="1"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1" lang="en-US" altLang="zh-CN" sz="320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𝑳</m:t>
                          </m:r>
                        </m:sub>
                        <m:sup/>
                        <m:e>
                          <m:acc>
                            <m:accPr>
                              <m:chr m:val="⃗"/>
                              <m:ctrlPr>
                                <a:rPr kumimoji="1" lang="en-US" altLang="zh-CN" sz="3200"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3200">
                                  <a:solidFill>
                                    <a:srgbClr val="FF0000"/>
                                  </a:solidFill>
                                  <a:latin typeface="Cambria Math" panose="02040503050406030204" pitchFamily="18" charset="0"/>
                                  <a:ea typeface="黑体" panose="02010609060101010101" pitchFamily="49" charset="-122"/>
                                  <a:cs typeface="Times New Roman" panose="02020603050405020304" pitchFamily="18" charset="0"/>
                                </a:rPr>
                                <m:t>𝑯</m:t>
                              </m:r>
                            </m:e>
                          </m:acc>
                          <m:r>
                            <m:rPr>
                              <m:brk m:alnAt="23"/>
                            </m:rPr>
                            <a:rPr kumimoji="1" lang="zh-CN" altLang="en-US" sz="320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3200">
                              <a:solidFill>
                                <a:srgbClr val="FF0000"/>
                              </a:solidFill>
                              <a:latin typeface="Cambria Math" panose="02040503050406030204" pitchFamily="18" charset="0"/>
                              <a:ea typeface="黑体" panose="02010609060101010101" pitchFamily="49" charset="-122"/>
                              <a:cs typeface="Times New Roman" panose="02020603050405020304" pitchFamily="18" charset="0"/>
                            </a:rPr>
                            <m:t>𝒅</m:t>
                          </m:r>
                          <m:acc>
                            <m:accPr>
                              <m:chr m:val="⃗"/>
                              <m:ctrlPr>
                                <a:rPr kumimoji="1" lang="en-US" altLang="zh-CN" sz="3200"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3200">
                                  <a:solidFill>
                                    <a:srgbClr val="FF0000"/>
                                  </a:solidFill>
                                  <a:latin typeface="Cambria Math" panose="02040503050406030204" pitchFamily="18" charset="0"/>
                                  <a:ea typeface="黑体" panose="02010609060101010101" pitchFamily="49" charset="-122"/>
                                  <a:cs typeface="Times New Roman" panose="02020603050405020304" pitchFamily="18" charset="0"/>
                                </a:rPr>
                                <m:t>𝒍</m:t>
                              </m:r>
                            </m:e>
                          </m:acc>
                        </m:e>
                      </m:nary>
                      <m:r>
                        <a:rPr kumimoji="1" lang="en-US" altLang="zh-CN" sz="3200">
                          <a:solidFill>
                            <a:srgbClr val="FF0000"/>
                          </a:solidFill>
                          <a:latin typeface="Cambria Math" panose="02040503050406030204" pitchFamily="18" charset="0"/>
                          <a:ea typeface="黑体" panose="02010609060101010101" pitchFamily="49" charset="-122"/>
                          <a:cs typeface="Times New Roman" panose="02020603050405020304" pitchFamily="18" charset="0"/>
                        </a:rPr>
                        <m:t>=</m:t>
                      </m:r>
                      <m:nary>
                        <m:naryPr>
                          <m:chr m:val="∬"/>
                          <m:ctrl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1" lang="en-US" altLang="zh-CN" sz="3200" b="1" i="1">
                              <a:solidFill>
                                <a:srgbClr val="FF0000"/>
                              </a:solidFill>
                              <a:latin typeface="Cambria Math" panose="02040503050406030204" pitchFamily="18" charset="0"/>
                              <a:ea typeface="黑体" panose="02010609060101010101" pitchFamily="49" charset="-122"/>
                              <a:cs typeface="Times New Roman" panose="02020603050405020304" pitchFamily="18" charset="0"/>
                            </a:rPr>
                            <m:t>𝑺</m:t>
                          </m:r>
                        </m:sub>
                        <m:sup/>
                        <m:e>
                          <m:r>
                            <a:rPr lang="en-US" altLang="zh-CN" sz="3200">
                              <a:solidFill>
                                <a:srgbClr val="FF0000"/>
                              </a:solidFill>
                              <a:latin typeface="Cambria Math" panose="02040503050406030204" pitchFamily="18" charset="0"/>
                            </a:rPr>
                            <m:t>(</m:t>
                          </m:r>
                          <m:acc>
                            <m:accPr>
                              <m:chr m:val="⃗"/>
                              <m:ctrlPr>
                                <a:rPr lang="en-US" altLang="zh-CN" sz="3200" i="1">
                                  <a:solidFill>
                                    <a:srgbClr val="FF0000"/>
                                  </a:solidFill>
                                  <a:latin typeface="Cambria Math" panose="02040503050406030204" pitchFamily="18" charset="0"/>
                                </a:rPr>
                              </m:ctrlPr>
                            </m:accPr>
                            <m:e>
                              <m:r>
                                <a:rPr lang="en-US" altLang="zh-CN" sz="3200">
                                  <a:solidFill>
                                    <a:srgbClr val="FF0000"/>
                                  </a:solidFill>
                                  <a:latin typeface="Cambria Math" panose="02040503050406030204" pitchFamily="18" charset="0"/>
                                </a:rPr>
                                <m:t>𝒋</m:t>
                              </m:r>
                              <m:r>
                                <a:rPr lang="en-US" altLang="zh-CN" sz="3200">
                                  <a:solidFill>
                                    <a:srgbClr val="FF0000"/>
                                  </a:solidFill>
                                  <a:latin typeface="Cambria Math" panose="02040503050406030204" pitchFamily="18" charset="0"/>
                                </a:rPr>
                                <m:t> </m:t>
                              </m:r>
                            </m:e>
                          </m:acc>
                          <m:r>
                            <a:rPr lang="en-US" altLang="zh-CN" sz="3200">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r>
                                <a:rPr lang="en-US" altLang="zh-CN" sz="3200">
                                  <a:solidFill>
                                    <a:srgbClr val="FF0000"/>
                                  </a:solidFill>
                                  <a:latin typeface="Cambria Math" panose="02040503050406030204" pitchFamily="18" charset="0"/>
                                </a:rPr>
                                <m:t>𝜕</m:t>
                              </m:r>
                              <m:acc>
                                <m:accPr>
                                  <m:chr m:val="⃗"/>
                                  <m:ctrlPr>
                                    <a:rPr lang="en-US" altLang="zh-CN" sz="3200" i="1">
                                      <a:solidFill>
                                        <a:srgbClr val="FF0000"/>
                                      </a:solidFill>
                                      <a:latin typeface="Cambria Math" panose="02040503050406030204" pitchFamily="18" charset="0"/>
                                    </a:rPr>
                                  </m:ctrlPr>
                                </m:accPr>
                                <m:e>
                                  <m:r>
                                    <a:rPr lang="en-US" altLang="zh-CN" sz="3200">
                                      <a:solidFill>
                                        <a:srgbClr val="FF0000"/>
                                      </a:solidFill>
                                      <a:latin typeface="Cambria Math" panose="02040503050406030204" pitchFamily="18" charset="0"/>
                                    </a:rPr>
                                    <m:t>𝑫</m:t>
                                  </m:r>
                                </m:e>
                              </m:acc>
                            </m:num>
                            <m:den>
                              <m:r>
                                <a:rPr lang="en-US" altLang="zh-CN" sz="3200">
                                  <a:solidFill>
                                    <a:srgbClr val="FF0000"/>
                                  </a:solidFill>
                                  <a:latin typeface="Cambria Math" panose="02040503050406030204" pitchFamily="18" charset="0"/>
                                </a:rPr>
                                <m:t>𝜕</m:t>
                              </m:r>
                              <m:r>
                                <a:rPr lang="en-US" altLang="zh-CN" sz="3200">
                                  <a:solidFill>
                                    <a:srgbClr val="FF0000"/>
                                  </a:solidFill>
                                  <a:latin typeface="Cambria Math" panose="02040503050406030204" pitchFamily="18" charset="0"/>
                                </a:rPr>
                                <m:t>𝒕</m:t>
                              </m:r>
                            </m:den>
                          </m:f>
                          <m:r>
                            <a:rPr lang="en-US" altLang="zh-CN" sz="3200">
                              <a:solidFill>
                                <a:srgbClr val="FF0000"/>
                              </a:solidFill>
                              <a:latin typeface="Cambria Math" panose="02040503050406030204" pitchFamily="18" charset="0"/>
                            </a:rPr>
                            <m:t>)</m:t>
                          </m:r>
                          <m:r>
                            <a:rPr lang="en-US" altLang="zh-CN" sz="3200">
                              <a:solidFill>
                                <a:srgbClr val="FF0000"/>
                              </a:solidFill>
                              <a:latin typeface="Cambria Math" panose="02040503050406030204" pitchFamily="18" charset="0"/>
                              <a:ea typeface="Cambria Math" panose="02040503050406030204" pitchFamily="18" charset="0"/>
                            </a:rPr>
                            <m:t>∙</m:t>
                          </m:r>
                          <m:r>
                            <a:rPr lang="en-US" altLang="zh-CN" sz="3200">
                              <a:solidFill>
                                <a:srgbClr val="FF0000"/>
                              </a:solidFill>
                              <a:latin typeface="Cambria Math" panose="02040503050406030204" pitchFamily="18" charset="0"/>
                              <a:ea typeface="Cambria Math" panose="02040503050406030204" pitchFamily="18" charset="0"/>
                            </a:rPr>
                            <m:t>𝒅</m:t>
                          </m:r>
                          <m:acc>
                            <m:accPr>
                              <m:chr m:val="⃗"/>
                              <m:ctrlPr>
                                <a:rPr lang="en-US" altLang="zh-CN" sz="3200" i="1">
                                  <a:solidFill>
                                    <a:srgbClr val="FF0000"/>
                                  </a:solidFill>
                                  <a:latin typeface="Cambria Math" panose="02040503050406030204" pitchFamily="18" charset="0"/>
                                  <a:ea typeface="Cambria Math" panose="02040503050406030204" pitchFamily="18" charset="0"/>
                                </a:rPr>
                              </m:ctrlPr>
                            </m:accPr>
                            <m:e>
                              <m:r>
                                <a:rPr lang="en-US" altLang="zh-CN" sz="3200">
                                  <a:solidFill>
                                    <a:srgbClr val="FF0000"/>
                                  </a:solidFill>
                                  <a:latin typeface="Cambria Math" panose="02040503050406030204" pitchFamily="18" charset="0"/>
                                  <a:ea typeface="Cambria Math" panose="02040503050406030204" pitchFamily="18" charset="0"/>
                                </a:rPr>
                                <m:t>𝑺</m:t>
                              </m:r>
                            </m:e>
                          </m:acc>
                        </m:e>
                      </m:nary>
                    </m:oMath>
                  </m:oMathPara>
                </a14:m>
                <a:endParaRPr kumimoji="1" lang="en-US" altLang="zh-CN" sz="3200" b="1" dirty="0">
                  <a:solidFill>
                    <a:srgbClr val="FF0000"/>
                  </a:solidFill>
                  <a:ea typeface="华文楷体" panose="02010600040101010101" pitchFamily="2"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E1F77E47-E530-4AF3-8B06-0E19FE447FE7}"/>
                  </a:ext>
                </a:extLst>
              </p:cNvPr>
              <p:cNvSpPr>
                <a:spLocks noRot="1" noChangeAspect="1" noMove="1" noResize="1" noEditPoints="1" noAdjustHandles="1" noChangeArrowheads="1" noChangeShapeType="1" noTextEdit="1"/>
              </p:cNvSpPr>
              <p:nvPr/>
            </p:nvSpPr>
            <p:spPr>
              <a:xfrm>
                <a:off x="5601490" y="4729630"/>
                <a:ext cx="6670020" cy="1603388"/>
              </a:xfrm>
              <a:prstGeom prst="rect">
                <a:avLst/>
              </a:prstGeom>
              <a:blipFill>
                <a:blip r:embed="rId5"/>
                <a:stretch>
                  <a:fillRect/>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BDBA8003-8E20-8764-ACE3-3EE78E01143A}"/>
              </a:ext>
            </a:extLst>
          </p:cNvPr>
          <p:cNvSpPr/>
          <p:nvPr/>
        </p:nvSpPr>
        <p:spPr>
          <a:xfrm>
            <a:off x="7184307" y="1588542"/>
            <a:ext cx="1980029" cy="645818"/>
          </a:xfrm>
          <a:prstGeom prst="rect">
            <a:avLst/>
          </a:prstGeom>
        </p:spPr>
        <p:txBody>
          <a:bodyPr wrap="none">
            <a:spAutoFit/>
          </a:bodyPr>
          <a:lstStyle/>
          <a:p>
            <a:pPr>
              <a:lnSpc>
                <a:spcPct val="120000"/>
              </a:lnSpc>
              <a:spcBef>
                <a:spcPts val="600"/>
              </a:spcBef>
            </a:pPr>
            <a:r>
              <a:rPr kumimoji="1" lang="zh-CN" altLang="en-US" sz="3200" spc="300" dirty="0">
                <a:latin typeface="Times New Roman" panose="02020603050405020304" pitchFamily="18" charset="0"/>
                <a:ea typeface="华文楷体" panose="02010600040101010101" pitchFamily="2" charset="-122"/>
                <a:cs typeface="Times New Roman" panose="02020603050405020304" pitchFamily="18" charset="0"/>
              </a:rPr>
              <a:t>真空中：</a:t>
            </a:r>
            <a:endParaRPr kumimoji="1" lang="en-US" altLang="zh-CN" sz="3200" spc="3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94ED690A-FA9E-9111-68CF-3811EB8D3E68}"/>
              </a:ext>
            </a:extLst>
          </p:cNvPr>
          <p:cNvSpPr/>
          <p:nvPr/>
        </p:nvSpPr>
        <p:spPr>
          <a:xfrm>
            <a:off x="7204627" y="4217272"/>
            <a:ext cx="2428870" cy="645818"/>
          </a:xfrm>
          <a:prstGeom prst="rect">
            <a:avLst/>
          </a:prstGeom>
        </p:spPr>
        <p:txBody>
          <a:bodyPr wrap="none">
            <a:spAutoFit/>
          </a:bodyPr>
          <a:lstStyle/>
          <a:p>
            <a:pPr>
              <a:lnSpc>
                <a:spcPct val="120000"/>
              </a:lnSpc>
              <a:spcBef>
                <a:spcPts val="600"/>
              </a:spcBef>
            </a:pPr>
            <a:r>
              <a:rPr kumimoji="1" lang="zh-CN" altLang="en-US" sz="3200" spc="300" dirty="0">
                <a:latin typeface="Times New Roman" panose="02020603050405020304" pitchFamily="18" charset="0"/>
                <a:ea typeface="华文楷体" panose="02010600040101010101" pitchFamily="2" charset="-122"/>
                <a:cs typeface="Times New Roman" panose="02020603050405020304" pitchFamily="18" charset="0"/>
              </a:rPr>
              <a:t>有磁介质：</a:t>
            </a:r>
            <a:endParaRPr kumimoji="1" lang="en-US" altLang="zh-CN" sz="3200" spc="3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7" name="Picture 4" descr="通电直导线周围磁场图(第1页) - 要无忧健康图库">
            <a:extLst>
              <a:ext uri="{FF2B5EF4-FFF2-40B4-BE49-F238E27FC236}">
                <a16:creationId xmlns:a16="http://schemas.microsoft.com/office/drawing/2014/main" id="{34FE99BD-03D4-1019-9509-565E60AF9A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110" y="1935976"/>
            <a:ext cx="2229394" cy="38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48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8C2B31D-6590-4FF5-8A1D-E5BDA6006C25}"/>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5" name="Text Box 13">
            <a:extLst>
              <a:ext uri="{FF2B5EF4-FFF2-40B4-BE49-F238E27FC236}">
                <a16:creationId xmlns:a16="http://schemas.microsoft.com/office/drawing/2014/main" id="{AFA0A3EB-F728-4376-B314-3CBC41359D0B}"/>
              </a:ext>
            </a:extLst>
          </p:cNvPr>
          <p:cNvSpPr txBox="1">
            <a:spLocks noChangeArrowheads="1"/>
          </p:cNvSpPr>
          <p:nvPr/>
        </p:nvSpPr>
        <p:spPr bwMode="auto">
          <a:xfrm>
            <a:off x="1818642" y="243966"/>
            <a:ext cx="912513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21</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 章     麦克斯韦方程组和电磁辐射</a:t>
            </a:r>
            <a:endPar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25" name="Rectangle 16">
            <a:hlinkClick r:id="" action="ppaction://noaction"/>
            <a:extLst>
              <a:ext uri="{FF2B5EF4-FFF2-40B4-BE49-F238E27FC236}">
                <a16:creationId xmlns:a16="http://schemas.microsoft.com/office/drawing/2014/main" id="{A0014B31-1C4D-4F7E-80C8-CA7A195F6E13}"/>
              </a:ext>
            </a:extLst>
          </p:cNvPr>
          <p:cNvSpPr>
            <a:spLocks noChangeArrowheads="1"/>
          </p:cNvSpPr>
          <p:nvPr/>
        </p:nvSpPr>
        <p:spPr bwMode="auto">
          <a:xfrm>
            <a:off x="5769351" y="1471014"/>
            <a:ext cx="523199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1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麦克斯韦方程组</a:t>
            </a:r>
          </a:p>
        </p:txBody>
      </p:sp>
      <p:sp>
        <p:nvSpPr>
          <p:cNvPr id="27" name="Text Box 18">
            <a:hlinkClick r:id="" action="ppaction://noaction"/>
            <a:extLst>
              <a:ext uri="{FF2B5EF4-FFF2-40B4-BE49-F238E27FC236}">
                <a16:creationId xmlns:a16="http://schemas.microsoft.com/office/drawing/2014/main" id="{48306CEC-1F29-4EDE-9B28-0F8312ACF28D}"/>
              </a:ext>
            </a:extLst>
          </p:cNvPr>
          <p:cNvSpPr txBox="1">
            <a:spLocks noChangeArrowheads="1"/>
          </p:cNvSpPr>
          <p:nvPr/>
        </p:nvSpPr>
        <p:spPr bwMode="auto">
          <a:xfrm>
            <a:off x="5769352" y="2766414"/>
            <a:ext cx="5538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3*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电磁波的能量</a:t>
            </a:r>
          </a:p>
        </p:txBody>
      </p:sp>
      <p:sp>
        <p:nvSpPr>
          <p:cNvPr id="28" name="Text Box 19">
            <a:hlinkClick r:id="" action="ppaction://noaction"/>
            <a:extLst>
              <a:ext uri="{FF2B5EF4-FFF2-40B4-BE49-F238E27FC236}">
                <a16:creationId xmlns:a16="http://schemas.microsoft.com/office/drawing/2014/main" id="{ECF120C4-50E2-4E26-B5D3-6D094BEFC2F5}"/>
              </a:ext>
            </a:extLst>
          </p:cNvPr>
          <p:cNvSpPr txBox="1">
            <a:spLocks noChangeArrowheads="1"/>
          </p:cNvSpPr>
          <p:nvPr/>
        </p:nvSpPr>
        <p:spPr bwMode="auto">
          <a:xfrm>
            <a:off x="5759828" y="3415700"/>
            <a:ext cx="24416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4*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同步辐射</a:t>
            </a:r>
          </a:p>
        </p:txBody>
      </p:sp>
      <p:sp>
        <p:nvSpPr>
          <p:cNvPr id="32" name="Rectangle 16">
            <a:hlinkClick r:id="" action="ppaction://noaction"/>
            <a:extLst>
              <a:ext uri="{FF2B5EF4-FFF2-40B4-BE49-F238E27FC236}">
                <a16:creationId xmlns:a16="http://schemas.microsoft.com/office/drawing/2014/main" id="{690E4B17-0680-49D8-B393-01C57F5D0C97}"/>
              </a:ext>
            </a:extLst>
          </p:cNvPr>
          <p:cNvSpPr>
            <a:spLocks noChangeArrowheads="1"/>
          </p:cNvSpPr>
          <p:nvPr/>
        </p:nvSpPr>
        <p:spPr bwMode="auto">
          <a:xfrm>
            <a:off x="5769353" y="2118714"/>
            <a:ext cx="6154243"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2*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加速电荷的电磁场</a:t>
            </a:r>
          </a:p>
        </p:txBody>
      </p:sp>
      <p:sp>
        <p:nvSpPr>
          <p:cNvPr id="35" name="Rectangle 20">
            <a:hlinkClick r:id="" action="ppaction://noaction"/>
            <a:extLst>
              <a:ext uri="{FF2B5EF4-FFF2-40B4-BE49-F238E27FC236}">
                <a16:creationId xmlns:a16="http://schemas.microsoft.com/office/drawing/2014/main" id="{0264BFE7-0025-4536-83F4-1ECBBD36DCC6}"/>
              </a:ext>
            </a:extLst>
          </p:cNvPr>
          <p:cNvSpPr>
            <a:spLocks noChangeArrowheads="1"/>
          </p:cNvSpPr>
          <p:nvPr/>
        </p:nvSpPr>
        <p:spPr bwMode="auto">
          <a:xfrm>
            <a:off x="5768351" y="4079504"/>
            <a:ext cx="628348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5*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电磁波的动量</a:t>
            </a:r>
          </a:p>
        </p:txBody>
      </p:sp>
      <p:sp>
        <p:nvSpPr>
          <p:cNvPr id="2" name="Rectangle 20">
            <a:hlinkClick r:id="" action="ppaction://noaction"/>
            <a:extLst>
              <a:ext uri="{FF2B5EF4-FFF2-40B4-BE49-F238E27FC236}">
                <a16:creationId xmlns:a16="http://schemas.microsoft.com/office/drawing/2014/main" id="{D7118994-66C2-EFBA-0AE9-420204C071D4}"/>
              </a:ext>
            </a:extLst>
          </p:cNvPr>
          <p:cNvSpPr>
            <a:spLocks noChangeArrowheads="1"/>
          </p:cNvSpPr>
          <p:nvPr/>
        </p:nvSpPr>
        <p:spPr bwMode="auto">
          <a:xfrm>
            <a:off x="5759828" y="4774325"/>
            <a:ext cx="628348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6*   A-B</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效应</a:t>
            </a:r>
          </a:p>
        </p:txBody>
      </p:sp>
      <p:pic>
        <p:nvPicPr>
          <p:cNvPr id="2050" name="Picture 2" descr="电磁波的发现，真的很不容易-电子工程专辑">
            <a:extLst>
              <a:ext uri="{FF2B5EF4-FFF2-40B4-BE49-F238E27FC236}">
                <a16:creationId xmlns:a16="http://schemas.microsoft.com/office/drawing/2014/main" id="{E2CCC377-B8A6-7A72-536D-56FDF0059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814" y="1330186"/>
            <a:ext cx="4198928" cy="4171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07320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058E66A-0046-4CAA-AB91-D7CC64E55648}"/>
                  </a:ext>
                </a:extLst>
              </p:cNvPr>
              <p:cNvSpPr/>
              <p:nvPr/>
            </p:nvSpPr>
            <p:spPr>
              <a:xfrm>
                <a:off x="891675" y="2997254"/>
                <a:ext cx="3084275" cy="152952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2800" i="1" smtClean="0">
                              <a:solidFill>
                                <a:schemeClr val="tx1"/>
                              </a:solidFill>
                              <a:latin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rPr>
                            <m:t>𝑆</m:t>
                          </m:r>
                        </m:sub>
                        <m:sup/>
                        <m:e>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𝐵</m:t>
                              </m:r>
                            </m:e>
                          </m:acc>
                          <m:r>
                            <m:rPr>
                              <m:brk m:alnAt="23"/>
                            </m:rPr>
                            <a:rPr lang="zh-CN" altLang="en-US"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𝑑</m:t>
                          </m:r>
                          <m:acc>
                            <m:accPr>
                              <m:chr m:val="⃗"/>
                              <m:ctrlPr>
                                <a:rPr lang="zh-CN" altLang="en-US"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𝑆</m:t>
                              </m:r>
                            </m:e>
                          </m:acc>
                        </m:e>
                      </m:nary>
                      <m:r>
                        <a:rPr lang="en-US" altLang="zh-CN" sz="2800" b="0" i="1">
                          <a:solidFill>
                            <a:schemeClr val="tx1"/>
                          </a:solidFill>
                          <a:latin typeface="Cambria Math" panose="02040503050406030204" pitchFamily="18" charset="0"/>
                        </a:rPr>
                        <m:t>=0</m:t>
                      </m:r>
                    </m:oMath>
                  </m:oMathPara>
                </a14:m>
                <a:endParaRPr lang="en-US" altLang="zh-CN"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A058E66A-0046-4CAA-AB91-D7CC64E55648}"/>
                  </a:ext>
                </a:extLst>
              </p:cNvPr>
              <p:cNvSpPr>
                <a:spLocks noRot="1" noChangeAspect="1" noMove="1" noResize="1" noEditPoints="1" noAdjustHandles="1" noChangeArrowheads="1" noChangeShapeType="1" noTextEdit="1"/>
              </p:cNvSpPr>
              <p:nvPr/>
            </p:nvSpPr>
            <p:spPr>
              <a:xfrm>
                <a:off x="891675" y="2997254"/>
                <a:ext cx="3084275" cy="1529521"/>
              </a:xfrm>
              <a:prstGeom prst="rect">
                <a:avLst/>
              </a:prstGeom>
              <a:blipFill>
                <a:blip r:embed="rId2"/>
                <a:stretch>
                  <a:fillRect/>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7038C738-C1E8-42AE-AA55-36591A53C23D}"/>
              </a:ext>
            </a:extLst>
          </p:cNvPr>
          <p:cNvGrpSpPr/>
          <p:nvPr/>
        </p:nvGrpSpPr>
        <p:grpSpPr>
          <a:xfrm>
            <a:off x="843947" y="5308216"/>
            <a:ext cx="5688052" cy="1268617"/>
            <a:chOff x="1028381" y="3858406"/>
            <a:chExt cx="5688052" cy="1268617"/>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409243E-A2E5-4B05-BE5A-7B9792DA023F}"/>
                    </a:ext>
                  </a:extLst>
                </p:cNvPr>
                <p:cNvSpPr/>
                <p:nvPr/>
              </p:nvSpPr>
              <p:spPr>
                <a:xfrm>
                  <a:off x="1028381" y="3862389"/>
                  <a:ext cx="2032319" cy="109863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sz="2800" i="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𝑙</m:t>
                            </m:r>
                          </m:sub>
                          <m:sup/>
                          <m:e>
                            <m:acc>
                              <m:acc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𝐵</m:t>
                                </m:r>
                              </m:e>
                            </m:acc>
                          </m:e>
                        </m:nary>
                        <m:r>
                          <a:rPr kumimoji="1" lang="en-US" altLang="zh-CN" sz="2800" b="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CN" sz="2800" b="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𝑑</m:t>
                        </m:r>
                        <m:acc>
                          <m:accPr>
                            <m:chr m:val="⃗"/>
                            <m:ctrlPr>
                              <a:rPr kumimoji="1" lang="en-US" altLang="zh-CN" sz="2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𝑙</m:t>
                            </m:r>
                          </m:e>
                        </m:acc>
                      </m:oMath>
                    </m:oMathPara>
                  </a14:m>
                  <a:endParaRPr kumimoji="1" lang="en-US" altLang="zh-CN" sz="2800" dirty="0">
                    <a:solidFill>
                      <a:schemeClr val="tx1"/>
                    </a:solidFill>
                    <a:ea typeface="华文楷体" panose="02010600040101010101" pitchFamily="2"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1409243E-A2E5-4B05-BE5A-7B9792DA023F}"/>
                    </a:ext>
                  </a:extLst>
                </p:cNvPr>
                <p:cNvSpPr>
                  <a:spLocks noRot="1" noChangeAspect="1" noMove="1" noResize="1" noEditPoints="1" noAdjustHandles="1" noChangeArrowheads="1" noChangeShapeType="1" noTextEdit="1"/>
                </p:cNvSpPr>
                <p:nvPr/>
              </p:nvSpPr>
              <p:spPr>
                <a:xfrm>
                  <a:off x="1028381" y="3862389"/>
                  <a:ext cx="2032319" cy="109863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D4A479F-E172-43A0-A0D6-4F84DC172975}"/>
                    </a:ext>
                  </a:extLst>
                </p:cNvPr>
                <p:cNvSpPr/>
                <p:nvPr/>
              </p:nvSpPr>
              <p:spPr>
                <a:xfrm>
                  <a:off x="2599729" y="3858406"/>
                  <a:ext cx="4116704" cy="1268617"/>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kumimoji="1" lang="en-US" altLang="zh-CN" sz="2800" b="0" i="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0</m:t>
                            </m:r>
                          </m:sub>
                        </m:sSub>
                        <m:nary>
                          <m:naryPr>
                            <m:chr m:val="∬"/>
                            <m:limLoc m:val="undOvr"/>
                            <m:subHide m:val="on"/>
                            <m:supHide m:val="on"/>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naryPr>
                          <m:sub/>
                          <m:sup/>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𝐽</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𝑐</m:t>
                                </m:r>
                              </m:sub>
                            </m:s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𝜀</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0</m:t>
                                </m:r>
                              </m:sub>
                            </m:sSub>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𝐸</m:t>
                                    </m:r>
                                  </m:e>
                                </m:acc>
                              </m:num>
                              <m:den>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𝑡</m:t>
                                </m:r>
                              </m:den>
                            </m:f>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m:rPr>
                                <m:brk m:alnAt="15"/>
                              </m:rP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acc>
                              <m:acc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𝑆</m:t>
                                </m:r>
                              </m:e>
                            </m:acc>
                          </m:e>
                        </m:nary>
                      </m:oMath>
                    </m:oMathPara>
                  </a14:m>
                  <a:endParaRPr lang="en-US" sz="2800" dirty="0">
                    <a:solidFill>
                      <a:schemeClr val="tx1"/>
                    </a:solidFill>
                  </a:endParaRPr>
                </a:p>
              </p:txBody>
            </p:sp>
          </mc:Choice>
          <mc:Fallback xmlns="">
            <p:sp>
              <p:nvSpPr>
                <p:cNvPr id="6" name="矩形 5">
                  <a:extLst>
                    <a:ext uri="{FF2B5EF4-FFF2-40B4-BE49-F238E27FC236}">
                      <a16:creationId xmlns:a16="http://schemas.microsoft.com/office/drawing/2014/main" id="{8D4A479F-E172-43A0-A0D6-4F84DC172975}"/>
                    </a:ext>
                  </a:extLst>
                </p:cNvPr>
                <p:cNvSpPr>
                  <a:spLocks noRot="1" noChangeAspect="1" noMove="1" noResize="1" noEditPoints="1" noAdjustHandles="1" noChangeArrowheads="1" noChangeShapeType="1" noTextEdit="1"/>
                </p:cNvSpPr>
                <p:nvPr/>
              </p:nvSpPr>
              <p:spPr>
                <a:xfrm>
                  <a:off x="2599729" y="3858406"/>
                  <a:ext cx="4116704" cy="1268617"/>
                </a:xfrm>
                <a:prstGeom prst="rect">
                  <a:avLst/>
                </a:prstGeom>
                <a:blipFill>
                  <a:blip r:embed="rId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9E0800C-D4D4-4208-A063-F7983A0A9E37}"/>
                  </a:ext>
                </a:extLst>
              </p:cNvPr>
              <p:cNvSpPr/>
              <p:nvPr/>
            </p:nvSpPr>
            <p:spPr>
              <a:xfrm>
                <a:off x="589348" y="1435198"/>
                <a:ext cx="3850199" cy="1529521"/>
              </a:xfrm>
              <a:prstGeom prst="rect">
                <a:avLst/>
              </a:prstGeom>
            </p:spPr>
            <p:txBody>
              <a:bodyPr wrap="square">
                <a:spAutoFit/>
              </a:bodyPr>
              <a:lstStyle/>
              <a:p>
                <a:pPr>
                  <a:spcBef>
                    <a:spcPct val="50000"/>
                  </a:spcBef>
                  <a:defRPr/>
                </a:pPr>
                <a:endParaRPr lang="zh-CN" altLang="en-US" sz="2800" kern="0" dirty="0">
                  <a:solidFill>
                    <a:schemeClr val="tx1"/>
                  </a:solidFill>
                </a:endParaRPr>
              </a:p>
              <a:p>
                <a:pPr>
                  <a:spcBef>
                    <a:spcPct val="50000"/>
                  </a:spcBef>
                </a:pPr>
                <a14:m>
                  <m:oMathPara xmlns:m="http://schemas.openxmlformats.org/officeDocument/2006/math">
                    <m:oMathParaPr>
                      <m:jc m:val="centerGroup"/>
                    </m:oMathParaPr>
                    <m:oMath xmlns:m="http://schemas.openxmlformats.org/officeDocument/2006/math">
                      <m:nary>
                        <m:naryPr>
                          <m:chr m:val="∯"/>
                          <m:ctrlPr>
                            <a:rPr lang="en-US" altLang="zh-CN" sz="2800" i="1">
                              <a:solidFill>
                                <a:schemeClr val="tx1"/>
                              </a:solidFill>
                              <a:latin typeface="Cambria Math" panose="02040503050406030204" pitchFamily="18" charset="0"/>
                              <a:ea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ea typeface="Cambria Math" panose="02040503050406030204" pitchFamily="18" charset="0"/>
                            </a:rPr>
                            <m:t>𝑆</m:t>
                          </m:r>
                        </m:sub>
                        <m:sup/>
                        <m:e>
                          <m:acc>
                            <m:accPr>
                              <m:chr m:val="⃗"/>
                              <m:ctrlPr>
                                <a:rPr lang="en-US" altLang="zh-CN" sz="2800" i="1">
                                  <a:solidFill>
                                    <a:schemeClr val="tx1"/>
                                  </a:solidFill>
                                  <a:latin typeface="Cambria Math" panose="02040503050406030204" pitchFamily="18" charset="0"/>
                                  <a:ea typeface="Cambria Math" panose="02040503050406030204" pitchFamily="18" charset="0"/>
                                </a:rPr>
                              </m:ctrlPr>
                            </m:accPr>
                            <m:e>
                              <m:r>
                                <a:rPr lang="en-US" altLang="zh-CN" sz="2800" b="0" i="1">
                                  <a:solidFill>
                                    <a:schemeClr val="tx1"/>
                                  </a:solidFill>
                                  <a:latin typeface="Cambria Math" panose="02040503050406030204" pitchFamily="18" charset="0"/>
                                  <a:ea typeface="Cambria Math" panose="02040503050406030204" pitchFamily="18" charset="0"/>
                                </a:rPr>
                                <m:t>𝐸</m:t>
                              </m:r>
                            </m:e>
                          </m:acc>
                          <m:r>
                            <a:rPr lang="en-US" altLang="zh-CN" sz="2800" b="0" i="1">
                              <a:solidFill>
                                <a:schemeClr val="tx1"/>
                              </a:solidFill>
                              <a:latin typeface="Cambria Math" panose="02040503050406030204" pitchFamily="18" charset="0"/>
                              <a:ea typeface="Cambria Math" panose="02040503050406030204" pitchFamily="18" charset="0"/>
                            </a:rPr>
                            <m:t>∙</m:t>
                          </m:r>
                          <m:r>
                            <a:rPr lang="en-US" altLang="zh-CN" sz="2800" b="0" i="1">
                              <a:solidFill>
                                <a:schemeClr val="tx1"/>
                              </a:solidFill>
                              <a:latin typeface="Cambria Math" panose="02040503050406030204" pitchFamily="18" charset="0"/>
                              <a:ea typeface="Cambria Math" panose="02040503050406030204" pitchFamily="18" charset="0"/>
                            </a:rPr>
                            <m:t>𝑑</m:t>
                          </m:r>
                          <m:acc>
                            <m:accPr>
                              <m:chr m:val="⃗"/>
                              <m:ctrlPr>
                                <a:rPr lang="en-US" altLang="zh-CN" sz="2800" i="1">
                                  <a:solidFill>
                                    <a:schemeClr val="tx1"/>
                                  </a:solidFill>
                                  <a:latin typeface="Cambria Math" panose="02040503050406030204" pitchFamily="18" charset="0"/>
                                  <a:ea typeface="Cambria Math" panose="02040503050406030204" pitchFamily="18" charset="0"/>
                                </a:rPr>
                              </m:ctrlPr>
                            </m:accPr>
                            <m:e>
                              <m:r>
                                <a:rPr lang="en-US" altLang="zh-CN" sz="2800" b="0" i="1">
                                  <a:solidFill>
                                    <a:schemeClr val="tx1"/>
                                  </a:solidFill>
                                  <a:latin typeface="Cambria Math" panose="02040503050406030204" pitchFamily="18" charset="0"/>
                                  <a:ea typeface="Cambria Math" panose="02040503050406030204" pitchFamily="18" charset="0"/>
                                </a:rPr>
                                <m:t>𝑆</m:t>
                              </m:r>
                            </m:e>
                          </m:acc>
                        </m:e>
                      </m:nary>
                      <m:r>
                        <a:rPr lang="en-US" altLang="zh-CN" sz="2800" b="0" i="1">
                          <a:solidFill>
                            <a:schemeClr val="tx1"/>
                          </a:solidFill>
                          <a:latin typeface="Cambria Math" panose="02040503050406030204" pitchFamily="18" charset="0"/>
                          <a:ea typeface="Cambria Math" panose="02040503050406030204" pitchFamily="18" charset="0"/>
                        </a:rPr>
                        <m:t>=</m:t>
                      </m:r>
                      <m:f>
                        <m:fPr>
                          <m:ctrlPr>
                            <a:rPr lang="en-US" altLang="zh-CN" sz="2800" i="1">
                              <a:solidFill>
                                <a:schemeClr val="tx1"/>
                              </a:solidFill>
                              <a:latin typeface="Cambria Math" panose="02040503050406030204" pitchFamily="18" charset="0"/>
                              <a:ea typeface="Cambria Math" panose="02040503050406030204" pitchFamily="18" charset="0"/>
                            </a:rPr>
                          </m:ctrlPr>
                        </m:fPr>
                        <m:num>
                          <m:r>
                            <a:rPr lang="en-US" altLang="zh-CN" sz="2800" b="0" i="1" smtClean="0">
                              <a:solidFill>
                                <a:schemeClr val="tx1"/>
                              </a:solidFill>
                              <a:latin typeface="Cambria Math" panose="02040503050406030204" pitchFamily="18" charset="0"/>
                              <a:ea typeface="Cambria Math" panose="02040503050406030204" pitchFamily="18" charset="0"/>
                            </a:rPr>
                            <m:t>𝑞</m:t>
                          </m:r>
                        </m:num>
                        <m:den>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𝜀</m:t>
                              </m:r>
                            </m:e>
                            <m:sub>
                              <m:r>
                                <a:rPr lang="en-US" altLang="zh-CN" sz="2800" b="0" i="1">
                                  <a:solidFill>
                                    <a:schemeClr val="tx1"/>
                                  </a:solidFill>
                                  <a:latin typeface="Cambria Math" panose="02040503050406030204" pitchFamily="18" charset="0"/>
                                  <a:ea typeface="Cambria Math" panose="02040503050406030204" pitchFamily="18" charset="0"/>
                                </a:rPr>
                                <m:t>0</m:t>
                              </m:r>
                            </m:sub>
                          </m:sSub>
                        </m:den>
                      </m:f>
                    </m:oMath>
                  </m:oMathPara>
                </a14:m>
                <a:endParaRPr lang="en-US" sz="2800" dirty="0">
                  <a:solidFill>
                    <a:schemeClr val="tx1"/>
                  </a:solidFill>
                </a:endParaRPr>
              </a:p>
            </p:txBody>
          </p:sp>
        </mc:Choice>
        <mc:Fallback xmlns="">
          <p:sp>
            <p:nvSpPr>
              <p:cNvPr id="9" name="矩形 8">
                <a:extLst>
                  <a:ext uri="{FF2B5EF4-FFF2-40B4-BE49-F238E27FC236}">
                    <a16:creationId xmlns:a16="http://schemas.microsoft.com/office/drawing/2014/main" id="{A9E0800C-D4D4-4208-A063-F7983A0A9E37}"/>
                  </a:ext>
                </a:extLst>
              </p:cNvPr>
              <p:cNvSpPr>
                <a:spLocks noRot="1" noChangeAspect="1" noMove="1" noResize="1" noEditPoints="1" noAdjustHandles="1" noChangeArrowheads="1" noChangeShapeType="1" noTextEdit="1"/>
              </p:cNvSpPr>
              <p:nvPr/>
            </p:nvSpPr>
            <p:spPr>
              <a:xfrm>
                <a:off x="589348" y="1435198"/>
                <a:ext cx="3850199" cy="152952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23">
                <a:extLst>
                  <a:ext uri="{FF2B5EF4-FFF2-40B4-BE49-F238E27FC236}">
                    <a16:creationId xmlns:a16="http://schemas.microsoft.com/office/drawing/2014/main" id="{6E291469-B35B-48E2-A46F-DFF532BE2321}"/>
                  </a:ext>
                </a:extLst>
              </p:cNvPr>
              <p:cNvSpPr txBox="1"/>
              <p:nvPr/>
            </p:nvSpPr>
            <p:spPr bwMode="auto">
              <a:xfrm>
                <a:off x="1140530" y="4023851"/>
                <a:ext cx="1979613" cy="10429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2800" i="1" smtClean="0">
                              <a:solidFill>
                                <a:schemeClr val="tx1"/>
                              </a:solidFill>
                              <a:latin typeface="Cambria Math" panose="02040503050406030204" pitchFamily="18" charset="0"/>
                            </a:rPr>
                          </m:ctrlPr>
                        </m:naryPr>
                        <m:sub>
                          <m:r>
                            <a:rPr lang="en-US" sz="2800" b="0" i="1">
                              <a:solidFill>
                                <a:schemeClr val="tx1"/>
                              </a:solidFill>
                              <a:latin typeface="Cambria Math" panose="02040503050406030204" pitchFamily="18" charset="0"/>
                            </a:rPr>
                            <m:t>𝐿</m:t>
                          </m:r>
                        </m:sub>
                        <m:sup/>
                        <m:e>
                          <m:acc>
                            <m:accPr>
                              <m:chr m:val="⃗"/>
                              <m:ctrlPr>
                                <a:rPr lang="en-US" sz="2800" i="1">
                                  <a:solidFill>
                                    <a:schemeClr val="tx1"/>
                                  </a:solidFill>
                                  <a:latin typeface="Cambria Math" panose="02040503050406030204" pitchFamily="18" charset="0"/>
                                </a:rPr>
                              </m:ctrlPr>
                            </m:accPr>
                            <m:e>
                              <m:r>
                                <a:rPr lang="en-US" sz="2800" b="0" i="1">
                                  <a:solidFill>
                                    <a:schemeClr val="tx1"/>
                                  </a:solidFill>
                                  <a:latin typeface="Cambria Math" panose="02040503050406030204" pitchFamily="18" charset="0"/>
                                </a:rPr>
                                <m:t>𝐸</m:t>
                              </m:r>
                            </m:e>
                          </m:acc>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𝑑</m:t>
                          </m:r>
                          <m:acc>
                            <m:accPr>
                              <m:chr m:val="⃗"/>
                              <m:ctrlPr>
                                <a:rPr lang="en-US" sz="2800" i="1">
                                  <a:solidFill>
                                    <a:schemeClr val="tx1"/>
                                  </a:solidFill>
                                  <a:latin typeface="Cambria Math" panose="02040503050406030204" pitchFamily="18" charset="0"/>
                                </a:rPr>
                              </m:ctrlPr>
                            </m:accPr>
                            <m:e>
                              <m:r>
                                <a:rPr lang="en-US" sz="2800" b="0" i="1">
                                  <a:solidFill>
                                    <a:schemeClr val="tx1"/>
                                  </a:solidFill>
                                  <a:latin typeface="Cambria Math" panose="02040503050406030204" pitchFamily="18" charset="0"/>
                                </a:rPr>
                                <m:t>𝑙</m:t>
                              </m:r>
                            </m:e>
                          </m:acc>
                          <m:r>
                            <a:rPr lang="en-US" sz="2800" b="0" i="1">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m:t>
                          </m:r>
                          <m:nary>
                            <m:naryPr>
                              <m:chr m:val="∬"/>
                              <m:limLoc m:val="undOvr"/>
                              <m:subHide m:val="on"/>
                              <m:supHide m:val="on"/>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naryPr>
                            <m:sub/>
                            <m:sup/>
                            <m:e>
                              <m:f>
                                <m:fPr>
                                  <m:ctrlPr>
                                    <a:rPr lang="zh-CN" altLang="en-US"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m:t>
                                  </m:r>
                                  <m:acc>
                                    <m:accPr>
                                      <m:chr m:val="⃗"/>
                                      <m:ctrlPr>
                                        <a:rPr lang="zh-CN" altLang="en-US" sz="2800" i="1">
                                          <a:solidFill>
                                            <a:schemeClr val="tx1"/>
                                          </a:solidFill>
                                          <a:latin typeface="Cambria Math" panose="02040503050406030204" pitchFamily="18" charset="0"/>
                                        </a:rPr>
                                      </m:ctrlPr>
                                    </m:accPr>
                                    <m:e>
                                      <m:r>
                                        <a:rPr lang="zh-CN" altLang="en-US" sz="2800" b="0" i="1">
                                          <a:solidFill>
                                            <a:schemeClr val="tx1"/>
                                          </a:solidFill>
                                          <a:latin typeface="Cambria Math" panose="02040503050406030204" pitchFamily="18" charset="0"/>
                                        </a:rPr>
                                        <m:t>𝐵</m:t>
                                      </m:r>
                                    </m:e>
                                  </m:acc>
                                </m:num>
                                <m:den>
                                  <m:r>
                                    <a:rPr lang="zh-CN" altLang="en-US" sz="2800" b="0" i="1">
                                      <a:solidFill>
                                        <a:schemeClr val="tx1"/>
                                      </a:solidFill>
                                      <a:latin typeface="Cambria Math" panose="02040503050406030204" pitchFamily="18" charset="0"/>
                                    </a:rPr>
                                    <m:t>𝜕</m:t>
                                  </m:r>
                                  <m:r>
                                    <a:rPr lang="zh-CN" altLang="en-US" sz="2800" b="0" i="1">
                                      <a:solidFill>
                                        <a:schemeClr val="tx1"/>
                                      </a:solidFill>
                                      <a:latin typeface="Cambria Math" panose="02040503050406030204" pitchFamily="18" charset="0"/>
                                    </a:rPr>
                                    <m:t>𝑡</m:t>
                                  </m:r>
                                </m:den>
                              </m:f>
                              <m:r>
                                <m:rPr>
                                  <m:brk m:alnAt="15"/>
                                </m:rP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acc>
                                <m:acc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𝑆</m:t>
                                  </m:r>
                                </m:e>
                              </m:acc>
                            </m:e>
                          </m:nary>
                        </m:e>
                      </m:nary>
                    </m:oMath>
                  </m:oMathPara>
                </a14:m>
                <a:endParaRPr lang="en-US" sz="2800" dirty="0">
                  <a:solidFill>
                    <a:schemeClr val="tx1"/>
                  </a:solidFill>
                </a:endParaRPr>
              </a:p>
            </p:txBody>
          </p:sp>
        </mc:Choice>
        <mc:Fallback xmlns="">
          <p:sp>
            <p:nvSpPr>
              <p:cNvPr id="10" name="Object 23">
                <a:extLst>
                  <a:ext uri="{FF2B5EF4-FFF2-40B4-BE49-F238E27FC236}">
                    <a16:creationId xmlns:a16="http://schemas.microsoft.com/office/drawing/2014/main" id="{6E291469-B35B-48E2-A46F-DFF532BE2321}"/>
                  </a:ext>
                </a:extLst>
              </p:cNvPr>
              <p:cNvSpPr txBox="1">
                <a:spLocks noRot="1" noChangeAspect="1" noMove="1" noResize="1" noEditPoints="1" noAdjustHandles="1" noChangeArrowheads="1" noChangeShapeType="1" noTextEdit="1"/>
              </p:cNvSpPr>
              <p:nvPr/>
            </p:nvSpPr>
            <p:spPr bwMode="auto">
              <a:xfrm>
                <a:off x="1140530" y="4023851"/>
                <a:ext cx="1979613" cy="1042988"/>
              </a:xfrm>
              <a:prstGeom prst="rect">
                <a:avLst/>
              </a:prstGeom>
              <a:blipFill>
                <a:blip r:embed="rId6"/>
                <a:stretch>
                  <a:fillRect r="-85538" b="-16374"/>
                </a:stretch>
              </a:blipFill>
              <a:ln>
                <a:noFill/>
              </a:ln>
              <a:effectLst/>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01E401A9-207B-48D4-83E3-0B588C5EC4F1}"/>
              </a:ext>
            </a:extLst>
          </p:cNvPr>
          <p:cNvSpPr/>
          <p:nvPr/>
        </p:nvSpPr>
        <p:spPr>
          <a:xfrm>
            <a:off x="6746731" y="1273668"/>
            <a:ext cx="2146742" cy="584775"/>
          </a:xfrm>
          <a:prstGeom prst="rect">
            <a:avLst/>
          </a:prstGeom>
        </p:spPr>
        <p:txBody>
          <a:bodyPr wrap="none">
            <a:spAutoFit/>
          </a:bodyPr>
          <a:lstStyle/>
          <a:p>
            <a:r>
              <a:rPr kumimoji="1" lang="en-US" altLang="zh-CN" sz="3200" b="1" dirty="0">
                <a:latin typeface="华文楷体" panose="02010600040101010101" pitchFamily="2" charset="-122"/>
                <a:ea typeface="华文楷体" panose="02010600040101010101" pitchFamily="2" charset="-122"/>
              </a:rPr>
              <a:t>- </a:t>
            </a:r>
            <a:r>
              <a:rPr kumimoji="1" lang="zh-CN" altLang="en-US" sz="3200" b="1" dirty="0">
                <a:latin typeface="华文楷体" panose="02010600040101010101" pitchFamily="2" charset="-122"/>
                <a:ea typeface="华文楷体" panose="02010600040101010101" pitchFamily="2" charset="-122"/>
              </a:rPr>
              <a:t>有介质时</a:t>
            </a:r>
            <a:r>
              <a:rPr kumimoji="1" lang="en-US" altLang="zh-CN" sz="3200" b="1" dirty="0">
                <a:latin typeface="华文楷体" panose="02010600040101010101" pitchFamily="2" charset="-122"/>
                <a:ea typeface="华文楷体" panose="02010600040101010101" pitchFamily="2" charset="-122"/>
              </a:rPr>
              <a:t>:</a:t>
            </a:r>
            <a:endParaRPr lang="en-US" sz="3200" b="1" dirty="0"/>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688ABB1D-B643-46F3-A49B-35C7699B4FF0}"/>
                  </a:ext>
                </a:extLst>
              </p:cNvPr>
              <p:cNvSpPr/>
              <p:nvPr/>
            </p:nvSpPr>
            <p:spPr>
              <a:xfrm>
                <a:off x="5720031" y="1647811"/>
                <a:ext cx="6011827" cy="1376852"/>
              </a:xfrm>
              <a:prstGeom prst="rect">
                <a:avLst/>
              </a:prstGeom>
            </p:spPr>
            <p:txBody>
              <a:bodyPr wrap="square">
                <a:spAutoFit/>
              </a:bodyPr>
              <a:lstStyle/>
              <a:p>
                <a:pPr lvl="0">
                  <a:lnSpc>
                    <a:spcPct val="120000"/>
                  </a:lnSpc>
                  <a:spcBef>
                    <a:spcPts val="600"/>
                  </a:spcBef>
                  <a:spcAft>
                    <a:spcPts val="600"/>
                  </a:spcAft>
                  <a:defRPr/>
                </a:pPr>
                <a14:m>
                  <m:oMathPara xmlns:m="http://schemas.openxmlformats.org/officeDocument/2006/math">
                    <m:oMathParaPr>
                      <m:jc m:val="centerGroup"/>
                    </m:oMathParaPr>
                    <m:oMath xmlns:m="http://schemas.openxmlformats.org/officeDocument/2006/math">
                      <m:nary>
                        <m:naryPr>
                          <m:chr m:val="∯"/>
                          <m:ctrlPr>
                            <a:rPr lang="zh-CN" altLang="en-US" sz="2800" i="1" smtClean="0">
                              <a:solidFill>
                                <a:schemeClr val="tx1"/>
                              </a:solidFill>
                              <a:latin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rPr>
                            <m:t>𝑆</m:t>
                          </m:r>
                        </m:sub>
                        <m:sup/>
                        <m:e>
                          <m:acc>
                            <m:accPr>
                              <m:chr m:val="⃗"/>
                              <m:ctrlPr>
                                <a:rPr kumimoji="1" lang="en-US" altLang="zh-CN" sz="2800" i="1">
                                  <a:solidFill>
                                    <a:schemeClr val="tx1"/>
                                  </a:solidFill>
                                  <a:latin typeface="Cambria Math" panose="02040503050406030204" pitchFamily="18" charset="0"/>
                                </a:rPr>
                              </m:ctrlPr>
                            </m:accPr>
                            <m:e>
                              <m:r>
                                <a:rPr kumimoji="1" lang="en-US" altLang="zh-CN" sz="2800" b="0" i="1">
                                  <a:solidFill>
                                    <a:schemeClr val="tx1"/>
                                  </a:solidFill>
                                  <a:latin typeface="Cambria Math" panose="02040503050406030204" pitchFamily="18" charset="0"/>
                                </a:rPr>
                                <m:t>𝐷</m:t>
                              </m:r>
                            </m:e>
                          </m:acc>
                          <m:r>
                            <m:rPr>
                              <m:brk m:alnAt="23"/>
                            </m:rPr>
                            <a:rPr lang="zh-CN" altLang="en-US"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𝑑</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𝑆</m:t>
                              </m:r>
                            </m:e>
                          </m:acc>
                        </m:e>
                      </m:nary>
                      <m:r>
                        <a:rPr lang="en-US" altLang="zh-CN" sz="2800" b="0" i="1">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rPr>
                          </m:ctrlPr>
                        </m:sSubPr>
                        <m:e>
                          <m:r>
                            <a:rPr lang="en-US" altLang="zh-CN" sz="2800" b="0" i="1">
                              <a:solidFill>
                                <a:schemeClr val="tx1"/>
                              </a:solidFill>
                              <a:latin typeface="Cambria Math" panose="02040503050406030204" pitchFamily="18" charset="0"/>
                            </a:rPr>
                            <m:t>𝑞</m:t>
                          </m:r>
                        </m:e>
                        <m:sub>
                          <m:r>
                            <a:rPr lang="en-US" altLang="zh-CN" sz="2800" b="0" i="1">
                              <a:solidFill>
                                <a:schemeClr val="tx1"/>
                              </a:solidFill>
                              <a:latin typeface="Cambria Math" panose="02040503050406030204" pitchFamily="18" charset="0"/>
                            </a:rPr>
                            <m:t>0</m:t>
                          </m:r>
                        </m:sub>
                      </m:sSub>
                    </m:oMath>
                  </m:oMathPara>
                </a14:m>
                <a:endParaRPr lang="en-US" sz="2800" dirty="0">
                  <a:solidFill>
                    <a:schemeClr val="tx1"/>
                  </a:solidFill>
                </a:endParaRPr>
              </a:p>
            </p:txBody>
          </p:sp>
        </mc:Choice>
        <mc:Fallback xmlns="">
          <p:sp>
            <p:nvSpPr>
              <p:cNvPr id="17" name="矩形 16">
                <a:extLst>
                  <a:ext uri="{FF2B5EF4-FFF2-40B4-BE49-F238E27FC236}">
                    <a16:creationId xmlns:a16="http://schemas.microsoft.com/office/drawing/2014/main" id="{688ABB1D-B643-46F3-A49B-35C7699B4FF0}"/>
                  </a:ext>
                </a:extLst>
              </p:cNvPr>
              <p:cNvSpPr>
                <a:spLocks noRot="1" noChangeAspect="1" noMove="1" noResize="1" noEditPoints="1" noAdjustHandles="1" noChangeArrowheads="1" noChangeShapeType="1" noTextEdit="1"/>
              </p:cNvSpPr>
              <p:nvPr/>
            </p:nvSpPr>
            <p:spPr>
              <a:xfrm>
                <a:off x="5720031" y="1647811"/>
                <a:ext cx="6011827" cy="137685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26C62AEC-76A5-48D4-A890-9814D4A52D83}"/>
                  </a:ext>
                </a:extLst>
              </p:cNvPr>
              <p:cNvSpPr/>
              <p:nvPr/>
            </p:nvSpPr>
            <p:spPr>
              <a:xfrm>
                <a:off x="6342322" y="2997254"/>
                <a:ext cx="6670020" cy="1414298"/>
              </a:xfrm>
              <a:prstGeom prst="rect">
                <a:avLst/>
              </a:prstGeom>
            </p:spPr>
            <p:txBody>
              <a:bodyPr wrap="square">
                <a:spAutoFit/>
              </a:bodyPr>
              <a:lstStyle/>
              <a:p>
                <a:pPr>
                  <a:lnSpc>
                    <a:spcPct val="130000"/>
                  </a:lnSpc>
                </a:pPr>
                <a14:m>
                  <m:oMathPara xmlns:m="http://schemas.openxmlformats.org/officeDocument/2006/math">
                    <m:oMathParaPr>
                      <m:jc m:val="centerGroup"/>
                    </m:oMathParaPr>
                    <m:oMath xmlns:m="http://schemas.openxmlformats.org/officeDocument/2006/math">
                      <m:nary>
                        <m:naryPr>
                          <m:chr m:val="∮"/>
                          <m:ctrlPr>
                            <a:rPr kumimoji="1" lang="zh-CN" altLang="en-US" sz="2800" i="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𝐿</m:t>
                          </m:r>
                        </m:sub>
                        <m:sup/>
                        <m:e>
                          <m:acc>
                            <m:acc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e>
                          </m:acc>
                          <m:r>
                            <m:rPr>
                              <m:brk m:alnAt="23"/>
                            </m:rPr>
                            <a:rPr kumimoji="1" lang="zh-CN" altLang="en-US" sz="2800" b="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acc>
                            <m:acc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𝑙</m:t>
                              </m:r>
                            </m:e>
                          </m:acc>
                        </m:e>
                      </m:nary>
                      <m:r>
                        <a:rPr kumimoji="1" lang="en-US" altLang="zh-CN" sz="2800" b="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nary>
                        <m:nary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𝑆</m:t>
                          </m:r>
                        </m:sub>
                        <m:sup/>
                        <m:e>
                          <m:r>
                            <a:rPr lang="en-US" altLang="zh-CN" sz="2800" b="0">
                              <a:solidFill>
                                <a:schemeClr val="tx1"/>
                              </a:solidFill>
                              <a:latin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𝑗</m:t>
                              </m:r>
                              <m:r>
                                <a:rPr lang="en-US" altLang="zh-CN" sz="2800" b="0">
                                  <a:solidFill>
                                    <a:schemeClr val="tx1"/>
                                  </a:solidFill>
                                  <a:latin typeface="Cambria Math" panose="02040503050406030204" pitchFamily="18" charset="0"/>
                                </a:rPr>
                                <m:t> </m:t>
                              </m:r>
                            </m:e>
                          </m:acc>
                          <m:r>
                            <a:rPr lang="en-US" altLang="zh-CN" sz="2800" b="0">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𝐷</m:t>
                                  </m:r>
                                </m:e>
                              </m:acc>
                            </m:num>
                            <m:den>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𝑡</m:t>
                              </m:r>
                            </m:den>
                          </m:f>
                          <m:r>
                            <a:rPr lang="en-US" altLang="zh-CN" sz="2800" b="0">
                              <a:solidFill>
                                <a:schemeClr val="tx1"/>
                              </a:solidFill>
                              <a:latin typeface="Cambria Math" panose="02040503050406030204" pitchFamily="18" charset="0"/>
                            </a:rPr>
                            <m:t>)</m:t>
                          </m:r>
                          <m:r>
                            <a:rPr lang="en-US" altLang="zh-CN" sz="2800" b="0">
                              <a:solidFill>
                                <a:schemeClr val="tx1"/>
                              </a:solidFill>
                              <a:latin typeface="Cambria Math" panose="02040503050406030204" pitchFamily="18" charset="0"/>
                              <a:ea typeface="Cambria Math" panose="02040503050406030204" pitchFamily="18" charset="0"/>
                            </a:rPr>
                            <m:t>∙</m:t>
                          </m:r>
                          <m:r>
                            <a:rPr lang="en-US" altLang="zh-CN" sz="2800" b="0" i="1">
                              <a:solidFill>
                                <a:schemeClr val="tx1"/>
                              </a:solidFill>
                              <a:latin typeface="Cambria Math" panose="02040503050406030204" pitchFamily="18" charset="0"/>
                              <a:ea typeface="Cambria Math" panose="02040503050406030204" pitchFamily="18" charset="0"/>
                            </a:rPr>
                            <m:t>𝑑</m:t>
                          </m:r>
                          <m:acc>
                            <m:accPr>
                              <m:chr m:val="⃗"/>
                              <m:ctrlPr>
                                <a:rPr lang="en-US" altLang="zh-CN" sz="2800" i="1">
                                  <a:solidFill>
                                    <a:schemeClr val="tx1"/>
                                  </a:solidFill>
                                  <a:latin typeface="Cambria Math" panose="02040503050406030204" pitchFamily="18" charset="0"/>
                                  <a:ea typeface="Cambria Math" panose="02040503050406030204" pitchFamily="18" charset="0"/>
                                </a:rPr>
                              </m:ctrlPr>
                            </m:accPr>
                            <m:e>
                              <m:r>
                                <a:rPr lang="en-US" altLang="zh-CN" sz="2800" b="0" i="1">
                                  <a:solidFill>
                                    <a:schemeClr val="tx1"/>
                                  </a:solidFill>
                                  <a:latin typeface="Cambria Math" panose="02040503050406030204" pitchFamily="18" charset="0"/>
                                  <a:ea typeface="Cambria Math" panose="02040503050406030204" pitchFamily="18" charset="0"/>
                                </a:rPr>
                                <m:t>𝑆</m:t>
                              </m:r>
                            </m:e>
                          </m:acc>
                        </m:e>
                      </m:nary>
                    </m:oMath>
                  </m:oMathPara>
                </a14:m>
                <a:endParaRPr kumimoji="1" lang="en-US" altLang="zh-CN" sz="2800" dirty="0">
                  <a:solidFill>
                    <a:schemeClr val="tx1"/>
                  </a:solidFill>
                  <a:ea typeface="华文楷体" panose="02010600040101010101" pitchFamily="2" charset="-122"/>
                  <a:cs typeface="Times New Roman" panose="02020603050405020304" pitchFamily="18" charset="0"/>
                </a:endParaRPr>
              </a:p>
            </p:txBody>
          </p:sp>
        </mc:Choice>
        <mc:Fallback xmlns="">
          <p:sp>
            <p:nvSpPr>
              <p:cNvPr id="20" name="矩形 19">
                <a:extLst>
                  <a:ext uri="{FF2B5EF4-FFF2-40B4-BE49-F238E27FC236}">
                    <a16:creationId xmlns:a16="http://schemas.microsoft.com/office/drawing/2014/main" id="{26C62AEC-76A5-48D4-A890-9814D4A52D83}"/>
                  </a:ext>
                </a:extLst>
              </p:cNvPr>
              <p:cNvSpPr>
                <a:spLocks noRot="1" noChangeAspect="1" noMove="1" noResize="1" noEditPoints="1" noAdjustHandles="1" noChangeArrowheads="1" noChangeShapeType="1" noTextEdit="1"/>
              </p:cNvSpPr>
              <p:nvPr/>
            </p:nvSpPr>
            <p:spPr>
              <a:xfrm>
                <a:off x="6342322" y="2997254"/>
                <a:ext cx="6670020" cy="1414298"/>
              </a:xfrm>
              <a:prstGeom prst="rect">
                <a:avLst/>
              </a:prstGeom>
              <a:blipFill>
                <a:blip r:embed="rId8"/>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AEE57971-8C97-47D1-994E-C68766658434}"/>
              </a:ext>
            </a:extLst>
          </p:cNvPr>
          <p:cNvSpPr txBox="1"/>
          <p:nvPr/>
        </p:nvSpPr>
        <p:spPr>
          <a:xfrm>
            <a:off x="535877" y="2140985"/>
            <a:ext cx="604653" cy="523220"/>
          </a:xfrm>
          <a:prstGeom prst="rect">
            <a:avLst/>
          </a:prstGeom>
          <a:noFill/>
        </p:spPr>
        <p:txBody>
          <a:bodyPr wrap="none" rtlCol="0">
            <a:spAutoFit/>
          </a:bodyPr>
          <a:lstStyle/>
          <a:p>
            <a:r>
              <a:rPr lang="en-US" altLang="zh-CN" sz="2800" dirty="0"/>
              <a:t>(1)</a:t>
            </a:r>
            <a:endParaRPr lang="zh-CN" altLang="en-US" sz="2800" dirty="0"/>
          </a:p>
        </p:txBody>
      </p:sp>
      <p:sp>
        <p:nvSpPr>
          <p:cNvPr id="12" name="文本框 11">
            <a:extLst>
              <a:ext uri="{FF2B5EF4-FFF2-40B4-BE49-F238E27FC236}">
                <a16:creationId xmlns:a16="http://schemas.microsoft.com/office/drawing/2014/main" id="{E4DAA1B0-56F4-4CAE-A348-DAA8963852C5}"/>
              </a:ext>
            </a:extLst>
          </p:cNvPr>
          <p:cNvSpPr txBox="1"/>
          <p:nvPr/>
        </p:nvSpPr>
        <p:spPr>
          <a:xfrm>
            <a:off x="535876" y="3310296"/>
            <a:ext cx="604653" cy="523220"/>
          </a:xfrm>
          <a:prstGeom prst="rect">
            <a:avLst/>
          </a:prstGeom>
          <a:noFill/>
        </p:spPr>
        <p:txBody>
          <a:bodyPr wrap="none" rtlCol="0">
            <a:spAutoFit/>
          </a:bodyPr>
          <a:lstStyle/>
          <a:p>
            <a:r>
              <a:rPr lang="en-US" altLang="zh-CN" sz="2800" dirty="0"/>
              <a:t>(2)</a:t>
            </a:r>
            <a:endParaRPr lang="zh-CN" altLang="en-US" sz="2800" dirty="0"/>
          </a:p>
        </p:txBody>
      </p:sp>
      <p:sp>
        <p:nvSpPr>
          <p:cNvPr id="14" name="文本框 13">
            <a:extLst>
              <a:ext uri="{FF2B5EF4-FFF2-40B4-BE49-F238E27FC236}">
                <a16:creationId xmlns:a16="http://schemas.microsoft.com/office/drawing/2014/main" id="{1441A2D1-4D66-474F-B223-9C6EE4BD2A4D}"/>
              </a:ext>
            </a:extLst>
          </p:cNvPr>
          <p:cNvSpPr txBox="1"/>
          <p:nvPr/>
        </p:nvSpPr>
        <p:spPr>
          <a:xfrm>
            <a:off x="525844" y="4313675"/>
            <a:ext cx="604653" cy="523220"/>
          </a:xfrm>
          <a:prstGeom prst="rect">
            <a:avLst/>
          </a:prstGeom>
          <a:noFill/>
        </p:spPr>
        <p:txBody>
          <a:bodyPr wrap="none" rtlCol="0">
            <a:spAutoFit/>
          </a:bodyPr>
          <a:lstStyle/>
          <a:p>
            <a:r>
              <a:rPr lang="en-US" altLang="zh-CN" sz="2800" dirty="0"/>
              <a:t>(3)</a:t>
            </a:r>
            <a:endParaRPr lang="zh-CN" altLang="en-US" sz="2800" dirty="0"/>
          </a:p>
        </p:txBody>
      </p:sp>
      <p:sp>
        <p:nvSpPr>
          <p:cNvPr id="15" name="文本框 14">
            <a:extLst>
              <a:ext uri="{FF2B5EF4-FFF2-40B4-BE49-F238E27FC236}">
                <a16:creationId xmlns:a16="http://schemas.microsoft.com/office/drawing/2014/main" id="{B7DED2EE-64EB-433B-BA67-25975A32B269}"/>
              </a:ext>
            </a:extLst>
          </p:cNvPr>
          <p:cNvSpPr txBox="1"/>
          <p:nvPr/>
        </p:nvSpPr>
        <p:spPr>
          <a:xfrm>
            <a:off x="525843" y="5557559"/>
            <a:ext cx="604653" cy="523220"/>
          </a:xfrm>
          <a:prstGeom prst="rect">
            <a:avLst/>
          </a:prstGeom>
          <a:noFill/>
        </p:spPr>
        <p:txBody>
          <a:bodyPr wrap="none" rtlCol="0">
            <a:spAutoFit/>
          </a:bodyPr>
          <a:lstStyle/>
          <a:p>
            <a:r>
              <a:rPr lang="en-US" altLang="zh-CN" sz="2800" dirty="0"/>
              <a:t>(4)</a:t>
            </a:r>
            <a:endParaRPr lang="zh-CN" altLang="en-US" sz="2800" dirty="0"/>
          </a:p>
        </p:txBody>
      </p:sp>
      <p:sp>
        <p:nvSpPr>
          <p:cNvPr id="7" name="Text Box 9">
            <a:extLst>
              <a:ext uri="{FF2B5EF4-FFF2-40B4-BE49-F238E27FC236}">
                <a16:creationId xmlns:a16="http://schemas.microsoft.com/office/drawing/2014/main" id="{881EAC76-C85E-DBBD-5514-9530FAD18F02}"/>
              </a:ext>
            </a:extLst>
          </p:cNvPr>
          <p:cNvSpPr txBox="1">
            <a:spLocks noChangeArrowheads="1"/>
          </p:cNvSpPr>
          <p:nvPr/>
        </p:nvSpPr>
        <p:spPr bwMode="auto">
          <a:xfrm>
            <a:off x="491454" y="571382"/>
            <a:ext cx="5625389" cy="646331"/>
          </a:xfrm>
          <a:prstGeom prst="rect">
            <a:avLst/>
          </a:prstGeom>
          <a:noFill/>
          <a:ln>
            <a:noFill/>
          </a:ln>
        </p:spPr>
        <p:txBody>
          <a:bodyPr wrap="square">
            <a:spAutoFit/>
          </a:bodyPr>
          <a:lstStyle>
            <a:lvl1pPr eaLnBrk="0" hangingPunct="0">
              <a:defRPr b="1" i="1" u="sng">
                <a:solidFill>
                  <a:schemeClr val="tx1"/>
                </a:solidFill>
                <a:latin typeface="Arial" panose="020B0604020202020204" pitchFamily="34" charset="0"/>
                <a:ea typeface="宋体" panose="02010600030101010101" pitchFamily="2" charset="-122"/>
              </a:defRPr>
            </a:lvl1pPr>
            <a:lvl2pPr marL="742950" indent="-285750" eaLnBrk="0" hangingPunct="0">
              <a:defRPr b="1" i="1" u="sng">
                <a:solidFill>
                  <a:schemeClr val="tx1"/>
                </a:solidFill>
                <a:latin typeface="Arial" panose="020B0604020202020204" pitchFamily="34" charset="0"/>
                <a:ea typeface="宋体" panose="02010600030101010101" pitchFamily="2" charset="-122"/>
              </a:defRPr>
            </a:lvl2pPr>
            <a:lvl3pPr marL="1143000" indent="-228600" eaLnBrk="0" hangingPunct="0">
              <a:defRPr b="1" i="1" u="sng">
                <a:solidFill>
                  <a:schemeClr val="tx1"/>
                </a:solidFill>
                <a:latin typeface="Arial" panose="020B0604020202020204" pitchFamily="34" charset="0"/>
                <a:ea typeface="宋体" panose="02010600030101010101" pitchFamily="2" charset="-122"/>
              </a:defRPr>
            </a:lvl3pPr>
            <a:lvl4pPr marL="1600200" indent="-228600" eaLnBrk="0" hangingPunct="0">
              <a:defRPr b="1" i="1" u="sng">
                <a:solidFill>
                  <a:schemeClr val="tx1"/>
                </a:solidFill>
                <a:latin typeface="Arial" panose="020B0604020202020204" pitchFamily="34" charset="0"/>
                <a:ea typeface="宋体" panose="02010600030101010101" pitchFamily="2" charset="-122"/>
              </a:defRPr>
            </a:lvl4pPr>
            <a:lvl5pPr marL="2057400" indent="-228600" eaLnBrk="0" hangingPunct="0">
              <a:defRPr b="1" i="1"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u="sng">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q"/>
            </a:pPr>
            <a:r>
              <a:rPr lang="zh-CN" altLang="en-US" sz="3600" i="0" u="none" dirty="0">
                <a:solidFill>
                  <a:srgbClr val="0066FF"/>
                </a:solidFill>
                <a:latin typeface="+mn-lt"/>
                <a:ea typeface="华文楷体" panose="02010600040101010101" pitchFamily="2" charset="-122"/>
              </a:rPr>
              <a:t>麦克斯韦方程组</a:t>
            </a:r>
          </a:p>
        </p:txBody>
      </p:sp>
      <p:sp>
        <p:nvSpPr>
          <p:cNvPr id="18" name="文本框 17">
            <a:extLst>
              <a:ext uri="{FF2B5EF4-FFF2-40B4-BE49-F238E27FC236}">
                <a16:creationId xmlns:a16="http://schemas.microsoft.com/office/drawing/2014/main" id="{A4CA9373-B385-7FBE-B27C-F94741EE2435}"/>
              </a:ext>
            </a:extLst>
          </p:cNvPr>
          <p:cNvSpPr txBox="1"/>
          <p:nvPr/>
        </p:nvSpPr>
        <p:spPr>
          <a:xfrm>
            <a:off x="6756764" y="2158227"/>
            <a:ext cx="604653" cy="523220"/>
          </a:xfrm>
          <a:prstGeom prst="rect">
            <a:avLst/>
          </a:prstGeom>
          <a:noFill/>
        </p:spPr>
        <p:txBody>
          <a:bodyPr wrap="none" rtlCol="0">
            <a:spAutoFit/>
          </a:bodyPr>
          <a:lstStyle/>
          <a:p>
            <a:r>
              <a:rPr lang="en-US" altLang="zh-CN" sz="2800" dirty="0"/>
              <a:t>(1)</a:t>
            </a:r>
            <a:endParaRPr lang="zh-CN" altLang="en-US" sz="2800" dirty="0"/>
          </a:p>
        </p:txBody>
      </p:sp>
      <p:sp>
        <p:nvSpPr>
          <p:cNvPr id="19" name="文本框 18">
            <a:extLst>
              <a:ext uri="{FF2B5EF4-FFF2-40B4-BE49-F238E27FC236}">
                <a16:creationId xmlns:a16="http://schemas.microsoft.com/office/drawing/2014/main" id="{84545282-1798-F78C-16B8-336EC87BD981}"/>
              </a:ext>
            </a:extLst>
          </p:cNvPr>
          <p:cNvSpPr txBox="1"/>
          <p:nvPr/>
        </p:nvSpPr>
        <p:spPr>
          <a:xfrm>
            <a:off x="6756764" y="3643219"/>
            <a:ext cx="604653" cy="523220"/>
          </a:xfrm>
          <a:prstGeom prst="rect">
            <a:avLst/>
          </a:prstGeom>
          <a:noFill/>
        </p:spPr>
        <p:txBody>
          <a:bodyPr wrap="none" rtlCol="0">
            <a:spAutoFit/>
          </a:bodyPr>
          <a:lstStyle/>
          <a:p>
            <a:r>
              <a:rPr lang="en-US" altLang="zh-CN" sz="2800" dirty="0"/>
              <a:t>(4)</a:t>
            </a:r>
            <a:endParaRPr lang="zh-CN" altLang="en-US" sz="2800" dirty="0"/>
          </a:p>
        </p:txBody>
      </p:sp>
      <p:sp>
        <p:nvSpPr>
          <p:cNvPr id="23" name="矩形 22">
            <a:extLst>
              <a:ext uri="{FF2B5EF4-FFF2-40B4-BE49-F238E27FC236}">
                <a16:creationId xmlns:a16="http://schemas.microsoft.com/office/drawing/2014/main" id="{E15DF186-92FD-03CD-4710-C9C022056354}"/>
              </a:ext>
            </a:extLst>
          </p:cNvPr>
          <p:cNvSpPr/>
          <p:nvPr/>
        </p:nvSpPr>
        <p:spPr>
          <a:xfrm>
            <a:off x="1130010" y="1273668"/>
            <a:ext cx="1736373" cy="584775"/>
          </a:xfrm>
          <a:prstGeom prst="rect">
            <a:avLst/>
          </a:prstGeom>
        </p:spPr>
        <p:txBody>
          <a:bodyPr wrap="none">
            <a:spAutoFit/>
          </a:bodyPr>
          <a:lstStyle/>
          <a:p>
            <a:r>
              <a:rPr kumimoji="1" lang="en-US" altLang="zh-CN" sz="3200" b="1" dirty="0">
                <a:latin typeface="华文楷体" panose="02010600040101010101" pitchFamily="2" charset="-122"/>
                <a:ea typeface="华文楷体" panose="02010600040101010101" pitchFamily="2" charset="-122"/>
              </a:rPr>
              <a:t>- </a:t>
            </a:r>
            <a:r>
              <a:rPr kumimoji="1" lang="zh-CN" altLang="en-US" sz="3200" b="1" dirty="0">
                <a:latin typeface="华文楷体" panose="02010600040101010101" pitchFamily="2" charset="-122"/>
                <a:ea typeface="华文楷体" panose="02010600040101010101" pitchFamily="2" charset="-122"/>
              </a:rPr>
              <a:t>真空中</a:t>
            </a:r>
            <a:r>
              <a:rPr kumimoji="1" lang="en-US" altLang="zh-CN" sz="3200" b="1" dirty="0">
                <a:latin typeface="华文楷体" panose="02010600040101010101" pitchFamily="2" charset="-122"/>
                <a:ea typeface="华文楷体" panose="02010600040101010101" pitchFamily="2" charset="-122"/>
              </a:rPr>
              <a:t>:</a:t>
            </a:r>
            <a:endParaRPr lang="en-US" sz="3200" b="1" dirty="0"/>
          </a:p>
        </p:txBody>
      </p:sp>
      <mc:AlternateContent xmlns:mc="http://schemas.openxmlformats.org/markup-compatibility/2006" xmlns:a14="http://schemas.microsoft.com/office/drawing/2010/main">
        <mc:Choice Requires="a14">
          <p:sp>
            <p:nvSpPr>
              <p:cNvPr id="25" name="Object 2">
                <a:extLst>
                  <a:ext uri="{FF2B5EF4-FFF2-40B4-BE49-F238E27FC236}">
                    <a16:creationId xmlns:a16="http://schemas.microsoft.com/office/drawing/2014/main" id="{D1B60839-5DC4-1205-AE2A-BA644B0D5361}"/>
                  </a:ext>
                </a:extLst>
              </p:cNvPr>
              <p:cNvSpPr txBox="1"/>
              <p:nvPr/>
            </p:nvSpPr>
            <p:spPr bwMode="auto">
              <a:xfrm>
                <a:off x="8026435" y="5399741"/>
                <a:ext cx="2860675" cy="6810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800" b="1" i="1" smtClean="0">
                              <a:solidFill>
                                <a:srgbClr val="FF0000"/>
                              </a:solidFill>
                              <a:latin typeface="Cambria Math" panose="02040503050406030204" pitchFamily="18" charset="0"/>
                            </a:rPr>
                          </m:ctrlPr>
                        </m:accPr>
                        <m:e>
                          <m:r>
                            <a:rPr lang="zh-CN" altLang="en-US" sz="2800" b="1" i="1">
                              <a:solidFill>
                                <a:srgbClr val="FF0000"/>
                              </a:solidFill>
                              <a:latin typeface="Cambria Math" panose="02040503050406030204" pitchFamily="18" charset="0"/>
                            </a:rPr>
                            <m:t>𝒇</m:t>
                          </m:r>
                        </m:e>
                      </m:acc>
                      <m:r>
                        <a:rPr lang="zh-CN" altLang="en-US" sz="2800" b="1" i="1">
                          <a:solidFill>
                            <a:srgbClr val="FF0000"/>
                          </a:solidFill>
                          <a:latin typeface="Cambria Math" panose="02040503050406030204" pitchFamily="18" charset="0"/>
                        </a:rPr>
                        <m:t>=</m:t>
                      </m:r>
                      <m:r>
                        <a:rPr lang="zh-CN" altLang="en-US" sz="2800" b="1" i="1">
                          <a:solidFill>
                            <a:srgbClr val="FF0000"/>
                          </a:solidFill>
                          <a:latin typeface="Cambria Math" panose="02040503050406030204" pitchFamily="18" charset="0"/>
                        </a:rPr>
                        <m:t>𝒒</m:t>
                      </m:r>
                      <m:acc>
                        <m:accPr>
                          <m:chr m:val="⃗"/>
                          <m:ctrlPr>
                            <a:rPr lang="zh-CN" altLang="en-US" sz="2800" b="1" i="1">
                              <a:solidFill>
                                <a:srgbClr val="FF0000"/>
                              </a:solidFill>
                              <a:latin typeface="Cambria Math" panose="02040503050406030204" pitchFamily="18" charset="0"/>
                            </a:rPr>
                          </m:ctrlPr>
                        </m:accPr>
                        <m:e>
                          <m:r>
                            <a:rPr lang="zh-CN" altLang="en-US" sz="2800" b="1" i="1">
                              <a:solidFill>
                                <a:srgbClr val="FF0000"/>
                              </a:solidFill>
                              <a:latin typeface="Cambria Math" panose="02040503050406030204" pitchFamily="18" charset="0"/>
                            </a:rPr>
                            <m:t>𝑬</m:t>
                          </m:r>
                        </m:e>
                      </m:acc>
                      <m:r>
                        <a:rPr lang="zh-CN" altLang="en-US" sz="2800" b="1" i="1">
                          <a:solidFill>
                            <a:srgbClr val="FF0000"/>
                          </a:solidFill>
                          <a:latin typeface="Cambria Math" panose="02040503050406030204" pitchFamily="18" charset="0"/>
                        </a:rPr>
                        <m:t>+</m:t>
                      </m:r>
                      <m:r>
                        <a:rPr lang="zh-CN" altLang="en-US" sz="2800" b="1" i="1">
                          <a:solidFill>
                            <a:srgbClr val="FF0000"/>
                          </a:solidFill>
                          <a:latin typeface="Cambria Math" panose="02040503050406030204" pitchFamily="18" charset="0"/>
                        </a:rPr>
                        <m:t>𝒒</m:t>
                      </m:r>
                      <m:acc>
                        <m:accPr>
                          <m:chr m:val="⃗"/>
                          <m:ctrlPr>
                            <a:rPr lang="zh-CN" altLang="en-US" sz="2800" b="1" i="1">
                              <a:solidFill>
                                <a:srgbClr val="FF0000"/>
                              </a:solidFill>
                              <a:latin typeface="Cambria Math" panose="02040503050406030204" pitchFamily="18" charset="0"/>
                            </a:rPr>
                          </m:ctrlPr>
                        </m:accPr>
                        <m:e>
                          <m:r>
                            <a:rPr lang="zh-CN" altLang="en-US" sz="2800" b="1" i="1">
                              <a:solidFill>
                                <a:srgbClr val="FF0000"/>
                              </a:solidFill>
                              <a:latin typeface="Cambria Math" panose="02040503050406030204" pitchFamily="18" charset="0"/>
                            </a:rPr>
                            <m:t>𝒗</m:t>
                          </m:r>
                        </m:e>
                      </m:acc>
                      <m:r>
                        <a:rPr lang="zh-CN" altLang="en-US" sz="2800" b="1" i="1">
                          <a:solidFill>
                            <a:srgbClr val="FF0000"/>
                          </a:solidFill>
                          <a:latin typeface="Cambria Math" panose="02040503050406030204" pitchFamily="18" charset="0"/>
                        </a:rPr>
                        <m:t>×</m:t>
                      </m:r>
                      <m:acc>
                        <m:accPr>
                          <m:chr m:val="⃗"/>
                          <m:ctrlPr>
                            <a:rPr lang="zh-CN" altLang="en-US" sz="2800" b="1" i="1">
                              <a:solidFill>
                                <a:srgbClr val="FF0000"/>
                              </a:solidFill>
                              <a:latin typeface="Cambria Math" panose="02040503050406030204" pitchFamily="18" charset="0"/>
                            </a:rPr>
                          </m:ctrlPr>
                        </m:accPr>
                        <m:e>
                          <m:r>
                            <a:rPr lang="zh-CN" altLang="en-US" sz="2800" b="1" i="1">
                              <a:solidFill>
                                <a:srgbClr val="FF0000"/>
                              </a:solidFill>
                              <a:latin typeface="Cambria Math" panose="02040503050406030204" pitchFamily="18" charset="0"/>
                            </a:rPr>
                            <m:t>𝑩</m:t>
                          </m:r>
                        </m:e>
                      </m:acc>
                    </m:oMath>
                  </m:oMathPara>
                </a14:m>
                <a:endParaRPr lang="zh-CN" altLang="en-US" sz="2800" b="1" dirty="0">
                  <a:solidFill>
                    <a:srgbClr val="FF0000"/>
                  </a:solidFill>
                </a:endParaRPr>
              </a:p>
            </p:txBody>
          </p:sp>
        </mc:Choice>
        <mc:Fallback xmlns="">
          <p:sp>
            <p:nvSpPr>
              <p:cNvPr id="25" name="Object 2">
                <a:extLst>
                  <a:ext uri="{FF2B5EF4-FFF2-40B4-BE49-F238E27FC236}">
                    <a16:creationId xmlns:a16="http://schemas.microsoft.com/office/drawing/2014/main" id="{D1B60839-5DC4-1205-AE2A-BA644B0D5361}"/>
                  </a:ext>
                </a:extLst>
              </p:cNvPr>
              <p:cNvSpPr txBox="1">
                <a:spLocks noRot="1" noChangeAspect="1" noMove="1" noResize="1" noEditPoints="1" noAdjustHandles="1" noChangeArrowheads="1" noChangeShapeType="1" noTextEdit="1"/>
              </p:cNvSpPr>
              <p:nvPr/>
            </p:nvSpPr>
            <p:spPr bwMode="auto">
              <a:xfrm>
                <a:off x="8026435" y="5399741"/>
                <a:ext cx="2860675" cy="681038"/>
              </a:xfrm>
              <a:prstGeom prst="rect">
                <a:avLst/>
              </a:prstGeom>
              <a:blipFill>
                <a:blip r:embed="rId9"/>
                <a:stretch>
                  <a:fillRect/>
                </a:stretch>
              </a:blipFill>
              <a:ln>
                <a:noFill/>
              </a:ln>
              <a:effectLst/>
            </p:spPr>
            <p:txBody>
              <a:bodyPr/>
              <a:lstStyle/>
              <a:p>
                <a:r>
                  <a:rPr lang="zh-CN" altLang="en-US">
                    <a:noFill/>
                  </a:rPr>
                  <a:t> </a:t>
                </a:r>
              </a:p>
            </p:txBody>
          </p:sp>
        </mc:Fallback>
      </mc:AlternateContent>
      <p:sp>
        <p:nvSpPr>
          <p:cNvPr id="26" name="Text Box 3">
            <a:extLst>
              <a:ext uri="{FF2B5EF4-FFF2-40B4-BE49-F238E27FC236}">
                <a16:creationId xmlns:a16="http://schemas.microsoft.com/office/drawing/2014/main" id="{422FF199-1C99-A0D4-C365-9BB2DE9E02F0}"/>
              </a:ext>
            </a:extLst>
          </p:cNvPr>
          <p:cNvSpPr txBox="1">
            <a:spLocks noChangeArrowheads="1"/>
          </p:cNvSpPr>
          <p:nvPr/>
        </p:nvSpPr>
        <p:spPr bwMode="auto">
          <a:xfrm>
            <a:off x="7829863" y="6149223"/>
            <a:ext cx="30572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t>电场和磁场的定义</a:t>
            </a:r>
          </a:p>
        </p:txBody>
      </p:sp>
      <p:sp>
        <p:nvSpPr>
          <p:cNvPr id="27" name="Text Box 4">
            <a:extLst>
              <a:ext uri="{FF2B5EF4-FFF2-40B4-BE49-F238E27FC236}">
                <a16:creationId xmlns:a16="http://schemas.microsoft.com/office/drawing/2014/main" id="{ECB7904E-C1CC-EFBC-10B5-D78F6B4F51CE}"/>
              </a:ext>
            </a:extLst>
          </p:cNvPr>
          <p:cNvSpPr txBox="1">
            <a:spLocks noChangeArrowheads="1"/>
          </p:cNvSpPr>
          <p:nvPr/>
        </p:nvSpPr>
        <p:spPr bwMode="auto">
          <a:xfrm>
            <a:off x="7542303" y="4771352"/>
            <a:ext cx="30591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0" lang="zh-CN" altLang="en-US" sz="2800" b="1" dirty="0"/>
              <a:t>洛仑兹力公式：</a:t>
            </a:r>
          </a:p>
        </p:txBody>
      </p:sp>
    </p:spTree>
    <p:extLst>
      <p:ext uri="{BB962C8B-B14F-4D97-AF65-F5344CB8AC3E}">
        <p14:creationId xmlns:p14="http://schemas.microsoft.com/office/powerpoint/2010/main" val="36784848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6" grpId="1"/>
      <p:bldP spid="27" grpId="0"/>
      <p:bldP spid="27"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8000A1E6-A259-4346-815A-0F23D51701F7}"/>
              </a:ext>
            </a:extLst>
          </p:cNvPr>
          <p:cNvSpPr/>
          <p:nvPr>
            <p:custDataLst>
              <p:tags r:id="rId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a:extLst>
              <a:ext uri="{FF2B5EF4-FFF2-40B4-BE49-F238E27FC236}">
                <a16:creationId xmlns:a16="http://schemas.microsoft.com/office/drawing/2014/main" id="{62A93160-2714-4460-97F7-D870D8B32DF5}"/>
              </a:ext>
            </a:extLst>
          </p:cNvPr>
          <p:cNvSpPr txBox="1"/>
          <p:nvPr>
            <p:custDataLst>
              <p:tags r:id="rId3"/>
            </p:custDataLst>
          </p:nvPr>
        </p:nvSpPr>
        <p:spPr>
          <a:xfrm>
            <a:off x="1429820" y="1569949"/>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假如有磁荷存在，则麦克斯韦方程组应该有什么样的形式？</a:t>
            </a:r>
          </a:p>
        </p:txBody>
      </p:sp>
      <p:sp>
        <p:nvSpPr>
          <p:cNvPr id="5" name="矩形: 圆角 4">
            <a:extLst>
              <a:ext uri="{FF2B5EF4-FFF2-40B4-BE49-F238E27FC236}">
                <a16:creationId xmlns:a16="http://schemas.microsoft.com/office/drawing/2014/main" id="{C54153D2-2700-44D7-92D0-1CAA1727B9EE}"/>
              </a:ext>
            </a:extLst>
          </p:cNvPr>
          <p:cNvSpPr/>
          <p:nvPr>
            <p:custDataLst>
              <p:tags r:id="rId4"/>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891AFC25-A55B-466D-ACA8-8C04258E2C69}"/>
              </a:ext>
            </a:extLst>
          </p:cNvPr>
          <p:cNvSpPr/>
          <p:nvPr>
            <p:custDataLst>
              <p:tags r:id="rId5"/>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7" name="文本框 16">
            <a:extLst>
              <a:ext uri="{FF2B5EF4-FFF2-40B4-BE49-F238E27FC236}">
                <a16:creationId xmlns:a16="http://schemas.microsoft.com/office/drawing/2014/main" id="{3429C2B2-36DA-4165-B3E2-94A4F2F9BFA9}"/>
              </a:ext>
            </a:extLst>
          </p:cNvPr>
          <p:cNvSpPr txBox="1"/>
          <p:nvPr>
            <p:custDataLst>
              <p:tags r:id="rId6"/>
            </p:custDataLst>
          </p:nvPr>
        </p:nvSpPr>
        <p:spPr>
          <a:xfrm>
            <a:off x="12661900" y="6326832"/>
            <a:ext cx="3662680" cy="461665"/>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8" name="文本框 17">
            <a:extLst>
              <a:ext uri="{FF2B5EF4-FFF2-40B4-BE49-F238E27FC236}">
                <a16:creationId xmlns:a16="http://schemas.microsoft.com/office/drawing/2014/main" id="{CD382EF0-17D8-4D35-9AA5-D3C2CD7E3A1D}"/>
              </a:ext>
            </a:extLst>
          </p:cNvPr>
          <p:cNvSpPr txBox="1"/>
          <p:nvPr>
            <p:custDataLst>
              <p:tags r:id="rId7"/>
            </p:custDataLst>
          </p:nvPr>
        </p:nvSpPr>
        <p:spPr>
          <a:xfrm>
            <a:off x="12827000" y="1270000"/>
            <a:ext cx="3332480" cy="1905000"/>
          </a:xfrm>
          <a:prstGeom prst="rect">
            <a:avLst/>
          </a:prstGeom>
          <a:noFill/>
        </p:spPr>
        <p:txBody>
          <a:bodyPr vert="horz" rtlCol="0" anchor="t" anchorCtr="0">
            <a:sp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此处添加答案解析</a:t>
            </a:r>
          </a:p>
        </p:txBody>
      </p:sp>
      <p:grpSp>
        <p:nvGrpSpPr>
          <p:cNvPr id="16" name="组合 15">
            <a:extLst>
              <a:ext uri="{FF2B5EF4-FFF2-40B4-BE49-F238E27FC236}">
                <a16:creationId xmlns:a16="http://schemas.microsoft.com/office/drawing/2014/main" id="{7383C7FE-1542-484E-9B55-9E1BE4EEC739}"/>
              </a:ext>
            </a:extLst>
          </p:cNvPr>
          <p:cNvGrpSpPr/>
          <p:nvPr>
            <p:custDataLst>
              <p:tags r:id="rId8"/>
            </p:custDataLst>
          </p:nvPr>
        </p:nvGrpSpPr>
        <p:grpSpPr>
          <a:xfrm>
            <a:off x="12585700" y="0"/>
            <a:ext cx="3815080" cy="647700"/>
            <a:chOff x="12585700" y="0"/>
            <a:chExt cx="3815080" cy="647700"/>
          </a:xfrm>
        </p:grpSpPr>
        <p:sp>
          <p:nvSpPr>
            <p:cNvPr id="13" name="RemarkBack">
              <a:extLst>
                <a:ext uri="{FF2B5EF4-FFF2-40B4-BE49-F238E27FC236}">
                  <a16:creationId xmlns:a16="http://schemas.microsoft.com/office/drawing/2014/main" id="{39F03494-AFC7-40C9-8DDB-D95BB70C09B0}"/>
                </a:ext>
              </a:extLst>
            </p:cNvPr>
            <p:cNvSpPr/>
            <p:nvPr>
              <p:custDataLst>
                <p:tags r:id="rId15"/>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markBlock">
              <a:extLst>
                <a:ext uri="{FF2B5EF4-FFF2-40B4-BE49-F238E27FC236}">
                  <a16:creationId xmlns:a16="http://schemas.microsoft.com/office/drawing/2014/main" id="{BD4942C6-EA42-4D28-8029-30BD0D57DA37}"/>
                </a:ext>
              </a:extLst>
            </p:cNvPr>
            <p:cNvSpPr/>
            <p:nvPr>
              <p:custDataLst>
                <p:tags r:id="rId16"/>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TitleText">
              <a:extLst>
                <a:ext uri="{FF2B5EF4-FFF2-40B4-BE49-F238E27FC236}">
                  <a16:creationId xmlns:a16="http://schemas.microsoft.com/office/drawing/2014/main" id="{7BDD5704-CE68-4C9B-81FB-572601A90F67}"/>
                </a:ext>
              </a:extLst>
            </p:cNvPr>
            <p:cNvSpPr txBox="1"/>
            <p:nvPr>
              <p:custDataLst>
                <p:tags r:id="rId17"/>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grpSp>
        <p:nvGrpSpPr>
          <p:cNvPr id="10" name="组合 9">
            <a:extLst>
              <a:ext uri="{FF2B5EF4-FFF2-40B4-BE49-F238E27FC236}">
                <a16:creationId xmlns:a16="http://schemas.microsoft.com/office/drawing/2014/main" id="{83E4C90D-9F43-42A4-BB5D-039287C90C10}"/>
              </a:ext>
            </a:extLst>
          </p:cNvPr>
          <p:cNvGrpSpPr/>
          <p:nvPr>
            <p:custDataLst>
              <p:tags r:id="rId9"/>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F268271E-5164-4A85-B634-07989863E774}"/>
                </a:ext>
              </a:extLst>
            </p:cNvPr>
            <p:cNvSpPr/>
            <p:nvPr>
              <p:custDataLst>
                <p:tags r:id="rId11"/>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BA6555DF-085A-4BC5-8C88-2304D7B08FBD}"/>
                </a:ext>
              </a:extLst>
            </p:cNvPr>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26F87EC9-913D-4FFF-9B2E-9B20A7D2B491}"/>
                </a:ext>
              </a:extLst>
            </p:cNvPr>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62346311-6A0C-4BE7-A856-50C3A499E4B4}"/>
                </a:ext>
              </a:extLst>
            </p:cNvPr>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46F6046C-F9A2-4117-9E17-2BBB75E0466C}"/>
              </a:ext>
            </a:extLst>
          </p:cNvPr>
          <p:cNvPicPr>
            <a:picLocks/>
          </p:cNvPicPr>
          <p:nvPr>
            <p:custDataLst>
              <p:tags r:id="rId10"/>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0342761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ShortAnswer"/>
  <p:tag name="PROBLEMSCORE" val="1.0"/>
  <p:tag name="PROBLEMHASREMARK" val="True"/>
  <p:tag name="PROBLEMVOICEALLOWED" val="False"/>
</p:tagLst>
</file>

<file path=ppt/tags/tag1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4033</TotalTime>
  <Words>2033</Words>
  <Application>Microsoft Office PowerPoint</Application>
  <PresentationFormat>宽屏</PresentationFormat>
  <Paragraphs>307</Paragraphs>
  <Slides>35</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华文楷体</vt:lpstr>
      <vt:lpstr>宋体</vt:lpstr>
      <vt:lpstr>Microsoft Yahei</vt:lpstr>
      <vt:lpstr>Arial</vt:lpstr>
      <vt:lpstr>Calibri</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li</cp:lastModifiedBy>
  <cp:revision>124</cp:revision>
  <dcterms:created xsi:type="dcterms:W3CDTF">2021-11-10T02:13:51Z</dcterms:created>
  <dcterms:modified xsi:type="dcterms:W3CDTF">2024-05-14T05:15:18Z</dcterms:modified>
</cp:coreProperties>
</file>