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67" r:id="rId4"/>
    <p:sldId id="269" r:id="rId5"/>
    <p:sldId id="260" r:id="rId6"/>
    <p:sldId id="258" r:id="rId7"/>
    <p:sldId id="259" r:id="rId8"/>
    <p:sldId id="261" r:id="rId9"/>
    <p:sldId id="268" r:id="rId10"/>
    <p:sldId id="262" r:id="rId11"/>
    <p:sldId id="263" r:id="rId12"/>
    <p:sldId id="265" r:id="rId13"/>
    <p:sldId id="264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54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A9BD0-DD70-4830-8A64-0783ACD803E6}" type="datetimeFigureOut">
              <a:rPr lang="zh-CN" altLang="en-US" smtClean="0"/>
              <a:t>2022/5/8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E6B51-4562-4326-A9D6-FA7DA0E623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5552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A9BD0-DD70-4830-8A64-0783ACD803E6}" type="datetimeFigureOut">
              <a:rPr lang="zh-CN" altLang="en-US" smtClean="0"/>
              <a:t>2022/5/8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E6B51-4562-4326-A9D6-FA7DA0E623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5031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A9BD0-DD70-4830-8A64-0783ACD803E6}" type="datetimeFigureOut">
              <a:rPr lang="zh-CN" altLang="en-US" smtClean="0"/>
              <a:t>2022/5/8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E6B51-4562-4326-A9D6-FA7DA0E623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1129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A9BD0-DD70-4830-8A64-0783ACD803E6}" type="datetimeFigureOut">
              <a:rPr lang="zh-CN" altLang="en-US" smtClean="0"/>
              <a:t>2022/5/8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E6B51-4562-4326-A9D6-FA7DA0E623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0581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A9BD0-DD70-4830-8A64-0783ACD803E6}" type="datetimeFigureOut">
              <a:rPr lang="zh-CN" altLang="en-US" smtClean="0"/>
              <a:t>2022/5/8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E6B51-4562-4326-A9D6-FA7DA0E623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9266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A9BD0-DD70-4830-8A64-0783ACD803E6}" type="datetimeFigureOut">
              <a:rPr lang="zh-CN" altLang="en-US" smtClean="0"/>
              <a:t>2022/5/8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E6B51-4562-4326-A9D6-FA7DA0E623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4231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A9BD0-DD70-4830-8A64-0783ACD803E6}" type="datetimeFigureOut">
              <a:rPr lang="zh-CN" altLang="en-US" smtClean="0"/>
              <a:t>2022/5/8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E6B51-4562-4326-A9D6-FA7DA0E623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3707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A9BD0-DD70-4830-8A64-0783ACD803E6}" type="datetimeFigureOut">
              <a:rPr lang="zh-CN" altLang="en-US" smtClean="0"/>
              <a:t>2022/5/8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E6B51-4562-4326-A9D6-FA7DA0E623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0951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A9BD0-DD70-4830-8A64-0783ACD803E6}" type="datetimeFigureOut">
              <a:rPr lang="zh-CN" altLang="en-US" smtClean="0"/>
              <a:t>2022/5/8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E6B51-4562-4326-A9D6-FA7DA0E623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7102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A9BD0-DD70-4830-8A64-0783ACD803E6}" type="datetimeFigureOut">
              <a:rPr lang="zh-CN" altLang="en-US" smtClean="0"/>
              <a:t>2022/5/8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E6B51-4562-4326-A9D6-FA7DA0E623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9447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A9BD0-DD70-4830-8A64-0783ACD803E6}" type="datetimeFigureOut">
              <a:rPr lang="zh-CN" altLang="en-US" smtClean="0"/>
              <a:t>2022/5/8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E6B51-4562-4326-A9D6-FA7DA0E623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9852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8A9BD0-DD70-4830-8A64-0783ACD803E6}" type="datetimeFigureOut">
              <a:rPr lang="zh-CN" altLang="en-US" smtClean="0"/>
              <a:t>2022/5/8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BE6B51-4562-4326-A9D6-FA7DA0E623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4460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emf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逻辑分析仪（示波器）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zh-CN" altLang="en-US" dirty="0" smtClean="0"/>
              <a:t>使用说明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 smtClean="0"/>
              <a:t>RIGOL MSO2302A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4466492" y="5073134"/>
            <a:ext cx="25170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按下</a:t>
            </a:r>
            <a:r>
              <a:rPr lang="en-US" altLang="zh-CN" dirty="0" smtClean="0"/>
              <a:t>LA</a:t>
            </a:r>
            <a:r>
              <a:rPr lang="zh-CN" altLang="en-US" dirty="0" smtClean="0"/>
              <a:t>用作逻辑分析仪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71606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逻辑分析仪</a:t>
            </a:r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56581"/>
            <a:ext cx="10716908" cy="5980299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553915" y="6550269"/>
            <a:ext cx="11535508" cy="14683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2326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3234" y="331054"/>
            <a:ext cx="7572375" cy="6257925"/>
          </a:xfrm>
          <a:prstGeom prst="rect">
            <a:avLst/>
          </a:prstGeom>
        </p:spPr>
      </p:pic>
      <p:cxnSp>
        <p:nvCxnSpPr>
          <p:cNvPr id="7" name="直接连接符 6"/>
          <p:cNvCxnSpPr/>
          <p:nvPr/>
        </p:nvCxnSpPr>
        <p:spPr>
          <a:xfrm flipH="1" flipV="1">
            <a:off x="2936632" y="1318846"/>
            <a:ext cx="660157" cy="63754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2092569" y="782516"/>
            <a:ext cx="12748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 smtClean="0">
                <a:solidFill>
                  <a:schemeClr val="bg1"/>
                </a:solidFill>
              </a:rPr>
              <a:t>子菜单按钮：进入子菜单或修改选项值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cxnSp>
        <p:nvCxnSpPr>
          <p:cNvPr id="10" name="直接连接符 9"/>
          <p:cNvCxnSpPr/>
          <p:nvPr/>
        </p:nvCxnSpPr>
        <p:spPr>
          <a:xfrm flipV="1">
            <a:off x="3706690" y="824327"/>
            <a:ext cx="281354" cy="56270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3693961" y="551779"/>
            <a:ext cx="21460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solidFill>
                  <a:schemeClr val="bg1"/>
                </a:solidFill>
              </a:rPr>
              <a:t>显示或隐藏菜单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 flipV="1">
            <a:off x="4462095" y="729810"/>
            <a:ext cx="1186961" cy="58024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5563624" y="492384"/>
            <a:ext cx="34465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solidFill>
                  <a:schemeClr val="bg1"/>
                </a:solidFill>
              </a:rPr>
              <a:t>多功能按钮：改变选项（按下为确定）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cxnSp>
        <p:nvCxnSpPr>
          <p:cNvPr id="16" name="直接连接符 15"/>
          <p:cNvCxnSpPr/>
          <p:nvPr/>
        </p:nvCxnSpPr>
        <p:spPr>
          <a:xfrm>
            <a:off x="4901711" y="3244304"/>
            <a:ext cx="509954" cy="32531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5295167" y="3464182"/>
            <a:ext cx="17320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solidFill>
                  <a:schemeClr val="bg1"/>
                </a:solidFill>
              </a:rPr>
              <a:t>用于调整时基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cxnSp>
        <p:nvCxnSpPr>
          <p:cNvPr id="19" name="直接连接符 18"/>
          <p:cNvCxnSpPr/>
          <p:nvPr/>
        </p:nvCxnSpPr>
        <p:spPr>
          <a:xfrm flipV="1">
            <a:off x="8889023" y="4976418"/>
            <a:ext cx="1072660" cy="10553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10032023" y="4695092"/>
            <a:ext cx="1556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Trigger</a:t>
            </a:r>
            <a:r>
              <a:rPr lang="zh-CN" altLang="en-US" dirty="0" smtClean="0"/>
              <a:t>区</a:t>
            </a:r>
            <a:endParaRPr lang="zh-CN" altLang="en-US" dirty="0"/>
          </a:p>
        </p:txBody>
      </p:sp>
      <p:cxnSp>
        <p:nvCxnSpPr>
          <p:cNvPr id="22" name="直接连接符 21"/>
          <p:cNvCxnSpPr/>
          <p:nvPr/>
        </p:nvCxnSpPr>
        <p:spPr>
          <a:xfrm>
            <a:off x="3738196" y="6321716"/>
            <a:ext cx="293810" cy="14063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4032006" y="6409430"/>
            <a:ext cx="25263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/>
              <a:t>显示下一页子菜单</a:t>
            </a:r>
            <a:endParaRPr lang="zh-CN" altLang="en-US" sz="1400" dirty="0"/>
          </a:p>
        </p:txBody>
      </p:sp>
      <p:cxnSp>
        <p:nvCxnSpPr>
          <p:cNvPr id="3" name="直接箭头连接符 2"/>
          <p:cNvCxnSpPr/>
          <p:nvPr/>
        </p:nvCxnSpPr>
        <p:spPr>
          <a:xfrm flipH="1">
            <a:off x="5156689" y="1428847"/>
            <a:ext cx="138478" cy="25497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 flipH="1">
            <a:off x="6415036" y="1467384"/>
            <a:ext cx="143293" cy="22912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 flipV="1">
            <a:off x="2366597" y="5684180"/>
            <a:ext cx="0" cy="43037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2090539" y="6102067"/>
            <a:ext cx="844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菜单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56412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106" y="550844"/>
            <a:ext cx="4285559" cy="566508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1850" y="4178055"/>
            <a:ext cx="1740665" cy="887707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6075" y="2488697"/>
            <a:ext cx="1956702" cy="104783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806105" y="6298030"/>
            <a:ext cx="72582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/>
              <a:t>黑色线是地线，必须接到实验箱的地线或低电平，只用接一条线。</a:t>
            </a:r>
            <a:endParaRPr lang="zh-CN" altLang="en-US" sz="1600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3653" y="637060"/>
            <a:ext cx="3806666" cy="272308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4123" y="691912"/>
            <a:ext cx="2221442" cy="156021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01119" y="2998807"/>
            <a:ext cx="2124075" cy="1343025"/>
          </a:xfrm>
          <a:prstGeom prst="rect">
            <a:avLst/>
          </a:prstGeom>
        </p:spPr>
      </p:pic>
      <p:cxnSp>
        <p:nvCxnSpPr>
          <p:cNvPr id="13" name="直接连接符 12"/>
          <p:cNvCxnSpPr/>
          <p:nvPr/>
        </p:nvCxnSpPr>
        <p:spPr>
          <a:xfrm>
            <a:off x="9236875" y="3205908"/>
            <a:ext cx="799491" cy="17747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 flipV="1">
            <a:off x="7028761" y="903383"/>
            <a:ext cx="1740666" cy="434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 flipH="1" flipV="1">
            <a:off x="1000897" y="2928026"/>
            <a:ext cx="752425" cy="27788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176271" y="2715150"/>
            <a:ext cx="1200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杜邦线</a:t>
            </a:r>
            <a:endParaRPr lang="zh-CN" altLang="en-US" dirty="0"/>
          </a:p>
        </p:txBody>
      </p:sp>
      <p:cxnSp>
        <p:nvCxnSpPr>
          <p:cNvPr id="25" name="直接连接符 24"/>
          <p:cNvCxnSpPr/>
          <p:nvPr/>
        </p:nvCxnSpPr>
        <p:spPr>
          <a:xfrm>
            <a:off x="3915731" y="1750531"/>
            <a:ext cx="1614736" cy="114928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2126255" y="2126255"/>
            <a:ext cx="605928" cy="221557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6411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复制示波器屏幕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885" y="3015394"/>
            <a:ext cx="6689607" cy="33152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8669" y="1690688"/>
            <a:ext cx="838200" cy="657225"/>
          </a:xfrm>
          <a:prstGeom prst="rect">
            <a:avLst/>
          </a:prstGeom>
        </p:spPr>
      </p:pic>
      <p:cxnSp>
        <p:nvCxnSpPr>
          <p:cNvPr id="8" name="直接箭头连接符 7"/>
          <p:cNvCxnSpPr/>
          <p:nvPr/>
        </p:nvCxnSpPr>
        <p:spPr>
          <a:xfrm>
            <a:off x="2110154" y="2497015"/>
            <a:ext cx="272561" cy="3692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 flipH="1">
            <a:off x="7731346" y="4607142"/>
            <a:ext cx="808892" cy="879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3484684" y="1834634"/>
            <a:ext cx="67940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注意：</a:t>
            </a:r>
            <a:r>
              <a:rPr lang="en-US" altLang="zh-CN" dirty="0" smtClean="0"/>
              <a:t>Ultra </a:t>
            </a:r>
            <a:r>
              <a:rPr lang="en-US" altLang="zh-CN" dirty="0" smtClean="0"/>
              <a:t>Sigma</a:t>
            </a:r>
            <a:r>
              <a:rPr lang="zh-CN" altLang="en-US" dirty="0" smtClean="0"/>
              <a:t>图标可能会隐藏在</a:t>
            </a:r>
            <a:r>
              <a:rPr lang="en-US" altLang="zh-CN" dirty="0" smtClean="0"/>
              <a:t>Windows</a:t>
            </a:r>
            <a:r>
              <a:rPr lang="zh-CN" altLang="en-US" dirty="0" smtClean="0"/>
              <a:t>左下角</a:t>
            </a:r>
            <a:r>
              <a:rPr lang="zh-CN" altLang="en-US" dirty="0" smtClean="0"/>
              <a:t>的任务栏里。</a:t>
            </a:r>
            <a:endParaRPr lang="zh-CN" altLang="en-US" dirty="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1038" y="2416170"/>
            <a:ext cx="1143000" cy="762000"/>
          </a:xfrm>
          <a:prstGeom prst="rect">
            <a:avLst/>
          </a:prstGeom>
        </p:spPr>
      </p:pic>
      <p:cxnSp>
        <p:nvCxnSpPr>
          <p:cNvPr id="14" name="直接箭头连接符 13"/>
          <p:cNvCxnSpPr/>
          <p:nvPr/>
        </p:nvCxnSpPr>
        <p:spPr>
          <a:xfrm flipH="1" flipV="1">
            <a:off x="10465775" y="3064078"/>
            <a:ext cx="518747" cy="38153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647700" y="1690688"/>
            <a:ext cx="911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运行</a:t>
            </a:r>
            <a:endParaRPr lang="zh-CN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8367298" y="5075120"/>
            <a:ext cx="279893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/>
              <a:t>所截屏幕在桌面的文件夹</a:t>
            </a:r>
            <a:r>
              <a:rPr lang="en-US" altLang="zh-CN" dirty="0" smtClean="0"/>
              <a:t>Ultra </a:t>
            </a:r>
            <a:r>
              <a:rPr lang="en-US" altLang="zh-CN" dirty="0"/>
              <a:t>Sigma </a:t>
            </a:r>
            <a:r>
              <a:rPr lang="en-US" altLang="zh-CN" dirty="0" smtClean="0"/>
              <a:t>Data</a:t>
            </a:r>
            <a:r>
              <a:rPr lang="zh-CN" altLang="en-US" dirty="0" smtClean="0"/>
              <a:t>中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32904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测量某个信源的频率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02113"/>
          </a:xfrm>
        </p:spPr>
        <p:txBody>
          <a:bodyPr>
            <a:noAutofit/>
          </a:bodyPr>
          <a:lstStyle/>
          <a:p>
            <a:r>
              <a:rPr lang="zh-CN" altLang="en-US" sz="1800" dirty="0" smtClean="0"/>
              <a:t>按</a:t>
            </a:r>
            <a:r>
              <a:rPr lang="en-US" altLang="zh-CN" sz="1800" dirty="0" smtClean="0"/>
              <a:t>measure</a:t>
            </a:r>
            <a:r>
              <a:rPr lang="zh-CN" altLang="en-US" sz="1800" dirty="0" smtClean="0"/>
              <a:t>按钮，用频率计选择信源，屏幕右上角会显示该信源的频率。</a:t>
            </a:r>
            <a:endParaRPr lang="zh-CN" altLang="en-US" sz="18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5807" y="2482350"/>
            <a:ext cx="5240215" cy="3339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1969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测量多个信源的频率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626776"/>
            <a:ext cx="11101754" cy="1137383"/>
          </a:xfrm>
        </p:spPr>
        <p:txBody>
          <a:bodyPr>
            <a:noAutofit/>
          </a:bodyPr>
          <a:lstStyle/>
          <a:p>
            <a:r>
              <a:rPr lang="zh-CN" altLang="en-US" sz="1600" dirty="0" smtClean="0"/>
              <a:t>按</a:t>
            </a:r>
            <a:r>
              <a:rPr lang="en-US" altLang="zh-CN" sz="1600" b="1" dirty="0" smtClean="0"/>
              <a:t>measure</a:t>
            </a:r>
            <a:r>
              <a:rPr lang="zh-CN" altLang="en-US" sz="1600" dirty="0" smtClean="0"/>
              <a:t>按钮，用</a:t>
            </a:r>
            <a:r>
              <a:rPr lang="zh-CN" altLang="en-US" sz="1600" b="1" dirty="0" smtClean="0"/>
              <a:t>信源选择</a:t>
            </a:r>
            <a:r>
              <a:rPr lang="zh-CN" altLang="en-US" sz="1600" dirty="0" smtClean="0"/>
              <a:t>选择一个信源，按屏幕左边菜单的</a:t>
            </a:r>
            <a:r>
              <a:rPr lang="zh-CN" altLang="en-US" sz="1600" b="1" dirty="0" smtClean="0"/>
              <a:t>频率</a:t>
            </a:r>
            <a:r>
              <a:rPr lang="zh-CN" altLang="en-US" sz="1600" dirty="0" smtClean="0"/>
              <a:t>，屏幕下方会显示该信源的频率。</a:t>
            </a:r>
            <a:endParaRPr lang="en-US" altLang="zh-CN" sz="1600" dirty="0" smtClean="0"/>
          </a:p>
          <a:p>
            <a:r>
              <a:rPr lang="zh-CN" altLang="en-US" sz="1600" dirty="0" smtClean="0"/>
              <a:t>再用</a:t>
            </a:r>
            <a:r>
              <a:rPr lang="zh-CN" altLang="en-US" sz="1600" b="1" dirty="0" smtClean="0"/>
              <a:t>信源</a:t>
            </a:r>
            <a:r>
              <a:rPr lang="zh-CN" altLang="en-US" sz="1600" b="1" dirty="0"/>
              <a:t>选择</a:t>
            </a:r>
            <a:r>
              <a:rPr lang="zh-CN" altLang="en-US" sz="1600" dirty="0"/>
              <a:t>选择另</a:t>
            </a:r>
            <a:r>
              <a:rPr lang="zh-CN" altLang="en-US" sz="1600" dirty="0" smtClean="0"/>
              <a:t>一个信源，按屏幕左边菜单的</a:t>
            </a:r>
            <a:r>
              <a:rPr lang="zh-CN" altLang="en-US" sz="1600" b="1" dirty="0" smtClean="0"/>
              <a:t>频率</a:t>
            </a:r>
            <a:r>
              <a:rPr lang="zh-CN" altLang="en-US" sz="1600" dirty="0" smtClean="0"/>
              <a:t>，屏幕下方显示会增加该信源的频率。</a:t>
            </a:r>
            <a:endParaRPr lang="en-US" altLang="zh-CN" sz="1600" dirty="0" smtClean="0"/>
          </a:p>
          <a:p>
            <a:r>
              <a:rPr lang="zh-CN" altLang="en-US" sz="1600" b="1" dirty="0"/>
              <a:t>移</a:t>
            </a:r>
            <a:r>
              <a:rPr lang="zh-CN" altLang="en-US" sz="1600" b="1" dirty="0" smtClean="0"/>
              <a:t>除测量</a:t>
            </a:r>
            <a:r>
              <a:rPr lang="zh-CN" altLang="en-US" sz="1600" dirty="0" smtClean="0"/>
              <a:t>可以移除上面所选择的测量。</a:t>
            </a:r>
            <a:endParaRPr lang="zh-CN" altLang="en-US" sz="16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0446" y="2744009"/>
            <a:ext cx="5943600" cy="3788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1222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调整时基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59069" y="1652965"/>
            <a:ext cx="10515600" cy="565883"/>
          </a:xfrm>
        </p:spPr>
        <p:txBody>
          <a:bodyPr>
            <a:normAutofit fontScale="85000" lnSpcReduction="10000"/>
          </a:bodyPr>
          <a:lstStyle/>
          <a:p>
            <a:r>
              <a:rPr lang="zh-CN" altLang="en-US" dirty="0" smtClean="0"/>
              <a:t>旋转</a:t>
            </a:r>
            <a:r>
              <a:rPr lang="en-US" altLang="zh-CN" dirty="0" smtClean="0"/>
              <a:t>Horizontal</a:t>
            </a:r>
            <a:r>
              <a:rPr lang="zh-CN" altLang="en-US" dirty="0" smtClean="0"/>
              <a:t>区的</a:t>
            </a:r>
            <a:r>
              <a:rPr lang="en-US" altLang="zh-CN" dirty="0" smtClean="0"/>
              <a:t>Scale</a:t>
            </a:r>
            <a:r>
              <a:rPr lang="zh-CN" altLang="en-US" dirty="0" smtClean="0"/>
              <a:t>旋钮，逆时针旋转增大，顺时针减小，按倍数进行。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5468" y="2671929"/>
            <a:ext cx="6084277" cy="3877974"/>
          </a:xfrm>
          <a:prstGeom prst="rect">
            <a:avLst/>
          </a:prstGeom>
        </p:spPr>
      </p:pic>
      <p:cxnSp>
        <p:nvCxnSpPr>
          <p:cNvPr id="6" name="直接箭头连接符 5"/>
          <p:cNvCxnSpPr/>
          <p:nvPr/>
        </p:nvCxnSpPr>
        <p:spPr>
          <a:xfrm flipH="1">
            <a:off x="3974124" y="2526445"/>
            <a:ext cx="61545" cy="4541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3701562" y="2206842"/>
            <a:ext cx="1450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每格</a:t>
            </a:r>
            <a:r>
              <a:rPr lang="en-US" altLang="zh-CN" dirty="0" smtClean="0"/>
              <a:t>200us</a:t>
            </a:r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8748345" y="4281854"/>
            <a:ext cx="3042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全部测量用于</a:t>
            </a:r>
            <a:r>
              <a:rPr lang="en-US" altLang="zh-CN" dirty="0" smtClean="0"/>
              <a:t>CH1</a:t>
            </a:r>
            <a:r>
              <a:rPr lang="zh-CN" altLang="en-US" dirty="0" smtClean="0"/>
              <a:t>和</a:t>
            </a:r>
            <a:r>
              <a:rPr lang="en-US" altLang="zh-CN" dirty="0" smtClean="0"/>
              <a:t>CH2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863213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06315" y="735379"/>
            <a:ext cx="10515600" cy="398829"/>
          </a:xfrm>
        </p:spPr>
        <p:txBody>
          <a:bodyPr>
            <a:normAutofit fontScale="92500" lnSpcReduction="20000"/>
          </a:bodyPr>
          <a:lstStyle/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按下</a:t>
            </a:r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Scale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旋钮，</a:t>
            </a:r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LA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下显示了两种时基波形</a:t>
            </a:r>
            <a:r>
              <a:rPr lang="zh-CN" altLang="en-US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延迟</a:t>
            </a: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扫描功能。	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3969" y="1433146"/>
            <a:ext cx="7620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8692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调整触发方式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22021"/>
          </a:xfrm>
        </p:spPr>
        <p:txBody>
          <a:bodyPr>
            <a:normAutofit/>
          </a:bodyPr>
          <a:lstStyle/>
          <a:p>
            <a:r>
              <a:rPr lang="zh-CN" altLang="en-US" sz="2000" dirty="0" smtClean="0"/>
              <a:t>用</a:t>
            </a:r>
            <a:r>
              <a:rPr lang="en-US" altLang="zh-CN" sz="2000" dirty="0" smtClean="0"/>
              <a:t>Trigger</a:t>
            </a:r>
            <a:r>
              <a:rPr lang="zh-CN" altLang="en-US" sz="2000" dirty="0" smtClean="0"/>
              <a:t>区</a:t>
            </a:r>
            <a:r>
              <a:rPr lang="en-US" altLang="zh-CN" sz="2000" dirty="0" smtClean="0"/>
              <a:t>Menu</a:t>
            </a:r>
            <a:r>
              <a:rPr lang="zh-CN" altLang="en-US" sz="2000" dirty="0" smtClean="0"/>
              <a:t>显示</a:t>
            </a:r>
            <a:r>
              <a:rPr lang="en-US" altLang="zh-CN" sz="2000" dirty="0" smtClean="0"/>
              <a:t>Trigger</a:t>
            </a:r>
            <a:r>
              <a:rPr lang="zh-CN" altLang="en-US" sz="2000" dirty="0" smtClean="0"/>
              <a:t>菜单，选择变化最小的信源作为触发信源。</a:t>
            </a:r>
            <a:endParaRPr lang="en-US" altLang="zh-CN" sz="2000" dirty="0" smtClean="0"/>
          </a:p>
          <a:p>
            <a:r>
              <a:rPr lang="zh-CN" altLang="en-US" sz="2000" dirty="0"/>
              <a:t>当屏幕出现波形重叠或不稳定</a:t>
            </a:r>
            <a:r>
              <a:rPr lang="zh-CN" altLang="en-US" sz="2000" dirty="0" smtClean="0"/>
              <a:t>，选择</a:t>
            </a:r>
            <a:r>
              <a:rPr lang="zh-CN" altLang="en-US" sz="2000" dirty="0"/>
              <a:t>波形稳定且上升沿较少的通道作为触发信源，触发方式选择自动触发，触发边沿选择上升</a:t>
            </a:r>
            <a:r>
              <a:rPr lang="zh-CN" altLang="en-US" sz="2000" dirty="0" smtClean="0"/>
              <a:t>沿，然后</a:t>
            </a:r>
            <a:r>
              <a:rPr lang="zh-CN" altLang="en-US" sz="2000" dirty="0"/>
              <a:t>缓慢旋转</a:t>
            </a:r>
            <a:r>
              <a:rPr lang="en-US" altLang="zh-CN" sz="2000" dirty="0"/>
              <a:t>TRIGGER</a:t>
            </a:r>
            <a:r>
              <a:rPr lang="zh-CN" altLang="en-US" sz="2000" dirty="0"/>
              <a:t>区域的</a:t>
            </a:r>
            <a:r>
              <a:rPr lang="en-US" altLang="zh-CN" sz="2000" dirty="0"/>
              <a:t>LEVEL</a:t>
            </a:r>
            <a:r>
              <a:rPr lang="zh-CN" altLang="en-US" sz="2000" dirty="0"/>
              <a:t>旋钮，即触发电平，直至波形稳定。</a:t>
            </a:r>
          </a:p>
          <a:p>
            <a:endParaRPr lang="zh-CN" altLang="en-US" sz="20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4983" y="3282583"/>
            <a:ext cx="5125915" cy="3267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0696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关闭通道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16413"/>
          </a:xfrm>
        </p:spPr>
        <p:txBody>
          <a:bodyPr>
            <a:noAutofit/>
          </a:bodyPr>
          <a:lstStyle/>
          <a:p>
            <a:r>
              <a:rPr lang="zh-CN" altLang="en-US" sz="2400" dirty="0" smtClean="0"/>
              <a:t>按</a:t>
            </a:r>
            <a:r>
              <a:rPr lang="en-US" altLang="zh-CN" sz="2400" dirty="0" smtClean="0"/>
              <a:t>LA</a:t>
            </a:r>
            <a:r>
              <a:rPr lang="zh-CN" altLang="en-US" sz="2400" dirty="0" smtClean="0"/>
              <a:t>键显示</a:t>
            </a:r>
            <a:r>
              <a:rPr lang="en-US" altLang="zh-CN" sz="2400" dirty="0" smtClean="0"/>
              <a:t>LA</a:t>
            </a:r>
            <a:r>
              <a:rPr lang="zh-CN" altLang="en-US" sz="2400" dirty="0" smtClean="0"/>
              <a:t>菜单</a:t>
            </a:r>
            <a:endParaRPr lang="zh-CN" altLang="en-US" sz="24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1215" y="2405754"/>
            <a:ext cx="5301762" cy="3379217"/>
          </a:xfrm>
          <a:prstGeom prst="rect">
            <a:avLst/>
          </a:prstGeom>
        </p:spPr>
      </p:pic>
      <p:cxnSp>
        <p:nvCxnSpPr>
          <p:cNvPr id="6" name="直接箭头连接符 5"/>
          <p:cNvCxnSpPr/>
          <p:nvPr/>
        </p:nvCxnSpPr>
        <p:spPr>
          <a:xfrm flipH="1">
            <a:off x="7007469" y="2971800"/>
            <a:ext cx="791308" cy="879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7798777" y="2787134"/>
            <a:ext cx="24882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/>
              <a:t>突出显示（红色波形）</a:t>
            </a:r>
            <a:endParaRPr lang="zh-CN" altLang="en-US" sz="1400" dirty="0"/>
          </a:p>
        </p:txBody>
      </p:sp>
      <p:cxnSp>
        <p:nvCxnSpPr>
          <p:cNvPr id="9" name="直接箭头连接符 8"/>
          <p:cNvCxnSpPr/>
          <p:nvPr/>
        </p:nvCxnSpPr>
        <p:spPr>
          <a:xfrm flipH="1" flipV="1">
            <a:off x="7007469" y="3774944"/>
            <a:ext cx="791308" cy="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7798777" y="3559822"/>
            <a:ext cx="24882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/>
              <a:t>开关某个通道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9820687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139" y="774088"/>
            <a:ext cx="7696200" cy="490537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216519" y="5943600"/>
            <a:ext cx="42994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/>
              <a:t>关闭模拟信源显示，按</a:t>
            </a:r>
            <a:r>
              <a:rPr lang="en-US" altLang="zh-CN" sz="1600" dirty="0" smtClean="0"/>
              <a:t>CH1</a:t>
            </a:r>
            <a:r>
              <a:rPr lang="zh-CN" altLang="en-US" sz="1600" dirty="0" smtClean="0"/>
              <a:t>和</a:t>
            </a:r>
            <a:r>
              <a:rPr lang="en-US" altLang="zh-CN" sz="1600" dirty="0" smtClean="0"/>
              <a:t>CH2</a:t>
            </a:r>
            <a:r>
              <a:rPr lang="zh-CN" altLang="en-US" sz="1600" dirty="0" smtClean="0"/>
              <a:t>关闭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1183316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保存数据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0375"/>
          </a:xfrm>
        </p:spPr>
        <p:txBody>
          <a:bodyPr>
            <a:normAutofit lnSpcReduction="10000"/>
          </a:bodyPr>
          <a:lstStyle/>
          <a:p>
            <a:r>
              <a:rPr lang="zh-CN" altLang="en-US" dirty="0" smtClean="0"/>
              <a:t>按</a:t>
            </a:r>
            <a:r>
              <a:rPr lang="en-US" altLang="zh-CN" dirty="0" smtClean="0"/>
              <a:t>Storage</a:t>
            </a:r>
            <a:r>
              <a:rPr lang="zh-CN" altLang="en-US" dirty="0" smtClean="0"/>
              <a:t>按钮</a:t>
            </a:r>
            <a:r>
              <a:rPr lang="en-US" altLang="zh-CN" dirty="0" smtClean="0"/>
              <a:t>/</a:t>
            </a:r>
            <a:r>
              <a:rPr lang="zh-CN" altLang="en-US" dirty="0" smtClean="0"/>
              <a:t>保存，旋和按多功能按钮选择一个数据文件保存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5516" y="2660536"/>
            <a:ext cx="5495192" cy="3502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5911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</TotalTime>
  <Words>355</Words>
  <Application>Microsoft Office PowerPoint</Application>
  <PresentationFormat>宽屏</PresentationFormat>
  <Paragraphs>38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8" baseType="lpstr">
      <vt:lpstr>等线</vt:lpstr>
      <vt:lpstr>等线 Light</vt:lpstr>
      <vt:lpstr>宋体</vt:lpstr>
      <vt:lpstr>Arial</vt:lpstr>
      <vt:lpstr>Office 主题​​</vt:lpstr>
      <vt:lpstr>逻辑分析仪（示波器） 使用说明</vt:lpstr>
      <vt:lpstr>逻辑分析仪</vt:lpstr>
      <vt:lpstr>PowerPoint 演示文稿</vt:lpstr>
      <vt:lpstr>PowerPoint 演示文稿</vt:lpstr>
      <vt:lpstr>复制示波器屏幕</vt:lpstr>
      <vt:lpstr>测量某个信源的频率</vt:lpstr>
      <vt:lpstr>测量多个信源的频率</vt:lpstr>
      <vt:lpstr>调整时基</vt:lpstr>
      <vt:lpstr>PowerPoint 演示文稿</vt:lpstr>
      <vt:lpstr>调整触发方式</vt:lpstr>
      <vt:lpstr>关闭通道</vt:lpstr>
      <vt:lpstr>PowerPoint 演示文稿</vt:lpstr>
      <vt:lpstr>保存数据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逻辑分析仪（示波器） 使用说明</dc:title>
  <dc:creator>pc</dc:creator>
  <cp:lastModifiedBy>Windows 用户</cp:lastModifiedBy>
  <cp:revision>24</cp:revision>
  <dcterms:created xsi:type="dcterms:W3CDTF">2022-05-07T01:57:26Z</dcterms:created>
  <dcterms:modified xsi:type="dcterms:W3CDTF">2022-05-08T16:04:07Z</dcterms:modified>
</cp:coreProperties>
</file>