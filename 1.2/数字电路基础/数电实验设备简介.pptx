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8" r:id="rId3"/>
    <p:sldId id="283" r:id="rId4"/>
    <p:sldId id="284" r:id="rId5"/>
    <p:sldId id="302" r:id="rId6"/>
    <p:sldId id="303" r:id="rId7"/>
    <p:sldId id="304" r:id="rId8"/>
    <p:sldId id="305" r:id="rId9"/>
    <p:sldId id="306" r:id="rId10"/>
    <p:sldId id="307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-74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225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1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260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773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80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22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73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174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38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903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52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84347-D8A6-47E2-8BD7-CAEBD84362F6}" type="datetimeFigureOut">
              <a:rPr lang="zh-CN" altLang="en-US" smtClean="0"/>
              <a:t>2017/9/22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DFF7F-6C3F-4A28-9DA2-5161B6A85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64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33774"/>
            <a:ext cx="4971393" cy="70639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/>
              <a:t>1.</a:t>
            </a:r>
            <a:r>
              <a:rPr lang="zh-CN" altLang="en-US" sz="4000" b="1" dirty="0" smtClean="0"/>
              <a:t>数电实验箱</a:t>
            </a:r>
            <a:endParaRPr lang="zh-CN" altLang="en-US" sz="4000" b="1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292" y="47329"/>
            <a:ext cx="5538347" cy="6810671"/>
          </a:xfrm>
        </p:spPr>
      </p:pic>
      <p:sp>
        <p:nvSpPr>
          <p:cNvPr id="8" name="圆角矩形 7"/>
          <p:cNvSpPr/>
          <p:nvPr/>
        </p:nvSpPr>
        <p:spPr>
          <a:xfrm>
            <a:off x="6512560" y="447040"/>
            <a:ext cx="2600960" cy="10871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9306560" y="617974"/>
            <a:ext cx="2082800" cy="10871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9471660" y="414774"/>
            <a:ext cx="690880" cy="1016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261823" y="160774"/>
            <a:ext cx="5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625840" y="1828800"/>
            <a:ext cx="274320" cy="14732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887895" y="2367280"/>
            <a:ext cx="2682065" cy="1625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674361" y="2109708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956040" y="1854200"/>
            <a:ext cx="227102" cy="14732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6096000" y="2660311"/>
            <a:ext cx="2889996" cy="5240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816201" y="2424946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765970" y="4114800"/>
            <a:ext cx="719149" cy="863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6096000" y="4200267"/>
            <a:ext cx="3624824" cy="2278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781215" y="3999746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0637475" y="4114800"/>
            <a:ext cx="719149" cy="736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6050854" y="4597042"/>
            <a:ext cx="4577617" cy="7227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5775561" y="4519096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11222069" y="2173347"/>
            <a:ext cx="222996" cy="1872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5989146" y="3320277"/>
            <a:ext cx="5294926" cy="15720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5679615" y="3136146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7355840" y="1828800"/>
            <a:ext cx="185158" cy="46557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/>
          <p:cNvCxnSpPr/>
          <p:nvPr/>
        </p:nvCxnSpPr>
        <p:spPr>
          <a:xfrm>
            <a:off x="6084343" y="1955086"/>
            <a:ext cx="1265406" cy="11880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826711" y="1738273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8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035449"/>
              </p:ext>
            </p:extLst>
          </p:nvPr>
        </p:nvGraphicFramePr>
        <p:xfrm>
          <a:off x="38855" y="740172"/>
          <a:ext cx="5610105" cy="5843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545"/>
                <a:gridCol w="4734560"/>
              </a:tblGrid>
              <a:tr h="4231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编号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说明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1951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两组</a:t>
                      </a:r>
                      <a:r>
                        <a:rPr lang="en-US" altLang="zh-CN" dirty="0" smtClean="0"/>
                        <a:t>4</a:t>
                      </a:r>
                      <a:r>
                        <a:rPr lang="zh-CN" altLang="en-US" dirty="0" smtClean="0"/>
                        <a:t>联装</a:t>
                      </a:r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段共阴极数码管，低电平位选通，译码芯片已连，</a:t>
                      </a:r>
                      <a:r>
                        <a:rPr lang="en-US" altLang="zh-CN" dirty="0" smtClean="0"/>
                        <a:t>BCD</a:t>
                      </a:r>
                      <a:r>
                        <a:rPr lang="zh-CN" altLang="en-US" dirty="0" smtClean="0"/>
                        <a:t>码最高位输入端分别是</a:t>
                      </a:r>
                      <a:r>
                        <a:rPr lang="en-US" altLang="zh-CN" dirty="0" smtClean="0"/>
                        <a:t>P13</a:t>
                      </a:r>
                      <a:r>
                        <a:rPr lang="zh-CN" altLang="en-US" dirty="0" smtClean="0"/>
                        <a:t>和</a:t>
                      </a:r>
                      <a:r>
                        <a:rPr lang="en-US" altLang="zh-CN" smtClean="0"/>
                        <a:t>P23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2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LED</a:t>
                      </a:r>
                      <a:r>
                        <a:rPr lang="zh-CN" altLang="en-US" dirty="0" smtClean="0"/>
                        <a:t>“</a:t>
                      </a:r>
                      <a:r>
                        <a:rPr lang="en-US" altLang="zh-CN" dirty="0" smtClean="0"/>
                        <a:t>0-1</a:t>
                      </a:r>
                      <a:r>
                        <a:rPr lang="zh-CN" altLang="en-US" dirty="0" smtClean="0"/>
                        <a:t>”显示器，高电平亮灯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2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高低电平输出端，</a:t>
                      </a:r>
                      <a:r>
                        <a:rPr lang="en-US" altLang="zh-CN" dirty="0" smtClean="0"/>
                        <a:t>HIGH</a:t>
                      </a:r>
                      <a:r>
                        <a:rPr lang="zh-CN" altLang="en-US" dirty="0" smtClean="0"/>
                        <a:t>输出高电平，</a:t>
                      </a:r>
                      <a:r>
                        <a:rPr lang="en-US" altLang="zh-CN" dirty="0" smtClean="0"/>
                        <a:t>LOW</a:t>
                      </a:r>
                      <a:r>
                        <a:rPr lang="zh-CN" altLang="en-US" dirty="0" smtClean="0"/>
                        <a:t>输出低电平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754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８组自由接线端，用于扩展接线口，每组可将１个接口扩展为４个接口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2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模拟开关，拨码开关控制输出高低电平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571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脉冲输出，按键切换输出１</a:t>
                      </a:r>
                      <a:r>
                        <a:rPr lang="en-US" altLang="zh-CN" dirty="0" smtClean="0"/>
                        <a:t>Hz,10kHz,1MHz</a:t>
                      </a:r>
                      <a:r>
                        <a:rPr lang="zh-CN" altLang="en-US" dirty="0" smtClean="0"/>
                        <a:t>时钟信号，以及按键控制输出单个正脉冲或负脉冲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34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示波器接线端，夹子接</a:t>
                      </a:r>
                      <a:r>
                        <a:rPr lang="en-US" altLang="zh-CN" dirty="0" smtClean="0"/>
                        <a:t>GND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1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芯片切换开关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0" name="直接箭头连接符 9"/>
          <p:cNvCxnSpPr/>
          <p:nvPr/>
        </p:nvCxnSpPr>
        <p:spPr>
          <a:xfrm>
            <a:off x="5821680" y="751840"/>
            <a:ext cx="690880" cy="1016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573110" y="497840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48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33774"/>
            <a:ext cx="4971393" cy="706398"/>
          </a:xfrm>
        </p:spPr>
        <p:txBody>
          <a:bodyPr>
            <a:normAutofit/>
          </a:bodyPr>
          <a:lstStyle/>
          <a:p>
            <a:r>
              <a:rPr lang="en-US" altLang="zh-CN" sz="4000" b="1" dirty="0" smtClean="0"/>
              <a:t>1.</a:t>
            </a:r>
            <a:r>
              <a:rPr lang="zh-CN" altLang="en-US" sz="4000" b="1" dirty="0" smtClean="0"/>
              <a:t>数电实验箱</a:t>
            </a:r>
            <a:endParaRPr lang="zh-CN" altLang="en-US" sz="4000" b="1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292" y="47329"/>
            <a:ext cx="5538347" cy="6810671"/>
          </a:xfrm>
        </p:spPr>
      </p:pic>
      <p:sp>
        <p:nvSpPr>
          <p:cNvPr id="8" name="圆角矩形 7"/>
          <p:cNvSpPr/>
          <p:nvPr/>
        </p:nvSpPr>
        <p:spPr>
          <a:xfrm>
            <a:off x="6456282" y="3248799"/>
            <a:ext cx="1883380" cy="8660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732595" y="2712720"/>
            <a:ext cx="690880" cy="1016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674361" y="2440001"/>
            <a:ext cx="50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785546" y="4460966"/>
            <a:ext cx="625239" cy="8128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685650" y="4165086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5826711" y="1049867"/>
            <a:ext cx="1838445" cy="138072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690612" y="714772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" name="表格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74070"/>
                  </p:ext>
                </p:extLst>
              </p:nvPr>
            </p:nvGraphicFramePr>
            <p:xfrm>
              <a:off x="38855" y="740172"/>
              <a:ext cx="5610105" cy="59343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9234"/>
                    <a:gridCol w="3300871"/>
                  </a:tblGrid>
                  <a:tr h="4231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solidFill>
                                <a:schemeClr val="tx1"/>
                              </a:solidFill>
                            </a:rPr>
                            <a:t>编号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solidFill>
                                <a:schemeClr val="tx1"/>
                              </a:solidFill>
                            </a:rPr>
                            <a:t>门电路芯片说明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</a:tr>
                  <a:tr h="1308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74LS00</a:t>
                          </a:r>
                          <a:r>
                            <a:rPr lang="zh-CN" altLang="en-US" dirty="0" smtClean="0"/>
                            <a:t>，四组</a:t>
                          </a:r>
                          <a:r>
                            <a:rPr lang="en-US" altLang="zh-CN" dirty="0" smtClean="0"/>
                            <a:t>2</a:t>
                          </a:r>
                          <a:r>
                            <a:rPr lang="zh-CN" altLang="en-US" dirty="0" smtClean="0"/>
                            <a:t>输入与非门，</a:t>
                          </a:r>
                          <a:endParaRPr lang="en-US" altLang="zh-CN" dirty="0" smtClean="0"/>
                        </a:p>
                        <a:p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zh-CN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、</a:t>
                          </a:r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zh-CN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为输入端，</a:t>
                          </a:r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</a:t>
                          </a:r>
                          <a:r>
                            <a:rPr lang="zh-CN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为输出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端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即</a:t>
                          </a:r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CN" altLang="zh-CN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AB</m:t>
                                  </m:r>
                                </m:e>
                              </m:acc>
                            </m:oMath>
                          </a14:m>
                          <a:endParaRPr lang="en-US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12756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</a:p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74LS08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，四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组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输入与门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endParaRPr lang="zh-CN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、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为输入端，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为输出端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即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 = AB</a:t>
                          </a:r>
                        </a:p>
                        <a:p>
                          <a:endParaRPr lang="en-US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12643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74LS20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，二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组</a:t>
                          </a:r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  <a:r>
                            <a:rPr lang="zh-CN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输入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与非门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endParaRPr lang="zh-CN" altLang="zh-CN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</a:t>
                          </a:r>
                          <a:r>
                            <a:rPr lang="zh-CN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、</a:t>
                          </a:r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zh-CN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、</a:t>
                          </a:r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</a:t>
                          </a:r>
                          <a:r>
                            <a:rPr lang="zh-CN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、</a:t>
                          </a:r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</a:t>
                          </a:r>
                          <a:r>
                            <a:rPr lang="zh-CN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为输入端，</a:t>
                          </a:r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</a:t>
                          </a:r>
                          <a:r>
                            <a:rPr lang="zh-CN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为输出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端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endParaRPr lang="en-US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即</a:t>
                          </a:r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CN" altLang="zh-CN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ABCD</m:t>
                                  </m:r>
                                </m:e>
                              </m:acc>
                            </m:oMath>
                          </a14:m>
                          <a:endParaRPr lang="en-US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zh-CN" altLang="zh-CN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688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</a:p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74LS86</a:t>
                          </a:r>
                          <a:r>
                            <a:rPr lang="zh-CN" altLang="en-US" dirty="0" smtClean="0"/>
                            <a:t>，四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组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输入异或门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endParaRPr lang="zh-CN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、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为输入端，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为输出端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即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 = A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⊕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</a:p>
                        <a:p>
                          <a:endParaRPr lang="en-US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zh-CN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5" name="表格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74070"/>
                  </p:ext>
                </p:extLst>
              </p:nvPr>
            </p:nvGraphicFramePr>
            <p:xfrm>
              <a:off x="38855" y="740172"/>
              <a:ext cx="5610105" cy="59343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9234"/>
                    <a:gridCol w="3300871"/>
                  </a:tblGrid>
                  <a:tr h="4231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solidFill>
                                <a:schemeClr val="tx1"/>
                              </a:solidFill>
                            </a:rPr>
                            <a:t>编号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solidFill>
                                <a:schemeClr val="tx1"/>
                              </a:solidFill>
                            </a:rPr>
                            <a:t>门电路芯片说明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</a:tr>
                  <a:tr h="1308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9926" t="-35814" b="-320930"/>
                          </a:stretch>
                        </a:blipFill>
                      </a:tcPr>
                    </a:tc>
                  </a:tr>
                  <a:tr h="12756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2</a:t>
                          </a:r>
                        </a:p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74LS08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，四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组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输入与门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endParaRPr lang="zh-CN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、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为输入端，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为输出端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即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 = AB</a:t>
                          </a:r>
                        </a:p>
                        <a:p>
                          <a:endParaRPr lang="en-US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1463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69926" t="-209167" b="-100000"/>
                          </a:stretch>
                        </a:blip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4</a:t>
                          </a:r>
                        </a:p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74LS86</a:t>
                          </a:r>
                          <a:r>
                            <a:rPr lang="zh-CN" altLang="en-US" dirty="0" smtClean="0"/>
                            <a:t>，四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组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输入异或门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endParaRPr lang="zh-CN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、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为输入端，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为输出端</a:t>
                          </a:r>
                          <a:r>
                            <a:rPr lang="zh-CN" altLang="en-US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，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即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Y = A</a:t>
                          </a:r>
                          <a:r>
                            <a:rPr lang="zh-CN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⊕</a:t>
                          </a:r>
                          <a:r>
                            <a:rPr lang="en-US" altLang="zh-CN" sz="18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</a:p>
                        <a:p>
                          <a:endParaRPr lang="en-US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zh-CN" altLang="zh-CN" sz="18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0" name="直接箭头连接符 9"/>
          <p:cNvCxnSpPr/>
          <p:nvPr/>
        </p:nvCxnSpPr>
        <p:spPr>
          <a:xfrm>
            <a:off x="5785546" y="3681800"/>
            <a:ext cx="690880" cy="1016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685999" y="3332224"/>
            <a:ext cx="6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403534" y="2391079"/>
            <a:ext cx="1044885" cy="8660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6443044" y="4101361"/>
            <a:ext cx="1044885" cy="8660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7436476" y="2430589"/>
            <a:ext cx="1044885" cy="8660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78" y="1555562"/>
            <a:ext cx="1535289" cy="884439"/>
          </a:xfrm>
          <a:prstGeom prst="rect">
            <a:avLst/>
          </a:prstGeom>
          <a:noFill/>
        </p:spPr>
      </p:pic>
      <p:pic>
        <p:nvPicPr>
          <p:cNvPr id="44" name="图片 43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6" y="2763520"/>
            <a:ext cx="1440108" cy="918280"/>
          </a:xfrm>
          <a:prstGeom prst="rect">
            <a:avLst/>
          </a:prstGeom>
          <a:noFill/>
        </p:spPr>
      </p:pic>
      <p:pic>
        <p:nvPicPr>
          <p:cNvPr id="46" name="图片 45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3" y="4101361"/>
            <a:ext cx="1512712" cy="1046372"/>
          </a:xfrm>
          <a:prstGeom prst="rect">
            <a:avLst/>
          </a:prstGeom>
          <a:noFill/>
        </p:spPr>
      </p:pic>
      <p:pic>
        <p:nvPicPr>
          <p:cNvPr id="47" name="图片 46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7" y="5554132"/>
            <a:ext cx="1585694" cy="10837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32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64292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2</a:t>
            </a:r>
            <a:r>
              <a:rPr lang="en-US" altLang="zh-CN" b="1" dirty="0" smtClean="0"/>
              <a:t>. MSO2000A&amp;DS2000A</a:t>
            </a:r>
            <a:r>
              <a:rPr lang="zh-CN" altLang="en-US" b="1" dirty="0" smtClean="0"/>
              <a:t>（示波器）</a:t>
            </a:r>
            <a:br>
              <a:rPr lang="zh-CN" altLang="en-US" b="1" dirty="0" smtClean="0"/>
            </a:b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614354"/>
          </a:xfrm>
        </p:spPr>
        <p:txBody>
          <a:bodyPr/>
          <a:lstStyle/>
          <a:p>
            <a:r>
              <a:rPr lang="zh-CN" altLang="en-US" dirty="0" smtClean="0"/>
              <a:t>前面板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38" y="2214554"/>
            <a:ext cx="7410472" cy="4357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21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2189" y="1176339"/>
            <a:ext cx="7667625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62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示波器在数电实验中的使用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94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MSO2000</a:t>
            </a:r>
            <a:r>
              <a:rPr lang="zh-CN" altLang="en-US" dirty="0" smtClean="0"/>
              <a:t>系列示波器提供了</a:t>
            </a:r>
            <a:r>
              <a:rPr lang="en-US" altLang="zh-CN" dirty="0" smtClean="0"/>
              <a:t>16</a:t>
            </a:r>
            <a:r>
              <a:rPr lang="zh-CN" altLang="en-US" dirty="0" smtClean="0"/>
              <a:t>条数字通道，可同时对多条数据线上的数字信号进行观察和测试。根据参考电压判定信号的</a:t>
            </a:r>
            <a:r>
              <a:rPr lang="en-US" altLang="zh-CN" dirty="0" smtClean="0"/>
              <a:t>HIGH/LOW</a:t>
            </a:r>
            <a:r>
              <a:rPr lang="zh-CN" altLang="en-US" dirty="0" smtClean="0"/>
              <a:t>，从而形成数字波形。     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906" y="3145751"/>
            <a:ext cx="1707721" cy="30462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180" y="2743202"/>
            <a:ext cx="6312931" cy="4007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61689" y="3145751"/>
            <a:ext cx="1873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注意：测量数据线的颜色和编号对应关系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413956" y="5373511"/>
            <a:ext cx="293511" cy="90311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90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1" y="1111955"/>
            <a:ext cx="9115425" cy="5110163"/>
          </a:xfr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8795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数字通道显示界面和控制菜单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1648178" y="2370667"/>
            <a:ext cx="338666" cy="308186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824089" y="2150533"/>
            <a:ext cx="824089" cy="22013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7010400" y="2246488"/>
            <a:ext cx="1264356" cy="33640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8274756" y="3352800"/>
            <a:ext cx="2483555" cy="22577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1603022"/>
            <a:ext cx="903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16</a:t>
            </a:r>
            <a:r>
              <a:rPr lang="zh-CN" altLang="en-US" dirty="0" smtClean="0">
                <a:solidFill>
                  <a:srgbClr val="FF0000"/>
                </a:solidFill>
              </a:rPr>
              <a:t>条数字通道，编号与相应颜色数据线对应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34133" y="3352800"/>
            <a:ext cx="1309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逻辑分析通道控制菜单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10035823" y="1907822"/>
            <a:ext cx="722488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58309" y="1134870"/>
            <a:ext cx="1603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多功能旋钮，可旋转选择菜单子项，按下确认选项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5949244" y="711200"/>
            <a:ext cx="2020713" cy="176898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58667" y="188962"/>
            <a:ext cx="3499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数字通道波形显示，红色表示当前选择的通道，已选择的通道可使用多功能旋钮上下移动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22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常见问题调整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851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、参考</a:t>
            </a:r>
            <a:r>
              <a:rPr lang="zh-CN" altLang="en-US" dirty="0"/>
              <a:t>电平的</a:t>
            </a:r>
            <a:r>
              <a:rPr lang="zh-CN" altLang="en-US" dirty="0" smtClean="0"/>
              <a:t>设置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选择</a:t>
            </a:r>
            <a:r>
              <a:rPr lang="en-US" altLang="zh-CN" dirty="0" smtClean="0"/>
              <a:t>LA</a:t>
            </a:r>
            <a:r>
              <a:rPr lang="zh-CN" altLang="en-US" dirty="0" smtClean="0"/>
              <a:t>菜单的“阈值”，选择门限类型为</a:t>
            </a:r>
            <a:r>
              <a:rPr lang="en-US" altLang="zh-CN" dirty="0" smtClean="0"/>
              <a:t>TTL</a:t>
            </a:r>
            <a:r>
              <a:rPr lang="zh-CN" altLang="en-US" dirty="0" smtClean="0"/>
              <a:t>，并应用于</a:t>
            </a:r>
            <a:r>
              <a:rPr lang="en-US" altLang="zh-CN" dirty="0" smtClean="0"/>
              <a:t>D7-D0</a:t>
            </a:r>
            <a:r>
              <a:rPr lang="zh-CN" altLang="en-US" dirty="0" smtClean="0"/>
              <a:t>和</a:t>
            </a:r>
            <a:r>
              <a:rPr lang="en-US" altLang="zh-CN" dirty="0" smtClean="0"/>
              <a:t>D15-D8</a:t>
            </a:r>
            <a:r>
              <a:rPr lang="zh-CN" altLang="en-US" dirty="0" smtClean="0"/>
              <a:t>通道。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当</a:t>
            </a:r>
            <a:r>
              <a:rPr lang="zh-CN" altLang="en-US" dirty="0"/>
              <a:t>输入信号的电压大于当前设置的</a:t>
            </a:r>
            <a:r>
              <a:rPr lang="zh-CN" altLang="en-US" dirty="0" smtClean="0"/>
              <a:t>阈值（</a:t>
            </a:r>
            <a:r>
              <a:rPr lang="en-US" altLang="zh-CN" dirty="0" smtClean="0"/>
              <a:t>3.5V</a:t>
            </a:r>
            <a:r>
              <a:rPr lang="zh-CN" altLang="en-US" dirty="0" smtClean="0"/>
              <a:t>左右）时</a:t>
            </a:r>
            <a:r>
              <a:rPr lang="zh-CN" altLang="en-US" dirty="0"/>
              <a:t>，判定为逻辑</a:t>
            </a:r>
            <a:r>
              <a:rPr lang="en-US" altLang="zh-CN" dirty="0"/>
              <a:t>1</a:t>
            </a:r>
            <a:r>
              <a:rPr lang="zh-CN" altLang="en-US" dirty="0"/>
              <a:t>，否则为逻辑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78" y="535382"/>
            <a:ext cx="3330221" cy="594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8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常见问题调整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533444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dirty="0" smtClean="0"/>
              <a:t>选择通道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/>
              <a:t>选择</a:t>
            </a:r>
            <a:r>
              <a:rPr lang="en-US" altLang="zh-CN" dirty="0"/>
              <a:t>LA</a:t>
            </a:r>
            <a:r>
              <a:rPr lang="zh-CN" altLang="en-US" dirty="0"/>
              <a:t>菜单的</a:t>
            </a:r>
            <a:r>
              <a:rPr lang="zh-CN" altLang="en-US" dirty="0" smtClean="0"/>
              <a:t>“通道</a:t>
            </a:r>
            <a:r>
              <a:rPr lang="en-US" altLang="zh-CN" dirty="0" smtClean="0"/>
              <a:t>/</a:t>
            </a:r>
            <a:r>
              <a:rPr lang="zh-CN" altLang="en-US" dirty="0" smtClean="0"/>
              <a:t>组”，如右图所示，使用多功能旋钮选择某一通道或某一组通道。选中的通道（组）可使用多功能旋钮实现在屏幕上移或下移。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218" y="158044"/>
            <a:ext cx="3610477" cy="644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36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常见问题调整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65898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、打开、关闭通道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/>
              <a:t>选择</a:t>
            </a:r>
            <a:r>
              <a:rPr lang="en-US" altLang="zh-CN" dirty="0"/>
              <a:t>LA</a:t>
            </a:r>
            <a:r>
              <a:rPr lang="zh-CN" altLang="en-US" dirty="0"/>
              <a:t>菜单的“开</a:t>
            </a:r>
            <a:r>
              <a:rPr lang="en-US" altLang="zh-CN" dirty="0"/>
              <a:t>/</a:t>
            </a:r>
            <a:r>
              <a:rPr lang="zh-CN" altLang="en-US" dirty="0"/>
              <a:t>关”，使用菜单右侧软键选择</a:t>
            </a:r>
            <a:r>
              <a:rPr lang="en-US" altLang="zh-CN" dirty="0"/>
              <a:t>D7-D0</a:t>
            </a:r>
            <a:r>
              <a:rPr lang="zh-CN" altLang="en-US" dirty="0"/>
              <a:t>或</a:t>
            </a:r>
            <a:r>
              <a:rPr lang="en-US" altLang="zh-CN" dirty="0"/>
              <a:t>D15-D8</a:t>
            </a:r>
            <a:r>
              <a:rPr lang="zh-CN" altLang="en-US" dirty="0"/>
              <a:t>打开或关闭。也可如右图所示，使用多功能旋钮选中需要显示的通道波形。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还可将若干通道自定义为组，同时打开或关闭。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058" y="417688"/>
            <a:ext cx="3538681" cy="631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1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常见问题调整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6025444" cy="48009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、通道波形重叠晃动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通过</a:t>
            </a:r>
            <a:r>
              <a:rPr lang="en-US" altLang="zh-CN" dirty="0" smtClean="0"/>
              <a:t>TRIGGER</a:t>
            </a:r>
            <a:r>
              <a:rPr lang="zh-CN" altLang="en-US" dirty="0" smtClean="0"/>
              <a:t>区域的</a:t>
            </a:r>
            <a:r>
              <a:rPr lang="en-US" altLang="zh-CN" dirty="0" smtClean="0"/>
              <a:t>MENU</a:t>
            </a:r>
            <a:r>
              <a:rPr lang="zh-CN" altLang="en-US" dirty="0" smtClean="0"/>
              <a:t>按钮切换到触发菜单，选择波形稳定且上升沿较少的通道作为触发信源，触发方式选择自动触发，触发边沿选择上升沿。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然后缓慢旋转</a:t>
            </a:r>
            <a:r>
              <a:rPr lang="en-US" altLang="zh-CN" dirty="0"/>
              <a:t>TRIGGER</a:t>
            </a:r>
            <a:r>
              <a:rPr lang="zh-CN" altLang="en-US" dirty="0"/>
              <a:t>区域的</a:t>
            </a:r>
            <a:r>
              <a:rPr lang="en-US" altLang="zh-CN" dirty="0" smtClean="0"/>
              <a:t>LEVEL</a:t>
            </a:r>
            <a:r>
              <a:rPr lang="zh-CN" altLang="en-US" dirty="0" smtClean="0"/>
              <a:t>旋钮，即触发电平，直至波形稳定。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000" dirty="0" smtClean="0">
                <a:solidFill>
                  <a:srgbClr val="FF0000"/>
                </a:solidFill>
              </a:rPr>
              <a:t>其他问题可参考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Rigol</a:t>
            </a:r>
            <a:r>
              <a:rPr lang="zh-CN" altLang="en-US" sz="2000" dirty="0" smtClean="0">
                <a:solidFill>
                  <a:srgbClr val="FF0000"/>
                </a:solidFill>
              </a:rPr>
              <a:t>公司</a:t>
            </a:r>
            <a:r>
              <a:rPr lang="en-US" altLang="zh-CN" sz="2000" dirty="0" smtClean="0">
                <a:solidFill>
                  <a:srgbClr val="FF0000"/>
                </a:solidFill>
              </a:rPr>
              <a:t>MSO</a:t>
            </a:r>
            <a:r>
              <a:rPr lang="zh-CN" altLang="en-US" sz="2000" dirty="0">
                <a:solidFill>
                  <a:srgbClr val="FF0000"/>
                </a:solidFill>
              </a:rPr>
              <a:t>－</a:t>
            </a:r>
            <a:r>
              <a:rPr lang="en-US" altLang="zh-CN" sz="2000" dirty="0">
                <a:solidFill>
                  <a:srgbClr val="FF0000"/>
                </a:solidFill>
              </a:rPr>
              <a:t>DS2000A</a:t>
            </a:r>
            <a:r>
              <a:rPr lang="zh-CN" altLang="en-US" sz="2000" smtClean="0">
                <a:solidFill>
                  <a:srgbClr val="FF0000"/>
                </a:solidFill>
              </a:rPr>
              <a:t>系列示波器用户手册 </a:t>
            </a:r>
            <a:r>
              <a:rPr lang="zh-CN" altLang="en-US" sz="2000" dirty="0" smtClean="0">
                <a:solidFill>
                  <a:srgbClr val="FF0000"/>
                </a:solidFill>
              </a:rPr>
              <a:t>第</a:t>
            </a:r>
            <a:r>
              <a:rPr lang="en-US" altLang="zh-CN" sz="2000" dirty="0" smtClean="0">
                <a:solidFill>
                  <a:srgbClr val="FF0000"/>
                </a:solidFill>
              </a:rPr>
              <a:t>7</a:t>
            </a:r>
            <a:r>
              <a:rPr lang="zh-CN" altLang="en-US" sz="2000" dirty="0" smtClean="0">
                <a:solidFill>
                  <a:srgbClr val="FF0000"/>
                </a:solidFill>
              </a:rPr>
              <a:t>章 数字通道部分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59" y="293512"/>
            <a:ext cx="3550355" cy="6333066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8037689" y="786009"/>
            <a:ext cx="1806222" cy="29772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2356" y="457115"/>
            <a:ext cx="1715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当前的触发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电平值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41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881158" y="285729"/>
            <a:ext cx="8229600" cy="642941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前面板功能简介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48" y="785794"/>
            <a:ext cx="729615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66910" y="4505342"/>
            <a:ext cx="729615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38400" y="5686426"/>
            <a:ext cx="7286625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9827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1224" y="857233"/>
            <a:ext cx="7143750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2633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76489" y="1081089"/>
            <a:ext cx="7439025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5639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9786" y="785794"/>
            <a:ext cx="73342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38349" y="2357406"/>
            <a:ext cx="7381875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38349" y="4071919"/>
            <a:ext cx="740092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6354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1224" y="1928802"/>
            <a:ext cx="741045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4943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057275"/>
            <a:ext cx="746760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7559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49" y="571480"/>
            <a:ext cx="7686675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4292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1225" y="428604"/>
            <a:ext cx="740092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09787" y="3148014"/>
            <a:ext cx="73247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09787" y="3717137"/>
            <a:ext cx="74009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309786" y="4610110"/>
            <a:ext cx="737235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38349" y="5160183"/>
            <a:ext cx="747712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309787" y="5786455"/>
            <a:ext cx="736282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5951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49" y="857232"/>
            <a:ext cx="730567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6671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8389" y="1090614"/>
            <a:ext cx="7515225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3216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24034" y="357166"/>
            <a:ext cx="4357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CN" altLang="en-US" sz="2800" b="1" dirty="0"/>
              <a:t>  用户界面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48" y="1071546"/>
            <a:ext cx="7253316" cy="513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0695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24100" y="500043"/>
            <a:ext cx="596265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24101" y="1643050"/>
            <a:ext cx="589597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24101" y="2643182"/>
            <a:ext cx="574357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24100" y="3643315"/>
            <a:ext cx="59626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524100" y="4857760"/>
            <a:ext cx="6057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24101" y="5786455"/>
            <a:ext cx="62007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2427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473" y="642918"/>
            <a:ext cx="8053573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103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2597" y="785794"/>
            <a:ext cx="7924491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2382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48" y="714356"/>
            <a:ext cx="7715304" cy="5613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3191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024826" y="6492876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49" y="857232"/>
            <a:ext cx="8156539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8965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1224" y="785794"/>
            <a:ext cx="7715304" cy="5197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3738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671</Words>
  <Application>Microsoft Office PowerPoint</Application>
  <PresentationFormat>自定义</PresentationFormat>
  <Paragraphs>100</Paragraphs>
  <Slides>27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28" baseType="lpstr">
      <vt:lpstr>Office 主题</vt:lpstr>
      <vt:lpstr>1.数电实验箱</vt:lpstr>
      <vt:lpstr>1.数电实验箱</vt:lpstr>
      <vt:lpstr>2. MSO2000A&amp;DS2000A（示波器） </vt:lpstr>
      <vt:lpstr>PowerPoint 演示文稿</vt:lpstr>
      <vt:lpstr>示波器在数电实验中的使用</vt:lpstr>
      <vt:lpstr>数字通道显示界面和控制菜单</vt:lpstr>
      <vt:lpstr>常见问题调整</vt:lpstr>
      <vt:lpstr>常见问题调整</vt:lpstr>
      <vt:lpstr>常见问题调整</vt:lpstr>
      <vt:lpstr>常见问题调整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1.数电实验箱</dc:title>
  <dc:creator>lenovo</dc:creator>
  <cp:lastModifiedBy>Windows 用户</cp:lastModifiedBy>
  <cp:revision>30</cp:revision>
  <dcterms:created xsi:type="dcterms:W3CDTF">2016-02-02T09:58:53Z</dcterms:created>
  <dcterms:modified xsi:type="dcterms:W3CDTF">2017-09-22T03:26:19Z</dcterms:modified>
</cp:coreProperties>
</file>