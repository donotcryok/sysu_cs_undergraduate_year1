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6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8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9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1.xml" ContentType="application/vnd.openxmlformats-officedocument.theme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12.xml" ContentType="application/vnd.openxmlformats-officedocument.theme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13.xml" ContentType="application/vnd.openxmlformats-officedocument.theme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4.xml" ContentType="application/vnd.openxmlformats-officedocument.theme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theme/theme15.xml" ContentType="application/vnd.openxmlformats-officedocument.theme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theme/theme16.xml" ContentType="application/vnd.openxmlformats-officedocument.theme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theme/theme17.xml" ContentType="application/vnd.openxmlformats-officedocument.theme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18.xml" ContentType="application/vnd.openxmlformats-officedocument.theme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theme/theme19.xml" ContentType="application/vnd.openxmlformats-officedocument.theme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theme/theme20.xml" ContentType="application/vnd.openxmlformats-officedocument.theme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theme/theme21.xml" ContentType="application/vnd.openxmlformats-officedocument.theme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theme/theme22.xml" ContentType="application/vnd.openxmlformats-officedocument.theme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theme/theme23.xml" ContentType="application/vnd.openxmlformats-officedocument.theme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theme/theme24.xml" ContentType="application/vnd.openxmlformats-officedocument.theme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theme/theme25.xml" ContentType="application/vnd.openxmlformats-officedocument.theme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theme/theme26.xml" ContentType="application/vnd.openxmlformats-officedocument.theme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theme/theme27.xml" ContentType="application/vnd.openxmlformats-officedocument.theme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theme/theme28.xml" ContentType="application/vnd.openxmlformats-officedocument.theme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theme/theme29.xml" ContentType="application/vnd.openxmlformats-officedocument.theme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theme/theme30.xml" ContentType="application/vnd.openxmlformats-officedocument.theme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theme/theme31.xml" ContentType="application/vnd.openxmlformats-officedocument.theme+xml"/>
  <Override PartName="/ppt/theme/theme3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15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  <p:sldMasterId id="2147483682" r:id="rId3"/>
    <p:sldMasterId id="2147483694" r:id="rId4"/>
    <p:sldMasterId id="2147483706" r:id="rId5"/>
    <p:sldMasterId id="2147483718" r:id="rId6"/>
    <p:sldMasterId id="2147483730" r:id="rId7"/>
    <p:sldMasterId id="2147483742" r:id="rId8"/>
    <p:sldMasterId id="2147483754" r:id="rId9"/>
    <p:sldMasterId id="2147483766" r:id="rId10"/>
    <p:sldMasterId id="2147483778" r:id="rId11"/>
    <p:sldMasterId id="2147483790" r:id="rId12"/>
    <p:sldMasterId id="2147483802" r:id="rId13"/>
    <p:sldMasterId id="2147483814" r:id="rId14"/>
    <p:sldMasterId id="2147483826" r:id="rId15"/>
    <p:sldMasterId id="2147483838" r:id="rId16"/>
    <p:sldMasterId id="2147483850" r:id="rId17"/>
    <p:sldMasterId id="2147483862" r:id="rId18"/>
    <p:sldMasterId id="2147483875" r:id="rId19"/>
    <p:sldMasterId id="2147483888" r:id="rId20"/>
    <p:sldMasterId id="2147483901" r:id="rId21"/>
    <p:sldMasterId id="2147483914" r:id="rId22"/>
    <p:sldMasterId id="2147483927" r:id="rId23"/>
    <p:sldMasterId id="2147483940" r:id="rId24"/>
    <p:sldMasterId id="2147483953" r:id="rId25"/>
    <p:sldMasterId id="2147483966" r:id="rId26"/>
    <p:sldMasterId id="2147483979" r:id="rId27"/>
    <p:sldMasterId id="2147483992" r:id="rId28"/>
    <p:sldMasterId id="2147484005" r:id="rId29"/>
    <p:sldMasterId id="2147484018" r:id="rId30"/>
    <p:sldMasterId id="2147484031" r:id="rId31"/>
  </p:sldMasterIdLst>
  <p:notesMasterIdLst>
    <p:notesMasterId r:id="rId78"/>
  </p:notesMasterIdLst>
  <p:sldIdLst>
    <p:sldId id="774" r:id="rId32"/>
    <p:sldId id="775" r:id="rId33"/>
    <p:sldId id="776" r:id="rId34"/>
    <p:sldId id="845" r:id="rId35"/>
    <p:sldId id="779" r:id="rId36"/>
    <p:sldId id="780" r:id="rId37"/>
    <p:sldId id="782" r:id="rId38"/>
    <p:sldId id="783" r:id="rId39"/>
    <p:sldId id="784" r:id="rId40"/>
    <p:sldId id="785" r:id="rId41"/>
    <p:sldId id="749" r:id="rId42"/>
    <p:sldId id="786" r:id="rId43"/>
    <p:sldId id="788" r:id="rId44"/>
    <p:sldId id="793" r:id="rId45"/>
    <p:sldId id="797" r:id="rId46"/>
    <p:sldId id="798" r:id="rId47"/>
    <p:sldId id="755" r:id="rId48"/>
    <p:sldId id="846" r:id="rId49"/>
    <p:sldId id="757" r:id="rId50"/>
    <p:sldId id="848" r:id="rId51"/>
    <p:sldId id="756" r:id="rId52"/>
    <p:sldId id="849" r:id="rId53"/>
    <p:sldId id="801" r:id="rId54"/>
    <p:sldId id="758" r:id="rId55"/>
    <p:sldId id="804" r:id="rId56"/>
    <p:sldId id="850" r:id="rId57"/>
    <p:sldId id="816" r:id="rId58"/>
    <p:sldId id="817" r:id="rId59"/>
    <p:sldId id="818" r:id="rId60"/>
    <p:sldId id="819" r:id="rId61"/>
    <p:sldId id="820" r:id="rId62"/>
    <p:sldId id="821" r:id="rId63"/>
    <p:sldId id="822" r:id="rId64"/>
    <p:sldId id="759" r:id="rId65"/>
    <p:sldId id="760" r:id="rId66"/>
    <p:sldId id="834" r:id="rId67"/>
    <p:sldId id="837" r:id="rId68"/>
    <p:sldId id="843" r:id="rId69"/>
    <p:sldId id="763" r:id="rId70"/>
    <p:sldId id="810" r:id="rId71"/>
    <p:sldId id="840" r:id="rId72"/>
    <p:sldId id="841" r:id="rId73"/>
    <p:sldId id="812" r:id="rId74"/>
    <p:sldId id="839" r:id="rId75"/>
    <p:sldId id="844" r:id="rId76"/>
    <p:sldId id="815" r:id="rId77"/>
  </p:sldIdLst>
  <p:sldSz cx="9144000" cy="6858000" type="screen4x3"/>
  <p:notesSz cx="6858000" cy="9144000"/>
  <p:custDataLst>
    <p:tags r:id="rId79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A1FDA5"/>
    <a:srgbClr val="CCECFF"/>
    <a:srgbClr val="0000CC"/>
    <a:srgbClr val="C2C9E6"/>
    <a:srgbClr val="526BFF"/>
    <a:srgbClr val="263B94"/>
    <a:srgbClr val="36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/>
    <p:restoredTop sz="94660"/>
  </p:normalViewPr>
  <p:slideViewPr>
    <p:cSldViewPr showGuides="1">
      <p:cViewPr varScale="1">
        <p:scale>
          <a:sx n="74" d="100"/>
          <a:sy n="74" d="100"/>
        </p:scale>
        <p:origin x="888" y="48"/>
      </p:cViewPr>
      <p:guideLst>
        <p:guide orient="horz" pos="2264"/>
        <p:guide pos="2880"/>
      </p:guideLst>
    </p:cSldViewPr>
  </p:slideViewPr>
  <p:outlineViewPr>
    <p:cViewPr>
      <p:scale>
        <a:sx n="33" d="100"/>
        <a:sy n="33" d="100"/>
      </p:scale>
      <p:origin x="0" y="7884"/>
    </p:cViewPr>
  </p:outlin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11.xml"/><Relationship Id="rId47" Type="http://schemas.openxmlformats.org/officeDocument/2006/relationships/slide" Target="slides/slide16.xml"/><Relationship Id="rId63" Type="http://schemas.openxmlformats.org/officeDocument/2006/relationships/slide" Target="slides/slide32.xml"/><Relationship Id="rId68" Type="http://schemas.openxmlformats.org/officeDocument/2006/relationships/slide" Target="slides/slide37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53" Type="http://schemas.openxmlformats.org/officeDocument/2006/relationships/slide" Target="slides/slide22.xml"/><Relationship Id="rId58" Type="http://schemas.openxmlformats.org/officeDocument/2006/relationships/slide" Target="slides/slide27.xml"/><Relationship Id="rId74" Type="http://schemas.openxmlformats.org/officeDocument/2006/relationships/slide" Target="slides/slide43.xml"/><Relationship Id="rId79" Type="http://schemas.openxmlformats.org/officeDocument/2006/relationships/tags" Target="tags/tag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30.xml"/><Relationship Id="rId82" Type="http://schemas.openxmlformats.org/officeDocument/2006/relationships/theme" Target="theme/theme1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slide" Target="slides/slide17.xml"/><Relationship Id="rId56" Type="http://schemas.openxmlformats.org/officeDocument/2006/relationships/slide" Target="slides/slide25.xml"/><Relationship Id="rId64" Type="http://schemas.openxmlformats.org/officeDocument/2006/relationships/slide" Target="slides/slide33.xml"/><Relationship Id="rId69" Type="http://schemas.openxmlformats.org/officeDocument/2006/relationships/slide" Target="slides/slide38.xml"/><Relationship Id="rId77" Type="http://schemas.openxmlformats.org/officeDocument/2006/relationships/slide" Target="slides/slide46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0.xml"/><Relationship Id="rId72" Type="http://schemas.openxmlformats.org/officeDocument/2006/relationships/slide" Target="slides/slide41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slide" Target="slides/slide15.xml"/><Relationship Id="rId59" Type="http://schemas.openxmlformats.org/officeDocument/2006/relationships/slide" Target="slides/slide28.xml"/><Relationship Id="rId67" Type="http://schemas.openxmlformats.org/officeDocument/2006/relationships/slide" Target="slides/slide36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0.xml"/><Relationship Id="rId54" Type="http://schemas.openxmlformats.org/officeDocument/2006/relationships/slide" Target="slides/slide23.xml"/><Relationship Id="rId62" Type="http://schemas.openxmlformats.org/officeDocument/2006/relationships/slide" Target="slides/slide31.xml"/><Relationship Id="rId70" Type="http://schemas.openxmlformats.org/officeDocument/2006/relationships/slide" Target="slides/slide39.xml"/><Relationship Id="rId75" Type="http://schemas.openxmlformats.org/officeDocument/2006/relationships/slide" Target="slides/slide4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5.xml"/><Relationship Id="rId49" Type="http://schemas.openxmlformats.org/officeDocument/2006/relationships/slide" Target="slides/slide18.xml"/><Relationship Id="rId57" Type="http://schemas.openxmlformats.org/officeDocument/2006/relationships/slide" Target="slides/slide26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3.xml"/><Relationship Id="rId52" Type="http://schemas.openxmlformats.org/officeDocument/2006/relationships/slide" Target="slides/slide21.xml"/><Relationship Id="rId60" Type="http://schemas.openxmlformats.org/officeDocument/2006/relationships/slide" Target="slides/slide29.xml"/><Relationship Id="rId65" Type="http://schemas.openxmlformats.org/officeDocument/2006/relationships/slide" Target="slides/slide34.xml"/><Relationship Id="rId73" Type="http://schemas.openxmlformats.org/officeDocument/2006/relationships/slide" Target="slides/slide4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8.xml"/><Relationship Id="rId34" Type="http://schemas.openxmlformats.org/officeDocument/2006/relationships/slide" Target="slides/slide3.xml"/><Relationship Id="rId50" Type="http://schemas.openxmlformats.org/officeDocument/2006/relationships/slide" Target="slides/slide19.xml"/><Relationship Id="rId55" Type="http://schemas.openxmlformats.org/officeDocument/2006/relationships/slide" Target="slides/slide24.xml"/><Relationship Id="rId76" Type="http://schemas.openxmlformats.org/officeDocument/2006/relationships/slide" Target="slides/slide45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40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" Target="slides/slide9.xml"/><Relationship Id="rId45" Type="http://schemas.openxmlformats.org/officeDocument/2006/relationships/slide" Target="slides/slide14.xml"/><Relationship Id="rId66" Type="http://schemas.openxmlformats.org/officeDocument/2006/relationships/slide" Target="slides/slide3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1T21:36:54.6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391 1 24575,'-5'0'0,"1"1"0,0-1 0,0 1 0,0 1 0,-8 2 0,-4 1 0,-13 3 0,0 2 0,-47 21 0,62-23 0,0 0 0,1 0 0,0 1 0,0 1 0,1 0 0,-21 23 0,22-20 0,1 0 0,1 0 0,0 1 0,1 1 0,0-1 0,1 1 0,1 0 0,0 1 0,1 0 0,1 0 0,0 0 0,1 0 0,-1 25 0,2 162 0,4-107 0,-1-78 0,0-1 0,2 0 0,0 0 0,1 0 0,1 0 0,0-1 0,1 1 0,16 29 0,-2-12 0,1-1 0,47 58 0,-55-77 0,1 0 0,0-1 0,1 0 0,31 20 0,71 32 0,-77-44 0,-13-8 0,0-1 0,43 12 0,62 9 0,-38-10 0,221 49 0,-249-61 0,1-3 0,123-2 0,-22-9 0,-160 2 0,1-1 0,-1 0 0,0 0 0,0-1 0,0 0 0,0 0 0,0-1 0,-1 0 0,0 0 0,11-8 0,6-7 0,33-33 0,-44 39 0,-4 5 0,-1 0 0,0-1 0,0 0 0,-1 0 0,0-1 0,0 0 0,-1 0 0,-1 0 0,0-1 0,0 0 0,5-19 0,-5 3 0,0 1 0,1-48 0,-7-56 0,-1 50 0,1 71 0,0 0 0,0-1 0,-1 1 0,0 0 0,-1 0 0,0 0 0,0 0 0,-1 0 0,-7-12 0,-7-8 0,-29-35 0,14 20 0,-10-22 0,32 46 0,-1 1 0,-1 0 0,-1 0 0,-1 2 0,0 0 0,-20-18 0,18 23 0,1 1 0,-2 0 0,1 1 0,-1 0 0,-1 2 0,0 0 0,0 1 0,0 1 0,-1 1 0,0 1 0,0 0 0,0 2 0,0 0 0,-25 2 0,-2 0 0,-79-10 0,78 5 0,-71 3 0,4 0 0,101 0 0,0 0 0,0-2 0,0 1 0,1-2 0,-1 0 0,1-1 0,-13-7 0,11 5 0,0 1 0,0 1 0,0 1 0,-1 0 0,-17-3 0,33 8 0,-114-21 0,98 17 0,2-1 0,-1 0 0,0-1 0,1-1 0,-19-12 0,8 2-1365,3 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1T21:36:59.8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436 25 24575,'-4'0'0,"-1"-1"0,1 0 0,-1 0 0,1 0 0,-7-3 0,-14-3 0,-22 2 0,0 2 0,-56 4 0,27 1 0,70-2 0,0 0 0,0 0 0,0 1 0,0 0 0,0 0 0,0 0 0,0 1 0,-9 4 0,13-5 0,-1 1 0,1-1 0,0 1 0,-1 0 0,1 0 0,0 0 0,0 0 0,0 0 0,0 0 0,0 1 0,1-1 0,-1 0 0,1 1 0,0 0 0,-1-1 0,1 1 0,0 0 0,1 0 0,-1-1 0,0 4 0,-2 15 0,1 0 0,1 0 0,0 0 0,2 0 0,1 0 0,0 0 0,2 0 0,5 20 0,-5-29 0,1 0 0,0-1 0,0 0 0,1 0 0,0 0 0,1 0 0,0-1 0,16 17 0,-5-10 0,1 0 0,1-1 0,29 18 0,-31-23 0,1-2 0,0-1 0,1 0 0,-1-1 0,24 4 0,16 7 0,13 5 0,2-3 0,0-3 0,0-4 0,84 5 0,-130-15 0,0 1 0,0 2 0,42 13 0,14 4 0,-36-13 0,0-2 0,1-2 0,-1-2 0,73-4 0,-118 0 0,1 0 0,-1 0 0,1-1 0,-1 0 0,1 1 0,-1-2 0,1 1 0,-1 0 0,0 0 0,0-1 0,0 0 0,3-2 0,-3 2 0,-1 0 0,0 0 0,0 0 0,0-1 0,-1 1 0,1-1 0,-1 1 0,1-1 0,-1 0 0,0 0 0,0 1 0,0-1 0,0 0 0,0-5 0,3-19 0,-2-1 0,-1 1 0,-5-50 0,1 16 0,1 39 0,-2 0 0,0 0 0,-1 0 0,-1 0 0,-1 1 0,-12-26 0,13 30 0,3 11 0,1 1 0,-1 0 0,0 0 0,0 0 0,-1 0 0,1 0 0,-1 1 0,0 0 0,0 0 0,-1 0 0,1 0 0,-1 0 0,0 1 0,-10-5 0,-4-1 0,1 2 0,-2 0 0,-19-4 0,27 8 0,-20-6 0,2 2 0,-31-13 0,24 6 0,-1 1 0,0 1 0,-61-9 0,28 11 0,-100-1 0,-68 12 0,233-1-170,0 0-1,0 0 0,1-1 1,-1 0-1,1-1 0,-1 1 1,-9-5-1,-12-7-6655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1T23:17:09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1022 27 24575,'-53'0'0,"1"3"0,-1 2 0,-58 13 0,60-10 0,40-7 0,-1 1 0,1 0 0,-1 0 0,1 1 0,0 0 0,0 1 0,0 1 0,-16 8 0,-1 7 0,10-6 0,0-2 0,-21 11 0,-12 2 0,-48 33 0,51-27 0,5-3 0,-59 49 0,98-74 0,0 2 0,0-1 0,0 0 0,1 1 0,0-1 0,0 1 0,0 0 0,-3 8 0,0 2 0,-5 26 0,8-28 0,0 1 0,-2-1 0,-5 14 0,-1-5 0,-2 3 0,-18 52 0,28-68 0,0 0 0,1 1 0,1 0 0,0-1 0,0 1 0,1 0 0,0-1 0,0 1 0,4 15 0,-1-9 0,0 0 0,2 1 0,0-1 0,1-1 0,0 1 0,2-1 0,0 0 0,0-1 0,1 0 0,1 0 0,19 20 0,-2-6 0,2-1 0,0-2 0,61 40 0,-53-42 0,-26-15 0,0-1 0,0-1 0,1 1 0,0-2 0,0 0 0,0 0 0,1-1 0,22 4 0,-12-6 0,25-2 0,-34-1 0,0 1 0,1 1 0,-1 0 0,0 0 0,24 7 0,-9 1 0,0-2 0,0-1 0,38 2 0,-47-4 0,0 1 0,0 0 0,0 1 0,-1 1 0,37 19 0,-26-12 0,38 13 0,-22-12 0,-25-7 0,0-1 0,0-1 0,0-1 0,1-1 0,30 1 0,-39-5 0,0 0 0,0-2 0,0 1 0,0-2 0,0 0 0,0 0 0,-1-1 0,0-1 0,0 0 0,0 0 0,0-1 0,-1-1 0,13-9 0,-2 1 0,-2 0 0,1-1 0,-2-2 0,0 0 0,21-27 0,16-36 0,-18 23 0,-15 24 0,-1 0 0,-2-2 0,16-39 0,-31 60 0,0 1 0,-1-1 0,-1 0 0,0 0 0,1-27 0,-5-81 0,-2 47 0,3 63 0,0 3 0,0 0 0,0 0 0,-1 0 0,-4-15 0,4 22 0,0 0 0,0 0 0,0 0 0,0 1 0,-1-1 0,0 0 0,1 1 0,-1-1 0,0 1 0,0-1 0,0 1 0,-1 0 0,1 0 0,-1 0 0,1 0 0,-1 0 0,1 1 0,-7-3 0,-10-4 0,-1 2 0,1 1 0,-33-5 0,-24-7 0,49 9 0,-4 0 0,1-1 0,0-1 0,1-2 0,-39-22 0,54 25 0,0-1 0,1-1 0,1 0 0,0-1 0,0 0 0,1-1 0,0-1 0,2 1 0,-1-1 0,2-1 0,0 0 0,-9-23 0,16 37 0,-4-15 0,-1 0 0,-1 1 0,-11-19 0,15 30 0,1 0 0,-1 0 0,0 0 0,-1 0 0,1 1 0,-1 0 0,1-1 0,-1 1 0,0 1 0,0-1 0,0 1 0,0-1 0,-1 1 0,1 0 0,-1 1 0,-5-2 0,-6 0-455,0 0 0,-19 1 0,6 2-6371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1T23:18:41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1149 21 24575,'-1'-1'0,"0"0"0,0 0 0,0 0 0,0 1 0,0-1 0,0 1 0,-1-1 0,1 1 0,0-1 0,0 1 0,-1 0 0,1-1 0,0 1 0,0 0 0,-1 0 0,1 0 0,0 0 0,-1 0 0,1 0 0,-2 1 0,-29 8 0,19-5 0,-47 11 0,35-9 0,1 0 0,-1 2 0,1 0 0,0 2 0,-29 16 0,0 6 0,19-12 0,2 0 0,-32 28 0,41-27 0,2 0 0,0 2 0,1 1 0,1 0 0,1 1 0,2 1 0,-20 41 0,6-10 0,16-33 0,1 1 0,1 1 0,-12 39 0,17-40 0,-2 0 0,-1-1 0,-14 24 0,-43 67 0,25-45 0,23-40 0,2 2 0,1 0 0,1 1 0,2 0 0,-14 56 0,-9 36 0,24-90 0,2 1 0,1 0 0,-7 59 0,-4 138 0,10-150 0,-1 29 0,10 220 0,2-164 0,0-144 0,1 1 0,1-1 0,1 0 0,2 0 0,10 30 0,52 115 0,-66-165 0,10 24 0,1-2 0,2 1 0,18 25 0,-30-48 0,1 0 0,0 0 0,0 0 0,1 0 0,-1-1 0,1 1 0,0-1 0,0 0 0,0-1 0,0 1 0,0-1 0,1 0 0,-1 0 0,1-1 0,-1 1 0,8 0 0,8 0 0,0-1 0,1-1 0,22-3 0,-3 1 0,139 1 0,52-1 0,-103-12 0,141-33 0,-230 39 0,19-7 0,106-42 0,-94 31 0,-47 16 0,-1-1 0,0 0 0,-1-2 0,30-23 0,78-71 0,-85 68 0,61-42 0,24-20 0,-61 46 0,-53 44 0,-1-1 0,0 0 0,-1-1 0,0 0 0,16-21 0,11-25 0,-18 24 0,48-54 0,-44 60 0,-1-1 0,-1-1 0,-2-2 0,-1 0 0,28-59 0,-30 41 0,-2-1 0,-3-1 0,15-95 0,-25 98 0,-2 0 0,-4-54 0,0 30 0,-1 47 0,0 0 0,-9-43 0,-20-51 0,18 79 0,-1 1 0,-21-39 0,-46-75 0,73 139 0,-12-15 0,-1 1 0,-2 0 0,-1 2 0,-36-34 0,-14-17 0,-90-91 0,101 107 0,41 44 0,-1 0 0,-1 2 0,0 1 0,-43-22 0,58 34 0,0-1 0,0 1 0,-1 0 0,1 1 0,-1 0 0,0 1 0,0 0 0,-13-2 0,-8 3 0,-33 1 0,34 1 0,-37-3 0,-153-16 0,119 2-1365,78 14-5461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1T23:20:12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595 58 24575,'0'0'0,"1"0"0,-1-1 0,0 1 0,0 0 0,1 0 0,-1-1 0,0 1 0,0 0 0,0-1 0,1 1 0,-1 0 0,0 0 0,0-1 0,0 1 0,0 0 0,0-1 0,0 1 0,1 0 0,-1-1 0,0 1 0,0-1 0,0 1 0,0 0 0,0-1 0,0 1 0,-1 0 0,1-1 0,0 1 0,0 0 0,0-1 0,0 1 0,0 0 0,0-1 0,-1 1 0,1 0 0,0 0 0,0-1 0,0 1 0,-1 0 0,1-1 0,0 1 0,0 0 0,-1 0 0,1 0 0,0-1 0,-1 1 0,1 0 0,0 0 0,-1 0 0,1 0 0,0 0 0,-1-1 0,1 1 0,0 0 0,-1 0 0,-23-4 0,22 3 0,-22 0 0,0 0 0,-1 1 0,1 1 0,0 2 0,0 0 0,0 2 0,1 0 0,-1 2 0,1 0 0,0 2 0,1 0 0,0 2 0,-31 19 0,47-25 0,0-1 0,0 1 0,0 0 0,1 0 0,0 1 0,0 0 0,-7 11 0,4-4 0,1 0 0,-9 28 0,-11 25 0,-13 40 0,31-72 0,0-1 0,2 1 0,2 0 0,1 0 0,1 47 0,2-49 0,-7 45 0,-2 17 0,10 169 0,1-120 0,-1-134 0,0 1 0,1 0 0,0 0 0,1 0 0,0-1 0,0 1 0,1-1 0,1 1 0,0-1 0,0 0 0,7 11 0,-7-14 0,1 1 0,0-1 0,1 0 0,-1-1 0,1 1 0,0-1 0,1 0 0,-1 0 0,1-1 0,0 0 0,0 0 0,0-1 0,1 0 0,10 3 0,3 0 0,0-2 0,0 0 0,38 0 0,69-5 0,-47-2 0,214 3 0,-274 2 0,1 1 0,-1 0 0,0 1 0,0 2 0,20 7 0,-14-4 0,0-2 0,36 6 0,-9-9 0,82-5 0,-47-1 0,-34 3 0,-24 1 0,0-2 0,0-2 0,47-7 0,-68 6 0,-1 0 0,0 0 0,1-1 0,-2 0 0,13-8 0,41-31 0,-23 16 0,28-23 0,-3-2 0,70-72 0,-123 112 0,0-1 0,0 0 0,-1-1 0,-1 0 0,0-1 0,-1 0 0,-1 0 0,0 0 0,-1-1 0,-1 0 0,0-1 0,-1 1 0,3-30 0,-8 38 0,1 1 0,-1-1 0,0 1 0,0-1 0,-1 1 0,0 0 0,0 0 0,0 0 0,-1 0 0,-1 0 0,1 0 0,-1 1 0,0-1 0,0 1 0,-7-7 0,-8-7 0,0 2 0,-1 0 0,-22-15 0,18 15 0,-34-27 0,25 22 0,1-2 0,1-2 0,-27-31 0,34 31 0,-93-101 0,98 110 0,0 1 0,-2 1 0,1 1 0,-41-22 0,31 21 0,-11-6 0,-1 2 0,-1 1 0,-60-17 0,70 29 0,12 2 0,-38-12 0,-82-26 0,91 30 0,-54-23 0,-115-43-1365,201 73-5461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1T23:21:56.8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843 62 24575,'-56'1'0,"-89"11"0,117-7 0,1 1 0,-1 1 0,2 1 0,-1 2 0,-30 15 0,55-24 0,-75 41 0,67-34 0,-1-1 0,1 1 0,1 0 0,0 1 0,-9 11 0,5-4 0,2 0 0,-1 2 0,2-1 0,1 1 0,-14 35 0,-19 96 0,20-58 0,-24 40 0,30-90 0,1 1 0,-13 68 0,18-25 0,-5 25 0,5-67 0,2 1 0,2 1 0,0 61 0,6-26 0,2 74 0,-1-146 0,1-1 0,0 1 0,0 0 0,0 0 0,1-1 0,0 0 0,0 1 0,1-1 0,0 0 0,0-1 0,1 1 0,0-1 0,0 0 0,8 8 0,2 0 0,0-1 0,1 0 0,1-1 0,25 13 0,-31-19 0,0-1 0,0-1 0,0 0 0,1 0 0,-1-1 0,1-1 0,0 0 0,14 0 0,14-1 0,46-4 0,-5-1 0,54 6 0,122-4 0,-171-9 0,19 0 0,61-1 0,-106 7 0,76 3 0,-79 3 0,90-11 0,-122 7 0,12-2 0,-1-2 0,38-11 0,70-19 0,11-4 0,-134 32 0,0-1 0,0-1 0,-1-1 0,24-18 0,-9 5 0,-24 18 0,0-1 0,-1 0 0,0 0 0,16-18 0,-21 20 0,-1-1 0,0 1 0,0-1 0,0 1 0,-1-1 0,0 0 0,0-1 0,0 1 0,1-11 0,0-11 0,-1 1 0,-2-1 0,-4-54 0,0 12 0,3 51 0,0 1 0,2-1 0,0 1 0,1-1 0,6-18 0,3 0 0,-2-1 0,-2 0 0,-1-1 0,3-75 0,-10 66 0,1 19 0,-1 0 0,-7-46 0,5 68 0,-1 0 0,0 0 0,0 1 0,0-1 0,-1 1 0,0 0 0,0 0 0,-1 1 0,0-1 0,0 1 0,-1 0 0,1 0 0,-13-9 0,-7-4 0,-2 1 0,-32-17 0,53 32 0,-33-16 0,-1 1 0,-48-13 0,13 4 0,31 10 0,-81-20 0,103 31 0,0 0 0,1-2 0,-24-12 0,28 12 0,0 0 0,0 1 0,-1 1 0,0 1 0,-25-4 0,34 8 0,-5 0 0,0-1 0,0 0 0,1-1 0,-1 0 0,1-1 0,-22-9 0,-136-70 0,158 77 0,0 0 0,-1 1 0,1 1 0,-1 0 0,0 0 0,0 2 0,-16-2 0,16 2 0,0-1 0,-26-9 0,27 7 0,0 1 0,0 0 0,-18-2 0,-104 3-1015,129 3 665,-18 1-6476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ea typeface="MS PGothic" panose="020B0600070205080204" pitchFamily="34" charset="-128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AA79E-64FF-491A-B94F-012C68E39C21}" type="datetime1"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4/11/2024</a:t>
            </a:fld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Click to edit Master text styles</a:t>
            </a:r>
          </a:p>
          <a:p>
            <a:pPr marL="457200" marR="0" lvl="1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Second level</a:t>
            </a:r>
          </a:p>
          <a:p>
            <a:pPr marL="914400" marR="0" lvl="2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Third level</a:t>
            </a:r>
          </a:p>
          <a:p>
            <a:pPr marL="1371600" marR="0" lvl="3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Fourth level</a:t>
            </a:r>
          </a:p>
          <a:p>
            <a:pPr marL="1828800" marR="0" lvl="4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  <a:t>‹#›</a:t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40643" name="幻灯片图像占位符 132097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40644" name="文本占位符 132098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11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48835" name="幻灯片图像占位符 13824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48836" name="文本占位符 13824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15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53955" name="幻灯片图像占位符 146433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3956" name="文本占位符 146434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17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57027" name="幻灯片图像占位符 150529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7028" name="文本占位符 150530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18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59075" name="幻灯片图像占位符 150529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9076" name="文本占位符 150530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19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61123" name="幻灯片图像占位符 183297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1124" name="文本占位符 183298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20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63171" name="幻灯片图像占位符 183297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3172" name="文本占位符 183298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ea typeface="宋体" panose="02010600030101010101" pitchFamily="2" charset="-122"/>
              </a:rPr>
              <a:t>21</a:t>
            </a:fld>
            <a:endParaRPr lang="en-US" altLang="zh-CN" sz="12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65219" name="幻灯片图像占位符 152577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5220" name="文本占位符 152578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ea typeface="宋体" panose="02010600030101010101" pitchFamily="2" charset="-122"/>
              </a:rPr>
              <a:t>22</a:t>
            </a:fld>
            <a:endParaRPr lang="en-US" altLang="zh-CN" sz="12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67267" name="幻灯片图像占位符 152577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7268" name="文本占位符 152578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24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70339" name="幻灯片图像占位符 154625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70340" name="文本占位符 154626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34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81603" name="幻灯片图像占位符 78849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81604" name="文本占位符 78850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35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83651" name="幻灯片图像占位符 156673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83652" name="文本占位符 156674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39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88771" name="幻灯片图像占位符 162817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88772" name="文本占位符 162818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9081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实现二分之一的分频 </a:t>
            </a:r>
          </a:p>
        </p:txBody>
      </p:sp>
      <p:sp>
        <p:nvSpPr>
          <p:cNvPr id="290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defTabSz="914400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40</a:t>
            </a:fld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9491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状态共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个，循环出现</a:t>
            </a:r>
          </a:p>
        </p:txBody>
      </p:sp>
      <p:sp>
        <p:nvSpPr>
          <p:cNvPr id="2949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defTabSz="914400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43</a:t>
            </a:fld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46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99011" name="幻灯片图像占位符 181249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99012" name="文本占位符 181250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/>
        </p:nvSpPr>
        <p:spPr bwMode="gray">
          <a:xfrm>
            <a:off x="-9525" y="6400800"/>
            <a:ext cx="9153525" cy="4572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wrap="none"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32771" name="Picture 8" descr="Pearson_Bound_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588" y="6396038"/>
            <a:ext cx="1533525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2" name="Picture 9" descr="Pearson_Strap_Bound_Wh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" y="6410325"/>
            <a:ext cx="1766888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3175" y="0"/>
            <a:ext cx="9140825" cy="16002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anchor="ctr" anchorCtr="1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6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Digital Fundamentals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4572000" y="2967038"/>
            <a:ext cx="1790700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CHAPTER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TextBox 16"/>
          <p:cNvSpPr txBox="1">
            <a:spLocks noChangeArrowheads="1"/>
          </p:cNvSpPr>
          <p:nvPr/>
        </p:nvSpPr>
        <p:spPr bwMode="auto">
          <a:xfrm>
            <a:off x="3709988" y="1323975"/>
            <a:ext cx="1724025" cy="2762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ELEVENTH EDITION</a:t>
            </a:r>
          </a:p>
        </p:txBody>
      </p:sp>
      <p:sp>
        <p:nvSpPr>
          <p:cNvPr id="8" name="Text Box 47"/>
          <p:cNvSpPr txBox="1">
            <a:spLocks noChangeArrowheads="1"/>
          </p:cNvSpPr>
          <p:nvPr/>
        </p:nvSpPr>
        <p:spPr bwMode="auto">
          <a:xfrm>
            <a:off x="1600200" y="6400800"/>
            <a:ext cx="5629275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Digital Fundamentals</a:t>
            </a: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, Eleventh Edition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Thomas L. Floyd</a:t>
            </a:r>
          </a:p>
        </p:txBody>
      </p:sp>
      <p:sp>
        <p:nvSpPr>
          <p:cNvPr id="9" name="Text Box 47"/>
          <p:cNvSpPr txBox="1">
            <a:spLocks noChangeArrowheads="1"/>
          </p:cNvSpPr>
          <p:nvPr/>
        </p:nvSpPr>
        <p:spPr bwMode="auto">
          <a:xfrm>
            <a:off x="4495800" y="6400800"/>
            <a:ext cx="32766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Copyright © 2015 by Pearson Education, Inc.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All Rights Reserved</a:t>
            </a:r>
          </a:p>
        </p:txBody>
      </p:sp>
      <p:pic>
        <p:nvPicPr>
          <p:cNvPr id="32778" name="Picture 19" descr="FLOY7968_11_cvrmech2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2000" y="1981200"/>
            <a:ext cx="3032125" cy="411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8100" dir="2699999" rotWithShape="0">
              <a:srgbClr val="808080">
                <a:alpha val="75000"/>
              </a:srgbClr>
            </a:outerShdw>
          </a:effectLst>
        </p:spPr>
      </p:pic>
    </p:spTree>
  </p:cSld>
  <p:clrMapOvr>
    <a:masterClrMapping/>
  </p:clrMapOvr>
  <p:transition spd="slow" advTm="0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214C90"/>
          </a:solidFill>
          <a:ln>
            <a:solidFill>
              <a:srgbClr val="214C90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214C90"/>
          </a:solidFill>
          <a:ln>
            <a:solidFill>
              <a:srgbClr val="214C90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 typeface="+mj-lt"/>
              <a:buNone/>
              <a:defRPr sz="2800"/>
            </a:lvl1pPr>
            <a:lvl2pPr marL="971550" indent="-514350">
              <a:buFont typeface="+mj-lt"/>
              <a:buAutoNum type="arabicPeriod"/>
              <a:defRPr/>
            </a:lvl2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214C90"/>
          </a:solidFill>
          <a:ln>
            <a:solidFill>
              <a:srgbClr val="214C90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/>
            </a:lvl1pPr>
            <a:lvl2pPr marL="971550" indent="-514350">
              <a:buFont typeface="+mj-lt"/>
              <a:buAutoNum type="arabicPeriod"/>
              <a:defRPr/>
            </a:lvl2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noFill/>
          <a:ln>
            <a:noFill/>
          </a:ln>
        </p:spPr>
        <p:txBody>
          <a:bodyPr/>
          <a:lstStyle>
            <a:lvl1pPr algn="l">
              <a:defRPr sz="110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086100"/>
            <a:ext cx="4114800" cy="685800"/>
          </a:xfrm>
          <a:noFill/>
          <a:ln>
            <a:noFill/>
          </a:ln>
        </p:spPr>
        <p:txBody>
          <a:bodyPr/>
          <a:lstStyle>
            <a:lvl1pPr algn="ctr">
              <a:defRPr sz="110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628900"/>
            <a:ext cx="5715000" cy="1638300"/>
          </a:xfrm>
          <a:noFill/>
          <a:ln>
            <a:noFill/>
          </a:ln>
        </p:spPr>
        <p:txBody>
          <a:bodyPr/>
          <a:lstStyle>
            <a:lvl1pPr algn="ctr">
              <a:defRPr sz="3200" b="1">
                <a:solidFill>
                  <a:srgbClr val="364395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rgbClr val="7496C3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61037"/>
            <a:ext cx="8229600" cy="563563"/>
          </a:xfrm>
        </p:spPr>
        <p:txBody>
          <a:bodyPr anchor="ctr"/>
          <a:lstStyle>
            <a:lvl1pPr marL="0" indent="0" algn="ctr">
              <a:buNone/>
              <a:tabLst>
                <a:tab pos="7773670" algn="l"/>
              </a:tabLst>
              <a:defRPr sz="1400"/>
            </a:lvl1pPr>
            <a:lvl2pPr algn="ctr">
              <a:buNone/>
              <a:tabLst>
                <a:tab pos="7773670" algn="l"/>
              </a:tabLst>
              <a:defRPr sz="1400"/>
            </a:lvl2pPr>
            <a:lvl3pPr algn="ctr">
              <a:buNone/>
              <a:tabLst>
                <a:tab pos="7773670" algn="l"/>
              </a:tabLst>
              <a:defRPr sz="1400"/>
            </a:lvl3pPr>
            <a:lvl4pPr algn="ctr">
              <a:buNone/>
              <a:tabLst>
                <a:tab pos="7773670" algn="l"/>
              </a:tabLst>
              <a:defRPr sz="1400"/>
            </a:lvl4pPr>
            <a:lvl5pPr algn="ctr">
              <a:buNone/>
              <a:tabLst>
                <a:tab pos="7773670" algn="l"/>
              </a:tabLst>
              <a:defRPr sz="1400"/>
            </a:lvl5pPr>
          </a:lstStyle>
          <a:p>
            <a:pPr lvl="0"/>
            <a:r>
              <a:rPr lang="en-US" noProof="1"/>
              <a:t>Click to edit Master text styles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066925"/>
            <a:ext cx="7772400" cy="1362075"/>
          </a:xfrm>
          <a:noFill/>
          <a:ln>
            <a:noFill/>
          </a:ln>
        </p:spPr>
        <p:txBody>
          <a:bodyPr anchorCtr="1"/>
          <a:lstStyle>
            <a:lvl1pPr algn="ctr">
              <a:defRPr sz="3600" b="0" cap="none">
                <a:solidFill>
                  <a:srgbClr val="1191D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52813"/>
            <a:ext cx="7772400" cy="1500187"/>
          </a:xfrm>
        </p:spPr>
        <p:txBody>
          <a:bodyPr anchor="b"/>
          <a:lstStyle>
            <a:lvl1pPr marL="0" indent="0" algn="ctr">
              <a:buNone/>
              <a:defRPr sz="2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229600" cy="685800"/>
          </a:xfrm>
          <a:noFill/>
          <a:ln>
            <a:noFill/>
          </a:ln>
        </p:spPr>
        <p:txBody>
          <a:bodyPr anchor="b" anchorCtr="1"/>
          <a:lstStyle>
            <a:lvl1pPr algn="ctr">
              <a:defRPr sz="140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7985125" y="6324600"/>
            <a:ext cx="1011238" cy="365125"/>
          </a:xfr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slow" advTm="0"/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SzTx/>
              <a:buFont typeface="Times" pitchFamily="18" charset="0"/>
              <a:buNone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9588" y="0"/>
            <a:ext cx="2284412" cy="61261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75" y="0"/>
            <a:ext cx="6704013" cy="61261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 spd="slow" advTm="0"/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-9525" y="6400800"/>
            <a:ext cx="9153525" cy="4572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wrap="none"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34819" name="Picture 8" descr="Pearson_Bound_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588" y="6400800"/>
            <a:ext cx="1533525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0" name="Picture 9" descr="Pearson_Strap_Bound_Wh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" y="6400800"/>
            <a:ext cx="1766888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495800" y="6400800"/>
            <a:ext cx="32766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Copyright © 2015 by Pearson Education, Inc.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All Rights Reserved</a:t>
            </a:r>
          </a:p>
        </p:txBody>
      </p:sp>
      <p:sp>
        <p:nvSpPr>
          <p:cNvPr id="6" name="Text Box 47"/>
          <p:cNvSpPr txBox="1">
            <a:spLocks noChangeArrowheads="1"/>
          </p:cNvSpPr>
          <p:nvPr/>
        </p:nvSpPr>
        <p:spPr bwMode="auto">
          <a:xfrm>
            <a:off x="1600200" y="6400800"/>
            <a:ext cx="5629275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Family Law and Practice,</a:t>
            </a: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 4th Edition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Luppino | Miller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>
                <a:ea typeface="MS PGothic" panose="020B0600070205080204" pitchFamily="34" charset="-128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FB64E5-3FB5-4706-AF26-6145D8B8B90E}" type="datetime1">
              <a:rPr kumimoji="0" 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4/11/2024</a:t>
            </a:fld>
            <a:endParaRPr kumimoji="0" 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slow" advTm="0"/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0B6E2B6-BFB6-45BA-81FC-31D162C62F9F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E5A2F1-21BC-4B58-95B5-C0617EDEF79F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9E4741C-3BD2-4689-95E9-6D04B88AF6B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BC494-74C8-45A3-AA82-573174F1267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3E1F6C-DB00-4DC7-905E-E5491DACF0F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DF003BE-746A-4762-A7DD-4958F109D3E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761CAAA-F2C9-47AD-A9CF-2C8E3FE61C59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8DCF3A-9E26-44C2-A4D5-88FBBDD2E817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F278EFA-BAD5-4530-B79B-29A45529D55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00C74B6-07FE-466D-A155-4656F989E0F1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E7A931-E38B-48E1-9462-D3E6AF857461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733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668B558-5375-45C0-89FD-35017F9CBDD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DD0160E-BC72-4AB6-8CCD-285522654B8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19587FA-907E-44D8-9922-CBDF0F3F1CA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C364D1-516B-4453-8962-BB2C8152C4E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3B7E7A-12CC-4F27-AB3F-E8D0540F2EE1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D577355-8A24-4372-9326-8CAAEAA8651F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A39565D-C40B-4CB6-A954-25C90FBA55BC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9867AFB-7D17-460C-95C7-80171D24896F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7C21F43-CC23-46ED-B957-305FF17865B9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555333B-FF18-49E4-863B-4BA2B6FE086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D6DA7B-1BC4-4266-AD24-1A9C78B4776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B3EAFD-9989-4CA4-A71B-5FAD87CD7F6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72DD11-6949-468B-BEAE-E611B72D272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416B07-894E-495E-A5C2-FA0538CFAB86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C9B3105-9431-46F7-99BD-4DC48F4B3A7C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EB7A11-B377-44B4-B6BE-F80CFB8D18D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DE85D2-35FA-4828-BDC2-69EC163B50E1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EF0A64F-8E06-4FD7-AD69-DBDCF98CBF4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270C25-328E-474E-98CC-8445293382BB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C229F7-2504-49E2-87EA-9D20849CC449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D68F40B-F915-4219-AEA3-6D1E8F7EF279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59C40B3-011F-42AC-9C01-5AD99D812BFD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CBEFE5A-0EBA-4C8D-B794-246F24EE495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8B178B-6ADB-46EF-96F2-2A074AE8CC1C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14372B-BB3D-4050-A50B-3DC0932B7F1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CF9C47-74E4-43C7-9ADA-06E34077BB79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AC77A13-B4A7-4B20-B259-4C2F34683AF6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818531-B3F2-4F19-BC76-DD30DE118A5A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55DA011-B6EA-4F77-ACC5-9ABEDA4FB9D0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8B1757B-ED00-418F-ACA0-0E13DFE1260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6BA2E68-6E93-4115-A2BD-0E6A4B8E1FD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DE10DD0-9582-4B79-BFAE-F53901065CF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84B6D15-F6E9-4860-86AF-976AA5967CAC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E61FE88-070A-46F7-BFE0-E6110C3F7C26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D2FE79B-35F3-4BD5-BCDD-D517DF58F8C6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ADBCF62-AACA-4BDB-AE54-2EC9CF3A05E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BA8A466-9338-4951-9295-F1AB65E10D8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98E9C7-34A9-448B-BF5B-B5B8A5A43D5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81BB4C-E6F6-45C6-B341-7574672D6ECB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76E696A-6FA4-4B80-AF4C-FDBC6801232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AEB0F0D-C175-40A0-AE09-68681B09FE7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8D57095-CBCC-47A2-B8EF-B68FC582CFB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2C8A238-88AC-4463-9E88-954209F0BDCB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FD3014-3FED-4D9D-9F79-5D296316D0B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DC96684-C744-4764-8EDD-F5F1248316E6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8B13A6-27AF-43F6-90A9-BA527252797B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DF6EC76-A6F1-409A-9F3D-F833A6CD7C51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F80CFA-2F55-4834-B29C-BA77A3125E2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92E5A94-3AA2-4974-9023-EC809FCB80DF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1A34CD2-D1AB-4088-ABAA-663A3C67886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0C2DB-CD11-4740-876B-220CED966AF0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384BE9-6B33-45B2-A6DC-71E7881D7EC6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D20BB-8D2F-4E89-923E-9313F5DA0B2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64DB66-9632-46E1-9513-B0AF61C8262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B07C710-0ED7-478E-AD22-F3714ADC1F9B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4D55FF-480F-4F88-B197-FAF6BC508360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ED4E715-5568-4CC8-A85D-8F8102446F8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C18A19-B9FC-41A9-BD1B-F2270A1177FB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432FC2-B25B-4E1B-B672-9A0FF781906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B818AE3-A7E0-4A07-BCDD-A87BE76683D1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B3A8AB-6FB6-4184-B48A-83C0F46D387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4FEAD6-2EF4-404A-9521-9832E1079BD1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DD41A6-8DF0-483A-B317-A6D6DADBACC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2F5D056-4D76-4B51-A54F-F023F5BCD5AF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4C1906-5F83-4D76-919A-C8E76884B93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3CB992-E0ED-4D87-9E21-F553449D2D1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7CE272B-6A86-441D-A97E-B9DDEA98C1B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B0ECD16-4E08-42F9-9BDF-B73CA84FC60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B30C119-1186-4326-BDE8-19B759DD613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EB2B6A7-0CA8-4ADF-B412-B065A114A03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6CC9D5-2B5E-45F3-8099-A05BCA9BAC86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AD5CAE-630C-451E-93F7-7CF49390D6C0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01C657D-0CD9-4FB0-A14A-2C5A08070E1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01AA3F-84EB-444E-818C-B5B71AFED61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FD6E15B-1D75-4154-8CC8-19F2D71F99AA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17F23BB-519B-4DA3-B6FE-5F75D3837780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1664433-80C9-4638-B068-9B5FF2D4CEF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177AE8-417E-4FD4-BC9D-7814E70EA74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E407B7-DD63-4D67-802F-A41AC6D51F27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7D0278E-E2AD-459F-8E3C-B30C4B5B958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3F7CB0-9143-4135-AB21-D6391C83AA7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CB483AE-A4F4-4A5B-854E-A7806C86E1A0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6D12CAD-27D2-41EC-A8DA-105CC2A3A9A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055CF7-B921-434D-9AAD-8483D2C648E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04B2AAB-180B-485D-9AA5-90D88117F83D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D5BE2B-E1C5-4934-BA3F-24D4E6A84AA9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701FD1D-A01F-4EC9-A171-52B5AA2068C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963EE2C-7172-41A2-ADC7-34A5B133240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FDC4478-7095-4815-9D84-57820DBE7ECA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B0B7C69-5066-40F8-9EF8-045EC8171F76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F98E2F4-B5EC-4B88-8B46-AF07DDA1BC41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52965A1-46BF-47DC-AD53-43947215799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B83D4E0-A1CA-48E6-8EA0-B6152D645E8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F9E164-193E-4721-8DEB-6F0F20C2CAC7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7E60B6D-53F6-4668-9C34-15E91730AB9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556B85-8F2E-46FD-B18B-AFBDDE6B3F9C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ADB4556-9E90-4165-8C96-40800B732A9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1BD5E7F-6FD8-484D-A7F9-401B9FDBA220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7898ABE-BE7D-4233-814B-92342B63701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EBD29BA-D18C-441A-9C27-A26541C7C4E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846E66-644B-4242-9F6E-1E8755D67F0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FA855C9-CF28-43BF-86C9-04227D2CB3C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532FC1F-3117-4848-BE20-A22E8381895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310505-517D-401B-BC2C-F8B9C512DA9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AEFF4E5-E9B5-4EB5-B5CD-B3C21F5C1D79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1205934-EA21-43AD-B3B9-F5190BE8735B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EB0491-6427-4E3F-8F32-7C024E6E667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3CA2AD6-8E4D-407A-8C70-18EF2F3C70EA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350D40-2E00-4D97-B30F-E3CA9E3C5F7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FD6380-1BA2-49B7-A3D6-BDA133561E8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6F7A6AB-817F-4068-84FB-1CB5572AA0D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C01182-A387-4761-BCFC-4782E54A0B5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1625421-8D8F-4F5C-9EE2-31870406A4D7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468E13-FC14-4759-BDAC-6A3381236E1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0E97F4-3E7A-4A3A-AFFE-7CFF804C47D7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D38FF68-07C5-499E-8656-4BE593C4DED9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5B9730-F3D1-4637-AF39-D8F73445C28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1F22905-2543-4076-A3B1-2B65FAC705F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F352223-891E-49DD-88EC-DBBBD88FEDB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7B0DBD-74C9-48A3-A195-F0B25E01E4D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33F87B4-24C6-479E-BBA8-8D230D9C89DB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B84765-BAB3-4601-88DF-86106A060A3C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6449E5-7C98-41CF-938B-7D72DBB42E8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DFB231A-06C5-4280-8D3C-9F152AF89E4F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E0050B-D576-47AF-A04D-82BDA011F69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AD7A019-7C5F-4F58-9413-6B4DF3402D7A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61ABCC5-2021-4DA0-9184-37A0E280AFA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848927B-08A3-40F6-AFEA-38E47D14990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8EAC19-4834-4342-BB08-A2FC3BD4177D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44D51C2-8469-4037-8F62-355A8C8D639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E0A2B3-F7B3-4C93-A35E-D64975BFFDB7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071C22C-AA4F-47D6-BF62-EF3EABC94487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55E3636-5717-40C6-B9BD-11DACB00FFA1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2B06A1-85D0-4BCF-AA48-0DCE5464F26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87EB5A0-8871-4228-B1D8-FC27E3A599C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374B9F-EF52-44D4-B492-5C7E76576DB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AE65BC-6AD2-4511-BB60-4E56C41106B0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1528074-BE94-4805-8503-E7B62AFF350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D46D655-445F-436D-8F98-8745305CD147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F349254-CD6E-4BD2-ABFE-DEFFEF06129D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973BC6-9EB0-412F-93E8-82E40270839D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3832769-66DE-47F2-A62A-2C2631DDC45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9826192-B351-4BD5-AC1A-5FB59A62C79F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CD2650E-C1C2-4937-9A5B-636E7F553C69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E223878-3FB6-42F3-B4FE-E5E553AEB50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908AFD2-09D7-495B-A038-2A4199979A4A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838200"/>
            <a:ext cx="38481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B6B6C92-D160-4955-86FA-B60987FA927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02C90C-3FD2-44CF-91F0-9B709489858A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242DCC7-4432-4A4C-884B-27D1BF9E4A47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EF15AF-E7CD-4818-B734-2BAF546F833E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7364BF-A7D1-4DA4-AA35-5DA6317DAEFC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01767CB-A43D-4B16-B898-370E1BFFE22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25D7821-1F42-4DF7-8AB2-CBD9EA901873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EB29CE-AE4F-4504-B36C-3DBC7E57FDE0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9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7.xml"/><Relationship Id="rId11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4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4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52.xml"/><Relationship Id="rId4" Type="http://schemas.openxmlformats.org/officeDocument/2006/relationships/slideLayout" Target="../slideLayouts/slideLayout146.xml"/><Relationship Id="rId9" Type="http://schemas.openxmlformats.org/officeDocument/2006/relationships/slideLayout" Target="../slideLayouts/slideLayout15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1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56.xml"/><Relationship Id="rId7" Type="http://schemas.openxmlformats.org/officeDocument/2006/relationships/slideLayout" Target="../slideLayouts/slideLayout16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54.xml"/><Relationship Id="rId6" Type="http://schemas.openxmlformats.org/officeDocument/2006/relationships/slideLayout" Target="../slideLayouts/slideLayout159.xml"/><Relationship Id="rId11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57.xml"/><Relationship Id="rId9" Type="http://schemas.openxmlformats.org/officeDocument/2006/relationships/slideLayout" Target="../slideLayouts/slideLayout16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2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7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4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3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82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77.xml"/><Relationship Id="rId1" Type="http://schemas.openxmlformats.org/officeDocument/2006/relationships/slideLayout" Target="../slideLayouts/slideLayout176.xml"/><Relationship Id="rId6" Type="http://schemas.openxmlformats.org/officeDocument/2006/relationships/slideLayout" Target="../slideLayouts/slideLayout181.xml"/><Relationship Id="rId11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0.xml"/><Relationship Id="rId10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79.xml"/><Relationship Id="rId9" Type="http://schemas.openxmlformats.org/officeDocument/2006/relationships/slideLayout" Target="../slideLayouts/slideLayout184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4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89.xml"/><Relationship Id="rId7" Type="http://schemas.openxmlformats.org/officeDocument/2006/relationships/slideLayout" Target="../slideLayouts/slideLayout193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92.xml"/><Relationship Id="rId11" Type="http://schemas.openxmlformats.org/officeDocument/2006/relationships/slideLayout" Target="../slideLayouts/slideLayout197.xml"/><Relationship Id="rId5" Type="http://schemas.openxmlformats.org/officeDocument/2006/relationships/slideLayout" Target="../slideLayouts/slideLayout191.xml"/><Relationship Id="rId10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90.xml"/><Relationship Id="rId9" Type="http://schemas.openxmlformats.org/officeDocument/2006/relationships/slideLayout" Target="../slideLayouts/slideLayout195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5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200.xml"/><Relationship Id="rId7" Type="http://schemas.openxmlformats.org/officeDocument/2006/relationships/slideLayout" Target="../slideLayouts/slideLayout204.xml"/><Relationship Id="rId12" Type="http://schemas.openxmlformats.org/officeDocument/2006/relationships/slideLayout" Target="../slideLayouts/slideLayout209.xml"/><Relationship Id="rId2" Type="http://schemas.openxmlformats.org/officeDocument/2006/relationships/slideLayout" Target="../slideLayouts/slideLayout199.xml"/><Relationship Id="rId1" Type="http://schemas.openxmlformats.org/officeDocument/2006/relationships/slideLayout" Target="../slideLayouts/slideLayout198.xml"/><Relationship Id="rId6" Type="http://schemas.openxmlformats.org/officeDocument/2006/relationships/slideLayout" Target="../slideLayouts/slideLayout203.xml"/><Relationship Id="rId11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1.xml"/><Relationship Id="rId9" Type="http://schemas.openxmlformats.org/officeDocument/2006/relationships/slideLayout" Target="../slideLayouts/slideLayout206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7.xml"/><Relationship Id="rId13" Type="http://schemas.openxmlformats.org/officeDocument/2006/relationships/theme" Target="../theme/theme19.xml"/><Relationship Id="rId3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6.xml"/><Relationship Id="rId12" Type="http://schemas.openxmlformats.org/officeDocument/2006/relationships/slideLayout" Target="../slideLayouts/slideLayout221.xml"/><Relationship Id="rId2" Type="http://schemas.openxmlformats.org/officeDocument/2006/relationships/slideLayout" Target="../slideLayouts/slideLayout211.xml"/><Relationship Id="rId1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15.xml"/><Relationship Id="rId11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4.xml"/><Relationship Id="rId10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3.xml"/><Relationship Id="rId9" Type="http://schemas.openxmlformats.org/officeDocument/2006/relationships/slideLayout" Target="../slideLayouts/slideLayout218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9.xml"/><Relationship Id="rId13" Type="http://schemas.openxmlformats.org/officeDocument/2006/relationships/theme" Target="../theme/theme20.xml"/><Relationship Id="rId3" Type="http://schemas.openxmlformats.org/officeDocument/2006/relationships/slideLayout" Target="../slideLayouts/slideLayout224.xml"/><Relationship Id="rId7" Type="http://schemas.openxmlformats.org/officeDocument/2006/relationships/slideLayout" Target="../slideLayouts/slideLayout228.xml"/><Relationship Id="rId12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23.xml"/><Relationship Id="rId1" Type="http://schemas.openxmlformats.org/officeDocument/2006/relationships/slideLayout" Target="../slideLayouts/slideLayout222.xml"/><Relationship Id="rId6" Type="http://schemas.openxmlformats.org/officeDocument/2006/relationships/slideLayout" Target="../slideLayouts/slideLayout227.xml"/><Relationship Id="rId11" Type="http://schemas.openxmlformats.org/officeDocument/2006/relationships/slideLayout" Target="../slideLayouts/slideLayout232.xml"/><Relationship Id="rId5" Type="http://schemas.openxmlformats.org/officeDocument/2006/relationships/slideLayout" Target="../slideLayouts/slideLayout226.xml"/><Relationship Id="rId10" Type="http://schemas.openxmlformats.org/officeDocument/2006/relationships/slideLayout" Target="../slideLayouts/slideLayout231.xml"/><Relationship Id="rId4" Type="http://schemas.openxmlformats.org/officeDocument/2006/relationships/slideLayout" Target="../slideLayouts/slideLayout225.xml"/><Relationship Id="rId9" Type="http://schemas.openxmlformats.org/officeDocument/2006/relationships/slideLayout" Target="../slideLayouts/slideLayout23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1.xml"/><Relationship Id="rId13" Type="http://schemas.openxmlformats.org/officeDocument/2006/relationships/theme" Target="../theme/theme21.xml"/><Relationship Id="rId3" Type="http://schemas.openxmlformats.org/officeDocument/2006/relationships/slideLayout" Target="../slideLayouts/slideLayout236.xml"/><Relationship Id="rId7" Type="http://schemas.openxmlformats.org/officeDocument/2006/relationships/slideLayout" Target="../slideLayouts/slideLayout240.xml"/><Relationship Id="rId12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35.xml"/><Relationship Id="rId1" Type="http://schemas.openxmlformats.org/officeDocument/2006/relationships/slideLayout" Target="../slideLayouts/slideLayout234.xml"/><Relationship Id="rId6" Type="http://schemas.openxmlformats.org/officeDocument/2006/relationships/slideLayout" Target="../slideLayouts/slideLayout239.xml"/><Relationship Id="rId11" Type="http://schemas.openxmlformats.org/officeDocument/2006/relationships/slideLayout" Target="../slideLayouts/slideLayout244.xml"/><Relationship Id="rId5" Type="http://schemas.openxmlformats.org/officeDocument/2006/relationships/slideLayout" Target="../slideLayouts/slideLayout238.xml"/><Relationship Id="rId10" Type="http://schemas.openxmlformats.org/officeDocument/2006/relationships/slideLayout" Target="../slideLayouts/slideLayout243.xml"/><Relationship Id="rId4" Type="http://schemas.openxmlformats.org/officeDocument/2006/relationships/slideLayout" Target="../slideLayouts/slideLayout237.xml"/><Relationship Id="rId9" Type="http://schemas.openxmlformats.org/officeDocument/2006/relationships/slideLayout" Target="../slideLayouts/slideLayout242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3.xml"/><Relationship Id="rId13" Type="http://schemas.openxmlformats.org/officeDocument/2006/relationships/theme" Target="../theme/theme22.xml"/><Relationship Id="rId3" Type="http://schemas.openxmlformats.org/officeDocument/2006/relationships/slideLayout" Target="../slideLayouts/slideLayout248.xml"/><Relationship Id="rId7" Type="http://schemas.openxmlformats.org/officeDocument/2006/relationships/slideLayout" Target="../slideLayouts/slideLayout252.xml"/><Relationship Id="rId12" Type="http://schemas.openxmlformats.org/officeDocument/2006/relationships/slideLayout" Target="../slideLayouts/slideLayout257.xml"/><Relationship Id="rId2" Type="http://schemas.openxmlformats.org/officeDocument/2006/relationships/slideLayout" Target="../slideLayouts/slideLayout247.xml"/><Relationship Id="rId1" Type="http://schemas.openxmlformats.org/officeDocument/2006/relationships/slideLayout" Target="../slideLayouts/slideLayout246.xml"/><Relationship Id="rId6" Type="http://schemas.openxmlformats.org/officeDocument/2006/relationships/slideLayout" Target="../slideLayouts/slideLayout251.xml"/><Relationship Id="rId11" Type="http://schemas.openxmlformats.org/officeDocument/2006/relationships/slideLayout" Target="../slideLayouts/slideLayout256.xml"/><Relationship Id="rId5" Type="http://schemas.openxmlformats.org/officeDocument/2006/relationships/slideLayout" Target="../slideLayouts/slideLayout250.xml"/><Relationship Id="rId10" Type="http://schemas.openxmlformats.org/officeDocument/2006/relationships/slideLayout" Target="../slideLayouts/slideLayout255.xml"/><Relationship Id="rId4" Type="http://schemas.openxmlformats.org/officeDocument/2006/relationships/slideLayout" Target="../slideLayouts/slideLayout249.xml"/><Relationship Id="rId9" Type="http://schemas.openxmlformats.org/officeDocument/2006/relationships/slideLayout" Target="../slideLayouts/slideLayout254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5.xml"/><Relationship Id="rId13" Type="http://schemas.openxmlformats.org/officeDocument/2006/relationships/theme" Target="../theme/theme23.xml"/><Relationship Id="rId3" Type="http://schemas.openxmlformats.org/officeDocument/2006/relationships/slideLayout" Target="../slideLayouts/slideLayout260.xml"/><Relationship Id="rId7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9.xml"/><Relationship Id="rId2" Type="http://schemas.openxmlformats.org/officeDocument/2006/relationships/slideLayout" Target="../slideLayouts/slideLayout259.xml"/><Relationship Id="rId1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8.xml"/><Relationship Id="rId5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7.xml"/><Relationship Id="rId4" Type="http://schemas.openxmlformats.org/officeDocument/2006/relationships/slideLayout" Target="../slideLayouts/slideLayout261.xml"/><Relationship Id="rId9" Type="http://schemas.openxmlformats.org/officeDocument/2006/relationships/slideLayout" Target="../slideLayouts/slideLayout266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7.xml"/><Relationship Id="rId13" Type="http://schemas.openxmlformats.org/officeDocument/2006/relationships/theme" Target="../theme/theme24.xml"/><Relationship Id="rId3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6.xml"/><Relationship Id="rId12" Type="http://schemas.openxmlformats.org/officeDocument/2006/relationships/slideLayout" Target="../slideLayouts/slideLayout281.xml"/><Relationship Id="rId2" Type="http://schemas.openxmlformats.org/officeDocument/2006/relationships/slideLayout" Target="../slideLayouts/slideLayout271.xml"/><Relationship Id="rId1" Type="http://schemas.openxmlformats.org/officeDocument/2006/relationships/slideLayout" Target="../slideLayouts/slideLayout270.xml"/><Relationship Id="rId6" Type="http://schemas.openxmlformats.org/officeDocument/2006/relationships/slideLayout" Target="../slideLayouts/slideLayout275.xml"/><Relationship Id="rId11" Type="http://schemas.openxmlformats.org/officeDocument/2006/relationships/slideLayout" Target="../slideLayouts/slideLayout280.xml"/><Relationship Id="rId5" Type="http://schemas.openxmlformats.org/officeDocument/2006/relationships/slideLayout" Target="../slideLayouts/slideLayout274.xml"/><Relationship Id="rId10" Type="http://schemas.openxmlformats.org/officeDocument/2006/relationships/slideLayout" Target="../slideLayouts/slideLayout279.xml"/><Relationship Id="rId4" Type="http://schemas.openxmlformats.org/officeDocument/2006/relationships/slideLayout" Target="../slideLayouts/slideLayout273.xml"/><Relationship Id="rId9" Type="http://schemas.openxmlformats.org/officeDocument/2006/relationships/slideLayout" Target="../slideLayouts/slideLayout278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9.xml"/><Relationship Id="rId13" Type="http://schemas.openxmlformats.org/officeDocument/2006/relationships/theme" Target="../theme/theme25.xml"/><Relationship Id="rId3" Type="http://schemas.openxmlformats.org/officeDocument/2006/relationships/slideLayout" Target="../slideLayouts/slideLayout284.xml"/><Relationship Id="rId7" Type="http://schemas.openxmlformats.org/officeDocument/2006/relationships/slideLayout" Target="../slideLayouts/slideLayout288.xml"/><Relationship Id="rId12" Type="http://schemas.openxmlformats.org/officeDocument/2006/relationships/slideLayout" Target="../slideLayouts/slideLayout293.xml"/><Relationship Id="rId2" Type="http://schemas.openxmlformats.org/officeDocument/2006/relationships/slideLayout" Target="../slideLayouts/slideLayout283.xml"/><Relationship Id="rId1" Type="http://schemas.openxmlformats.org/officeDocument/2006/relationships/slideLayout" Target="../slideLayouts/slideLayout282.xml"/><Relationship Id="rId6" Type="http://schemas.openxmlformats.org/officeDocument/2006/relationships/slideLayout" Target="../slideLayouts/slideLayout287.xml"/><Relationship Id="rId11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86.xml"/><Relationship Id="rId10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85.xml"/><Relationship Id="rId9" Type="http://schemas.openxmlformats.org/officeDocument/2006/relationships/slideLayout" Target="../slideLayouts/slideLayout290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1.xml"/><Relationship Id="rId13" Type="http://schemas.openxmlformats.org/officeDocument/2006/relationships/theme" Target="../theme/theme26.xml"/><Relationship Id="rId3" Type="http://schemas.openxmlformats.org/officeDocument/2006/relationships/slideLayout" Target="../slideLayouts/slideLayout296.xml"/><Relationship Id="rId7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5.xml"/><Relationship Id="rId2" Type="http://schemas.openxmlformats.org/officeDocument/2006/relationships/slideLayout" Target="../slideLayouts/slideLayout295.xml"/><Relationship Id="rId1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4.xml"/><Relationship Id="rId5" Type="http://schemas.openxmlformats.org/officeDocument/2006/relationships/slideLayout" Target="../slideLayouts/slideLayout298.xml"/><Relationship Id="rId10" Type="http://schemas.openxmlformats.org/officeDocument/2006/relationships/slideLayout" Target="../slideLayouts/slideLayout303.xml"/><Relationship Id="rId4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302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3.xml"/><Relationship Id="rId13" Type="http://schemas.openxmlformats.org/officeDocument/2006/relationships/theme" Target="../theme/theme27.xml"/><Relationship Id="rId3" Type="http://schemas.openxmlformats.org/officeDocument/2006/relationships/slideLayout" Target="../slideLayouts/slideLayout308.xml"/><Relationship Id="rId7" Type="http://schemas.openxmlformats.org/officeDocument/2006/relationships/slideLayout" Target="../slideLayouts/slideLayout312.xml"/><Relationship Id="rId12" Type="http://schemas.openxmlformats.org/officeDocument/2006/relationships/slideLayout" Target="../slideLayouts/slideLayout317.xml"/><Relationship Id="rId2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306.xml"/><Relationship Id="rId6" Type="http://schemas.openxmlformats.org/officeDocument/2006/relationships/slideLayout" Target="../slideLayouts/slideLayout311.xml"/><Relationship Id="rId11" Type="http://schemas.openxmlformats.org/officeDocument/2006/relationships/slideLayout" Target="../slideLayouts/slideLayout316.xml"/><Relationship Id="rId5" Type="http://schemas.openxmlformats.org/officeDocument/2006/relationships/slideLayout" Target="../slideLayouts/slideLayout310.xml"/><Relationship Id="rId10" Type="http://schemas.openxmlformats.org/officeDocument/2006/relationships/slideLayout" Target="../slideLayouts/slideLayout315.xml"/><Relationship Id="rId4" Type="http://schemas.openxmlformats.org/officeDocument/2006/relationships/slideLayout" Target="../slideLayouts/slideLayout309.xml"/><Relationship Id="rId9" Type="http://schemas.openxmlformats.org/officeDocument/2006/relationships/slideLayout" Target="../slideLayouts/slideLayout314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5.xml"/><Relationship Id="rId13" Type="http://schemas.openxmlformats.org/officeDocument/2006/relationships/theme" Target="../theme/theme28.xml"/><Relationship Id="rId3" Type="http://schemas.openxmlformats.org/officeDocument/2006/relationships/slideLayout" Target="../slideLayouts/slideLayout320.xml"/><Relationship Id="rId7" Type="http://schemas.openxmlformats.org/officeDocument/2006/relationships/slideLayout" Target="../slideLayouts/slideLayout324.xml"/><Relationship Id="rId12" Type="http://schemas.openxmlformats.org/officeDocument/2006/relationships/slideLayout" Target="../slideLayouts/slideLayout329.xml"/><Relationship Id="rId2" Type="http://schemas.openxmlformats.org/officeDocument/2006/relationships/slideLayout" Target="../slideLayouts/slideLayout319.xml"/><Relationship Id="rId1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1.xml"/><Relationship Id="rId9" Type="http://schemas.openxmlformats.org/officeDocument/2006/relationships/slideLayout" Target="../slideLayouts/slideLayout326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7.xml"/><Relationship Id="rId13" Type="http://schemas.openxmlformats.org/officeDocument/2006/relationships/theme" Target="../theme/theme29.xml"/><Relationship Id="rId3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6.xml"/><Relationship Id="rId12" Type="http://schemas.openxmlformats.org/officeDocument/2006/relationships/slideLayout" Target="../slideLayouts/slideLayout341.xml"/><Relationship Id="rId2" Type="http://schemas.openxmlformats.org/officeDocument/2006/relationships/slideLayout" Target="../slideLayouts/slideLayout331.xml"/><Relationship Id="rId1" Type="http://schemas.openxmlformats.org/officeDocument/2006/relationships/slideLayout" Target="../slideLayouts/slideLayout330.xml"/><Relationship Id="rId6" Type="http://schemas.openxmlformats.org/officeDocument/2006/relationships/slideLayout" Target="../slideLayouts/slideLayout335.xml"/><Relationship Id="rId11" Type="http://schemas.openxmlformats.org/officeDocument/2006/relationships/slideLayout" Target="../slideLayouts/slideLayout340.xml"/><Relationship Id="rId5" Type="http://schemas.openxmlformats.org/officeDocument/2006/relationships/slideLayout" Target="../slideLayouts/slideLayout334.xml"/><Relationship Id="rId10" Type="http://schemas.openxmlformats.org/officeDocument/2006/relationships/slideLayout" Target="../slideLayouts/slideLayout339.xml"/><Relationship Id="rId4" Type="http://schemas.openxmlformats.org/officeDocument/2006/relationships/slideLayout" Target="../slideLayouts/slideLayout333.xml"/><Relationship Id="rId9" Type="http://schemas.openxmlformats.org/officeDocument/2006/relationships/slideLayout" Target="../slideLayouts/slideLayout338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9.xml"/><Relationship Id="rId13" Type="http://schemas.openxmlformats.org/officeDocument/2006/relationships/theme" Target="../theme/theme30.xml"/><Relationship Id="rId3" Type="http://schemas.openxmlformats.org/officeDocument/2006/relationships/slideLayout" Target="../slideLayouts/slideLayout344.xml"/><Relationship Id="rId7" Type="http://schemas.openxmlformats.org/officeDocument/2006/relationships/slideLayout" Target="../slideLayouts/slideLayout348.xml"/><Relationship Id="rId12" Type="http://schemas.openxmlformats.org/officeDocument/2006/relationships/slideLayout" Target="../slideLayouts/slideLayout353.xml"/><Relationship Id="rId2" Type="http://schemas.openxmlformats.org/officeDocument/2006/relationships/slideLayout" Target="../slideLayouts/slideLayout343.xml"/><Relationship Id="rId1" Type="http://schemas.openxmlformats.org/officeDocument/2006/relationships/slideLayout" Target="../slideLayouts/slideLayout342.xml"/><Relationship Id="rId6" Type="http://schemas.openxmlformats.org/officeDocument/2006/relationships/slideLayout" Target="../slideLayouts/slideLayout347.xml"/><Relationship Id="rId11" Type="http://schemas.openxmlformats.org/officeDocument/2006/relationships/slideLayout" Target="../slideLayouts/slideLayout352.xml"/><Relationship Id="rId5" Type="http://schemas.openxmlformats.org/officeDocument/2006/relationships/slideLayout" Target="../slideLayouts/slideLayout346.xml"/><Relationship Id="rId10" Type="http://schemas.openxmlformats.org/officeDocument/2006/relationships/slideLayout" Target="../slideLayouts/slideLayout351.xml"/><Relationship Id="rId4" Type="http://schemas.openxmlformats.org/officeDocument/2006/relationships/slideLayout" Target="../slideLayouts/slideLayout345.xml"/><Relationship Id="rId9" Type="http://schemas.openxmlformats.org/officeDocument/2006/relationships/slideLayout" Target="../slideLayouts/slideLayout350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1.xml"/><Relationship Id="rId13" Type="http://schemas.openxmlformats.org/officeDocument/2006/relationships/theme" Target="../theme/theme31.xml"/><Relationship Id="rId3" Type="http://schemas.openxmlformats.org/officeDocument/2006/relationships/slideLayout" Target="../slideLayouts/slideLayout356.xml"/><Relationship Id="rId7" Type="http://schemas.openxmlformats.org/officeDocument/2006/relationships/slideLayout" Target="../slideLayouts/slideLayout360.xml"/><Relationship Id="rId12" Type="http://schemas.openxmlformats.org/officeDocument/2006/relationships/slideLayout" Target="../slideLayouts/slideLayout365.xml"/><Relationship Id="rId2" Type="http://schemas.openxmlformats.org/officeDocument/2006/relationships/slideLayout" Target="../slideLayouts/slideLayout355.xml"/><Relationship Id="rId1" Type="http://schemas.openxmlformats.org/officeDocument/2006/relationships/slideLayout" Target="../slideLayouts/slideLayout354.xml"/><Relationship Id="rId6" Type="http://schemas.openxmlformats.org/officeDocument/2006/relationships/slideLayout" Target="../slideLayouts/slideLayout359.xml"/><Relationship Id="rId11" Type="http://schemas.openxmlformats.org/officeDocument/2006/relationships/slideLayout" Target="../slideLayouts/slideLayout364.xml"/><Relationship Id="rId5" Type="http://schemas.openxmlformats.org/officeDocument/2006/relationships/slideLayout" Target="../slideLayouts/slideLayout358.xml"/><Relationship Id="rId10" Type="http://schemas.openxmlformats.org/officeDocument/2006/relationships/slideLayout" Target="../slideLayouts/slideLayout363.xml"/><Relationship Id="rId4" Type="http://schemas.openxmlformats.org/officeDocument/2006/relationships/slideLayout" Target="../slideLayouts/slideLayout357.xml"/><Relationship Id="rId9" Type="http://schemas.openxmlformats.org/officeDocument/2006/relationships/slideLayout" Target="../slideLayouts/slideLayout3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-19050" y="0"/>
            <a:ext cx="9163050" cy="13716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noProof="1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ransition spd="slow" advTm="0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>
              <a:srgbClr val="000000">
                <a:alpha val="75000"/>
              </a:srgbClr>
            </a:outerShdw>
          </a:effectLst>
          <a:latin typeface="Verdana" panose="020B0604030504040204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14C90"/>
        </a:buClr>
        <a:buFont typeface="Times" pitchFamily="18" charset="0"/>
        <a:buChar char="•"/>
        <a:defRPr sz="3000">
          <a:solidFill>
            <a:schemeClr val="tx1"/>
          </a:solidFill>
          <a:latin typeface="Verdana" panose="020B0604030504040204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1191D0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Verdana" panose="020B0604030504040204"/>
          <a:ea typeface="MS PGothic" panose="020B0600070205080204" pitchFamily="34" charset="-128"/>
          <a:cs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214C90"/>
        </a:buClr>
        <a:buFont typeface="Arial" panose="020B0604020202020204" pitchFamily="34" charset="0"/>
        <a:buChar char="•"/>
        <a:defRPr sz="2600">
          <a:solidFill>
            <a:schemeClr val="tx1"/>
          </a:solidFill>
          <a:latin typeface="Verdana" panose="020B0604030504040204"/>
          <a:ea typeface="MS PGothic" panose="020B0600070205080204" pitchFamily="34" charset="-128"/>
          <a:cs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rgbClr val="1191D0"/>
        </a:buClr>
        <a:buFont typeface="Arial" panose="020B0604020202020204" pitchFamily="34" charset="0"/>
        <a:buChar char="•"/>
        <a:defRPr sz="2400">
          <a:solidFill>
            <a:schemeClr val="tx1"/>
          </a:solidFill>
          <a:latin typeface="Verdana" panose="020B0604030504040204"/>
          <a:ea typeface="MS PGothic" panose="020B0600070205080204" pitchFamily="34" charset="-128"/>
          <a:cs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rgbClr val="214C90"/>
        </a:buClr>
        <a:buFont typeface="Lucida Grande"/>
        <a:buChar char="-"/>
        <a:defRPr sz="2200">
          <a:solidFill>
            <a:schemeClr val="tx1"/>
          </a:solidFill>
          <a:latin typeface="Verdana" panose="020B0604030504040204"/>
          <a:ea typeface="MS PGothic" panose="020B0600070205080204" pitchFamily="34" charset="-128"/>
          <a:cs typeface="MS PGothic" panose="020B0600070205080204" pitchFamily="34" charset="-128"/>
        </a:defRPr>
      </a:lvl5pPr>
      <a:lvl6pPr marL="22288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6860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1432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6004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2051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8E3F30E-28CA-4245-B9B3-B37DFE0A4966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099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147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7171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195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219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43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1267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2291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3315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4339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5363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6387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7411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</p:sldLayoutIdLst>
  <p:transition spd="slow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18435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4AC89DD-37DA-4337-B092-AB1CCA63B342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19459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38C573-4D34-48BC-BB8A-40C2613AAF3F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20483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87751A-2ACA-4B4A-99C3-DCDDBFDFD8AB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21507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5E374AF-732B-40C9-8503-4C186D58BA31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22531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7F43DF7-EABE-4A6C-A8BA-3371D45CD89B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23555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2C262D-D7E2-42F4-9D75-C4F3713B75D0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24579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A5F67A-5EF8-4C4B-B81D-3CD7DCA4EDE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25603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8AE16E2-F9A2-4ADB-BB2F-EE28A8026639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  <p:sldLayoutId id="2147483965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26627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908E8AD-9ED0-4677-BB1A-B1809BADE1EA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27651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6BDC90-520C-4FFB-92AC-DC39ACEF6276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28675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F53A26-A381-4E67-BA33-11FB233713D4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4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29699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8B3DA0-4CEA-40A7-B1A9-F172195C5DC5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30723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F7815EF-CC1C-4578-B5DF-F3A325917E68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022" r:id="rId4"/>
    <p:sldLayoutId id="2147484023" r:id="rId5"/>
    <p:sldLayoutId id="2147484024" r:id="rId6"/>
    <p:sldLayoutId id="2147484025" r:id="rId7"/>
    <p:sldLayoutId id="2147484026" r:id="rId8"/>
    <p:sldLayoutId id="2147484027" r:id="rId9"/>
    <p:sldLayoutId id="2147484028" r:id="rId10"/>
    <p:sldLayoutId id="2147484029" r:id="rId11"/>
    <p:sldLayoutId id="2147484030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4563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31747" name="Rectangle 6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848600" cy="541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Body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26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CB8EB6-FDB7-47AB-9BBD-F6409CF47451}" type="datetime1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2024/4/11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>
                <a:solidFill>
                  <a:srgbClr val="FC0128"/>
                </a:solidFill>
                <a:latin typeface="Helvetica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Chapter 5  Combinational Logic Analysis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35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2" r:id="rId1"/>
    <p:sldLayoutId id="2147484033" r:id="rId2"/>
    <p:sldLayoutId id="2147484034" r:id="rId3"/>
    <p:sldLayoutId id="2147484035" r:id="rId4"/>
    <p:sldLayoutId id="2147484036" r:id="rId5"/>
    <p:sldLayoutId id="2147484037" r:id="rId6"/>
    <p:sldLayoutId id="2147484038" r:id="rId7"/>
    <p:sldLayoutId id="2147484039" r:id="rId8"/>
    <p:sldLayoutId id="2147484040" r:id="rId9"/>
    <p:sldLayoutId id="2147484041" r:id="rId10"/>
    <p:sldLayoutId id="2147484042" r:id="rId11"/>
    <p:sldLayoutId id="2147484043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332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332B7"/>
          </a:solidFill>
          <a:latin typeface="Arial" panose="020B060402020202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43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1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5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46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6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0.png"/><Relationship Id="rId7" Type="http://schemas.openxmlformats.org/officeDocument/2006/relationships/customXml" Target="../ink/ink2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65.xml"/><Relationship Id="rId6" Type="http://schemas.openxmlformats.org/officeDocument/2006/relationships/image" Target="../media/image52.png"/><Relationship Id="rId5" Type="http://schemas.openxmlformats.org/officeDocument/2006/relationships/customXml" Target="../ink/ink1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5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59.png"/><Relationship Id="rId5" Type="http://schemas.openxmlformats.org/officeDocument/2006/relationships/image" Target="../media/image56.png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6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7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1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2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8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6.xml"/><Relationship Id="rId6" Type="http://schemas.openxmlformats.org/officeDocument/2006/relationships/image" Target="../media/image69.png"/><Relationship Id="rId5" Type="http://schemas.openxmlformats.org/officeDocument/2006/relationships/customXml" Target="../ink/ink3.xml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324.xml"/><Relationship Id="rId5" Type="http://schemas.openxmlformats.org/officeDocument/2006/relationships/image" Target="../media/image72.png"/><Relationship Id="rId4" Type="http://schemas.openxmlformats.org/officeDocument/2006/relationships/customXml" Target="../ink/ink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33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7.xml"/><Relationship Id="rId5" Type="http://schemas.openxmlformats.org/officeDocument/2006/relationships/image" Target="../media/image75.png"/><Relationship Id="rId4" Type="http://schemas.openxmlformats.org/officeDocument/2006/relationships/customXml" Target="../ink/ink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312.xml"/><Relationship Id="rId5" Type="http://schemas.openxmlformats.org/officeDocument/2006/relationships/image" Target="../media/image78.png"/><Relationship Id="rId4" Type="http://schemas.openxmlformats.org/officeDocument/2006/relationships/customXml" Target="../ink/ink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3"/>
          <p:cNvSpPr/>
          <p:nvPr/>
        </p:nvSpPr>
        <p:spPr>
          <a:xfrm>
            <a:off x="4572000" y="3810000"/>
            <a:ext cx="3810000" cy="1524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Latches, Flip-Flops,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and Timers</a:t>
            </a:r>
          </a:p>
        </p:txBody>
      </p:sp>
      <p:sp>
        <p:nvSpPr>
          <p:cNvPr id="236547" name="Text Box 6"/>
          <p:cNvSpPr txBox="1"/>
          <p:nvPr/>
        </p:nvSpPr>
        <p:spPr>
          <a:xfrm>
            <a:off x="6248400" y="2559050"/>
            <a:ext cx="723900" cy="1108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6600" dirty="0"/>
              <a:t>7</a:t>
            </a:r>
            <a:endParaRPr lang="en-US" altLang="zh-CN" sz="6600" dirty="0"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 spd="slow" advTm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灯片编号占位符 5"/>
          <p:cNvSpPr txBox="1">
            <a:spLocks noGrp="1"/>
          </p:cNvSpPr>
          <p:nvPr/>
        </p:nvSpPr>
        <p:spPr>
          <a:xfrm>
            <a:off x="6553200" y="6413500"/>
            <a:ext cx="1905000" cy="2921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 anchorCtr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SzTx/>
              <a:buNone/>
            </a:pPr>
            <a:fld id="{9A0DB2DC-4C9A-4742-B13C-FB6460FD3503}" type="slidenum">
              <a:rPr lang="zh-CN" altLang="en-US" sz="1400" dirty="0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fld>
            <a:endParaRPr lang="zh-CN" altLang="en-US" sz="1400" b="0" dirty="0">
              <a:solidFill>
                <a:srgbClr val="0033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076" name="Rectangle 20"/>
          <p:cNvSpPr/>
          <p:nvPr/>
        </p:nvSpPr>
        <p:spPr>
          <a:xfrm>
            <a:off x="762000" y="2362200"/>
            <a:ext cx="7391400" cy="1600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en-US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77" name="Rectangle 19"/>
          <p:cNvSpPr/>
          <p:nvPr/>
        </p:nvSpPr>
        <p:spPr>
          <a:xfrm>
            <a:off x="762000" y="1371600"/>
            <a:ext cx="7391400" cy="990600"/>
          </a:xfrm>
          <a:prstGeom prst="rect">
            <a:avLst/>
          </a:prstGeom>
          <a:solidFill>
            <a:srgbClr val="99FFCC"/>
          </a:solidFill>
          <a:ln w="9525">
            <a:noFill/>
          </a:ln>
        </p:spPr>
        <p:txBody>
          <a:bodyPr wrap="none" lIns="92075" tIns="46038" rIns="92075" bIns="46038" anchor="ctr" anchorCtr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en-US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Text Box 17"/>
          <p:cNvSpPr txBox="1">
            <a:spLocks noChangeArrowheads="1"/>
          </p:cNvSpPr>
          <p:nvPr/>
        </p:nvSpPr>
        <p:spPr bwMode="auto">
          <a:xfrm>
            <a:off x="685800" y="1143000"/>
            <a:ext cx="7772400" cy="46180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lIns="21600" tIns="46038" rIns="21600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7-1	锁存器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Latches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7-2	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边沿触发器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Edge-Triggered Flip-Flops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7-3	触发器运算特性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7-4	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触发器应用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7-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单稳态触发器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7-6	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非稳态多谐振荡器</a:t>
            </a:r>
          </a:p>
        </p:txBody>
      </p:sp>
      <p:sp>
        <p:nvSpPr>
          <p:cNvPr id="456710" name="Text Box 18"/>
          <p:cNvSpPr txBox="1">
            <a:spLocks noChangeArrowheads="1"/>
          </p:cNvSpPr>
          <p:nvPr/>
        </p:nvSpPr>
        <p:spPr bwMode="auto">
          <a:xfrm>
            <a:off x="19050" y="123825"/>
            <a:ext cx="9144000" cy="5857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第7 章  锁存器、触发器和定时器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0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nimBg="1"/>
      <p:bldP spid="3077" grpId="0" animBg="1"/>
      <p:bldP spid="307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594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738" y="2986088"/>
            <a:ext cx="5195887" cy="1992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773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0" y="190500"/>
            <a:ext cx="9144000" cy="50165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  Sec.7.1  Latches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（锁存器）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charset="0"/>
              <a:ea typeface="+mj-ea"/>
              <a:cs typeface="+mj-cs"/>
            </a:endParaRPr>
          </a:p>
        </p:txBody>
      </p:sp>
      <p:sp>
        <p:nvSpPr>
          <p:cNvPr id="238596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8597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8598" name="Text Box 5"/>
          <p:cNvSpPr txBox="1"/>
          <p:nvPr/>
        </p:nvSpPr>
        <p:spPr>
          <a:xfrm>
            <a:off x="395288" y="6381750"/>
            <a:ext cx="23764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楷体_GB2312"/>
                <a:ea typeface="楷体_GB2312"/>
              </a:rPr>
              <a:t>CHAPTER 7</a:t>
            </a:r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93663" y="885825"/>
            <a:ext cx="8956675" cy="4968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MS PGothic" panose="020B0600070205080204" pitchFamily="34" charset="-128"/>
                <a:cs typeface="+mn-cs"/>
              </a:rPr>
              <a:t>锁存器是具有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MS PGothic" panose="020B0600070205080204" pitchFamily="34" charset="-128"/>
                <a:cs typeface="+mn-cs"/>
              </a:rPr>
              <a:t>两个稳定状态（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/>
                <a:ea typeface="MS PGothic" panose="020B0600070205080204" pitchFamily="34" charset="-128"/>
                <a:cs typeface="+mn-cs"/>
              </a:rPr>
              <a:t>双稳态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MS PGothic" panose="020B0600070205080204" pitchFamily="34" charset="-128"/>
                <a:cs typeface="+mn-cs"/>
              </a:rPr>
              <a:t>）的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/>
                <a:ea typeface="MS PGothic" panose="020B0600070205080204" pitchFamily="34" charset="-128"/>
                <a:cs typeface="+mn-cs"/>
              </a:rPr>
              <a:t>临时存储数据的设备，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MS PGothic" panose="020B0600070205080204" pitchFamily="34" charset="-128"/>
                <a:cs typeface="+mn-cs"/>
              </a:rPr>
              <a:t>也称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/>
                <a:ea typeface="MS PGothic" panose="020B0600070205080204" pitchFamily="34" charset="-128"/>
                <a:cs typeface="+mn-cs"/>
              </a:rPr>
              <a:t>多谐振荡器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7"/>
          <p:cNvSpPr>
            <a:spLocks noGrp="1" noRot="1" noChangeArrowheads="1"/>
          </p:cNvSpPr>
          <p:nvPr>
            <p:ph type="subTitle" idx="1"/>
          </p:nvPr>
        </p:nvSpPr>
        <p:spPr>
          <a:xfrm>
            <a:off x="277813" y="1670050"/>
            <a:ext cx="5803900" cy="431800"/>
          </a:xfrm>
          <a:solidFill>
            <a:schemeClr val="accent1">
              <a:lumMod val="75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S-R (Set-Reset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，置位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复位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锁存器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8601" name="矩形 2"/>
          <p:cNvSpPr/>
          <p:nvPr/>
        </p:nvSpPr>
        <p:spPr>
          <a:xfrm flipH="1">
            <a:off x="4191000" y="3092450"/>
            <a:ext cx="76200" cy="32893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1" dirty="0">
              <a:latin typeface="Times New Roman" panose="02020603050405020304" charset="0"/>
              <a:ea typeface="楷体_GB2312"/>
            </a:endParaRPr>
          </a:p>
        </p:txBody>
      </p:sp>
      <p:sp>
        <p:nvSpPr>
          <p:cNvPr id="238602" name="矩形 3"/>
          <p:cNvSpPr/>
          <p:nvPr/>
        </p:nvSpPr>
        <p:spPr>
          <a:xfrm>
            <a:off x="1676400" y="3048000"/>
            <a:ext cx="5102225" cy="1992313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1" dirty="0">
              <a:latin typeface="Times New Roman" panose="02020603050405020304" charset="0"/>
              <a:ea typeface="楷体_GB2312"/>
            </a:endParaRPr>
          </a:p>
        </p:txBody>
      </p:sp>
      <p:sp>
        <p:nvSpPr>
          <p:cNvPr id="238603" name="文本框 5"/>
          <p:cNvSpPr txBox="1"/>
          <p:nvPr/>
        </p:nvSpPr>
        <p:spPr>
          <a:xfrm>
            <a:off x="177800" y="2278063"/>
            <a:ext cx="2084388" cy="7080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交叉耦合结构，反馈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09800" y="5118100"/>
            <a:ext cx="1597025" cy="369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1800" b="1" kern="1200" cap="none" spc="0" normalizeH="0" baseline="0" noProof="0" dirty="0">
                <a:solidFill>
                  <a:srgbClr val="000000"/>
                </a:solidFill>
                <a:latin typeface="Roboto"/>
                <a:ea typeface="MS PGothic" panose="020B0600070205080204" pitchFamily="34" charset="-128"/>
                <a:cs typeface="+mn-cs"/>
              </a:rPr>
              <a:t>高电平输入</a:t>
            </a:r>
            <a:endParaRPr kumimoji="0" lang="zh-CN" altLang="en-US" sz="1800" kern="1200" cap="none" spc="0" normalizeH="0" baseline="0" noProof="0" dirty="0"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24400" y="5118100"/>
            <a:ext cx="1597025" cy="369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1800" b="1" kern="1200" cap="none" spc="0" normalizeH="0" baseline="0" noProof="0" dirty="0">
                <a:solidFill>
                  <a:srgbClr val="000000"/>
                </a:solidFill>
                <a:latin typeface="Roboto"/>
                <a:ea typeface="MS PGothic" panose="020B0600070205080204" pitchFamily="34" charset="-128"/>
                <a:cs typeface="+mn-cs"/>
              </a:rPr>
              <a:t>低电平输入</a:t>
            </a:r>
            <a:endParaRPr kumimoji="0" lang="zh-CN" altLang="en-US" sz="1800" kern="1200" cap="none" spc="0" normalizeH="0" baseline="0" noProof="0" dirty="0"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矩形 12902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611376" y="1972025"/>
            <a:ext cx="1217000" cy="1016368"/>
          </a:xfrm>
          <a:prstGeom prst="rect">
            <a:avLst/>
          </a:prstGeom>
          <a:blipFill>
            <a:blip r:embed="rId3"/>
            <a:stretch>
              <a:fillRect l="-4478" r="-4478" b="-8876"/>
            </a:stretch>
          </a:blipFill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 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252788"/>
            <a:ext cx="2049463" cy="1611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8608" name="箭头: 右 15"/>
          <p:cNvSpPr/>
          <p:nvPr/>
        </p:nvSpPr>
        <p:spPr>
          <a:xfrm>
            <a:off x="6416675" y="3732213"/>
            <a:ext cx="866775" cy="400050"/>
          </a:xfrm>
          <a:prstGeom prst="rightArrow">
            <a:avLst>
              <a:gd name="adj1" fmla="val 50000"/>
              <a:gd name="adj2" fmla="val 50003"/>
            </a:avLst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1" dirty="0">
              <a:latin typeface="Times New Roman" panose="02020603050405020304" charset="0"/>
              <a:ea typeface="楷体_GB2312"/>
            </a:endParaRPr>
          </a:p>
        </p:txBody>
      </p:sp>
      <p:sp>
        <p:nvSpPr>
          <p:cNvPr id="238609" name="文本框 16"/>
          <p:cNvSpPr txBox="1"/>
          <p:nvPr/>
        </p:nvSpPr>
        <p:spPr>
          <a:xfrm>
            <a:off x="2617788" y="2262188"/>
            <a:ext cx="1954212" cy="7080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置位：𝑄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复位：𝑄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</a:p>
        </p:txBody>
      </p:sp>
      <p:sp>
        <p:nvSpPr>
          <p:cNvPr id="238610" name="文本框 17"/>
          <p:cNvSpPr txBox="1"/>
          <p:nvPr/>
        </p:nvSpPr>
        <p:spPr>
          <a:xfrm>
            <a:off x="4895850" y="2252663"/>
            <a:ext cx="2665413" cy="7080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锁存器保持在复位或置位的任何一种状态</a:t>
            </a:r>
            <a:endParaRPr lang="en-US" altLang="zh-CN" sz="20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矩形 12902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11600" y="3632434"/>
            <a:ext cx="1309945" cy="708592"/>
          </a:xfrm>
          <a:prstGeom prst="rect">
            <a:avLst/>
          </a:prstGeom>
          <a:blipFill>
            <a:blip r:embed="rId5"/>
            <a:stretch>
              <a:fillRect l="-4608" r="-1382" b="-13559"/>
            </a:stretch>
          </a:blipFill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 </a:t>
            </a:r>
          </a:p>
        </p:txBody>
      </p:sp>
      <p:sp>
        <p:nvSpPr>
          <p:cNvPr id="238612" name="文本框 21"/>
          <p:cNvSpPr txBox="1"/>
          <p:nvPr/>
        </p:nvSpPr>
        <p:spPr>
          <a:xfrm>
            <a:off x="1822450" y="5662613"/>
            <a:ext cx="2159000" cy="646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Roboto" pitchFamily="2" charset="0"/>
                <a:ea typeface="MS PGothic" panose="020B0600070205080204" pitchFamily="34" charset="-128"/>
              </a:rPr>
              <a:t>输入端不能同时为</a:t>
            </a:r>
            <a:r>
              <a:rPr lang="en-US" altLang="zh-CN" sz="1800" b="1" dirty="0">
                <a:solidFill>
                  <a:srgbClr val="000000"/>
                </a:solidFill>
                <a:latin typeface="Roboto" pitchFamily="2" charset="0"/>
                <a:ea typeface="MS PGothic" panose="020B0600070205080204" pitchFamily="34" charset="-128"/>
              </a:rPr>
              <a:t>1</a:t>
            </a: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Roboto" pitchFamily="2" charset="0"/>
                <a:ea typeface="MS PGothic" panose="020B0600070205080204" pitchFamily="34" charset="-128"/>
              </a:rPr>
              <a:t>无效</a:t>
            </a:r>
            <a:endParaRPr lang="zh-CN" altLang="en-US" sz="1800" dirty="0">
              <a:ea typeface="MS PGothic" panose="020B0600070205080204" pitchFamily="34" charset="-128"/>
            </a:endParaRPr>
          </a:p>
        </p:txBody>
      </p:sp>
      <p:sp>
        <p:nvSpPr>
          <p:cNvPr id="238613" name="文本框 22"/>
          <p:cNvSpPr txBox="1"/>
          <p:nvPr/>
        </p:nvSpPr>
        <p:spPr>
          <a:xfrm>
            <a:off x="4714875" y="5662613"/>
            <a:ext cx="2159000" cy="646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Roboto" pitchFamily="2" charset="0"/>
                <a:ea typeface="MS PGothic" panose="020B0600070205080204" pitchFamily="34" charset="-128"/>
              </a:rPr>
              <a:t>输入端不能同时为</a:t>
            </a:r>
            <a:r>
              <a:rPr lang="en-US" altLang="zh-CN" sz="1800" b="1" dirty="0">
                <a:solidFill>
                  <a:srgbClr val="000000"/>
                </a:solidFill>
                <a:latin typeface="Roboto" pitchFamily="2" charset="0"/>
                <a:ea typeface="MS PGothic" panose="020B0600070205080204" pitchFamily="34" charset="-128"/>
              </a:rPr>
              <a:t>0</a:t>
            </a: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Roboto" pitchFamily="2" charset="0"/>
                <a:ea typeface="MS PGothic" panose="020B0600070205080204" pitchFamily="34" charset="-128"/>
              </a:rPr>
              <a:t>无效</a:t>
            </a:r>
            <a:endParaRPr lang="zh-CN" altLang="en-US" sz="18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43" name="文本框 131142"/>
          <p:cNvSpPr txBox="1"/>
          <p:nvPr/>
        </p:nvSpPr>
        <p:spPr>
          <a:xfrm>
            <a:off x="7467600" y="4818063"/>
            <a:ext cx="1066800" cy="922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charset="0"/>
              </a:rPr>
              <a:t>Latch initially SET</a:t>
            </a:r>
          </a:p>
        </p:txBody>
      </p:sp>
      <p:sp>
        <p:nvSpPr>
          <p:cNvPr id="131146" name="矩形 131145"/>
          <p:cNvSpPr/>
          <p:nvPr/>
        </p:nvSpPr>
        <p:spPr>
          <a:xfrm>
            <a:off x="4953000" y="4191000"/>
            <a:ext cx="3581400" cy="19812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9620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latin typeface="Arial" panose="020B0604020202020204" pitchFamily="34" charset="0"/>
              </a:rPr>
              <a:t>4</a:t>
            </a:fld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239621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063"/>
            <a:ext cx="9144000" cy="6556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743248" y="2971812"/>
            <a:ext cx="3505108" cy="30777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1400" b="1" kern="1200" cap="none" spc="0" normalizeH="0" baseline="0" noProof="0" dirty="0">
                <a:solidFill>
                  <a:srgbClr val="00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两种可能的置位</a:t>
            </a:r>
            <a:endParaRPr kumimoji="0" lang="en-US" altLang="zh-CN" sz="1400" b="1" kern="1200" cap="none" spc="0" normalizeH="0" baseline="0" noProof="0" dirty="0">
              <a:solidFill>
                <a:srgbClr val="000000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43248" y="6310923"/>
            <a:ext cx="3733702" cy="30777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1400" b="1" kern="1200" cap="none" spc="0" normalizeH="0" baseline="0" noProof="0" dirty="0">
                <a:solidFill>
                  <a:srgbClr val="00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两种可能的复位</a:t>
            </a:r>
            <a:endParaRPr kumimoji="0" lang="en-US" altLang="zh-CN" sz="1400" b="1" kern="1200" cap="none" spc="0" normalizeH="0" baseline="0" noProof="0" dirty="0">
              <a:solidFill>
                <a:srgbClr val="000000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57400" y="207963"/>
            <a:ext cx="1125538" cy="307975"/>
          </a:xfrm>
          <a:prstGeom prst="rect">
            <a:avLst/>
          </a:prstGeom>
          <a:solidFill>
            <a:schemeClr val="accent5"/>
          </a:solidFill>
        </p:spPr>
        <p:txBody>
          <a:bodyPr>
            <a:sp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kern="0" cap="none" spc="0" normalizeH="0" baseline="0" noProof="0" dirty="0">
                <a:solidFill>
                  <a:srgbClr val="000000"/>
                </a:solidFill>
                <a:latin typeface="Roboto"/>
                <a:ea typeface="MS PGothic" panose="020B0600070205080204" pitchFamily="34" charset="-128"/>
                <a:cs typeface="+mn-cs"/>
              </a:rPr>
              <a:t>瞬间低电平</a:t>
            </a:r>
            <a:endParaRPr kumimoji="0" lang="zh-CN" altLang="en-US" sz="1400" kern="0" cap="none" spc="0" normalizeH="0" baseline="0" noProof="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4300" y="1987550"/>
            <a:ext cx="304800" cy="2584450"/>
          </a:xfrm>
          <a:prstGeom prst="rect">
            <a:avLst/>
          </a:prstGeom>
          <a:solidFill>
            <a:srgbClr val="FFCCFF"/>
          </a:solidFill>
        </p:spPr>
        <p:txBody>
          <a:bodyPr>
            <a:spAutoFit/>
          </a:bodyPr>
          <a:lstStyle/>
          <a:p>
            <a:pPr marR="0" algn="ctr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kern="0" cap="none" spc="0" normalizeH="0" baseline="0" noProof="0" dirty="0">
                <a:solidFill>
                  <a:srgbClr val="000000"/>
                </a:solidFill>
                <a:latin typeface="Roboto"/>
                <a:ea typeface="MS PGothic" panose="020B0600070205080204" pitchFamily="34" charset="-128"/>
                <a:cs typeface="+mn-cs"/>
              </a:rPr>
              <a:t>输入端不能同时为</a:t>
            </a:r>
            <a:r>
              <a:rPr kumimoji="0" lang="en-US" altLang="zh-CN" sz="1800" b="1" kern="0" cap="none" spc="0" normalizeH="0" baseline="0" noProof="0" dirty="0">
                <a:solidFill>
                  <a:srgbClr val="000000"/>
                </a:solidFill>
                <a:latin typeface="Roboto"/>
                <a:ea typeface="MS PGothic" panose="020B0600070205080204" pitchFamily="34" charset="-128"/>
                <a:cs typeface="+mn-cs"/>
              </a:rPr>
              <a:t>0</a:t>
            </a:r>
            <a:endParaRPr kumimoji="0" lang="zh-CN" altLang="en-US" sz="1800" kern="0" cap="none" spc="0" normalizeH="0" baseline="0" noProof="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67300" y="1833563"/>
            <a:ext cx="304800" cy="2584450"/>
          </a:xfrm>
          <a:prstGeom prst="rect">
            <a:avLst/>
          </a:prstGeom>
          <a:solidFill>
            <a:srgbClr val="FFCCFF"/>
          </a:solidFill>
        </p:spPr>
        <p:txBody>
          <a:bodyPr>
            <a:spAutoFit/>
          </a:bodyPr>
          <a:lstStyle/>
          <a:p>
            <a:pPr marR="0" algn="ctr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kern="0" cap="none" spc="0" normalizeH="0" baseline="0" noProof="0" dirty="0">
                <a:solidFill>
                  <a:srgbClr val="000000"/>
                </a:solidFill>
                <a:latin typeface="Roboto"/>
                <a:ea typeface="MS PGothic" panose="020B0600070205080204" pitchFamily="34" charset="-128"/>
                <a:cs typeface="+mn-cs"/>
              </a:rPr>
              <a:t>输入端不能同时为</a:t>
            </a:r>
            <a:r>
              <a:rPr kumimoji="0" lang="en-US" altLang="zh-CN" sz="1800" b="1" kern="0" cap="none" spc="0" normalizeH="0" baseline="0" noProof="0" dirty="0">
                <a:solidFill>
                  <a:srgbClr val="000000"/>
                </a:solidFill>
                <a:latin typeface="Roboto"/>
                <a:ea typeface="MS PGothic" panose="020B0600070205080204" pitchFamily="34" charset="-128"/>
                <a:cs typeface="+mn-cs"/>
              </a:rPr>
              <a:t>0</a:t>
            </a:r>
            <a:endParaRPr kumimoji="0" lang="zh-CN" altLang="en-US" sz="1800" kern="0" cap="none" spc="0" normalizeH="0" baseline="0" noProof="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208908" y="1986927"/>
            <a:ext cx="838253" cy="30777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1400" b="1" kern="1200" cap="none" spc="0" normalizeH="0" baseline="0" noProof="0" dirty="0">
                <a:solidFill>
                  <a:srgbClr val="00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保持</a:t>
            </a:r>
            <a:endParaRPr kumimoji="0" lang="en-US" altLang="zh-CN" sz="1400" b="1" kern="1200" cap="none" spc="0" normalizeH="0" baseline="0" noProof="0" dirty="0">
              <a:solidFill>
                <a:srgbClr val="000000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08908" y="5962287"/>
            <a:ext cx="838253" cy="30777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1400" b="1" kern="1200" cap="none" spc="0" normalizeH="0" baseline="0" noProof="0" dirty="0">
                <a:solidFill>
                  <a:srgbClr val="00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保持</a:t>
            </a:r>
            <a:endParaRPr kumimoji="0" lang="en-US" altLang="zh-CN" sz="1400" b="1" kern="1200" cap="none" spc="0" normalizeH="0" baseline="0" noProof="0" dirty="0">
              <a:solidFill>
                <a:srgbClr val="000000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500"/>
                                        <p:tgtEl>
                                          <p:spTgt spid="131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1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1667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1668" name="Text Box 5"/>
          <p:cNvSpPr txBox="1"/>
          <p:nvPr/>
        </p:nvSpPr>
        <p:spPr>
          <a:xfrm>
            <a:off x="395288" y="6381750"/>
            <a:ext cx="23764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楷体_GB2312"/>
                <a:ea typeface="楷体_GB2312"/>
              </a:rPr>
              <a:t>CHAPTER 7</a:t>
            </a:r>
          </a:p>
        </p:txBody>
      </p:sp>
      <p:sp>
        <p:nvSpPr>
          <p:cNvPr id="461830" name="Rectangle 7"/>
          <p:cNvSpPr>
            <a:spLocks noGrp="1" noRot="1" noChangeAspect="1" noMove="1" noResize="1" noEditPoints="1" noAdjustHandles="1" noChangeArrowheads="1" noChangeShapeType="1" noTextEdit="1"/>
          </p:cNvSpPr>
          <p:nvPr>
            <p:ph type="subTitle" idx="1"/>
          </p:nvPr>
        </p:nvSpPr>
        <p:spPr bwMode="auto">
          <a:xfrm>
            <a:off x="2209862" y="1599407"/>
            <a:ext cx="4800474" cy="431800"/>
          </a:xfrm>
          <a:blipFill>
            <a:blip r:embed="rId2"/>
            <a:stretch>
              <a:fillRect t="-16901" b="-7042"/>
            </a:stretch>
          </a:blipFill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</a:p>
        </p:txBody>
      </p:sp>
      <p:graphicFrame>
        <p:nvGraphicFramePr>
          <p:cNvPr id="747593" name="Group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684938"/>
              </p:ext>
            </p:extLst>
          </p:nvPr>
        </p:nvGraphicFramePr>
        <p:xfrm>
          <a:off x="468313" y="2205038"/>
          <a:ext cx="8207375" cy="3475039"/>
        </p:xfrm>
        <a:graphic>
          <a:graphicData uri="http://schemas.openxmlformats.org/drawingml/2006/table">
            <a:tbl>
              <a:tblPr/>
              <a:tblGrid>
                <a:gridCol w="935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1689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Inputs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Outputs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Comments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5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NC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NC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 change. Latch remains in present state.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CCFF"/>
                          </a:highligh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保持原状态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CCFF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Latch Set       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CCFF"/>
                          </a:highligh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置位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CCFF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5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Latch Reset   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CCFF"/>
                          </a:highligh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复位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CCFF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6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Invalid condition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CCFF"/>
                          </a:highligh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无效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CCFF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1671" name="Line 67"/>
          <p:cNvSpPr/>
          <p:nvPr/>
        </p:nvSpPr>
        <p:spPr>
          <a:xfrm>
            <a:off x="838200" y="2825750"/>
            <a:ext cx="217488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1672" name="Line 68"/>
          <p:cNvSpPr/>
          <p:nvPr/>
        </p:nvSpPr>
        <p:spPr>
          <a:xfrm flipV="1">
            <a:off x="1752600" y="2825750"/>
            <a:ext cx="304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1673" name="Line 69"/>
          <p:cNvSpPr/>
          <p:nvPr/>
        </p:nvSpPr>
        <p:spPr>
          <a:xfrm>
            <a:off x="3851275" y="2852738"/>
            <a:ext cx="2174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1674" name="任意多边形 2"/>
          <p:cNvSpPr/>
          <p:nvPr/>
        </p:nvSpPr>
        <p:spPr>
          <a:xfrm>
            <a:off x="3605213" y="4019550"/>
            <a:ext cx="709612" cy="1119188"/>
          </a:xfrm>
          <a:custGeom>
            <a:avLst/>
            <a:gdLst/>
            <a:ahLst/>
            <a:cxnLst>
              <a:cxn ang="0">
                <a:pos x="68168" y="177531"/>
              </a:cxn>
              <a:cxn ang="0">
                <a:pos x="54541" y="710143"/>
              </a:cxn>
              <a:cxn ang="0">
                <a:pos x="40903" y="751107"/>
              </a:cxn>
              <a:cxn ang="0">
                <a:pos x="27265" y="805738"/>
              </a:cxn>
              <a:cxn ang="0">
                <a:pos x="0" y="846701"/>
              </a:cxn>
              <a:cxn ang="0">
                <a:pos x="13637" y="1024242"/>
              </a:cxn>
              <a:cxn ang="0">
                <a:pos x="54541" y="1065212"/>
              </a:cxn>
              <a:cxn ang="0">
                <a:pos x="136337" y="1092521"/>
              </a:cxn>
              <a:cxn ang="0">
                <a:pos x="204516" y="1119836"/>
              </a:cxn>
              <a:cxn ang="0">
                <a:pos x="354491" y="1092521"/>
              </a:cxn>
              <a:cxn ang="0">
                <a:pos x="395385" y="1051557"/>
              </a:cxn>
              <a:cxn ang="0">
                <a:pos x="504463" y="983269"/>
              </a:cxn>
              <a:cxn ang="0">
                <a:pos x="531732" y="942305"/>
              </a:cxn>
              <a:cxn ang="0">
                <a:pos x="613539" y="887674"/>
              </a:cxn>
              <a:cxn ang="0">
                <a:pos x="640804" y="846701"/>
              </a:cxn>
              <a:cxn ang="0">
                <a:pos x="681708" y="792080"/>
              </a:cxn>
              <a:cxn ang="0">
                <a:pos x="708973" y="737449"/>
              </a:cxn>
              <a:cxn ang="0">
                <a:pos x="695335" y="477981"/>
              </a:cxn>
              <a:cxn ang="0">
                <a:pos x="681708" y="437008"/>
              </a:cxn>
              <a:cxn ang="0">
                <a:pos x="627167" y="368729"/>
              </a:cxn>
              <a:cxn ang="0">
                <a:pos x="586263" y="327756"/>
              </a:cxn>
              <a:cxn ang="0">
                <a:pos x="572636" y="286783"/>
              </a:cxn>
              <a:cxn ang="0">
                <a:pos x="518095" y="204846"/>
              </a:cxn>
              <a:cxn ang="0">
                <a:pos x="477191" y="122910"/>
              </a:cxn>
              <a:cxn ang="0">
                <a:pos x="463564" y="68279"/>
              </a:cxn>
              <a:cxn ang="0">
                <a:pos x="422660" y="40973"/>
              </a:cxn>
              <a:cxn ang="0">
                <a:pos x="313588" y="13658"/>
              </a:cxn>
              <a:cxn ang="0">
                <a:pos x="272685" y="0"/>
              </a:cxn>
              <a:cxn ang="0">
                <a:pos x="231782" y="27315"/>
              </a:cxn>
              <a:cxn ang="0">
                <a:pos x="177241" y="40973"/>
              </a:cxn>
              <a:cxn ang="0">
                <a:pos x="109072" y="95594"/>
              </a:cxn>
              <a:cxn ang="0">
                <a:pos x="81806" y="191188"/>
              </a:cxn>
              <a:cxn ang="0">
                <a:pos x="81806" y="232162"/>
              </a:cxn>
            </a:cxnLst>
            <a:rect l="0" t="0" r="0" b="0"/>
            <a:pathLst>
              <a:path w="709683" h="1119116">
                <a:moveTo>
                  <a:pt x="68238" y="177421"/>
                </a:moveTo>
                <a:cubicBezTo>
                  <a:pt x="63689" y="354842"/>
                  <a:pt x="63033" y="532405"/>
                  <a:pt x="54591" y="709683"/>
                </a:cubicBezTo>
                <a:cubicBezTo>
                  <a:pt x="53907" y="724053"/>
                  <a:pt x="44895" y="736794"/>
                  <a:pt x="40943" y="750627"/>
                </a:cubicBezTo>
                <a:cubicBezTo>
                  <a:pt x="35790" y="768662"/>
                  <a:pt x="34684" y="787978"/>
                  <a:pt x="27295" y="805218"/>
                </a:cubicBezTo>
                <a:cubicBezTo>
                  <a:pt x="20834" y="820294"/>
                  <a:pt x="9098" y="832513"/>
                  <a:pt x="0" y="846161"/>
                </a:cubicBezTo>
                <a:cubicBezTo>
                  <a:pt x="4549" y="905301"/>
                  <a:pt x="-739" y="966038"/>
                  <a:pt x="13647" y="1023582"/>
                </a:cubicBezTo>
                <a:cubicBezTo>
                  <a:pt x="18328" y="1042307"/>
                  <a:pt x="37719" y="1055152"/>
                  <a:pt x="54591" y="1064525"/>
                </a:cubicBezTo>
                <a:cubicBezTo>
                  <a:pt x="79742" y="1078498"/>
                  <a:pt x="109437" y="1081988"/>
                  <a:pt x="136477" y="1091821"/>
                </a:cubicBezTo>
                <a:cubicBezTo>
                  <a:pt x="159501" y="1100193"/>
                  <a:pt x="181970" y="1110018"/>
                  <a:pt x="204716" y="1119116"/>
                </a:cubicBezTo>
                <a:cubicBezTo>
                  <a:pt x="209338" y="1118538"/>
                  <a:pt x="325713" y="1111239"/>
                  <a:pt x="354841" y="1091821"/>
                </a:cubicBezTo>
                <a:cubicBezTo>
                  <a:pt x="370901" y="1081115"/>
                  <a:pt x="380175" y="1062229"/>
                  <a:pt x="395785" y="1050877"/>
                </a:cubicBezTo>
                <a:cubicBezTo>
                  <a:pt x="430494" y="1025634"/>
                  <a:pt x="504967" y="982639"/>
                  <a:pt x="504967" y="982639"/>
                </a:cubicBezTo>
                <a:cubicBezTo>
                  <a:pt x="514065" y="968991"/>
                  <a:pt x="519918" y="952496"/>
                  <a:pt x="532262" y="941695"/>
                </a:cubicBezTo>
                <a:cubicBezTo>
                  <a:pt x="556950" y="920092"/>
                  <a:pt x="614149" y="887104"/>
                  <a:pt x="614149" y="887104"/>
                </a:cubicBezTo>
                <a:cubicBezTo>
                  <a:pt x="623247" y="873456"/>
                  <a:pt x="631910" y="859508"/>
                  <a:pt x="641444" y="846161"/>
                </a:cubicBezTo>
                <a:cubicBezTo>
                  <a:pt x="654665" y="827652"/>
                  <a:pt x="670332" y="810859"/>
                  <a:pt x="682388" y="791570"/>
                </a:cubicBezTo>
                <a:cubicBezTo>
                  <a:pt x="693171" y="774318"/>
                  <a:pt x="700585" y="755176"/>
                  <a:pt x="709683" y="736979"/>
                </a:cubicBezTo>
                <a:cubicBezTo>
                  <a:pt x="705134" y="650543"/>
                  <a:pt x="703871" y="563871"/>
                  <a:pt x="696035" y="477671"/>
                </a:cubicBezTo>
                <a:cubicBezTo>
                  <a:pt x="694733" y="463344"/>
                  <a:pt x="690012" y="448927"/>
                  <a:pt x="682388" y="436728"/>
                </a:cubicBezTo>
                <a:cubicBezTo>
                  <a:pt x="666950" y="412026"/>
                  <a:pt x="646979" y="390411"/>
                  <a:pt x="627797" y="368489"/>
                </a:cubicBezTo>
                <a:cubicBezTo>
                  <a:pt x="615087" y="353964"/>
                  <a:pt x="600501" y="341194"/>
                  <a:pt x="586853" y="327546"/>
                </a:cubicBezTo>
                <a:cubicBezTo>
                  <a:pt x="582304" y="313898"/>
                  <a:pt x="580192" y="299179"/>
                  <a:pt x="573206" y="286603"/>
                </a:cubicBezTo>
                <a:cubicBezTo>
                  <a:pt x="557275" y="257926"/>
                  <a:pt x="528989" y="235838"/>
                  <a:pt x="518615" y="204716"/>
                </a:cubicBezTo>
                <a:cubicBezTo>
                  <a:pt x="499780" y="148212"/>
                  <a:pt x="512947" y="175743"/>
                  <a:pt x="477671" y="122830"/>
                </a:cubicBezTo>
                <a:cubicBezTo>
                  <a:pt x="473122" y="104633"/>
                  <a:pt x="474428" y="83846"/>
                  <a:pt x="464024" y="68239"/>
                </a:cubicBezTo>
                <a:cubicBezTo>
                  <a:pt x="454925" y="54591"/>
                  <a:pt x="437751" y="48279"/>
                  <a:pt x="423080" y="40943"/>
                </a:cubicBezTo>
                <a:cubicBezTo>
                  <a:pt x="391880" y="25343"/>
                  <a:pt x="345049" y="21436"/>
                  <a:pt x="313898" y="13648"/>
                </a:cubicBezTo>
                <a:cubicBezTo>
                  <a:pt x="299942" y="10159"/>
                  <a:pt x="286603" y="4549"/>
                  <a:pt x="272955" y="0"/>
                </a:cubicBezTo>
                <a:cubicBezTo>
                  <a:pt x="259307" y="9098"/>
                  <a:pt x="247088" y="20834"/>
                  <a:pt x="232012" y="27295"/>
                </a:cubicBezTo>
                <a:cubicBezTo>
                  <a:pt x="214772" y="34684"/>
                  <a:pt x="193028" y="30538"/>
                  <a:pt x="177421" y="40943"/>
                </a:cubicBezTo>
                <a:cubicBezTo>
                  <a:pt x="53955" y="123253"/>
                  <a:pt x="243033" y="50916"/>
                  <a:pt x="109182" y="95534"/>
                </a:cubicBezTo>
                <a:cubicBezTo>
                  <a:pt x="99460" y="124699"/>
                  <a:pt x="86170" y="161078"/>
                  <a:pt x="81886" y="191068"/>
                </a:cubicBezTo>
                <a:cubicBezTo>
                  <a:pt x="79956" y="204579"/>
                  <a:pt x="81886" y="218364"/>
                  <a:pt x="81886" y="232012"/>
                </a:cubicBezTo>
              </a:path>
            </a:pathLst>
          </a:custGeom>
          <a:noFill/>
          <a:ln w="9525" cap="flat" cmpd="sng">
            <a:solidFill>
              <a:srgbClr val="C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1675" name="任意多边形 16"/>
          <p:cNvSpPr/>
          <p:nvPr/>
        </p:nvSpPr>
        <p:spPr>
          <a:xfrm>
            <a:off x="581025" y="3933825"/>
            <a:ext cx="709613" cy="1119188"/>
          </a:xfrm>
          <a:custGeom>
            <a:avLst/>
            <a:gdLst/>
            <a:ahLst/>
            <a:cxnLst>
              <a:cxn ang="0">
                <a:pos x="68168" y="177531"/>
              </a:cxn>
              <a:cxn ang="0">
                <a:pos x="54541" y="710143"/>
              </a:cxn>
              <a:cxn ang="0">
                <a:pos x="40903" y="751107"/>
              </a:cxn>
              <a:cxn ang="0">
                <a:pos x="27265" y="805738"/>
              </a:cxn>
              <a:cxn ang="0">
                <a:pos x="0" y="846701"/>
              </a:cxn>
              <a:cxn ang="0">
                <a:pos x="13637" y="1024242"/>
              </a:cxn>
              <a:cxn ang="0">
                <a:pos x="54541" y="1065212"/>
              </a:cxn>
              <a:cxn ang="0">
                <a:pos x="136347" y="1092521"/>
              </a:cxn>
              <a:cxn ang="0">
                <a:pos x="204516" y="1119836"/>
              </a:cxn>
              <a:cxn ang="0">
                <a:pos x="354491" y="1092521"/>
              </a:cxn>
              <a:cxn ang="0">
                <a:pos x="395395" y="1051557"/>
              </a:cxn>
              <a:cxn ang="0">
                <a:pos x="504467" y="983269"/>
              </a:cxn>
              <a:cxn ang="0">
                <a:pos x="531742" y="942305"/>
              </a:cxn>
              <a:cxn ang="0">
                <a:pos x="613539" y="887674"/>
              </a:cxn>
              <a:cxn ang="0">
                <a:pos x="640814" y="846701"/>
              </a:cxn>
              <a:cxn ang="0">
                <a:pos x="681718" y="792080"/>
              </a:cxn>
              <a:cxn ang="0">
                <a:pos x="708983" y="737449"/>
              </a:cxn>
              <a:cxn ang="0">
                <a:pos x="695345" y="477981"/>
              </a:cxn>
              <a:cxn ang="0">
                <a:pos x="681718" y="437008"/>
              </a:cxn>
              <a:cxn ang="0">
                <a:pos x="627177" y="368729"/>
              </a:cxn>
              <a:cxn ang="0">
                <a:pos x="586273" y="327756"/>
              </a:cxn>
              <a:cxn ang="0">
                <a:pos x="572639" y="286783"/>
              </a:cxn>
              <a:cxn ang="0">
                <a:pos x="518105" y="204846"/>
              </a:cxn>
              <a:cxn ang="0">
                <a:pos x="477201" y="122910"/>
              </a:cxn>
              <a:cxn ang="0">
                <a:pos x="463564" y="68279"/>
              </a:cxn>
              <a:cxn ang="0">
                <a:pos x="422660" y="40973"/>
              </a:cxn>
              <a:cxn ang="0">
                <a:pos x="313588" y="13658"/>
              </a:cxn>
              <a:cxn ang="0">
                <a:pos x="272685" y="0"/>
              </a:cxn>
              <a:cxn ang="0">
                <a:pos x="231782" y="27315"/>
              </a:cxn>
              <a:cxn ang="0">
                <a:pos x="177250" y="40973"/>
              </a:cxn>
              <a:cxn ang="0">
                <a:pos x="109072" y="95594"/>
              </a:cxn>
              <a:cxn ang="0">
                <a:pos x="81806" y="191188"/>
              </a:cxn>
              <a:cxn ang="0">
                <a:pos x="81806" y="232162"/>
              </a:cxn>
            </a:cxnLst>
            <a:rect l="0" t="0" r="0" b="0"/>
            <a:pathLst>
              <a:path w="709683" h="1119116">
                <a:moveTo>
                  <a:pt x="68238" y="177421"/>
                </a:moveTo>
                <a:cubicBezTo>
                  <a:pt x="63689" y="354842"/>
                  <a:pt x="63033" y="532405"/>
                  <a:pt x="54591" y="709683"/>
                </a:cubicBezTo>
                <a:cubicBezTo>
                  <a:pt x="53907" y="724053"/>
                  <a:pt x="44895" y="736794"/>
                  <a:pt x="40943" y="750627"/>
                </a:cubicBezTo>
                <a:cubicBezTo>
                  <a:pt x="35790" y="768662"/>
                  <a:pt x="34684" y="787978"/>
                  <a:pt x="27295" y="805218"/>
                </a:cubicBezTo>
                <a:cubicBezTo>
                  <a:pt x="20834" y="820294"/>
                  <a:pt x="9098" y="832513"/>
                  <a:pt x="0" y="846161"/>
                </a:cubicBezTo>
                <a:cubicBezTo>
                  <a:pt x="4549" y="905301"/>
                  <a:pt x="-739" y="966038"/>
                  <a:pt x="13647" y="1023582"/>
                </a:cubicBezTo>
                <a:cubicBezTo>
                  <a:pt x="18328" y="1042307"/>
                  <a:pt x="37719" y="1055152"/>
                  <a:pt x="54591" y="1064525"/>
                </a:cubicBezTo>
                <a:cubicBezTo>
                  <a:pt x="79742" y="1078498"/>
                  <a:pt x="109437" y="1081988"/>
                  <a:pt x="136477" y="1091821"/>
                </a:cubicBezTo>
                <a:cubicBezTo>
                  <a:pt x="159501" y="1100193"/>
                  <a:pt x="181970" y="1110018"/>
                  <a:pt x="204716" y="1119116"/>
                </a:cubicBezTo>
                <a:cubicBezTo>
                  <a:pt x="209338" y="1118538"/>
                  <a:pt x="325713" y="1111239"/>
                  <a:pt x="354841" y="1091821"/>
                </a:cubicBezTo>
                <a:cubicBezTo>
                  <a:pt x="370901" y="1081115"/>
                  <a:pt x="380175" y="1062229"/>
                  <a:pt x="395785" y="1050877"/>
                </a:cubicBezTo>
                <a:cubicBezTo>
                  <a:pt x="430494" y="1025634"/>
                  <a:pt x="504967" y="982639"/>
                  <a:pt x="504967" y="982639"/>
                </a:cubicBezTo>
                <a:cubicBezTo>
                  <a:pt x="514065" y="968991"/>
                  <a:pt x="519918" y="952496"/>
                  <a:pt x="532262" y="941695"/>
                </a:cubicBezTo>
                <a:cubicBezTo>
                  <a:pt x="556950" y="920092"/>
                  <a:pt x="614149" y="887104"/>
                  <a:pt x="614149" y="887104"/>
                </a:cubicBezTo>
                <a:cubicBezTo>
                  <a:pt x="623247" y="873456"/>
                  <a:pt x="631910" y="859508"/>
                  <a:pt x="641444" y="846161"/>
                </a:cubicBezTo>
                <a:cubicBezTo>
                  <a:pt x="654665" y="827652"/>
                  <a:pt x="670332" y="810859"/>
                  <a:pt x="682388" y="791570"/>
                </a:cubicBezTo>
                <a:cubicBezTo>
                  <a:pt x="693171" y="774318"/>
                  <a:pt x="700585" y="755176"/>
                  <a:pt x="709683" y="736979"/>
                </a:cubicBezTo>
                <a:cubicBezTo>
                  <a:pt x="705134" y="650543"/>
                  <a:pt x="703871" y="563871"/>
                  <a:pt x="696035" y="477671"/>
                </a:cubicBezTo>
                <a:cubicBezTo>
                  <a:pt x="694733" y="463344"/>
                  <a:pt x="690012" y="448927"/>
                  <a:pt x="682388" y="436728"/>
                </a:cubicBezTo>
                <a:cubicBezTo>
                  <a:pt x="666950" y="412026"/>
                  <a:pt x="646979" y="390411"/>
                  <a:pt x="627797" y="368489"/>
                </a:cubicBezTo>
                <a:cubicBezTo>
                  <a:pt x="615087" y="353964"/>
                  <a:pt x="600501" y="341194"/>
                  <a:pt x="586853" y="327546"/>
                </a:cubicBezTo>
                <a:cubicBezTo>
                  <a:pt x="582304" y="313898"/>
                  <a:pt x="580192" y="299179"/>
                  <a:pt x="573206" y="286603"/>
                </a:cubicBezTo>
                <a:cubicBezTo>
                  <a:pt x="557275" y="257926"/>
                  <a:pt x="528989" y="235838"/>
                  <a:pt x="518615" y="204716"/>
                </a:cubicBezTo>
                <a:cubicBezTo>
                  <a:pt x="499780" y="148212"/>
                  <a:pt x="512947" y="175743"/>
                  <a:pt x="477671" y="122830"/>
                </a:cubicBezTo>
                <a:cubicBezTo>
                  <a:pt x="473122" y="104633"/>
                  <a:pt x="474428" y="83846"/>
                  <a:pt x="464024" y="68239"/>
                </a:cubicBezTo>
                <a:cubicBezTo>
                  <a:pt x="454925" y="54591"/>
                  <a:pt x="437751" y="48279"/>
                  <a:pt x="423080" y="40943"/>
                </a:cubicBezTo>
                <a:cubicBezTo>
                  <a:pt x="391880" y="25343"/>
                  <a:pt x="345049" y="21436"/>
                  <a:pt x="313898" y="13648"/>
                </a:cubicBezTo>
                <a:cubicBezTo>
                  <a:pt x="299942" y="10159"/>
                  <a:pt x="286603" y="4549"/>
                  <a:pt x="272955" y="0"/>
                </a:cubicBezTo>
                <a:cubicBezTo>
                  <a:pt x="259307" y="9098"/>
                  <a:pt x="247088" y="20834"/>
                  <a:pt x="232012" y="27295"/>
                </a:cubicBezTo>
                <a:cubicBezTo>
                  <a:pt x="214772" y="34684"/>
                  <a:pt x="193028" y="30538"/>
                  <a:pt x="177421" y="40943"/>
                </a:cubicBezTo>
                <a:cubicBezTo>
                  <a:pt x="53955" y="123253"/>
                  <a:pt x="243033" y="50916"/>
                  <a:pt x="109182" y="95534"/>
                </a:cubicBezTo>
                <a:cubicBezTo>
                  <a:pt x="99460" y="124699"/>
                  <a:pt x="86170" y="161078"/>
                  <a:pt x="81886" y="191068"/>
                </a:cubicBezTo>
                <a:cubicBezTo>
                  <a:pt x="79956" y="204579"/>
                  <a:pt x="81886" y="218364"/>
                  <a:pt x="81886" y="232012"/>
                </a:cubicBezTo>
              </a:path>
            </a:pathLst>
          </a:custGeom>
          <a:noFill/>
          <a:ln w="9525" cap="flat" cmpd="sng">
            <a:solidFill>
              <a:srgbClr val="C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1676" name="任意多边形 3"/>
          <p:cNvSpPr/>
          <p:nvPr/>
        </p:nvSpPr>
        <p:spPr>
          <a:xfrm>
            <a:off x="1597025" y="3848100"/>
            <a:ext cx="1689100" cy="1247775"/>
          </a:xfrm>
          <a:custGeom>
            <a:avLst/>
            <a:gdLst/>
            <a:ahLst/>
            <a:cxnLst>
              <a:cxn ang="0">
                <a:pos x="327196" y="149805"/>
              </a:cxn>
              <a:cxn ang="0">
                <a:pos x="259038" y="136218"/>
              </a:cxn>
              <a:cxn ang="0">
                <a:pos x="163603" y="176979"/>
              </a:cxn>
              <a:cxn ang="0">
                <a:pos x="95434" y="204153"/>
              </a:cxn>
              <a:cxn ang="0">
                <a:pos x="68169" y="244915"/>
              </a:cxn>
              <a:cxn ang="0">
                <a:pos x="27266" y="272090"/>
              </a:cxn>
              <a:cxn ang="0">
                <a:pos x="0" y="326440"/>
              </a:cxn>
              <a:cxn ang="0">
                <a:pos x="13638" y="652541"/>
              </a:cxn>
              <a:cxn ang="0">
                <a:pos x="40903" y="734067"/>
              </a:cxn>
              <a:cxn ang="0">
                <a:pos x="68169" y="815592"/>
              </a:cxn>
              <a:cxn ang="0">
                <a:pos x="95434" y="978642"/>
              </a:cxn>
              <a:cxn ang="0">
                <a:pos x="122700" y="1060168"/>
              </a:cxn>
              <a:cxn ang="0">
                <a:pos x="177231" y="1141693"/>
              </a:cxn>
              <a:cxn ang="0">
                <a:pos x="245400" y="1155280"/>
              </a:cxn>
              <a:cxn ang="0">
                <a:pos x="463534" y="1209630"/>
              </a:cxn>
              <a:cxn ang="0">
                <a:pos x="722561" y="1223218"/>
              </a:cxn>
              <a:cxn ang="0">
                <a:pos x="1322433" y="1223218"/>
              </a:cxn>
              <a:cxn ang="0">
                <a:pos x="1417867" y="1182456"/>
              </a:cxn>
              <a:cxn ang="0">
                <a:pos x="1472398" y="1168868"/>
              </a:cxn>
              <a:cxn ang="0">
                <a:pos x="1513300" y="1128105"/>
              </a:cxn>
              <a:cxn ang="0">
                <a:pos x="1554195" y="1100930"/>
              </a:cxn>
              <a:cxn ang="0">
                <a:pos x="1567833" y="1060168"/>
              </a:cxn>
              <a:cxn ang="0">
                <a:pos x="1608727" y="992229"/>
              </a:cxn>
              <a:cxn ang="0">
                <a:pos x="1663267" y="815592"/>
              </a:cxn>
              <a:cxn ang="0">
                <a:pos x="1663267" y="312852"/>
              </a:cxn>
              <a:cxn ang="0">
                <a:pos x="1635998" y="272090"/>
              </a:cxn>
              <a:cxn ang="0">
                <a:pos x="1622364" y="231328"/>
              </a:cxn>
              <a:cxn ang="0">
                <a:pos x="1486028" y="176979"/>
              </a:cxn>
              <a:cxn ang="0">
                <a:pos x="1376964" y="122632"/>
              </a:cxn>
              <a:cxn ang="0">
                <a:pos x="1322433" y="109044"/>
              </a:cxn>
              <a:cxn ang="0">
                <a:pos x="1226999" y="81868"/>
              </a:cxn>
              <a:cxn ang="0">
                <a:pos x="1131564" y="68280"/>
              </a:cxn>
              <a:cxn ang="0">
                <a:pos x="1063395" y="54693"/>
              </a:cxn>
              <a:cxn ang="0">
                <a:pos x="1022502" y="13929"/>
              </a:cxn>
              <a:cxn ang="0">
                <a:pos x="654403" y="13929"/>
              </a:cxn>
              <a:cxn ang="0">
                <a:pos x="599862" y="27517"/>
              </a:cxn>
              <a:cxn ang="0">
                <a:pos x="531703" y="41105"/>
              </a:cxn>
              <a:cxn ang="0">
                <a:pos x="449896" y="95456"/>
              </a:cxn>
              <a:cxn ang="0">
                <a:pos x="409003" y="122632"/>
              </a:cxn>
              <a:cxn ang="0">
                <a:pos x="327196" y="149805"/>
              </a:cxn>
            </a:cxnLst>
            <a:rect l="0" t="0" r="0" b="0"/>
            <a:pathLst>
              <a:path w="1689279" h="1248327">
                <a:moveTo>
                  <a:pt x="327546" y="150467"/>
                </a:moveTo>
                <a:cubicBezTo>
                  <a:pt x="304800" y="145918"/>
                  <a:pt x="282504" y="136819"/>
                  <a:pt x="259308" y="136819"/>
                </a:cubicBezTo>
                <a:cubicBezTo>
                  <a:pt x="238283" y="136819"/>
                  <a:pt x="175767" y="172432"/>
                  <a:pt x="163773" y="177763"/>
                </a:cubicBezTo>
                <a:cubicBezTo>
                  <a:pt x="141386" y="187713"/>
                  <a:pt x="118280" y="195960"/>
                  <a:pt x="95534" y="205058"/>
                </a:cubicBezTo>
                <a:cubicBezTo>
                  <a:pt x="86436" y="218706"/>
                  <a:pt x="79837" y="234403"/>
                  <a:pt x="68239" y="246001"/>
                </a:cubicBezTo>
                <a:cubicBezTo>
                  <a:pt x="56641" y="257599"/>
                  <a:pt x="37797" y="260696"/>
                  <a:pt x="27296" y="273297"/>
                </a:cubicBezTo>
                <a:cubicBezTo>
                  <a:pt x="14272" y="288926"/>
                  <a:pt x="9099" y="309691"/>
                  <a:pt x="0" y="327888"/>
                </a:cubicBezTo>
                <a:cubicBezTo>
                  <a:pt x="4549" y="437070"/>
                  <a:pt x="2775" y="546700"/>
                  <a:pt x="13648" y="655434"/>
                </a:cubicBezTo>
                <a:cubicBezTo>
                  <a:pt x="16511" y="684063"/>
                  <a:pt x="31844" y="710025"/>
                  <a:pt x="40943" y="737321"/>
                </a:cubicBezTo>
                <a:lnTo>
                  <a:pt x="68239" y="819207"/>
                </a:lnTo>
                <a:cubicBezTo>
                  <a:pt x="77915" y="896610"/>
                  <a:pt x="76213" y="918577"/>
                  <a:pt x="95534" y="982980"/>
                </a:cubicBezTo>
                <a:cubicBezTo>
                  <a:pt x="103802" y="1010539"/>
                  <a:pt x="106870" y="1040927"/>
                  <a:pt x="122830" y="1064867"/>
                </a:cubicBezTo>
                <a:cubicBezTo>
                  <a:pt x="141027" y="1092163"/>
                  <a:pt x="145253" y="1140321"/>
                  <a:pt x="177421" y="1146754"/>
                </a:cubicBezTo>
                <a:cubicBezTo>
                  <a:pt x="200167" y="1151303"/>
                  <a:pt x="223094" y="1155028"/>
                  <a:pt x="245660" y="1160401"/>
                </a:cubicBezTo>
                <a:cubicBezTo>
                  <a:pt x="318648" y="1177779"/>
                  <a:pt x="389100" y="1211049"/>
                  <a:pt x="464024" y="1214992"/>
                </a:cubicBezTo>
                <a:lnTo>
                  <a:pt x="723331" y="1228640"/>
                </a:lnTo>
                <a:cubicBezTo>
                  <a:pt x="984759" y="1257688"/>
                  <a:pt x="881222" y="1251936"/>
                  <a:pt x="1323833" y="1228640"/>
                </a:cubicBezTo>
                <a:cubicBezTo>
                  <a:pt x="1350113" y="1227257"/>
                  <a:pt x="1399941" y="1194982"/>
                  <a:pt x="1419367" y="1187697"/>
                </a:cubicBezTo>
                <a:cubicBezTo>
                  <a:pt x="1436930" y="1181111"/>
                  <a:pt x="1455761" y="1178598"/>
                  <a:pt x="1473958" y="1174049"/>
                </a:cubicBezTo>
                <a:cubicBezTo>
                  <a:pt x="1487606" y="1160401"/>
                  <a:pt x="1500075" y="1145462"/>
                  <a:pt x="1514902" y="1133106"/>
                </a:cubicBezTo>
                <a:cubicBezTo>
                  <a:pt x="1527503" y="1122605"/>
                  <a:pt x="1545598" y="1118618"/>
                  <a:pt x="1555845" y="1105810"/>
                </a:cubicBezTo>
                <a:cubicBezTo>
                  <a:pt x="1564832" y="1094576"/>
                  <a:pt x="1563059" y="1077734"/>
                  <a:pt x="1569493" y="1064867"/>
                </a:cubicBezTo>
                <a:cubicBezTo>
                  <a:pt x="1581356" y="1041141"/>
                  <a:pt x="1596788" y="1019374"/>
                  <a:pt x="1610436" y="996628"/>
                </a:cubicBezTo>
                <a:cubicBezTo>
                  <a:pt x="1643673" y="863679"/>
                  <a:pt x="1623798" y="922277"/>
                  <a:pt x="1665027" y="819207"/>
                </a:cubicBezTo>
                <a:cubicBezTo>
                  <a:pt x="1698637" y="617553"/>
                  <a:pt x="1696065" y="665995"/>
                  <a:pt x="1665027" y="314240"/>
                </a:cubicBezTo>
                <a:cubicBezTo>
                  <a:pt x="1663585" y="297901"/>
                  <a:pt x="1646830" y="286945"/>
                  <a:pt x="1637731" y="273297"/>
                </a:cubicBezTo>
                <a:cubicBezTo>
                  <a:pt x="1633182" y="259649"/>
                  <a:pt x="1633071" y="243587"/>
                  <a:pt x="1624084" y="232354"/>
                </a:cubicBezTo>
                <a:cubicBezTo>
                  <a:pt x="1595182" y="196226"/>
                  <a:pt x="1518959" y="190304"/>
                  <a:pt x="1487606" y="177763"/>
                </a:cubicBezTo>
                <a:cubicBezTo>
                  <a:pt x="1449827" y="162651"/>
                  <a:pt x="1417899" y="133041"/>
                  <a:pt x="1378424" y="123172"/>
                </a:cubicBezTo>
                <a:cubicBezTo>
                  <a:pt x="1360227" y="118623"/>
                  <a:pt x="1341868" y="114677"/>
                  <a:pt x="1323833" y="109524"/>
                </a:cubicBezTo>
                <a:cubicBezTo>
                  <a:pt x="1272675" y="94907"/>
                  <a:pt x="1286964" y="92895"/>
                  <a:pt x="1228299" y="82228"/>
                </a:cubicBezTo>
                <a:cubicBezTo>
                  <a:pt x="1196650" y="76473"/>
                  <a:pt x="1164495" y="73868"/>
                  <a:pt x="1132764" y="68580"/>
                </a:cubicBezTo>
                <a:cubicBezTo>
                  <a:pt x="1109883" y="64767"/>
                  <a:pt x="1087271" y="59482"/>
                  <a:pt x="1064525" y="54933"/>
                </a:cubicBezTo>
                <a:cubicBezTo>
                  <a:pt x="1050877" y="41285"/>
                  <a:pt x="1042231" y="18962"/>
                  <a:pt x="1023582" y="13989"/>
                </a:cubicBezTo>
                <a:cubicBezTo>
                  <a:pt x="919220" y="-13841"/>
                  <a:pt x="755211" y="7315"/>
                  <a:pt x="655093" y="13989"/>
                </a:cubicBezTo>
                <a:cubicBezTo>
                  <a:pt x="636896" y="18538"/>
                  <a:pt x="618812" y="23568"/>
                  <a:pt x="600502" y="27637"/>
                </a:cubicBezTo>
                <a:cubicBezTo>
                  <a:pt x="577858" y="32669"/>
                  <a:pt x="553381" y="31686"/>
                  <a:pt x="532263" y="41285"/>
                </a:cubicBezTo>
                <a:cubicBezTo>
                  <a:pt x="502398" y="54860"/>
                  <a:pt x="477672" y="77679"/>
                  <a:pt x="450376" y="95876"/>
                </a:cubicBezTo>
                <a:cubicBezTo>
                  <a:pt x="436728" y="104975"/>
                  <a:pt x="424994" y="117985"/>
                  <a:pt x="409433" y="123172"/>
                </a:cubicBezTo>
                <a:lnTo>
                  <a:pt x="327546" y="150467"/>
                </a:lnTo>
                <a:close/>
              </a:path>
            </a:pathLst>
          </a:custGeom>
          <a:noFill/>
          <a:ln w="57150" cap="flat" cmpd="sng">
            <a:solidFill>
              <a:srgbClr val="00B05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0" y="190500"/>
            <a:ext cx="9144000" cy="50165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  Sec.7.1  Latches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（锁存器）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charset="0"/>
              <a:ea typeface="+mj-ea"/>
              <a:cs typeface="+mj-cs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Rot="1"/>
          </p:cNvSpPr>
          <p:nvPr>
            <p:ph type="ctrTitle"/>
          </p:nvPr>
        </p:nvSpPr>
        <p:spPr>
          <a:xfrm>
            <a:off x="0" y="190500"/>
            <a:ext cx="9144000" cy="50165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>
              <a:buClrTx/>
              <a:buSzTx/>
              <a:buFontTx/>
              <a:buNone/>
            </a:pPr>
            <a:r>
              <a:rPr lang="en-US" altLang="zh-CN" sz="3600" kern="1200" dirty="0">
                <a:latin typeface="Times New Roman" panose="02020603050405020304" charset="0"/>
                <a:ea typeface="+mj-ea"/>
                <a:cs typeface="+mj-cs"/>
              </a:rPr>
              <a:t>  Sec.7.1  Latches</a:t>
            </a:r>
          </a:p>
        </p:txBody>
      </p:sp>
      <p:sp>
        <p:nvSpPr>
          <p:cNvPr id="242691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2692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2693" name="Text Box 5"/>
          <p:cNvSpPr txBox="1"/>
          <p:nvPr/>
        </p:nvSpPr>
        <p:spPr>
          <a:xfrm>
            <a:off x="395288" y="6381750"/>
            <a:ext cx="23764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楷体_GB2312"/>
                <a:ea typeface="楷体_GB2312"/>
              </a:rPr>
              <a:t>CHAPTER 7</a:t>
            </a:r>
          </a:p>
        </p:txBody>
      </p:sp>
      <p:pic>
        <p:nvPicPr>
          <p:cNvPr id="242694" name="Picture 10" descr="MyCa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779463"/>
            <a:ext cx="4724400" cy="2254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2695" name="Line 14"/>
          <p:cNvSpPr/>
          <p:nvPr/>
        </p:nvSpPr>
        <p:spPr>
          <a:xfrm flipV="1">
            <a:off x="6227763" y="5589588"/>
            <a:ext cx="2159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2696" name="Line 15"/>
          <p:cNvSpPr/>
          <p:nvPr/>
        </p:nvSpPr>
        <p:spPr>
          <a:xfrm flipV="1">
            <a:off x="5868988" y="5589588"/>
            <a:ext cx="2159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42697" name="Picture 8" descr="fg07_005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3" y="3022600"/>
            <a:ext cx="8342312" cy="2992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7"/>
          <p:cNvSpPr>
            <a:spLocks noGrp="1" noRot="1" noChangeArrowheads="1"/>
          </p:cNvSpPr>
          <p:nvPr>
            <p:ph type="subTitle" idx="1"/>
          </p:nvPr>
        </p:nvSpPr>
        <p:spPr>
          <a:xfrm>
            <a:off x="1042988" y="1519238"/>
            <a:ext cx="1855788" cy="431800"/>
          </a:xfrm>
          <a:solidFill>
            <a:schemeClr val="accent1">
              <a:lumMod val="75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S-R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锁存器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714" name="图片 1"/>
          <p:cNvPicPr>
            <a:picLocks noChangeAspect="1"/>
          </p:cNvPicPr>
          <p:nvPr/>
        </p:nvPicPr>
        <p:blipFill>
          <a:blip r:embed="rId2"/>
          <a:srcRect l="6078" t="20834" r="6664" b="30209"/>
          <a:stretch>
            <a:fillRect/>
          </a:stretch>
        </p:blipFill>
        <p:spPr>
          <a:xfrm>
            <a:off x="17463" y="2051050"/>
            <a:ext cx="9144000" cy="3581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3715" name="Rectangle 2"/>
          <p:cNvSpPr>
            <a:spLocks noGrp="1" noRot="1"/>
          </p:cNvSpPr>
          <p:nvPr>
            <p:ph type="ctrTitle"/>
          </p:nvPr>
        </p:nvSpPr>
        <p:spPr>
          <a:xfrm>
            <a:off x="0" y="190500"/>
            <a:ext cx="9144000" cy="50165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>
              <a:buClrTx/>
              <a:buSzTx/>
              <a:buFontTx/>
              <a:buNone/>
            </a:pPr>
            <a:r>
              <a:rPr lang="en-US" altLang="zh-CN" sz="3600" kern="1200" dirty="0">
                <a:latin typeface="Times New Roman" panose="02020603050405020304" charset="0"/>
                <a:ea typeface="+mj-ea"/>
                <a:cs typeface="+mj-cs"/>
              </a:rPr>
              <a:t>  Sec.7.1  Latches</a:t>
            </a:r>
          </a:p>
        </p:txBody>
      </p:sp>
      <p:sp>
        <p:nvSpPr>
          <p:cNvPr id="243716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3717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3718" name="Text Box 5"/>
          <p:cNvSpPr txBox="1"/>
          <p:nvPr/>
        </p:nvSpPr>
        <p:spPr>
          <a:xfrm>
            <a:off x="395288" y="6381750"/>
            <a:ext cx="23764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楷体_GB2312"/>
                <a:ea typeface="楷体_GB2312"/>
              </a:rPr>
              <a:t>CHAPTER 7</a:t>
            </a:r>
          </a:p>
        </p:txBody>
      </p:sp>
      <p:sp>
        <p:nvSpPr>
          <p:cNvPr id="243719" name="矩形 1"/>
          <p:cNvSpPr/>
          <p:nvPr/>
        </p:nvSpPr>
        <p:spPr>
          <a:xfrm>
            <a:off x="1219200" y="1704975"/>
            <a:ext cx="3646488" cy="40005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000099"/>
                </a:solidFill>
                <a:latin typeface="Times New Roman" panose="02020603050405020304" charset="0"/>
                <a:ea typeface="楷体_GB2312"/>
              </a:rPr>
              <a:t>（机械开关接触抖动消除器）  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charset="0"/>
              <a:ea typeface="楷体_GB2312"/>
            </a:endParaRPr>
          </a:p>
        </p:txBody>
      </p:sp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1598613" y="4648200"/>
            <a:ext cx="2058988" cy="584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由于接触抖动导致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楷体_GB2312" pitchFamily="49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不稳定的变化电压</a:t>
            </a:r>
          </a:p>
        </p:txBody>
      </p:sp>
      <p:sp>
        <p:nvSpPr>
          <p:cNvPr id="3" name="Rectangle 7"/>
          <p:cNvSpPr>
            <a:spLocks noGrp="1" noRot="1" noChangeArrowheads="1"/>
          </p:cNvSpPr>
          <p:nvPr>
            <p:ph type="subTitle" idx="1"/>
          </p:nvPr>
        </p:nvSpPr>
        <p:spPr>
          <a:xfrm>
            <a:off x="304800" y="1008063"/>
            <a:ext cx="3886200" cy="431800"/>
          </a:xfrm>
          <a:solidFill>
            <a:schemeClr val="accent1">
              <a:lumMod val="75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S-R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锁存器应用举例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39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40" name="Text Box 6"/>
          <p:cNvSpPr txBox="1"/>
          <p:nvPr/>
        </p:nvSpPr>
        <p:spPr>
          <a:xfrm>
            <a:off x="0" y="1557338"/>
            <a:ext cx="9144000" cy="646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CC"/>
                </a:solidFill>
                <a:latin typeface="Times New Roman" panose="02020603050405020304" charset="0"/>
                <a:ea typeface="楷体_GB2312"/>
              </a:rPr>
              <a:t>  The 74LS279 is a quad S-R latch.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charset="0"/>
                <a:ea typeface="楷体_GB2312"/>
              </a:rPr>
              <a:t>   </a:t>
            </a:r>
            <a:r>
              <a:rPr lang="en-US" altLang="zh-CN" sz="2400" u="sng" dirty="0">
                <a:solidFill>
                  <a:srgbClr val="000099"/>
                </a:solidFill>
                <a:latin typeface="Times New Roman" panose="02020603050405020304" charset="0"/>
                <a:ea typeface="楷体_GB2312"/>
              </a:rPr>
              <a:t>Two of the latches has two S inputs.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charset="0"/>
                <a:ea typeface="楷体_GB2312"/>
              </a:rPr>
              <a:t>                               </a:t>
            </a:r>
          </a:p>
        </p:txBody>
      </p:sp>
      <p:sp>
        <p:nvSpPr>
          <p:cNvPr id="465927" name="Rectangle 7"/>
          <p:cNvSpPr>
            <a:spLocks noGrp="1" noRot="1" noChangeArrowheads="1"/>
          </p:cNvSpPr>
          <p:nvPr>
            <p:ph type="subTitle" idx="1"/>
          </p:nvPr>
        </p:nvSpPr>
        <p:spPr>
          <a:xfrm>
            <a:off x="2209800" y="925513"/>
            <a:ext cx="5029200" cy="431800"/>
          </a:xfrm>
          <a:solidFill>
            <a:srgbClr val="FFFF00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实现器件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74LS279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（四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S-R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锁存器）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4742" name="Line 9"/>
          <p:cNvSpPr/>
          <p:nvPr/>
        </p:nvSpPr>
        <p:spPr>
          <a:xfrm>
            <a:off x="7885113" y="1773238"/>
            <a:ext cx="2159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43" name="Line 10"/>
          <p:cNvSpPr/>
          <p:nvPr/>
        </p:nvSpPr>
        <p:spPr>
          <a:xfrm>
            <a:off x="3132138" y="1773238"/>
            <a:ext cx="2159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44" name="Line 11"/>
          <p:cNvSpPr/>
          <p:nvPr/>
        </p:nvSpPr>
        <p:spPr>
          <a:xfrm>
            <a:off x="3419475" y="1773238"/>
            <a:ext cx="2159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45" name="Line 10"/>
          <p:cNvSpPr/>
          <p:nvPr/>
        </p:nvSpPr>
        <p:spPr>
          <a:xfrm>
            <a:off x="3284538" y="1925638"/>
            <a:ext cx="2159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44746" name="组合 13"/>
          <p:cNvGrpSpPr/>
          <p:nvPr/>
        </p:nvGrpSpPr>
        <p:grpSpPr>
          <a:xfrm>
            <a:off x="468313" y="2278063"/>
            <a:ext cx="3167062" cy="4071937"/>
            <a:chOff x="5410200" y="2286000"/>
            <a:chExt cx="2730500" cy="3765550"/>
          </a:xfrm>
        </p:grpSpPr>
        <p:graphicFrame>
          <p:nvGraphicFramePr>
            <p:cNvPr id="244748" name="对象 133185"/>
            <p:cNvGraphicFramePr/>
            <p:nvPr/>
          </p:nvGraphicFramePr>
          <p:xfrm>
            <a:off x="5410200" y="2286000"/>
            <a:ext cx="2185988" cy="3475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360805" imgH="2158365" progId="CorelDRAW.Graphic.13">
                    <p:embed/>
                  </p:oleObj>
                </mc:Choice>
                <mc:Fallback>
                  <p:oleObj r:id="rId2" imgW="1360805" imgH="2158365" progId="CorelDRAW.Graphic.1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410200" y="2286000"/>
                          <a:ext cx="2185988" cy="34750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133186"/>
            <p:cNvSpPr txBox="1">
              <a:spLocks noChangeArrowheads="1"/>
            </p:cNvSpPr>
            <p:nvPr/>
          </p:nvSpPr>
          <p:spPr bwMode="auto">
            <a:xfrm>
              <a:off x="7606918" y="2515016"/>
              <a:ext cx="533782" cy="33618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marR="0" defTabSz="914400" eaLnBrk="1" fontAlgn="auto" hangingPunct="1"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kern="0" cap="none" spc="0" normalizeH="0" baseline="0" noProof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zh-CN" sz="1600" i="1" kern="0" cap="none" spc="0" normalizeH="0" baseline="0" noProof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Q</a:t>
              </a:r>
            </a:p>
          </p:txBody>
        </p:sp>
        <p:sp>
          <p:nvSpPr>
            <p:cNvPr id="17" name="文本框 133187"/>
            <p:cNvSpPr txBox="1">
              <a:spLocks noChangeArrowheads="1"/>
            </p:cNvSpPr>
            <p:nvPr/>
          </p:nvSpPr>
          <p:spPr bwMode="auto">
            <a:xfrm>
              <a:off x="7606918" y="3341528"/>
              <a:ext cx="533782" cy="33618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marR="0" defTabSz="914400" eaLnBrk="1" fontAlgn="auto" hangingPunct="1"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kern="0" cap="none" spc="0" normalizeH="0" baseline="0" noProof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zh-CN" sz="1600" i="1" kern="0" cap="none" spc="0" normalizeH="0" baseline="0" noProof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Q</a:t>
              </a:r>
            </a:p>
          </p:txBody>
        </p:sp>
        <p:sp>
          <p:nvSpPr>
            <p:cNvPr id="18" name="文本框 133188"/>
            <p:cNvSpPr txBox="1">
              <a:spLocks noChangeArrowheads="1"/>
            </p:cNvSpPr>
            <p:nvPr/>
          </p:nvSpPr>
          <p:spPr bwMode="auto">
            <a:xfrm>
              <a:off x="7606918" y="4185658"/>
              <a:ext cx="533782" cy="33765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marR="0" defTabSz="914400" eaLnBrk="1" fontAlgn="auto" hangingPunct="1"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kern="0" cap="none" spc="0" normalizeH="0" baseline="0" noProof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3</a:t>
              </a:r>
              <a:r>
                <a:rPr kumimoji="0" lang="en-US" altLang="zh-CN" sz="1600" i="1" kern="0" cap="none" spc="0" normalizeH="0" baseline="0" noProof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Q</a:t>
              </a:r>
            </a:p>
          </p:txBody>
        </p:sp>
        <p:sp>
          <p:nvSpPr>
            <p:cNvPr id="19" name="文本框 133189"/>
            <p:cNvSpPr txBox="1">
              <a:spLocks noChangeArrowheads="1"/>
            </p:cNvSpPr>
            <p:nvPr/>
          </p:nvSpPr>
          <p:spPr bwMode="auto">
            <a:xfrm>
              <a:off x="7606918" y="5063552"/>
              <a:ext cx="533782" cy="33765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marR="0" defTabSz="914400" eaLnBrk="1" fontAlgn="auto" hangingPunct="1"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kern="0" cap="none" spc="0" normalizeH="0" baseline="0" noProof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4</a:t>
              </a:r>
              <a:r>
                <a:rPr kumimoji="0" lang="en-US" altLang="zh-CN" sz="1600" i="1" kern="0" cap="none" spc="0" normalizeH="0" baseline="0" noProof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Q</a:t>
              </a:r>
            </a:p>
          </p:txBody>
        </p:sp>
        <p:sp>
          <p:nvSpPr>
            <p:cNvPr id="20" name="文本框 133190"/>
            <p:cNvSpPr txBox="1">
              <a:spLocks noChangeArrowheads="1"/>
            </p:cNvSpPr>
            <p:nvPr/>
          </p:nvSpPr>
          <p:spPr bwMode="auto">
            <a:xfrm>
              <a:off x="5867336" y="5715367"/>
              <a:ext cx="1296132" cy="33618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marR="0" defTabSz="914400" eaLnBrk="1" fontAlgn="auto" hangingPunct="1"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kern="0" cap="none" spc="0" normalizeH="0" baseline="0" noProof="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74LS279A </a:t>
              </a:r>
            </a:p>
          </p:txBody>
        </p:sp>
      </p:grpSp>
      <p:pic>
        <p:nvPicPr>
          <p:cNvPr id="244747" name="图片 1"/>
          <p:cNvPicPr>
            <a:picLocks noChangeAspect="1"/>
          </p:cNvPicPr>
          <p:nvPr/>
        </p:nvPicPr>
        <p:blipFill>
          <a:blip r:embed="rId4"/>
          <a:srcRect l="47656" t="23959" r="8420" b="25002"/>
          <a:stretch>
            <a:fillRect/>
          </a:stretch>
        </p:blipFill>
        <p:spPr>
          <a:xfrm>
            <a:off x="4049713" y="2624138"/>
            <a:ext cx="4625975" cy="3022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Rot="1"/>
          </p:cNvSpPr>
          <p:nvPr>
            <p:ph type="ctrTitle"/>
          </p:nvPr>
        </p:nvSpPr>
        <p:spPr>
          <a:xfrm>
            <a:off x="0" y="190500"/>
            <a:ext cx="9144000" cy="50165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>
              <a:buClrTx/>
              <a:buSzTx/>
              <a:buFontTx/>
              <a:buNone/>
            </a:pPr>
            <a:r>
              <a:rPr lang="en-US" altLang="zh-CN" sz="3600" kern="1200" dirty="0">
                <a:latin typeface="Times New Roman" panose="02020603050405020304" charset="0"/>
                <a:ea typeface="+mj-ea"/>
                <a:cs typeface="+mj-cs"/>
              </a:rPr>
              <a:t>  Sec.7.1  Latches</a:t>
            </a:r>
          </a:p>
        </p:txBody>
      </p:sp>
      <p:sp>
        <p:nvSpPr>
          <p:cNvPr id="245763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764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765" name="Text Box 5"/>
          <p:cNvSpPr txBox="1"/>
          <p:nvPr/>
        </p:nvSpPr>
        <p:spPr>
          <a:xfrm>
            <a:off x="395288" y="6381750"/>
            <a:ext cx="23764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楷体_GB2312"/>
                <a:ea typeface="楷体_GB2312"/>
              </a:rPr>
              <a:t>CHAPTER 7</a:t>
            </a:r>
          </a:p>
        </p:txBody>
      </p:sp>
      <p:sp>
        <p:nvSpPr>
          <p:cNvPr id="466950" name="Text Box 6"/>
          <p:cNvSpPr txBox="1">
            <a:spLocks noChangeArrowheads="1"/>
          </p:cNvSpPr>
          <p:nvPr/>
        </p:nvSpPr>
        <p:spPr bwMode="auto">
          <a:xfrm>
            <a:off x="685800" y="1579563"/>
            <a:ext cx="2895600" cy="500063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/>
                <a:cs typeface="MS PGothic" panose="020B0600070205080204" pitchFamily="34" charset="-128"/>
              </a:rPr>
              <a:t>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/>
                <a:cs typeface="MS PGothic" panose="020B0600070205080204" pitchFamily="34" charset="-128"/>
              </a:rPr>
              <a:t>引入门控使能信号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/>
                <a:cs typeface="MS PGothic" panose="020B0600070205080204" pitchFamily="34" charset="-128"/>
              </a:rPr>
              <a:t>EN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charset="0"/>
              <a:ea typeface="楷体_GB2312"/>
              <a:cs typeface="MS PGothic" panose="020B0600070205080204" pitchFamily="34" charset="-128"/>
            </a:endParaRPr>
          </a:p>
        </p:txBody>
      </p:sp>
      <p:pic>
        <p:nvPicPr>
          <p:cNvPr id="245767" name="Picture 12" descr="fg07_00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78100"/>
            <a:ext cx="7272338" cy="32845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4191000" y="1738313"/>
            <a:ext cx="1585913" cy="708025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EN=0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，保持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EN=1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，状态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楷体_GB2312" pitchFamily="49" charset="-122"/>
              <a:cs typeface="+mn-cs"/>
            </a:endParaRPr>
          </a:p>
        </p:txBody>
      </p:sp>
      <p:sp>
        <p:nvSpPr>
          <p:cNvPr id="2" name="Rectangle 7"/>
          <p:cNvSpPr txBox="1">
            <a:spLocks noRot="1" noChangeArrowheads="1"/>
          </p:cNvSpPr>
          <p:nvPr/>
        </p:nvSpPr>
        <p:spPr bwMode="auto">
          <a:xfrm>
            <a:off x="304800" y="1008063"/>
            <a:ext cx="3886200" cy="431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、门控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S-R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锁存器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Rot="1"/>
          </p:cNvSpPr>
          <p:nvPr>
            <p:ph type="ctrTitle"/>
          </p:nvPr>
        </p:nvSpPr>
        <p:spPr>
          <a:xfrm>
            <a:off x="0" y="190500"/>
            <a:ext cx="9144000" cy="50165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>
              <a:buClrTx/>
              <a:buSzTx/>
              <a:buFontTx/>
              <a:buNone/>
            </a:pPr>
            <a:r>
              <a:rPr lang="en-US" altLang="zh-CN" sz="3600" kern="1200" dirty="0">
                <a:latin typeface="Times New Roman" panose="02020603050405020304" charset="0"/>
                <a:ea typeface="+mj-ea"/>
                <a:cs typeface="+mj-cs"/>
              </a:rPr>
              <a:t>  Sec.7.1  Latches</a:t>
            </a:r>
          </a:p>
        </p:txBody>
      </p:sp>
      <p:sp>
        <p:nvSpPr>
          <p:cNvPr id="246787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6788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6789" name="Text Box 5"/>
          <p:cNvSpPr txBox="1"/>
          <p:nvPr/>
        </p:nvSpPr>
        <p:spPr>
          <a:xfrm>
            <a:off x="395288" y="6381750"/>
            <a:ext cx="23764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楷体_GB2312"/>
                <a:ea typeface="楷体_GB2312"/>
              </a:rPr>
              <a:t>CHAPTER 7</a:t>
            </a:r>
          </a:p>
        </p:txBody>
      </p:sp>
      <p:sp>
        <p:nvSpPr>
          <p:cNvPr id="467975" name="Rectangle 7"/>
          <p:cNvSpPr>
            <a:spLocks noGrp="1" noRot="1" noChangeArrowheads="1"/>
          </p:cNvSpPr>
          <p:nvPr>
            <p:ph type="subTitle" idx="1"/>
          </p:nvPr>
        </p:nvSpPr>
        <p:spPr bwMode="auto">
          <a:xfrm>
            <a:off x="556375" y="1019176"/>
            <a:ext cx="1219288" cy="43180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示例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46791" name="Picture 9" descr="fg07_009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98713"/>
            <a:ext cx="7416800" cy="3419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/>
        </p:nvSpPr>
        <p:spPr>
          <a:xfrm>
            <a:off x="317500" y="1798638"/>
            <a:ext cx="1517650" cy="646113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EN=0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，保持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EN=1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，状态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楷体_GB2312" pitchFamily="49" charset="-122"/>
              <a:cs typeface="+mn-cs"/>
            </a:endParaRPr>
          </a:p>
        </p:txBody>
      </p:sp>
      <p:sp>
        <p:nvSpPr>
          <p:cNvPr id="246793" name="任意多边形: 形状 1"/>
          <p:cNvSpPr/>
          <p:nvPr/>
        </p:nvSpPr>
        <p:spPr>
          <a:xfrm>
            <a:off x="1371600" y="3979863"/>
            <a:ext cx="555625" cy="444500"/>
          </a:xfrm>
          <a:custGeom>
            <a:avLst/>
            <a:gdLst/>
            <a:ahLst/>
            <a:cxnLst>
              <a:cxn ang="0">
                <a:pos x="368294" y="0"/>
              </a:cxn>
              <a:cxn ang="0">
                <a:pos x="141049" y="46687"/>
              </a:cxn>
              <a:cxn ang="0">
                <a:pos x="109705" y="70031"/>
              </a:cxn>
              <a:cxn ang="0">
                <a:pos x="0" y="210091"/>
              </a:cxn>
              <a:cxn ang="0">
                <a:pos x="23508" y="326808"/>
              </a:cxn>
              <a:cxn ang="0">
                <a:pos x="78360" y="381276"/>
              </a:cxn>
              <a:cxn ang="0">
                <a:pos x="148884" y="396839"/>
              </a:cxn>
              <a:cxn ang="0">
                <a:pos x="282098" y="443525"/>
              </a:cxn>
              <a:cxn ang="0">
                <a:pos x="477999" y="412402"/>
              </a:cxn>
              <a:cxn ang="0">
                <a:pos x="509343" y="357933"/>
              </a:cxn>
              <a:cxn ang="0">
                <a:pos x="556359" y="202309"/>
              </a:cxn>
              <a:cxn ang="0">
                <a:pos x="525015" y="147842"/>
              </a:cxn>
              <a:cxn ang="0">
                <a:pos x="485835" y="124498"/>
              </a:cxn>
            </a:cxnLst>
            <a:rect l="0" t="0" r="0" b="0"/>
            <a:pathLst>
              <a:path w="554892" h="445477">
                <a:moveTo>
                  <a:pt x="367323" y="0"/>
                </a:moveTo>
                <a:cubicBezTo>
                  <a:pt x="312428" y="9149"/>
                  <a:pt x="200606" y="22921"/>
                  <a:pt x="140677" y="46893"/>
                </a:cubicBezTo>
                <a:cubicBezTo>
                  <a:pt x="128583" y="51731"/>
                  <a:pt x="119836" y="62524"/>
                  <a:pt x="109415" y="70339"/>
                </a:cubicBezTo>
                <a:cubicBezTo>
                  <a:pt x="28592" y="187085"/>
                  <a:pt x="68203" y="142813"/>
                  <a:pt x="0" y="211016"/>
                </a:cubicBezTo>
                <a:cubicBezTo>
                  <a:pt x="7815" y="250093"/>
                  <a:pt x="6956" y="291967"/>
                  <a:pt x="23446" y="328246"/>
                </a:cubicBezTo>
                <a:cubicBezTo>
                  <a:pt x="34118" y="351724"/>
                  <a:pt x="57297" y="367785"/>
                  <a:pt x="78154" y="382954"/>
                </a:cubicBezTo>
                <a:cubicBezTo>
                  <a:pt x="82368" y="386019"/>
                  <a:pt x="148270" y="398522"/>
                  <a:pt x="148492" y="398585"/>
                </a:cubicBezTo>
                <a:cubicBezTo>
                  <a:pt x="191169" y="410779"/>
                  <a:pt x="239620" y="429827"/>
                  <a:pt x="281354" y="445477"/>
                </a:cubicBezTo>
                <a:cubicBezTo>
                  <a:pt x="346482" y="435057"/>
                  <a:pt x="415069" y="437608"/>
                  <a:pt x="476738" y="414216"/>
                </a:cubicBezTo>
                <a:cubicBezTo>
                  <a:pt x="496376" y="406767"/>
                  <a:pt x="500705" y="379204"/>
                  <a:pt x="508000" y="359508"/>
                </a:cubicBezTo>
                <a:cubicBezTo>
                  <a:pt x="526893" y="308498"/>
                  <a:pt x="554892" y="203200"/>
                  <a:pt x="554892" y="203200"/>
                </a:cubicBezTo>
                <a:cubicBezTo>
                  <a:pt x="544471" y="184964"/>
                  <a:pt x="537680" y="164105"/>
                  <a:pt x="523630" y="148493"/>
                </a:cubicBezTo>
                <a:cubicBezTo>
                  <a:pt x="513468" y="137202"/>
                  <a:pt x="484554" y="125046"/>
                  <a:pt x="484554" y="125046"/>
                </a:cubicBez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6794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638" y="939800"/>
            <a:ext cx="1990725" cy="1790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7810" name="对象 137259"/>
          <p:cNvGraphicFramePr/>
          <p:nvPr/>
        </p:nvGraphicFramePr>
        <p:xfrm>
          <a:off x="1549400" y="2538413"/>
          <a:ext cx="6019800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89350" imgH="1233170" progId="CorelDRAW.Graphic.13">
                  <p:embed/>
                </p:oleObj>
              </mc:Choice>
              <mc:Fallback>
                <p:oleObj r:id="rId3" imgW="3689350" imgH="1233170" progId="CorelDRAW.Graphic.1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9400" y="2538413"/>
                        <a:ext cx="6019800" cy="2011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2" name="文本框 137247"/>
          <p:cNvSpPr txBox="1"/>
          <p:nvPr/>
        </p:nvSpPr>
        <p:spPr>
          <a:xfrm>
            <a:off x="1254125" y="2632075"/>
            <a:ext cx="381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charset="0"/>
              </a:rPr>
              <a:t>D</a:t>
            </a:r>
          </a:p>
        </p:txBody>
      </p:sp>
      <p:sp>
        <p:nvSpPr>
          <p:cNvPr id="247813" name="文本框 137248"/>
          <p:cNvSpPr txBox="1"/>
          <p:nvPr/>
        </p:nvSpPr>
        <p:spPr>
          <a:xfrm>
            <a:off x="1143000" y="3352800"/>
            <a:ext cx="533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charset="0"/>
              </a:rPr>
              <a:t>EN</a:t>
            </a:r>
          </a:p>
        </p:txBody>
      </p:sp>
      <p:sp>
        <p:nvSpPr>
          <p:cNvPr id="247814" name="文本框 137249"/>
          <p:cNvSpPr txBox="1"/>
          <p:nvPr/>
        </p:nvSpPr>
        <p:spPr>
          <a:xfrm>
            <a:off x="4278313" y="2790825"/>
            <a:ext cx="533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charset="0"/>
              </a:rPr>
              <a:t>Q</a:t>
            </a:r>
          </a:p>
        </p:txBody>
      </p:sp>
      <p:grpSp>
        <p:nvGrpSpPr>
          <p:cNvPr id="247815" name="组合 137250"/>
          <p:cNvGrpSpPr/>
          <p:nvPr/>
        </p:nvGrpSpPr>
        <p:grpSpPr>
          <a:xfrm>
            <a:off x="4303713" y="3846513"/>
            <a:ext cx="381000" cy="336550"/>
            <a:chOff x="2454" y="3201"/>
            <a:chExt cx="240" cy="212"/>
          </a:xfrm>
        </p:grpSpPr>
        <p:sp>
          <p:nvSpPr>
            <p:cNvPr id="247825" name="文本框 137251"/>
            <p:cNvSpPr txBox="1"/>
            <p:nvPr/>
          </p:nvSpPr>
          <p:spPr>
            <a:xfrm>
              <a:off x="2454" y="3201"/>
              <a:ext cx="24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solidFill>
                    <a:srgbClr val="FF0000"/>
                  </a:solidFill>
                  <a:latin typeface="Times New Roman" panose="02020603050405020304" charset="0"/>
                </a:rPr>
                <a:t>Q</a:t>
              </a:r>
            </a:p>
          </p:txBody>
        </p:sp>
        <p:sp>
          <p:nvSpPr>
            <p:cNvPr id="247826" name="直接连接符 137252"/>
            <p:cNvSpPr/>
            <p:nvPr/>
          </p:nvSpPr>
          <p:spPr>
            <a:xfrm>
              <a:off x="2524" y="3237"/>
              <a:ext cx="96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47816" name="组合 137253"/>
          <p:cNvGrpSpPr/>
          <p:nvPr/>
        </p:nvGrpSpPr>
        <p:grpSpPr>
          <a:xfrm>
            <a:off x="7543800" y="3998913"/>
            <a:ext cx="381000" cy="336550"/>
            <a:chOff x="2454" y="3201"/>
            <a:chExt cx="240" cy="212"/>
          </a:xfrm>
        </p:grpSpPr>
        <p:sp>
          <p:nvSpPr>
            <p:cNvPr id="247823" name="文本框 137254"/>
            <p:cNvSpPr txBox="1"/>
            <p:nvPr/>
          </p:nvSpPr>
          <p:spPr>
            <a:xfrm>
              <a:off x="2454" y="3201"/>
              <a:ext cx="24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solidFill>
                    <a:srgbClr val="FF0000"/>
                  </a:solidFill>
                  <a:latin typeface="Times New Roman" panose="02020603050405020304" charset="0"/>
                </a:rPr>
                <a:t>Q</a:t>
              </a:r>
            </a:p>
          </p:txBody>
        </p:sp>
        <p:sp>
          <p:nvSpPr>
            <p:cNvPr id="247824" name="直接连接符 137255"/>
            <p:cNvSpPr/>
            <p:nvPr/>
          </p:nvSpPr>
          <p:spPr>
            <a:xfrm>
              <a:off x="2524" y="3237"/>
              <a:ext cx="96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47817" name="文本框 137256"/>
          <p:cNvSpPr txBox="1"/>
          <p:nvPr/>
        </p:nvSpPr>
        <p:spPr>
          <a:xfrm>
            <a:off x="7529513" y="2676525"/>
            <a:ext cx="533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charset="0"/>
              </a:rPr>
              <a:t>Q</a:t>
            </a:r>
          </a:p>
        </p:txBody>
      </p:sp>
      <p:sp>
        <p:nvSpPr>
          <p:cNvPr id="247818" name="文本框 137257"/>
          <p:cNvSpPr txBox="1"/>
          <p:nvPr/>
        </p:nvSpPr>
        <p:spPr>
          <a:xfrm>
            <a:off x="6096000" y="2743200"/>
            <a:ext cx="381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i="1" dirty="0">
                <a:latin typeface="Times New Roman" panose="02020603050405020304" charset="0"/>
              </a:rPr>
              <a:t>D</a:t>
            </a:r>
          </a:p>
        </p:txBody>
      </p:sp>
      <p:sp>
        <p:nvSpPr>
          <p:cNvPr id="247819" name="文本框 137258"/>
          <p:cNvSpPr txBox="1"/>
          <p:nvPr/>
        </p:nvSpPr>
        <p:spPr>
          <a:xfrm>
            <a:off x="6096000" y="3352800"/>
            <a:ext cx="533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i="1" dirty="0">
                <a:latin typeface="Times New Roman" panose="02020603050405020304" charset="0"/>
              </a:rPr>
              <a:t>EN</a:t>
            </a:r>
          </a:p>
        </p:txBody>
      </p:sp>
      <p:sp>
        <p:nvSpPr>
          <p:cNvPr id="247820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latin typeface="Arial" panose="020B0604020202020204" pitchFamily="34" charset="0"/>
              </a:rPr>
              <a:t>11</a:t>
            </a:fld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47821" name="Rectangle 7"/>
          <p:cNvSpPr txBox="1">
            <a:spLocks noRot="1"/>
          </p:cNvSpPr>
          <p:nvPr/>
        </p:nvSpPr>
        <p:spPr>
          <a:xfrm>
            <a:off x="533400" y="496888"/>
            <a:ext cx="3352800" cy="431800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、门控</a:t>
            </a: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锁存器</a:t>
            </a: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7822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3263" y="4648200"/>
            <a:ext cx="5422900" cy="1928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0C52B4A-06C5-BC0A-621B-EB00D08F32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247" y="1337645"/>
            <a:ext cx="3352801" cy="4858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B62E039-5A0A-B49A-E9FB-56B652EA17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160" y="1337645"/>
            <a:ext cx="3919740" cy="457264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Rot="1"/>
          </p:cNvSpPr>
          <p:nvPr>
            <p:ph type="ctrTitle"/>
          </p:nvPr>
        </p:nvSpPr>
        <p:spPr>
          <a:xfrm>
            <a:off x="0" y="190500"/>
            <a:ext cx="9144000" cy="50165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>
              <a:buClrTx/>
              <a:buSzTx/>
              <a:buFontTx/>
              <a:buNone/>
            </a:pPr>
            <a:r>
              <a:rPr lang="en-US" altLang="zh-CN" sz="3600" kern="1200" dirty="0">
                <a:latin typeface="Times New Roman" panose="02020603050405020304" charset="0"/>
                <a:ea typeface="+mj-ea"/>
                <a:cs typeface="+mj-cs"/>
              </a:rPr>
              <a:t>  Sec.7.1  Latches</a:t>
            </a:r>
          </a:p>
        </p:txBody>
      </p:sp>
      <p:sp>
        <p:nvSpPr>
          <p:cNvPr id="249859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9860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9861" name="Text Box 5"/>
          <p:cNvSpPr txBox="1"/>
          <p:nvPr/>
        </p:nvSpPr>
        <p:spPr>
          <a:xfrm>
            <a:off x="395288" y="6381750"/>
            <a:ext cx="23764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楷体_GB2312"/>
                <a:ea typeface="楷体_GB2312"/>
              </a:rPr>
              <a:t>CHAPTER 7</a:t>
            </a:r>
          </a:p>
        </p:txBody>
      </p:sp>
      <p:pic>
        <p:nvPicPr>
          <p:cNvPr id="249862" name="图片 1"/>
          <p:cNvPicPr>
            <a:picLocks noChangeAspect="1"/>
          </p:cNvPicPr>
          <p:nvPr/>
        </p:nvPicPr>
        <p:blipFill>
          <a:blip r:embed="rId2"/>
          <a:srcRect l="9006" t="15627" r="17204" b="16667"/>
          <a:stretch>
            <a:fillRect/>
          </a:stretch>
        </p:blipFill>
        <p:spPr>
          <a:xfrm>
            <a:off x="566738" y="1616075"/>
            <a:ext cx="8299450" cy="3806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9863" name="Rectangle 7"/>
          <p:cNvSpPr txBox="1">
            <a:spLocks noRot="1"/>
          </p:cNvSpPr>
          <p:nvPr/>
        </p:nvSpPr>
        <p:spPr>
          <a:xfrm>
            <a:off x="422275" y="890588"/>
            <a:ext cx="6130925" cy="431800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门控</a:t>
            </a: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锁存器的实现，</a:t>
            </a: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个锁存器</a:t>
            </a: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74LS75</a:t>
            </a:r>
          </a:p>
        </p:txBody>
      </p:sp>
      <p:sp>
        <p:nvSpPr>
          <p:cNvPr id="5" name="文本框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36281" y="4419574"/>
            <a:ext cx="4330325" cy="885434"/>
          </a:xfrm>
          <a:prstGeom prst="rect">
            <a:avLst/>
          </a:prstGeom>
          <a:blipFill>
            <a:blip r:embed="rId3"/>
            <a:stretch>
              <a:fillRect l="-423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 </a:t>
            </a:r>
          </a:p>
        </p:txBody>
      </p:sp>
      <p:cxnSp>
        <p:nvCxnSpPr>
          <p:cNvPr id="249865" name="直接箭头连接符 6"/>
          <p:cNvCxnSpPr/>
          <p:nvPr/>
        </p:nvCxnSpPr>
        <p:spPr>
          <a:xfrm flipV="1">
            <a:off x="4724400" y="4191000"/>
            <a:ext cx="1600200" cy="533400"/>
          </a:xfrm>
          <a:prstGeom prst="straightConnector1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ransition spd="slow">
    <p:pull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0883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50884" name="组合 4"/>
          <p:cNvGrpSpPr/>
          <p:nvPr/>
        </p:nvGrpSpPr>
        <p:grpSpPr>
          <a:xfrm>
            <a:off x="187325" y="1498600"/>
            <a:ext cx="8880475" cy="5070475"/>
            <a:chOff x="-101218" y="1122012"/>
            <a:chExt cx="8386896" cy="4968875"/>
          </a:xfrm>
        </p:grpSpPr>
        <p:pic>
          <p:nvPicPr>
            <p:cNvPr id="250891" name="Picture 7" descr="fg07_013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9941" y="1122012"/>
              <a:ext cx="7805737" cy="496887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0892" name="矩形 6"/>
            <p:cNvSpPr/>
            <p:nvPr/>
          </p:nvSpPr>
          <p:spPr>
            <a:xfrm>
              <a:off x="3599331" y="1241695"/>
              <a:ext cx="1366838" cy="339725"/>
            </a:xfrm>
            <a:prstGeom prst="rect">
              <a:avLst/>
            </a:prstGeom>
            <a:solidFill>
              <a:srgbClr val="D5FFFF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5000"/>
                <a:buChar char="•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charset="0"/>
                  <a:ea typeface="楷体_GB2312"/>
                </a:rPr>
                <a:t>上升沿触发</a:t>
              </a:r>
            </a:p>
          </p:txBody>
        </p:sp>
        <p:sp>
          <p:nvSpPr>
            <p:cNvPr id="250893" name="矩形 7"/>
            <p:cNvSpPr/>
            <p:nvPr/>
          </p:nvSpPr>
          <p:spPr>
            <a:xfrm>
              <a:off x="3599331" y="3570621"/>
              <a:ext cx="1366838" cy="339725"/>
            </a:xfrm>
            <a:prstGeom prst="rect">
              <a:avLst/>
            </a:prstGeom>
            <a:solidFill>
              <a:srgbClr val="D5FFFF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5000"/>
                <a:buChar char="•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charset="0"/>
                  <a:ea typeface="楷体_GB2312"/>
                </a:rPr>
                <a:t>下降沿触发</a:t>
              </a:r>
            </a:p>
          </p:txBody>
        </p:sp>
        <p:sp>
          <p:nvSpPr>
            <p:cNvPr id="9" name="矩形 7"/>
            <p:cNvSpPr>
              <a:spLocks noChangeArrowheads="1"/>
            </p:cNvSpPr>
            <p:nvPr/>
          </p:nvSpPr>
          <p:spPr bwMode="auto">
            <a:xfrm>
              <a:off x="-101218" y="3013731"/>
              <a:ext cx="424293" cy="156813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85750">
                <a:spcBef>
                  <a:spcPct val="20000"/>
                </a:spcBef>
                <a:buClr>
                  <a:schemeClr val="hlink"/>
                </a:buClr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>
                <a:spcBef>
                  <a:spcPct val="20000"/>
                </a:spcBef>
                <a:buClr>
                  <a:schemeClr val="hlink"/>
                </a:buClr>
                <a:buSzPct val="115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  <a:ea typeface="楷体_GB2312" pitchFamily="49" charset="-122"/>
                  <a:cs typeface="+mn-cs"/>
                </a:rPr>
                <a:t>动态输入指示器</a:t>
              </a:r>
            </a:p>
          </p:txBody>
        </p:sp>
        <p:sp>
          <p:nvSpPr>
            <p:cNvPr id="250895" name="任意多边形 1"/>
            <p:cNvSpPr/>
            <p:nvPr/>
          </p:nvSpPr>
          <p:spPr>
            <a:xfrm>
              <a:off x="877888" y="2368550"/>
              <a:ext cx="839787" cy="658813"/>
            </a:xfrm>
            <a:custGeom>
              <a:avLst/>
              <a:gdLst/>
              <a:ahLst/>
              <a:cxnLst>
                <a:cxn ang="0">
                  <a:pos x="238048" y="75511"/>
                </a:cxn>
                <a:cxn ang="0">
                  <a:pos x="160547" y="122918"/>
                </a:cxn>
                <a:cxn ang="0">
                  <a:pos x="114049" y="138723"/>
                </a:cxn>
                <a:cxn ang="0">
                  <a:pos x="36547" y="249352"/>
                </a:cxn>
                <a:cxn ang="0">
                  <a:pos x="36547" y="612829"/>
                </a:cxn>
                <a:cxn ang="0">
                  <a:pos x="114049" y="660235"/>
                </a:cxn>
                <a:cxn ang="0">
                  <a:pos x="470549" y="644432"/>
                </a:cxn>
                <a:cxn ang="0">
                  <a:pos x="532551" y="628632"/>
                </a:cxn>
                <a:cxn ang="0">
                  <a:pos x="594552" y="581218"/>
                </a:cxn>
                <a:cxn ang="0">
                  <a:pos x="641052" y="549617"/>
                </a:cxn>
                <a:cxn ang="0">
                  <a:pos x="734052" y="502200"/>
                </a:cxn>
                <a:cxn ang="0">
                  <a:pos x="765052" y="454794"/>
                </a:cxn>
                <a:cxn ang="0">
                  <a:pos x="811553" y="407386"/>
                </a:cxn>
                <a:cxn ang="0">
                  <a:pos x="827052" y="328369"/>
                </a:cxn>
                <a:cxn ang="0">
                  <a:pos x="811553" y="138723"/>
                </a:cxn>
                <a:cxn ang="0">
                  <a:pos x="780553" y="91317"/>
                </a:cxn>
                <a:cxn ang="0">
                  <a:pos x="734052" y="43910"/>
                </a:cxn>
                <a:cxn ang="0">
                  <a:pos x="594552" y="12299"/>
                </a:cxn>
                <a:cxn ang="0">
                  <a:pos x="284549" y="43910"/>
                </a:cxn>
              </a:cxnLst>
              <a:rect l="0" t="0" r="0" b="0"/>
              <a:pathLst>
                <a:path w="841214" h="658655">
                  <a:moveTo>
                    <a:pt x="242125" y="75331"/>
                  </a:moveTo>
                  <a:cubicBezTo>
                    <a:pt x="215849" y="91097"/>
                    <a:pt x="190705" y="108924"/>
                    <a:pt x="163297" y="122628"/>
                  </a:cubicBezTo>
                  <a:cubicBezTo>
                    <a:pt x="148433" y="130060"/>
                    <a:pt x="126640" y="125627"/>
                    <a:pt x="116001" y="138393"/>
                  </a:cubicBezTo>
                  <a:cubicBezTo>
                    <a:pt x="-16575" y="297485"/>
                    <a:pt x="170959" y="159563"/>
                    <a:pt x="37173" y="248752"/>
                  </a:cubicBezTo>
                  <a:cubicBezTo>
                    <a:pt x="-5672" y="377282"/>
                    <a:pt x="-18686" y="397235"/>
                    <a:pt x="37173" y="611359"/>
                  </a:cubicBezTo>
                  <a:cubicBezTo>
                    <a:pt x="44908" y="641009"/>
                    <a:pt x="89725" y="642890"/>
                    <a:pt x="116001" y="658655"/>
                  </a:cubicBezTo>
                  <a:cubicBezTo>
                    <a:pt x="236870" y="653400"/>
                    <a:pt x="357955" y="651827"/>
                    <a:pt x="478607" y="642890"/>
                  </a:cubicBezTo>
                  <a:cubicBezTo>
                    <a:pt x="500216" y="641289"/>
                    <a:pt x="522290" y="636814"/>
                    <a:pt x="541670" y="627124"/>
                  </a:cubicBezTo>
                  <a:cubicBezTo>
                    <a:pt x="565172" y="615373"/>
                    <a:pt x="583351" y="595100"/>
                    <a:pt x="604732" y="579828"/>
                  </a:cubicBezTo>
                  <a:cubicBezTo>
                    <a:pt x="620150" y="568815"/>
                    <a:pt x="635081" y="556771"/>
                    <a:pt x="652028" y="548297"/>
                  </a:cubicBezTo>
                  <a:cubicBezTo>
                    <a:pt x="782571" y="483025"/>
                    <a:pt x="611079" y="591362"/>
                    <a:pt x="746621" y="501000"/>
                  </a:cubicBezTo>
                  <a:cubicBezTo>
                    <a:pt x="757131" y="485235"/>
                    <a:pt x="766022" y="468260"/>
                    <a:pt x="778152" y="453704"/>
                  </a:cubicBezTo>
                  <a:cubicBezTo>
                    <a:pt x="792426" y="436576"/>
                    <a:pt x="815478" y="426349"/>
                    <a:pt x="825449" y="406407"/>
                  </a:cubicBezTo>
                  <a:cubicBezTo>
                    <a:pt x="837433" y="382440"/>
                    <a:pt x="835959" y="353855"/>
                    <a:pt x="841214" y="327579"/>
                  </a:cubicBezTo>
                  <a:cubicBezTo>
                    <a:pt x="835959" y="264517"/>
                    <a:pt x="837859" y="200445"/>
                    <a:pt x="825449" y="138393"/>
                  </a:cubicBezTo>
                  <a:cubicBezTo>
                    <a:pt x="821733" y="119813"/>
                    <a:pt x="806048" y="105653"/>
                    <a:pt x="793918" y="91097"/>
                  </a:cubicBezTo>
                  <a:cubicBezTo>
                    <a:pt x="779644" y="73969"/>
                    <a:pt x="765172" y="56168"/>
                    <a:pt x="746621" y="43800"/>
                  </a:cubicBezTo>
                  <a:cubicBezTo>
                    <a:pt x="720749" y="26552"/>
                    <a:pt x="616174" y="14176"/>
                    <a:pt x="604732" y="12269"/>
                  </a:cubicBezTo>
                  <a:cubicBezTo>
                    <a:pt x="297765" y="28426"/>
                    <a:pt x="375890" y="-42664"/>
                    <a:pt x="289421" y="43800"/>
                  </a:cubicBezTo>
                </a:path>
              </a:pathLst>
            </a:custGeom>
            <a:noFill/>
            <a:ln w="5715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 bwMode="auto">
            <a:xfrm>
              <a:off x="876304" y="4544531"/>
              <a:ext cx="841089" cy="659613"/>
            </a:xfrm>
            <a:custGeom>
              <a:avLst/>
              <a:gdLst>
                <a:gd name="connsiteX0" fmla="*/ 242125 w 841214"/>
                <a:gd name="connsiteY0" fmla="*/ 75331 h 658655"/>
                <a:gd name="connsiteX1" fmla="*/ 163297 w 841214"/>
                <a:gd name="connsiteY1" fmla="*/ 122628 h 658655"/>
                <a:gd name="connsiteX2" fmla="*/ 116001 w 841214"/>
                <a:gd name="connsiteY2" fmla="*/ 138393 h 658655"/>
                <a:gd name="connsiteX3" fmla="*/ 37173 w 841214"/>
                <a:gd name="connsiteY3" fmla="*/ 248752 h 658655"/>
                <a:gd name="connsiteX4" fmla="*/ 37173 w 841214"/>
                <a:gd name="connsiteY4" fmla="*/ 611359 h 658655"/>
                <a:gd name="connsiteX5" fmla="*/ 116001 w 841214"/>
                <a:gd name="connsiteY5" fmla="*/ 658655 h 658655"/>
                <a:gd name="connsiteX6" fmla="*/ 478607 w 841214"/>
                <a:gd name="connsiteY6" fmla="*/ 642890 h 658655"/>
                <a:gd name="connsiteX7" fmla="*/ 541670 w 841214"/>
                <a:gd name="connsiteY7" fmla="*/ 627124 h 658655"/>
                <a:gd name="connsiteX8" fmla="*/ 604732 w 841214"/>
                <a:gd name="connsiteY8" fmla="*/ 579828 h 658655"/>
                <a:gd name="connsiteX9" fmla="*/ 652028 w 841214"/>
                <a:gd name="connsiteY9" fmla="*/ 548297 h 658655"/>
                <a:gd name="connsiteX10" fmla="*/ 746621 w 841214"/>
                <a:gd name="connsiteY10" fmla="*/ 501000 h 658655"/>
                <a:gd name="connsiteX11" fmla="*/ 778152 w 841214"/>
                <a:gd name="connsiteY11" fmla="*/ 453704 h 658655"/>
                <a:gd name="connsiteX12" fmla="*/ 825449 w 841214"/>
                <a:gd name="connsiteY12" fmla="*/ 406407 h 658655"/>
                <a:gd name="connsiteX13" fmla="*/ 841214 w 841214"/>
                <a:gd name="connsiteY13" fmla="*/ 327579 h 658655"/>
                <a:gd name="connsiteX14" fmla="*/ 825449 w 841214"/>
                <a:gd name="connsiteY14" fmla="*/ 138393 h 658655"/>
                <a:gd name="connsiteX15" fmla="*/ 793918 w 841214"/>
                <a:gd name="connsiteY15" fmla="*/ 91097 h 658655"/>
                <a:gd name="connsiteX16" fmla="*/ 746621 w 841214"/>
                <a:gd name="connsiteY16" fmla="*/ 43800 h 658655"/>
                <a:gd name="connsiteX17" fmla="*/ 604732 w 841214"/>
                <a:gd name="connsiteY17" fmla="*/ 12269 h 658655"/>
                <a:gd name="connsiteX18" fmla="*/ 289421 w 841214"/>
                <a:gd name="connsiteY18" fmla="*/ 43800 h 65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41214" h="658655">
                  <a:moveTo>
                    <a:pt x="242125" y="75331"/>
                  </a:moveTo>
                  <a:cubicBezTo>
                    <a:pt x="215849" y="91097"/>
                    <a:pt x="190705" y="108924"/>
                    <a:pt x="163297" y="122628"/>
                  </a:cubicBezTo>
                  <a:cubicBezTo>
                    <a:pt x="148433" y="130060"/>
                    <a:pt x="126640" y="125627"/>
                    <a:pt x="116001" y="138393"/>
                  </a:cubicBezTo>
                  <a:cubicBezTo>
                    <a:pt x="-16575" y="297485"/>
                    <a:pt x="170959" y="159563"/>
                    <a:pt x="37173" y="248752"/>
                  </a:cubicBezTo>
                  <a:cubicBezTo>
                    <a:pt x="-5672" y="377282"/>
                    <a:pt x="-18686" y="397235"/>
                    <a:pt x="37173" y="611359"/>
                  </a:cubicBezTo>
                  <a:cubicBezTo>
                    <a:pt x="44908" y="641009"/>
                    <a:pt x="89725" y="642890"/>
                    <a:pt x="116001" y="658655"/>
                  </a:cubicBezTo>
                  <a:cubicBezTo>
                    <a:pt x="236870" y="653400"/>
                    <a:pt x="357955" y="651827"/>
                    <a:pt x="478607" y="642890"/>
                  </a:cubicBezTo>
                  <a:cubicBezTo>
                    <a:pt x="500216" y="641289"/>
                    <a:pt x="522290" y="636814"/>
                    <a:pt x="541670" y="627124"/>
                  </a:cubicBezTo>
                  <a:cubicBezTo>
                    <a:pt x="565172" y="615373"/>
                    <a:pt x="583351" y="595100"/>
                    <a:pt x="604732" y="579828"/>
                  </a:cubicBezTo>
                  <a:cubicBezTo>
                    <a:pt x="620150" y="568815"/>
                    <a:pt x="635081" y="556771"/>
                    <a:pt x="652028" y="548297"/>
                  </a:cubicBezTo>
                  <a:cubicBezTo>
                    <a:pt x="782571" y="483025"/>
                    <a:pt x="611079" y="591362"/>
                    <a:pt x="746621" y="501000"/>
                  </a:cubicBezTo>
                  <a:cubicBezTo>
                    <a:pt x="757131" y="485235"/>
                    <a:pt x="766022" y="468260"/>
                    <a:pt x="778152" y="453704"/>
                  </a:cubicBezTo>
                  <a:cubicBezTo>
                    <a:pt x="792426" y="436576"/>
                    <a:pt x="815478" y="426349"/>
                    <a:pt x="825449" y="406407"/>
                  </a:cubicBezTo>
                  <a:cubicBezTo>
                    <a:pt x="837433" y="382440"/>
                    <a:pt x="835959" y="353855"/>
                    <a:pt x="841214" y="327579"/>
                  </a:cubicBezTo>
                  <a:cubicBezTo>
                    <a:pt x="835959" y="264517"/>
                    <a:pt x="837859" y="200445"/>
                    <a:pt x="825449" y="138393"/>
                  </a:cubicBezTo>
                  <a:cubicBezTo>
                    <a:pt x="821733" y="119813"/>
                    <a:pt x="806048" y="105653"/>
                    <a:pt x="793918" y="91097"/>
                  </a:cubicBezTo>
                  <a:cubicBezTo>
                    <a:pt x="779644" y="73969"/>
                    <a:pt x="765172" y="56168"/>
                    <a:pt x="746621" y="43800"/>
                  </a:cubicBezTo>
                  <a:cubicBezTo>
                    <a:pt x="720749" y="26552"/>
                    <a:pt x="616174" y="14176"/>
                    <a:pt x="604732" y="12269"/>
                  </a:cubicBezTo>
                  <a:cubicBezTo>
                    <a:pt x="297765" y="28426"/>
                    <a:pt x="375890" y="-42664"/>
                    <a:pt x="289421" y="43800"/>
                  </a:cubicBezTo>
                </a:path>
              </a:pathLst>
            </a:custGeom>
            <a:noFill/>
            <a:ln w="57150" cap="flat" cmpd="sng" algn="ctr">
              <a:solidFill>
                <a:schemeClr val="accent6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3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0" y="190500"/>
            <a:ext cx="9144000" cy="50165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  Sec.7.2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边沿触发器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charset="0"/>
              <a:ea typeface="+mj-ea"/>
              <a:cs typeface="+mj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87500" y="901700"/>
            <a:ext cx="6264275" cy="461963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</p:spPr>
        <p:txBody>
          <a:bodyPr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边沿触发器：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在时钟的边沿上改变状态</a:t>
            </a:r>
          </a:p>
        </p:txBody>
      </p:sp>
      <p:sp>
        <p:nvSpPr>
          <p:cNvPr id="250887" name="矩形 5"/>
          <p:cNvSpPr/>
          <p:nvPr/>
        </p:nvSpPr>
        <p:spPr>
          <a:xfrm>
            <a:off x="76200" y="4298950"/>
            <a:ext cx="8991600" cy="4603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1" dirty="0">
              <a:latin typeface="Times New Roman" panose="02020603050405020304" charset="0"/>
              <a:ea typeface="楷体_GB2312"/>
            </a:endParaRPr>
          </a:p>
        </p:txBody>
      </p:sp>
      <p:sp>
        <p:nvSpPr>
          <p:cNvPr id="250888" name="矩形 6"/>
          <p:cNvSpPr/>
          <p:nvPr/>
        </p:nvSpPr>
        <p:spPr>
          <a:xfrm>
            <a:off x="31750" y="1954213"/>
            <a:ext cx="8991600" cy="46037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1" dirty="0">
              <a:latin typeface="Times New Roman" panose="02020603050405020304" charset="0"/>
              <a:ea typeface="楷体_GB2312"/>
            </a:endParaRPr>
          </a:p>
        </p:txBody>
      </p:sp>
      <p:cxnSp>
        <p:nvCxnSpPr>
          <p:cNvPr id="250889" name="直接箭头连接符 9"/>
          <p:cNvCxnSpPr/>
          <p:nvPr/>
        </p:nvCxnSpPr>
        <p:spPr>
          <a:xfrm flipV="1">
            <a:off x="539750" y="3132138"/>
            <a:ext cx="811213" cy="525462"/>
          </a:xfrm>
          <a:prstGeom prst="straightConnector1">
            <a:avLst/>
          </a:prstGeom>
          <a:ln w="571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0890" name="直接箭头连接符 12"/>
          <p:cNvCxnSpPr>
            <a:endCxn id="11" idx="2"/>
          </p:cNvCxnSpPr>
          <p:nvPr/>
        </p:nvCxnSpPr>
        <p:spPr>
          <a:xfrm>
            <a:off x="520700" y="3657600"/>
            <a:ext cx="825500" cy="1474788"/>
          </a:xfrm>
          <a:prstGeom prst="straightConnector1">
            <a:avLst/>
          </a:prstGeom>
          <a:ln w="571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ransition spd="slow">
    <p:pull dir="r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1907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0" y="190500"/>
            <a:ext cx="9144000" cy="50165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  Sec.7.2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边沿触发器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charset="0"/>
              <a:ea typeface="+mj-ea"/>
              <a:cs typeface="+mj-cs"/>
            </a:endParaRPr>
          </a:p>
        </p:txBody>
      </p:sp>
      <p:sp>
        <p:nvSpPr>
          <p:cNvPr id="251909" name="Rectangle 7"/>
          <p:cNvSpPr txBox="1">
            <a:spLocks noRot="1"/>
          </p:cNvSpPr>
          <p:nvPr/>
        </p:nvSpPr>
        <p:spPr>
          <a:xfrm>
            <a:off x="395288" y="950913"/>
            <a:ext cx="3871912" cy="431800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7.2.1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、边沿触发的</a:t>
            </a: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1910" name="Picture 8" descr="fg07_02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54163"/>
            <a:ext cx="2844800" cy="15827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1911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3321050"/>
            <a:ext cx="8370888" cy="3159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1912" name="图片 11"/>
          <p:cNvPicPr>
            <a:picLocks noChangeAspect="1"/>
          </p:cNvPicPr>
          <p:nvPr/>
        </p:nvPicPr>
        <p:blipFill>
          <a:blip r:embed="rId4"/>
          <a:srcRect l="1726" t="29742"/>
          <a:stretch>
            <a:fillRect/>
          </a:stretch>
        </p:blipFill>
        <p:spPr>
          <a:xfrm>
            <a:off x="4076700" y="1566863"/>
            <a:ext cx="4552950" cy="15541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latin typeface="Arial" panose="020B0604020202020204" pitchFamily="34" charset="0"/>
              </a:rPr>
              <a:t>15</a:t>
            </a:fld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252931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86000"/>
            <a:ext cx="8153400" cy="3429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2932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47663"/>
            <a:ext cx="2362200" cy="2068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933" name="Rectangle 7"/>
          <p:cNvSpPr txBox="1">
            <a:spLocks noRot="1"/>
          </p:cNvSpPr>
          <p:nvPr/>
        </p:nvSpPr>
        <p:spPr>
          <a:xfrm>
            <a:off x="395288" y="950913"/>
            <a:ext cx="3871912" cy="431800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7.2.1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、边沿触发的</a:t>
            </a: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 advTm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4979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4980" name="Rectangle 7"/>
          <p:cNvSpPr txBox="1">
            <a:spLocks noRot="1"/>
          </p:cNvSpPr>
          <p:nvPr/>
        </p:nvSpPr>
        <p:spPr>
          <a:xfrm>
            <a:off x="228600" y="944563"/>
            <a:ext cx="4451350" cy="431800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7.2.2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、边沿触发的</a:t>
            </a:r>
            <a:r>
              <a:rPr lang="en-US" altLang="zh-CN" sz="2400" b="1" i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J-K 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4981" name="Picture 8" descr="fg07_02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75" y="1539875"/>
            <a:ext cx="6192838" cy="2314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7"/>
          <p:cNvSpPr txBox="1">
            <a:spLocks noRot="1" noChangeArrowheads="1"/>
          </p:cNvSpPr>
          <p:nvPr/>
        </p:nvSpPr>
        <p:spPr bwMode="auto">
          <a:xfrm>
            <a:off x="6172200" y="4310063"/>
            <a:ext cx="2743200" cy="1550988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  <a:effectLst/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边沿触发的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J-K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触发器与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R-S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触发器的区别：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没有无效状态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Rectangle 7"/>
          <p:cNvSpPr txBox="1">
            <a:spLocks noRot="1" noChangeArrowheads="1"/>
          </p:cNvSpPr>
          <p:nvPr/>
        </p:nvSpPr>
        <p:spPr bwMode="auto">
          <a:xfrm>
            <a:off x="3429000" y="2220913"/>
            <a:ext cx="1009650" cy="914400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  <a:effectLst/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脉冲转换检测器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Rectangle 7"/>
          <p:cNvSpPr txBox="1">
            <a:spLocks noRot="1" noChangeArrowheads="1"/>
          </p:cNvSpPr>
          <p:nvPr/>
        </p:nvSpPr>
        <p:spPr bwMode="auto">
          <a:xfrm>
            <a:off x="447675" y="2000250"/>
            <a:ext cx="1333500" cy="800100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  <a:effectLst/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更为通用的触发器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54985" name="组合 10"/>
          <p:cNvGrpSpPr/>
          <p:nvPr/>
        </p:nvGrpSpPr>
        <p:grpSpPr>
          <a:xfrm>
            <a:off x="19050" y="4108450"/>
            <a:ext cx="6153150" cy="2457450"/>
            <a:chOff x="139700" y="1725613"/>
            <a:chExt cx="8409540" cy="3371850"/>
          </a:xfrm>
        </p:grpSpPr>
        <p:pic>
          <p:nvPicPr>
            <p:cNvPr id="254988" name="图片 1"/>
            <p:cNvPicPr>
              <a:picLocks noChangeAspect="1"/>
            </p:cNvPicPr>
            <p:nvPr/>
          </p:nvPicPr>
          <p:blipFill>
            <a:blip r:embed="rId3"/>
            <a:srcRect l="18961" t="31250" r="20132" b="21877"/>
            <a:stretch>
              <a:fillRect/>
            </a:stretch>
          </p:blipFill>
          <p:spPr>
            <a:xfrm>
              <a:off x="139700" y="1725613"/>
              <a:ext cx="7924800" cy="337185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" name="矩形 2"/>
            <p:cNvSpPr>
              <a:spLocks noChangeArrowheads="1"/>
            </p:cNvSpPr>
            <p:nvPr/>
          </p:nvSpPr>
          <p:spPr bwMode="auto">
            <a:xfrm>
              <a:off x="7481775" y="3065205"/>
              <a:ext cx="1067465" cy="1309096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115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宋体" panose="02010600030101010101" pitchFamily="2" charset="-122"/>
                  <a:ea typeface="MS PGothic" panose="020B0600070205080204" pitchFamily="34" charset="-128"/>
                  <a:cs typeface="+mn-cs"/>
                </a:rPr>
                <a:t>保持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MS PGothic" panose="020B0600070205080204" pitchFamily="34" charset="-128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宋体" panose="02010600030101010101" pitchFamily="2" charset="-122"/>
                  <a:ea typeface="MS PGothic" panose="020B0600070205080204" pitchFamily="34" charset="-128"/>
                  <a:cs typeface="+mn-cs"/>
                </a:rPr>
                <a:t>复位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MS PGothic" panose="020B0600070205080204" pitchFamily="34" charset="-128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宋体" panose="02010600030101010101" pitchFamily="2" charset="-122"/>
                  <a:ea typeface="MS PGothic" panose="020B0600070205080204" pitchFamily="34" charset="-128"/>
                  <a:cs typeface="+mn-cs"/>
                </a:rPr>
                <a:t>置位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MS PGothic" panose="020B0600070205080204" pitchFamily="34" charset="-128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宋体" panose="02010600030101010101" pitchFamily="2" charset="-122"/>
                  <a:ea typeface="MS PGothic" panose="020B0600070205080204" pitchFamily="34" charset="-128"/>
                  <a:cs typeface="+mn-cs"/>
                </a:rPr>
                <a:t>切换</a:t>
              </a:r>
            </a:p>
          </p:txBody>
        </p:sp>
      </p:grpSp>
      <p:graphicFrame>
        <p:nvGraphicFramePr>
          <p:cNvPr id="254986" name="Object 10"/>
          <p:cNvGraphicFramePr>
            <a:graphicFrameLocks noChangeAspect="1"/>
          </p:cNvGraphicFramePr>
          <p:nvPr/>
        </p:nvGraphicFramePr>
        <p:xfrm>
          <a:off x="261938" y="3149600"/>
          <a:ext cx="20637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16965" imgH="254000" progId="Equation.3">
                  <p:embed/>
                </p:oleObj>
              </mc:Choice>
              <mc:Fallback>
                <p:oleObj r:id="rId4" imgW="1116965" imgH="2540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1938" y="3149600"/>
                        <a:ext cx="2063750" cy="51276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0" y="190500"/>
            <a:ext cx="9144000" cy="50165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  Sec.7.2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边沿触发器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charset="0"/>
              <a:ea typeface="+mj-ea"/>
              <a:cs typeface="+mj-cs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矩形 149521"/>
          <p:cNvSpPr>
            <a:spLocks noChangeAspect="1" noTextEdit="1"/>
          </p:cNvSpPr>
          <p:nvPr/>
        </p:nvSpPr>
        <p:spPr>
          <a:xfrm>
            <a:off x="1143000" y="4114800"/>
            <a:ext cx="6413500" cy="20161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16" name="矩形 149515"/>
          <p:cNvSpPr/>
          <p:nvPr/>
        </p:nvSpPr>
        <p:spPr>
          <a:xfrm>
            <a:off x="1536700" y="5651500"/>
            <a:ext cx="6477000" cy="4572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56004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latin typeface="Arial" panose="020B0604020202020204" pitchFamily="34" charset="0"/>
              </a:rPr>
              <a:t>17</a:t>
            </a:fld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56005" name="Rectangle 7"/>
          <p:cNvSpPr txBox="1">
            <a:spLocks noRot="1"/>
          </p:cNvSpPr>
          <p:nvPr/>
        </p:nvSpPr>
        <p:spPr>
          <a:xfrm>
            <a:off x="533400" y="182563"/>
            <a:ext cx="4451350" cy="431800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7.2.2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、边沿触发的</a:t>
            </a:r>
            <a:r>
              <a:rPr lang="en-US" altLang="zh-CN" sz="2400" b="1" i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J-K 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600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749300"/>
            <a:ext cx="8843963" cy="5803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49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矩形 149511"/>
          <p:cNvSpPr/>
          <p:nvPr/>
        </p:nvSpPr>
        <p:spPr>
          <a:xfrm>
            <a:off x="1143000" y="1069975"/>
            <a:ext cx="4800600" cy="1295400"/>
          </a:xfrm>
          <a:prstGeom prst="rect">
            <a:avLst/>
          </a:prstGeom>
          <a:noFill/>
          <a:ln w="9525">
            <a:noFill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58051" name="文本框 149513"/>
          <p:cNvSpPr txBox="1"/>
          <p:nvPr/>
        </p:nvSpPr>
        <p:spPr>
          <a:xfrm>
            <a:off x="1222375" y="1595438"/>
            <a:ext cx="457200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Determine the </a:t>
            </a:r>
            <a:r>
              <a:rPr lang="en-US" altLang="zh-CN" sz="2400" i="1" dirty="0">
                <a:latin typeface="Times New Roman" panose="02020603050405020304" charset="0"/>
              </a:rPr>
              <a:t>Q</a:t>
            </a:r>
            <a:r>
              <a:rPr lang="en-US" altLang="zh-CN" sz="2400" dirty="0">
                <a:latin typeface="Times New Roman" panose="02020603050405020304" charset="0"/>
              </a:rPr>
              <a:t> output for the </a:t>
            </a:r>
            <a:r>
              <a:rPr lang="en-US" altLang="zh-CN" sz="2400" i="1" dirty="0">
                <a:latin typeface="Times New Roman" panose="02020603050405020304" charset="0"/>
              </a:rPr>
              <a:t>J-K</a:t>
            </a:r>
            <a:r>
              <a:rPr lang="en-US" altLang="zh-CN" sz="2400" dirty="0">
                <a:latin typeface="Times New Roman" panose="02020603050405020304" charset="0"/>
              </a:rPr>
              <a:t> flip-flop, given the inputs shown. </a:t>
            </a:r>
          </a:p>
        </p:txBody>
      </p:sp>
      <p:sp>
        <p:nvSpPr>
          <p:cNvPr id="258052" name="矩形 149520"/>
          <p:cNvSpPr>
            <a:spLocks noTextEdit="1"/>
          </p:cNvSpPr>
          <p:nvPr/>
        </p:nvSpPr>
        <p:spPr>
          <a:xfrm>
            <a:off x="927100" y="1062038"/>
            <a:ext cx="1219200" cy="449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92500" lnSpcReduction="10000"/>
          </a:bodyPr>
          <a:lstStyle/>
          <a:p>
            <a:pPr algn="ctr"/>
            <a:r>
              <a:rPr lang="zh-CN" altLang="en-US" sz="2800">
                <a:ln w="6600" cap="flat" cmpd="sng">
                  <a:solidFill>
                    <a:schemeClr val="accent2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dist="38100" dir="2699999" algn="tl" rotWithShape="0">
                    <a:schemeClr val="accent2"/>
                  </a:outerShdw>
                </a:effectLst>
                <a:latin typeface="Impact" panose="020B0806030902050204" charset="0"/>
                <a:ea typeface="Impact" panose="020B0806030902050204" charset="0"/>
              </a:rPr>
              <a:t>Example</a:t>
            </a:r>
          </a:p>
        </p:txBody>
      </p:sp>
      <p:sp>
        <p:nvSpPr>
          <p:cNvPr id="258053" name="矩形 149521"/>
          <p:cNvSpPr>
            <a:spLocks noChangeAspect="1" noTextEdit="1"/>
          </p:cNvSpPr>
          <p:nvPr/>
        </p:nvSpPr>
        <p:spPr>
          <a:xfrm>
            <a:off x="1143000" y="4114800"/>
            <a:ext cx="6413500" cy="20161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8054" name="矩形 149523"/>
          <p:cNvSpPr/>
          <p:nvPr/>
        </p:nvSpPr>
        <p:spPr>
          <a:xfrm>
            <a:off x="990600" y="4217988"/>
            <a:ext cx="336550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258055" name="矩形 149524"/>
          <p:cNvSpPr/>
          <p:nvPr/>
        </p:nvSpPr>
        <p:spPr>
          <a:xfrm>
            <a:off x="1168400" y="5822950"/>
            <a:ext cx="128588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Q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258056" name="矩形 149525"/>
          <p:cNvSpPr/>
          <p:nvPr/>
        </p:nvSpPr>
        <p:spPr>
          <a:xfrm>
            <a:off x="1168400" y="5335588"/>
            <a:ext cx="119063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K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258057" name="矩形 149526"/>
          <p:cNvSpPr/>
          <p:nvPr/>
        </p:nvSpPr>
        <p:spPr>
          <a:xfrm>
            <a:off x="1174750" y="4826000"/>
            <a:ext cx="79375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J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graphicFrame>
        <p:nvGraphicFramePr>
          <p:cNvPr id="258058" name="对象 149535"/>
          <p:cNvGraphicFramePr/>
          <p:nvPr/>
        </p:nvGraphicFramePr>
        <p:xfrm>
          <a:off x="6324600" y="841375"/>
          <a:ext cx="1827213" cy="164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31240" imgH="935355" progId="CorelDRAW.Graphic.13">
                  <p:embed/>
                </p:oleObj>
              </mc:Choice>
              <mc:Fallback>
                <p:oleObj r:id="rId3" imgW="1031240" imgH="935355" progId="CorelDRAW.Graphic.1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24600" y="841375"/>
                        <a:ext cx="1827213" cy="164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9" name="矩形 149536"/>
          <p:cNvSpPr/>
          <p:nvPr/>
        </p:nvSpPr>
        <p:spPr>
          <a:xfrm>
            <a:off x="7054850" y="1527175"/>
            <a:ext cx="336550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258060" name="矩形 149538"/>
          <p:cNvSpPr/>
          <p:nvPr/>
        </p:nvSpPr>
        <p:spPr>
          <a:xfrm>
            <a:off x="6937375" y="2076450"/>
            <a:ext cx="119063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K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258061" name="矩形 149539"/>
          <p:cNvSpPr/>
          <p:nvPr/>
        </p:nvSpPr>
        <p:spPr>
          <a:xfrm>
            <a:off x="6943725" y="1036638"/>
            <a:ext cx="79375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J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grpSp>
        <p:nvGrpSpPr>
          <p:cNvPr id="258062" name="组合 149541"/>
          <p:cNvGrpSpPr/>
          <p:nvPr/>
        </p:nvGrpSpPr>
        <p:grpSpPr>
          <a:xfrm>
            <a:off x="8078788" y="1984375"/>
            <a:ext cx="381000" cy="336550"/>
            <a:chOff x="2454" y="3201"/>
            <a:chExt cx="240" cy="212"/>
          </a:xfrm>
        </p:grpSpPr>
        <p:sp>
          <p:nvSpPr>
            <p:cNvPr id="258074" name="文本框 149542"/>
            <p:cNvSpPr txBox="1"/>
            <p:nvPr/>
          </p:nvSpPr>
          <p:spPr>
            <a:xfrm>
              <a:off x="2454" y="3201"/>
              <a:ext cx="24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solidFill>
                    <a:srgbClr val="FF0000"/>
                  </a:solidFill>
                  <a:latin typeface="Times New Roman" panose="02020603050405020304" charset="0"/>
                </a:rPr>
                <a:t>Q</a:t>
              </a:r>
            </a:p>
          </p:txBody>
        </p:sp>
        <p:sp>
          <p:nvSpPr>
            <p:cNvPr id="258075" name="直接连接符 149543"/>
            <p:cNvSpPr/>
            <p:nvPr/>
          </p:nvSpPr>
          <p:spPr>
            <a:xfrm>
              <a:off x="2524" y="3237"/>
              <a:ext cx="96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58063" name="文本框 149544"/>
          <p:cNvSpPr txBox="1"/>
          <p:nvPr/>
        </p:nvSpPr>
        <p:spPr>
          <a:xfrm>
            <a:off x="8077200" y="882650"/>
            <a:ext cx="533400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i="1" dirty="0">
                <a:solidFill>
                  <a:srgbClr val="FF0000"/>
                </a:solidFill>
                <a:latin typeface="Times New Roman" panose="02020603050405020304" charset="0"/>
              </a:rPr>
              <a:t>Q</a:t>
            </a:r>
          </a:p>
        </p:txBody>
      </p:sp>
      <p:sp>
        <p:nvSpPr>
          <p:cNvPr id="149518" name="文本框 149517"/>
          <p:cNvSpPr txBox="1">
            <a:spLocks noChangeArrowheads="1"/>
          </p:cNvSpPr>
          <p:nvPr/>
        </p:nvSpPr>
        <p:spPr bwMode="auto">
          <a:xfrm>
            <a:off x="1779588" y="2771775"/>
            <a:ext cx="6662738" cy="4000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Notice that the outputs change on the leading edge of the clock. </a:t>
            </a:r>
          </a:p>
        </p:txBody>
      </p:sp>
      <p:sp>
        <p:nvSpPr>
          <p:cNvPr id="149546" name="直接连接符 149545"/>
          <p:cNvSpPr/>
          <p:nvPr/>
        </p:nvSpPr>
        <p:spPr>
          <a:xfrm flipV="1">
            <a:off x="6102350" y="1755775"/>
            <a:ext cx="679450" cy="1016000"/>
          </a:xfrm>
          <a:prstGeom prst="line">
            <a:avLst/>
          </a:prstGeom>
          <a:ln w="38100" cap="flat" cmpd="sng">
            <a:solidFill>
              <a:srgbClr val="263B94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8066" name="矩形 149547"/>
          <p:cNvSpPr>
            <a:spLocks noTextEdit="1"/>
          </p:cNvSpPr>
          <p:nvPr/>
        </p:nvSpPr>
        <p:spPr>
          <a:xfrm>
            <a:off x="914400" y="3276600"/>
            <a:ext cx="1219200" cy="449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92500" lnSpcReduction="10000"/>
          </a:bodyPr>
          <a:lstStyle/>
          <a:p>
            <a:pPr algn="ctr"/>
            <a:r>
              <a:rPr lang="zh-CN" altLang="en-US" sz="2800">
                <a:ln w="6600" cap="flat" cmpd="sng">
                  <a:solidFill>
                    <a:schemeClr val="accent2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dist="38100" dir="2699999" algn="tl" rotWithShape="0">
                    <a:schemeClr val="accent2"/>
                  </a:outerShdw>
                </a:effectLst>
                <a:latin typeface="Impact" panose="020B0806030902050204" charset="0"/>
                <a:ea typeface="Impact" panose="020B0806030902050204" charset="0"/>
              </a:rPr>
              <a:t>Solution</a:t>
            </a:r>
          </a:p>
        </p:txBody>
      </p:sp>
      <p:sp>
        <p:nvSpPr>
          <p:cNvPr id="149549" name="文本框 149548"/>
          <p:cNvSpPr txBox="1"/>
          <p:nvPr/>
        </p:nvSpPr>
        <p:spPr>
          <a:xfrm>
            <a:off x="1295400" y="3733800"/>
            <a:ext cx="533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Set</a:t>
            </a:r>
          </a:p>
        </p:txBody>
      </p:sp>
      <p:sp>
        <p:nvSpPr>
          <p:cNvPr id="149550" name="文本框 149549"/>
          <p:cNvSpPr txBox="1"/>
          <p:nvPr/>
        </p:nvSpPr>
        <p:spPr>
          <a:xfrm>
            <a:off x="3048000" y="3733800"/>
            <a:ext cx="838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Toggle</a:t>
            </a:r>
          </a:p>
        </p:txBody>
      </p:sp>
      <p:sp>
        <p:nvSpPr>
          <p:cNvPr id="149551" name="文本框 149550"/>
          <p:cNvSpPr txBox="1"/>
          <p:nvPr/>
        </p:nvSpPr>
        <p:spPr>
          <a:xfrm>
            <a:off x="4648200" y="3733800"/>
            <a:ext cx="533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Set</a:t>
            </a:r>
          </a:p>
        </p:txBody>
      </p:sp>
      <p:sp>
        <p:nvSpPr>
          <p:cNvPr id="149552" name="文本框 149551"/>
          <p:cNvSpPr txBox="1"/>
          <p:nvPr/>
        </p:nvSpPr>
        <p:spPr>
          <a:xfrm>
            <a:off x="6172200" y="3733800"/>
            <a:ext cx="914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Latch</a:t>
            </a:r>
          </a:p>
        </p:txBody>
      </p:sp>
      <p:graphicFrame>
        <p:nvGraphicFramePr>
          <p:cNvPr id="258071" name="对象 149552"/>
          <p:cNvGraphicFramePr/>
          <p:nvPr/>
        </p:nvGraphicFramePr>
        <p:xfrm>
          <a:off x="1371600" y="4114800"/>
          <a:ext cx="617220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017895" imgH="1977390" progId="CorelDRAW.Graphic.13">
                  <p:embed/>
                </p:oleObj>
              </mc:Choice>
              <mc:Fallback>
                <p:oleObj r:id="rId5" imgW="6017895" imgH="1977390" progId="CorelDRAW.Graphic.1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1600" y="4114800"/>
                        <a:ext cx="6172200" cy="201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6" name="矩形 149515"/>
          <p:cNvSpPr/>
          <p:nvPr/>
        </p:nvSpPr>
        <p:spPr>
          <a:xfrm>
            <a:off x="1536700" y="5651500"/>
            <a:ext cx="6477000" cy="4572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58073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latin typeface="Arial" panose="020B0604020202020204" pitchFamily="34" charset="0"/>
              </a:rPr>
              <a:t>18</a:t>
            </a:fld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95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9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9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9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9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9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9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2000"/>
                                        <p:tgtEl>
                                          <p:spTgt spid="149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8" grpId="0" animBg="1"/>
      <p:bldP spid="149549" grpId="0"/>
      <p:bldP spid="149550" grpId="0"/>
      <p:bldP spid="149551" grpId="0"/>
      <p:bldP spid="14955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098" name="图片 3"/>
          <p:cNvPicPr>
            <a:picLocks noChangeAspect="1"/>
          </p:cNvPicPr>
          <p:nvPr/>
        </p:nvPicPr>
        <p:blipFill>
          <a:blip r:embed="rId3"/>
          <a:srcRect r="1929" b="42194"/>
          <a:stretch>
            <a:fillRect/>
          </a:stretch>
        </p:blipFill>
        <p:spPr>
          <a:xfrm>
            <a:off x="2667000" y="533400"/>
            <a:ext cx="6165850" cy="2895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0099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latin typeface="Arial" panose="020B0604020202020204" pitchFamily="34" charset="0"/>
              </a:rPr>
              <a:t>19</a:t>
            </a:fld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60100" name="Rectangle 7"/>
          <p:cNvSpPr txBox="1">
            <a:spLocks noRot="1"/>
          </p:cNvSpPr>
          <p:nvPr/>
        </p:nvSpPr>
        <p:spPr>
          <a:xfrm>
            <a:off x="533400" y="182563"/>
            <a:ext cx="4451350" cy="431800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7.2.3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、边沿触发操作</a:t>
            </a: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0101" name="图片 4"/>
          <p:cNvPicPr>
            <a:picLocks noChangeAspect="1"/>
          </p:cNvPicPr>
          <p:nvPr/>
        </p:nvPicPr>
        <p:blipFill>
          <a:blip r:embed="rId4"/>
          <a:srcRect l="1173" t="72076" r="6358" b="2382"/>
          <a:stretch>
            <a:fillRect/>
          </a:stretch>
        </p:blipFill>
        <p:spPr>
          <a:xfrm>
            <a:off x="1055688" y="3657600"/>
            <a:ext cx="7543800" cy="14478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</p:pic>
      <p:sp>
        <p:nvSpPr>
          <p:cNvPr id="260102" name="Rectangle 7"/>
          <p:cNvSpPr txBox="1">
            <a:spLocks noRot="1"/>
          </p:cNvSpPr>
          <p:nvPr/>
        </p:nvSpPr>
        <p:spPr>
          <a:xfrm>
            <a:off x="5715000" y="3151188"/>
            <a:ext cx="106680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门控器</a:t>
            </a:r>
            <a:endParaRPr lang="en-US" altLang="zh-CN" sz="16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0103" name="Rectangle 7"/>
          <p:cNvSpPr txBox="1">
            <a:spLocks noRot="1"/>
          </p:cNvSpPr>
          <p:nvPr/>
        </p:nvSpPr>
        <p:spPr>
          <a:xfrm>
            <a:off x="7273925" y="3151188"/>
            <a:ext cx="990600" cy="35401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锁存器</a:t>
            </a:r>
            <a:endParaRPr lang="en-US" altLang="zh-CN" sz="16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0104" name="Rectangle 7"/>
          <p:cNvSpPr txBox="1">
            <a:spLocks noRot="1"/>
          </p:cNvSpPr>
          <p:nvPr/>
        </p:nvSpPr>
        <p:spPr>
          <a:xfrm>
            <a:off x="311150" y="1163638"/>
            <a:ext cx="2770188" cy="30956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上升沿触发的</a:t>
            </a:r>
            <a:r>
              <a:rPr lang="en-US" altLang="zh-CN" sz="20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0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en-US" altLang="zh-CN" sz="20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0105" name="矩形 8"/>
          <p:cNvSpPr/>
          <p:nvPr/>
        </p:nvSpPr>
        <p:spPr>
          <a:xfrm>
            <a:off x="4827588" y="3733800"/>
            <a:ext cx="3859212" cy="45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0106" name="Rectangle 7"/>
          <p:cNvSpPr txBox="1">
            <a:spLocks noRot="1"/>
          </p:cNvSpPr>
          <p:nvPr/>
        </p:nvSpPr>
        <p:spPr>
          <a:xfrm>
            <a:off x="5638800" y="3962400"/>
            <a:ext cx="106680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窄脉冲</a:t>
            </a:r>
            <a:endParaRPr lang="en-US" altLang="zh-CN" sz="16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0107" name="任意多边形: 形状 10"/>
          <p:cNvSpPr/>
          <p:nvPr/>
        </p:nvSpPr>
        <p:spPr>
          <a:xfrm>
            <a:off x="2278063" y="2049463"/>
            <a:ext cx="1747837" cy="1898650"/>
          </a:xfrm>
          <a:custGeom>
            <a:avLst/>
            <a:gdLst/>
            <a:ahLst/>
            <a:cxnLst>
              <a:cxn ang="0">
                <a:pos x="1747684" y="0"/>
              </a:cxn>
              <a:cxn ang="0">
                <a:pos x="1710813" y="7374"/>
              </a:cxn>
              <a:cxn ang="0">
                <a:pos x="1644445" y="36871"/>
              </a:cxn>
              <a:cxn ang="0">
                <a:pos x="1585451" y="44245"/>
              </a:cxn>
              <a:cxn ang="0">
                <a:pos x="1526458" y="58993"/>
              </a:cxn>
              <a:cxn ang="0">
                <a:pos x="442451" y="81116"/>
              </a:cxn>
              <a:cxn ang="0">
                <a:pos x="302342" y="110613"/>
              </a:cxn>
              <a:cxn ang="0">
                <a:pos x="125361" y="206477"/>
              </a:cxn>
              <a:cxn ang="0">
                <a:pos x="29497" y="294968"/>
              </a:cxn>
              <a:cxn ang="0">
                <a:pos x="14748" y="383458"/>
              </a:cxn>
              <a:cxn ang="0">
                <a:pos x="7374" y="420329"/>
              </a:cxn>
              <a:cxn ang="0">
                <a:pos x="0" y="501445"/>
              </a:cxn>
              <a:cxn ang="0">
                <a:pos x="7374" y="833284"/>
              </a:cxn>
              <a:cxn ang="0">
                <a:pos x="29497" y="914400"/>
              </a:cxn>
              <a:cxn ang="0">
                <a:pos x="51619" y="958645"/>
              </a:cxn>
              <a:cxn ang="0">
                <a:pos x="81116" y="1032387"/>
              </a:cxn>
              <a:cxn ang="0">
                <a:pos x="110613" y="1061884"/>
              </a:cxn>
              <a:cxn ang="0">
                <a:pos x="154858" y="1113503"/>
              </a:cxn>
              <a:cxn ang="0">
                <a:pos x="184355" y="1201993"/>
              </a:cxn>
              <a:cxn ang="0">
                <a:pos x="221226" y="1305232"/>
              </a:cxn>
              <a:cxn ang="0">
                <a:pos x="272845" y="1474839"/>
              </a:cxn>
              <a:cxn ang="0">
                <a:pos x="280219" y="1533832"/>
              </a:cxn>
              <a:cxn ang="0">
                <a:pos x="309716" y="1607574"/>
              </a:cxn>
              <a:cxn ang="0">
                <a:pos x="317090" y="1644445"/>
              </a:cxn>
              <a:cxn ang="0">
                <a:pos x="331839" y="1710813"/>
              </a:cxn>
              <a:cxn ang="0">
                <a:pos x="339213" y="1777180"/>
              </a:cxn>
              <a:cxn ang="0">
                <a:pos x="331839" y="1895168"/>
              </a:cxn>
              <a:cxn ang="0">
                <a:pos x="324464" y="1843548"/>
              </a:cxn>
              <a:cxn ang="0">
                <a:pos x="294968" y="1769806"/>
              </a:cxn>
              <a:cxn ang="0">
                <a:pos x="280219" y="1755058"/>
              </a:cxn>
              <a:cxn ang="0">
                <a:pos x="324464" y="1873045"/>
              </a:cxn>
              <a:cxn ang="0">
                <a:pos x="339213" y="1887793"/>
              </a:cxn>
              <a:cxn ang="0">
                <a:pos x="427703" y="1873045"/>
              </a:cxn>
              <a:cxn ang="0">
                <a:pos x="457200" y="1828800"/>
              </a:cxn>
              <a:cxn ang="0">
                <a:pos x="412955" y="1836174"/>
              </a:cxn>
              <a:cxn ang="0">
                <a:pos x="361335" y="1895168"/>
              </a:cxn>
              <a:cxn ang="0">
                <a:pos x="353961" y="1895168"/>
              </a:cxn>
            </a:cxnLst>
            <a:rect l="0" t="0" r="0" b="0"/>
            <a:pathLst>
              <a:path w="1747684" h="1898551">
                <a:moveTo>
                  <a:pt x="1747684" y="0"/>
                </a:moveTo>
                <a:cubicBezTo>
                  <a:pt x="1735394" y="2458"/>
                  <a:pt x="1722617" y="3158"/>
                  <a:pt x="1710813" y="7374"/>
                </a:cubicBezTo>
                <a:cubicBezTo>
                  <a:pt x="1688014" y="15516"/>
                  <a:pt x="1667671" y="30040"/>
                  <a:pt x="1644445" y="36871"/>
                </a:cubicBezTo>
                <a:cubicBezTo>
                  <a:pt x="1625433" y="42463"/>
                  <a:pt x="1605116" y="41787"/>
                  <a:pt x="1585451" y="44245"/>
                </a:cubicBezTo>
                <a:cubicBezTo>
                  <a:pt x="1565787" y="49161"/>
                  <a:pt x="1546334" y="55018"/>
                  <a:pt x="1526458" y="58993"/>
                </a:cubicBezTo>
                <a:cubicBezTo>
                  <a:pt x="1182593" y="127767"/>
                  <a:pt x="669336" y="79435"/>
                  <a:pt x="442451" y="81116"/>
                </a:cubicBezTo>
                <a:cubicBezTo>
                  <a:pt x="382647" y="88591"/>
                  <a:pt x="364394" y="88048"/>
                  <a:pt x="302342" y="110613"/>
                </a:cubicBezTo>
                <a:cubicBezTo>
                  <a:pt x="244008" y="131826"/>
                  <a:pt x="174590" y="171313"/>
                  <a:pt x="125361" y="206477"/>
                </a:cubicBezTo>
                <a:cubicBezTo>
                  <a:pt x="93834" y="228997"/>
                  <a:pt x="57874" y="266591"/>
                  <a:pt x="29497" y="294968"/>
                </a:cubicBezTo>
                <a:cubicBezTo>
                  <a:pt x="24581" y="324465"/>
                  <a:pt x="19945" y="354009"/>
                  <a:pt x="14748" y="383458"/>
                </a:cubicBezTo>
                <a:cubicBezTo>
                  <a:pt x="12570" y="395801"/>
                  <a:pt x="8929" y="407892"/>
                  <a:pt x="7374" y="420329"/>
                </a:cubicBezTo>
                <a:cubicBezTo>
                  <a:pt x="4007" y="447270"/>
                  <a:pt x="2458" y="474406"/>
                  <a:pt x="0" y="501445"/>
                </a:cubicBezTo>
                <a:cubicBezTo>
                  <a:pt x="2458" y="612058"/>
                  <a:pt x="2952" y="722732"/>
                  <a:pt x="7374" y="833284"/>
                </a:cubicBezTo>
                <a:cubicBezTo>
                  <a:pt x="8173" y="853251"/>
                  <a:pt x="22722" y="898139"/>
                  <a:pt x="29497" y="914400"/>
                </a:cubicBezTo>
                <a:cubicBezTo>
                  <a:pt x="35839" y="929621"/>
                  <a:pt x="44922" y="943577"/>
                  <a:pt x="51619" y="958645"/>
                </a:cubicBezTo>
                <a:cubicBezTo>
                  <a:pt x="67865" y="995199"/>
                  <a:pt x="48821" y="981638"/>
                  <a:pt x="81116" y="1032387"/>
                </a:cubicBezTo>
                <a:cubicBezTo>
                  <a:pt x="88581" y="1044118"/>
                  <a:pt x="101375" y="1051491"/>
                  <a:pt x="110613" y="1061884"/>
                </a:cubicBezTo>
                <a:cubicBezTo>
                  <a:pt x="178274" y="1138004"/>
                  <a:pt x="114039" y="1072687"/>
                  <a:pt x="154858" y="1113503"/>
                </a:cubicBezTo>
                <a:cubicBezTo>
                  <a:pt x="218209" y="1261325"/>
                  <a:pt x="149009" y="1090067"/>
                  <a:pt x="184355" y="1201993"/>
                </a:cubicBezTo>
                <a:cubicBezTo>
                  <a:pt x="195359" y="1236839"/>
                  <a:pt x="209953" y="1270473"/>
                  <a:pt x="221226" y="1305232"/>
                </a:cubicBezTo>
                <a:cubicBezTo>
                  <a:pt x="239457" y="1361446"/>
                  <a:pt x="255639" y="1418303"/>
                  <a:pt x="272845" y="1474839"/>
                </a:cubicBezTo>
                <a:cubicBezTo>
                  <a:pt x="275303" y="1494503"/>
                  <a:pt x="275113" y="1514684"/>
                  <a:pt x="280219" y="1533832"/>
                </a:cubicBezTo>
                <a:cubicBezTo>
                  <a:pt x="320050" y="1683196"/>
                  <a:pt x="290341" y="1530071"/>
                  <a:pt x="309716" y="1607574"/>
                </a:cubicBezTo>
                <a:cubicBezTo>
                  <a:pt x="312756" y="1619734"/>
                  <a:pt x="314371" y="1632210"/>
                  <a:pt x="317090" y="1644445"/>
                </a:cubicBezTo>
                <a:cubicBezTo>
                  <a:pt x="323528" y="1673419"/>
                  <a:pt x="327392" y="1679688"/>
                  <a:pt x="331839" y="1710813"/>
                </a:cubicBezTo>
                <a:cubicBezTo>
                  <a:pt x="334987" y="1732848"/>
                  <a:pt x="336755" y="1755058"/>
                  <a:pt x="339213" y="1777180"/>
                </a:cubicBezTo>
                <a:cubicBezTo>
                  <a:pt x="336755" y="1816509"/>
                  <a:pt x="340388" y="1856700"/>
                  <a:pt x="331839" y="1895168"/>
                </a:cubicBezTo>
                <a:cubicBezTo>
                  <a:pt x="328068" y="1912135"/>
                  <a:pt x="327573" y="1860649"/>
                  <a:pt x="324464" y="1843548"/>
                </a:cubicBezTo>
                <a:cubicBezTo>
                  <a:pt x="319145" y="1814295"/>
                  <a:pt x="311773" y="1796693"/>
                  <a:pt x="294968" y="1769806"/>
                </a:cubicBezTo>
                <a:cubicBezTo>
                  <a:pt x="291283" y="1763910"/>
                  <a:pt x="285135" y="1759974"/>
                  <a:pt x="280219" y="1755058"/>
                </a:cubicBezTo>
                <a:cubicBezTo>
                  <a:pt x="290926" y="1787178"/>
                  <a:pt x="307073" y="1841741"/>
                  <a:pt x="324464" y="1873045"/>
                </a:cubicBezTo>
                <a:cubicBezTo>
                  <a:pt x="327840" y="1879123"/>
                  <a:pt x="334297" y="1882877"/>
                  <a:pt x="339213" y="1887793"/>
                </a:cubicBezTo>
                <a:cubicBezTo>
                  <a:pt x="368710" y="1882877"/>
                  <a:pt x="400956" y="1886418"/>
                  <a:pt x="427703" y="1873045"/>
                </a:cubicBezTo>
                <a:cubicBezTo>
                  <a:pt x="443557" y="1865118"/>
                  <a:pt x="463783" y="1845258"/>
                  <a:pt x="457200" y="1828800"/>
                </a:cubicBezTo>
                <a:cubicBezTo>
                  <a:pt x="451647" y="1814918"/>
                  <a:pt x="427703" y="1833716"/>
                  <a:pt x="412955" y="1836174"/>
                </a:cubicBezTo>
                <a:cubicBezTo>
                  <a:pt x="402035" y="1849823"/>
                  <a:pt x="377961" y="1882698"/>
                  <a:pt x="361335" y="1895168"/>
                </a:cubicBezTo>
                <a:cubicBezTo>
                  <a:pt x="359369" y="1896643"/>
                  <a:pt x="356419" y="1895168"/>
                  <a:pt x="353961" y="1895168"/>
                </a:cubicBezTo>
              </a:path>
            </a:pathLst>
          </a:custGeom>
          <a:noFill/>
          <a:ln w="38100" cap="flat" cmpd="sng">
            <a:solidFill>
              <a:srgbClr val="C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0108" name="Rectangle 7"/>
          <p:cNvSpPr txBox="1">
            <a:spLocks noRot="1"/>
          </p:cNvSpPr>
          <p:nvPr/>
        </p:nvSpPr>
        <p:spPr>
          <a:xfrm>
            <a:off x="228600" y="3508375"/>
            <a:ext cx="2133600" cy="30956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脉冲转换检测器</a:t>
            </a:r>
            <a:endParaRPr lang="en-US" altLang="zh-CN" sz="20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2280BC6-3528-F509-A446-2D877A03D0CF}"/>
              </a:ext>
            </a:extLst>
          </p:cNvPr>
          <p:cNvSpPr txBox="1">
            <a:spLocks noRot="1"/>
          </p:cNvSpPr>
          <p:nvPr/>
        </p:nvSpPr>
        <p:spPr>
          <a:xfrm>
            <a:off x="1295486" y="5665798"/>
            <a:ext cx="6553028" cy="380990"/>
          </a:xfrm>
          <a:prstGeom prst="rect">
            <a:avLst/>
          </a:prstGeom>
          <a:solidFill>
            <a:srgbClr val="A1FDA5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门控</a:t>
            </a:r>
            <a:r>
              <a:rPr lang="en-US" altLang="zh-CN" sz="18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18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锁存器与</a:t>
            </a:r>
            <a:r>
              <a:rPr lang="en-US" altLang="zh-CN" sz="18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18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触发器的区别：</a:t>
            </a:r>
            <a:r>
              <a:rPr lang="en-US" altLang="zh-CN" sz="18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18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触发器带有脉冲转换检测器</a:t>
            </a:r>
            <a:endParaRPr lang="en-US" altLang="zh-CN" sz="18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 advTm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146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92088"/>
            <a:ext cx="7243763" cy="3505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2147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latin typeface="Arial" panose="020B0604020202020204" pitchFamily="34" charset="0"/>
              </a:rPr>
              <a:t>20</a:t>
            </a:fld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62148" name="Rectangle 7"/>
          <p:cNvSpPr txBox="1">
            <a:spLocks noRot="1"/>
          </p:cNvSpPr>
          <p:nvPr/>
        </p:nvSpPr>
        <p:spPr>
          <a:xfrm>
            <a:off x="182563" y="150813"/>
            <a:ext cx="3246467" cy="535059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7.2.3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、边沿触发操作</a:t>
            </a: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2149" name="Rectangle 7"/>
          <p:cNvSpPr txBox="1">
            <a:spLocks noRot="1"/>
          </p:cNvSpPr>
          <p:nvPr/>
        </p:nvSpPr>
        <p:spPr>
          <a:xfrm>
            <a:off x="304800" y="2819400"/>
            <a:ext cx="2770188" cy="3810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上升沿触发的</a:t>
            </a:r>
            <a:r>
              <a:rPr lang="en-US" altLang="zh-CN" sz="20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0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en-US" altLang="zh-CN" sz="20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2151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8" y="3587750"/>
            <a:ext cx="6956425" cy="3155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05503906-C6FF-49D1-E012-5B56621FE3CF}"/>
              </a:ext>
            </a:extLst>
          </p:cNvPr>
          <p:cNvSpPr txBox="1">
            <a:spLocks noRot="1"/>
          </p:cNvSpPr>
          <p:nvPr/>
        </p:nvSpPr>
        <p:spPr>
          <a:xfrm>
            <a:off x="5906872" y="3733806"/>
            <a:ext cx="2770188" cy="3810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en-US" altLang="zh-CN" sz="16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CP↑</a:t>
            </a:r>
            <a:r>
              <a:rPr lang="zh-CN" altLang="en-US" sz="16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，触发器从复位到置位</a:t>
            </a:r>
            <a:endParaRPr lang="en-US" altLang="zh-CN" sz="16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848E71D9-FC3D-62AE-897C-560CEC6ADD1A}"/>
              </a:ext>
            </a:extLst>
          </p:cNvPr>
          <p:cNvSpPr txBox="1">
            <a:spLocks noRot="1"/>
          </p:cNvSpPr>
          <p:nvPr/>
        </p:nvSpPr>
        <p:spPr>
          <a:xfrm>
            <a:off x="5943564" y="6432090"/>
            <a:ext cx="2770188" cy="3810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en-US" altLang="zh-CN" sz="16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CP↑</a:t>
            </a:r>
            <a:r>
              <a:rPr lang="zh-CN" altLang="en-US" sz="16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，触发器从置位到复位</a:t>
            </a:r>
            <a:endParaRPr lang="en-US" altLang="zh-CN" sz="16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 advTm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矩形 151555"/>
          <p:cNvSpPr/>
          <p:nvPr/>
        </p:nvSpPr>
        <p:spPr>
          <a:xfrm>
            <a:off x="914400" y="614363"/>
            <a:ext cx="2870200" cy="461962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charset="0"/>
              </a:rPr>
              <a:t>D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charset="0"/>
              </a:rPr>
              <a:t>触发器的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Times New Roman" panose="02020603050405020304" charset="0"/>
              </a:rPr>
              <a:t>翻转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charset="0"/>
              </a:rPr>
              <a:t>实现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264195" name="对象 151607"/>
          <p:cNvGraphicFramePr/>
          <p:nvPr/>
        </p:nvGraphicFramePr>
        <p:xfrm>
          <a:off x="5562600" y="3048000"/>
          <a:ext cx="2057400" cy="19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03350" imgH="1339850" progId="CorelDRAW.Graphic.13">
                  <p:embed/>
                </p:oleObj>
              </mc:Choice>
              <mc:Fallback>
                <p:oleObj r:id="rId3" imgW="1403350" imgH="1339850" progId="CorelDRAW.Graphic.1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62600" y="3048000"/>
                        <a:ext cx="2057400" cy="196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6" name="矩形 151608"/>
          <p:cNvSpPr/>
          <p:nvPr/>
        </p:nvSpPr>
        <p:spPr>
          <a:xfrm>
            <a:off x="6477000" y="3810000"/>
            <a:ext cx="336550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264197" name="矩形 151609"/>
          <p:cNvSpPr/>
          <p:nvPr/>
        </p:nvSpPr>
        <p:spPr>
          <a:xfrm>
            <a:off x="6400800" y="3276600"/>
            <a:ext cx="128588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D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264198" name="矩形 151610"/>
          <p:cNvSpPr/>
          <p:nvPr/>
        </p:nvSpPr>
        <p:spPr>
          <a:xfrm>
            <a:off x="5181600" y="3810000"/>
            <a:ext cx="336550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grpSp>
        <p:nvGrpSpPr>
          <p:cNvPr id="264199" name="组合 151611"/>
          <p:cNvGrpSpPr/>
          <p:nvPr/>
        </p:nvGrpSpPr>
        <p:grpSpPr>
          <a:xfrm>
            <a:off x="7543800" y="4343400"/>
            <a:ext cx="381000" cy="336550"/>
            <a:chOff x="2454" y="3201"/>
            <a:chExt cx="240" cy="212"/>
          </a:xfrm>
        </p:grpSpPr>
        <p:sp>
          <p:nvSpPr>
            <p:cNvPr id="264211" name="文本框 151612"/>
            <p:cNvSpPr txBox="1"/>
            <p:nvPr/>
          </p:nvSpPr>
          <p:spPr>
            <a:xfrm>
              <a:off x="2454" y="3201"/>
              <a:ext cx="24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solidFill>
                    <a:srgbClr val="FF0000"/>
                  </a:solidFill>
                  <a:latin typeface="Times New Roman" panose="02020603050405020304" charset="0"/>
                </a:rPr>
                <a:t>Q</a:t>
              </a:r>
            </a:p>
          </p:txBody>
        </p:sp>
        <p:sp>
          <p:nvSpPr>
            <p:cNvPr id="264212" name="直接连接符 151613"/>
            <p:cNvSpPr/>
            <p:nvPr/>
          </p:nvSpPr>
          <p:spPr>
            <a:xfrm>
              <a:off x="2524" y="3237"/>
              <a:ext cx="96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4200" name="文本框 151614"/>
          <p:cNvSpPr txBox="1"/>
          <p:nvPr/>
        </p:nvSpPr>
        <p:spPr>
          <a:xfrm>
            <a:off x="7620000" y="3200400"/>
            <a:ext cx="533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i="1" dirty="0">
                <a:solidFill>
                  <a:srgbClr val="FF0000"/>
                </a:solidFill>
                <a:latin typeface="Times New Roman" panose="02020603050405020304" charset="0"/>
              </a:rPr>
              <a:t>Q</a:t>
            </a:r>
          </a:p>
        </p:txBody>
      </p:sp>
      <p:grpSp>
        <p:nvGrpSpPr>
          <p:cNvPr id="264201" name="组合 151619"/>
          <p:cNvGrpSpPr/>
          <p:nvPr/>
        </p:nvGrpSpPr>
        <p:grpSpPr>
          <a:xfrm>
            <a:off x="990600" y="1223963"/>
            <a:ext cx="7543800" cy="1552575"/>
            <a:chOff x="624" y="1104"/>
            <a:chExt cx="4752" cy="978"/>
          </a:xfrm>
        </p:grpSpPr>
        <p:sp>
          <p:nvSpPr>
            <p:cNvPr id="264209" name="文本框 151588"/>
            <p:cNvSpPr txBox="1"/>
            <p:nvPr/>
          </p:nvSpPr>
          <p:spPr>
            <a:xfrm>
              <a:off x="624" y="1104"/>
              <a:ext cx="4752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</a:rPr>
                <a:t>A D-flip-flop does not have a toggle mode like the J-K flip-flop, but you can hardwire a toggle mode by connecting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charset="0"/>
                </a:rPr>
                <a:t>Q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</a:rPr>
                <a:t> back to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charset="0"/>
                </a:rPr>
                <a:t>D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</a:rPr>
                <a:t> as shown. This is useful in some counters as you will see in Chapter 8. </a:t>
              </a:r>
            </a:p>
          </p:txBody>
        </p:sp>
        <p:sp>
          <p:nvSpPr>
            <p:cNvPr id="264210" name="直接连接符 151615"/>
            <p:cNvSpPr/>
            <p:nvPr/>
          </p:nvSpPr>
          <p:spPr>
            <a:xfrm>
              <a:off x="5040" y="139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1618" name="组合 151617"/>
          <p:cNvGrpSpPr/>
          <p:nvPr/>
        </p:nvGrpSpPr>
        <p:grpSpPr>
          <a:xfrm>
            <a:off x="1066800" y="2976563"/>
            <a:ext cx="3962400" cy="1920875"/>
            <a:chOff x="672" y="2256"/>
            <a:chExt cx="2496" cy="1210"/>
          </a:xfrm>
        </p:grpSpPr>
        <p:sp>
          <p:nvSpPr>
            <p:cNvPr id="264207" name="文本框 151589"/>
            <p:cNvSpPr txBox="1"/>
            <p:nvPr/>
          </p:nvSpPr>
          <p:spPr>
            <a:xfrm>
              <a:off x="672" y="2256"/>
              <a:ext cx="249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charset="0"/>
                </a:rPr>
                <a:t>For example, if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charset="0"/>
                </a:rPr>
                <a:t>Q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charset="0"/>
                </a:rPr>
                <a:t> is LOW,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charset="0"/>
                </a:rPr>
                <a:t>Q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charset="0"/>
                </a:rPr>
                <a:t> is HIGH and the flip-flop will toggle on the next clock edge. Because the flip-flop only changes on the active edge, the output will only change once for each clock pulse.</a:t>
              </a:r>
            </a:p>
          </p:txBody>
        </p:sp>
        <p:sp>
          <p:nvSpPr>
            <p:cNvPr id="264208" name="直接连接符 151616"/>
            <p:cNvSpPr/>
            <p:nvPr/>
          </p:nvSpPr>
          <p:spPr>
            <a:xfrm>
              <a:off x="2496" y="230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4203" name="文本框 151620"/>
          <p:cNvSpPr txBox="1"/>
          <p:nvPr/>
        </p:nvSpPr>
        <p:spPr>
          <a:xfrm>
            <a:off x="5334000" y="5334000"/>
            <a:ext cx="2819400" cy="706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charset="0"/>
              </a:rPr>
              <a:t>D flip-flop hardwired for a toggle mode</a:t>
            </a:r>
          </a:p>
        </p:txBody>
      </p:sp>
      <p:sp>
        <p:nvSpPr>
          <p:cNvPr id="264204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21</a:t>
            </a:fld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4205" name="任意多边形: 形状 1"/>
          <p:cNvSpPr/>
          <p:nvPr/>
        </p:nvSpPr>
        <p:spPr>
          <a:xfrm>
            <a:off x="5737314" y="3229284"/>
            <a:ext cx="1843088" cy="1970087"/>
          </a:xfrm>
          <a:custGeom>
            <a:avLst/>
            <a:gdLst/>
            <a:ahLst/>
            <a:cxnLst>
              <a:cxn ang="0">
                <a:pos x="1586542" y="1243471"/>
              </a:cxn>
              <a:cxn ang="0">
                <a:pos x="1805373" y="1259102"/>
              </a:cxn>
              <a:cxn ang="0">
                <a:pos x="1821004" y="1282548"/>
              </a:cxn>
              <a:cxn ang="0">
                <a:pos x="1828819" y="1618610"/>
              </a:cxn>
              <a:cxn ang="0">
                <a:pos x="1805373" y="1774917"/>
              </a:cxn>
              <a:cxn ang="0">
                <a:pos x="1735035" y="1853071"/>
              </a:cxn>
              <a:cxn ang="0">
                <a:pos x="1695958" y="1868702"/>
              </a:cxn>
              <a:cxn ang="0">
                <a:pos x="937865" y="1876517"/>
              </a:cxn>
              <a:cxn ang="0">
                <a:pos x="812819" y="1907779"/>
              </a:cxn>
              <a:cxn ang="0">
                <a:pos x="664327" y="1954671"/>
              </a:cxn>
              <a:cxn ang="0">
                <a:pos x="593989" y="1962487"/>
              </a:cxn>
              <a:cxn ang="0">
                <a:pos x="531465" y="1970302"/>
              </a:cxn>
              <a:cxn ang="0">
                <a:pos x="289189" y="1954671"/>
              </a:cxn>
              <a:cxn ang="0">
                <a:pos x="226665" y="1939040"/>
              </a:cxn>
              <a:cxn ang="0">
                <a:pos x="140696" y="1884333"/>
              </a:cxn>
              <a:cxn ang="0">
                <a:pos x="39096" y="1790548"/>
              </a:cxn>
              <a:cxn ang="0">
                <a:pos x="7835" y="1720210"/>
              </a:cxn>
              <a:cxn ang="0">
                <a:pos x="19" y="1665502"/>
              </a:cxn>
              <a:cxn ang="0">
                <a:pos x="23465" y="1305994"/>
              </a:cxn>
              <a:cxn ang="0">
                <a:pos x="31281" y="219656"/>
              </a:cxn>
              <a:cxn ang="0">
                <a:pos x="54727" y="172764"/>
              </a:cxn>
              <a:cxn ang="0">
                <a:pos x="101619" y="164948"/>
              </a:cxn>
              <a:cxn ang="0">
                <a:pos x="164142" y="102425"/>
              </a:cxn>
              <a:cxn ang="0">
                <a:pos x="187589" y="78979"/>
              </a:cxn>
              <a:cxn ang="0">
                <a:pos x="336081" y="71164"/>
              </a:cxn>
              <a:cxn ang="0">
                <a:pos x="382973" y="39902"/>
              </a:cxn>
              <a:cxn ang="0">
                <a:pos x="343896" y="825"/>
              </a:cxn>
              <a:cxn ang="0">
                <a:pos x="359527" y="24271"/>
              </a:cxn>
              <a:cxn ang="0">
                <a:pos x="367342" y="55533"/>
              </a:cxn>
              <a:cxn ang="0">
                <a:pos x="382973" y="94610"/>
              </a:cxn>
              <a:cxn ang="0">
                <a:pos x="359527" y="118056"/>
              </a:cxn>
              <a:cxn ang="0">
                <a:pos x="351712" y="133687"/>
              </a:cxn>
            </a:cxnLst>
            <a:rect l="0" t="0" r="0" b="0"/>
            <a:pathLst>
              <a:path w="1843350" h="1970302">
                <a:moveTo>
                  <a:pt x="1586542" y="1243471"/>
                </a:moveTo>
                <a:cubicBezTo>
                  <a:pt x="1682788" y="1215972"/>
                  <a:pt x="1657887" y="1214215"/>
                  <a:pt x="1805373" y="1259102"/>
                </a:cubicBezTo>
                <a:cubicBezTo>
                  <a:pt x="1814359" y="1261837"/>
                  <a:pt x="1815794" y="1274733"/>
                  <a:pt x="1821004" y="1282548"/>
                </a:cubicBezTo>
                <a:cubicBezTo>
                  <a:pt x="1857979" y="1430445"/>
                  <a:pt x="1840560" y="1336841"/>
                  <a:pt x="1828819" y="1618610"/>
                </a:cubicBezTo>
                <a:cubicBezTo>
                  <a:pt x="1826546" y="1673152"/>
                  <a:pt x="1826429" y="1724383"/>
                  <a:pt x="1805373" y="1774917"/>
                </a:cubicBezTo>
                <a:cubicBezTo>
                  <a:pt x="1792281" y="1806338"/>
                  <a:pt x="1765963" y="1837607"/>
                  <a:pt x="1735035" y="1853071"/>
                </a:cubicBezTo>
                <a:cubicBezTo>
                  <a:pt x="1722487" y="1859345"/>
                  <a:pt x="1709981" y="1868290"/>
                  <a:pt x="1695958" y="1868702"/>
                </a:cubicBezTo>
                <a:cubicBezTo>
                  <a:pt x="1443356" y="1876131"/>
                  <a:pt x="1190563" y="1873912"/>
                  <a:pt x="937865" y="1876517"/>
                </a:cubicBezTo>
                <a:cubicBezTo>
                  <a:pt x="874347" y="1890633"/>
                  <a:pt x="870616" y="1889995"/>
                  <a:pt x="812819" y="1907779"/>
                </a:cubicBezTo>
                <a:cubicBezTo>
                  <a:pt x="763208" y="1923044"/>
                  <a:pt x="714684" y="1942082"/>
                  <a:pt x="664327" y="1954671"/>
                </a:cubicBezTo>
                <a:cubicBezTo>
                  <a:pt x="641441" y="1960393"/>
                  <a:pt x="617418" y="1959731"/>
                  <a:pt x="593989" y="1962487"/>
                </a:cubicBezTo>
                <a:lnTo>
                  <a:pt x="531465" y="1970302"/>
                </a:lnTo>
                <a:cubicBezTo>
                  <a:pt x="450706" y="1965092"/>
                  <a:pt x="369693" y="1962928"/>
                  <a:pt x="289189" y="1954671"/>
                </a:cubicBezTo>
                <a:cubicBezTo>
                  <a:pt x="267818" y="1952479"/>
                  <a:pt x="246080" y="1948236"/>
                  <a:pt x="226665" y="1939040"/>
                </a:cubicBezTo>
                <a:cubicBezTo>
                  <a:pt x="195968" y="1924500"/>
                  <a:pt x="168958" y="1903174"/>
                  <a:pt x="140696" y="1884333"/>
                </a:cubicBezTo>
                <a:cubicBezTo>
                  <a:pt x="109958" y="1863841"/>
                  <a:pt x="49788" y="1811932"/>
                  <a:pt x="39096" y="1790548"/>
                </a:cubicBezTo>
                <a:cubicBezTo>
                  <a:pt x="11966" y="1736288"/>
                  <a:pt x="21176" y="1760235"/>
                  <a:pt x="7835" y="1720210"/>
                </a:cubicBezTo>
                <a:cubicBezTo>
                  <a:pt x="5230" y="1701974"/>
                  <a:pt x="-373" y="1683919"/>
                  <a:pt x="19" y="1665502"/>
                </a:cubicBezTo>
                <a:cubicBezTo>
                  <a:pt x="5626" y="1401956"/>
                  <a:pt x="141" y="1445946"/>
                  <a:pt x="23465" y="1305994"/>
                </a:cubicBezTo>
                <a:cubicBezTo>
                  <a:pt x="26070" y="943881"/>
                  <a:pt x="26181" y="581742"/>
                  <a:pt x="31281" y="219656"/>
                </a:cubicBezTo>
                <a:cubicBezTo>
                  <a:pt x="31412" y="210342"/>
                  <a:pt x="46674" y="176791"/>
                  <a:pt x="54727" y="172764"/>
                </a:cubicBezTo>
                <a:cubicBezTo>
                  <a:pt x="68900" y="165677"/>
                  <a:pt x="85988" y="167553"/>
                  <a:pt x="101619" y="164948"/>
                </a:cubicBezTo>
                <a:cubicBezTo>
                  <a:pt x="156595" y="96229"/>
                  <a:pt x="107373" y="151084"/>
                  <a:pt x="164142" y="102425"/>
                </a:cubicBezTo>
                <a:cubicBezTo>
                  <a:pt x="172534" y="95232"/>
                  <a:pt x="176714" y="80956"/>
                  <a:pt x="187589" y="78979"/>
                </a:cubicBezTo>
                <a:cubicBezTo>
                  <a:pt x="236355" y="70113"/>
                  <a:pt x="286584" y="73769"/>
                  <a:pt x="336081" y="71164"/>
                </a:cubicBezTo>
                <a:cubicBezTo>
                  <a:pt x="461305" y="46119"/>
                  <a:pt x="422366" y="70541"/>
                  <a:pt x="382973" y="39902"/>
                </a:cubicBezTo>
                <a:cubicBezTo>
                  <a:pt x="368432" y="28593"/>
                  <a:pt x="359223" y="11043"/>
                  <a:pt x="343896" y="825"/>
                </a:cubicBezTo>
                <a:cubicBezTo>
                  <a:pt x="336081" y="-4385"/>
                  <a:pt x="354317" y="16456"/>
                  <a:pt x="359527" y="24271"/>
                </a:cubicBezTo>
                <a:cubicBezTo>
                  <a:pt x="362132" y="34692"/>
                  <a:pt x="363945" y="45343"/>
                  <a:pt x="367342" y="55533"/>
                </a:cubicBezTo>
                <a:cubicBezTo>
                  <a:pt x="371778" y="68842"/>
                  <a:pt x="384713" y="80689"/>
                  <a:pt x="382973" y="94610"/>
                </a:cubicBezTo>
                <a:cubicBezTo>
                  <a:pt x="381602" y="105577"/>
                  <a:pt x="366431" y="109425"/>
                  <a:pt x="359527" y="118056"/>
                </a:cubicBezTo>
                <a:cubicBezTo>
                  <a:pt x="355888" y="122605"/>
                  <a:pt x="354317" y="128477"/>
                  <a:pt x="351712" y="133687"/>
                </a:cubicBezTo>
              </a:path>
            </a:pathLst>
          </a:custGeom>
          <a:noFill/>
          <a:ln w="57150" cap="flat" cmpd="sng">
            <a:solidFill>
              <a:srgbClr val="C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4206" name="矩形 151555"/>
          <p:cNvSpPr/>
          <p:nvPr/>
        </p:nvSpPr>
        <p:spPr>
          <a:xfrm>
            <a:off x="1273175" y="5097463"/>
            <a:ext cx="3005138" cy="708025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latin typeface="Times New Roman" panose="02020603050405020304" charset="0"/>
              </a:rPr>
              <a:t>每个时钟到来都改变状态</a:t>
            </a:r>
            <a:endParaRPr lang="en-US" altLang="zh-CN" sz="2000" b="1" dirty="0">
              <a:latin typeface="Times New Roman" panose="0202060305040502030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latin typeface="Times New Roman" panose="02020603050405020304" charset="0"/>
              </a:rPr>
              <a:t>计数器基础</a:t>
            </a:r>
            <a:endParaRPr lang="en-US" altLang="zh-CN" sz="2000" b="1" dirty="0">
              <a:latin typeface="Times New Roman" panose="02020603050405020304" charset="0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矩形 151555"/>
          <p:cNvSpPr/>
          <p:nvPr/>
        </p:nvSpPr>
        <p:spPr>
          <a:xfrm>
            <a:off x="609600" y="609600"/>
            <a:ext cx="3170238" cy="461963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FFFF99"/>
                </a:solidFill>
                <a:latin typeface="Times New Roman" panose="02020603050405020304" charset="0"/>
              </a:rPr>
              <a:t>J-K </a:t>
            </a:r>
            <a:r>
              <a:rPr lang="zh-CN" altLang="en-US" sz="2400" dirty="0">
                <a:solidFill>
                  <a:srgbClr val="FFFF99"/>
                </a:solidFill>
                <a:latin typeface="Times New Roman" panose="02020603050405020304" charset="0"/>
              </a:rPr>
              <a:t>触发器的翻转实现</a:t>
            </a:r>
            <a:endParaRPr lang="en-US" altLang="zh-CN" sz="2400" dirty="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266243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22</a:t>
            </a:fld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66244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8" y="2514600"/>
            <a:ext cx="8599487" cy="3810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45" name="图片 6"/>
          <p:cNvPicPr>
            <a:picLocks noChangeAspect="1"/>
          </p:cNvPicPr>
          <p:nvPr/>
        </p:nvPicPr>
        <p:blipFill>
          <a:blip r:embed="rId4"/>
          <a:srcRect t="12892"/>
          <a:stretch>
            <a:fillRect/>
          </a:stretch>
        </p:blipFill>
        <p:spPr>
          <a:xfrm>
            <a:off x="4191000" y="76200"/>
            <a:ext cx="4805363" cy="2057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290" name="图片 1"/>
          <p:cNvPicPr>
            <a:picLocks noChangeAspect="1"/>
          </p:cNvPicPr>
          <p:nvPr/>
        </p:nvPicPr>
        <p:blipFill>
          <a:blip r:embed="rId2"/>
          <a:srcRect l="40630" t="28127" r="11932" b="23959"/>
          <a:stretch>
            <a:fillRect/>
          </a:stretch>
        </p:blipFill>
        <p:spPr>
          <a:xfrm>
            <a:off x="0" y="1875631"/>
            <a:ext cx="6172200" cy="3505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8291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8292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4665" name="矩形 8"/>
          <p:cNvSpPr>
            <a:spLocks noChangeArrowheads="1"/>
          </p:cNvSpPr>
          <p:nvPr/>
        </p:nvSpPr>
        <p:spPr bwMode="auto">
          <a:xfrm>
            <a:off x="4800594" y="1552574"/>
            <a:ext cx="4032250" cy="646113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0000CC"/>
                </a:solidFill>
                <a:latin typeface="宋体" panose="02010600030101010101" pitchFamily="2" charset="-122"/>
                <a:ea typeface="MS PGothic" panose="020B0600070205080204" pitchFamily="34" charset="-128"/>
              </a:rPr>
              <a:t>同步输入：数据的传送与时钟同步</a:t>
            </a:r>
            <a:endParaRPr lang="en-US" altLang="zh-CN" sz="2000" b="1" dirty="0">
              <a:solidFill>
                <a:srgbClr val="0000CC"/>
              </a:solidFill>
              <a:latin typeface="宋体" panose="02010600030101010101" pitchFamily="2" charset="-122"/>
              <a:ea typeface="MS PGothic" panose="020B0600070205080204" pitchFamily="34" charset="-128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0000CC"/>
                </a:solidFill>
                <a:latin typeface="宋体" panose="02010600030101010101" pitchFamily="2" charset="-122"/>
                <a:ea typeface="MS PGothic" panose="020B0600070205080204" pitchFamily="34" charset="-128"/>
              </a:rPr>
              <a:t>异步输入：数据输入和时钟无关</a:t>
            </a:r>
            <a:endParaRPr lang="en-US" altLang="zh-CN" sz="2000" b="1" dirty="0">
              <a:solidFill>
                <a:srgbClr val="0000CC"/>
              </a:solidFill>
              <a:latin typeface="宋体" panose="02010600030101010101" pitchFamily="2" charset="-122"/>
              <a:ea typeface="MS PGothic" panose="020B0600070205080204" pitchFamily="34" charset="-128"/>
            </a:endParaRPr>
          </a:p>
        </p:txBody>
      </p:sp>
      <p:sp>
        <p:nvSpPr>
          <p:cNvPr id="3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0" y="190500"/>
            <a:ext cx="9144000" cy="50165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  Sec.7.2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边沿触发器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charset="0"/>
              <a:ea typeface="+mj-ea"/>
              <a:cs typeface="+mj-cs"/>
            </a:endParaRPr>
          </a:p>
        </p:txBody>
      </p:sp>
      <p:sp>
        <p:nvSpPr>
          <p:cNvPr id="268295" name="Rectangle 7"/>
          <p:cNvSpPr txBox="1">
            <a:spLocks noRot="1"/>
          </p:cNvSpPr>
          <p:nvPr/>
        </p:nvSpPr>
        <p:spPr>
          <a:xfrm>
            <a:off x="106363" y="957263"/>
            <a:ext cx="5913399" cy="501650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7.2.4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、异步预置位</a:t>
            </a:r>
            <a:r>
              <a:rPr lang="en-US" altLang="zh-CN" sz="2400" b="1" dirty="0">
                <a:solidFill>
                  <a:srgbClr val="0000CC"/>
                </a:solidFill>
                <a:highlight>
                  <a:srgbClr val="CCECFF"/>
                </a:highlight>
                <a:latin typeface="Times New Roman" panose="02020603050405020304" charset="0"/>
                <a:ea typeface="楷体_GB2312"/>
              </a:rPr>
              <a:t>PRE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和清零</a:t>
            </a:r>
            <a:r>
              <a:rPr lang="en-US" altLang="zh-CN" sz="2400" b="1" dirty="0">
                <a:solidFill>
                  <a:srgbClr val="0000CC"/>
                </a:solidFill>
                <a:highlight>
                  <a:srgbClr val="CCECFF"/>
                </a:highlight>
                <a:latin typeface="Times New Roman" panose="02020603050405020304" charset="0"/>
                <a:ea typeface="楷体_GB2312"/>
              </a:rPr>
              <a:t>CLR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</a:p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endParaRPr lang="zh-CN" altLang="en-US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8296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325" y="2332831"/>
            <a:ext cx="2133600" cy="304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1524080" y="5318571"/>
            <a:ext cx="6705424" cy="87139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宋体" panose="02010600030101010101" pitchFamily="2" charset="-122"/>
                <a:ea typeface="MS PGothic" panose="020B0600070205080204" pitchFamily="34" charset="-128"/>
              </a:rPr>
              <a:t>同步运行时，</a:t>
            </a:r>
            <a:r>
              <a:rPr lang="en-US" altLang="zh-CN" sz="1800" b="1" i="1" dirty="0">
                <a:latin typeface="宋体" panose="02010600030101010101" pitchFamily="2" charset="-122"/>
                <a:ea typeface="MS PGothic" panose="020B0600070205080204" pitchFamily="34" charset="-128"/>
              </a:rPr>
              <a:t>PRE </a:t>
            </a:r>
            <a:r>
              <a:rPr lang="zh-CN" altLang="en-US" sz="1800" b="1" dirty="0">
                <a:latin typeface="宋体" panose="02010600030101010101" pitchFamily="2" charset="-122"/>
                <a:ea typeface="MS PGothic" panose="020B0600070205080204" pitchFamily="34" charset="-128"/>
              </a:rPr>
              <a:t>和 </a:t>
            </a:r>
            <a:r>
              <a:rPr lang="en-US" altLang="zh-CN" sz="1800" b="1" i="1" dirty="0">
                <a:latin typeface="宋体" panose="02010600030101010101" pitchFamily="2" charset="-122"/>
                <a:ea typeface="MS PGothic" panose="020B0600070205080204" pitchFamily="34" charset="-128"/>
              </a:rPr>
              <a:t>CLR </a:t>
            </a:r>
            <a:r>
              <a:rPr lang="zh-CN" altLang="en-US" sz="1800" b="1" dirty="0">
                <a:latin typeface="宋体" panose="02010600030101010101" pitchFamily="2" charset="-122"/>
                <a:ea typeface="MS PGothic" panose="020B0600070205080204" pitchFamily="34" charset="-128"/>
              </a:rPr>
              <a:t>为高电平（时钟边沿触发，数据传送）；</a:t>
            </a:r>
            <a:endParaRPr lang="en-US" altLang="zh-CN" sz="1800" b="1" dirty="0">
              <a:latin typeface="宋体" panose="02010600030101010101" pitchFamily="2" charset="-122"/>
              <a:ea typeface="MS PGothic" panose="020B0600070205080204" pitchFamily="34" charset="-128"/>
            </a:endParaRPr>
          </a:p>
          <a:p>
            <a:pPr marL="0" lvl="0" indent="0"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1" i="1" dirty="0">
                <a:latin typeface="宋体" panose="02010600030101010101" pitchFamily="2" charset="-122"/>
                <a:ea typeface="MS PGothic" panose="020B0600070205080204" pitchFamily="34" charset="-128"/>
              </a:rPr>
              <a:t>PRE</a:t>
            </a:r>
            <a:r>
              <a:rPr lang="en-US" altLang="zh-CN" sz="1800" b="1" dirty="0">
                <a:latin typeface="宋体" panose="02010600030101010101" pitchFamily="2" charset="-122"/>
                <a:ea typeface="MS PGothic" panose="020B0600070205080204" pitchFamily="34" charset="-128"/>
              </a:rPr>
              <a:t>=0</a:t>
            </a:r>
            <a:r>
              <a:rPr lang="zh-CN" altLang="en-US" sz="1800" b="1" dirty="0">
                <a:latin typeface="宋体" panose="02010600030101010101" pitchFamily="2" charset="-122"/>
                <a:ea typeface="MS PGothic" panose="020B0600070205080204" pitchFamily="34" charset="-128"/>
              </a:rPr>
              <a:t>，置位；</a:t>
            </a:r>
            <a:r>
              <a:rPr lang="en-US" altLang="zh-CN" sz="1800" b="1" i="1" dirty="0">
                <a:latin typeface="宋体" panose="02010600030101010101" pitchFamily="2" charset="-122"/>
                <a:ea typeface="MS PGothic" panose="020B0600070205080204" pitchFamily="34" charset="-128"/>
              </a:rPr>
              <a:t>CLR</a:t>
            </a:r>
            <a:r>
              <a:rPr lang="en-US" altLang="zh-CN" sz="1800" b="1" dirty="0">
                <a:latin typeface="宋体" panose="02010600030101010101" pitchFamily="2" charset="-122"/>
                <a:ea typeface="MS PGothic" panose="020B0600070205080204" pitchFamily="34" charset="-128"/>
              </a:rPr>
              <a:t>=0</a:t>
            </a:r>
            <a:r>
              <a:rPr lang="zh-CN" altLang="en-US" sz="1800" b="1" dirty="0">
                <a:latin typeface="宋体" panose="02010600030101010101" pitchFamily="2" charset="-122"/>
                <a:ea typeface="MS PGothic" panose="020B0600070205080204" pitchFamily="34" charset="-128"/>
              </a:rPr>
              <a:t>，复位；       </a:t>
            </a:r>
            <a:r>
              <a:rPr lang="en-US" altLang="zh-CN" sz="1800" b="1" i="1" dirty="0">
                <a:latin typeface="宋体" panose="02010600030101010101" pitchFamily="2" charset="-122"/>
                <a:ea typeface="MS PGothic" panose="020B0600070205080204" pitchFamily="34" charset="-128"/>
              </a:rPr>
              <a:t>PRE</a:t>
            </a:r>
            <a:r>
              <a:rPr lang="zh-CN" altLang="en-US" sz="1800" b="1" dirty="0">
                <a:latin typeface="宋体" panose="02010600030101010101" pitchFamily="2" charset="-122"/>
                <a:ea typeface="MS PGothic" panose="020B0600070205080204" pitchFamily="34" charset="-128"/>
              </a:rPr>
              <a:t>和</a:t>
            </a:r>
            <a:r>
              <a:rPr lang="en-US" altLang="zh-CN" sz="1800" b="1" i="1" dirty="0">
                <a:latin typeface="宋体" panose="02010600030101010101" pitchFamily="2" charset="-122"/>
                <a:ea typeface="MS PGothic" panose="020B0600070205080204" pitchFamily="34" charset="-128"/>
              </a:rPr>
              <a:t>CLR</a:t>
            </a:r>
            <a:r>
              <a:rPr lang="zh-CN" altLang="en-US" sz="1800" b="1" dirty="0">
                <a:latin typeface="宋体" panose="02010600030101010101" pitchFamily="2" charset="-122"/>
                <a:ea typeface="MS PGothic" panose="020B0600070205080204" pitchFamily="34" charset="-128"/>
              </a:rPr>
              <a:t>不能同时为</a:t>
            </a:r>
            <a:r>
              <a:rPr lang="en-US" altLang="zh-CN" sz="1800" b="1" dirty="0">
                <a:latin typeface="宋体" panose="02010600030101010101" pitchFamily="2" charset="-122"/>
                <a:ea typeface="MS PGothic" panose="020B0600070205080204" pitchFamily="34" charset="-128"/>
              </a:rPr>
              <a:t>0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D46A099-A210-AD65-02D9-73B8CADA8D76}"/>
              </a:ext>
            </a:extLst>
          </p:cNvPr>
          <p:cNvCxnSpPr/>
          <p:nvPr/>
        </p:nvCxnSpPr>
        <p:spPr bwMode="auto">
          <a:xfrm>
            <a:off x="3086100" y="5478864"/>
            <a:ext cx="38099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A1D4F38-38E0-383B-F5E8-D3FEF608388D}"/>
              </a:ext>
            </a:extLst>
          </p:cNvPr>
          <p:cNvCxnSpPr/>
          <p:nvPr/>
        </p:nvCxnSpPr>
        <p:spPr bwMode="auto">
          <a:xfrm>
            <a:off x="3886218" y="5478864"/>
            <a:ext cx="38099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FCBFD07-2158-6D93-1346-263494CEB80D}"/>
              </a:ext>
            </a:extLst>
          </p:cNvPr>
          <p:cNvCxnSpPr/>
          <p:nvPr/>
        </p:nvCxnSpPr>
        <p:spPr bwMode="auto">
          <a:xfrm>
            <a:off x="2057466" y="5867336"/>
            <a:ext cx="38099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7E8A15B-61F3-F9FF-1D36-B6BC39DCDAA4}"/>
              </a:ext>
            </a:extLst>
          </p:cNvPr>
          <p:cNvCxnSpPr/>
          <p:nvPr/>
        </p:nvCxnSpPr>
        <p:spPr bwMode="auto">
          <a:xfrm>
            <a:off x="3390931" y="5867336"/>
            <a:ext cx="38099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89ECC65-8EBD-F8CD-18AD-516776E6B0F7}"/>
              </a:ext>
            </a:extLst>
          </p:cNvPr>
          <p:cNvCxnSpPr/>
          <p:nvPr/>
        </p:nvCxnSpPr>
        <p:spPr bwMode="auto">
          <a:xfrm>
            <a:off x="5486376" y="5867336"/>
            <a:ext cx="38099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B1E38BE-FF97-5198-5678-0A99D3BA5EF3}"/>
              </a:ext>
            </a:extLst>
          </p:cNvPr>
          <p:cNvCxnSpPr/>
          <p:nvPr/>
        </p:nvCxnSpPr>
        <p:spPr bwMode="auto">
          <a:xfrm>
            <a:off x="6095960" y="5879562"/>
            <a:ext cx="38099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 dir="r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314" name="对象 153653"/>
          <p:cNvGraphicFramePr/>
          <p:nvPr/>
        </p:nvGraphicFramePr>
        <p:xfrm>
          <a:off x="1524000" y="3581400"/>
          <a:ext cx="6019800" cy="258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752465" imgH="2477135" progId="CorelDRAW.Graphic.13">
                  <p:embed/>
                </p:oleObj>
              </mc:Choice>
              <mc:Fallback>
                <p:oleObj r:id="rId3" imgW="5752465" imgH="2477135" progId="CorelDRAW.Graphic.1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3581400"/>
                        <a:ext cx="6019800" cy="2584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5" name="矩形 153619"/>
          <p:cNvSpPr/>
          <p:nvPr/>
        </p:nvSpPr>
        <p:spPr>
          <a:xfrm>
            <a:off x="1143000" y="1069975"/>
            <a:ext cx="4800600" cy="1295400"/>
          </a:xfrm>
          <a:prstGeom prst="rect">
            <a:avLst/>
          </a:prstGeom>
          <a:noFill/>
          <a:ln w="9525">
            <a:noFill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69316" name="文本框 153620"/>
          <p:cNvSpPr txBox="1"/>
          <p:nvPr/>
        </p:nvSpPr>
        <p:spPr>
          <a:xfrm>
            <a:off x="457200" y="1069975"/>
            <a:ext cx="57531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</a:rPr>
              <a:t>Determine the </a:t>
            </a:r>
            <a:r>
              <a:rPr lang="en-US" altLang="zh-CN" sz="2000" b="1" i="1" dirty="0">
                <a:latin typeface="Times New Roman" panose="02020603050405020304" charset="0"/>
              </a:rPr>
              <a:t>Q</a:t>
            </a:r>
            <a:r>
              <a:rPr lang="en-US" altLang="zh-CN" sz="2000" b="1" dirty="0">
                <a:latin typeface="Times New Roman" panose="02020603050405020304" charset="0"/>
              </a:rPr>
              <a:t> output for the </a:t>
            </a:r>
            <a:r>
              <a:rPr lang="en-US" altLang="zh-CN" sz="2000" b="1" i="1" dirty="0">
                <a:latin typeface="Times New Roman" panose="02020603050405020304" charset="0"/>
              </a:rPr>
              <a:t>J-K</a:t>
            </a:r>
            <a:r>
              <a:rPr lang="en-US" altLang="zh-CN" sz="2000" b="1" dirty="0">
                <a:latin typeface="Times New Roman" panose="02020603050405020304" charset="0"/>
              </a:rPr>
              <a:t> flip-flop, given the inputs shown. </a:t>
            </a:r>
          </a:p>
        </p:txBody>
      </p:sp>
      <p:sp>
        <p:nvSpPr>
          <p:cNvPr id="269317" name="矩形 153621"/>
          <p:cNvSpPr>
            <a:spLocks noTextEdit="1"/>
          </p:cNvSpPr>
          <p:nvPr/>
        </p:nvSpPr>
        <p:spPr>
          <a:xfrm>
            <a:off x="1054100" y="534988"/>
            <a:ext cx="1219200" cy="449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92500" lnSpcReduction="10000"/>
          </a:bodyPr>
          <a:lstStyle/>
          <a:p>
            <a:pPr algn="ctr"/>
            <a:r>
              <a:rPr lang="zh-CN" altLang="en-US" sz="2800">
                <a:ln w="6600" cap="flat" cmpd="sng">
                  <a:solidFill>
                    <a:schemeClr val="accent2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dist="38100" dir="2699999" algn="tl" rotWithShape="0">
                    <a:schemeClr val="accent2"/>
                  </a:outerShdw>
                </a:effectLst>
                <a:latin typeface="Impact" panose="020B0806030902050204" charset="0"/>
                <a:ea typeface="Impact" panose="020B0806030902050204" charset="0"/>
              </a:rPr>
              <a:t>Example</a:t>
            </a:r>
          </a:p>
        </p:txBody>
      </p:sp>
      <p:sp>
        <p:nvSpPr>
          <p:cNvPr id="269318" name="文本框 153639"/>
          <p:cNvSpPr txBox="1"/>
          <p:nvPr/>
        </p:nvSpPr>
        <p:spPr>
          <a:xfrm>
            <a:off x="8012113" y="1074738"/>
            <a:ext cx="533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i="1" dirty="0">
                <a:solidFill>
                  <a:srgbClr val="FF0000"/>
                </a:solidFill>
                <a:latin typeface="Times New Roman" panose="02020603050405020304" charset="0"/>
              </a:rPr>
              <a:t>Q</a:t>
            </a:r>
          </a:p>
        </p:txBody>
      </p:sp>
      <p:grpSp>
        <p:nvGrpSpPr>
          <p:cNvPr id="269319" name="组合 2"/>
          <p:cNvGrpSpPr/>
          <p:nvPr/>
        </p:nvGrpSpPr>
        <p:grpSpPr>
          <a:xfrm>
            <a:off x="6248400" y="349250"/>
            <a:ext cx="2144713" cy="2820988"/>
            <a:chOff x="6194425" y="533400"/>
            <a:chExt cx="2144713" cy="2820988"/>
          </a:xfrm>
        </p:grpSpPr>
        <p:graphicFrame>
          <p:nvGraphicFramePr>
            <p:cNvPr id="269341" name="对象 153632"/>
            <p:cNvGraphicFramePr/>
            <p:nvPr/>
          </p:nvGraphicFramePr>
          <p:xfrm>
            <a:off x="6194425" y="838200"/>
            <a:ext cx="1841500" cy="220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052830" imgH="1265555" progId="CorelDRAW.Graphic.13">
                    <p:embed/>
                  </p:oleObj>
                </mc:Choice>
                <mc:Fallback>
                  <p:oleObj r:id="rId5" imgW="1052830" imgH="1265555" progId="CorelDRAW.Graphic.1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194425" y="838200"/>
                          <a:ext cx="1841500" cy="2209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9342" name="矩形 153633"/>
            <p:cNvSpPr/>
            <p:nvPr/>
          </p:nvSpPr>
          <p:spPr>
            <a:xfrm>
              <a:off x="6934200" y="1828800"/>
              <a:ext cx="336550" cy="215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 dirty="0">
                  <a:solidFill>
                    <a:srgbClr val="000000"/>
                  </a:solidFill>
                  <a:latin typeface="Times" pitchFamily="18" charset="0"/>
                </a:rPr>
                <a:t>CLK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269343" name="矩形 153634"/>
            <p:cNvSpPr/>
            <p:nvPr/>
          </p:nvSpPr>
          <p:spPr>
            <a:xfrm>
              <a:off x="6816725" y="2378075"/>
              <a:ext cx="119063" cy="215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 dirty="0">
                  <a:solidFill>
                    <a:srgbClr val="000000"/>
                  </a:solidFill>
                  <a:latin typeface="Times" pitchFamily="18" charset="0"/>
                </a:rPr>
                <a:t>K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269344" name="矩形 153635"/>
            <p:cNvSpPr/>
            <p:nvPr/>
          </p:nvSpPr>
          <p:spPr>
            <a:xfrm>
              <a:off x="6823075" y="1338263"/>
              <a:ext cx="79375" cy="215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 dirty="0">
                  <a:solidFill>
                    <a:srgbClr val="000000"/>
                  </a:solidFill>
                  <a:latin typeface="Times" pitchFamily="18" charset="0"/>
                </a:rPr>
                <a:t>J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grpSp>
          <p:nvGrpSpPr>
            <p:cNvPr id="269345" name="组合 153636"/>
            <p:cNvGrpSpPr/>
            <p:nvPr/>
          </p:nvGrpSpPr>
          <p:grpSpPr>
            <a:xfrm>
              <a:off x="7958138" y="2286000"/>
              <a:ext cx="381000" cy="336550"/>
              <a:chOff x="2454" y="3201"/>
              <a:chExt cx="240" cy="212"/>
            </a:xfrm>
          </p:grpSpPr>
          <p:sp>
            <p:nvSpPr>
              <p:cNvPr id="269350" name="文本框 153637"/>
              <p:cNvSpPr txBox="1"/>
              <p:nvPr/>
            </p:nvSpPr>
            <p:spPr>
              <a:xfrm>
                <a:off x="2454" y="3201"/>
                <a:ext cx="240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14C90"/>
                  </a:buClr>
                  <a:buFont typeface="Times" pitchFamily="18" charset="0"/>
                  <a:buChar char="•"/>
                  <a:defRPr sz="3000">
                    <a:solidFill>
                      <a:schemeClr val="tx1"/>
                    </a:solidFill>
                    <a:latin typeface="Verdana" panose="020B0604030504040204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191D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Verdana" panose="020B0604030504040204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14C90"/>
                  </a:buClr>
                  <a:buFont typeface="Arial" panose="020B0604020202020204" pitchFamily="34" charset="0"/>
                  <a:buChar char="•"/>
                  <a:defRPr sz="2600">
                    <a:solidFill>
                      <a:schemeClr val="tx1"/>
                    </a:solidFill>
                    <a:latin typeface="Verdana" panose="020B0604030504040204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191D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Verdana" panose="020B0604030504040204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14C90"/>
                  </a:buClr>
                  <a:buFont typeface="Lucida Grande"/>
                  <a:buChar char="-"/>
                  <a:defRPr sz="2200">
                    <a:solidFill>
                      <a:schemeClr val="tx1"/>
                    </a:solidFill>
                    <a:latin typeface="Verdana" panose="020B0604030504040204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600" i="1" dirty="0">
                    <a:solidFill>
                      <a:srgbClr val="FF0000"/>
                    </a:solidFill>
                    <a:latin typeface="Times New Roman" panose="02020603050405020304" charset="0"/>
                  </a:rPr>
                  <a:t>Q</a:t>
                </a:r>
              </a:p>
            </p:txBody>
          </p:sp>
          <p:sp>
            <p:nvSpPr>
              <p:cNvPr id="269351" name="直接连接符 153638"/>
              <p:cNvSpPr/>
              <p:nvPr/>
            </p:nvSpPr>
            <p:spPr>
              <a:xfrm>
                <a:off x="2524" y="3237"/>
                <a:ext cx="96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69346" name="文本框 153640"/>
            <p:cNvSpPr txBox="1"/>
            <p:nvPr/>
          </p:nvSpPr>
          <p:spPr>
            <a:xfrm>
              <a:off x="6816725" y="533400"/>
              <a:ext cx="508000" cy="306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 dirty="0">
                  <a:latin typeface="Times New Roman" panose="02020603050405020304" charset="0"/>
                </a:rPr>
                <a:t>PRE</a:t>
              </a:r>
            </a:p>
          </p:txBody>
        </p:sp>
        <p:sp>
          <p:nvSpPr>
            <p:cNvPr id="269347" name="文本框 153641"/>
            <p:cNvSpPr txBox="1"/>
            <p:nvPr/>
          </p:nvSpPr>
          <p:spPr>
            <a:xfrm>
              <a:off x="6858000" y="3048000"/>
              <a:ext cx="509588" cy="306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 dirty="0">
                  <a:latin typeface="Times New Roman" panose="02020603050405020304" charset="0"/>
                </a:rPr>
                <a:t>CLR</a:t>
              </a:r>
            </a:p>
          </p:txBody>
        </p:sp>
        <p:sp>
          <p:nvSpPr>
            <p:cNvPr id="269348" name="直接连接符 153642"/>
            <p:cNvSpPr/>
            <p:nvPr/>
          </p:nvSpPr>
          <p:spPr>
            <a:xfrm>
              <a:off x="6969125" y="3074988"/>
              <a:ext cx="3048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9349" name="直接连接符 153643"/>
            <p:cNvSpPr/>
            <p:nvPr/>
          </p:nvSpPr>
          <p:spPr>
            <a:xfrm>
              <a:off x="6918325" y="565150"/>
              <a:ext cx="3048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9320" name="矩形 153645"/>
          <p:cNvSpPr>
            <a:spLocks noTextEdit="1"/>
          </p:cNvSpPr>
          <p:nvPr/>
        </p:nvSpPr>
        <p:spPr>
          <a:xfrm>
            <a:off x="1112838" y="2419350"/>
            <a:ext cx="1219200" cy="449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92500" lnSpcReduction="10000"/>
          </a:bodyPr>
          <a:lstStyle/>
          <a:p>
            <a:pPr algn="ctr"/>
            <a:r>
              <a:rPr lang="zh-CN" altLang="en-US" sz="2800">
                <a:ln w="6600" cap="flat" cmpd="sng">
                  <a:solidFill>
                    <a:schemeClr val="accent2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dist="38100" dir="2699999" algn="tl" rotWithShape="0">
                    <a:schemeClr val="accent2"/>
                  </a:outerShdw>
                </a:effectLst>
                <a:latin typeface="Impact" panose="020B0806030902050204" charset="0"/>
                <a:ea typeface="Impact" panose="020B0806030902050204" charset="0"/>
              </a:rPr>
              <a:t>Solution</a:t>
            </a:r>
          </a:p>
        </p:txBody>
      </p:sp>
      <p:sp>
        <p:nvSpPr>
          <p:cNvPr id="153647" name="文本框 153646"/>
          <p:cNvSpPr txBox="1"/>
          <p:nvPr/>
        </p:nvSpPr>
        <p:spPr>
          <a:xfrm>
            <a:off x="1487488" y="3276600"/>
            <a:ext cx="533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Set</a:t>
            </a:r>
          </a:p>
        </p:txBody>
      </p:sp>
      <p:sp>
        <p:nvSpPr>
          <p:cNvPr id="153648" name="文本框 153647"/>
          <p:cNvSpPr txBox="1"/>
          <p:nvPr/>
        </p:nvSpPr>
        <p:spPr>
          <a:xfrm>
            <a:off x="2590800" y="3276600"/>
            <a:ext cx="838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Toggle</a:t>
            </a:r>
          </a:p>
        </p:txBody>
      </p:sp>
      <p:sp>
        <p:nvSpPr>
          <p:cNvPr id="153649" name="文本框 153648"/>
          <p:cNvSpPr txBox="1"/>
          <p:nvPr/>
        </p:nvSpPr>
        <p:spPr>
          <a:xfrm>
            <a:off x="4724400" y="3276600"/>
            <a:ext cx="64611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Reset</a:t>
            </a:r>
          </a:p>
        </p:txBody>
      </p:sp>
      <p:sp>
        <p:nvSpPr>
          <p:cNvPr id="153650" name="文本框 153649"/>
          <p:cNvSpPr txBox="1"/>
          <p:nvPr/>
        </p:nvSpPr>
        <p:spPr>
          <a:xfrm>
            <a:off x="5791200" y="3276600"/>
            <a:ext cx="914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Toggle</a:t>
            </a:r>
          </a:p>
        </p:txBody>
      </p:sp>
      <p:sp>
        <p:nvSpPr>
          <p:cNvPr id="153651" name="文本框 153650"/>
          <p:cNvSpPr txBox="1"/>
          <p:nvPr/>
        </p:nvSpPr>
        <p:spPr>
          <a:xfrm>
            <a:off x="2971800" y="4572000"/>
            <a:ext cx="533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Set</a:t>
            </a:r>
          </a:p>
        </p:txBody>
      </p:sp>
      <p:sp>
        <p:nvSpPr>
          <p:cNvPr id="153652" name="文本框 153651"/>
          <p:cNvSpPr txBox="1"/>
          <p:nvPr/>
        </p:nvSpPr>
        <p:spPr>
          <a:xfrm>
            <a:off x="3657600" y="3276600"/>
            <a:ext cx="533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Set</a:t>
            </a:r>
          </a:p>
        </p:txBody>
      </p:sp>
      <p:sp>
        <p:nvSpPr>
          <p:cNvPr id="153653" name="文本框 153652"/>
          <p:cNvSpPr txBox="1"/>
          <p:nvPr/>
        </p:nvSpPr>
        <p:spPr>
          <a:xfrm>
            <a:off x="6440488" y="4997450"/>
            <a:ext cx="64611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Reset</a:t>
            </a:r>
          </a:p>
        </p:txBody>
      </p:sp>
      <p:sp>
        <p:nvSpPr>
          <p:cNvPr id="153655" name="文本框 153654"/>
          <p:cNvSpPr txBox="1"/>
          <p:nvPr/>
        </p:nvSpPr>
        <p:spPr>
          <a:xfrm>
            <a:off x="6858000" y="3276600"/>
            <a:ext cx="914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dirty="0">
                <a:latin typeface="Times New Roman" panose="02020603050405020304" charset="0"/>
              </a:rPr>
              <a:t>Latch</a:t>
            </a:r>
          </a:p>
        </p:txBody>
      </p:sp>
      <p:sp>
        <p:nvSpPr>
          <p:cNvPr id="153656" name="矩形 153655"/>
          <p:cNvSpPr/>
          <p:nvPr/>
        </p:nvSpPr>
        <p:spPr>
          <a:xfrm>
            <a:off x="1371600" y="5715000"/>
            <a:ext cx="6400800" cy="4572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69330" name="矩形 153656"/>
          <p:cNvSpPr/>
          <p:nvPr/>
        </p:nvSpPr>
        <p:spPr>
          <a:xfrm>
            <a:off x="1111250" y="3657600"/>
            <a:ext cx="336550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269331" name="矩形 153657"/>
          <p:cNvSpPr/>
          <p:nvPr/>
        </p:nvSpPr>
        <p:spPr>
          <a:xfrm>
            <a:off x="1295400" y="4572000"/>
            <a:ext cx="119063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K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269332" name="矩形 153658"/>
          <p:cNvSpPr/>
          <p:nvPr/>
        </p:nvSpPr>
        <p:spPr>
          <a:xfrm flipH="1">
            <a:off x="1308100" y="4114800"/>
            <a:ext cx="215900" cy="2159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>
                <a:solidFill>
                  <a:srgbClr val="000000"/>
                </a:solidFill>
                <a:latin typeface="Times" pitchFamily="18" charset="0"/>
              </a:rPr>
              <a:t>J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269333" name="文本框 153662"/>
          <p:cNvSpPr txBox="1"/>
          <p:nvPr/>
        </p:nvSpPr>
        <p:spPr>
          <a:xfrm>
            <a:off x="1143000" y="5729288"/>
            <a:ext cx="533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i="1" dirty="0">
                <a:latin typeface="Times New Roman" panose="02020603050405020304" charset="0"/>
              </a:rPr>
              <a:t>Q</a:t>
            </a:r>
          </a:p>
        </p:txBody>
      </p:sp>
      <p:grpSp>
        <p:nvGrpSpPr>
          <p:cNvPr id="269334" name="组合 153666"/>
          <p:cNvGrpSpPr/>
          <p:nvPr/>
        </p:nvGrpSpPr>
        <p:grpSpPr>
          <a:xfrm>
            <a:off x="1066800" y="4953000"/>
            <a:ext cx="508000" cy="304800"/>
            <a:chOff x="482" y="3190"/>
            <a:chExt cx="320" cy="192"/>
          </a:xfrm>
        </p:grpSpPr>
        <p:sp>
          <p:nvSpPr>
            <p:cNvPr id="269339" name="文本框 153663"/>
            <p:cNvSpPr txBox="1"/>
            <p:nvPr/>
          </p:nvSpPr>
          <p:spPr>
            <a:xfrm>
              <a:off x="482" y="3190"/>
              <a:ext cx="32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 dirty="0">
                  <a:latin typeface="Times New Roman" panose="02020603050405020304" charset="0"/>
                </a:rPr>
                <a:t>PRE</a:t>
              </a:r>
            </a:p>
          </p:txBody>
        </p:sp>
        <p:sp>
          <p:nvSpPr>
            <p:cNvPr id="269340" name="直接连接符 153665"/>
            <p:cNvSpPr/>
            <p:nvPr/>
          </p:nvSpPr>
          <p:spPr>
            <a:xfrm>
              <a:off x="546" y="321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69335" name="组合 153669"/>
          <p:cNvGrpSpPr/>
          <p:nvPr/>
        </p:nvGrpSpPr>
        <p:grpSpPr>
          <a:xfrm>
            <a:off x="1066800" y="5334000"/>
            <a:ext cx="509588" cy="304800"/>
            <a:chOff x="720" y="3360"/>
            <a:chExt cx="321" cy="192"/>
          </a:xfrm>
        </p:grpSpPr>
        <p:sp>
          <p:nvSpPr>
            <p:cNvPr id="269337" name="文本框 153667"/>
            <p:cNvSpPr txBox="1"/>
            <p:nvPr/>
          </p:nvSpPr>
          <p:spPr>
            <a:xfrm>
              <a:off x="720" y="3360"/>
              <a:ext cx="32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 dirty="0">
                  <a:latin typeface="Times New Roman" panose="02020603050405020304" charset="0"/>
                </a:rPr>
                <a:t>CLR</a:t>
              </a:r>
            </a:p>
          </p:txBody>
        </p:sp>
        <p:sp>
          <p:nvSpPr>
            <p:cNvPr id="269338" name="直接连接符 153668"/>
            <p:cNvSpPr/>
            <p:nvPr/>
          </p:nvSpPr>
          <p:spPr>
            <a:xfrm>
              <a:off x="790" y="3377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9336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latin typeface="Arial" panose="020B0604020202020204" pitchFamily="34" charset="0"/>
              </a:rPr>
              <a:t>24</a:t>
            </a:fld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2000"/>
                                        <p:tgtEl>
                                          <p:spTgt spid="153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7" grpId="0"/>
      <p:bldP spid="153648" grpId="0"/>
      <p:bldP spid="153649" grpId="0"/>
      <p:bldP spid="153650" grpId="0"/>
      <p:bldP spid="153651" grpId="0"/>
      <p:bldP spid="153652" grpId="0"/>
      <p:bldP spid="153653" grpId="0"/>
      <p:bldP spid="15365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0" y="190500"/>
            <a:ext cx="9144000" cy="50165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Sec.7.2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边沿触发器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1363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1364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1365" name="Text Box 5"/>
          <p:cNvSpPr txBox="1"/>
          <p:nvPr/>
        </p:nvSpPr>
        <p:spPr>
          <a:xfrm>
            <a:off x="395288" y="6381750"/>
            <a:ext cx="23764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楷体_GB2312"/>
                <a:ea typeface="楷体_GB2312"/>
              </a:rPr>
              <a:t>CHAPTER 7</a:t>
            </a:r>
          </a:p>
        </p:txBody>
      </p:sp>
      <p:pic>
        <p:nvPicPr>
          <p:cNvPr id="271366" name="图片 1"/>
          <p:cNvPicPr>
            <a:picLocks noChangeAspect="1"/>
          </p:cNvPicPr>
          <p:nvPr/>
        </p:nvPicPr>
        <p:blipFill>
          <a:blip r:embed="rId2"/>
          <a:srcRect l="37701" t="15625" r="14278" b="16669"/>
          <a:stretch>
            <a:fillRect/>
          </a:stretch>
        </p:blipFill>
        <p:spPr>
          <a:xfrm>
            <a:off x="2411413" y="1847850"/>
            <a:ext cx="6337300" cy="4819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 6"/>
          <p:cNvSpPr txBox="1">
            <a:spLocks noRot="1" noChangeArrowheads="1"/>
          </p:cNvSpPr>
          <p:nvPr/>
        </p:nvSpPr>
        <p:spPr bwMode="auto">
          <a:xfrm>
            <a:off x="395288" y="1487488"/>
            <a:ext cx="3335338" cy="431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、双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触发器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74HC74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1368" name="Rectangle 7"/>
          <p:cNvSpPr txBox="1">
            <a:spLocks noRot="1"/>
          </p:cNvSpPr>
          <p:nvPr/>
        </p:nvSpPr>
        <p:spPr>
          <a:xfrm>
            <a:off x="255588" y="874713"/>
            <a:ext cx="3475037" cy="366712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7.2.5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、触发器的实现</a:t>
            </a:r>
          </a:p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0" y="190500"/>
            <a:ext cx="9144000" cy="50165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Sec.7.2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边沿触发器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2387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2388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2389" name="Text Box 5"/>
          <p:cNvSpPr txBox="1"/>
          <p:nvPr/>
        </p:nvSpPr>
        <p:spPr>
          <a:xfrm>
            <a:off x="395288" y="6381750"/>
            <a:ext cx="23764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楷体_GB2312"/>
                <a:ea typeface="楷体_GB2312"/>
              </a:rPr>
              <a:t>CHAPTER 7</a:t>
            </a:r>
          </a:p>
        </p:txBody>
      </p:sp>
      <p:sp>
        <p:nvSpPr>
          <p:cNvPr id="9" name="Rectangle 6"/>
          <p:cNvSpPr txBox="1">
            <a:spLocks noRot="1" noChangeArrowheads="1"/>
          </p:cNvSpPr>
          <p:nvPr/>
        </p:nvSpPr>
        <p:spPr bwMode="auto">
          <a:xfrm>
            <a:off x="395288" y="1487488"/>
            <a:ext cx="3948113" cy="431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、双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J-K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触发器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74HC112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2391" name="Rectangle 7"/>
          <p:cNvSpPr txBox="1">
            <a:spLocks noRot="1"/>
          </p:cNvSpPr>
          <p:nvPr/>
        </p:nvSpPr>
        <p:spPr>
          <a:xfrm>
            <a:off x="255588" y="874713"/>
            <a:ext cx="3475037" cy="366712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7.2.5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、触发器的实现</a:t>
            </a:r>
          </a:p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7239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538" y="985838"/>
            <a:ext cx="2174875" cy="4792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2393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463" y="993775"/>
            <a:ext cx="1646237" cy="2035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2394" name="图片 1"/>
          <p:cNvPicPr>
            <a:picLocks noChangeAspect="1"/>
          </p:cNvPicPr>
          <p:nvPr/>
        </p:nvPicPr>
        <p:blipFill>
          <a:blip r:embed="rId4"/>
          <a:srcRect l="25403" t="20834" r="16032" b="30209"/>
          <a:stretch>
            <a:fillRect/>
          </a:stretch>
        </p:blipFill>
        <p:spPr>
          <a:xfrm>
            <a:off x="274638" y="3057525"/>
            <a:ext cx="6253162" cy="280670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4825F3C-0FB4-5BC9-72A4-7D0D8466355B}"/>
                  </a:ext>
                </a:extLst>
              </p14:cNvPr>
              <p14:cNvContentPartPr/>
              <p14:nvPr/>
            </p14:nvContentPartPr>
            <p14:xfrm>
              <a:off x="4660084" y="4578921"/>
              <a:ext cx="672840" cy="5025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4825F3C-0FB4-5BC9-72A4-7D0D846635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55764" y="4574601"/>
                <a:ext cx="68148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C62B7F85-A7F0-9138-CCE6-96B1B54CF49F}"/>
                  </a:ext>
                </a:extLst>
              </p14:cNvPr>
              <p14:cNvContentPartPr/>
              <p14:nvPr/>
            </p14:nvContentPartPr>
            <p14:xfrm>
              <a:off x="3433924" y="4902201"/>
              <a:ext cx="528840" cy="2602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C62B7F85-A7F0-9138-CCE6-96B1B54CF4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29604" y="4897881"/>
                <a:ext cx="537480" cy="26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>
    <p:pull dir="r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/>
          <p:nvPr/>
        </p:nvSpPr>
        <p:spPr>
          <a:xfrm>
            <a:off x="539750" y="692150"/>
            <a:ext cx="4968875" cy="42545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>
              <a:spcBef>
                <a:spcPct val="50000"/>
              </a:spcBef>
              <a:buSzTx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补充：逻辑功能的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特性表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描述 </a:t>
            </a:r>
          </a:p>
        </p:txBody>
      </p:sp>
      <p:grpSp>
        <p:nvGrpSpPr>
          <p:cNvPr id="273411" name="组合 1"/>
          <p:cNvGrpSpPr/>
          <p:nvPr/>
        </p:nvGrpSpPr>
        <p:grpSpPr>
          <a:xfrm>
            <a:off x="739775" y="2938463"/>
            <a:ext cx="7907338" cy="1092200"/>
            <a:chOff x="647700" y="3556000"/>
            <a:chExt cx="7907338" cy="1092200"/>
          </a:xfrm>
        </p:grpSpPr>
        <p:sp>
          <p:nvSpPr>
            <p:cNvPr id="273414" name="Text Box 3"/>
            <p:cNvSpPr txBox="1"/>
            <p:nvPr/>
          </p:nvSpPr>
          <p:spPr>
            <a:xfrm>
              <a:off x="647700" y="3611563"/>
              <a:ext cx="700088" cy="3651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SzTx/>
                <a:buNone/>
              </a:pPr>
              <a:r>
                <a:rPr lang="zh-CN" altLang="en-US" dirty="0">
                  <a:solidFill>
                    <a:srgbClr val="CC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次态 </a:t>
              </a:r>
            </a:p>
          </p:txBody>
        </p:sp>
        <p:sp>
          <p:nvSpPr>
            <p:cNvPr id="273415" name="Text Box 4"/>
            <p:cNvSpPr txBox="1"/>
            <p:nvPr/>
          </p:nvSpPr>
          <p:spPr>
            <a:xfrm>
              <a:off x="647700" y="4233863"/>
              <a:ext cx="673100" cy="3651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SzTx/>
                <a:buNone/>
              </a:pPr>
              <a:r>
                <a:rPr lang="zh-CN" altLang="en-US" dirty="0">
                  <a:solidFill>
                    <a:srgbClr val="CC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现态 </a:t>
              </a:r>
            </a:p>
          </p:txBody>
        </p:sp>
        <p:sp>
          <p:nvSpPr>
            <p:cNvPr id="273416" name="Rectangle 5"/>
            <p:cNvSpPr/>
            <p:nvPr/>
          </p:nvSpPr>
          <p:spPr>
            <a:xfrm>
              <a:off x="1497013" y="4191000"/>
              <a:ext cx="7058025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457200" lvl="0" indent="-457200">
                <a:spcBef>
                  <a:spcPct val="50000"/>
                </a:spcBef>
                <a:buSzTx/>
                <a:buNone/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指触发器在输入信号变化前的状态，用 </a:t>
              </a: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i="1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表示。 </a:t>
              </a:r>
            </a:p>
          </p:txBody>
        </p:sp>
        <p:sp>
          <p:nvSpPr>
            <p:cNvPr id="273417" name="Rectangle 6"/>
            <p:cNvSpPr/>
            <p:nvPr/>
          </p:nvSpPr>
          <p:spPr>
            <a:xfrm>
              <a:off x="1497013" y="3556000"/>
              <a:ext cx="7058025" cy="4247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457200" lvl="0" indent="-457200">
                <a:spcBef>
                  <a:spcPct val="50000"/>
                </a:spcBef>
                <a:buSzTx/>
                <a:buNone/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指触发器在输入信号变化后的状态，用 </a:t>
              </a: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i="1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+1 </a:t>
              </a: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表示。 </a:t>
              </a:r>
            </a:p>
          </p:txBody>
        </p:sp>
      </p:grpSp>
      <p:sp>
        <p:nvSpPr>
          <p:cNvPr id="273412" name="AutoShape 7"/>
          <p:cNvSpPr/>
          <p:nvPr/>
        </p:nvSpPr>
        <p:spPr>
          <a:xfrm>
            <a:off x="395288" y="1916113"/>
            <a:ext cx="8596312" cy="769937"/>
          </a:xfrm>
          <a:prstGeom prst="wedgeRectCallout">
            <a:avLst>
              <a:gd name="adj1" fmla="val -8958"/>
              <a:gd name="adj2" fmla="val -56394"/>
            </a:avLst>
          </a:prstGeom>
          <a:noFill/>
          <a:ln w="9525">
            <a:noFill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　锁存器次态与输入信号和电路原有状态之间关系的真值表。</a:t>
            </a:r>
          </a:p>
        </p:txBody>
      </p:sp>
      <p:sp>
        <p:nvSpPr>
          <p:cNvPr id="273413" name="Line 8"/>
          <p:cNvSpPr/>
          <p:nvPr/>
        </p:nvSpPr>
        <p:spPr>
          <a:xfrm>
            <a:off x="323850" y="433388"/>
            <a:ext cx="6804025" cy="0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879" name="Group 92"/>
          <p:cNvGrpSpPr/>
          <p:nvPr/>
        </p:nvGrpSpPr>
        <p:grpSpPr bwMode="auto">
          <a:xfrm>
            <a:off x="535778" y="5330598"/>
            <a:ext cx="7865447" cy="1036638"/>
            <a:chOff x="0" y="77"/>
            <a:chExt cx="4316" cy="653"/>
          </a:xfrm>
          <a:solidFill>
            <a:schemeClr val="accent1">
              <a:lumMod val="20000"/>
              <a:lumOff val="80000"/>
            </a:schemeClr>
          </a:solidFill>
        </p:grpSpPr>
        <p:grpSp>
          <p:nvGrpSpPr>
            <p:cNvPr id="463883" name="Group 93"/>
            <p:cNvGrpSpPr/>
            <p:nvPr/>
          </p:nvGrpSpPr>
          <p:grpSpPr bwMode="auto">
            <a:xfrm>
              <a:off x="632" y="161"/>
              <a:ext cx="3592" cy="233"/>
              <a:chOff x="0" y="0"/>
              <a:chExt cx="3592" cy="233"/>
            </a:xfrm>
            <a:grpFill/>
          </p:grpSpPr>
          <p:sp>
            <p:nvSpPr>
              <p:cNvPr id="463887" name="Rectangle 9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592" cy="23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457200" marR="0" lvl="0" indent="-457200" algn="l" defTabSz="914400" rtl="0" eaLnBrk="0" fontAlgn="base" latinLnBrk="0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     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置 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0 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端 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R</a:t>
                </a:r>
                <a:r>
                  <a:rPr kumimoji="0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D 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和置 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1 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端 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S</a:t>
                </a:r>
                <a:r>
                  <a:rPr kumimoji="0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D 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低电平有效。</a:t>
                </a:r>
              </a:p>
            </p:txBody>
          </p:sp>
          <p:sp>
            <p:nvSpPr>
              <p:cNvPr id="463888" name="Line 95"/>
              <p:cNvSpPr>
                <a:spLocks noChangeShapeType="1"/>
              </p:cNvSpPr>
              <p:nvPr/>
            </p:nvSpPr>
            <p:spPr bwMode="auto">
              <a:xfrm>
                <a:off x="925" y="39"/>
                <a:ext cx="165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63889" name="Line 96"/>
              <p:cNvSpPr>
                <a:spLocks noChangeShapeType="1"/>
              </p:cNvSpPr>
              <p:nvPr/>
            </p:nvSpPr>
            <p:spPr bwMode="auto">
              <a:xfrm>
                <a:off x="1971" y="39"/>
                <a:ext cx="163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63884" name="Rectangle 97"/>
            <p:cNvSpPr>
              <a:spLocks noChangeArrowheads="1"/>
            </p:cNvSpPr>
            <p:nvPr/>
          </p:nvSpPr>
          <p:spPr bwMode="auto">
            <a:xfrm>
              <a:off x="980" y="480"/>
              <a:ext cx="2736" cy="233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457200" marR="0" lvl="0" indent="-457200" algn="l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禁用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= 0 ,  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+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=1</a:t>
              </a:r>
            </a:p>
          </p:txBody>
        </p:sp>
        <p:sp>
          <p:nvSpPr>
            <p:cNvPr id="463885" name="AutoShape 98"/>
            <p:cNvSpPr>
              <a:spLocks noChangeArrowheads="1"/>
            </p:cNvSpPr>
            <p:nvPr/>
          </p:nvSpPr>
          <p:spPr bwMode="auto">
            <a:xfrm>
              <a:off x="3284" y="498"/>
              <a:ext cx="1032" cy="232"/>
            </a:xfrm>
            <a:prstGeom prst="wedgeRectCallout">
              <a:avLst>
                <a:gd name="adj1" fmla="val -88181"/>
                <a:gd name="adj2" fmla="val 5171"/>
              </a:avLst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称约束条件 </a:t>
              </a:r>
            </a:p>
          </p:txBody>
        </p:sp>
        <p:sp>
          <p:nvSpPr>
            <p:cNvPr id="463886" name="AutoShape 99"/>
            <p:cNvSpPr>
              <a:spLocks noChangeArrowheads="1"/>
            </p:cNvSpPr>
            <p:nvPr/>
          </p:nvSpPr>
          <p:spPr bwMode="auto">
            <a:xfrm>
              <a:off x="0" y="77"/>
              <a:ext cx="710" cy="504"/>
            </a:xfrm>
            <a:prstGeom prst="irregularSeal1">
              <a:avLst/>
            </a:prstGeom>
            <a:grp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t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注意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: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74434" name="Group 2"/>
          <p:cNvGrpSpPr/>
          <p:nvPr/>
        </p:nvGrpSpPr>
        <p:grpSpPr>
          <a:xfrm>
            <a:off x="495300" y="1755775"/>
            <a:ext cx="5791200" cy="4247307"/>
            <a:chOff x="0" y="0"/>
            <a:chExt cx="3648" cy="2611"/>
          </a:xfrm>
        </p:grpSpPr>
        <p:grpSp>
          <p:nvGrpSpPr>
            <p:cNvPr id="274476" name="Group 3"/>
            <p:cNvGrpSpPr/>
            <p:nvPr/>
          </p:nvGrpSpPr>
          <p:grpSpPr>
            <a:xfrm>
              <a:off x="0" y="230"/>
              <a:ext cx="824" cy="496"/>
              <a:chOff x="0" y="0"/>
              <a:chExt cx="824" cy="496"/>
            </a:xfrm>
          </p:grpSpPr>
          <p:sp>
            <p:nvSpPr>
              <p:cNvPr id="274533" name="Rectangle 4"/>
              <p:cNvSpPr/>
              <p:nvPr/>
            </p:nvSpPr>
            <p:spPr>
              <a:xfrm>
                <a:off x="416" y="266"/>
                <a:ext cx="408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74534" name="Rectangle 5"/>
              <p:cNvSpPr/>
              <p:nvPr/>
            </p:nvSpPr>
            <p:spPr>
              <a:xfrm>
                <a:off x="0" y="266"/>
                <a:ext cx="416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74535" name="Rectangle 6"/>
              <p:cNvSpPr/>
              <p:nvPr/>
            </p:nvSpPr>
            <p:spPr>
              <a:xfrm>
                <a:off x="416" y="0"/>
                <a:ext cx="408" cy="2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74536" name="Rectangle 7"/>
              <p:cNvSpPr/>
              <p:nvPr/>
            </p:nvSpPr>
            <p:spPr>
              <a:xfrm>
                <a:off x="0" y="0"/>
                <a:ext cx="416" cy="2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sp>
          <p:nvSpPr>
            <p:cNvPr id="274477" name="Rectangle 8"/>
            <p:cNvSpPr/>
            <p:nvPr/>
          </p:nvSpPr>
          <p:spPr>
            <a:xfrm>
              <a:off x="824" y="49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4478" name="Rectangle 9"/>
            <p:cNvSpPr/>
            <p:nvPr/>
          </p:nvSpPr>
          <p:spPr>
            <a:xfrm>
              <a:off x="1248" y="49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</a:p>
          </p:txBody>
        </p:sp>
        <p:sp>
          <p:nvSpPr>
            <p:cNvPr id="274479" name="Rectangle 10"/>
            <p:cNvSpPr/>
            <p:nvPr/>
          </p:nvSpPr>
          <p:spPr>
            <a:xfrm>
              <a:off x="1672" y="230"/>
              <a:ext cx="1976" cy="49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60000"/>
                </a:lnSpc>
                <a:spcBef>
                  <a:spcPct val="50000"/>
                </a:spcBef>
                <a:buSzTx/>
                <a:buNone/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触发器</a:t>
              </a:r>
              <a:r>
                <a:rPr lang="zh-CN" altLang="en-US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状态不定</a:t>
              </a:r>
            </a:p>
          </p:txBody>
        </p:sp>
        <p:sp>
          <p:nvSpPr>
            <p:cNvPr id="274480" name="Rectangle 11"/>
            <p:cNvSpPr/>
            <p:nvPr/>
          </p:nvSpPr>
          <p:spPr>
            <a:xfrm>
              <a:off x="824" y="230"/>
              <a:ext cx="424" cy="26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4481" name="Rectangle 12"/>
            <p:cNvSpPr/>
            <p:nvPr/>
          </p:nvSpPr>
          <p:spPr>
            <a:xfrm>
              <a:off x="1248" y="230"/>
              <a:ext cx="424" cy="26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</a:p>
          </p:txBody>
        </p:sp>
        <p:grpSp>
          <p:nvGrpSpPr>
            <p:cNvPr id="274482" name="Group 13"/>
            <p:cNvGrpSpPr/>
            <p:nvPr/>
          </p:nvGrpSpPr>
          <p:grpSpPr>
            <a:xfrm>
              <a:off x="0" y="726"/>
              <a:ext cx="824" cy="460"/>
              <a:chOff x="0" y="0"/>
              <a:chExt cx="824" cy="460"/>
            </a:xfrm>
          </p:grpSpPr>
          <p:sp>
            <p:nvSpPr>
              <p:cNvPr id="274529" name="Rectangle 14"/>
              <p:cNvSpPr/>
              <p:nvPr/>
            </p:nvSpPr>
            <p:spPr>
              <a:xfrm>
                <a:off x="416" y="230"/>
                <a:ext cx="408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74530" name="Rectangle 15"/>
              <p:cNvSpPr/>
              <p:nvPr/>
            </p:nvSpPr>
            <p:spPr>
              <a:xfrm>
                <a:off x="0" y="230"/>
                <a:ext cx="416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74531" name="Rectangle 16"/>
              <p:cNvSpPr/>
              <p:nvPr/>
            </p:nvSpPr>
            <p:spPr>
              <a:xfrm>
                <a:off x="416" y="0"/>
                <a:ext cx="408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74532" name="Rectangle 17"/>
              <p:cNvSpPr/>
              <p:nvPr/>
            </p:nvSpPr>
            <p:spPr>
              <a:xfrm>
                <a:off x="0" y="0"/>
                <a:ext cx="416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sp>
          <p:nvSpPr>
            <p:cNvPr id="274483" name="Rectangle 18"/>
            <p:cNvSpPr/>
            <p:nvPr/>
          </p:nvSpPr>
          <p:spPr>
            <a:xfrm>
              <a:off x="824" y="95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4484" name="Rectangle 19"/>
            <p:cNvSpPr/>
            <p:nvPr/>
          </p:nvSpPr>
          <p:spPr>
            <a:xfrm>
              <a:off x="824" y="72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4485" name="Rectangle 20"/>
            <p:cNvSpPr/>
            <p:nvPr/>
          </p:nvSpPr>
          <p:spPr>
            <a:xfrm>
              <a:off x="1248" y="95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4486" name="Rectangle 21"/>
            <p:cNvSpPr/>
            <p:nvPr/>
          </p:nvSpPr>
          <p:spPr>
            <a:xfrm>
              <a:off x="1672" y="726"/>
              <a:ext cx="1976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60000"/>
                </a:lnSpc>
                <a:spcBef>
                  <a:spcPct val="50000"/>
                </a:spcBef>
                <a:buSzTx/>
                <a:buNone/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触发器</a:t>
              </a:r>
              <a:r>
                <a:rPr lang="zh-CN" altLang="en-US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置 </a:t>
              </a: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4487" name="Rectangle 22"/>
            <p:cNvSpPr/>
            <p:nvPr/>
          </p:nvSpPr>
          <p:spPr>
            <a:xfrm>
              <a:off x="1248" y="72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grpSp>
          <p:nvGrpSpPr>
            <p:cNvPr id="274488" name="Group 23"/>
            <p:cNvGrpSpPr/>
            <p:nvPr/>
          </p:nvGrpSpPr>
          <p:grpSpPr>
            <a:xfrm>
              <a:off x="0" y="1186"/>
              <a:ext cx="824" cy="460"/>
              <a:chOff x="0" y="0"/>
              <a:chExt cx="824" cy="460"/>
            </a:xfrm>
          </p:grpSpPr>
          <p:sp>
            <p:nvSpPr>
              <p:cNvPr id="274525" name="Rectangle 24"/>
              <p:cNvSpPr/>
              <p:nvPr/>
            </p:nvSpPr>
            <p:spPr>
              <a:xfrm>
                <a:off x="416" y="230"/>
                <a:ext cx="408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74526" name="Rectangle 25"/>
              <p:cNvSpPr/>
              <p:nvPr/>
            </p:nvSpPr>
            <p:spPr>
              <a:xfrm>
                <a:off x="0" y="230"/>
                <a:ext cx="416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74527" name="Rectangle 26"/>
              <p:cNvSpPr/>
              <p:nvPr/>
            </p:nvSpPr>
            <p:spPr>
              <a:xfrm>
                <a:off x="416" y="0"/>
                <a:ext cx="408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74528" name="Rectangle 27"/>
              <p:cNvSpPr/>
              <p:nvPr/>
            </p:nvSpPr>
            <p:spPr>
              <a:xfrm>
                <a:off x="0" y="0"/>
                <a:ext cx="416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sp>
          <p:nvSpPr>
            <p:cNvPr id="274489" name="Rectangle 28"/>
            <p:cNvSpPr/>
            <p:nvPr/>
          </p:nvSpPr>
          <p:spPr>
            <a:xfrm>
              <a:off x="824" y="141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4490" name="Rectangle 29"/>
            <p:cNvSpPr/>
            <p:nvPr/>
          </p:nvSpPr>
          <p:spPr>
            <a:xfrm>
              <a:off x="824" y="118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4491" name="Rectangle 30"/>
            <p:cNvSpPr/>
            <p:nvPr/>
          </p:nvSpPr>
          <p:spPr>
            <a:xfrm>
              <a:off x="1248" y="141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4492" name="Rectangle 31"/>
            <p:cNvSpPr/>
            <p:nvPr/>
          </p:nvSpPr>
          <p:spPr>
            <a:xfrm>
              <a:off x="1672" y="1186"/>
              <a:ext cx="1976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60000"/>
                </a:lnSpc>
                <a:spcBef>
                  <a:spcPct val="50000"/>
                </a:spcBef>
                <a:buSzTx/>
                <a:buNone/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触发器</a:t>
              </a:r>
              <a:r>
                <a:rPr lang="zh-CN" altLang="en-US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置 </a:t>
              </a: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4493" name="Rectangle 32"/>
            <p:cNvSpPr/>
            <p:nvPr/>
          </p:nvSpPr>
          <p:spPr>
            <a:xfrm>
              <a:off x="1248" y="118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grpSp>
          <p:nvGrpSpPr>
            <p:cNvPr id="274494" name="Group 33"/>
            <p:cNvGrpSpPr/>
            <p:nvPr/>
          </p:nvGrpSpPr>
          <p:grpSpPr>
            <a:xfrm>
              <a:off x="0" y="1646"/>
              <a:ext cx="824" cy="460"/>
              <a:chOff x="0" y="0"/>
              <a:chExt cx="824" cy="460"/>
            </a:xfrm>
          </p:grpSpPr>
          <p:sp>
            <p:nvSpPr>
              <p:cNvPr id="274521" name="Rectangle 34"/>
              <p:cNvSpPr/>
              <p:nvPr/>
            </p:nvSpPr>
            <p:spPr>
              <a:xfrm>
                <a:off x="416" y="230"/>
                <a:ext cx="408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74522" name="Rectangle 35"/>
              <p:cNvSpPr/>
              <p:nvPr/>
            </p:nvSpPr>
            <p:spPr>
              <a:xfrm>
                <a:off x="0" y="230"/>
                <a:ext cx="416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74523" name="Rectangle 36"/>
              <p:cNvSpPr/>
              <p:nvPr/>
            </p:nvSpPr>
            <p:spPr>
              <a:xfrm>
                <a:off x="416" y="0"/>
                <a:ext cx="408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74524" name="Rectangle 37"/>
              <p:cNvSpPr/>
              <p:nvPr/>
            </p:nvSpPr>
            <p:spPr>
              <a:xfrm>
                <a:off x="0" y="0"/>
                <a:ext cx="416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274495" name="Group 38"/>
            <p:cNvGrpSpPr/>
            <p:nvPr/>
          </p:nvGrpSpPr>
          <p:grpSpPr>
            <a:xfrm>
              <a:off x="824" y="1646"/>
              <a:ext cx="848" cy="230"/>
              <a:chOff x="0" y="0"/>
              <a:chExt cx="848" cy="230"/>
            </a:xfrm>
          </p:grpSpPr>
          <p:sp>
            <p:nvSpPr>
              <p:cNvPr id="274519" name="Rectangle 39"/>
              <p:cNvSpPr/>
              <p:nvPr/>
            </p:nvSpPr>
            <p:spPr>
              <a:xfrm>
                <a:off x="424" y="0"/>
                <a:ext cx="424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A290FA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74520" name="Rectangle 40"/>
              <p:cNvSpPr/>
              <p:nvPr/>
            </p:nvSpPr>
            <p:spPr>
              <a:xfrm>
                <a:off x="0" y="0"/>
                <a:ext cx="424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A290FA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274496" name="Group 41"/>
            <p:cNvGrpSpPr/>
            <p:nvPr/>
          </p:nvGrpSpPr>
          <p:grpSpPr>
            <a:xfrm>
              <a:off x="824" y="1876"/>
              <a:ext cx="848" cy="230"/>
              <a:chOff x="0" y="0"/>
              <a:chExt cx="848" cy="230"/>
            </a:xfrm>
          </p:grpSpPr>
          <p:sp>
            <p:nvSpPr>
              <p:cNvPr id="274517" name="Rectangle 42"/>
              <p:cNvSpPr/>
              <p:nvPr/>
            </p:nvSpPr>
            <p:spPr>
              <a:xfrm>
                <a:off x="424" y="0"/>
                <a:ext cx="424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3399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74518" name="Rectangle 43"/>
              <p:cNvSpPr/>
              <p:nvPr/>
            </p:nvSpPr>
            <p:spPr>
              <a:xfrm>
                <a:off x="0" y="0"/>
                <a:ext cx="424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dirty="0">
                    <a:solidFill>
                      <a:srgbClr val="3399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sp>
          <p:nvSpPr>
            <p:cNvPr id="274497" name="Rectangle 44"/>
            <p:cNvSpPr/>
            <p:nvPr/>
          </p:nvSpPr>
          <p:spPr>
            <a:xfrm>
              <a:off x="1672" y="1646"/>
              <a:ext cx="1976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60000"/>
                </a:lnSpc>
                <a:spcBef>
                  <a:spcPct val="50000"/>
                </a:spcBef>
                <a:buSzTx/>
                <a:buNone/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触发器</a:t>
              </a:r>
              <a:r>
                <a:rPr lang="zh-CN" altLang="en-US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保持原状态不变</a:t>
              </a:r>
            </a:p>
          </p:txBody>
        </p:sp>
        <p:grpSp>
          <p:nvGrpSpPr>
            <p:cNvPr id="274498" name="Group 45"/>
            <p:cNvGrpSpPr/>
            <p:nvPr/>
          </p:nvGrpSpPr>
          <p:grpSpPr>
            <a:xfrm>
              <a:off x="0" y="0"/>
              <a:ext cx="3648" cy="2611"/>
              <a:chOff x="0" y="0"/>
              <a:chExt cx="3648" cy="2611"/>
            </a:xfrm>
          </p:grpSpPr>
          <p:sp>
            <p:nvSpPr>
              <p:cNvPr id="274499" name="Rectangle 46"/>
              <p:cNvSpPr/>
              <p:nvPr/>
            </p:nvSpPr>
            <p:spPr>
              <a:xfrm>
                <a:off x="1672" y="0"/>
                <a:ext cx="1976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说       明</a:t>
                </a:r>
              </a:p>
            </p:txBody>
          </p:sp>
          <p:sp>
            <p:nvSpPr>
              <p:cNvPr id="274500" name="Rectangle 47"/>
              <p:cNvSpPr/>
              <p:nvPr/>
            </p:nvSpPr>
            <p:spPr>
              <a:xfrm>
                <a:off x="1248" y="0"/>
                <a:ext cx="424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Q</a:t>
                </a:r>
                <a:r>
                  <a:rPr lang="en-US" altLang="zh-CN" i="1" baseline="30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n</a:t>
                </a:r>
                <a:r>
                  <a:rPr lang="en-US" altLang="zh-CN" baseline="30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+1</a:t>
                </a:r>
              </a:p>
            </p:txBody>
          </p:sp>
          <p:sp>
            <p:nvSpPr>
              <p:cNvPr id="274501" name="Rectangle 48"/>
              <p:cNvSpPr/>
              <p:nvPr/>
            </p:nvSpPr>
            <p:spPr>
              <a:xfrm>
                <a:off x="824" y="0"/>
                <a:ext cx="424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Q</a:t>
                </a:r>
                <a:r>
                  <a:rPr lang="en-US" altLang="zh-CN" i="1" baseline="30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n</a:t>
                </a:r>
              </a:p>
            </p:txBody>
          </p:sp>
          <p:sp>
            <p:nvSpPr>
              <p:cNvPr id="274502" name="Rectangle 49"/>
              <p:cNvSpPr/>
              <p:nvPr/>
            </p:nvSpPr>
            <p:spPr>
              <a:xfrm>
                <a:off x="416" y="0"/>
                <a:ext cx="408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274503" name="Rectangle 50"/>
              <p:cNvSpPr/>
              <p:nvPr/>
            </p:nvSpPr>
            <p:spPr>
              <a:xfrm>
                <a:off x="0" y="0"/>
                <a:ext cx="416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SzTx/>
                  <a:buNone/>
                </a:pPr>
                <a:r>
                  <a:rPr lang="en-US" altLang="zh-CN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274504" name="Line 51"/>
              <p:cNvSpPr/>
              <p:nvPr/>
            </p:nvSpPr>
            <p:spPr>
              <a:xfrm>
                <a:off x="0" y="0"/>
                <a:ext cx="364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05" name="Line 52"/>
              <p:cNvSpPr/>
              <p:nvPr/>
            </p:nvSpPr>
            <p:spPr>
              <a:xfrm>
                <a:off x="0" y="230"/>
                <a:ext cx="364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06" name="Line 53"/>
              <p:cNvSpPr/>
              <p:nvPr/>
            </p:nvSpPr>
            <p:spPr>
              <a:xfrm>
                <a:off x="0" y="726"/>
                <a:ext cx="364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07" name="Line 54"/>
              <p:cNvSpPr/>
              <p:nvPr/>
            </p:nvSpPr>
            <p:spPr>
              <a:xfrm>
                <a:off x="0" y="1186"/>
                <a:ext cx="364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08" name="Line 55"/>
              <p:cNvSpPr/>
              <p:nvPr/>
            </p:nvSpPr>
            <p:spPr>
              <a:xfrm>
                <a:off x="0" y="1646"/>
                <a:ext cx="364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09" name="Line 56"/>
              <p:cNvSpPr/>
              <p:nvPr/>
            </p:nvSpPr>
            <p:spPr>
              <a:xfrm>
                <a:off x="0" y="2106"/>
                <a:ext cx="364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10" name="Line 57"/>
              <p:cNvSpPr/>
              <p:nvPr/>
            </p:nvSpPr>
            <p:spPr>
              <a:xfrm>
                <a:off x="0" y="0"/>
                <a:ext cx="0" cy="210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11" name="Line 58"/>
              <p:cNvSpPr/>
              <p:nvPr/>
            </p:nvSpPr>
            <p:spPr>
              <a:xfrm>
                <a:off x="824" y="0"/>
                <a:ext cx="0" cy="210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63950" name="Line 59"/>
              <p:cNvSpPr>
                <a:spLocks noChangeShapeType="1"/>
              </p:cNvSpPr>
              <p:nvPr/>
            </p:nvSpPr>
            <p:spPr bwMode="auto">
              <a:xfrm>
                <a:off x="1248" y="0"/>
                <a:ext cx="0" cy="2106"/>
              </a:xfrm>
              <a:prstGeom prst="line">
                <a:avLst/>
              </a:prstGeom>
              <a:noFill/>
              <a:ln w="38100">
                <a:solidFill>
                  <a:schemeClr val="accent1">
                    <a:lumMod val="75000"/>
                  </a:schemeClr>
                </a:solidFill>
                <a:round/>
              </a:ln>
            </p:spPr>
            <p:txBody>
              <a:bodyPr lIns="0" tIns="0" rIns="0" bIns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274513" name="Line 60"/>
              <p:cNvSpPr/>
              <p:nvPr/>
            </p:nvSpPr>
            <p:spPr>
              <a:xfrm>
                <a:off x="1672" y="0"/>
                <a:ext cx="0" cy="210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14" name="Line 61"/>
              <p:cNvSpPr/>
              <p:nvPr/>
            </p:nvSpPr>
            <p:spPr>
              <a:xfrm>
                <a:off x="3648" y="0"/>
                <a:ext cx="0" cy="210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15" name="Line 62"/>
              <p:cNvSpPr/>
              <p:nvPr/>
            </p:nvSpPr>
            <p:spPr>
              <a:xfrm>
                <a:off x="96" y="24"/>
                <a:ext cx="12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16" name="Line 63"/>
              <p:cNvSpPr/>
              <p:nvPr/>
            </p:nvSpPr>
            <p:spPr>
              <a:xfrm>
                <a:off x="512" y="24"/>
                <a:ext cx="12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" name="Line 62">
                <a:extLst>
                  <a:ext uri="{FF2B5EF4-FFF2-40B4-BE49-F238E27FC236}">
                    <a16:creationId xmlns:a16="http://schemas.microsoft.com/office/drawing/2014/main" id="{56C77BC4-71C1-6744-5CC3-4F2DCDE570AD}"/>
                  </a:ext>
                </a:extLst>
              </p:cNvPr>
              <p:cNvSpPr/>
              <p:nvPr/>
            </p:nvSpPr>
            <p:spPr>
              <a:xfrm>
                <a:off x="1597" y="2601"/>
                <a:ext cx="12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" name="Line 62">
                <a:extLst>
                  <a:ext uri="{FF2B5EF4-FFF2-40B4-BE49-F238E27FC236}">
                    <a16:creationId xmlns:a16="http://schemas.microsoft.com/office/drawing/2014/main" id="{B89183A4-3856-E9F3-BDBC-650E05D839B2}"/>
                  </a:ext>
                </a:extLst>
              </p:cNvPr>
              <p:cNvSpPr/>
              <p:nvPr/>
            </p:nvSpPr>
            <p:spPr>
              <a:xfrm>
                <a:off x="1960" y="2601"/>
                <a:ext cx="12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" name="Line 62">
                <a:extLst>
                  <a:ext uri="{FF2B5EF4-FFF2-40B4-BE49-F238E27FC236}">
                    <a16:creationId xmlns:a16="http://schemas.microsoft.com/office/drawing/2014/main" id="{2A0CE683-1E67-6EF0-0E4A-1E596FA39734}"/>
                  </a:ext>
                </a:extLst>
              </p:cNvPr>
              <p:cNvSpPr/>
              <p:nvPr/>
            </p:nvSpPr>
            <p:spPr>
              <a:xfrm>
                <a:off x="2822" y="2611"/>
                <a:ext cx="12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" name="Line 62">
                <a:extLst>
                  <a:ext uri="{FF2B5EF4-FFF2-40B4-BE49-F238E27FC236}">
                    <a16:creationId xmlns:a16="http://schemas.microsoft.com/office/drawing/2014/main" id="{ABCA8DEC-EE6D-2960-9B24-F6DA32186536}"/>
                  </a:ext>
                </a:extLst>
              </p:cNvPr>
              <p:cNvSpPr/>
              <p:nvPr/>
            </p:nvSpPr>
            <p:spPr>
              <a:xfrm>
                <a:off x="2886" y="2280"/>
                <a:ext cx="12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" name="Line 62">
                <a:extLst>
                  <a:ext uri="{FF2B5EF4-FFF2-40B4-BE49-F238E27FC236}">
                    <a16:creationId xmlns:a16="http://schemas.microsoft.com/office/drawing/2014/main" id="{9309D139-4592-4F2A-2EBF-D94F02996606}"/>
                  </a:ext>
                </a:extLst>
              </p:cNvPr>
              <p:cNvSpPr/>
              <p:nvPr/>
            </p:nvSpPr>
            <p:spPr>
              <a:xfrm>
                <a:off x="1874" y="2318"/>
                <a:ext cx="12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" name="Line 62">
                <a:extLst>
                  <a:ext uri="{FF2B5EF4-FFF2-40B4-BE49-F238E27FC236}">
                    <a16:creationId xmlns:a16="http://schemas.microsoft.com/office/drawing/2014/main" id="{225F5061-D7B6-1B5D-5F42-5CD16DC1DE7F}"/>
                  </a:ext>
                </a:extLst>
              </p:cNvPr>
              <p:cNvSpPr/>
              <p:nvPr/>
            </p:nvSpPr>
            <p:spPr>
              <a:xfrm>
                <a:off x="3137" y="2608"/>
                <a:ext cx="12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74435" name="Group 64"/>
          <p:cNvGrpSpPr/>
          <p:nvPr/>
        </p:nvGrpSpPr>
        <p:grpSpPr>
          <a:xfrm>
            <a:off x="6400800" y="1809750"/>
            <a:ext cx="2565400" cy="2628900"/>
            <a:chOff x="0" y="0"/>
            <a:chExt cx="1472" cy="1656"/>
          </a:xfrm>
        </p:grpSpPr>
        <p:sp>
          <p:nvSpPr>
            <p:cNvPr id="274452" name="Rectangle 65"/>
            <p:cNvSpPr/>
            <p:nvPr/>
          </p:nvSpPr>
          <p:spPr>
            <a:xfrm>
              <a:off x="40" y="0"/>
              <a:ext cx="1412" cy="44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457200" lvl="0" indent="-457200" algn="ctr">
                <a:spcBef>
                  <a:spcPct val="50000"/>
                </a:spcBef>
                <a:buSz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基本 </a:t>
              </a:r>
              <a:r>
                <a:rPr lang="en-US" altLang="zh-CN" sz="2000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RS </a:t>
              </a:r>
              <a:r>
                <a:rPr lang="zh-CN" altLang="en-US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触发器</a:t>
              </a:r>
              <a:endParaRPr lang="en-US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457200" lvl="0" indent="-457200" algn="ctr">
                <a:spcBef>
                  <a:spcPct val="50000"/>
                </a:spcBef>
                <a:buSz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highlight>
                    <a:srgbClr val="A1FDA5"/>
                  </a:highlight>
                  <a:latin typeface="黑体" panose="02010609060101010101" pitchFamily="49" charset="-122"/>
                  <a:ea typeface="黑体" panose="02010609060101010101" pitchFamily="49" charset="-122"/>
                </a:rPr>
                <a:t>特性表</a:t>
              </a:r>
              <a:r>
                <a:rPr lang="zh-CN" altLang="en-US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的简化表示</a:t>
              </a:r>
            </a:p>
          </p:txBody>
        </p:sp>
        <p:sp>
          <p:nvSpPr>
            <p:cNvPr id="274453" name="Rectangle 66"/>
            <p:cNvSpPr/>
            <p:nvPr/>
          </p:nvSpPr>
          <p:spPr>
            <a:xfrm>
              <a:off x="824" y="1426"/>
              <a:ext cx="64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i="1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</a:p>
          </p:txBody>
        </p:sp>
        <p:sp>
          <p:nvSpPr>
            <p:cNvPr id="274454" name="Rectangle 67"/>
            <p:cNvSpPr/>
            <p:nvPr/>
          </p:nvSpPr>
          <p:spPr>
            <a:xfrm>
              <a:off x="440" y="1426"/>
              <a:ext cx="38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4455" name="Rectangle 68"/>
            <p:cNvSpPr/>
            <p:nvPr/>
          </p:nvSpPr>
          <p:spPr>
            <a:xfrm>
              <a:off x="0" y="1426"/>
              <a:ext cx="44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4456" name="Rectangle 69"/>
            <p:cNvSpPr/>
            <p:nvPr/>
          </p:nvSpPr>
          <p:spPr>
            <a:xfrm>
              <a:off x="824" y="1196"/>
              <a:ext cx="64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4457" name="Rectangle 70"/>
            <p:cNvSpPr/>
            <p:nvPr/>
          </p:nvSpPr>
          <p:spPr>
            <a:xfrm>
              <a:off x="440" y="1196"/>
              <a:ext cx="38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4458" name="Rectangle 71"/>
            <p:cNvSpPr/>
            <p:nvPr/>
          </p:nvSpPr>
          <p:spPr>
            <a:xfrm>
              <a:off x="0" y="1196"/>
              <a:ext cx="44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4459" name="Rectangle 72"/>
            <p:cNvSpPr/>
            <p:nvPr/>
          </p:nvSpPr>
          <p:spPr>
            <a:xfrm>
              <a:off x="824" y="966"/>
              <a:ext cx="64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4460" name="Rectangle 73"/>
            <p:cNvSpPr/>
            <p:nvPr/>
          </p:nvSpPr>
          <p:spPr>
            <a:xfrm>
              <a:off x="440" y="966"/>
              <a:ext cx="38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4461" name="Rectangle 74"/>
            <p:cNvSpPr/>
            <p:nvPr/>
          </p:nvSpPr>
          <p:spPr>
            <a:xfrm>
              <a:off x="0" y="966"/>
              <a:ext cx="44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4462" name="Rectangle 75"/>
            <p:cNvSpPr/>
            <p:nvPr/>
          </p:nvSpPr>
          <p:spPr>
            <a:xfrm>
              <a:off x="824" y="736"/>
              <a:ext cx="64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不定</a:t>
              </a:r>
            </a:p>
          </p:txBody>
        </p:sp>
        <p:sp>
          <p:nvSpPr>
            <p:cNvPr id="274463" name="Rectangle 76"/>
            <p:cNvSpPr/>
            <p:nvPr/>
          </p:nvSpPr>
          <p:spPr>
            <a:xfrm>
              <a:off x="440" y="736"/>
              <a:ext cx="38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4464" name="Rectangle 77"/>
            <p:cNvSpPr/>
            <p:nvPr/>
          </p:nvSpPr>
          <p:spPr>
            <a:xfrm>
              <a:off x="0" y="736"/>
              <a:ext cx="44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4465" name="Rectangle 78"/>
            <p:cNvSpPr/>
            <p:nvPr/>
          </p:nvSpPr>
          <p:spPr>
            <a:xfrm>
              <a:off x="824" y="506"/>
              <a:ext cx="64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i="1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+1</a:t>
              </a:r>
            </a:p>
          </p:txBody>
        </p:sp>
        <p:sp>
          <p:nvSpPr>
            <p:cNvPr id="274466" name="Rectangle 79"/>
            <p:cNvSpPr/>
            <p:nvPr/>
          </p:nvSpPr>
          <p:spPr>
            <a:xfrm>
              <a:off x="440" y="506"/>
              <a:ext cx="38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274467" name="Rectangle 80"/>
            <p:cNvSpPr/>
            <p:nvPr/>
          </p:nvSpPr>
          <p:spPr>
            <a:xfrm>
              <a:off x="0" y="506"/>
              <a:ext cx="44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r>
                <a:rPr lang="en-US" altLang="zh-CN" baseline="-25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274468" name="Line 81"/>
            <p:cNvSpPr/>
            <p:nvPr/>
          </p:nvSpPr>
          <p:spPr>
            <a:xfrm>
              <a:off x="0" y="506"/>
              <a:ext cx="1472" cy="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4469" name="Line 82"/>
            <p:cNvSpPr/>
            <p:nvPr/>
          </p:nvSpPr>
          <p:spPr>
            <a:xfrm>
              <a:off x="0" y="736"/>
              <a:ext cx="1472" cy="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4470" name="Line 83"/>
            <p:cNvSpPr/>
            <p:nvPr/>
          </p:nvSpPr>
          <p:spPr>
            <a:xfrm>
              <a:off x="0" y="1656"/>
              <a:ext cx="1472" cy="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4471" name="Line 84"/>
            <p:cNvSpPr/>
            <p:nvPr/>
          </p:nvSpPr>
          <p:spPr>
            <a:xfrm>
              <a:off x="0" y="506"/>
              <a:ext cx="0" cy="115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4472" name="Line 85"/>
            <p:cNvSpPr/>
            <p:nvPr/>
          </p:nvSpPr>
          <p:spPr>
            <a:xfrm>
              <a:off x="824" y="506"/>
              <a:ext cx="0" cy="115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4473" name="Line 86"/>
            <p:cNvSpPr/>
            <p:nvPr/>
          </p:nvSpPr>
          <p:spPr>
            <a:xfrm>
              <a:off x="1472" y="506"/>
              <a:ext cx="0" cy="115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4474" name="Line 87"/>
            <p:cNvSpPr/>
            <p:nvPr/>
          </p:nvSpPr>
          <p:spPr>
            <a:xfrm>
              <a:off x="112" y="536"/>
              <a:ext cx="128" cy="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4475" name="Line 88"/>
            <p:cNvSpPr/>
            <p:nvPr/>
          </p:nvSpPr>
          <p:spPr>
            <a:xfrm>
              <a:off x="520" y="536"/>
              <a:ext cx="128" cy="0"/>
            </a:xfrm>
            <a:prstGeom prst="line">
              <a:avLst/>
            </a:prstGeom>
            <a:ln w="9525">
              <a:noFill/>
            </a:ln>
          </p:spPr>
        </p:sp>
      </p:grpSp>
      <p:sp>
        <p:nvSpPr>
          <p:cNvPr id="11353" name="Text Box 89"/>
          <p:cNvSpPr txBox="1"/>
          <p:nvPr/>
        </p:nvSpPr>
        <p:spPr>
          <a:xfrm>
            <a:off x="915988" y="1100138"/>
            <a:ext cx="5529262" cy="332399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lIns="0" tIns="0" rIns="0" bIns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与非门组成的基本 </a:t>
            </a: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RS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特性表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74437" name="Line 90"/>
          <p:cNvSpPr/>
          <p:nvPr/>
        </p:nvSpPr>
        <p:spPr>
          <a:xfrm>
            <a:off x="3408363" y="6154738"/>
            <a:ext cx="288925" cy="0"/>
          </a:xfrm>
          <a:prstGeom prst="line">
            <a:avLst/>
          </a:prstGeom>
          <a:ln w="9525">
            <a:noFill/>
          </a:ln>
        </p:spPr>
      </p:sp>
      <p:sp>
        <p:nvSpPr>
          <p:cNvPr id="274438" name="Line 91"/>
          <p:cNvSpPr/>
          <p:nvPr/>
        </p:nvSpPr>
        <p:spPr>
          <a:xfrm>
            <a:off x="4071938" y="6154738"/>
            <a:ext cx="265112" cy="0"/>
          </a:xfrm>
          <a:prstGeom prst="line">
            <a:avLst/>
          </a:prstGeom>
          <a:ln w="9525">
            <a:noFill/>
          </a:ln>
        </p:spPr>
      </p:sp>
      <p:sp>
        <p:nvSpPr>
          <p:cNvPr id="274440" name="Line 100"/>
          <p:cNvSpPr/>
          <p:nvPr/>
        </p:nvSpPr>
        <p:spPr>
          <a:xfrm>
            <a:off x="407886" y="533476"/>
            <a:ext cx="6804025" cy="0"/>
          </a:xfrm>
          <a:prstGeom prst="line">
            <a:avLst/>
          </a:prstGeom>
          <a:ln w="9525">
            <a:noFill/>
          </a:ln>
        </p:spPr>
      </p:sp>
      <p:cxnSp>
        <p:nvCxnSpPr>
          <p:cNvPr id="274441" name="直接连接符 3"/>
          <p:cNvCxnSpPr>
            <a:stCxn id="274474" idx="0"/>
          </p:cNvCxnSpPr>
          <p:nvPr/>
        </p:nvCxnSpPr>
        <p:spPr>
          <a:xfrm>
            <a:off x="6596063" y="2660650"/>
            <a:ext cx="3698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74442" name="直接连接符 5"/>
          <p:cNvCxnSpPr>
            <a:stCxn id="274475" idx="0"/>
          </p:cNvCxnSpPr>
          <p:nvPr/>
        </p:nvCxnSpPr>
        <p:spPr>
          <a:xfrm>
            <a:off x="7307263" y="2660650"/>
            <a:ext cx="3762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" name="直接连接符 3"/>
          <p:cNvCxnSpPr>
            <a:stCxn id="274468" idx="0"/>
            <a:endCxn id="274468" idx="1"/>
          </p:cNvCxnSpPr>
          <p:nvPr/>
        </p:nvCxnSpPr>
        <p:spPr bwMode="auto">
          <a:xfrm>
            <a:off x="6400800" y="2613025"/>
            <a:ext cx="2565400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 bwMode="auto">
          <a:xfrm flipV="1">
            <a:off x="6445250" y="4476750"/>
            <a:ext cx="2444750" cy="30163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auto">
          <a:xfrm>
            <a:off x="6423025" y="2620963"/>
            <a:ext cx="0" cy="1916113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8890000" y="2560638"/>
            <a:ext cx="0" cy="1916113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auto">
          <a:xfrm flipV="1">
            <a:off x="6445250" y="2976563"/>
            <a:ext cx="2444750" cy="3651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auto">
          <a:xfrm flipV="1">
            <a:off x="6470650" y="3324225"/>
            <a:ext cx="2419350" cy="7938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auto">
          <a:xfrm flipV="1">
            <a:off x="6423025" y="3662363"/>
            <a:ext cx="2466975" cy="222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auto">
          <a:xfrm flipV="1">
            <a:off x="6423025" y="4056063"/>
            <a:ext cx="2466975" cy="4286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 bwMode="auto">
          <a:xfrm>
            <a:off x="7924800" y="2620963"/>
            <a:ext cx="0" cy="1916113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/>
          <p:nvPr/>
        </p:nvSpPr>
        <p:spPr>
          <a:xfrm>
            <a:off x="706438" y="558800"/>
            <a:ext cx="5991225" cy="42545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同步 </a:t>
            </a: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RS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特性表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特性方程 </a:t>
            </a:r>
          </a:p>
        </p:txBody>
      </p:sp>
      <p:grpSp>
        <p:nvGrpSpPr>
          <p:cNvPr id="10" name="Group 3"/>
          <p:cNvGrpSpPr/>
          <p:nvPr/>
        </p:nvGrpSpPr>
        <p:grpSpPr bwMode="auto">
          <a:xfrm>
            <a:off x="1371600" y="5594350"/>
            <a:ext cx="2667000" cy="730250"/>
            <a:chOff x="0" y="0"/>
            <a:chExt cx="1680" cy="46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65011" name="Rectangle 4"/>
            <p:cNvSpPr>
              <a:spLocks noChangeArrowheads="1"/>
            </p:cNvSpPr>
            <p:nvPr/>
          </p:nvSpPr>
          <p:spPr bwMode="auto">
            <a:xfrm>
              <a:off x="416" y="230"/>
              <a:ext cx="408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12" name="Rectangle 5"/>
            <p:cNvSpPr>
              <a:spLocks noChangeArrowheads="1"/>
            </p:cNvSpPr>
            <p:nvPr/>
          </p:nvSpPr>
          <p:spPr bwMode="auto">
            <a:xfrm>
              <a:off x="0" y="230"/>
              <a:ext cx="416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13" name="Rectangle 6"/>
            <p:cNvSpPr>
              <a:spLocks noChangeArrowheads="1"/>
            </p:cNvSpPr>
            <p:nvPr/>
          </p:nvSpPr>
          <p:spPr bwMode="auto">
            <a:xfrm>
              <a:off x="416" y="0"/>
              <a:ext cx="408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14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416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15" name="Rectangle 8"/>
            <p:cNvSpPr>
              <a:spLocks noChangeArrowheads="1"/>
            </p:cNvSpPr>
            <p:nvPr/>
          </p:nvSpPr>
          <p:spPr bwMode="auto">
            <a:xfrm>
              <a:off x="1248" y="0"/>
              <a:ext cx="424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16" name="Rectangle 9"/>
            <p:cNvSpPr>
              <a:spLocks noChangeArrowheads="1"/>
            </p:cNvSpPr>
            <p:nvPr/>
          </p:nvSpPr>
          <p:spPr bwMode="auto">
            <a:xfrm>
              <a:off x="824" y="0"/>
              <a:ext cx="424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17" name="Rectangle 10"/>
            <p:cNvSpPr>
              <a:spLocks noChangeArrowheads="1"/>
            </p:cNvSpPr>
            <p:nvPr/>
          </p:nvSpPr>
          <p:spPr bwMode="auto">
            <a:xfrm>
              <a:off x="1248" y="230"/>
              <a:ext cx="424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18" name="Rectangle 11"/>
            <p:cNvSpPr>
              <a:spLocks noChangeArrowheads="1"/>
            </p:cNvSpPr>
            <p:nvPr/>
          </p:nvSpPr>
          <p:spPr bwMode="auto">
            <a:xfrm>
              <a:off x="824" y="230"/>
              <a:ext cx="424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19" name="Line 12"/>
            <p:cNvSpPr>
              <a:spLocks noChangeShapeType="1"/>
            </p:cNvSpPr>
            <p:nvPr/>
          </p:nvSpPr>
          <p:spPr bwMode="auto">
            <a:xfrm>
              <a:off x="0" y="0"/>
              <a:ext cx="1680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65020" name="Line 13"/>
            <p:cNvSpPr>
              <a:spLocks noChangeShapeType="1"/>
            </p:cNvSpPr>
            <p:nvPr/>
          </p:nvSpPr>
          <p:spPr bwMode="auto">
            <a:xfrm>
              <a:off x="0" y="460"/>
              <a:ext cx="1668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11" name="Group 14"/>
          <p:cNvGrpSpPr/>
          <p:nvPr/>
        </p:nvGrpSpPr>
        <p:grpSpPr bwMode="auto">
          <a:xfrm>
            <a:off x="1384300" y="3768725"/>
            <a:ext cx="2676525" cy="1095375"/>
            <a:chOff x="0" y="0"/>
            <a:chExt cx="1686" cy="69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464997" name="Rectangle 15"/>
            <p:cNvSpPr>
              <a:spLocks noChangeArrowheads="1"/>
            </p:cNvSpPr>
            <p:nvPr/>
          </p:nvSpPr>
          <p:spPr bwMode="auto">
            <a:xfrm>
              <a:off x="416" y="0"/>
              <a:ext cx="408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4998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416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4999" name="Rectangle 17"/>
            <p:cNvSpPr>
              <a:spLocks noChangeArrowheads="1"/>
            </p:cNvSpPr>
            <p:nvPr/>
          </p:nvSpPr>
          <p:spPr bwMode="auto">
            <a:xfrm>
              <a:off x="824" y="0"/>
              <a:ext cx="424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00" name="Rectangle 18"/>
            <p:cNvSpPr>
              <a:spLocks noChangeArrowheads="1"/>
            </p:cNvSpPr>
            <p:nvPr/>
          </p:nvSpPr>
          <p:spPr bwMode="auto">
            <a:xfrm>
              <a:off x="1248" y="0"/>
              <a:ext cx="424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01" name="Rectangle 19"/>
            <p:cNvSpPr>
              <a:spLocks noChangeArrowheads="1"/>
            </p:cNvSpPr>
            <p:nvPr/>
          </p:nvSpPr>
          <p:spPr bwMode="auto">
            <a:xfrm>
              <a:off x="416" y="460"/>
              <a:ext cx="408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02" name="Rectangle 20"/>
            <p:cNvSpPr>
              <a:spLocks noChangeArrowheads="1"/>
            </p:cNvSpPr>
            <p:nvPr/>
          </p:nvSpPr>
          <p:spPr bwMode="auto">
            <a:xfrm>
              <a:off x="0" y="460"/>
              <a:ext cx="416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03" name="Rectangle 21"/>
            <p:cNvSpPr>
              <a:spLocks noChangeArrowheads="1"/>
            </p:cNvSpPr>
            <p:nvPr/>
          </p:nvSpPr>
          <p:spPr bwMode="auto">
            <a:xfrm>
              <a:off x="416" y="230"/>
              <a:ext cx="408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04" name="Rectangle 22"/>
            <p:cNvSpPr>
              <a:spLocks noChangeArrowheads="1"/>
            </p:cNvSpPr>
            <p:nvPr/>
          </p:nvSpPr>
          <p:spPr bwMode="auto">
            <a:xfrm>
              <a:off x="0" y="230"/>
              <a:ext cx="416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05" name="Rectangle 23"/>
            <p:cNvSpPr>
              <a:spLocks noChangeArrowheads="1"/>
            </p:cNvSpPr>
            <p:nvPr/>
          </p:nvSpPr>
          <p:spPr bwMode="auto">
            <a:xfrm>
              <a:off x="824" y="460"/>
              <a:ext cx="424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06" name="Rectangle 24"/>
            <p:cNvSpPr>
              <a:spLocks noChangeArrowheads="1"/>
            </p:cNvSpPr>
            <p:nvPr/>
          </p:nvSpPr>
          <p:spPr bwMode="auto">
            <a:xfrm>
              <a:off x="824" y="230"/>
              <a:ext cx="424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07" name="Rectangle 25"/>
            <p:cNvSpPr>
              <a:spLocks noChangeArrowheads="1"/>
            </p:cNvSpPr>
            <p:nvPr/>
          </p:nvSpPr>
          <p:spPr bwMode="auto">
            <a:xfrm>
              <a:off x="1248" y="460"/>
              <a:ext cx="424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08" name="Rectangle 26"/>
            <p:cNvSpPr>
              <a:spLocks noChangeArrowheads="1"/>
            </p:cNvSpPr>
            <p:nvPr/>
          </p:nvSpPr>
          <p:spPr bwMode="auto">
            <a:xfrm>
              <a:off x="1248" y="230"/>
              <a:ext cx="424" cy="23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5009" name="Line 27"/>
            <p:cNvSpPr>
              <a:spLocks noChangeShapeType="1"/>
            </p:cNvSpPr>
            <p:nvPr/>
          </p:nvSpPr>
          <p:spPr bwMode="auto">
            <a:xfrm>
              <a:off x="0" y="230"/>
              <a:ext cx="1686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65010" name="Line 28"/>
            <p:cNvSpPr>
              <a:spLocks noChangeShapeType="1"/>
            </p:cNvSpPr>
            <p:nvPr/>
          </p:nvSpPr>
          <p:spPr bwMode="auto">
            <a:xfrm>
              <a:off x="0" y="690"/>
              <a:ext cx="1680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275461" name="Group 29"/>
          <p:cNvGrpSpPr/>
          <p:nvPr/>
        </p:nvGrpSpPr>
        <p:grpSpPr>
          <a:xfrm>
            <a:off x="1371600" y="2981325"/>
            <a:ext cx="2676525" cy="3343275"/>
            <a:chOff x="0" y="0"/>
            <a:chExt cx="1686" cy="2106"/>
          </a:xfrm>
        </p:grpSpPr>
        <p:sp>
          <p:nvSpPr>
            <p:cNvPr id="275512" name="Rectangle 30"/>
            <p:cNvSpPr/>
            <p:nvPr/>
          </p:nvSpPr>
          <p:spPr>
            <a:xfrm>
              <a:off x="416" y="496"/>
              <a:ext cx="40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13" name="Rectangle 31"/>
            <p:cNvSpPr/>
            <p:nvPr/>
          </p:nvSpPr>
          <p:spPr>
            <a:xfrm>
              <a:off x="0" y="496"/>
              <a:ext cx="41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14" name="Rectangle 32"/>
            <p:cNvSpPr/>
            <p:nvPr/>
          </p:nvSpPr>
          <p:spPr>
            <a:xfrm>
              <a:off x="416" y="230"/>
              <a:ext cx="408" cy="26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15" name="Rectangle 33"/>
            <p:cNvSpPr/>
            <p:nvPr/>
          </p:nvSpPr>
          <p:spPr>
            <a:xfrm>
              <a:off x="0" y="230"/>
              <a:ext cx="416" cy="26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16" name="Rectangle 34"/>
            <p:cNvSpPr/>
            <p:nvPr/>
          </p:nvSpPr>
          <p:spPr>
            <a:xfrm>
              <a:off x="824" y="49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CC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17" name="Rectangle 35"/>
            <p:cNvSpPr/>
            <p:nvPr/>
          </p:nvSpPr>
          <p:spPr>
            <a:xfrm>
              <a:off x="824" y="230"/>
              <a:ext cx="424" cy="26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CC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18" name="Rectangle 36"/>
            <p:cNvSpPr/>
            <p:nvPr/>
          </p:nvSpPr>
          <p:spPr>
            <a:xfrm>
              <a:off x="1248" y="49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CC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19" name="Rectangle 37"/>
            <p:cNvSpPr/>
            <p:nvPr/>
          </p:nvSpPr>
          <p:spPr>
            <a:xfrm>
              <a:off x="1248" y="230"/>
              <a:ext cx="424" cy="26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CC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20" name="Rectangle 38"/>
            <p:cNvSpPr/>
            <p:nvPr/>
          </p:nvSpPr>
          <p:spPr>
            <a:xfrm>
              <a:off x="416" y="956"/>
              <a:ext cx="40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21" name="Rectangle 39"/>
            <p:cNvSpPr/>
            <p:nvPr/>
          </p:nvSpPr>
          <p:spPr>
            <a:xfrm>
              <a:off x="0" y="956"/>
              <a:ext cx="41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22" name="Rectangle 40"/>
            <p:cNvSpPr/>
            <p:nvPr/>
          </p:nvSpPr>
          <p:spPr>
            <a:xfrm>
              <a:off x="416" y="726"/>
              <a:ext cx="40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23" name="Rectangle 41"/>
            <p:cNvSpPr/>
            <p:nvPr/>
          </p:nvSpPr>
          <p:spPr>
            <a:xfrm>
              <a:off x="0" y="726"/>
              <a:ext cx="41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24" name="Rectangle 42"/>
            <p:cNvSpPr/>
            <p:nvPr/>
          </p:nvSpPr>
          <p:spPr>
            <a:xfrm>
              <a:off x="824" y="95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25" name="Rectangle 43"/>
            <p:cNvSpPr/>
            <p:nvPr/>
          </p:nvSpPr>
          <p:spPr>
            <a:xfrm>
              <a:off x="824" y="72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26" name="Rectangle 44"/>
            <p:cNvSpPr/>
            <p:nvPr/>
          </p:nvSpPr>
          <p:spPr>
            <a:xfrm>
              <a:off x="1248" y="95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27" name="Rectangle 45"/>
            <p:cNvSpPr/>
            <p:nvPr/>
          </p:nvSpPr>
          <p:spPr>
            <a:xfrm>
              <a:off x="1248" y="72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28" name="Rectangle 46"/>
            <p:cNvSpPr/>
            <p:nvPr/>
          </p:nvSpPr>
          <p:spPr>
            <a:xfrm>
              <a:off x="416" y="1416"/>
              <a:ext cx="40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29" name="Rectangle 47"/>
            <p:cNvSpPr/>
            <p:nvPr/>
          </p:nvSpPr>
          <p:spPr>
            <a:xfrm>
              <a:off x="0" y="1416"/>
              <a:ext cx="41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30" name="Rectangle 48"/>
            <p:cNvSpPr/>
            <p:nvPr/>
          </p:nvSpPr>
          <p:spPr>
            <a:xfrm>
              <a:off x="416" y="1186"/>
              <a:ext cx="40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31" name="Rectangle 49"/>
            <p:cNvSpPr/>
            <p:nvPr/>
          </p:nvSpPr>
          <p:spPr>
            <a:xfrm>
              <a:off x="0" y="1186"/>
              <a:ext cx="41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32" name="Rectangle 50"/>
            <p:cNvSpPr/>
            <p:nvPr/>
          </p:nvSpPr>
          <p:spPr>
            <a:xfrm>
              <a:off x="824" y="141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33" name="Rectangle 51"/>
            <p:cNvSpPr/>
            <p:nvPr/>
          </p:nvSpPr>
          <p:spPr>
            <a:xfrm>
              <a:off x="824" y="118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34" name="Rectangle 52"/>
            <p:cNvSpPr/>
            <p:nvPr/>
          </p:nvSpPr>
          <p:spPr>
            <a:xfrm>
              <a:off x="1248" y="141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35" name="Rectangle 53"/>
            <p:cNvSpPr/>
            <p:nvPr/>
          </p:nvSpPr>
          <p:spPr>
            <a:xfrm>
              <a:off x="1248" y="118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36" name="Rectangle 54"/>
            <p:cNvSpPr/>
            <p:nvPr/>
          </p:nvSpPr>
          <p:spPr>
            <a:xfrm>
              <a:off x="416" y="1876"/>
              <a:ext cx="40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618FFD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37" name="Rectangle 55"/>
            <p:cNvSpPr/>
            <p:nvPr/>
          </p:nvSpPr>
          <p:spPr>
            <a:xfrm>
              <a:off x="0" y="1876"/>
              <a:ext cx="41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618FFD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38" name="Rectangle 56"/>
            <p:cNvSpPr/>
            <p:nvPr/>
          </p:nvSpPr>
          <p:spPr>
            <a:xfrm>
              <a:off x="416" y="1646"/>
              <a:ext cx="40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618FFD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39" name="Rectangle 57"/>
            <p:cNvSpPr/>
            <p:nvPr/>
          </p:nvSpPr>
          <p:spPr>
            <a:xfrm>
              <a:off x="0" y="1646"/>
              <a:ext cx="41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618FFD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40" name="Rectangle 58"/>
            <p:cNvSpPr/>
            <p:nvPr/>
          </p:nvSpPr>
          <p:spPr>
            <a:xfrm>
              <a:off x="1248" y="164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618FFD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</a:p>
          </p:txBody>
        </p:sp>
        <p:sp>
          <p:nvSpPr>
            <p:cNvPr id="275541" name="Rectangle 59"/>
            <p:cNvSpPr/>
            <p:nvPr/>
          </p:nvSpPr>
          <p:spPr>
            <a:xfrm>
              <a:off x="824" y="164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5542" name="Rectangle 60"/>
            <p:cNvSpPr/>
            <p:nvPr/>
          </p:nvSpPr>
          <p:spPr>
            <a:xfrm>
              <a:off x="1248" y="187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618FFD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</a:p>
          </p:txBody>
        </p:sp>
        <p:sp>
          <p:nvSpPr>
            <p:cNvPr id="275543" name="Rectangle 61"/>
            <p:cNvSpPr/>
            <p:nvPr/>
          </p:nvSpPr>
          <p:spPr>
            <a:xfrm>
              <a:off x="824" y="1876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5544" name="Rectangle 62"/>
            <p:cNvSpPr/>
            <p:nvPr/>
          </p:nvSpPr>
          <p:spPr>
            <a:xfrm>
              <a:off x="1248" y="0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i="1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+1</a:t>
              </a:r>
            </a:p>
          </p:txBody>
        </p:sp>
        <p:sp>
          <p:nvSpPr>
            <p:cNvPr id="275545" name="Rectangle 63"/>
            <p:cNvSpPr/>
            <p:nvPr/>
          </p:nvSpPr>
          <p:spPr>
            <a:xfrm>
              <a:off x="824" y="0"/>
              <a:ext cx="42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i="1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</a:p>
          </p:txBody>
        </p:sp>
        <p:sp>
          <p:nvSpPr>
            <p:cNvPr id="275546" name="Rectangle 64"/>
            <p:cNvSpPr/>
            <p:nvPr/>
          </p:nvSpPr>
          <p:spPr>
            <a:xfrm>
              <a:off x="416" y="0"/>
              <a:ext cx="40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endParaRPr lang="en-US" altLang="zh-CN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5547" name="Rectangle 65"/>
            <p:cNvSpPr/>
            <p:nvPr/>
          </p:nvSpPr>
          <p:spPr>
            <a:xfrm>
              <a:off x="0" y="0"/>
              <a:ext cx="41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5548" name="Line 66"/>
            <p:cNvSpPr/>
            <p:nvPr/>
          </p:nvSpPr>
          <p:spPr>
            <a:xfrm>
              <a:off x="0" y="0"/>
              <a:ext cx="167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49" name="Line 67"/>
            <p:cNvSpPr/>
            <p:nvPr/>
          </p:nvSpPr>
          <p:spPr>
            <a:xfrm>
              <a:off x="0" y="230"/>
              <a:ext cx="16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50" name="Line 68"/>
            <p:cNvSpPr/>
            <p:nvPr/>
          </p:nvSpPr>
          <p:spPr>
            <a:xfrm>
              <a:off x="0" y="726"/>
              <a:ext cx="168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51" name="Line 69"/>
            <p:cNvSpPr/>
            <p:nvPr/>
          </p:nvSpPr>
          <p:spPr>
            <a:xfrm>
              <a:off x="0" y="1186"/>
              <a:ext cx="16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52" name="Line 70"/>
            <p:cNvSpPr/>
            <p:nvPr/>
          </p:nvSpPr>
          <p:spPr>
            <a:xfrm>
              <a:off x="0" y="1646"/>
              <a:ext cx="16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53" name="Line 71"/>
            <p:cNvSpPr/>
            <p:nvPr/>
          </p:nvSpPr>
          <p:spPr>
            <a:xfrm>
              <a:off x="0" y="2106"/>
              <a:ext cx="166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54" name="Line 72"/>
            <p:cNvSpPr/>
            <p:nvPr/>
          </p:nvSpPr>
          <p:spPr>
            <a:xfrm>
              <a:off x="0" y="0"/>
              <a:ext cx="0" cy="210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55" name="Line 73"/>
            <p:cNvSpPr/>
            <p:nvPr/>
          </p:nvSpPr>
          <p:spPr>
            <a:xfrm>
              <a:off x="824" y="0"/>
              <a:ext cx="0" cy="210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95" name="Line 74"/>
            <p:cNvSpPr>
              <a:spLocks noChangeShapeType="1"/>
            </p:cNvSpPr>
            <p:nvPr/>
          </p:nvSpPr>
          <p:spPr bwMode="auto">
            <a:xfrm>
              <a:off x="1248" y="0"/>
              <a:ext cx="0" cy="2106"/>
            </a:xfrm>
            <a:prstGeom prst="line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  <a:round/>
            </a:ln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75557" name="Line 75"/>
            <p:cNvSpPr/>
            <p:nvPr/>
          </p:nvSpPr>
          <p:spPr>
            <a:xfrm>
              <a:off x="1672" y="0"/>
              <a:ext cx="0" cy="210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3628" name="Rectangle 76"/>
          <p:cNvSpPr>
            <a:spLocks noChangeArrowheads="1"/>
          </p:cNvSpPr>
          <p:nvPr/>
        </p:nvSpPr>
        <p:spPr bwMode="auto">
          <a:xfrm>
            <a:off x="573088" y="3543300"/>
            <a:ext cx="481012" cy="1830374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CCFF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特</a:t>
            </a: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CCFF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性</a:t>
            </a:r>
          </a:p>
          <a:p>
            <a:pPr marL="457200" marR="0" lvl="0" indent="-457200" algn="ctr" defTabSz="914400" rtl="0" eaLnBrk="0" fontAlgn="base" latinLnBrk="0" hangingPunct="0">
              <a:lnSpc>
                <a:spcPct val="9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CCFF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</a:p>
        </p:txBody>
      </p:sp>
      <p:sp>
        <p:nvSpPr>
          <p:cNvPr id="275463" name="Rectangle 77"/>
          <p:cNvSpPr/>
          <p:nvPr/>
        </p:nvSpPr>
        <p:spPr>
          <a:xfrm>
            <a:off x="4611688" y="4775200"/>
            <a:ext cx="3922712" cy="365125"/>
          </a:xfrm>
          <a:prstGeom prst="rect">
            <a:avLst/>
          </a:prstGeom>
          <a:solidFill>
            <a:srgbClr val="CCCCFF"/>
          </a:solidFill>
          <a:ln w="9525">
            <a:noFill/>
          </a:ln>
        </p:spPr>
        <p:txBody>
          <a:bodyPr lIns="90000" tIns="0" rIns="90000" bIns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>
              <a:spcBef>
                <a:spcPct val="50000"/>
              </a:spcBef>
              <a:buSzTx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同步</a:t>
            </a: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RS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的卡诺图</a:t>
            </a:r>
          </a:p>
        </p:txBody>
      </p:sp>
      <p:sp>
        <p:nvSpPr>
          <p:cNvPr id="275464" name="Rectangle 78"/>
          <p:cNvSpPr/>
          <p:nvPr/>
        </p:nvSpPr>
        <p:spPr>
          <a:xfrm>
            <a:off x="7512050" y="4038600"/>
            <a:ext cx="708025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zh-CN" b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65" name="Rectangle 79"/>
          <p:cNvSpPr/>
          <p:nvPr/>
        </p:nvSpPr>
        <p:spPr>
          <a:xfrm>
            <a:off x="6784975" y="4038600"/>
            <a:ext cx="727075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zh-CN" b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66" name="Rectangle 80"/>
          <p:cNvSpPr/>
          <p:nvPr/>
        </p:nvSpPr>
        <p:spPr>
          <a:xfrm>
            <a:off x="6113463" y="4038600"/>
            <a:ext cx="671512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zh-CN" b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67" name="Rectangle 81"/>
          <p:cNvSpPr/>
          <p:nvPr/>
        </p:nvSpPr>
        <p:spPr>
          <a:xfrm>
            <a:off x="5383213" y="4038600"/>
            <a:ext cx="73025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zh-CN" b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68" name="Rectangle 82"/>
          <p:cNvSpPr/>
          <p:nvPr/>
        </p:nvSpPr>
        <p:spPr>
          <a:xfrm>
            <a:off x="7512050" y="3359150"/>
            <a:ext cx="708025" cy="679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zh-CN" b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69" name="Rectangle 83"/>
          <p:cNvSpPr/>
          <p:nvPr/>
        </p:nvSpPr>
        <p:spPr>
          <a:xfrm>
            <a:off x="6784975" y="3359150"/>
            <a:ext cx="727075" cy="679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zh-CN" b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70" name="Rectangle 84"/>
          <p:cNvSpPr/>
          <p:nvPr/>
        </p:nvSpPr>
        <p:spPr>
          <a:xfrm>
            <a:off x="6113463" y="3359150"/>
            <a:ext cx="671512" cy="679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SzTx/>
              <a:buNone/>
            </a:pPr>
            <a:endParaRPr lang="zh-CN" altLang="zh-CN" b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71" name="Rectangle 85"/>
          <p:cNvSpPr/>
          <p:nvPr/>
        </p:nvSpPr>
        <p:spPr>
          <a:xfrm>
            <a:off x="5383213" y="3359150"/>
            <a:ext cx="730250" cy="679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zh-CN" b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72" name="Line 86"/>
          <p:cNvSpPr/>
          <p:nvPr/>
        </p:nvSpPr>
        <p:spPr>
          <a:xfrm>
            <a:off x="5383213" y="3359150"/>
            <a:ext cx="2836862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73" name="Line 87"/>
          <p:cNvSpPr/>
          <p:nvPr/>
        </p:nvSpPr>
        <p:spPr>
          <a:xfrm>
            <a:off x="5383213" y="4038600"/>
            <a:ext cx="28368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74" name="Line 88"/>
          <p:cNvSpPr/>
          <p:nvPr/>
        </p:nvSpPr>
        <p:spPr>
          <a:xfrm>
            <a:off x="5383213" y="4724400"/>
            <a:ext cx="2836862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75" name="Line 89"/>
          <p:cNvSpPr/>
          <p:nvPr/>
        </p:nvSpPr>
        <p:spPr>
          <a:xfrm>
            <a:off x="5383213" y="3359150"/>
            <a:ext cx="0" cy="136525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76" name="Line 90"/>
          <p:cNvSpPr/>
          <p:nvPr/>
        </p:nvSpPr>
        <p:spPr>
          <a:xfrm>
            <a:off x="6113463" y="3359150"/>
            <a:ext cx="0" cy="136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77" name="Line 91"/>
          <p:cNvSpPr/>
          <p:nvPr/>
        </p:nvSpPr>
        <p:spPr>
          <a:xfrm>
            <a:off x="6784975" y="3359150"/>
            <a:ext cx="0" cy="136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78" name="Line 92"/>
          <p:cNvSpPr/>
          <p:nvPr/>
        </p:nvSpPr>
        <p:spPr>
          <a:xfrm>
            <a:off x="7512050" y="3359150"/>
            <a:ext cx="0" cy="136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79" name="Line 93"/>
          <p:cNvSpPr/>
          <p:nvPr/>
        </p:nvSpPr>
        <p:spPr>
          <a:xfrm>
            <a:off x="8220075" y="3359150"/>
            <a:ext cx="0" cy="136525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80" name="Line 94"/>
          <p:cNvSpPr/>
          <p:nvPr/>
        </p:nvSpPr>
        <p:spPr>
          <a:xfrm flipH="1" flipV="1">
            <a:off x="4819650" y="2776538"/>
            <a:ext cx="550863" cy="5635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81" name="Text Box 95"/>
          <p:cNvSpPr txBox="1"/>
          <p:nvPr/>
        </p:nvSpPr>
        <p:spPr>
          <a:xfrm>
            <a:off x="4664075" y="2976563"/>
            <a:ext cx="3635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275482" name="Text Box 96"/>
          <p:cNvSpPr txBox="1"/>
          <p:nvPr/>
        </p:nvSpPr>
        <p:spPr>
          <a:xfrm>
            <a:off x="4994275" y="2601913"/>
            <a:ext cx="741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</a:t>
            </a:r>
            <a:r>
              <a:rPr lang="en-US" altLang="zh-CN" i="1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</a:p>
        </p:txBody>
      </p:sp>
      <p:sp>
        <p:nvSpPr>
          <p:cNvPr id="275483" name="Text Box 97"/>
          <p:cNvSpPr txBox="1"/>
          <p:nvPr/>
        </p:nvSpPr>
        <p:spPr>
          <a:xfrm>
            <a:off x="4900613" y="3525838"/>
            <a:ext cx="363537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275484" name="Text Box 98"/>
          <p:cNvSpPr txBox="1"/>
          <p:nvPr/>
        </p:nvSpPr>
        <p:spPr>
          <a:xfrm>
            <a:off x="5534025" y="2901950"/>
            <a:ext cx="14859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00  01</a:t>
            </a:r>
          </a:p>
        </p:txBody>
      </p:sp>
      <p:sp>
        <p:nvSpPr>
          <p:cNvPr id="275485" name="Text Box 99"/>
          <p:cNvSpPr txBox="1"/>
          <p:nvPr/>
        </p:nvSpPr>
        <p:spPr>
          <a:xfrm>
            <a:off x="6905625" y="2901950"/>
            <a:ext cx="4984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   </a:t>
            </a:r>
          </a:p>
        </p:txBody>
      </p:sp>
      <p:sp>
        <p:nvSpPr>
          <p:cNvPr id="275486" name="Text Box 100"/>
          <p:cNvSpPr txBox="1"/>
          <p:nvPr/>
        </p:nvSpPr>
        <p:spPr>
          <a:xfrm>
            <a:off x="7616825" y="2901950"/>
            <a:ext cx="4984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 </a:t>
            </a:r>
          </a:p>
        </p:txBody>
      </p:sp>
      <p:sp>
        <p:nvSpPr>
          <p:cNvPr id="275487" name="Rectangle 101"/>
          <p:cNvSpPr/>
          <p:nvPr/>
        </p:nvSpPr>
        <p:spPr>
          <a:xfrm>
            <a:off x="7596188" y="3573463"/>
            <a:ext cx="582612" cy="4222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75488" name="Rectangle 102"/>
          <p:cNvSpPr/>
          <p:nvPr/>
        </p:nvSpPr>
        <p:spPr>
          <a:xfrm>
            <a:off x="6588125" y="4156075"/>
            <a:ext cx="857250" cy="4222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</a:p>
        </p:txBody>
      </p:sp>
      <p:sp>
        <p:nvSpPr>
          <p:cNvPr id="275489" name="Rectangle 103"/>
          <p:cNvSpPr/>
          <p:nvPr/>
        </p:nvSpPr>
        <p:spPr>
          <a:xfrm>
            <a:off x="6172200" y="4156075"/>
            <a:ext cx="571500" cy="4222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baseline="-25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90" name="Rectangle 104"/>
          <p:cNvSpPr/>
          <p:nvPr/>
        </p:nvSpPr>
        <p:spPr>
          <a:xfrm>
            <a:off x="5441950" y="4156075"/>
            <a:ext cx="581025" cy="4222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baseline="-25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91" name="Rectangle 105"/>
          <p:cNvSpPr/>
          <p:nvPr/>
        </p:nvSpPr>
        <p:spPr>
          <a:xfrm>
            <a:off x="7570788" y="3476625"/>
            <a:ext cx="582612" cy="4778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baseline="-25000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92" name="Rectangle 106"/>
          <p:cNvSpPr/>
          <p:nvPr/>
        </p:nvSpPr>
        <p:spPr>
          <a:xfrm>
            <a:off x="7019925" y="3500438"/>
            <a:ext cx="600075" cy="4794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baseline="-25000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5493" name="Rectangle 107"/>
          <p:cNvSpPr/>
          <p:nvPr/>
        </p:nvSpPr>
        <p:spPr>
          <a:xfrm>
            <a:off x="6172200" y="3476625"/>
            <a:ext cx="609600" cy="4794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275494" name="Rectangle 108"/>
          <p:cNvSpPr/>
          <p:nvPr/>
        </p:nvSpPr>
        <p:spPr>
          <a:xfrm>
            <a:off x="5441950" y="3476625"/>
            <a:ext cx="617538" cy="4794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275495" name="AutoShape 109"/>
          <p:cNvSpPr/>
          <p:nvPr/>
        </p:nvSpPr>
        <p:spPr>
          <a:xfrm>
            <a:off x="4076700" y="36322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99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en-US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3662" name="AutoShape 110"/>
          <p:cNvSpPr/>
          <p:nvPr/>
        </p:nvSpPr>
        <p:spPr>
          <a:xfrm rot="-5400000">
            <a:off x="6532563" y="2922588"/>
            <a:ext cx="566737" cy="1560512"/>
          </a:xfrm>
          <a:prstGeom prst="roundRect">
            <a:avLst>
              <a:gd name="adj" fmla="val 46199"/>
            </a:avLst>
          </a:prstGeom>
          <a:noFill/>
          <a:ln w="571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en-US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3663" name="AutoShape 111"/>
          <p:cNvSpPr/>
          <p:nvPr/>
        </p:nvSpPr>
        <p:spPr>
          <a:xfrm>
            <a:off x="6732588" y="3432175"/>
            <a:ext cx="1465262" cy="1223963"/>
          </a:xfrm>
          <a:prstGeom prst="roundRect">
            <a:avLst>
              <a:gd name="adj" fmla="val 46199"/>
            </a:avLst>
          </a:prstGeom>
          <a:noFill/>
          <a:ln w="57150" cap="flat" cmpd="sng">
            <a:solidFill>
              <a:srgbClr val="6699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en-US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275498" name="Group 112"/>
          <p:cNvGrpSpPr/>
          <p:nvPr/>
        </p:nvGrpSpPr>
        <p:grpSpPr>
          <a:xfrm>
            <a:off x="4524375" y="4730750"/>
            <a:ext cx="4044950" cy="525463"/>
            <a:chOff x="0" y="0"/>
            <a:chExt cx="2548" cy="331"/>
          </a:xfrm>
        </p:grpSpPr>
        <p:sp>
          <p:nvSpPr>
            <p:cNvPr id="275510" name="Rectangle 113"/>
            <p:cNvSpPr/>
            <p:nvPr/>
          </p:nvSpPr>
          <p:spPr>
            <a:xfrm>
              <a:off x="0" y="0"/>
              <a:ext cx="2548" cy="26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SzTx/>
                <a:buNone/>
              </a:pPr>
              <a:endParaRPr lang="zh-CN" altLang="en-US" b="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5511" name="AutoShape 114"/>
            <p:cNvSpPr/>
            <p:nvPr/>
          </p:nvSpPr>
          <p:spPr>
            <a:xfrm rot="5400000" flipV="1">
              <a:off x="1168" y="67"/>
              <a:ext cx="288" cy="240"/>
            </a:xfrm>
            <a:prstGeom prst="rightArrow">
              <a:avLst>
                <a:gd name="adj1" fmla="val 50842"/>
                <a:gd name="adj2" fmla="val 43333"/>
              </a:avLst>
            </a:prstGeom>
            <a:solidFill>
              <a:srgbClr val="99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SzTx/>
                <a:buNone/>
              </a:pPr>
              <a:endParaRPr lang="zh-CN" altLang="en-US" b="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75499" name="Group 115"/>
          <p:cNvGrpSpPr/>
          <p:nvPr/>
        </p:nvGrpSpPr>
        <p:grpSpPr>
          <a:xfrm>
            <a:off x="4070350" y="5289550"/>
            <a:ext cx="4468813" cy="857250"/>
            <a:chOff x="0" y="0"/>
            <a:chExt cx="2815" cy="540"/>
          </a:xfrm>
        </p:grpSpPr>
        <p:sp>
          <p:nvSpPr>
            <p:cNvPr id="464944" name="Rectangle 116"/>
            <p:cNvSpPr>
              <a:spLocks noChangeArrowheads="1"/>
            </p:cNvSpPr>
            <p:nvPr/>
          </p:nvSpPr>
          <p:spPr bwMode="auto">
            <a:xfrm>
              <a:off x="0" y="68"/>
              <a:ext cx="903" cy="269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txBody>
            <a:bodyPr lIns="90000" tIns="46800" rIns="90000" bIns="46800"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457200" marR="0" lvl="0" indent="-457200" algn="l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特性方程</a:t>
              </a:r>
            </a:p>
          </p:txBody>
        </p:sp>
        <p:graphicFrame>
          <p:nvGraphicFramePr>
            <p:cNvPr id="275506" name="Object 117"/>
            <p:cNvGraphicFramePr>
              <a:graphicFrameLocks noChangeAspect="1"/>
            </p:cNvGraphicFramePr>
            <p:nvPr/>
          </p:nvGraphicFramePr>
          <p:xfrm>
            <a:off x="1092" y="0"/>
            <a:ext cx="123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955800" imgH="393700" progId="Equation.3">
                    <p:embed/>
                  </p:oleObj>
                </mc:Choice>
                <mc:Fallback>
                  <p:oleObj r:id="rId2" imgW="1955800" imgH="3937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92" y="0"/>
                          <a:ext cx="123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5507" name="Group 118"/>
            <p:cNvGrpSpPr/>
            <p:nvPr/>
          </p:nvGrpSpPr>
          <p:grpSpPr>
            <a:xfrm>
              <a:off x="956" y="84"/>
              <a:ext cx="1859" cy="456"/>
              <a:chOff x="0" y="0"/>
              <a:chExt cx="1518" cy="456"/>
            </a:xfrm>
          </p:grpSpPr>
          <p:sp>
            <p:nvSpPr>
              <p:cNvPr id="275508" name="AutoShape 119"/>
              <p:cNvSpPr/>
              <p:nvPr/>
            </p:nvSpPr>
            <p:spPr>
              <a:xfrm>
                <a:off x="0" y="0"/>
                <a:ext cx="96" cy="352"/>
              </a:xfrm>
              <a:prstGeom prst="leftBrace">
                <a:avLst>
                  <a:gd name="adj1" fmla="val 30555"/>
                  <a:gd name="adj2" fmla="val 50000"/>
                </a:avLst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SzTx/>
                  <a:buNone/>
                </a:pPr>
                <a:endParaRPr lang="zh-CN" altLang="en-US" b="0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5509" name="Rectangle 120"/>
              <p:cNvSpPr/>
              <p:nvPr/>
            </p:nvSpPr>
            <p:spPr>
              <a:xfrm>
                <a:off x="80" y="168"/>
                <a:ext cx="143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457200" lvl="0" indent="-457200">
                  <a:spcBef>
                    <a:spcPct val="50000"/>
                  </a:spcBef>
                  <a:buSzTx/>
                  <a:buNone/>
                </a:pPr>
                <a:r>
                  <a:rPr lang="en-US" altLang="zh-CN" i="1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RS </a:t>
                </a:r>
                <a:r>
                  <a:rPr lang="en-US" altLang="zh-CN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= 0(</a:t>
                </a:r>
                <a:r>
                  <a:rPr lang="zh-CN" altLang="en-US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约束条件</a:t>
                </a:r>
                <a:r>
                  <a:rPr lang="en-US" altLang="zh-CN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</a:p>
            </p:txBody>
          </p:sp>
        </p:grpSp>
      </p:grpSp>
      <p:sp>
        <p:nvSpPr>
          <p:cNvPr id="23673" name="Rectangle 121"/>
          <p:cNvSpPr>
            <a:spLocks noChangeArrowheads="1"/>
          </p:cNvSpPr>
          <p:nvPr/>
        </p:nvSpPr>
        <p:spPr bwMode="auto">
          <a:xfrm>
            <a:off x="152516" y="1374775"/>
            <a:ext cx="8610374" cy="774857"/>
          </a:xfrm>
          <a:prstGeom prst="rect">
            <a:avLst/>
          </a:prstGeom>
          <a:noFill/>
          <a:ln>
            <a:noFill/>
          </a:ln>
        </p:spPr>
        <p:txBody>
          <a:bodyPr wrap="square" tIns="190800" bIns="1908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特性方程指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CCFF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触发器次态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与输入信号和电路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CCFF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原有状态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之间的逻辑关系式。        </a:t>
            </a:r>
          </a:p>
        </p:txBody>
      </p:sp>
      <p:sp>
        <p:nvSpPr>
          <p:cNvPr id="275501" name="Line 122"/>
          <p:cNvSpPr/>
          <p:nvPr/>
        </p:nvSpPr>
        <p:spPr>
          <a:xfrm>
            <a:off x="323850" y="433388"/>
            <a:ext cx="6804025" cy="0"/>
          </a:xfrm>
          <a:prstGeom prst="line">
            <a:avLst/>
          </a:prstGeom>
          <a:ln w="9525">
            <a:noFill/>
          </a:ln>
        </p:spPr>
      </p:sp>
      <p:sp>
        <p:nvSpPr>
          <p:cNvPr id="275502" name="Text Box 123" descr="窄竖线"/>
          <p:cNvSpPr txBox="1"/>
          <p:nvPr/>
        </p:nvSpPr>
        <p:spPr>
          <a:xfrm>
            <a:off x="1071563" y="1290638"/>
            <a:ext cx="7086600" cy="276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2000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RS 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触发器功能也可用特性表与特性方程来描述。</a:t>
            </a:r>
          </a:p>
        </p:txBody>
      </p:sp>
      <p:sp>
        <p:nvSpPr>
          <p:cNvPr id="275503" name="矩形 1"/>
          <p:cNvSpPr/>
          <p:nvPr/>
        </p:nvSpPr>
        <p:spPr>
          <a:xfrm>
            <a:off x="7562850" y="4113213"/>
            <a:ext cx="4921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SzTx/>
              <a:buNone/>
            </a:pPr>
            <a:r>
              <a:rPr lang="en-US" altLang="zh-CN" b="0" dirty="0">
                <a:ea typeface="MS PGothic" panose="020B0600070205080204" pitchFamily="34" charset="-128"/>
              </a:rPr>
              <a:t>×</a:t>
            </a:r>
            <a:endParaRPr lang="zh-CN" altLang="en-US" b="0" dirty="0">
              <a:ea typeface="MS PGothic" panose="020B0600070205080204" pitchFamily="34" charset="-128"/>
            </a:endParaRPr>
          </a:p>
        </p:txBody>
      </p:sp>
      <p:sp>
        <p:nvSpPr>
          <p:cNvPr id="275504" name="矩形 1"/>
          <p:cNvSpPr/>
          <p:nvPr/>
        </p:nvSpPr>
        <p:spPr>
          <a:xfrm>
            <a:off x="5503863" y="5256213"/>
            <a:ext cx="2954337" cy="1042987"/>
          </a:xfrm>
          <a:prstGeom prst="rect">
            <a:avLst/>
          </a:prstGeom>
          <a:noFill/>
          <a:ln w="28575" cap="flat" cmpd="sng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/>
          <p:nvPr/>
        </p:nvSpPr>
        <p:spPr>
          <a:xfrm>
            <a:off x="682625" y="973138"/>
            <a:ext cx="8194675" cy="42545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algn="ctr">
              <a:spcBef>
                <a:spcPct val="50000"/>
              </a:spcBef>
              <a:buSzTx/>
              <a:buNone/>
            </a:pP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特性表、特性方程、驱动表和状态转换图 </a:t>
            </a:r>
          </a:p>
        </p:txBody>
      </p:sp>
      <p:sp>
        <p:nvSpPr>
          <p:cNvPr id="26627" name="AutoShape 3"/>
          <p:cNvSpPr/>
          <p:nvPr/>
        </p:nvSpPr>
        <p:spPr>
          <a:xfrm>
            <a:off x="1287463" y="2786063"/>
            <a:ext cx="7581900" cy="774700"/>
          </a:xfrm>
          <a:prstGeom prst="wedgeRectCallout">
            <a:avLst>
              <a:gd name="adj1" fmla="val 12542"/>
              <a:gd name="adj2" fmla="val 412"/>
            </a:avLst>
          </a:prstGeom>
          <a:noFill/>
          <a:ln w="9525">
            <a:noFill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20000"/>
              </a:spcBef>
              <a:buSzTx/>
              <a:buNone/>
            </a:pPr>
            <a:r>
              <a:rPr lang="zh-CN" altLang="en-US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驱动表</a:t>
            </a:r>
          </a:p>
          <a:p>
            <a:pPr marL="0" lvl="0" indent="0">
              <a:spcBef>
                <a:spcPct val="20000"/>
              </a:spcBef>
              <a:buSzTx/>
              <a:buNone/>
            </a:pPr>
            <a:r>
              <a:rPr lang="zh-CN" altLang="en-US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由触发器现态和次态的取值来确定输入信号取值的关系表，又称激励表。 </a:t>
            </a:r>
          </a:p>
        </p:txBody>
      </p:sp>
      <p:sp>
        <p:nvSpPr>
          <p:cNvPr id="276484" name="AutoShape 4"/>
          <p:cNvSpPr/>
          <p:nvPr/>
        </p:nvSpPr>
        <p:spPr>
          <a:xfrm>
            <a:off x="1211263" y="4329113"/>
            <a:ext cx="7399337" cy="1476375"/>
          </a:xfrm>
          <a:prstGeom prst="wedgeRectCallout">
            <a:avLst>
              <a:gd name="adj1" fmla="val 23056"/>
              <a:gd name="adj2" fmla="val -94500"/>
            </a:avLst>
          </a:prstGeom>
          <a:noFill/>
          <a:ln w="9525">
            <a:noFill/>
          </a:ln>
        </p:spPr>
        <p:txBody>
          <a:bodyPr lIns="0" tIns="36000" rIns="0" bIns="3600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20000"/>
              </a:spcBef>
              <a:buSzTx/>
              <a:buNone/>
            </a:pPr>
            <a:r>
              <a:rPr lang="zh-CN" altLang="en-US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状态转换图</a:t>
            </a:r>
          </a:p>
          <a:p>
            <a:pPr marL="0" lvl="0" indent="0">
              <a:spcBef>
                <a:spcPct val="20000"/>
              </a:spcBef>
              <a:buSzTx/>
              <a:buNone/>
            </a:pPr>
            <a:r>
              <a:rPr lang="zh-CN" altLang="en-US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用圆圈及其内的标注表示电路的所有稳态，用箭头表示状态转换的方向，箭头旁的标注表示状态转换的条件。 </a:t>
            </a:r>
          </a:p>
        </p:txBody>
      </p:sp>
      <p:sp>
        <p:nvSpPr>
          <p:cNvPr id="276485" name="AutoShape 5"/>
          <p:cNvSpPr/>
          <p:nvPr/>
        </p:nvSpPr>
        <p:spPr>
          <a:xfrm>
            <a:off x="1008063" y="1901825"/>
            <a:ext cx="7543800" cy="768350"/>
          </a:xfrm>
          <a:prstGeom prst="wedgeRectCallout">
            <a:avLst>
              <a:gd name="adj1" fmla="val -12245"/>
              <a:gd name="adj2" fmla="val -53926"/>
            </a:avLst>
          </a:prstGeom>
          <a:noFill/>
          <a:ln w="9525">
            <a:noFill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20000"/>
              </a:spcBef>
              <a:buSzTx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它们是触发器逻辑功能的不同描述方法，也是时序逻辑电路逻辑功能的描述方法。</a:t>
            </a:r>
          </a:p>
        </p:txBody>
      </p:sp>
      <p:sp>
        <p:nvSpPr>
          <p:cNvPr id="276486" name="Line 6"/>
          <p:cNvSpPr/>
          <p:nvPr/>
        </p:nvSpPr>
        <p:spPr>
          <a:xfrm>
            <a:off x="323850" y="433388"/>
            <a:ext cx="6804025" cy="0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506" name="Group 41"/>
          <p:cNvGrpSpPr/>
          <p:nvPr/>
        </p:nvGrpSpPr>
        <p:grpSpPr>
          <a:xfrm>
            <a:off x="3298825" y="4546600"/>
            <a:ext cx="4862513" cy="2125663"/>
            <a:chOff x="167" y="316"/>
            <a:chExt cx="2647" cy="1752"/>
          </a:xfrm>
        </p:grpSpPr>
        <p:grpSp>
          <p:nvGrpSpPr>
            <p:cNvPr id="277553" name="Group 42"/>
            <p:cNvGrpSpPr/>
            <p:nvPr/>
          </p:nvGrpSpPr>
          <p:grpSpPr>
            <a:xfrm>
              <a:off x="762" y="1067"/>
              <a:ext cx="1640" cy="326"/>
              <a:chOff x="0" y="0"/>
              <a:chExt cx="1640" cy="326"/>
            </a:xfrm>
          </p:grpSpPr>
          <p:graphicFrame>
            <p:nvGraphicFramePr>
              <p:cNvPr id="277567" name="Object 43"/>
              <p:cNvGraphicFramePr>
                <a:graphicFrameLocks noChangeAspect="1"/>
              </p:cNvGraphicFramePr>
              <p:nvPr/>
            </p:nvGraphicFramePr>
            <p:xfrm>
              <a:off x="0" y="0"/>
              <a:ext cx="1452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2305050" imgH="476250" progId="Paint.Picture">
                      <p:embed/>
                    </p:oleObj>
                  </mc:Choice>
                  <mc:Fallback>
                    <p:oleObj r:id="rId2" imgW="2305050" imgH="476250" progId="Paint.Picture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0" y="0"/>
                            <a:ext cx="1452" cy="3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7568" name="Rectangle 44"/>
              <p:cNvSpPr/>
              <p:nvPr/>
            </p:nvSpPr>
            <p:spPr>
              <a:xfrm>
                <a:off x="103" y="28"/>
                <a:ext cx="1537" cy="2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SzTx/>
                  <a:buNone/>
                </a:pPr>
                <a:r>
                  <a:rPr lang="en-US" altLang="zh-CN" sz="1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0                      1</a:t>
                </a:r>
              </a:p>
            </p:txBody>
          </p:sp>
        </p:grpSp>
        <p:grpSp>
          <p:nvGrpSpPr>
            <p:cNvPr id="277554" name="Group 45"/>
            <p:cNvGrpSpPr/>
            <p:nvPr/>
          </p:nvGrpSpPr>
          <p:grpSpPr>
            <a:xfrm>
              <a:off x="167" y="316"/>
              <a:ext cx="2647" cy="1752"/>
              <a:chOff x="167" y="316"/>
              <a:chExt cx="2647" cy="1752"/>
            </a:xfrm>
          </p:grpSpPr>
          <p:grpSp>
            <p:nvGrpSpPr>
              <p:cNvPr id="277555" name="Group 46"/>
              <p:cNvGrpSpPr/>
              <p:nvPr/>
            </p:nvGrpSpPr>
            <p:grpSpPr>
              <a:xfrm>
                <a:off x="924" y="316"/>
                <a:ext cx="1098" cy="779"/>
                <a:chOff x="0" y="316"/>
                <a:chExt cx="1098" cy="779"/>
              </a:xfrm>
            </p:grpSpPr>
            <p:sp>
              <p:nvSpPr>
                <p:cNvPr id="277565" name="Rectangle 47"/>
                <p:cNvSpPr/>
                <p:nvPr/>
              </p:nvSpPr>
              <p:spPr>
                <a:xfrm>
                  <a:off x="373" y="316"/>
                  <a:ext cx="454" cy="31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285750" indent="-2857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•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–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»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43050" indent="-1714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•"/>
                    <a:defRPr sz="1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00250" indent="-1714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–"/>
                    <a:defRPr sz="1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fontAlgn="t">
                    <a:spcBef>
                      <a:spcPct val="50000"/>
                    </a:spcBef>
                    <a:buSzTx/>
                    <a:buNone/>
                  </a:pPr>
                  <a:r>
                    <a:rPr lang="en-US" altLang="zh-CN" sz="2000" i="1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D </a:t>
                  </a:r>
                  <a:r>
                    <a:rPr lang="en-US" altLang="zh-CN" sz="20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= 1</a:t>
                  </a:r>
                </a:p>
              </p:txBody>
            </p:sp>
            <p:graphicFrame>
              <p:nvGraphicFramePr>
                <p:cNvPr id="277566" name="Object 48"/>
                <p:cNvGraphicFramePr>
                  <a:graphicFrameLocks noChangeAspect="1"/>
                </p:cNvGraphicFramePr>
                <p:nvPr/>
              </p:nvGraphicFramePr>
              <p:xfrm>
                <a:off x="0" y="663"/>
                <a:ext cx="1098" cy="43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4" imgW="1743075" imgH="685800" progId="Paint.Picture">
                        <p:embed/>
                      </p:oleObj>
                    </mc:Choice>
                    <mc:Fallback>
                      <p:oleObj r:id="rId4" imgW="1743075" imgH="685800" progId="Paint.Picture">
                        <p:embed/>
                        <p:pic>
                          <p:nvPicPr>
                            <p:cNvPr id="0" name="图片 3087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0" y="663"/>
                              <a:ext cx="1098" cy="43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7556" name="Group 49"/>
              <p:cNvGrpSpPr/>
              <p:nvPr/>
            </p:nvGrpSpPr>
            <p:grpSpPr>
              <a:xfrm>
                <a:off x="918" y="1345"/>
                <a:ext cx="1128" cy="723"/>
                <a:chOff x="0" y="0"/>
                <a:chExt cx="1128" cy="723"/>
              </a:xfrm>
            </p:grpSpPr>
            <p:sp>
              <p:nvSpPr>
                <p:cNvPr id="277563" name="Rectangle 50"/>
                <p:cNvSpPr/>
                <p:nvPr/>
              </p:nvSpPr>
              <p:spPr>
                <a:xfrm>
                  <a:off x="663" y="495"/>
                  <a:ext cx="353" cy="22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285750" indent="-2857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•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–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»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43050" indent="-1714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•"/>
                    <a:defRPr sz="1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00250" indent="-1714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–"/>
                    <a:defRPr sz="1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fontAlgn="t">
                    <a:spcBef>
                      <a:spcPct val="50000"/>
                    </a:spcBef>
                    <a:buSzTx/>
                    <a:buNone/>
                  </a:pPr>
                  <a:r>
                    <a:rPr lang="en-US" altLang="zh-CN" sz="2000" i="1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D </a:t>
                  </a:r>
                  <a:r>
                    <a:rPr lang="en-US" altLang="zh-CN" sz="20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= 0</a:t>
                  </a:r>
                </a:p>
              </p:txBody>
            </p:sp>
            <p:graphicFrame>
              <p:nvGraphicFramePr>
                <p:cNvPr id="277564" name="Object 51"/>
                <p:cNvGraphicFramePr>
                  <a:graphicFrameLocks noChangeAspect="1"/>
                </p:cNvGraphicFramePr>
                <p:nvPr/>
              </p:nvGraphicFramePr>
              <p:xfrm>
                <a:off x="0" y="0"/>
                <a:ext cx="1128" cy="4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6" imgW="1790700" imgH="762000" progId="Paint.Picture">
                        <p:embed/>
                      </p:oleObj>
                    </mc:Choice>
                    <mc:Fallback>
                      <p:oleObj r:id="rId6" imgW="1790700" imgH="762000" progId="Paint.Picture">
                        <p:embed/>
                        <p:pic>
                          <p:nvPicPr>
                            <p:cNvPr id="0" name="图片 3088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0" y="0"/>
                              <a:ext cx="1128" cy="48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7557" name="Group 52"/>
              <p:cNvGrpSpPr/>
              <p:nvPr/>
            </p:nvGrpSpPr>
            <p:grpSpPr>
              <a:xfrm>
                <a:off x="167" y="808"/>
                <a:ext cx="667" cy="585"/>
                <a:chOff x="149" y="171"/>
                <a:chExt cx="595" cy="585"/>
              </a:xfrm>
            </p:grpSpPr>
            <p:sp>
              <p:nvSpPr>
                <p:cNvPr id="277561" name="Rectangle 53"/>
                <p:cNvSpPr/>
                <p:nvPr/>
              </p:nvSpPr>
              <p:spPr>
                <a:xfrm>
                  <a:off x="149" y="171"/>
                  <a:ext cx="363" cy="3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285750" indent="-2857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•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–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»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43050" indent="-1714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•"/>
                    <a:defRPr sz="1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00250" indent="-1714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–"/>
                    <a:defRPr sz="1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fontAlgn="t">
                    <a:spcBef>
                      <a:spcPct val="50000"/>
                    </a:spcBef>
                    <a:buSzTx/>
                    <a:buNone/>
                  </a:pPr>
                  <a:r>
                    <a:rPr lang="en-US" altLang="zh-CN" sz="2000" i="1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D</a:t>
                  </a:r>
                  <a:r>
                    <a:rPr lang="en-US" altLang="zh-CN" sz="2000" i="1" baseline="-250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0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=</a:t>
                  </a:r>
                  <a:r>
                    <a:rPr lang="en-US" altLang="zh-CN" sz="2000" baseline="-250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0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</a:t>
                  </a:r>
                </a:p>
              </p:txBody>
            </p:sp>
            <p:graphicFrame>
              <p:nvGraphicFramePr>
                <p:cNvPr id="277562" name="Object 54"/>
                <p:cNvGraphicFramePr>
                  <a:graphicFrameLocks noChangeAspect="1"/>
                </p:cNvGraphicFramePr>
                <p:nvPr/>
              </p:nvGraphicFramePr>
              <p:xfrm>
                <a:off x="420" y="396"/>
                <a:ext cx="324" cy="36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8" imgW="514350" imgH="571500" progId="Paint.Picture">
                        <p:embed/>
                      </p:oleObj>
                    </mc:Choice>
                    <mc:Fallback>
                      <p:oleObj r:id="rId8" imgW="514350" imgH="571500" progId="Paint.Picture">
                        <p:embed/>
                        <p:pic>
                          <p:nvPicPr>
                            <p:cNvPr id="0" name="图片 3085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20" y="396"/>
                              <a:ext cx="324" cy="36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7558" name="Group 55"/>
              <p:cNvGrpSpPr/>
              <p:nvPr/>
            </p:nvGrpSpPr>
            <p:grpSpPr>
              <a:xfrm>
                <a:off x="2130" y="819"/>
                <a:ext cx="684" cy="594"/>
                <a:chOff x="16" y="197"/>
                <a:chExt cx="684" cy="594"/>
              </a:xfrm>
            </p:grpSpPr>
            <p:sp>
              <p:nvSpPr>
                <p:cNvPr id="277559" name="Rectangle 56"/>
                <p:cNvSpPr/>
                <p:nvPr/>
              </p:nvSpPr>
              <p:spPr>
                <a:xfrm>
                  <a:off x="246" y="197"/>
                  <a:ext cx="454" cy="3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285750" indent="-2857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•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–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»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43050" indent="-1714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•"/>
                    <a:defRPr sz="1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00250" indent="-171450" algn="l" rtl="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buChar char="–"/>
                    <a:defRPr sz="1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fontAlgn="t">
                    <a:spcBef>
                      <a:spcPct val="50000"/>
                    </a:spcBef>
                    <a:buSzTx/>
                    <a:buNone/>
                  </a:pPr>
                  <a:r>
                    <a:rPr lang="en-US" altLang="zh-CN" sz="2000" i="1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D </a:t>
                  </a:r>
                  <a:r>
                    <a:rPr lang="en-US" altLang="zh-CN" sz="20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= 1</a:t>
                  </a:r>
                </a:p>
              </p:txBody>
            </p:sp>
            <p:graphicFrame>
              <p:nvGraphicFramePr>
                <p:cNvPr id="277560" name="Object 57"/>
                <p:cNvGraphicFramePr>
                  <a:graphicFrameLocks noChangeAspect="1"/>
                </p:cNvGraphicFramePr>
                <p:nvPr/>
              </p:nvGraphicFramePr>
              <p:xfrm>
                <a:off x="16" y="416"/>
                <a:ext cx="371" cy="3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0" imgW="504825" imgH="581025" progId="Paint.Picture">
                        <p:embed/>
                      </p:oleObj>
                    </mc:Choice>
                    <mc:Fallback>
                      <p:oleObj r:id="rId10" imgW="504825" imgH="581025" progId="Paint.Picture">
                        <p:embed/>
                        <p:pic>
                          <p:nvPicPr>
                            <p:cNvPr id="0" name="图片 3086"/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" y="416"/>
                              <a:ext cx="371" cy="375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277507" name="Rectangle 2"/>
          <p:cNvSpPr/>
          <p:nvPr/>
        </p:nvSpPr>
        <p:spPr>
          <a:xfrm>
            <a:off x="7721600" y="2470150"/>
            <a:ext cx="736600" cy="1460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SzTx/>
              <a:buNone/>
            </a:pPr>
            <a:endParaRPr lang="zh-CN" altLang="zh-CN" sz="1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7508" name="Rectangle 3"/>
          <p:cNvSpPr/>
          <p:nvPr/>
        </p:nvSpPr>
        <p:spPr>
          <a:xfrm>
            <a:off x="6299200" y="2470150"/>
            <a:ext cx="1422400" cy="1460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0       0</a:t>
            </a: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0       1</a:t>
            </a: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1       0</a:t>
            </a: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1       1</a:t>
            </a:r>
          </a:p>
        </p:txBody>
      </p:sp>
      <p:sp>
        <p:nvSpPr>
          <p:cNvPr id="277509" name="Rectangle 4"/>
          <p:cNvSpPr/>
          <p:nvPr/>
        </p:nvSpPr>
        <p:spPr>
          <a:xfrm>
            <a:off x="7721600" y="2105025"/>
            <a:ext cx="736600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2000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</a:p>
        </p:txBody>
      </p:sp>
      <p:sp>
        <p:nvSpPr>
          <p:cNvPr id="277510" name="Rectangle 5"/>
          <p:cNvSpPr/>
          <p:nvPr/>
        </p:nvSpPr>
        <p:spPr>
          <a:xfrm>
            <a:off x="5994400" y="2105025"/>
            <a:ext cx="1727200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Q</a:t>
            </a:r>
            <a:r>
              <a:rPr lang="en-US" altLang="zh-CN" i="1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i="1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+1</a:t>
            </a:r>
          </a:p>
        </p:txBody>
      </p:sp>
      <p:sp>
        <p:nvSpPr>
          <p:cNvPr id="277511" name="Line 6"/>
          <p:cNvSpPr/>
          <p:nvPr/>
        </p:nvSpPr>
        <p:spPr>
          <a:xfrm>
            <a:off x="6299200" y="2105025"/>
            <a:ext cx="2159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512" name="Line 7"/>
          <p:cNvSpPr/>
          <p:nvPr/>
        </p:nvSpPr>
        <p:spPr>
          <a:xfrm>
            <a:off x="6299200" y="2470150"/>
            <a:ext cx="2159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513" name="Line 8"/>
          <p:cNvSpPr/>
          <p:nvPr/>
        </p:nvSpPr>
        <p:spPr>
          <a:xfrm>
            <a:off x="6299200" y="3930650"/>
            <a:ext cx="2159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514" name="Line 9"/>
          <p:cNvSpPr/>
          <p:nvPr/>
        </p:nvSpPr>
        <p:spPr>
          <a:xfrm>
            <a:off x="6299200" y="2105025"/>
            <a:ext cx="0" cy="182562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515" name="Line 10"/>
          <p:cNvSpPr/>
          <p:nvPr/>
        </p:nvSpPr>
        <p:spPr>
          <a:xfrm>
            <a:off x="7721600" y="2105025"/>
            <a:ext cx="0" cy="18256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516" name="Line 11"/>
          <p:cNvSpPr/>
          <p:nvPr/>
        </p:nvSpPr>
        <p:spPr>
          <a:xfrm>
            <a:off x="8458200" y="2105025"/>
            <a:ext cx="0" cy="182562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517" name="Line 12"/>
          <p:cNvSpPr/>
          <p:nvPr/>
        </p:nvSpPr>
        <p:spPr>
          <a:xfrm flipV="1">
            <a:off x="6767513" y="2286000"/>
            <a:ext cx="4318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3041650" y="1704975"/>
            <a:ext cx="1420813" cy="365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lIns="0" tIns="0" rIns="0" bIns="0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457200" marR="0" lvl="0" indent="-457200" algn="ctr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特性方程</a:t>
            </a:r>
            <a:endParaRPr kumimoji="0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4530725" y="1666875"/>
            <a:ext cx="152400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0" lang="en-US" altLang="zh-CN" sz="2400" b="1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+1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</a:t>
            </a:r>
          </a:p>
        </p:txBody>
      </p:sp>
      <p:grpSp>
        <p:nvGrpSpPr>
          <p:cNvPr id="277520" name="Group 15"/>
          <p:cNvGrpSpPr/>
          <p:nvPr/>
        </p:nvGrpSpPr>
        <p:grpSpPr>
          <a:xfrm>
            <a:off x="647700" y="1692275"/>
            <a:ext cx="2257425" cy="2270125"/>
            <a:chOff x="0" y="0"/>
            <a:chExt cx="1382" cy="1430"/>
          </a:xfrm>
        </p:grpSpPr>
        <p:sp>
          <p:nvSpPr>
            <p:cNvPr id="277535" name="Rectangle 16"/>
            <p:cNvSpPr/>
            <p:nvPr/>
          </p:nvSpPr>
          <p:spPr>
            <a:xfrm>
              <a:off x="912" y="502"/>
              <a:ext cx="464" cy="92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7536" name="Rectangle 17"/>
            <p:cNvSpPr/>
            <p:nvPr/>
          </p:nvSpPr>
          <p:spPr>
            <a:xfrm>
              <a:off x="464" y="502"/>
              <a:ext cx="448" cy="92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7537" name="Rectangle 18"/>
            <p:cNvSpPr/>
            <p:nvPr/>
          </p:nvSpPr>
          <p:spPr>
            <a:xfrm>
              <a:off x="16" y="502"/>
              <a:ext cx="448" cy="92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7538" name="Rectangle 19"/>
            <p:cNvSpPr/>
            <p:nvPr/>
          </p:nvSpPr>
          <p:spPr>
            <a:xfrm>
              <a:off x="912" y="272"/>
              <a:ext cx="46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i="1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+1</a:t>
              </a:r>
            </a:p>
          </p:txBody>
        </p:sp>
        <p:sp>
          <p:nvSpPr>
            <p:cNvPr id="277539" name="Rectangle 20"/>
            <p:cNvSpPr/>
            <p:nvPr/>
          </p:nvSpPr>
          <p:spPr>
            <a:xfrm>
              <a:off x="464" y="272"/>
              <a:ext cx="44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i="1" baseline="30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</a:p>
          </p:txBody>
        </p:sp>
        <p:sp>
          <p:nvSpPr>
            <p:cNvPr id="277540" name="Rectangle 21"/>
            <p:cNvSpPr/>
            <p:nvPr/>
          </p:nvSpPr>
          <p:spPr>
            <a:xfrm>
              <a:off x="16" y="272"/>
              <a:ext cx="44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277541" name="Line 22"/>
            <p:cNvSpPr/>
            <p:nvPr/>
          </p:nvSpPr>
          <p:spPr>
            <a:xfrm>
              <a:off x="16" y="272"/>
              <a:ext cx="1360" cy="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7542" name="Line 23"/>
            <p:cNvSpPr/>
            <p:nvPr/>
          </p:nvSpPr>
          <p:spPr>
            <a:xfrm>
              <a:off x="16" y="502"/>
              <a:ext cx="1360" cy="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7543" name="Line 24"/>
            <p:cNvSpPr/>
            <p:nvPr/>
          </p:nvSpPr>
          <p:spPr>
            <a:xfrm>
              <a:off x="16" y="1424"/>
              <a:ext cx="1360" cy="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7544" name="Line 25"/>
            <p:cNvSpPr/>
            <p:nvPr/>
          </p:nvSpPr>
          <p:spPr>
            <a:xfrm>
              <a:off x="16" y="272"/>
              <a:ext cx="0" cy="1152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7545" name="Line 26"/>
            <p:cNvSpPr/>
            <p:nvPr/>
          </p:nvSpPr>
          <p:spPr>
            <a:xfrm>
              <a:off x="464" y="272"/>
              <a:ext cx="0" cy="1152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7546" name="Line 27"/>
            <p:cNvSpPr/>
            <p:nvPr/>
          </p:nvSpPr>
          <p:spPr>
            <a:xfrm>
              <a:off x="912" y="272"/>
              <a:ext cx="0" cy="1152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77547" name="Line 28"/>
            <p:cNvSpPr/>
            <p:nvPr/>
          </p:nvSpPr>
          <p:spPr>
            <a:xfrm>
              <a:off x="1376" y="272"/>
              <a:ext cx="0" cy="1152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466985" name="Rectangle 29"/>
            <p:cNvSpPr>
              <a:spLocks noChangeArrowheads="1"/>
            </p:cNvSpPr>
            <p:nvPr/>
          </p:nvSpPr>
          <p:spPr bwMode="auto">
            <a:xfrm>
              <a:off x="0" y="0"/>
              <a:ext cx="1382" cy="23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lIns="0" tIns="0" rIns="0" bIns="0"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457200" marR="0" lvl="0" indent="-457200" algn="ctr" defTabSz="914400" rtl="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触发器特性表</a:t>
              </a:r>
              <a:r>
                <a:rPr kumimoji="0" lang="zh-CN" alt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</a:t>
              </a:r>
            </a:p>
          </p:txBody>
        </p:sp>
        <p:sp>
          <p:nvSpPr>
            <p:cNvPr id="277549" name="Rectangle 30"/>
            <p:cNvSpPr/>
            <p:nvPr/>
          </p:nvSpPr>
          <p:spPr>
            <a:xfrm>
              <a:off x="16" y="502"/>
              <a:ext cx="448" cy="47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7550" name="Rectangle 31"/>
            <p:cNvSpPr/>
            <p:nvPr/>
          </p:nvSpPr>
          <p:spPr>
            <a:xfrm>
              <a:off x="912" y="502"/>
              <a:ext cx="464" cy="46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277551" name="Rectangle 32"/>
            <p:cNvSpPr/>
            <p:nvPr/>
          </p:nvSpPr>
          <p:spPr>
            <a:xfrm>
              <a:off x="912" y="502"/>
              <a:ext cx="464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endParaRPr lang="en-US" altLang="zh-CN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endParaRPr lang="en-US" altLang="zh-CN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CC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CC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77552" name="Rectangle 33"/>
            <p:cNvSpPr/>
            <p:nvPr/>
          </p:nvSpPr>
          <p:spPr>
            <a:xfrm>
              <a:off x="16" y="502"/>
              <a:ext cx="448" cy="92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None/>
              </a:pPr>
              <a:endParaRPr lang="en-US" altLang="zh-CN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endParaRPr lang="en-US" altLang="zh-CN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CC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  <a:p>
              <a:pPr marL="0" lvl="0" indent="0" algn="ctr">
                <a:spcBef>
                  <a:spcPct val="50000"/>
                </a:spcBef>
                <a:buSzTx/>
                <a:buNone/>
              </a:pPr>
              <a:r>
                <a:rPr lang="en-US" altLang="zh-CN" dirty="0">
                  <a:solidFill>
                    <a:srgbClr val="00CC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</p:grpSp>
      <p:sp>
        <p:nvSpPr>
          <p:cNvPr id="27682" name="Rectangle 34"/>
          <p:cNvSpPr>
            <a:spLocks noChangeArrowheads="1"/>
          </p:cNvSpPr>
          <p:nvPr/>
        </p:nvSpPr>
        <p:spPr bwMode="auto">
          <a:xfrm>
            <a:off x="6221413" y="1685925"/>
            <a:ext cx="2309813" cy="2492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lIns="0" tIns="0" rIns="0" bIns="0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457200" marR="0" lvl="0" indent="-457200" algn="ctr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触发器驱动表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</a:p>
        </p:txBody>
      </p:sp>
      <p:sp>
        <p:nvSpPr>
          <p:cNvPr id="27683" name="Rectangle 35"/>
          <p:cNvSpPr/>
          <p:nvPr/>
        </p:nvSpPr>
        <p:spPr>
          <a:xfrm>
            <a:off x="6299200" y="2470150"/>
            <a:ext cx="1422400" cy="1460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0       0</a:t>
            </a: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0       1</a:t>
            </a: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1       0</a:t>
            </a: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1       1</a:t>
            </a:r>
          </a:p>
        </p:txBody>
      </p:sp>
      <p:sp>
        <p:nvSpPr>
          <p:cNvPr id="27684" name="Rectangle 36"/>
          <p:cNvSpPr/>
          <p:nvPr/>
        </p:nvSpPr>
        <p:spPr>
          <a:xfrm>
            <a:off x="7721600" y="2470150"/>
            <a:ext cx="736600" cy="1460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pPr marL="0" lvl="0" indent="0" algn="ctr">
              <a:spcBef>
                <a:spcPct val="50000"/>
              </a:spcBef>
              <a:buSzTx/>
              <a:buNone/>
            </a:pPr>
            <a:endParaRPr lang="en-US" altLang="zh-CN" sz="1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aseline="30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algn="ctr">
              <a:spcBef>
                <a:spcPct val="50000"/>
              </a:spcBef>
              <a:buSzTx/>
              <a:buNone/>
            </a:pPr>
            <a:endParaRPr lang="en-US" altLang="zh-CN" sz="1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85" name="Rectangle 37"/>
          <p:cNvSpPr/>
          <p:nvPr/>
        </p:nvSpPr>
        <p:spPr>
          <a:xfrm>
            <a:off x="7713663" y="2470150"/>
            <a:ext cx="744537" cy="18081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SzTx/>
              <a:buNone/>
            </a:pPr>
            <a:endParaRPr lang="en-US" altLang="zh-CN" sz="1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marL="0" lvl="0" indent="0" algn="ctr">
              <a:spcBef>
                <a:spcPct val="50000"/>
              </a:spcBef>
              <a:buSzTx/>
              <a:buNone/>
            </a:pPr>
            <a:endParaRPr lang="en-US" altLang="zh-CN" sz="1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27686" name="AutoShape 38"/>
          <p:cNvSpPr/>
          <p:nvPr/>
        </p:nvSpPr>
        <p:spPr>
          <a:xfrm>
            <a:off x="3790950" y="2435225"/>
            <a:ext cx="1093788" cy="381000"/>
          </a:xfrm>
          <a:prstGeom prst="wedgeRectCallout">
            <a:avLst>
              <a:gd name="adj1" fmla="val -29824"/>
              <a:gd name="adj2" fmla="val -134167"/>
            </a:avLst>
          </a:prstGeom>
          <a:solidFill>
            <a:srgbClr val="CCCC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无约束</a:t>
            </a:r>
          </a:p>
        </p:txBody>
      </p:sp>
      <p:sp>
        <p:nvSpPr>
          <p:cNvPr id="27687" name="AutoShape 39"/>
          <p:cNvSpPr/>
          <p:nvPr/>
        </p:nvSpPr>
        <p:spPr>
          <a:xfrm>
            <a:off x="2916238" y="2886075"/>
            <a:ext cx="3119437" cy="833438"/>
          </a:xfrm>
          <a:prstGeom prst="wedgeRectCallout">
            <a:avLst>
              <a:gd name="adj1" fmla="val 55139"/>
              <a:gd name="adj2" fmla="val -38181"/>
            </a:avLst>
          </a:prstGeom>
          <a:solidFill>
            <a:srgbClr val="CCCCFF">
              <a:alpha val="50195"/>
            </a:srgbClr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Q</a:t>
            </a:r>
            <a:r>
              <a:rPr lang="en-US" altLang="zh-CN" i="1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+1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时就为 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，与 </a:t>
            </a: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i="1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无关。</a:t>
            </a:r>
          </a:p>
        </p:txBody>
      </p:sp>
      <p:sp>
        <p:nvSpPr>
          <p:cNvPr id="27688" name="Rectangle 40"/>
          <p:cNvSpPr/>
          <p:nvPr/>
        </p:nvSpPr>
        <p:spPr>
          <a:xfrm>
            <a:off x="6299200" y="2470150"/>
            <a:ext cx="1414463" cy="18081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0       0</a:t>
            </a: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CC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0       1</a:t>
            </a: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1       0</a:t>
            </a:r>
          </a:p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sz="1800" dirty="0">
                <a:solidFill>
                  <a:srgbClr val="00CC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1       1</a:t>
            </a:r>
          </a:p>
        </p:txBody>
      </p:sp>
      <p:sp>
        <p:nvSpPr>
          <p:cNvPr id="277528" name="Rectangle 58"/>
          <p:cNvSpPr/>
          <p:nvPr/>
        </p:nvSpPr>
        <p:spPr>
          <a:xfrm>
            <a:off x="722313" y="717550"/>
            <a:ext cx="8129587" cy="42545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algn="ctr" defTabSz="914400">
              <a:spcBef>
                <a:spcPct val="50000"/>
              </a:spcBef>
              <a:buSzTx/>
              <a:buNone/>
              <a:tabLst>
                <a:tab pos="7523480" algn="l"/>
              </a:tabLst>
            </a:pPr>
            <a:r>
              <a:rPr lang="en-US" altLang="zh-CN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触发器的特性表、特性方程、驱动表和状态转换图 </a:t>
            </a:r>
          </a:p>
        </p:txBody>
      </p:sp>
      <p:sp>
        <p:nvSpPr>
          <p:cNvPr id="27707" name="Rectangle 59"/>
          <p:cNvSpPr/>
          <p:nvPr/>
        </p:nvSpPr>
        <p:spPr>
          <a:xfrm>
            <a:off x="722313" y="4724400"/>
            <a:ext cx="3581400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algn="ctr">
              <a:spcBef>
                <a:spcPct val="50000"/>
              </a:spcBef>
              <a:buSzTx/>
              <a:buNone/>
            </a:pPr>
            <a:r>
              <a:rPr lang="zh-CN" altLang="en-US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同步</a:t>
            </a:r>
            <a:r>
              <a:rPr lang="en-US" altLang="zh-CN" i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触发器状态转换图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77530" name="Line 60"/>
          <p:cNvSpPr/>
          <p:nvPr/>
        </p:nvSpPr>
        <p:spPr>
          <a:xfrm>
            <a:off x="323850" y="433388"/>
            <a:ext cx="6804025" cy="0"/>
          </a:xfrm>
          <a:prstGeom prst="line">
            <a:avLst/>
          </a:prstGeom>
          <a:ln w="9525">
            <a:noFill/>
          </a:ln>
        </p:spPr>
      </p:sp>
      <p:sp>
        <p:nvSpPr>
          <p:cNvPr id="277531" name="Rectangle 56"/>
          <p:cNvSpPr/>
          <p:nvPr/>
        </p:nvSpPr>
        <p:spPr>
          <a:xfrm>
            <a:off x="6634163" y="5516563"/>
            <a:ext cx="314325" cy="3762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fontAlgn="t">
              <a:spcBef>
                <a:spcPct val="50000"/>
              </a:spcBef>
              <a:buSz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673100" y="2124075"/>
            <a:ext cx="2171700" cy="2422525"/>
          </a:xfrm>
          <a:prstGeom prst="rect">
            <a:avLst/>
          </a:prstGeom>
          <a:noFill/>
          <a:ln w="5715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277533" name="直接连接符 3"/>
          <p:cNvCxnSpPr/>
          <p:nvPr/>
        </p:nvCxnSpPr>
        <p:spPr>
          <a:xfrm>
            <a:off x="647700" y="2435225"/>
            <a:ext cx="21971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77534" name="直接连接符 5"/>
          <p:cNvCxnSpPr/>
          <p:nvPr/>
        </p:nvCxnSpPr>
        <p:spPr>
          <a:xfrm>
            <a:off x="2136775" y="2105025"/>
            <a:ext cx="0" cy="2441575"/>
          </a:xfrm>
          <a:prstGeom prst="line">
            <a:avLst/>
          </a:prstGeom>
          <a:ln w="3810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日期占位符 1"/>
          <p:cNvSpPr txBox="1">
            <a:spLocks noGrp="1"/>
          </p:cNvSpPr>
          <p:nvPr/>
        </p:nvSpPr>
        <p:spPr>
          <a:xfrm>
            <a:off x="685800" y="6426200"/>
            <a:ext cx="1905000" cy="2794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 anchorCtr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SzTx/>
              <a:buNone/>
            </a:pPr>
            <a:fld id="{BB962C8B-B14F-4D97-AF65-F5344CB8AC3E}" type="datetime1">
              <a:rPr lang="zh-CN" altLang="en-US" sz="1400" dirty="0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2024/4/11</a:t>
            </a:fld>
            <a:endParaRPr lang="zh-CN" altLang="en-US" sz="1400" dirty="0">
              <a:solidFill>
                <a:srgbClr val="0033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78531" name="灯片编号占位符 3"/>
          <p:cNvSpPr txBox="1">
            <a:spLocks noGrp="1"/>
          </p:cNvSpPr>
          <p:nvPr/>
        </p:nvSpPr>
        <p:spPr>
          <a:xfrm>
            <a:off x="6553200" y="6413500"/>
            <a:ext cx="1905000" cy="2921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 anchorCtr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SzTx/>
              <a:buNone/>
            </a:pPr>
            <a:fld id="{9A0DB2DC-4C9A-4742-B13C-FB6460FD3503}" type="slidenum">
              <a:rPr lang="zh-CN" altLang="en-US" sz="1400" dirty="0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32</a:t>
            </a:fld>
            <a:endParaRPr lang="zh-CN" altLang="en-US" sz="1400" b="0" dirty="0">
              <a:solidFill>
                <a:srgbClr val="0033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67972" name="Rectangle 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407988"/>
            <a:ext cx="7294563" cy="30480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实例</a:t>
            </a:r>
          </a:p>
        </p:txBody>
      </p:sp>
      <p:sp>
        <p:nvSpPr>
          <p:cNvPr id="467973" name="Text Box 31"/>
          <p:cNvSpPr txBox="1">
            <a:spLocks noChangeArrowheads="1"/>
          </p:cNvSpPr>
          <p:nvPr/>
        </p:nvSpPr>
        <p:spPr bwMode="auto">
          <a:xfrm>
            <a:off x="609600" y="1143000"/>
            <a:ext cx="7961313" cy="42545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门控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R-S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触发器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输出时序，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初始状态为低</a:t>
            </a:r>
          </a:p>
        </p:txBody>
      </p:sp>
      <p:pic>
        <p:nvPicPr>
          <p:cNvPr id="278534" name="Picture 32" descr="fg07_009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438400"/>
            <a:ext cx="8342313" cy="3419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535" name="Rectangle 44"/>
          <p:cNvSpPr/>
          <p:nvPr/>
        </p:nvSpPr>
        <p:spPr>
          <a:xfrm>
            <a:off x="1295400" y="5105400"/>
            <a:ext cx="70866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 anchor="ctr" anchorCtr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en-US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1754" name="Line 33"/>
          <p:cNvSpPr/>
          <p:nvPr/>
        </p:nvSpPr>
        <p:spPr>
          <a:xfrm>
            <a:off x="1295400" y="5486400"/>
            <a:ext cx="8382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5" name="Line 34"/>
          <p:cNvSpPr/>
          <p:nvPr/>
        </p:nvSpPr>
        <p:spPr>
          <a:xfrm flipV="1">
            <a:off x="2133600" y="5181600"/>
            <a:ext cx="0" cy="304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6" name="Line 35"/>
          <p:cNvSpPr/>
          <p:nvPr/>
        </p:nvSpPr>
        <p:spPr>
          <a:xfrm>
            <a:off x="2133600" y="5181600"/>
            <a:ext cx="19050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7" name="Line 36"/>
          <p:cNvSpPr/>
          <p:nvPr/>
        </p:nvSpPr>
        <p:spPr>
          <a:xfrm>
            <a:off x="4038600" y="5181600"/>
            <a:ext cx="0" cy="304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8" name="Line 37"/>
          <p:cNvSpPr/>
          <p:nvPr/>
        </p:nvSpPr>
        <p:spPr>
          <a:xfrm>
            <a:off x="4038600" y="5486400"/>
            <a:ext cx="16764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9" name="Line 38"/>
          <p:cNvSpPr/>
          <p:nvPr/>
        </p:nvSpPr>
        <p:spPr>
          <a:xfrm flipV="1">
            <a:off x="5715000" y="5181600"/>
            <a:ext cx="0" cy="304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0" name="Line 39"/>
          <p:cNvSpPr/>
          <p:nvPr/>
        </p:nvSpPr>
        <p:spPr>
          <a:xfrm>
            <a:off x="5715000" y="5181600"/>
            <a:ext cx="8382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1" name="Line 40"/>
          <p:cNvSpPr/>
          <p:nvPr/>
        </p:nvSpPr>
        <p:spPr>
          <a:xfrm>
            <a:off x="6553200" y="5181600"/>
            <a:ext cx="0" cy="304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2" name="Line 41"/>
          <p:cNvSpPr/>
          <p:nvPr/>
        </p:nvSpPr>
        <p:spPr>
          <a:xfrm>
            <a:off x="6553200" y="5486400"/>
            <a:ext cx="9906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3" name="Line 42"/>
          <p:cNvSpPr/>
          <p:nvPr/>
        </p:nvSpPr>
        <p:spPr>
          <a:xfrm flipV="1">
            <a:off x="7543800" y="5181600"/>
            <a:ext cx="0" cy="304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4" name="Line 43"/>
          <p:cNvSpPr/>
          <p:nvPr/>
        </p:nvSpPr>
        <p:spPr>
          <a:xfrm>
            <a:off x="7543800" y="5181600"/>
            <a:ext cx="7620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灯片编号占位符 3"/>
          <p:cNvSpPr txBox="1">
            <a:spLocks noGrp="1"/>
          </p:cNvSpPr>
          <p:nvPr/>
        </p:nvSpPr>
        <p:spPr>
          <a:xfrm>
            <a:off x="6553200" y="6413500"/>
            <a:ext cx="1905000" cy="2921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 anchorCtr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SzTx/>
              <a:buNone/>
            </a:pPr>
            <a:fld id="{9A0DB2DC-4C9A-4742-B13C-FB6460FD3503}" type="slidenum">
              <a:rPr lang="zh-CN" altLang="en-US" sz="1400" dirty="0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33</a:t>
            </a:fld>
            <a:endParaRPr lang="zh-CN" altLang="en-US" sz="1400" b="0" dirty="0">
              <a:solidFill>
                <a:srgbClr val="0033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279555" name="Picture 122" descr="fg07_01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514600"/>
            <a:ext cx="8342313" cy="3046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8996" name="Text Box 123"/>
          <p:cNvSpPr txBox="1">
            <a:spLocks noChangeArrowheads="1"/>
          </p:cNvSpPr>
          <p:nvPr/>
        </p:nvSpPr>
        <p:spPr bwMode="auto">
          <a:xfrm>
            <a:off x="838200" y="1193800"/>
            <a:ext cx="7543800" cy="42545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触发器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输出时序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 </a:t>
            </a:r>
          </a:p>
        </p:txBody>
      </p:sp>
      <p:sp>
        <p:nvSpPr>
          <p:cNvPr id="279557" name="Rectangle 141"/>
          <p:cNvSpPr/>
          <p:nvPr/>
        </p:nvSpPr>
        <p:spPr>
          <a:xfrm>
            <a:off x="1447800" y="4876800"/>
            <a:ext cx="69342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 anchor="ctr" anchorCtr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endParaRPr lang="zh-CN" altLang="en-US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4826" name="Line 124"/>
          <p:cNvSpPr/>
          <p:nvPr/>
        </p:nvSpPr>
        <p:spPr>
          <a:xfrm>
            <a:off x="1549400" y="5257800"/>
            <a:ext cx="5334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7" name="Line 125"/>
          <p:cNvSpPr/>
          <p:nvPr/>
        </p:nvSpPr>
        <p:spPr>
          <a:xfrm flipV="1">
            <a:off x="2082800" y="4876800"/>
            <a:ext cx="0" cy="3810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8" name="Line 126"/>
          <p:cNvSpPr/>
          <p:nvPr/>
        </p:nvSpPr>
        <p:spPr>
          <a:xfrm>
            <a:off x="2070100" y="4876800"/>
            <a:ext cx="6858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9" name="Line 127"/>
          <p:cNvSpPr/>
          <p:nvPr/>
        </p:nvSpPr>
        <p:spPr>
          <a:xfrm>
            <a:off x="2743200" y="4876800"/>
            <a:ext cx="0" cy="3810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0" name="Line 128"/>
          <p:cNvSpPr/>
          <p:nvPr/>
        </p:nvSpPr>
        <p:spPr>
          <a:xfrm>
            <a:off x="2743200" y="5257800"/>
            <a:ext cx="6858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1" name="Line 129"/>
          <p:cNvSpPr/>
          <p:nvPr/>
        </p:nvSpPr>
        <p:spPr>
          <a:xfrm flipV="1">
            <a:off x="3429000" y="4876800"/>
            <a:ext cx="0" cy="3810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2" name="Line 130"/>
          <p:cNvSpPr/>
          <p:nvPr/>
        </p:nvSpPr>
        <p:spPr>
          <a:xfrm>
            <a:off x="3429000" y="4876800"/>
            <a:ext cx="2030413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3" name="Line 131"/>
          <p:cNvSpPr/>
          <p:nvPr/>
        </p:nvSpPr>
        <p:spPr>
          <a:xfrm>
            <a:off x="5461000" y="4876800"/>
            <a:ext cx="0" cy="3810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4" name="Line 132"/>
          <p:cNvSpPr/>
          <p:nvPr/>
        </p:nvSpPr>
        <p:spPr>
          <a:xfrm>
            <a:off x="5472113" y="5257800"/>
            <a:ext cx="319087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5" name="Line 133"/>
          <p:cNvSpPr/>
          <p:nvPr/>
        </p:nvSpPr>
        <p:spPr>
          <a:xfrm flipV="1">
            <a:off x="5791200" y="4876800"/>
            <a:ext cx="0" cy="3810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6" name="Line 134"/>
          <p:cNvSpPr/>
          <p:nvPr/>
        </p:nvSpPr>
        <p:spPr>
          <a:xfrm>
            <a:off x="5778500" y="4876800"/>
            <a:ext cx="6858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7" name="Line 135"/>
          <p:cNvSpPr/>
          <p:nvPr/>
        </p:nvSpPr>
        <p:spPr>
          <a:xfrm>
            <a:off x="6451600" y="4876800"/>
            <a:ext cx="0" cy="3810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8" name="Line 136"/>
          <p:cNvSpPr/>
          <p:nvPr/>
        </p:nvSpPr>
        <p:spPr>
          <a:xfrm>
            <a:off x="6451600" y="5257800"/>
            <a:ext cx="6858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9" name="Line 137"/>
          <p:cNvSpPr/>
          <p:nvPr/>
        </p:nvSpPr>
        <p:spPr>
          <a:xfrm flipV="1">
            <a:off x="7137400" y="4876800"/>
            <a:ext cx="0" cy="3810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0" name="Line 138"/>
          <p:cNvSpPr/>
          <p:nvPr/>
        </p:nvSpPr>
        <p:spPr>
          <a:xfrm>
            <a:off x="7137400" y="4876800"/>
            <a:ext cx="6604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1" name="Line 139"/>
          <p:cNvSpPr/>
          <p:nvPr/>
        </p:nvSpPr>
        <p:spPr>
          <a:xfrm>
            <a:off x="7785100" y="4876800"/>
            <a:ext cx="0" cy="3810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2" name="Line 140"/>
          <p:cNvSpPr/>
          <p:nvPr/>
        </p:nvSpPr>
        <p:spPr>
          <a:xfrm>
            <a:off x="7785100" y="5257800"/>
            <a:ext cx="6096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文本框 77827"/>
          <p:cNvSpPr txBox="1">
            <a:spLocks noChangeArrowheads="1"/>
          </p:cNvSpPr>
          <p:nvPr/>
        </p:nvSpPr>
        <p:spPr bwMode="auto">
          <a:xfrm>
            <a:off x="609705" y="1954986"/>
            <a:ext cx="807698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传输延迟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PLH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从时钟脉冲的触发沿到输出的低电平到高电平变换之间的时间</a:t>
            </a:r>
          </a:p>
        </p:txBody>
      </p:sp>
      <p:grpSp>
        <p:nvGrpSpPr>
          <p:cNvPr id="280579" name="组合 2"/>
          <p:cNvGrpSpPr/>
          <p:nvPr/>
        </p:nvGrpSpPr>
        <p:grpSpPr>
          <a:xfrm>
            <a:off x="762000" y="3322638"/>
            <a:ext cx="7620000" cy="2514600"/>
            <a:chOff x="762000" y="2668588"/>
            <a:chExt cx="7620000" cy="2514600"/>
          </a:xfrm>
        </p:grpSpPr>
        <p:sp>
          <p:nvSpPr>
            <p:cNvPr id="280585" name="文本框 77845"/>
            <p:cNvSpPr txBox="1"/>
            <p:nvPr/>
          </p:nvSpPr>
          <p:spPr>
            <a:xfrm>
              <a:off x="1143000" y="2744788"/>
              <a:ext cx="2514600" cy="306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rgbClr val="FF0066"/>
                  </a:solidFill>
                  <a:latin typeface="Times New Roman" panose="02020603050405020304" charset="0"/>
                </a:rPr>
                <a:t>50% point on triggering edge</a:t>
              </a:r>
            </a:p>
          </p:txBody>
        </p:sp>
        <p:sp>
          <p:nvSpPr>
            <p:cNvPr id="280586" name="矩形 77846"/>
            <p:cNvSpPr/>
            <p:nvPr/>
          </p:nvSpPr>
          <p:spPr>
            <a:xfrm>
              <a:off x="5634038" y="3354388"/>
              <a:ext cx="919162" cy="3063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rgbClr val="FF0066"/>
                  </a:solidFill>
                  <a:latin typeface="Times New Roman" panose="02020603050405020304" charset="0"/>
                </a:rPr>
                <a:t>50% point</a:t>
              </a:r>
            </a:p>
          </p:txBody>
        </p:sp>
        <p:sp>
          <p:nvSpPr>
            <p:cNvPr id="280587" name="文本框 77847"/>
            <p:cNvSpPr txBox="1"/>
            <p:nvPr/>
          </p:nvSpPr>
          <p:spPr>
            <a:xfrm>
              <a:off x="2514600" y="4132263"/>
              <a:ext cx="2133600" cy="5222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rgbClr val="FF0066"/>
                  </a:solidFill>
                  <a:latin typeface="Times New Roman" panose="02020603050405020304" charset="0"/>
                </a:rPr>
                <a:t>50% point on LOW-to-HIGH transition of </a:t>
              </a:r>
              <a:r>
                <a:rPr lang="en-US" altLang="zh-CN" sz="1400" i="1" dirty="0">
                  <a:solidFill>
                    <a:srgbClr val="FF0066"/>
                  </a:solidFill>
                  <a:latin typeface="Times New Roman" panose="02020603050405020304" charset="0"/>
                </a:rPr>
                <a:t>Q</a:t>
              </a:r>
            </a:p>
          </p:txBody>
        </p:sp>
        <p:sp>
          <p:nvSpPr>
            <p:cNvPr id="280588" name="文本框 77850"/>
            <p:cNvSpPr txBox="1"/>
            <p:nvPr/>
          </p:nvSpPr>
          <p:spPr>
            <a:xfrm>
              <a:off x="1600200" y="4694238"/>
              <a:ext cx="685800" cy="3381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solidFill>
                    <a:srgbClr val="FF0066"/>
                  </a:solidFill>
                  <a:latin typeface="Times New Roman" panose="02020603050405020304" charset="0"/>
                </a:rPr>
                <a:t>t</a:t>
              </a:r>
              <a:r>
                <a:rPr lang="en-US" altLang="zh-CN" sz="1600" i="1" baseline="-25000" dirty="0">
                  <a:solidFill>
                    <a:srgbClr val="FF0066"/>
                  </a:solidFill>
                  <a:latin typeface="Times New Roman" panose="02020603050405020304" charset="0"/>
                </a:rPr>
                <a:t>PLH</a:t>
              </a:r>
            </a:p>
          </p:txBody>
        </p:sp>
        <p:sp>
          <p:nvSpPr>
            <p:cNvPr id="280589" name="文本框 77851"/>
            <p:cNvSpPr txBox="1"/>
            <p:nvPr/>
          </p:nvSpPr>
          <p:spPr>
            <a:xfrm>
              <a:off x="5562600" y="4694238"/>
              <a:ext cx="685800" cy="3381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solidFill>
                    <a:srgbClr val="FF0066"/>
                  </a:solidFill>
                  <a:latin typeface="Times New Roman" panose="02020603050405020304" charset="0"/>
                </a:rPr>
                <a:t>t</a:t>
              </a:r>
              <a:r>
                <a:rPr lang="en-US" altLang="zh-CN" sz="1600" i="1" baseline="-25000" dirty="0">
                  <a:solidFill>
                    <a:srgbClr val="FF0066"/>
                  </a:solidFill>
                  <a:latin typeface="Times New Roman" panose="02020603050405020304" charset="0"/>
                </a:rPr>
                <a:t>PHL</a:t>
              </a:r>
            </a:p>
          </p:txBody>
        </p:sp>
        <p:graphicFrame>
          <p:nvGraphicFramePr>
            <p:cNvPr id="280590" name="对象 77853"/>
            <p:cNvGraphicFramePr/>
            <p:nvPr/>
          </p:nvGraphicFramePr>
          <p:xfrm>
            <a:off x="1066800" y="3049588"/>
            <a:ext cx="7162800" cy="1830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526280" imgH="1139825" progId="CorelDRAW.Graphic.13">
                    <p:embed/>
                  </p:oleObj>
                </mc:Choice>
                <mc:Fallback>
                  <p:oleObj r:id="rId3" imgW="4526280" imgH="1139825" progId="CorelDRAW.Graphic.1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66800" y="3049588"/>
                          <a:ext cx="7162800" cy="1830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0591" name="文本框 77854"/>
            <p:cNvSpPr txBox="1"/>
            <p:nvPr/>
          </p:nvSpPr>
          <p:spPr>
            <a:xfrm>
              <a:off x="838200" y="3278188"/>
              <a:ext cx="1143000" cy="3381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anose="02020603050405020304" charset="0"/>
                </a:rPr>
                <a:t>CLK</a:t>
              </a:r>
            </a:p>
          </p:txBody>
        </p:sp>
        <p:sp>
          <p:nvSpPr>
            <p:cNvPr id="280592" name="文本框 77855"/>
            <p:cNvSpPr txBox="1"/>
            <p:nvPr/>
          </p:nvSpPr>
          <p:spPr>
            <a:xfrm>
              <a:off x="4724400" y="3278188"/>
              <a:ext cx="1143000" cy="3381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anose="02020603050405020304" charset="0"/>
                </a:rPr>
                <a:t>CLK</a:t>
              </a:r>
            </a:p>
          </p:txBody>
        </p:sp>
        <p:sp>
          <p:nvSpPr>
            <p:cNvPr id="280593" name="文本框 77856"/>
            <p:cNvSpPr txBox="1"/>
            <p:nvPr/>
          </p:nvSpPr>
          <p:spPr>
            <a:xfrm>
              <a:off x="914400" y="4116388"/>
              <a:ext cx="1143000" cy="3381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latin typeface="Times New Roman" panose="02020603050405020304" charset="0"/>
                </a:rPr>
                <a:t>Q</a:t>
              </a:r>
            </a:p>
          </p:txBody>
        </p:sp>
        <p:sp>
          <p:nvSpPr>
            <p:cNvPr id="280594" name="文本框 77857"/>
            <p:cNvSpPr txBox="1"/>
            <p:nvPr/>
          </p:nvSpPr>
          <p:spPr>
            <a:xfrm>
              <a:off x="4800600" y="4116388"/>
              <a:ext cx="1143000" cy="3381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latin typeface="Times New Roman" panose="02020603050405020304" charset="0"/>
                </a:rPr>
                <a:t>Q</a:t>
              </a:r>
            </a:p>
          </p:txBody>
        </p:sp>
        <p:sp>
          <p:nvSpPr>
            <p:cNvPr id="280595" name="矩形 77858"/>
            <p:cNvSpPr/>
            <p:nvPr/>
          </p:nvSpPr>
          <p:spPr>
            <a:xfrm>
              <a:off x="762000" y="2668588"/>
              <a:ext cx="3733800" cy="251460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80596" name="矩形 77860"/>
            <p:cNvSpPr/>
            <p:nvPr/>
          </p:nvSpPr>
          <p:spPr>
            <a:xfrm>
              <a:off x="4648200" y="2668588"/>
              <a:ext cx="3733800" cy="251460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80597" name="文本框 77849"/>
            <p:cNvSpPr txBox="1"/>
            <p:nvPr/>
          </p:nvSpPr>
          <p:spPr>
            <a:xfrm>
              <a:off x="6096000" y="4056063"/>
              <a:ext cx="2057400" cy="5222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rgbClr val="FF0066"/>
                  </a:solidFill>
                  <a:latin typeface="Times New Roman" panose="02020603050405020304" charset="0"/>
                </a:rPr>
                <a:t>50% point on HIGH-to- LOW transition of </a:t>
              </a:r>
              <a:r>
                <a:rPr lang="en-US" altLang="zh-CN" sz="1400" i="1" dirty="0">
                  <a:solidFill>
                    <a:srgbClr val="FF0066"/>
                  </a:solidFill>
                  <a:latin typeface="Times New Roman" panose="02020603050405020304" charset="0"/>
                </a:rPr>
                <a:t>Q</a:t>
              </a:r>
            </a:p>
          </p:txBody>
        </p:sp>
      </p:grpSp>
      <p:sp>
        <p:nvSpPr>
          <p:cNvPr id="280580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latin typeface="Arial" panose="020B0604020202020204" pitchFamily="34" charset="0"/>
              </a:rPr>
              <a:t>34</a:t>
            </a:fld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0" name="矩形 8"/>
          <p:cNvSpPr>
            <a:spLocks noChangeArrowheads="1"/>
          </p:cNvSpPr>
          <p:nvPr/>
        </p:nvSpPr>
        <p:spPr bwMode="auto">
          <a:xfrm>
            <a:off x="638175" y="1474788"/>
            <a:ext cx="2838450" cy="342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、传输延迟：时钟到输出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文本框 77827"/>
          <p:cNvSpPr txBox="1">
            <a:spLocks noChangeArrowheads="1"/>
          </p:cNvSpPr>
          <p:nvPr/>
        </p:nvSpPr>
        <p:spPr bwMode="auto">
          <a:xfrm>
            <a:off x="609706" y="2474952"/>
            <a:ext cx="807698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传输延迟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PHL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从时钟脉冲的触发沿到输出的高电平到低电平变换之间的时间</a:t>
            </a:r>
          </a:p>
        </p:txBody>
      </p:sp>
      <p:sp>
        <p:nvSpPr>
          <p:cNvPr id="4" name="Rectangle 2"/>
          <p:cNvSpPr txBox="1">
            <a:spLocks noRot="1" noChangeArrowheads="1"/>
          </p:cNvSpPr>
          <p:nvPr/>
        </p:nvSpPr>
        <p:spPr bwMode="auto">
          <a:xfrm>
            <a:off x="0" y="190500"/>
            <a:ext cx="9144000" cy="501650"/>
          </a:xfrm>
          <a:prstGeom prst="rect">
            <a:avLst/>
          </a:prstGeom>
          <a:solidFill>
            <a:srgbClr val="006666">
              <a:lumMod val="20000"/>
              <a:lumOff val="80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j-cs"/>
              </a:rPr>
              <a:t>  Sec.7.3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j-cs"/>
              </a:rPr>
              <a:t>触发器运算特性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80584" name="Rectangle 7"/>
          <p:cNvSpPr txBox="1">
            <a:spLocks noRot="1"/>
          </p:cNvSpPr>
          <p:nvPr/>
        </p:nvSpPr>
        <p:spPr>
          <a:xfrm>
            <a:off x="255588" y="874713"/>
            <a:ext cx="3475037" cy="501650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7.3.1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、传输延迟时间</a:t>
            </a:r>
          </a:p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 advTm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626" name="组合 3"/>
          <p:cNvGrpSpPr/>
          <p:nvPr/>
        </p:nvGrpSpPr>
        <p:grpSpPr>
          <a:xfrm>
            <a:off x="1066800" y="3551238"/>
            <a:ext cx="7010400" cy="2362200"/>
            <a:chOff x="990600" y="3505200"/>
            <a:chExt cx="7010400" cy="2362200"/>
          </a:xfrm>
        </p:grpSpPr>
        <p:graphicFrame>
          <p:nvGraphicFramePr>
            <p:cNvPr id="282633" name="对象 155660"/>
            <p:cNvGraphicFramePr/>
            <p:nvPr/>
          </p:nvGraphicFramePr>
          <p:xfrm>
            <a:off x="1295400" y="3873500"/>
            <a:ext cx="6400800" cy="161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561715" imgH="903605" progId="CorelDRAW.Graphic.13">
                    <p:embed/>
                  </p:oleObj>
                </mc:Choice>
                <mc:Fallback>
                  <p:oleObj r:id="rId3" imgW="3561715" imgH="903605" progId="CorelDRAW.Graphic.1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95400" y="3873500"/>
                          <a:ext cx="6400800" cy="16129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2634" name="矩形 155662"/>
            <p:cNvSpPr/>
            <p:nvPr/>
          </p:nvSpPr>
          <p:spPr>
            <a:xfrm>
              <a:off x="5791200" y="3962400"/>
              <a:ext cx="919163" cy="306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rgbClr val="FF0066"/>
                  </a:solidFill>
                  <a:latin typeface="Times New Roman" panose="02020603050405020304" charset="0"/>
                </a:rPr>
                <a:t>50% point</a:t>
              </a:r>
            </a:p>
          </p:txBody>
        </p:sp>
        <p:sp>
          <p:nvSpPr>
            <p:cNvPr id="282635" name="文本框 155664"/>
            <p:cNvSpPr txBox="1"/>
            <p:nvPr/>
          </p:nvSpPr>
          <p:spPr>
            <a:xfrm>
              <a:off x="5791200" y="5302250"/>
              <a:ext cx="685800" cy="3365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solidFill>
                    <a:srgbClr val="FF0066"/>
                  </a:solidFill>
                  <a:latin typeface="Times New Roman" panose="02020603050405020304" charset="0"/>
                </a:rPr>
                <a:t>t</a:t>
              </a:r>
              <a:r>
                <a:rPr lang="en-US" altLang="zh-CN" sz="1600" i="1" baseline="-25000" dirty="0">
                  <a:solidFill>
                    <a:srgbClr val="FF0066"/>
                  </a:solidFill>
                  <a:latin typeface="Times New Roman" panose="02020603050405020304" charset="0"/>
                </a:rPr>
                <a:t>PLH</a:t>
              </a:r>
            </a:p>
          </p:txBody>
        </p:sp>
        <p:sp>
          <p:nvSpPr>
            <p:cNvPr id="282636" name="文本框 155665"/>
            <p:cNvSpPr txBox="1"/>
            <p:nvPr/>
          </p:nvSpPr>
          <p:spPr>
            <a:xfrm>
              <a:off x="2133600" y="5257800"/>
              <a:ext cx="685800" cy="3365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solidFill>
                    <a:srgbClr val="FF0066"/>
                  </a:solidFill>
                  <a:latin typeface="Times New Roman" panose="02020603050405020304" charset="0"/>
                </a:rPr>
                <a:t>t</a:t>
              </a:r>
              <a:r>
                <a:rPr lang="en-US" altLang="zh-CN" sz="1600" i="1" baseline="-25000" dirty="0">
                  <a:solidFill>
                    <a:srgbClr val="FF0066"/>
                  </a:solidFill>
                  <a:latin typeface="Times New Roman" panose="02020603050405020304" charset="0"/>
                </a:rPr>
                <a:t>PHL</a:t>
              </a:r>
            </a:p>
          </p:txBody>
        </p:sp>
        <p:sp>
          <p:nvSpPr>
            <p:cNvPr id="282637" name="文本框 155669"/>
            <p:cNvSpPr txBox="1"/>
            <p:nvPr/>
          </p:nvSpPr>
          <p:spPr>
            <a:xfrm>
              <a:off x="1066800" y="4648200"/>
              <a:ext cx="457200" cy="3365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latin typeface="Times New Roman" panose="02020603050405020304" charset="0"/>
                </a:rPr>
                <a:t>Q</a:t>
              </a:r>
            </a:p>
          </p:txBody>
        </p:sp>
        <p:sp>
          <p:nvSpPr>
            <p:cNvPr id="282638" name="矩形 155671"/>
            <p:cNvSpPr/>
            <p:nvPr/>
          </p:nvSpPr>
          <p:spPr>
            <a:xfrm>
              <a:off x="990600" y="3505200"/>
              <a:ext cx="3352800" cy="236220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82639" name="矩形 155702"/>
            <p:cNvSpPr/>
            <p:nvPr/>
          </p:nvSpPr>
          <p:spPr>
            <a:xfrm>
              <a:off x="6248400" y="4648200"/>
              <a:ext cx="919163" cy="306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rgbClr val="FF0066"/>
                  </a:solidFill>
                  <a:latin typeface="Times New Roman" panose="02020603050405020304" charset="0"/>
                </a:rPr>
                <a:t>50% point</a:t>
              </a:r>
            </a:p>
          </p:txBody>
        </p:sp>
        <p:sp>
          <p:nvSpPr>
            <p:cNvPr id="282640" name="矩形 155703"/>
            <p:cNvSpPr/>
            <p:nvPr/>
          </p:nvSpPr>
          <p:spPr>
            <a:xfrm>
              <a:off x="2590800" y="4648200"/>
              <a:ext cx="919163" cy="306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rgbClr val="FF0066"/>
                  </a:solidFill>
                  <a:latin typeface="Times New Roman" panose="02020603050405020304" charset="0"/>
                </a:rPr>
                <a:t>50% point</a:t>
              </a:r>
            </a:p>
          </p:txBody>
        </p:sp>
        <p:sp>
          <p:nvSpPr>
            <p:cNvPr id="282641" name="矩形 155704"/>
            <p:cNvSpPr/>
            <p:nvPr/>
          </p:nvSpPr>
          <p:spPr>
            <a:xfrm>
              <a:off x="2133600" y="3962400"/>
              <a:ext cx="919163" cy="306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rgbClr val="FF0066"/>
                  </a:solidFill>
                  <a:latin typeface="Times New Roman" panose="02020603050405020304" charset="0"/>
                </a:rPr>
                <a:t>50% point</a:t>
              </a:r>
            </a:p>
          </p:txBody>
        </p:sp>
        <p:sp>
          <p:nvSpPr>
            <p:cNvPr id="282642" name="文本框 155705"/>
            <p:cNvSpPr txBox="1"/>
            <p:nvPr/>
          </p:nvSpPr>
          <p:spPr>
            <a:xfrm>
              <a:off x="4648200" y="4648200"/>
              <a:ext cx="457200" cy="3365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 dirty="0">
                  <a:latin typeface="Times New Roman" panose="02020603050405020304" charset="0"/>
                </a:rPr>
                <a:t>Q</a:t>
              </a:r>
            </a:p>
          </p:txBody>
        </p:sp>
        <p:sp>
          <p:nvSpPr>
            <p:cNvPr id="282643" name="矩形 155706"/>
            <p:cNvSpPr/>
            <p:nvPr/>
          </p:nvSpPr>
          <p:spPr>
            <a:xfrm>
              <a:off x="4648200" y="3505200"/>
              <a:ext cx="3352800" cy="236220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82644" name="文本框 155707"/>
            <p:cNvSpPr txBox="1"/>
            <p:nvPr/>
          </p:nvSpPr>
          <p:spPr>
            <a:xfrm>
              <a:off x="990600" y="4038600"/>
              <a:ext cx="508000" cy="306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 dirty="0">
                  <a:latin typeface="Times New Roman" panose="02020603050405020304" charset="0"/>
                </a:rPr>
                <a:t>PRE</a:t>
              </a:r>
            </a:p>
          </p:txBody>
        </p:sp>
        <p:sp>
          <p:nvSpPr>
            <p:cNvPr id="282645" name="直接连接符 155708"/>
            <p:cNvSpPr/>
            <p:nvPr/>
          </p:nvSpPr>
          <p:spPr>
            <a:xfrm>
              <a:off x="1092200" y="4070350"/>
              <a:ext cx="3048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646" name="文本框 155709"/>
            <p:cNvSpPr txBox="1"/>
            <p:nvPr/>
          </p:nvSpPr>
          <p:spPr>
            <a:xfrm>
              <a:off x="4648200" y="3962400"/>
              <a:ext cx="509588" cy="306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Times" pitchFamily="18" charset="0"/>
                <a:buChar char="•"/>
                <a:defRPr sz="30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10858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Arial" panose="020B0604020202020204" pitchFamily="34" charset="0"/>
                <a:buChar char="•"/>
                <a:defRPr sz="26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4287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191D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77165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14C90"/>
                </a:buClr>
                <a:buFont typeface="Lucida Grande"/>
                <a:buChar char="-"/>
                <a:defRPr sz="2200">
                  <a:solidFill>
                    <a:schemeClr val="tx1"/>
                  </a:solidFill>
                  <a:latin typeface="Verdana" panose="020B0604030504040204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 dirty="0">
                  <a:latin typeface="Times New Roman" panose="02020603050405020304" charset="0"/>
                </a:rPr>
                <a:t>CLR</a:t>
              </a:r>
            </a:p>
          </p:txBody>
        </p:sp>
        <p:sp>
          <p:nvSpPr>
            <p:cNvPr id="282647" name="直接连接符 155710"/>
            <p:cNvSpPr/>
            <p:nvPr/>
          </p:nvSpPr>
          <p:spPr>
            <a:xfrm>
              <a:off x="4759325" y="3989388"/>
              <a:ext cx="3048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82627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latin typeface="Arial" panose="020B0604020202020204" pitchFamily="34" charset="0"/>
              </a:rPr>
              <a:t>35</a:t>
            </a:fld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1" name="矩形 7"/>
          <p:cNvSpPr>
            <a:spLocks noChangeArrowheads="1"/>
          </p:cNvSpPr>
          <p:nvPr/>
        </p:nvSpPr>
        <p:spPr bwMode="auto">
          <a:xfrm>
            <a:off x="255588" y="1541463"/>
            <a:ext cx="3886200" cy="5905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、传输延迟：预置位输入到输出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	       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清零输入到输出</a:t>
            </a:r>
          </a:p>
        </p:txBody>
      </p:sp>
      <p:sp>
        <p:nvSpPr>
          <p:cNvPr id="2" name="Rectangle 2"/>
          <p:cNvSpPr txBox="1">
            <a:spLocks noRot="1" noChangeArrowheads="1"/>
          </p:cNvSpPr>
          <p:nvPr/>
        </p:nvSpPr>
        <p:spPr bwMode="auto">
          <a:xfrm>
            <a:off x="0" y="190500"/>
            <a:ext cx="9144000" cy="501650"/>
          </a:xfrm>
          <a:prstGeom prst="rect">
            <a:avLst/>
          </a:prstGeom>
          <a:solidFill>
            <a:srgbClr val="006666">
              <a:lumMod val="20000"/>
              <a:lumOff val="80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j-cs"/>
              </a:rPr>
              <a:t>  Sec.7.3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j-cs"/>
              </a:rPr>
              <a:t>触发器运算特性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82630" name="Rectangle 7"/>
          <p:cNvSpPr txBox="1">
            <a:spLocks noRot="1"/>
          </p:cNvSpPr>
          <p:nvPr/>
        </p:nvSpPr>
        <p:spPr>
          <a:xfrm>
            <a:off x="244475" y="846138"/>
            <a:ext cx="3475038" cy="501650"/>
          </a:xfrm>
          <a:prstGeom prst="rect">
            <a:avLst/>
          </a:prstGeom>
          <a:solidFill>
            <a:srgbClr val="FFFF33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7.3.1</a:t>
            </a:r>
            <a:r>
              <a:rPr lang="zh-CN" altLang="en-US" sz="2400" b="1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、传输延迟时间</a:t>
            </a:r>
          </a:p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D0D0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77827"/>
          <p:cNvSpPr txBox="1">
            <a:spLocks noChangeArrowheads="1"/>
          </p:cNvSpPr>
          <p:nvPr/>
        </p:nvSpPr>
        <p:spPr bwMode="auto">
          <a:xfrm>
            <a:off x="413757" y="2292467"/>
            <a:ext cx="807698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传输延迟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PLH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从预置位输入的前沿到输出的低电平到高电平变换之间的时间</a:t>
            </a:r>
          </a:p>
        </p:txBody>
      </p:sp>
      <p:sp>
        <p:nvSpPr>
          <p:cNvPr id="6" name="文本框 77827"/>
          <p:cNvSpPr txBox="1">
            <a:spLocks noChangeArrowheads="1"/>
          </p:cNvSpPr>
          <p:nvPr/>
        </p:nvSpPr>
        <p:spPr bwMode="auto">
          <a:xfrm>
            <a:off x="406114" y="2739355"/>
            <a:ext cx="807698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传输延迟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PHL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CCFF"/>
                </a:highlight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从清零输入的前沿到输出的高电平到低电平变换之间的时间</a:t>
            </a:r>
          </a:p>
        </p:txBody>
      </p:sp>
    </p:spTree>
  </p:cSld>
  <p:clrMapOvr>
    <a:masterClrMapping/>
  </p:clrMapOvr>
  <p:transition spd="slow" advTm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wrap="none" lIns="92075" tIns="46038" rIns="92075" bIns="46038" anchor="ctr" anchorCtr="0"/>
          <a:lstStyle/>
          <a:p>
            <a:pPr marL="0" indent="0" algn="r">
              <a:lnSpc>
                <a:spcPct val="100000"/>
              </a:lnSpc>
              <a:spcBef>
                <a:spcPct val="0"/>
              </a:spcBef>
              <a:buSzTx/>
              <a:buNone/>
            </a:pPr>
            <a:fld id="{9A0DB2DC-4C9A-4742-B13C-FB6460FD3503}" type="slidenum">
              <a:rPr lang="zh-CN" altLang="en-US" sz="1400" dirty="0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36</a:t>
            </a:fld>
            <a:endParaRPr lang="zh-CN" altLang="en-US" sz="1400" b="0" dirty="0">
              <a:solidFill>
                <a:srgbClr val="0033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84675" name="Text Box 194"/>
          <p:cNvSpPr txBox="1"/>
          <p:nvPr/>
        </p:nvSpPr>
        <p:spPr>
          <a:xfrm>
            <a:off x="228600" y="1219200"/>
            <a:ext cx="3581400" cy="18383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457200">
              <a:spcBef>
                <a:spcPct val="0"/>
              </a:spcBef>
              <a:buSzTx/>
              <a:buNone/>
            </a:pP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输入先于时钟脉冲触发边沿到达所需要的最小时间间隔，在此时间（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K</a:t>
            </a: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，或者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）输入逻辑电平保持不变，则触发时可有效地按时序进入触发器。</a:t>
            </a:r>
            <a:endParaRPr lang="en-US" altLang="zh-CN" sz="18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lvl="0" indent="457200">
              <a:spcBef>
                <a:spcPct val="0"/>
              </a:spcBef>
              <a:buSzTx/>
              <a:buNone/>
            </a:pP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输入的逻辑电平保持的时间必须 ≥ </a:t>
            </a:r>
            <a:r>
              <a:rPr lang="en-US" altLang="zh-CN" sz="1800" dirty="0" err="1">
                <a:solidFill>
                  <a:srgbClr val="3333FF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i="1" baseline="-25000" dirty="0" err="1">
                <a:solidFill>
                  <a:srgbClr val="3333FF"/>
                </a:solidFill>
                <a:ea typeface="宋体" panose="02010600030101010101" pitchFamily="2" charset="-122"/>
              </a:rPr>
              <a:t>s</a:t>
            </a:r>
            <a:endParaRPr lang="en-US" altLang="zh-CN" sz="18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113859" name="Picture 195" descr="fg07_03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3" y="3433763"/>
            <a:ext cx="3652837" cy="144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2"/>
          <p:cNvSpPr txBox="1">
            <a:spLocks noRot="1" noChangeArrowheads="1"/>
          </p:cNvSpPr>
          <p:nvPr/>
        </p:nvSpPr>
        <p:spPr bwMode="auto">
          <a:xfrm>
            <a:off x="9525" y="-4762"/>
            <a:ext cx="9144000" cy="501650"/>
          </a:xfrm>
          <a:prstGeom prst="rect">
            <a:avLst/>
          </a:prstGeom>
          <a:solidFill>
            <a:srgbClr val="006666">
              <a:lumMod val="20000"/>
              <a:lumOff val="80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 Sec.7.3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触发器运算特性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" name="Rectangle 7"/>
          <p:cNvSpPr txBox="1">
            <a:spLocks noRot="1" noChangeArrowheads="1"/>
          </p:cNvSpPr>
          <p:nvPr/>
        </p:nvSpPr>
        <p:spPr bwMode="auto">
          <a:xfrm>
            <a:off x="228600" y="611188"/>
            <a:ext cx="3475038" cy="390525"/>
          </a:xfrm>
          <a:prstGeom prst="rect">
            <a:avLst/>
          </a:prstGeom>
          <a:solidFill>
            <a:srgbClr val="FFFF33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7.3.2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建立时间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</a:t>
            </a:r>
            <a:endParaRPr kumimoji="0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Rectangle 7"/>
          <p:cNvSpPr txBox="1">
            <a:spLocks noRot="1" noChangeArrowheads="1"/>
          </p:cNvSpPr>
          <p:nvPr/>
        </p:nvSpPr>
        <p:spPr bwMode="auto">
          <a:xfrm>
            <a:off x="4983163" y="650875"/>
            <a:ext cx="3475038" cy="390525"/>
          </a:xfrm>
          <a:prstGeom prst="rect">
            <a:avLst/>
          </a:prstGeom>
          <a:solidFill>
            <a:srgbClr val="FFFF33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7.3.3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保持时间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</a:t>
            </a:r>
            <a:endParaRPr kumimoji="0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4680" name="Text Box 54"/>
          <p:cNvSpPr txBox="1"/>
          <p:nvPr/>
        </p:nvSpPr>
        <p:spPr>
          <a:xfrm>
            <a:off x="4983163" y="1238250"/>
            <a:ext cx="3822700" cy="13398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457200">
              <a:spcBef>
                <a:spcPct val="0"/>
              </a:spcBef>
              <a:buSzTx/>
              <a:buNone/>
            </a:pP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时钟脉冲触发边沿到达之后，输入的逻辑电平需要保持的最小时间间隔。</a:t>
            </a:r>
            <a:endParaRPr lang="en-US" altLang="zh-CN" sz="18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lvl="0" indent="457200">
              <a:spcBef>
                <a:spcPct val="0"/>
              </a:spcBef>
              <a:buSzTx/>
              <a:buNone/>
            </a:pP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输入的逻辑电平保持的时间必须 ≥ </a:t>
            </a:r>
            <a:r>
              <a:rPr lang="en-US" altLang="zh-CN" sz="1800" dirty="0">
                <a:solidFill>
                  <a:srgbClr val="3333FF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i="1" baseline="-25000" dirty="0">
                <a:solidFill>
                  <a:srgbClr val="3333FF"/>
                </a:solidFill>
                <a:ea typeface="宋体" panose="02010600030101010101" pitchFamily="2" charset="-122"/>
              </a:rPr>
              <a:t>h</a:t>
            </a:r>
          </a:p>
        </p:txBody>
      </p:sp>
      <p:pic>
        <p:nvPicPr>
          <p:cNvPr id="6" name="Picture 52" descr="fg07_035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750" y="3251200"/>
            <a:ext cx="4075113" cy="1870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211138" y="5181600"/>
            <a:ext cx="4124325" cy="53498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保证数据可靠进入，在时钟脉冲触发边沿到来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前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，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数据输入的提前时间必须≥建立时间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charset="0"/>
              <a:ea typeface="楷体_GB2312" pitchFamily="49" charset="-122"/>
              <a:cs typeface="+mn-cs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745038" y="5181600"/>
            <a:ext cx="4102100" cy="5355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保证数据可靠进入，在时钟脉冲触发边沿到来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后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，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charset="0"/>
                <a:ea typeface="楷体_GB2312" pitchFamily="49" charset="-122"/>
                <a:cs typeface="+mn-cs"/>
              </a:rPr>
              <a:t>数据输入的保持时间必须≥保持时间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wrap="none" lIns="92075" tIns="46038" rIns="92075" bIns="46038" anchor="ctr" anchorCtr="0"/>
          <a:lstStyle/>
          <a:p>
            <a:pPr marL="0" indent="0" algn="r">
              <a:lnSpc>
                <a:spcPct val="100000"/>
              </a:lnSpc>
              <a:spcBef>
                <a:spcPct val="0"/>
              </a:spcBef>
              <a:buSzTx/>
              <a:buNone/>
            </a:pPr>
            <a:fld id="{9A0DB2DC-4C9A-4742-B13C-FB6460FD3503}" type="slidenum">
              <a:rPr lang="zh-CN" altLang="en-US" sz="1400" dirty="0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37</a:t>
            </a:fld>
            <a:endParaRPr lang="zh-CN" altLang="en-US" sz="1400" b="0" dirty="0">
              <a:solidFill>
                <a:srgbClr val="0033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27369" name="Text Box 41"/>
          <p:cNvSpPr txBox="1"/>
          <p:nvPr/>
        </p:nvSpPr>
        <p:spPr>
          <a:xfrm>
            <a:off x="685800" y="566738"/>
            <a:ext cx="5334000" cy="4254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3333FF"/>
                </a:solidFill>
                <a:ea typeface="宋体" panose="02010600030101010101" pitchFamily="2" charset="-122"/>
              </a:rPr>
              <a:t>4. </a:t>
            </a:r>
            <a:r>
              <a:rPr lang="zh-CN" altLang="en-US" dirty="0">
                <a:solidFill>
                  <a:srgbClr val="3333FF"/>
                </a:solidFill>
                <a:ea typeface="宋体" panose="02010600030101010101" pitchFamily="2" charset="-122"/>
              </a:rPr>
              <a:t>最大时钟频率</a:t>
            </a:r>
            <a:r>
              <a:rPr lang="en-US" altLang="zh-CN" i="1" dirty="0">
                <a:solidFill>
                  <a:srgbClr val="FF3399"/>
                </a:solidFill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solidFill>
                  <a:srgbClr val="FF3399"/>
                </a:solidFill>
                <a:ea typeface="宋体" panose="02010600030101010101" pitchFamily="2" charset="-122"/>
              </a:rPr>
              <a:t>max</a:t>
            </a:r>
          </a:p>
        </p:txBody>
      </p:sp>
      <p:sp>
        <p:nvSpPr>
          <p:cNvPr id="227370" name="Text Box 42"/>
          <p:cNvSpPr txBox="1"/>
          <p:nvPr/>
        </p:nvSpPr>
        <p:spPr>
          <a:xfrm>
            <a:off x="723900" y="1268413"/>
            <a:ext cx="4724400" cy="4254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触发器可以可靠触发的最高速度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27371" name="Text Box 43"/>
          <p:cNvSpPr txBox="1"/>
          <p:nvPr/>
        </p:nvSpPr>
        <p:spPr>
          <a:xfrm>
            <a:off x="723900" y="2257425"/>
            <a:ext cx="4724400" cy="4254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3333FF"/>
                </a:solidFill>
                <a:ea typeface="宋体" panose="02010600030101010101" pitchFamily="2" charset="-122"/>
              </a:rPr>
              <a:t>5. </a:t>
            </a:r>
            <a:r>
              <a:rPr lang="zh-CN" altLang="en-US" dirty="0">
                <a:solidFill>
                  <a:srgbClr val="3333FF"/>
                </a:solidFill>
                <a:ea typeface="宋体" panose="02010600030101010101" pitchFamily="2" charset="-122"/>
              </a:rPr>
              <a:t>脉冲宽度</a:t>
            </a:r>
            <a:r>
              <a:rPr lang="en-US" altLang="zh-CN" i="1" dirty="0">
                <a:solidFill>
                  <a:srgbClr val="FF3399"/>
                </a:solidFill>
                <a:latin typeface="Times New Roman" panose="02020603050405020304" charset="0"/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3399"/>
                </a:solidFill>
                <a:ea typeface="宋体" panose="02010600030101010101" pitchFamily="2" charset="-122"/>
              </a:rPr>
              <a:t>w</a:t>
            </a:r>
          </a:p>
        </p:txBody>
      </p:sp>
      <p:sp>
        <p:nvSpPr>
          <p:cNvPr id="227372" name="Text Box 44"/>
          <p:cNvSpPr txBox="1"/>
          <p:nvPr/>
        </p:nvSpPr>
        <p:spPr>
          <a:xfrm>
            <a:off x="752475" y="3014663"/>
            <a:ext cx="7696200" cy="4254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可靠运算的最小脉冲宽度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27373" name="Text Box 45"/>
          <p:cNvSpPr txBox="1"/>
          <p:nvPr/>
        </p:nvSpPr>
        <p:spPr>
          <a:xfrm>
            <a:off x="838200" y="3995738"/>
            <a:ext cx="4724400" cy="4254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3333FF"/>
                </a:solidFill>
                <a:ea typeface="宋体" panose="02010600030101010101" pitchFamily="2" charset="-122"/>
              </a:rPr>
              <a:t>6. </a:t>
            </a:r>
            <a:r>
              <a:rPr lang="zh-CN" altLang="en-US" dirty="0">
                <a:solidFill>
                  <a:srgbClr val="3333FF"/>
                </a:solidFill>
                <a:ea typeface="宋体" panose="02010600030101010101" pitchFamily="2" charset="-122"/>
              </a:rPr>
              <a:t>功率</a:t>
            </a:r>
            <a:r>
              <a:rPr lang="en-US" altLang="zh-CN" i="1" dirty="0">
                <a:solidFill>
                  <a:srgbClr val="FF3399"/>
                </a:solidFill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solidFill>
                  <a:srgbClr val="FF3399"/>
                </a:solidFill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227374" name="Text Box 46"/>
          <p:cNvSpPr txBox="1"/>
          <p:nvPr/>
        </p:nvSpPr>
        <p:spPr>
          <a:xfrm>
            <a:off x="838200" y="4648200"/>
            <a:ext cx="7620000" cy="7572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该芯片的总功率消耗，例如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+5V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直流电源上运行的触发器需要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5mA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的电流，那么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27375" name="Text Box 47"/>
          <p:cNvSpPr txBox="1"/>
          <p:nvPr/>
        </p:nvSpPr>
        <p:spPr>
          <a:xfrm>
            <a:off x="2209800" y="5751513"/>
            <a:ext cx="4572000" cy="42068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b="0" i="1" dirty="0">
                <a:solidFill>
                  <a:srgbClr val="FF3399"/>
                </a:solidFill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b="0" baseline="-25000" dirty="0">
                <a:solidFill>
                  <a:srgbClr val="FF3399"/>
                </a:solidFill>
                <a:ea typeface="宋体" panose="02010600030101010101" pitchFamily="2" charset="-122"/>
              </a:rPr>
              <a:t>T</a:t>
            </a: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zh-CN" altLang="en-US" b="0" dirty="0">
                <a:solidFill>
                  <a:srgbClr val="3333FF"/>
                </a:solidFill>
                <a:ea typeface="宋体" panose="02010600030101010101" pitchFamily="2" charset="-122"/>
              </a:rPr>
              <a:t>= </a:t>
            </a:r>
            <a:r>
              <a:rPr lang="en-US" altLang="zh-CN" b="0" dirty="0">
                <a:solidFill>
                  <a:srgbClr val="3333FF"/>
                </a:solidFill>
                <a:ea typeface="宋体" panose="02010600030101010101" pitchFamily="2" charset="-122"/>
              </a:rPr>
              <a:t>V</a:t>
            </a:r>
            <a:r>
              <a:rPr lang="en-US" altLang="zh-CN" b="0" baseline="-25000" dirty="0">
                <a:solidFill>
                  <a:srgbClr val="3333FF"/>
                </a:solidFill>
                <a:ea typeface="宋体" panose="02010600030101010101" pitchFamily="2" charset="-122"/>
              </a:rPr>
              <a:t>cc</a:t>
            </a:r>
            <a:r>
              <a:rPr lang="en-US" altLang="zh-CN" b="0" dirty="0">
                <a:solidFill>
                  <a:srgbClr val="3333FF"/>
                </a:solidFill>
                <a:ea typeface="宋体" panose="02010600030101010101" pitchFamily="2" charset="-122"/>
              </a:rPr>
              <a:t>xI</a:t>
            </a:r>
            <a:r>
              <a:rPr lang="en-US" altLang="zh-CN" b="0" baseline="-25000" dirty="0">
                <a:solidFill>
                  <a:srgbClr val="3333FF"/>
                </a:solidFill>
                <a:ea typeface="宋体" panose="02010600030101010101" pitchFamily="2" charset="-122"/>
              </a:rPr>
              <a:t>cc</a:t>
            </a:r>
            <a:r>
              <a:rPr lang="en-US" altLang="zh-CN" b="0" dirty="0">
                <a:solidFill>
                  <a:srgbClr val="3333FF"/>
                </a:solidFill>
                <a:ea typeface="宋体" panose="02010600030101010101" pitchFamily="2" charset="-122"/>
              </a:rPr>
              <a:t> = 5Vx5mA = 25 mW</a:t>
            </a:r>
          </a:p>
        </p:txBody>
      </p:sp>
      <p:sp>
        <p:nvSpPr>
          <p:cNvPr id="285706" name="矩形 1"/>
          <p:cNvSpPr/>
          <p:nvPr/>
        </p:nvSpPr>
        <p:spPr>
          <a:xfrm>
            <a:off x="5105400" y="1201738"/>
            <a:ext cx="3787775" cy="508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SzTx/>
              <a:buNone/>
            </a:pPr>
            <a:r>
              <a:rPr lang="zh-CN" altLang="en-US" sz="1800" dirty="0">
                <a:solidFill>
                  <a:srgbClr val="000099"/>
                </a:solidFill>
                <a:latin typeface="Times New Roman" panose="02020603050405020304" charset="0"/>
                <a:ea typeface="楷体_GB2312"/>
              </a:rPr>
              <a:t>（超过会使触发器不能尽快响应）</a:t>
            </a:r>
            <a:endParaRPr lang="en-US" altLang="zh-CN" sz="1800" dirty="0">
              <a:solidFill>
                <a:srgbClr val="000099"/>
              </a:solidFill>
              <a:latin typeface="Times New Roman" panose="0202060305040502030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7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2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2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2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2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2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69" grpId="0"/>
      <p:bldP spid="227370" grpId="0"/>
      <p:bldP spid="227371" grpId="0"/>
      <p:bldP spid="227372" grpId="0"/>
      <p:bldP spid="227373" grpId="0"/>
      <p:bldP spid="227374" grpId="0"/>
      <p:bldP spid="22737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 Box 3"/>
          <p:cNvSpPr txBox="1"/>
          <p:nvPr/>
        </p:nvSpPr>
        <p:spPr>
          <a:xfrm>
            <a:off x="1597025" y="1573213"/>
            <a:ext cx="6862763" cy="1881187"/>
          </a:xfrm>
          <a:prstGeom prst="rect">
            <a:avLst/>
          </a:prstGeom>
          <a:solidFill>
            <a:srgbClr val="99CCFF">
              <a:alpha val="50195"/>
            </a:srgbClr>
          </a:solidFill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SzTx/>
              <a:buNone/>
            </a:pPr>
            <a:r>
              <a:rPr lang="en-US" altLang="zh-CN" sz="2000" b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b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触发器由门电路构成，因此，门电路的应用</a:t>
            </a:r>
          </a:p>
          <a:p>
            <a:pPr marL="0" lvl="0" indent="0">
              <a:buSzTx/>
              <a:buNone/>
            </a:pPr>
            <a:r>
              <a:rPr lang="zh-CN" altLang="en-US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注意事项在这里多适用。例如，</a:t>
            </a:r>
            <a:r>
              <a:rPr lang="en-US" altLang="zh-CN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TTL </a:t>
            </a:r>
            <a:r>
              <a:rPr lang="zh-CN" altLang="en-US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触发器的输</a:t>
            </a:r>
          </a:p>
          <a:p>
            <a:pPr marL="0" lvl="0" indent="0">
              <a:buSzTx/>
              <a:buNone/>
            </a:pPr>
            <a:r>
              <a:rPr lang="zh-CN" altLang="en-US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入端悬空相当于输入高电平，而 </a:t>
            </a:r>
            <a:r>
              <a:rPr lang="en-US" altLang="zh-CN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CMOS </a:t>
            </a:r>
            <a:r>
              <a:rPr lang="zh-CN" altLang="en-US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</a:p>
          <a:p>
            <a:pPr marL="0" lvl="0" indent="0">
              <a:buSzTx/>
              <a:buNone/>
            </a:pPr>
            <a:r>
              <a:rPr lang="zh-CN" altLang="en-US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的输入端不允许悬空。</a:t>
            </a:r>
          </a:p>
        </p:txBody>
      </p:sp>
      <p:sp>
        <p:nvSpPr>
          <p:cNvPr id="50180" name="Text Box 4"/>
          <p:cNvSpPr txBox="1"/>
          <p:nvPr/>
        </p:nvSpPr>
        <p:spPr>
          <a:xfrm>
            <a:off x="611188" y="2214563"/>
            <a:ext cx="592137" cy="2185987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SzTx/>
              <a:buNone/>
            </a:pPr>
            <a:r>
              <a:rPr lang="zh-CN" altLang="en-US" sz="2800" b="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</a:t>
            </a:r>
          </a:p>
          <a:p>
            <a:pPr marL="0" lvl="0" indent="0">
              <a:buSzTx/>
              <a:buNone/>
            </a:pPr>
            <a:r>
              <a:rPr lang="zh-CN" altLang="en-US" sz="2800" b="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</a:p>
          <a:p>
            <a:pPr marL="0" lvl="0" indent="0">
              <a:buSzTx/>
              <a:buNone/>
            </a:pPr>
            <a:r>
              <a:rPr lang="zh-CN" altLang="en-US" sz="2800" b="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</a:p>
          <a:p>
            <a:pPr marL="0" lvl="0" indent="0">
              <a:buSzTx/>
              <a:buNone/>
            </a:pPr>
            <a:r>
              <a:rPr lang="zh-CN" altLang="en-US" sz="2800" b="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意</a:t>
            </a:r>
            <a:r>
              <a:rPr lang="zh-CN" altLang="en-US" sz="2800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0181" name="Text Box 5"/>
          <p:cNvSpPr txBox="1"/>
          <p:nvPr/>
        </p:nvSpPr>
        <p:spPr>
          <a:xfrm>
            <a:off x="1597024" y="4005263"/>
            <a:ext cx="6862764" cy="1312860"/>
          </a:xfrm>
          <a:prstGeom prst="rect">
            <a:avLst/>
          </a:prstGeom>
          <a:solidFill>
            <a:srgbClr val="99CCFF">
              <a:alpha val="50195"/>
            </a:srgbClr>
          </a:solidFill>
          <a:ln w="9525">
            <a:noFill/>
          </a:ln>
        </p:spPr>
        <p:txBody>
          <a:bodyPr wrap="square" lIns="0" tIns="0" rIns="0" bIns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457200">
              <a:lnSpc>
                <a:spcPct val="150000"/>
              </a:lnSpc>
              <a:spcBef>
                <a:spcPts val="0"/>
              </a:spcBef>
              <a:buSzTx/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实际中，应根据需要选定触发器的功能和触发方式。</a:t>
            </a:r>
            <a:endParaRPr lang="en-US" altLang="zh-CN" sz="2000" b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457200">
              <a:lnSpc>
                <a:spcPct val="150000"/>
              </a:lnSpc>
              <a:spcBef>
                <a:spcPts val="0"/>
              </a:spcBef>
              <a:buSzTx/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例如：同步触发器通常只用于数据锁存，构成计数器、移位寄存器时一般要用</a:t>
            </a:r>
            <a:r>
              <a:rPr lang="zh-CN" altLang="en-US" sz="2000" b="0" dirty="0">
                <a:solidFill>
                  <a:srgbClr val="000000"/>
                </a:solidFill>
                <a:highlight>
                  <a:srgbClr val="FFFFCC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边沿触发器</a:t>
            </a:r>
            <a:r>
              <a:rPr lang="zh-CN" altLang="en-US" sz="2000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86725" name="Line 6"/>
          <p:cNvSpPr/>
          <p:nvPr/>
        </p:nvSpPr>
        <p:spPr>
          <a:xfrm>
            <a:off x="398463" y="433388"/>
            <a:ext cx="6911975" cy="1587"/>
          </a:xfrm>
          <a:prstGeom prst="line">
            <a:avLst/>
          </a:prstGeom>
          <a:ln w="9525">
            <a:noFill/>
          </a:ln>
        </p:spPr>
      </p:sp>
      <p:sp>
        <p:nvSpPr>
          <p:cNvPr id="2" name="Rectangle 2"/>
          <p:cNvSpPr txBox="1">
            <a:spLocks noRot="1" noChangeArrowheads="1"/>
          </p:cNvSpPr>
          <p:nvPr/>
        </p:nvSpPr>
        <p:spPr bwMode="auto">
          <a:xfrm>
            <a:off x="9525" y="-4762"/>
            <a:ext cx="9144000" cy="501650"/>
          </a:xfrm>
          <a:prstGeom prst="rect">
            <a:avLst/>
          </a:prstGeom>
          <a:solidFill>
            <a:srgbClr val="006666">
              <a:lumMod val="20000"/>
              <a:lumOff val="80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 Sec.7.4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触发器应用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nimBg="1"/>
      <p:bldP spid="50180" grpId="0" animBg="1"/>
      <p:bldP spid="5018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Rot="1" noChangeArrowheads="1"/>
          </p:cNvSpPr>
          <p:nvPr/>
        </p:nvSpPr>
        <p:spPr bwMode="auto">
          <a:xfrm>
            <a:off x="9525" y="-4762"/>
            <a:ext cx="9144000" cy="501650"/>
          </a:xfrm>
          <a:prstGeom prst="rect">
            <a:avLst/>
          </a:prstGeom>
          <a:solidFill>
            <a:srgbClr val="006666">
              <a:lumMod val="20000"/>
              <a:lumOff val="80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 Sec.7.4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触发器应用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" name="Rectangle 7"/>
          <p:cNvSpPr txBox="1">
            <a:spLocks noRot="1" noChangeArrowheads="1"/>
          </p:cNvSpPr>
          <p:nvPr/>
        </p:nvSpPr>
        <p:spPr bwMode="auto">
          <a:xfrm>
            <a:off x="273050" y="677863"/>
            <a:ext cx="3384550" cy="392113"/>
          </a:xfrm>
          <a:prstGeom prst="rect">
            <a:avLst/>
          </a:prstGeom>
          <a:solidFill>
            <a:srgbClr val="FFFF33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7.4.1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+mj-lt"/>
                <a:ea typeface="楷体_GB2312"/>
                <a:cs typeface="+mn-cs"/>
              </a:rPr>
              <a:t>并行数据存储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楷体_GB231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8774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800" y="1858963"/>
            <a:ext cx="2794000" cy="3373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 6"/>
          <p:cNvSpPr txBox="1">
            <a:spLocks noRot="1" noChangeArrowheads="1"/>
          </p:cNvSpPr>
          <p:nvPr/>
        </p:nvSpPr>
        <p:spPr bwMode="auto">
          <a:xfrm>
            <a:off x="307525" y="2057436"/>
            <a:ext cx="2693988" cy="2239963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、同步时钟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D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触发器上的数据被触发器同时存储。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、异步复位完成初始化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位基本寄存器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87750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849313"/>
            <a:ext cx="3657600" cy="5695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7751" name="矩形 11"/>
          <p:cNvSpPr/>
          <p:nvPr/>
        </p:nvSpPr>
        <p:spPr>
          <a:xfrm>
            <a:off x="4800600" y="5584825"/>
            <a:ext cx="1173163" cy="53498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charset="0"/>
                <a:ea typeface="楷体_GB2312"/>
              </a:rPr>
              <a:t>相同时钟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charset="0"/>
              <a:ea typeface="楷体_GB2312"/>
            </a:endParaRPr>
          </a:p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charset="0"/>
                <a:ea typeface="楷体_GB2312"/>
              </a:rPr>
              <a:t>脉冲触发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charset="0"/>
              <a:ea typeface="楷体_GB2312"/>
            </a:endParaRPr>
          </a:p>
        </p:txBody>
      </p:sp>
    </p:spTree>
  </p:cSld>
  <p:clrMapOvr>
    <a:masterClrMapping/>
  </p:clrMapOvr>
  <p:transition spd="slow" advTm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9795" name="Text Box 7"/>
          <p:cNvSpPr txBox="1"/>
          <p:nvPr/>
        </p:nvSpPr>
        <p:spPr>
          <a:xfrm>
            <a:off x="3124200" y="839788"/>
            <a:ext cx="3352800" cy="50006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000099"/>
                </a:solidFill>
                <a:latin typeface="Times New Roman" panose="02020603050405020304" charset="0"/>
                <a:ea typeface="楷体_GB2312"/>
              </a:rPr>
              <a:t>对周期波形的频率进行分频</a:t>
            </a:r>
            <a:endParaRPr lang="en-US" altLang="zh-CN" sz="2000" b="1" dirty="0">
              <a:solidFill>
                <a:srgbClr val="000099"/>
              </a:solidFill>
              <a:latin typeface="Times New Roman" panose="02020603050405020304" charset="0"/>
              <a:ea typeface="楷体_GB2312"/>
            </a:endParaRPr>
          </a:p>
        </p:txBody>
      </p:sp>
      <p:sp>
        <p:nvSpPr>
          <p:cNvPr id="289796" name="矩形 8"/>
          <p:cNvSpPr/>
          <p:nvPr/>
        </p:nvSpPr>
        <p:spPr>
          <a:xfrm>
            <a:off x="1554163" y="6172200"/>
            <a:ext cx="1112837" cy="42545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charset="0"/>
                <a:ea typeface="楷体_GB2312"/>
              </a:rPr>
              <a:t>二分频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charset="0"/>
              <a:ea typeface="楷体_GB2312"/>
            </a:endParaRPr>
          </a:p>
        </p:txBody>
      </p:sp>
      <p:sp>
        <p:nvSpPr>
          <p:cNvPr id="10" name="Rectangle 141"/>
          <p:cNvSpPr/>
          <p:nvPr/>
        </p:nvSpPr>
        <p:spPr>
          <a:xfrm>
            <a:off x="333375" y="1514475"/>
            <a:ext cx="5014913" cy="80168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MS PGothic" panose="020B0600070205080204" pitchFamily="34" charset="-128"/>
              </a:rPr>
              <a:t>一个</a:t>
            </a:r>
            <a:r>
              <a:rPr lang="en-US" altLang="zh-CN" sz="2000" b="1" dirty="0">
                <a:solidFill>
                  <a:srgbClr val="000000"/>
                </a:solidFill>
                <a:ea typeface="MS PGothic" panose="020B0600070205080204" pitchFamily="34" charset="-128"/>
              </a:rPr>
              <a:t>D</a:t>
            </a:r>
            <a:r>
              <a:rPr lang="zh-CN" altLang="en-US" sz="2000" b="1" dirty="0">
                <a:solidFill>
                  <a:srgbClr val="000000"/>
                </a:solidFill>
                <a:ea typeface="MS PGothic" panose="020B0600070205080204" pitchFamily="34" charset="-128"/>
              </a:rPr>
              <a:t>或</a:t>
            </a:r>
            <a:r>
              <a:rPr lang="en-US" altLang="zh-CN" sz="2000" b="1" dirty="0">
                <a:solidFill>
                  <a:srgbClr val="000000"/>
                </a:solidFill>
                <a:ea typeface="MS PGothic" panose="020B0600070205080204" pitchFamily="34" charset="-128"/>
              </a:rPr>
              <a:t>J-K </a:t>
            </a:r>
            <a:r>
              <a:rPr lang="zh-CN" altLang="en-US" sz="2000" b="1" dirty="0">
                <a:solidFill>
                  <a:srgbClr val="000000"/>
                </a:solidFill>
                <a:ea typeface="MS PGothic" panose="020B0600070205080204" pitchFamily="34" charset="-128"/>
              </a:rPr>
              <a:t>触发器可用作除</a:t>
            </a:r>
            <a:r>
              <a:rPr lang="en-US" altLang="zh-CN" sz="2000" b="1" dirty="0">
                <a:solidFill>
                  <a:srgbClr val="000000"/>
                </a:solidFill>
                <a:ea typeface="MS PGothic" panose="020B0600070205080204" pitchFamily="34" charset="-128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ea typeface="MS PGothic" panose="020B0600070205080204" pitchFamily="34" charset="-128"/>
              </a:rPr>
              <a:t>芯片。</a:t>
            </a:r>
            <a:endParaRPr lang="en-US" altLang="zh-CN" sz="2000" b="1" dirty="0">
              <a:solidFill>
                <a:srgbClr val="000000"/>
              </a:solidFill>
              <a:ea typeface="MS PGothic" panose="020B0600070205080204" pitchFamily="34" charset="-128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MS PGothic" panose="020B0600070205080204" pitchFamily="34" charset="-128"/>
              </a:rPr>
              <a:t>Q</a:t>
            </a:r>
            <a:r>
              <a:rPr lang="zh-CN" altLang="en-US" sz="2000" b="1" dirty="0">
                <a:solidFill>
                  <a:srgbClr val="000000"/>
                </a:solidFill>
                <a:ea typeface="MS PGothic" panose="020B0600070205080204" pitchFamily="34" charset="-128"/>
              </a:rPr>
              <a:t>输出是输入时钟频率的一半</a:t>
            </a:r>
            <a:r>
              <a:rPr lang="en-US" altLang="zh-CN" sz="2000" b="1" dirty="0">
                <a:solidFill>
                  <a:srgbClr val="000000"/>
                </a:solidFill>
                <a:ea typeface="MS PGothic" panose="020B0600070205080204" pitchFamily="34" charset="-128"/>
              </a:rPr>
              <a:t>.</a:t>
            </a:r>
            <a:endParaRPr lang="zh-CN" altLang="en-US" sz="2000" b="1" dirty="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3" name="Rectangle 2"/>
          <p:cNvSpPr txBox="1">
            <a:spLocks noRot="1" noChangeArrowheads="1"/>
          </p:cNvSpPr>
          <p:nvPr/>
        </p:nvSpPr>
        <p:spPr bwMode="auto">
          <a:xfrm>
            <a:off x="9525" y="-4762"/>
            <a:ext cx="9144000" cy="501650"/>
          </a:xfrm>
          <a:prstGeom prst="rect">
            <a:avLst/>
          </a:prstGeom>
          <a:solidFill>
            <a:srgbClr val="006666">
              <a:lumMod val="20000"/>
              <a:lumOff val="80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j-cs"/>
              </a:rPr>
              <a:t>  Sec.7.4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j-cs"/>
              </a:rPr>
              <a:t>触发器应用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4" name="Rectangle 7"/>
          <p:cNvSpPr txBox="1">
            <a:spLocks noRot="1" noChangeArrowheads="1"/>
          </p:cNvSpPr>
          <p:nvPr/>
        </p:nvSpPr>
        <p:spPr bwMode="auto">
          <a:xfrm>
            <a:off x="333375" y="939800"/>
            <a:ext cx="2500313" cy="390525"/>
          </a:xfrm>
          <a:prstGeom prst="rect">
            <a:avLst/>
          </a:prstGeom>
          <a:solidFill>
            <a:srgbClr val="FFFF33"/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r>
              <a:rPr lang="en-US" altLang="zh-CN" sz="2400" b="1" dirty="0">
                <a:solidFill>
                  <a:srgbClr val="0D0D0D"/>
                </a:solidFill>
                <a:ea typeface="黑体" panose="02010609060101010101" pitchFamily="49" charset="-122"/>
              </a:rPr>
              <a:t>7.4.2</a:t>
            </a:r>
            <a:r>
              <a:rPr lang="zh-CN" altLang="en-US" sz="2400" b="1" dirty="0">
                <a:solidFill>
                  <a:srgbClr val="0D0D0D"/>
                </a:solidFill>
                <a:ea typeface="黑体" panose="02010609060101010101" pitchFamily="49" charset="-122"/>
              </a:rPr>
              <a:t>、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charset="0"/>
                <a:ea typeface="楷体_GB2312"/>
              </a:rPr>
              <a:t>分频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charset="0"/>
              <a:ea typeface="楷体_GB2312"/>
            </a:endParaRPr>
          </a:p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endParaRPr lang="zh-CN" altLang="en-US" sz="2400" b="1" dirty="0">
              <a:solidFill>
                <a:srgbClr val="0D0D0D"/>
              </a:solidFill>
              <a:ea typeface="MS PGothic" panose="020B0600070205080204" pitchFamily="34" charset="-128"/>
            </a:endParaRPr>
          </a:p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endParaRPr lang="en-US" altLang="zh-CN" sz="2400" b="1" dirty="0">
              <a:solidFill>
                <a:srgbClr val="0D0D0D"/>
              </a:solidFill>
              <a:ea typeface="黑体" panose="02010609060101010101" pitchFamily="49" charset="-122"/>
            </a:endParaRPr>
          </a:p>
        </p:txBody>
      </p:sp>
      <p:pic>
        <p:nvPicPr>
          <p:cNvPr id="28980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597150"/>
            <a:ext cx="3962400" cy="349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9801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44775"/>
            <a:ext cx="4391025" cy="3400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9802" name="矩形 8"/>
          <p:cNvSpPr/>
          <p:nvPr/>
        </p:nvSpPr>
        <p:spPr>
          <a:xfrm>
            <a:off x="6213475" y="6172200"/>
            <a:ext cx="1108075" cy="42545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charset="0"/>
                <a:ea typeface="楷体_GB2312"/>
              </a:rPr>
              <a:t>四分频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charset="0"/>
              <a:ea typeface="楷体_GB231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AA92D87-9122-3CF7-FC3B-BC3B0AED07B9}"/>
                  </a:ext>
                </a:extLst>
              </p14:cNvPr>
              <p14:cNvContentPartPr/>
              <p14:nvPr/>
            </p14:nvContentPartPr>
            <p14:xfrm>
              <a:off x="2515564" y="2482874"/>
              <a:ext cx="642240" cy="5043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AA92D87-9122-3CF7-FC3B-BC3B0AED07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97924" y="2465234"/>
                <a:ext cx="677880" cy="54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wrap="none" lIns="92075" tIns="46038" rIns="92075" bIns="46038" anchor="ctr" anchorCtr="0"/>
          <a:lstStyle/>
          <a:p>
            <a:pPr marL="0" indent="0" algn="r">
              <a:lnSpc>
                <a:spcPct val="100000"/>
              </a:lnSpc>
              <a:spcBef>
                <a:spcPct val="0"/>
              </a:spcBef>
              <a:buSzTx/>
              <a:buNone/>
            </a:pPr>
            <a:fld id="{9A0DB2DC-4C9A-4742-B13C-FB6460FD3503}" type="slidenum">
              <a:rPr lang="zh-CN" altLang="en-US" sz="1400" dirty="0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41</a:t>
            </a:fld>
            <a:endParaRPr lang="zh-CN" altLang="en-US" sz="1400" b="0" dirty="0">
              <a:solidFill>
                <a:srgbClr val="0033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291843" name="Picture 174" descr="fg07_04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63950"/>
            <a:ext cx="7467600" cy="266223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1844" name="组合 5"/>
          <p:cNvGrpSpPr/>
          <p:nvPr/>
        </p:nvGrpSpPr>
        <p:grpSpPr>
          <a:xfrm>
            <a:off x="152400" y="1143000"/>
            <a:ext cx="8534400" cy="5029200"/>
            <a:chOff x="152400" y="1143000"/>
            <a:chExt cx="8534400" cy="5029200"/>
          </a:xfrm>
        </p:grpSpPr>
        <p:pic>
          <p:nvPicPr>
            <p:cNvPr id="291846" name="Picture 173" descr="fg07_03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5000" y="1143000"/>
              <a:ext cx="6019800" cy="265112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91847" name="Group 178"/>
            <p:cNvGrpSpPr/>
            <p:nvPr/>
          </p:nvGrpSpPr>
          <p:grpSpPr>
            <a:xfrm>
              <a:off x="381000" y="2971800"/>
              <a:ext cx="1371600" cy="1066800"/>
              <a:chOff x="240" y="1872"/>
              <a:chExt cx="864" cy="672"/>
            </a:xfrm>
          </p:grpSpPr>
          <p:sp>
            <p:nvSpPr>
              <p:cNvPr id="291869" name="Text Box 175"/>
              <p:cNvSpPr txBox="1"/>
              <p:nvPr/>
            </p:nvSpPr>
            <p:spPr>
              <a:xfrm>
                <a:off x="240" y="1872"/>
                <a:ext cx="864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>
                <a:spAutoFit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SzTx/>
                  <a:buNone/>
                </a:pPr>
                <a:r>
                  <a:rPr lang="en-US" altLang="zh-CN" sz="2000" i="1" dirty="0">
                    <a:solidFill>
                      <a:srgbClr val="3333FF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f</a:t>
                </a:r>
                <a:r>
                  <a:rPr lang="en-US" altLang="zh-CN" sz="2000" baseline="-25000" dirty="0">
                    <a:solidFill>
                      <a:srgbClr val="3333FF"/>
                    </a:solidFill>
                    <a:ea typeface="宋体" panose="02010600030101010101" pitchFamily="2" charset="-122"/>
                  </a:rPr>
                  <a:t>in</a:t>
                </a:r>
                <a:r>
                  <a:rPr lang="en-US" altLang="zh-CN" sz="2000" dirty="0">
                    <a:solidFill>
                      <a:srgbClr val="3333FF"/>
                    </a:solidFill>
                    <a:ea typeface="宋体" panose="02010600030101010101" pitchFamily="2" charset="-122"/>
                  </a:rPr>
                  <a:t>=8kHz</a:t>
                </a:r>
              </a:p>
            </p:txBody>
          </p:sp>
          <p:sp>
            <p:nvSpPr>
              <p:cNvPr id="291870" name="Line 177"/>
              <p:cNvSpPr/>
              <p:nvPr/>
            </p:nvSpPr>
            <p:spPr>
              <a:xfrm>
                <a:off x="576" y="2112"/>
                <a:ext cx="336" cy="432"/>
              </a:xfrm>
              <a:prstGeom prst="line">
                <a:avLst/>
              </a:prstGeom>
              <a:ln w="19050" cap="flat" cmpd="sng">
                <a:solidFill>
                  <a:srgbClr val="FF3399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291848" name="Group 180"/>
            <p:cNvGrpSpPr/>
            <p:nvPr/>
          </p:nvGrpSpPr>
          <p:grpSpPr>
            <a:xfrm>
              <a:off x="152400" y="4876800"/>
              <a:ext cx="1524000" cy="1066800"/>
              <a:chOff x="96" y="3072"/>
              <a:chExt cx="960" cy="672"/>
            </a:xfrm>
          </p:grpSpPr>
          <p:sp>
            <p:nvSpPr>
              <p:cNvPr id="502810" name="Text Box 176"/>
              <p:cNvSpPr txBox="1">
                <a:spLocks noChangeArrowheads="1"/>
              </p:cNvSpPr>
              <p:nvPr/>
            </p:nvSpPr>
            <p:spPr bwMode="auto">
              <a:xfrm>
                <a:off x="96" y="3072"/>
                <a:ext cx="96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2075" tIns="46038" rIns="92075" bIns="46038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Times New Roman" panose="02020603050405020304" charset="0"/>
                    <a:ea typeface="宋体" panose="02010600030101010101" pitchFamily="2" charset="-122"/>
                    <a:cs typeface="+mn-cs"/>
                  </a:rPr>
                  <a:t>f</a:t>
                </a:r>
                <a:r>
                  <a:rPr kumimoji="0" lang="en-US" altLang="zh-CN" sz="2000" b="1" i="0" u="none" strike="noStrike" kern="1200" cap="none" spc="0" normalizeH="0" baseline="-25000" noProof="0" dirty="0" err="1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out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=1kHz</a:t>
                </a:r>
              </a:p>
            </p:txBody>
          </p:sp>
          <p:sp>
            <p:nvSpPr>
              <p:cNvPr id="291868" name="Line 179"/>
              <p:cNvSpPr/>
              <p:nvPr/>
            </p:nvSpPr>
            <p:spPr>
              <a:xfrm>
                <a:off x="576" y="3264"/>
                <a:ext cx="288" cy="480"/>
              </a:xfrm>
              <a:prstGeom prst="line">
                <a:avLst/>
              </a:prstGeom>
              <a:ln w="19050" cap="flat" cmpd="sng">
                <a:solidFill>
                  <a:srgbClr val="FF3399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291849" name="Group 186"/>
            <p:cNvGrpSpPr/>
            <p:nvPr/>
          </p:nvGrpSpPr>
          <p:grpSpPr>
            <a:xfrm>
              <a:off x="2971800" y="1143000"/>
              <a:ext cx="5715000" cy="609600"/>
              <a:chOff x="1872" y="720"/>
              <a:chExt cx="3600" cy="384"/>
            </a:xfrm>
          </p:grpSpPr>
          <p:sp>
            <p:nvSpPr>
              <p:cNvPr id="291863" name="Text Box 182"/>
              <p:cNvSpPr txBox="1"/>
              <p:nvPr/>
            </p:nvSpPr>
            <p:spPr>
              <a:xfrm>
                <a:off x="3888" y="720"/>
                <a:ext cx="15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>
                <a:spAutoFit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SzTx/>
                  <a:buNone/>
                </a:pPr>
                <a:r>
                  <a:rPr lang="en-US" altLang="zh-CN" sz="2000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Toggle connection</a:t>
                </a:r>
              </a:p>
            </p:txBody>
          </p:sp>
          <p:sp>
            <p:nvSpPr>
              <p:cNvPr id="291864" name="Line 183"/>
              <p:cNvSpPr/>
              <p:nvPr/>
            </p:nvSpPr>
            <p:spPr>
              <a:xfrm flipH="1">
                <a:off x="1872" y="816"/>
                <a:ext cx="2064" cy="144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1865" name="Line 184"/>
              <p:cNvSpPr/>
              <p:nvPr/>
            </p:nvSpPr>
            <p:spPr>
              <a:xfrm flipH="1">
                <a:off x="2784" y="864"/>
                <a:ext cx="1200" cy="192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1866" name="Line 185"/>
              <p:cNvSpPr/>
              <p:nvPr/>
            </p:nvSpPr>
            <p:spPr>
              <a:xfrm flipH="1">
                <a:off x="3744" y="912"/>
                <a:ext cx="240" cy="192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291850" name="Group 191"/>
            <p:cNvGrpSpPr/>
            <p:nvPr/>
          </p:nvGrpSpPr>
          <p:grpSpPr>
            <a:xfrm>
              <a:off x="3276600" y="2590800"/>
              <a:ext cx="5410200" cy="1022350"/>
              <a:chOff x="2064" y="1632"/>
              <a:chExt cx="3408" cy="644"/>
            </a:xfrm>
          </p:grpSpPr>
          <p:sp>
            <p:nvSpPr>
              <p:cNvPr id="291859" name="Text Box 187"/>
              <p:cNvSpPr txBox="1"/>
              <p:nvPr/>
            </p:nvSpPr>
            <p:spPr>
              <a:xfrm>
                <a:off x="4560" y="1872"/>
                <a:ext cx="912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>
                <a:spAutoFit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SzTx/>
                  <a:buNone/>
                </a:pPr>
                <a:r>
                  <a:rPr lang="en-US" altLang="zh-CN" sz="2000" dirty="0">
                    <a:solidFill>
                      <a:srgbClr val="FF3399"/>
                    </a:solidFill>
                    <a:ea typeface="宋体" panose="02010600030101010101" pitchFamily="2" charset="-122"/>
                  </a:rPr>
                  <a:t>Rise edge triggering</a:t>
                </a:r>
              </a:p>
            </p:txBody>
          </p:sp>
          <p:sp>
            <p:nvSpPr>
              <p:cNvPr id="291860" name="Line 188"/>
              <p:cNvSpPr/>
              <p:nvPr/>
            </p:nvSpPr>
            <p:spPr>
              <a:xfrm flipH="1" flipV="1">
                <a:off x="2064" y="1632"/>
                <a:ext cx="2496" cy="384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1861" name="Line 189"/>
              <p:cNvSpPr/>
              <p:nvPr/>
            </p:nvSpPr>
            <p:spPr>
              <a:xfrm flipH="1" flipV="1">
                <a:off x="3024" y="1632"/>
                <a:ext cx="1536" cy="336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1862" name="Line 190"/>
              <p:cNvSpPr/>
              <p:nvPr/>
            </p:nvSpPr>
            <p:spPr>
              <a:xfrm flipH="1" flipV="1">
                <a:off x="3936" y="1632"/>
                <a:ext cx="624" cy="288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291851" name="Rectangle 199"/>
            <p:cNvSpPr/>
            <p:nvPr/>
          </p:nvSpPr>
          <p:spPr>
            <a:xfrm>
              <a:off x="1701800" y="5638800"/>
              <a:ext cx="6705600" cy="53340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92075" tIns="46038" rIns="92075" bIns="46038" anchor="ctr" anchorCtr="0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SzTx/>
                <a:buNone/>
              </a:pPr>
              <a:endParaRPr lang="zh-CN" altLang="en-US" b="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1852" name="Line 192"/>
            <p:cNvSpPr/>
            <p:nvPr/>
          </p:nvSpPr>
          <p:spPr>
            <a:xfrm>
              <a:off x="1739900" y="6096000"/>
              <a:ext cx="381000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1853" name="Line 193"/>
            <p:cNvSpPr/>
            <p:nvPr/>
          </p:nvSpPr>
          <p:spPr>
            <a:xfrm flipV="1">
              <a:off x="2108200" y="5715000"/>
              <a:ext cx="0" cy="38100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1854" name="Line 194"/>
            <p:cNvSpPr/>
            <p:nvPr/>
          </p:nvSpPr>
          <p:spPr>
            <a:xfrm>
              <a:off x="2095500" y="5715000"/>
              <a:ext cx="2971800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1855" name="Line 195"/>
            <p:cNvSpPr/>
            <p:nvPr/>
          </p:nvSpPr>
          <p:spPr>
            <a:xfrm>
              <a:off x="5041900" y="5715000"/>
              <a:ext cx="0" cy="38100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1856" name="Line 196"/>
            <p:cNvSpPr/>
            <p:nvPr/>
          </p:nvSpPr>
          <p:spPr>
            <a:xfrm>
              <a:off x="5041900" y="6096000"/>
              <a:ext cx="2971800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1857" name="Line 197"/>
            <p:cNvSpPr/>
            <p:nvPr/>
          </p:nvSpPr>
          <p:spPr>
            <a:xfrm flipV="1">
              <a:off x="8001000" y="5715000"/>
              <a:ext cx="0" cy="38100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1858" name="Line 198"/>
            <p:cNvSpPr/>
            <p:nvPr/>
          </p:nvSpPr>
          <p:spPr>
            <a:xfrm>
              <a:off x="8001000" y="5715000"/>
              <a:ext cx="381000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1845" name="矩形 8"/>
          <p:cNvSpPr/>
          <p:nvPr/>
        </p:nvSpPr>
        <p:spPr>
          <a:xfrm>
            <a:off x="703263" y="733425"/>
            <a:ext cx="955675" cy="42386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None/>
            </a:pPr>
            <a:r>
              <a:rPr lang="en-US" altLang="zh-CN" dirty="0">
                <a:solidFill>
                  <a:srgbClr val="0000CC"/>
                </a:solidFill>
                <a:latin typeface="Times New Roman" panose="02020603050405020304" charset="0"/>
                <a:ea typeface="楷体_GB2312"/>
              </a:rPr>
              <a:t>8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charset="0"/>
                <a:ea typeface="楷体_GB2312"/>
              </a:rPr>
              <a:t>分频</a:t>
            </a:r>
            <a:endParaRPr lang="en-US" altLang="zh-CN" dirty="0">
              <a:solidFill>
                <a:srgbClr val="0000CC"/>
              </a:solidFill>
              <a:latin typeface="Times New Roman" panose="02020603050405020304" charset="0"/>
              <a:ea typeface="楷体_GB231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4E7C496-A724-5CDB-8809-7D09DDE496E6}"/>
                  </a:ext>
                </a:extLst>
              </p14:cNvPr>
              <p14:cNvContentPartPr/>
              <p14:nvPr/>
            </p14:nvContentPartPr>
            <p14:xfrm>
              <a:off x="1916524" y="789201"/>
              <a:ext cx="967680" cy="10792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4E7C496-A724-5CDB-8809-7D09DDE49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8884" y="771561"/>
                <a:ext cx="1003320" cy="111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163" y="1450975"/>
            <a:ext cx="7607300" cy="2555875"/>
            <a:chOff x="642" y="912"/>
            <a:chExt cx="4792" cy="1610"/>
          </a:xfrm>
        </p:grpSpPr>
        <p:graphicFrame>
          <p:nvGraphicFramePr>
            <p:cNvPr id="292959" name="Object 3"/>
            <p:cNvGraphicFramePr>
              <a:graphicFrameLocks noChangeAspect="1"/>
            </p:cNvGraphicFramePr>
            <p:nvPr/>
          </p:nvGraphicFramePr>
          <p:xfrm>
            <a:off x="809" y="943"/>
            <a:ext cx="4319" cy="1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858000" imgH="2466975" progId="Paint.Picture">
                    <p:embed/>
                  </p:oleObj>
                </mc:Choice>
                <mc:Fallback>
                  <p:oleObj r:id="rId2" imgW="6858000" imgH="2466975" progId="Paint.Picture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09" y="943"/>
                          <a:ext cx="4319" cy="15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2960" name="AutoShape 4"/>
            <p:cNvSpPr/>
            <p:nvPr/>
          </p:nvSpPr>
          <p:spPr>
            <a:xfrm>
              <a:off x="642" y="912"/>
              <a:ext cx="4792" cy="1610"/>
            </a:xfrm>
            <a:prstGeom prst="flowChartProcess">
              <a:avLst/>
            </a:prstGeom>
            <a:noFill/>
            <a:ln w="57150" cap="flat" cmpd="sng">
              <a:pattFill prst="sphere">
                <a:fgClr>
                  <a:srgbClr val="CC99FF"/>
                </a:fgClr>
                <a:bgClr>
                  <a:srgbClr val="FFFFFF"/>
                </a:bgClr>
              </a:patt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SzTx/>
                <a:buNone/>
              </a:pPr>
              <a:endParaRPr lang="zh-CN" altLang="en-US" b="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2961" name="Rectangle 5"/>
            <p:cNvSpPr/>
            <p:nvPr/>
          </p:nvSpPr>
          <p:spPr>
            <a:xfrm>
              <a:off x="5013" y="2214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Q</a:t>
              </a:r>
              <a:r>
                <a:rPr lang="en-US" altLang="zh-CN" b="0" baseline="-250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92962" name="Rectangle 6"/>
            <p:cNvSpPr/>
            <p:nvPr/>
          </p:nvSpPr>
          <p:spPr>
            <a:xfrm>
              <a:off x="3771" y="221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Q</a:t>
              </a:r>
              <a:r>
                <a:rPr lang="en-US" altLang="zh-CN" b="0" baseline="-250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92963" name="Rectangle 7"/>
            <p:cNvSpPr/>
            <p:nvPr/>
          </p:nvSpPr>
          <p:spPr>
            <a:xfrm>
              <a:off x="2794" y="1170"/>
              <a:ext cx="3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1D</a:t>
              </a:r>
              <a:endParaRPr lang="en-US" altLang="zh-CN" b="0" dirty="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2964" name="Rectangle 8"/>
            <p:cNvSpPr/>
            <p:nvPr/>
          </p:nvSpPr>
          <p:spPr>
            <a:xfrm>
              <a:off x="4005" y="1175"/>
              <a:ext cx="3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1D</a:t>
              </a:r>
              <a:endParaRPr lang="en-US" altLang="zh-CN" b="0" dirty="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2965" name="Rectangle 9"/>
            <p:cNvSpPr/>
            <p:nvPr/>
          </p:nvSpPr>
          <p:spPr>
            <a:xfrm>
              <a:off x="2935" y="1496"/>
              <a:ext cx="4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FF</a:t>
              </a:r>
              <a:r>
                <a:rPr lang="en-US" altLang="zh-CN" b="0" baseline="-250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92966" name="Rectangle 10"/>
            <p:cNvSpPr/>
            <p:nvPr/>
          </p:nvSpPr>
          <p:spPr>
            <a:xfrm>
              <a:off x="4152" y="1487"/>
              <a:ext cx="4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FF</a:t>
              </a:r>
              <a:r>
                <a:rPr lang="en-US" altLang="zh-CN" b="0" baseline="-250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92967" name="Rectangle 11"/>
            <p:cNvSpPr/>
            <p:nvPr/>
          </p:nvSpPr>
          <p:spPr>
            <a:xfrm>
              <a:off x="911" y="1204"/>
              <a:ext cx="888" cy="8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buSzTx/>
                <a:buNone/>
              </a:pPr>
              <a:r>
                <a:rPr lang="zh-CN" altLang="en-US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石英方波</a:t>
              </a:r>
            </a:p>
            <a:p>
              <a:pPr marL="0" lvl="0" indent="0" algn="ctr">
                <a:buSzTx/>
                <a:buNone/>
              </a:pPr>
              <a:r>
                <a:rPr lang="zh-CN" altLang="en-US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振荡器</a:t>
              </a:r>
            </a:p>
            <a:p>
              <a:pPr marL="0" lvl="0" indent="0" algn="ctr">
                <a:buSzTx/>
                <a:buNone/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4MHz</a:t>
              </a:r>
            </a:p>
          </p:txBody>
        </p:sp>
        <p:sp>
          <p:nvSpPr>
            <p:cNvPr id="292968" name="Rectangle 12"/>
            <p:cNvSpPr/>
            <p:nvPr/>
          </p:nvSpPr>
          <p:spPr>
            <a:xfrm>
              <a:off x="4103" y="1816"/>
              <a:ext cx="3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C1</a:t>
              </a:r>
              <a:endParaRPr lang="en-US" altLang="zh-CN" b="0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292969" name="Group 13"/>
            <p:cNvGrpSpPr/>
            <p:nvPr/>
          </p:nvGrpSpPr>
          <p:grpSpPr>
            <a:xfrm rot="5400000">
              <a:off x="3993" y="1906"/>
              <a:ext cx="168" cy="96"/>
              <a:chOff x="2412" y="3725"/>
              <a:chExt cx="168" cy="96"/>
            </a:xfrm>
          </p:grpSpPr>
          <p:sp>
            <p:nvSpPr>
              <p:cNvPr id="292986" name="Line 14"/>
              <p:cNvSpPr/>
              <p:nvPr/>
            </p:nvSpPr>
            <p:spPr>
              <a:xfrm flipV="1">
                <a:off x="2412" y="3733"/>
                <a:ext cx="88" cy="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87" name="Line 15"/>
              <p:cNvSpPr/>
              <p:nvPr/>
            </p:nvSpPr>
            <p:spPr>
              <a:xfrm flipH="1" flipV="1">
                <a:off x="2492" y="3725"/>
                <a:ext cx="88" cy="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2970" name="Group 16"/>
            <p:cNvGrpSpPr/>
            <p:nvPr/>
          </p:nvGrpSpPr>
          <p:grpSpPr>
            <a:xfrm>
              <a:off x="1920" y="2071"/>
              <a:ext cx="787" cy="262"/>
              <a:chOff x="1521" y="2143"/>
              <a:chExt cx="2721" cy="444"/>
            </a:xfrm>
          </p:grpSpPr>
          <p:sp>
            <p:nvSpPr>
              <p:cNvPr id="292976" name="Line 17"/>
              <p:cNvSpPr/>
              <p:nvPr/>
            </p:nvSpPr>
            <p:spPr>
              <a:xfrm flipH="1">
                <a:off x="3896" y="2575"/>
                <a:ext cx="34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77" name="Line 18"/>
              <p:cNvSpPr/>
              <p:nvPr/>
            </p:nvSpPr>
            <p:spPr>
              <a:xfrm flipH="1" flipV="1">
                <a:off x="3906" y="2143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78" name="Line 19"/>
              <p:cNvSpPr/>
              <p:nvPr/>
            </p:nvSpPr>
            <p:spPr>
              <a:xfrm flipH="1" flipV="1">
                <a:off x="2623" y="2155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79" name="Line 20"/>
              <p:cNvSpPr/>
              <p:nvPr/>
            </p:nvSpPr>
            <p:spPr>
              <a:xfrm flipV="1">
                <a:off x="3270" y="2155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80" name="Line 21"/>
              <p:cNvSpPr/>
              <p:nvPr/>
            </p:nvSpPr>
            <p:spPr>
              <a:xfrm>
                <a:off x="1761" y="2575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81" name="Line 22"/>
              <p:cNvSpPr/>
              <p:nvPr/>
            </p:nvSpPr>
            <p:spPr>
              <a:xfrm>
                <a:off x="1977" y="2146"/>
                <a:ext cx="65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82" name="Line 23"/>
              <p:cNvSpPr/>
              <p:nvPr/>
            </p:nvSpPr>
            <p:spPr>
              <a:xfrm flipV="1">
                <a:off x="1989" y="2152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83" name="Line 24"/>
              <p:cNvSpPr/>
              <p:nvPr/>
            </p:nvSpPr>
            <p:spPr>
              <a:xfrm flipH="1">
                <a:off x="1521" y="2575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84" name="Line 25"/>
              <p:cNvSpPr/>
              <p:nvPr/>
            </p:nvSpPr>
            <p:spPr>
              <a:xfrm>
                <a:off x="2613" y="2578"/>
                <a:ext cx="65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85" name="Line 26"/>
              <p:cNvSpPr/>
              <p:nvPr/>
            </p:nvSpPr>
            <p:spPr>
              <a:xfrm>
                <a:off x="3261" y="2152"/>
                <a:ext cx="65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92971" name="Rectangle 27"/>
            <p:cNvSpPr/>
            <p:nvPr/>
          </p:nvSpPr>
          <p:spPr>
            <a:xfrm>
              <a:off x="2885" y="1808"/>
              <a:ext cx="3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C1</a:t>
              </a:r>
              <a:endParaRPr lang="en-US" altLang="zh-CN" b="0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2972" name="Rectangle 28"/>
            <p:cNvSpPr/>
            <p:nvPr/>
          </p:nvSpPr>
          <p:spPr>
            <a:xfrm>
              <a:off x="2350" y="1689"/>
              <a:ext cx="36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CP</a:t>
              </a:r>
              <a:endParaRPr lang="en-US" altLang="zh-CN" b="0" i="1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292973" name="Group 29"/>
            <p:cNvGrpSpPr/>
            <p:nvPr/>
          </p:nvGrpSpPr>
          <p:grpSpPr>
            <a:xfrm rot="5400000">
              <a:off x="2775" y="1898"/>
              <a:ext cx="168" cy="96"/>
              <a:chOff x="2412" y="3725"/>
              <a:chExt cx="168" cy="96"/>
            </a:xfrm>
          </p:grpSpPr>
          <p:sp>
            <p:nvSpPr>
              <p:cNvPr id="292974" name="Line 30"/>
              <p:cNvSpPr/>
              <p:nvPr/>
            </p:nvSpPr>
            <p:spPr>
              <a:xfrm flipV="1">
                <a:off x="2412" y="3733"/>
                <a:ext cx="88" cy="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75" name="Line 31"/>
              <p:cNvSpPr/>
              <p:nvPr/>
            </p:nvSpPr>
            <p:spPr>
              <a:xfrm flipH="1" flipV="1">
                <a:off x="2492" y="3725"/>
                <a:ext cx="88" cy="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51232" name="Rectangle 32"/>
          <p:cNvSpPr/>
          <p:nvPr/>
        </p:nvSpPr>
        <p:spPr>
          <a:xfrm>
            <a:off x="901700" y="288925"/>
            <a:ext cx="7388225" cy="941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下图为分频器电路，设触发器初态为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，试画出</a:t>
            </a:r>
          </a:p>
          <a:p>
            <a:pPr marL="0" lvl="0" indent="0">
              <a:spcBef>
                <a:spcPct val="50000"/>
              </a:spcBef>
              <a:buSzTx/>
              <a:buNone/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2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的波形并求其频率。</a:t>
            </a:r>
            <a:endParaRPr lang="zh-CN" altLang="en-US" dirty="0">
              <a:solidFill>
                <a:srgbClr val="FF3300"/>
              </a:solidFill>
              <a:latin typeface="Times New Roman" panose="02020603050405020304" charset="0"/>
              <a:ea typeface="隶书" panose="02010509060101010101" pitchFamily="49" charset="-122"/>
            </a:endParaRPr>
          </a:p>
        </p:txBody>
      </p:sp>
      <p:grpSp>
        <p:nvGrpSpPr>
          <p:cNvPr id="6" name="Group 33"/>
          <p:cNvGrpSpPr/>
          <p:nvPr/>
        </p:nvGrpSpPr>
        <p:grpSpPr>
          <a:xfrm>
            <a:off x="1584325" y="3962400"/>
            <a:ext cx="5637213" cy="642938"/>
            <a:chOff x="864" y="2829"/>
            <a:chExt cx="3551" cy="452"/>
          </a:xfrm>
        </p:grpSpPr>
        <p:sp>
          <p:nvSpPr>
            <p:cNvPr id="292937" name="Rectangle 34"/>
            <p:cNvSpPr/>
            <p:nvPr/>
          </p:nvSpPr>
          <p:spPr>
            <a:xfrm>
              <a:off x="864" y="2902"/>
              <a:ext cx="361" cy="3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CP</a:t>
              </a:r>
              <a:endParaRPr lang="en-US" altLang="zh-CN" b="0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2938" name="Line 35"/>
            <p:cNvSpPr/>
            <p:nvPr/>
          </p:nvSpPr>
          <p:spPr>
            <a:xfrm flipH="1" flipV="1">
              <a:off x="2360" y="2837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39" name="Line 36"/>
            <p:cNvSpPr/>
            <p:nvPr/>
          </p:nvSpPr>
          <p:spPr>
            <a:xfrm flipH="1" flipV="1">
              <a:off x="1728" y="2849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40" name="Line 37"/>
            <p:cNvSpPr/>
            <p:nvPr/>
          </p:nvSpPr>
          <p:spPr>
            <a:xfrm flipV="1">
              <a:off x="2047" y="2849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41" name="Line 38"/>
            <p:cNvSpPr/>
            <p:nvPr/>
          </p:nvSpPr>
          <p:spPr>
            <a:xfrm flipV="1">
              <a:off x="1416" y="2846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42" name="Line 39"/>
            <p:cNvSpPr/>
            <p:nvPr/>
          </p:nvSpPr>
          <p:spPr>
            <a:xfrm flipH="1">
              <a:off x="1186" y="3269"/>
              <a:ext cx="23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43" name="Line 40"/>
            <p:cNvSpPr/>
            <p:nvPr/>
          </p:nvSpPr>
          <p:spPr>
            <a:xfrm>
              <a:off x="1723" y="3272"/>
              <a:ext cx="32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44" name="Line 41"/>
            <p:cNvSpPr/>
            <p:nvPr/>
          </p:nvSpPr>
          <p:spPr>
            <a:xfrm>
              <a:off x="2036" y="2846"/>
              <a:ext cx="32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45" name="Line 42"/>
            <p:cNvSpPr/>
            <p:nvPr/>
          </p:nvSpPr>
          <p:spPr>
            <a:xfrm>
              <a:off x="1404" y="2840"/>
              <a:ext cx="33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46" name="Line 43"/>
            <p:cNvSpPr/>
            <p:nvPr/>
          </p:nvSpPr>
          <p:spPr>
            <a:xfrm flipH="1" flipV="1">
              <a:off x="3624" y="2837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47" name="Line 44"/>
            <p:cNvSpPr/>
            <p:nvPr/>
          </p:nvSpPr>
          <p:spPr>
            <a:xfrm flipH="1" flipV="1">
              <a:off x="2992" y="2849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48" name="Line 45"/>
            <p:cNvSpPr/>
            <p:nvPr/>
          </p:nvSpPr>
          <p:spPr>
            <a:xfrm flipV="1">
              <a:off x="3311" y="2849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49" name="Line 46"/>
            <p:cNvSpPr/>
            <p:nvPr/>
          </p:nvSpPr>
          <p:spPr>
            <a:xfrm flipV="1">
              <a:off x="2680" y="2846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0" name="Line 47"/>
            <p:cNvSpPr/>
            <p:nvPr/>
          </p:nvSpPr>
          <p:spPr>
            <a:xfrm flipH="1">
              <a:off x="2348" y="3269"/>
              <a:ext cx="33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1" name="Line 48"/>
            <p:cNvSpPr/>
            <p:nvPr/>
          </p:nvSpPr>
          <p:spPr>
            <a:xfrm>
              <a:off x="2987" y="3272"/>
              <a:ext cx="32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2" name="Line 49"/>
            <p:cNvSpPr/>
            <p:nvPr/>
          </p:nvSpPr>
          <p:spPr>
            <a:xfrm>
              <a:off x="3300" y="2840"/>
              <a:ext cx="329" cy="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3" name="Line 50"/>
            <p:cNvSpPr/>
            <p:nvPr/>
          </p:nvSpPr>
          <p:spPr>
            <a:xfrm>
              <a:off x="2668" y="2840"/>
              <a:ext cx="34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4" name="Line 51"/>
            <p:cNvSpPr/>
            <p:nvPr/>
          </p:nvSpPr>
          <p:spPr>
            <a:xfrm flipH="1">
              <a:off x="4245" y="3261"/>
              <a:ext cx="17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5" name="Line 52"/>
            <p:cNvSpPr/>
            <p:nvPr/>
          </p:nvSpPr>
          <p:spPr>
            <a:xfrm flipH="1" flipV="1">
              <a:off x="4256" y="2829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6" name="Line 53"/>
            <p:cNvSpPr/>
            <p:nvPr/>
          </p:nvSpPr>
          <p:spPr>
            <a:xfrm flipV="1">
              <a:off x="3943" y="2841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7" name="Line 54"/>
            <p:cNvSpPr/>
            <p:nvPr/>
          </p:nvSpPr>
          <p:spPr>
            <a:xfrm>
              <a:off x="3619" y="3264"/>
              <a:ext cx="32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8" name="Line 55"/>
            <p:cNvSpPr/>
            <p:nvPr/>
          </p:nvSpPr>
          <p:spPr>
            <a:xfrm>
              <a:off x="3932" y="2838"/>
              <a:ext cx="32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256" name="Rectangle 56"/>
          <p:cNvSpPr/>
          <p:nvPr/>
        </p:nvSpPr>
        <p:spPr>
          <a:xfrm>
            <a:off x="561975" y="4194175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>
              <a:spcBef>
                <a:spcPct val="50000"/>
              </a:spcBef>
              <a:buSzTx/>
              <a:buNone/>
            </a:pPr>
            <a:r>
              <a:rPr lang="zh-CN" altLang="en-US" b="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解：</a:t>
            </a:r>
          </a:p>
        </p:txBody>
      </p:sp>
      <p:grpSp>
        <p:nvGrpSpPr>
          <p:cNvPr id="7" name="Group 57"/>
          <p:cNvGrpSpPr/>
          <p:nvPr/>
        </p:nvGrpSpPr>
        <p:grpSpPr>
          <a:xfrm>
            <a:off x="3503613" y="2684463"/>
            <a:ext cx="1406525" cy="646112"/>
            <a:chOff x="2350" y="1689"/>
            <a:chExt cx="886" cy="407"/>
          </a:xfrm>
        </p:grpSpPr>
        <p:sp>
          <p:nvSpPr>
            <p:cNvPr id="292932" name="Rectangle 58"/>
            <p:cNvSpPr/>
            <p:nvPr/>
          </p:nvSpPr>
          <p:spPr>
            <a:xfrm>
              <a:off x="2885" y="1808"/>
              <a:ext cx="3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dirty="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C1</a:t>
              </a:r>
              <a:endParaRPr lang="en-US" altLang="zh-CN" b="0" baseline="-25000" dirty="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2933" name="Rectangle 59"/>
            <p:cNvSpPr/>
            <p:nvPr/>
          </p:nvSpPr>
          <p:spPr>
            <a:xfrm>
              <a:off x="2350" y="1689"/>
              <a:ext cx="36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i="1" dirty="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CP</a:t>
              </a:r>
              <a:endParaRPr lang="en-US" altLang="zh-CN" b="0" i="1" baseline="-25000" dirty="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292934" name="Group 60"/>
            <p:cNvGrpSpPr/>
            <p:nvPr/>
          </p:nvGrpSpPr>
          <p:grpSpPr>
            <a:xfrm rot="5400000">
              <a:off x="2775" y="1898"/>
              <a:ext cx="168" cy="96"/>
              <a:chOff x="2412" y="3725"/>
              <a:chExt cx="168" cy="96"/>
            </a:xfrm>
          </p:grpSpPr>
          <p:sp>
            <p:nvSpPr>
              <p:cNvPr id="292935" name="Line 61"/>
              <p:cNvSpPr/>
              <p:nvPr/>
            </p:nvSpPr>
            <p:spPr>
              <a:xfrm flipV="1">
                <a:off x="2412" y="3733"/>
                <a:ext cx="88" cy="88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36" name="Line 62"/>
              <p:cNvSpPr/>
              <p:nvPr/>
            </p:nvSpPr>
            <p:spPr>
              <a:xfrm flipH="1" flipV="1">
                <a:off x="2492" y="3725"/>
                <a:ext cx="88" cy="88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9" name="Group 63"/>
          <p:cNvGrpSpPr/>
          <p:nvPr/>
        </p:nvGrpSpPr>
        <p:grpSpPr>
          <a:xfrm>
            <a:off x="2468563" y="4738688"/>
            <a:ext cx="1028700" cy="631825"/>
            <a:chOff x="1576" y="3008"/>
            <a:chExt cx="656" cy="398"/>
          </a:xfrm>
        </p:grpSpPr>
        <p:sp>
          <p:nvSpPr>
            <p:cNvPr id="292930" name="Line 64"/>
            <p:cNvSpPr/>
            <p:nvPr/>
          </p:nvSpPr>
          <p:spPr>
            <a:xfrm>
              <a:off x="1576" y="3008"/>
              <a:ext cx="6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31" name="Line 65"/>
            <p:cNvSpPr/>
            <p:nvPr/>
          </p:nvSpPr>
          <p:spPr>
            <a:xfrm flipV="1">
              <a:off x="1580" y="3013"/>
              <a:ext cx="0" cy="39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66"/>
          <p:cNvGrpSpPr/>
          <p:nvPr/>
        </p:nvGrpSpPr>
        <p:grpSpPr>
          <a:xfrm>
            <a:off x="5472113" y="4751388"/>
            <a:ext cx="1031875" cy="623887"/>
            <a:chOff x="3484" y="3016"/>
            <a:chExt cx="656" cy="393"/>
          </a:xfrm>
        </p:grpSpPr>
        <p:sp>
          <p:nvSpPr>
            <p:cNvPr id="292928" name="Line 67"/>
            <p:cNvSpPr/>
            <p:nvPr/>
          </p:nvSpPr>
          <p:spPr>
            <a:xfrm flipV="1">
              <a:off x="3485" y="3016"/>
              <a:ext cx="0" cy="39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29" name="Line 68"/>
            <p:cNvSpPr/>
            <p:nvPr/>
          </p:nvSpPr>
          <p:spPr>
            <a:xfrm>
              <a:off x="3484" y="3401"/>
              <a:ext cx="6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69"/>
          <p:cNvGrpSpPr/>
          <p:nvPr/>
        </p:nvGrpSpPr>
        <p:grpSpPr>
          <a:xfrm>
            <a:off x="3468688" y="4751388"/>
            <a:ext cx="1022350" cy="623887"/>
            <a:chOff x="2214" y="3016"/>
            <a:chExt cx="662" cy="393"/>
          </a:xfrm>
        </p:grpSpPr>
        <p:sp>
          <p:nvSpPr>
            <p:cNvPr id="292926" name="Line 70"/>
            <p:cNvSpPr/>
            <p:nvPr/>
          </p:nvSpPr>
          <p:spPr>
            <a:xfrm flipH="1" flipV="1">
              <a:off x="2214" y="3016"/>
              <a:ext cx="0" cy="39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27" name="Line 71"/>
            <p:cNvSpPr/>
            <p:nvPr/>
          </p:nvSpPr>
          <p:spPr>
            <a:xfrm>
              <a:off x="2220" y="3401"/>
              <a:ext cx="6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72"/>
          <p:cNvGrpSpPr/>
          <p:nvPr/>
        </p:nvGrpSpPr>
        <p:grpSpPr>
          <a:xfrm>
            <a:off x="4468813" y="4746625"/>
            <a:ext cx="1014412" cy="628650"/>
            <a:chOff x="2860" y="3013"/>
            <a:chExt cx="639" cy="396"/>
          </a:xfrm>
        </p:grpSpPr>
        <p:sp>
          <p:nvSpPr>
            <p:cNvPr id="292924" name="Line 73"/>
            <p:cNvSpPr/>
            <p:nvPr/>
          </p:nvSpPr>
          <p:spPr>
            <a:xfrm flipV="1">
              <a:off x="2861" y="3016"/>
              <a:ext cx="0" cy="39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25" name="Line 74"/>
            <p:cNvSpPr/>
            <p:nvPr/>
          </p:nvSpPr>
          <p:spPr>
            <a:xfrm>
              <a:off x="2860" y="3013"/>
              <a:ext cx="63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" name="Group 75"/>
          <p:cNvGrpSpPr/>
          <p:nvPr/>
        </p:nvGrpSpPr>
        <p:grpSpPr>
          <a:xfrm>
            <a:off x="6470650" y="4741863"/>
            <a:ext cx="754063" cy="623887"/>
            <a:chOff x="4113" y="3010"/>
            <a:chExt cx="475" cy="393"/>
          </a:xfrm>
        </p:grpSpPr>
        <p:sp>
          <p:nvSpPr>
            <p:cNvPr id="292922" name="Line 76"/>
            <p:cNvSpPr/>
            <p:nvPr/>
          </p:nvSpPr>
          <p:spPr>
            <a:xfrm>
              <a:off x="4113" y="3013"/>
              <a:ext cx="47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23" name="Line 77"/>
            <p:cNvSpPr/>
            <p:nvPr/>
          </p:nvSpPr>
          <p:spPr>
            <a:xfrm flipV="1">
              <a:off x="4120" y="3010"/>
              <a:ext cx="0" cy="39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" name="Group 78"/>
          <p:cNvGrpSpPr/>
          <p:nvPr/>
        </p:nvGrpSpPr>
        <p:grpSpPr>
          <a:xfrm>
            <a:off x="4495800" y="5486400"/>
            <a:ext cx="2035175" cy="614363"/>
            <a:chOff x="2852" y="3477"/>
            <a:chExt cx="1282" cy="387"/>
          </a:xfrm>
        </p:grpSpPr>
        <p:sp>
          <p:nvSpPr>
            <p:cNvPr id="292920" name="Line 79"/>
            <p:cNvSpPr/>
            <p:nvPr/>
          </p:nvSpPr>
          <p:spPr>
            <a:xfrm flipH="1" flipV="1">
              <a:off x="2862" y="3477"/>
              <a:ext cx="0" cy="3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21" name="Line 80"/>
            <p:cNvSpPr/>
            <p:nvPr/>
          </p:nvSpPr>
          <p:spPr>
            <a:xfrm>
              <a:off x="2852" y="3856"/>
              <a:ext cx="128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" name="Group 81"/>
          <p:cNvGrpSpPr/>
          <p:nvPr/>
        </p:nvGrpSpPr>
        <p:grpSpPr>
          <a:xfrm>
            <a:off x="2455863" y="5457825"/>
            <a:ext cx="2051050" cy="614363"/>
            <a:chOff x="1568" y="3462"/>
            <a:chExt cx="1316" cy="387"/>
          </a:xfrm>
        </p:grpSpPr>
        <p:sp>
          <p:nvSpPr>
            <p:cNvPr id="292918" name="Line 82"/>
            <p:cNvSpPr/>
            <p:nvPr/>
          </p:nvSpPr>
          <p:spPr>
            <a:xfrm>
              <a:off x="1568" y="3469"/>
              <a:ext cx="131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19" name="Line 83"/>
            <p:cNvSpPr/>
            <p:nvPr/>
          </p:nvSpPr>
          <p:spPr>
            <a:xfrm flipH="1" flipV="1">
              <a:off x="1578" y="3462"/>
              <a:ext cx="0" cy="3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284" name="Rectangle 84"/>
          <p:cNvSpPr/>
          <p:nvPr/>
        </p:nvSpPr>
        <p:spPr>
          <a:xfrm>
            <a:off x="1924050" y="6246813"/>
            <a:ext cx="5578475" cy="42545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SzTx/>
              <a:buNone/>
            </a:pPr>
            <a:r>
              <a:rPr lang="en-US" altLang="zh-CN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Q1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=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CP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/2 = 2 MHz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，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Q2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=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CP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/4 = 1 MHz</a:t>
            </a:r>
          </a:p>
        </p:txBody>
      </p:sp>
      <p:grpSp>
        <p:nvGrpSpPr>
          <p:cNvPr id="16" name="Group 85"/>
          <p:cNvGrpSpPr/>
          <p:nvPr/>
        </p:nvGrpSpPr>
        <p:grpSpPr>
          <a:xfrm>
            <a:off x="6484938" y="5456238"/>
            <a:ext cx="754062" cy="639762"/>
            <a:chOff x="4113" y="3461"/>
            <a:chExt cx="475" cy="403"/>
          </a:xfrm>
        </p:grpSpPr>
        <p:sp>
          <p:nvSpPr>
            <p:cNvPr id="292916" name="Line 86"/>
            <p:cNvSpPr/>
            <p:nvPr/>
          </p:nvSpPr>
          <p:spPr>
            <a:xfrm flipV="1">
              <a:off x="4121" y="3477"/>
              <a:ext cx="0" cy="3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17" name="Line 87"/>
            <p:cNvSpPr/>
            <p:nvPr/>
          </p:nvSpPr>
          <p:spPr>
            <a:xfrm>
              <a:off x="4113" y="3461"/>
              <a:ext cx="47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288" name="Rectangle 88"/>
          <p:cNvSpPr/>
          <p:nvPr/>
        </p:nvSpPr>
        <p:spPr>
          <a:xfrm>
            <a:off x="1576388" y="4070350"/>
            <a:ext cx="573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>
              <a:spcBef>
                <a:spcPct val="50000"/>
              </a:spcBef>
              <a:buSzTx/>
              <a:buNone/>
            </a:pPr>
            <a:r>
              <a:rPr lang="en-US" altLang="zh-CN" b="0" i="1" dirty="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rPr>
              <a:t>CP</a:t>
            </a:r>
          </a:p>
        </p:txBody>
      </p:sp>
      <p:grpSp>
        <p:nvGrpSpPr>
          <p:cNvPr id="17" name="Group 89"/>
          <p:cNvGrpSpPr/>
          <p:nvPr/>
        </p:nvGrpSpPr>
        <p:grpSpPr>
          <a:xfrm>
            <a:off x="1616075" y="4806950"/>
            <a:ext cx="857250" cy="538163"/>
            <a:chOff x="1052" y="3059"/>
            <a:chExt cx="540" cy="339"/>
          </a:xfrm>
        </p:grpSpPr>
        <p:sp>
          <p:nvSpPr>
            <p:cNvPr id="292913" name="Rectangle 90"/>
            <p:cNvSpPr/>
            <p:nvPr/>
          </p:nvSpPr>
          <p:spPr>
            <a:xfrm>
              <a:off x="1052" y="3059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Q</a:t>
              </a:r>
              <a:r>
                <a:rPr lang="en-US" altLang="zh-CN" b="0" baseline="-250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92914" name="Line 91"/>
            <p:cNvSpPr/>
            <p:nvPr/>
          </p:nvSpPr>
          <p:spPr>
            <a:xfrm>
              <a:off x="1344" y="3398"/>
              <a:ext cx="24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15" name="Rectangle 92"/>
            <p:cNvSpPr/>
            <p:nvPr/>
          </p:nvSpPr>
          <p:spPr>
            <a:xfrm>
              <a:off x="1345" y="307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SzTx/>
                <a:buNone/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8" name="Group 93"/>
          <p:cNvGrpSpPr/>
          <p:nvPr/>
        </p:nvGrpSpPr>
        <p:grpSpPr>
          <a:xfrm>
            <a:off x="1616075" y="5556250"/>
            <a:ext cx="869950" cy="539750"/>
            <a:chOff x="1052" y="3513"/>
            <a:chExt cx="548" cy="340"/>
          </a:xfrm>
        </p:grpSpPr>
        <p:sp>
          <p:nvSpPr>
            <p:cNvPr id="292910" name="Rectangle 94"/>
            <p:cNvSpPr/>
            <p:nvPr/>
          </p:nvSpPr>
          <p:spPr>
            <a:xfrm>
              <a:off x="1052" y="3513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Q</a:t>
              </a:r>
              <a:r>
                <a:rPr lang="en-US" altLang="zh-CN" b="0" baseline="-250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92911" name="Line 95"/>
            <p:cNvSpPr/>
            <p:nvPr/>
          </p:nvSpPr>
          <p:spPr>
            <a:xfrm>
              <a:off x="1352" y="3853"/>
              <a:ext cx="24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12" name="Rectangle 96"/>
            <p:cNvSpPr/>
            <p:nvPr/>
          </p:nvSpPr>
          <p:spPr>
            <a:xfrm>
              <a:off x="1345" y="3521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SzTx/>
                <a:buNone/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9" name="Group 97"/>
          <p:cNvGrpSpPr/>
          <p:nvPr/>
        </p:nvGrpSpPr>
        <p:grpSpPr>
          <a:xfrm>
            <a:off x="5759450" y="2886075"/>
            <a:ext cx="1084263" cy="1092200"/>
            <a:chOff x="3771" y="1816"/>
            <a:chExt cx="683" cy="688"/>
          </a:xfrm>
        </p:grpSpPr>
        <p:sp>
          <p:nvSpPr>
            <p:cNvPr id="292905" name="Rectangle 98"/>
            <p:cNvSpPr/>
            <p:nvPr/>
          </p:nvSpPr>
          <p:spPr>
            <a:xfrm>
              <a:off x="3771" y="221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i="1" dirty="0">
                  <a:solidFill>
                    <a:srgbClr val="00CC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Q</a:t>
              </a:r>
              <a:r>
                <a:rPr lang="en-US" altLang="zh-CN" b="0" baseline="-25000" dirty="0">
                  <a:solidFill>
                    <a:srgbClr val="00CC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92906" name="Rectangle 99"/>
            <p:cNvSpPr/>
            <p:nvPr/>
          </p:nvSpPr>
          <p:spPr>
            <a:xfrm>
              <a:off x="4103" y="1816"/>
              <a:ext cx="3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>
                <a:spcBef>
                  <a:spcPct val="50000"/>
                </a:spcBef>
                <a:buSzTx/>
                <a:buNone/>
              </a:pPr>
              <a:r>
                <a:rPr lang="en-US" altLang="zh-CN" b="0" dirty="0">
                  <a:solidFill>
                    <a:srgbClr val="00CC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C1</a:t>
              </a:r>
              <a:endParaRPr lang="en-US" altLang="zh-CN" b="0" baseline="-25000" dirty="0">
                <a:solidFill>
                  <a:srgbClr val="00CC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292907" name="Group 100"/>
            <p:cNvGrpSpPr/>
            <p:nvPr/>
          </p:nvGrpSpPr>
          <p:grpSpPr>
            <a:xfrm rot="5400000">
              <a:off x="3993" y="1906"/>
              <a:ext cx="168" cy="96"/>
              <a:chOff x="2412" y="3725"/>
              <a:chExt cx="168" cy="96"/>
            </a:xfrm>
          </p:grpSpPr>
          <p:sp>
            <p:nvSpPr>
              <p:cNvPr id="292908" name="Line 101"/>
              <p:cNvSpPr/>
              <p:nvPr/>
            </p:nvSpPr>
            <p:spPr>
              <a:xfrm flipV="1">
                <a:off x="2412" y="3733"/>
                <a:ext cx="88" cy="88"/>
              </a:xfrm>
              <a:prstGeom prst="line">
                <a:avLst/>
              </a:prstGeom>
              <a:ln w="28575" cap="flat" cmpd="sng">
                <a:solidFill>
                  <a:srgbClr val="00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2909" name="Line 102"/>
              <p:cNvSpPr/>
              <p:nvPr/>
            </p:nvSpPr>
            <p:spPr>
              <a:xfrm flipH="1" flipV="1">
                <a:off x="2492" y="3725"/>
                <a:ext cx="88" cy="88"/>
              </a:xfrm>
              <a:prstGeom prst="line">
                <a:avLst/>
              </a:prstGeom>
              <a:ln w="28575" cap="flat" cmpd="sng">
                <a:solidFill>
                  <a:srgbClr val="00CC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51303" name="AutoShape 103"/>
          <p:cNvSpPr/>
          <p:nvPr/>
        </p:nvSpPr>
        <p:spPr>
          <a:xfrm>
            <a:off x="7143750" y="4724400"/>
            <a:ext cx="1924050" cy="393700"/>
          </a:xfrm>
          <a:prstGeom prst="wedgeRectCallout">
            <a:avLst>
              <a:gd name="adj1" fmla="val -59819"/>
              <a:gd name="adj2" fmla="val 4032"/>
            </a:avLst>
          </a:prstGeom>
          <a:solidFill>
            <a:srgbClr val="CC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72000" tIns="0" rIns="7200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zh-CN" altLang="en-US" b="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对</a:t>
            </a:r>
            <a:r>
              <a:rPr lang="zh-CN" altLang="en-US" b="0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b="0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CP 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二分频</a:t>
            </a:r>
          </a:p>
        </p:txBody>
      </p:sp>
      <p:sp>
        <p:nvSpPr>
          <p:cNvPr id="51304" name="AutoShape 104"/>
          <p:cNvSpPr/>
          <p:nvPr/>
        </p:nvSpPr>
        <p:spPr>
          <a:xfrm>
            <a:off x="7116763" y="5446713"/>
            <a:ext cx="1947862" cy="393700"/>
          </a:xfrm>
          <a:prstGeom prst="wedgeRectCallout">
            <a:avLst>
              <a:gd name="adj1" fmla="val -58639"/>
              <a:gd name="adj2" fmla="val 806"/>
            </a:avLst>
          </a:prstGeom>
          <a:solidFill>
            <a:srgbClr val="CC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72000" tIns="0" rIns="72000" bIns="0"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zh-CN" altLang="en-US" b="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对</a:t>
            </a:r>
            <a:r>
              <a:rPr lang="zh-CN" altLang="en-US" b="0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b="0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CP 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四分频</a:t>
            </a:r>
          </a:p>
        </p:txBody>
      </p:sp>
      <p:grpSp>
        <p:nvGrpSpPr>
          <p:cNvPr id="21" name="Group 105"/>
          <p:cNvGrpSpPr/>
          <p:nvPr/>
        </p:nvGrpSpPr>
        <p:grpSpPr>
          <a:xfrm>
            <a:off x="2462213" y="4160838"/>
            <a:ext cx="4017962" cy="1187450"/>
            <a:chOff x="1585" y="2658"/>
            <a:chExt cx="2531" cy="748"/>
          </a:xfrm>
        </p:grpSpPr>
        <p:sp>
          <p:nvSpPr>
            <p:cNvPr id="292895" name="Line 106"/>
            <p:cNvSpPr/>
            <p:nvPr/>
          </p:nvSpPr>
          <p:spPr>
            <a:xfrm flipV="1">
              <a:off x="1585" y="2666"/>
              <a:ext cx="0" cy="13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92896" name="Line 107"/>
            <p:cNvSpPr/>
            <p:nvPr/>
          </p:nvSpPr>
          <p:spPr>
            <a:xfrm flipV="1">
              <a:off x="2217" y="2658"/>
              <a:ext cx="0" cy="13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92897" name="Line 108"/>
            <p:cNvSpPr/>
            <p:nvPr/>
          </p:nvSpPr>
          <p:spPr>
            <a:xfrm flipV="1">
              <a:off x="2848" y="2658"/>
              <a:ext cx="0" cy="13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92898" name="Line 109"/>
            <p:cNvSpPr/>
            <p:nvPr/>
          </p:nvSpPr>
          <p:spPr>
            <a:xfrm flipV="1">
              <a:off x="3480" y="2658"/>
              <a:ext cx="0" cy="13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92899" name="Line 110"/>
            <p:cNvSpPr/>
            <p:nvPr/>
          </p:nvSpPr>
          <p:spPr>
            <a:xfrm flipV="1">
              <a:off x="4111" y="2658"/>
              <a:ext cx="0" cy="13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92900" name="Line 111"/>
            <p:cNvSpPr/>
            <p:nvPr/>
          </p:nvSpPr>
          <p:spPr>
            <a:xfrm>
              <a:off x="1590" y="2923"/>
              <a:ext cx="0" cy="4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2901" name="Line 112"/>
            <p:cNvSpPr/>
            <p:nvPr/>
          </p:nvSpPr>
          <p:spPr>
            <a:xfrm>
              <a:off x="2229" y="2930"/>
              <a:ext cx="0" cy="4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2902" name="Line 113"/>
            <p:cNvSpPr/>
            <p:nvPr/>
          </p:nvSpPr>
          <p:spPr>
            <a:xfrm>
              <a:off x="2853" y="2929"/>
              <a:ext cx="0" cy="4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2903" name="Line 114"/>
            <p:cNvSpPr/>
            <p:nvPr/>
          </p:nvSpPr>
          <p:spPr>
            <a:xfrm>
              <a:off x="3484" y="2921"/>
              <a:ext cx="0" cy="4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2904" name="Line 115"/>
            <p:cNvSpPr/>
            <p:nvPr/>
          </p:nvSpPr>
          <p:spPr>
            <a:xfrm>
              <a:off x="4116" y="2929"/>
              <a:ext cx="0" cy="4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22" name="Group 116"/>
          <p:cNvGrpSpPr/>
          <p:nvPr/>
        </p:nvGrpSpPr>
        <p:grpSpPr>
          <a:xfrm>
            <a:off x="2462213" y="4926013"/>
            <a:ext cx="4030662" cy="1144587"/>
            <a:chOff x="1577" y="3140"/>
            <a:chExt cx="2539" cy="721"/>
          </a:xfrm>
        </p:grpSpPr>
        <p:sp>
          <p:nvSpPr>
            <p:cNvPr id="292889" name="Line 117"/>
            <p:cNvSpPr/>
            <p:nvPr/>
          </p:nvSpPr>
          <p:spPr>
            <a:xfrm flipV="1">
              <a:off x="2848" y="3146"/>
              <a:ext cx="0" cy="131"/>
            </a:xfrm>
            <a:prstGeom prst="line">
              <a:avLst/>
            </a:prstGeom>
            <a:ln w="38100" cap="flat" cmpd="sng">
              <a:solidFill>
                <a:srgbClr val="00CC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92890" name="Line 118"/>
            <p:cNvSpPr/>
            <p:nvPr/>
          </p:nvSpPr>
          <p:spPr>
            <a:xfrm flipV="1">
              <a:off x="4111" y="3162"/>
              <a:ext cx="0" cy="131"/>
            </a:xfrm>
            <a:prstGeom prst="line">
              <a:avLst/>
            </a:prstGeom>
            <a:ln w="38100" cap="flat" cmpd="sng">
              <a:solidFill>
                <a:srgbClr val="00CC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92891" name="Line 119"/>
            <p:cNvSpPr/>
            <p:nvPr/>
          </p:nvSpPr>
          <p:spPr>
            <a:xfrm>
              <a:off x="1590" y="3379"/>
              <a:ext cx="0" cy="4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2892" name="Line 120"/>
            <p:cNvSpPr/>
            <p:nvPr/>
          </p:nvSpPr>
          <p:spPr>
            <a:xfrm>
              <a:off x="2853" y="3385"/>
              <a:ext cx="0" cy="4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2893" name="Line 121"/>
            <p:cNvSpPr/>
            <p:nvPr/>
          </p:nvSpPr>
          <p:spPr>
            <a:xfrm>
              <a:off x="4116" y="3377"/>
              <a:ext cx="0" cy="4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2894" name="Line 122"/>
            <p:cNvSpPr/>
            <p:nvPr/>
          </p:nvSpPr>
          <p:spPr>
            <a:xfrm flipV="1">
              <a:off x="1577" y="3140"/>
              <a:ext cx="0" cy="131"/>
            </a:xfrm>
            <a:prstGeom prst="line">
              <a:avLst/>
            </a:prstGeom>
            <a:ln w="38100" cap="flat" cmpd="sng">
              <a:solidFill>
                <a:srgbClr val="00CC00"/>
              </a:solidFill>
              <a:prstDash val="solid"/>
              <a:headEnd type="none" w="med" len="med"/>
              <a:tailEnd type="arrow" w="med" len="med"/>
            </a:ln>
          </p:spPr>
        </p:sp>
      </p:grpSp>
      <p:sp>
        <p:nvSpPr>
          <p:cNvPr id="292888" name="Line 123"/>
          <p:cNvSpPr/>
          <p:nvPr/>
        </p:nvSpPr>
        <p:spPr>
          <a:xfrm>
            <a:off x="323850" y="433388"/>
            <a:ext cx="6804025" cy="0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1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1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1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1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2" grpId="0"/>
      <p:bldP spid="51256" grpId="0"/>
      <p:bldP spid="51284" grpId="0"/>
      <p:bldP spid="51288" grpId="0"/>
      <p:bldP spid="51303" grpId="0" animBg="1"/>
      <p:bldP spid="5130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Line 3"/>
          <p:cNvSpPr/>
          <p:nvPr/>
        </p:nvSpPr>
        <p:spPr>
          <a:xfrm>
            <a:off x="468313" y="6381750"/>
            <a:ext cx="8135937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3891" name="Line 4"/>
          <p:cNvSpPr/>
          <p:nvPr/>
        </p:nvSpPr>
        <p:spPr>
          <a:xfrm>
            <a:off x="539750" y="765175"/>
            <a:ext cx="7993063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3892" name="Text Box 5"/>
          <p:cNvSpPr txBox="1"/>
          <p:nvPr/>
        </p:nvSpPr>
        <p:spPr>
          <a:xfrm>
            <a:off x="395288" y="6381750"/>
            <a:ext cx="23764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楷体_GB2312"/>
                <a:ea typeface="楷体_GB2312"/>
              </a:rPr>
              <a:t>CHAPTER 7</a:t>
            </a:r>
          </a:p>
        </p:txBody>
      </p:sp>
      <p:pic>
        <p:nvPicPr>
          <p:cNvPr id="293893" name="Picture 9" descr="fg07_04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138238"/>
            <a:ext cx="6445250" cy="49545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 txBox="1">
            <a:spLocks noRot="1" noChangeArrowheads="1"/>
          </p:cNvSpPr>
          <p:nvPr/>
        </p:nvSpPr>
        <p:spPr bwMode="auto">
          <a:xfrm>
            <a:off x="9525" y="-4762"/>
            <a:ext cx="9144000" cy="501650"/>
          </a:xfrm>
          <a:prstGeom prst="rect">
            <a:avLst/>
          </a:prstGeom>
          <a:solidFill>
            <a:srgbClr val="006666">
              <a:lumMod val="20000"/>
              <a:lumOff val="80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j-cs"/>
              </a:rPr>
              <a:t>  Sec.7.4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j-cs"/>
              </a:rPr>
              <a:t>触发器应用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4" name="Rectangle 7"/>
          <p:cNvSpPr txBox="1">
            <a:spLocks noRot="1" noChangeArrowheads="1"/>
          </p:cNvSpPr>
          <p:nvPr/>
        </p:nvSpPr>
        <p:spPr bwMode="auto">
          <a:xfrm>
            <a:off x="333375" y="939800"/>
            <a:ext cx="2500313" cy="390525"/>
          </a:xfrm>
          <a:prstGeom prst="rect">
            <a:avLst/>
          </a:prstGeom>
          <a:solidFill>
            <a:srgbClr val="FFFF33"/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r>
              <a:rPr lang="en-US" altLang="zh-CN" sz="2400" b="1" dirty="0">
                <a:solidFill>
                  <a:srgbClr val="0D0D0D"/>
                </a:solidFill>
                <a:ea typeface="黑体" panose="02010609060101010101" pitchFamily="49" charset="-122"/>
              </a:rPr>
              <a:t>7.4.2</a:t>
            </a:r>
            <a:r>
              <a:rPr lang="zh-CN" altLang="en-US" sz="2400" b="1" dirty="0">
                <a:solidFill>
                  <a:srgbClr val="0D0D0D"/>
                </a:solidFill>
                <a:ea typeface="黑体" panose="02010609060101010101" pitchFamily="49" charset="-122"/>
              </a:rPr>
              <a:t>、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charset="0"/>
                <a:ea typeface="黑体" panose="02010609060101010101" pitchFamily="49" charset="-122"/>
              </a:rPr>
              <a:t>计数器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charset="0"/>
              <a:ea typeface="楷体_GB2312"/>
            </a:endParaRPr>
          </a:p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endParaRPr lang="zh-CN" altLang="en-US" sz="2400" b="1" dirty="0">
              <a:solidFill>
                <a:srgbClr val="0D0D0D"/>
              </a:solidFill>
              <a:ea typeface="MS PGothic" panose="020B0600070205080204" pitchFamily="34" charset="-128"/>
            </a:endParaRPr>
          </a:p>
          <a:p>
            <a:pPr marL="0" lvl="0" indent="0" algn="ctr" eaLnBrk="1" hangingPunct="1">
              <a:lnSpc>
                <a:spcPct val="90000"/>
              </a:lnSpc>
              <a:buClr>
                <a:srgbClr val="FF6600"/>
              </a:buClr>
              <a:buNone/>
            </a:pPr>
            <a:endParaRPr lang="en-US" altLang="zh-CN" sz="2400" b="1" dirty="0">
              <a:solidFill>
                <a:srgbClr val="0D0D0D"/>
              </a:solidFill>
              <a:ea typeface="黑体" panose="02010609060101010101" pitchFamily="49" charset="-122"/>
            </a:endParaRPr>
          </a:p>
        </p:txBody>
      </p:sp>
      <p:sp>
        <p:nvSpPr>
          <p:cNvPr id="6" name="Rectangle 6"/>
          <p:cNvSpPr txBox="1">
            <a:spLocks noRot="1" noChangeArrowheads="1"/>
          </p:cNvSpPr>
          <p:nvPr/>
        </p:nvSpPr>
        <p:spPr bwMode="auto">
          <a:xfrm>
            <a:off x="188913" y="2027238"/>
            <a:ext cx="2376488" cy="1709738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、下降沿触发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、初始为复位状态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、异步触发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位二进制计数器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EB06DC2-0521-9D5F-5D3F-51A05D667638}"/>
                  </a:ext>
                </a:extLst>
              </p14:cNvPr>
              <p14:cNvContentPartPr/>
              <p14:nvPr/>
            </p14:nvContentPartPr>
            <p14:xfrm>
              <a:off x="3428524" y="989570"/>
              <a:ext cx="748080" cy="5598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EB06DC2-0521-9D5F-5D3F-51A05D6676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0884" y="971930"/>
                <a:ext cx="783720" cy="59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>
    <p:pull dir="r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wrap="none" lIns="92075" tIns="46038" rIns="92075" bIns="46038" anchor="ctr" anchorCtr="0"/>
          <a:lstStyle/>
          <a:p>
            <a:pPr marL="0" indent="0" algn="r">
              <a:lnSpc>
                <a:spcPct val="100000"/>
              </a:lnSpc>
              <a:spcBef>
                <a:spcPct val="0"/>
              </a:spcBef>
              <a:buSzTx/>
              <a:buNone/>
            </a:pPr>
            <a:fld id="{9A0DB2DC-4C9A-4742-B13C-FB6460FD3503}" type="slidenum">
              <a:rPr lang="zh-CN" altLang="en-US" sz="1400" dirty="0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44</a:t>
            </a:fld>
            <a:endParaRPr lang="zh-CN" altLang="en-US" sz="1400" b="0" dirty="0">
              <a:solidFill>
                <a:srgbClr val="0033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228414" name="Picture 1086" descr="fg07_04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581400"/>
            <a:ext cx="6705600" cy="2605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8426" name="Rectangle 1098"/>
          <p:cNvSpPr/>
          <p:nvPr/>
        </p:nvSpPr>
        <p:spPr>
          <a:xfrm>
            <a:off x="381000" y="1141413"/>
            <a:ext cx="2185035" cy="368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sz="2000" dirty="0">
                <a:solidFill>
                  <a:srgbClr val="000099"/>
                </a:solidFill>
                <a:latin typeface="华光大黑_CNKI" panose="02000500000000000000" charset="-122"/>
                <a:ea typeface="华光大黑_CNKI" panose="02000500000000000000" charset="-122"/>
                <a:cs typeface="华光大黑_CNKI" panose="02000500000000000000" charset="-122"/>
              </a:rPr>
              <a:t> 3</a:t>
            </a:r>
            <a:r>
              <a:rPr lang="zh-CN" altLang="en-US" sz="2000" dirty="0">
                <a:solidFill>
                  <a:srgbClr val="000099"/>
                </a:solidFill>
                <a:latin typeface="华光大黑_CNKI" panose="02000500000000000000" charset="-122"/>
                <a:ea typeface="华光大黑_CNKI" panose="02000500000000000000" charset="-122"/>
                <a:cs typeface="华光大黑_CNKI" panose="02000500000000000000" charset="-122"/>
              </a:rPr>
              <a:t>位二进制计数器</a:t>
            </a:r>
          </a:p>
        </p:txBody>
      </p:sp>
      <p:sp>
        <p:nvSpPr>
          <p:cNvPr id="4" name="Rectangle 7"/>
          <p:cNvSpPr txBox="1">
            <a:spLocks noRot="1" noChangeArrowheads="1"/>
          </p:cNvSpPr>
          <p:nvPr/>
        </p:nvSpPr>
        <p:spPr bwMode="auto">
          <a:xfrm>
            <a:off x="473075" y="420688"/>
            <a:ext cx="2500313" cy="390525"/>
          </a:xfrm>
          <a:prstGeom prst="rect">
            <a:avLst/>
          </a:prstGeom>
          <a:solidFill>
            <a:srgbClr val="FFFF33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7.4.2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计数器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charset="0"/>
              <a:ea typeface="楷体_GB231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9594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28638"/>
            <a:ext cx="5562600" cy="2747962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08F5222-2A1C-64E5-8027-C0275B1A287C}"/>
                  </a:ext>
                </a:extLst>
              </p14:cNvPr>
              <p14:cNvContentPartPr/>
              <p14:nvPr/>
            </p14:nvContentPartPr>
            <p14:xfrm>
              <a:off x="3088684" y="574641"/>
              <a:ext cx="879480" cy="6598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08F5222-2A1C-64E5-8027-C0275B1A28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71044" y="556641"/>
                <a:ext cx="915120" cy="695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4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wrap="none" lIns="92075" tIns="46038" rIns="92075" bIns="46038" anchor="ctr" anchorCtr="0"/>
          <a:lstStyle/>
          <a:p>
            <a:pPr marL="0" indent="0" algn="r">
              <a:lnSpc>
                <a:spcPct val="100000"/>
              </a:lnSpc>
              <a:spcBef>
                <a:spcPct val="0"/>
              </a:spcBef>
              <a:buSzTx/>
              <a:buNone/>
            </a:pPr>
            <a:fld id="{9A0DB2DC-4C9A-4742-B13C-FB6460FD3503}" type="slidenum">
              <a:rPr lang="zh-CN" altLang="en-US" sz="1400" dirty="0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45</a:t>
            </a:fld>
            <a:endParaRPr lang="zh-CN" altLang="en-US" sz="1400" b="0" dirty="0">
              <a:solidFill>
                <a:srgbClr val="0033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96963" name="Rectangle 1028"/>
          <p:cNvSpPr>
            <a:spLocks noGrp="1"/>
          </p:cNvSpPr>
          <p:nvPr>
            <p:ph type="title" idx="4294967295"/>
          </p:nvPr>
        </p:nvSpPr>
        <p:spPr>
          <a:xfrm>
            <a:off x="762000" y="762000"/>
            <a:ext cx="7294563" cy="381000"/>
          </a:xfrm>
        </p:spPr>
        <p:txBody>
          <a:bodyPr vert="horz" wrap="square" lIns="92075" tIns="46038" rIns="92075" bIns="46038" anchor="ctr" anchorCtr="0"/>
          <a:lstStyle/>
          <a:p>
            <a:pPr>
              <a:buNone/>
            </a:pPr>
            <a:r>
              <a:rPr lang="en-US" altLang="zh-CN" sz="2400" dirty="0">
                <a:solidFill>
                  <a:srgbClr val="FF3300"/>
                </a:solidFill>
                <a:ea typeface="宋体" panose="02010600030101010101" pitchFamily="2" charset="-122"/>
              </a:rPr>
              <a:t>Test Your Understanding</a:t>
            </a:r>
          </a:p>
        </p:txBody>
      </p:sp>
      <p:sp>
        <p:nvSpPr>
          <p:cNvPr id="296964" name="Text Box 1061"/>
          <p:cNvSpPr txBox="1"/>
          <p:nvPr/>
        </p:nvSpPr>
        <p:spPr>
          <a:xfrm>
            <a:off x="838200" y="1187450"/>
            <a:ext cx="7620000" cy="158908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>
              <a:spcBef>
                <a:spcPct val="50000"/>
              </a:spcBef>
              <a:buSzTx/>
              <a:buAutoNum type="arabicPeriod"/>
            </a:pPr>
            <a:r>
              <a:rPr lang="en-US" altLang="zh-CN" b="0" dirty="0">
                <a:solidFill>
                  <a:srgbClr val="000000"/>
                </a:solidFill>
                <a:ea typeface="宋体" panose="02010600030101010101" pitchFamily="2" charset="-122"/>
              </a:rPr>
              <a:t>Determine the output frequency for a frequency division circuit that contains twelve flip-flops with an input clock frequency of 20.48MHz. </a:t>
            </a:r>
          </a:p>
          <a:p>
            <a:pPr marL="457200" lvl="0" indent="-457200">
              <a:spcBef>
                <a:spcPct val="50000"/>
              </a:spcBef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ea typeface="宋体" panose="02010600030101010101" pitchFamily="2" charset="-122"/>
              </a:rPr>
              <a:t>   a) 10.24 kHz ;    b) 5kHz;    c) 30.24kHz;    d) 15kHz  </a:t>
            </a:r>
          </a:p>
        </p:txBody>
      </p:sp>
      <p:sp>
        <p:nvSpPr>
          <p:cNvPr id="252966" name="Text Box 1062"/>
          <p:cNvSpPr txBox="1"/>
          <p:nvPr/>
        </p:nvSpPr>
        <p:spPr>
          <a:xfrm>
            <a:off x="1524000" y="2895600"/>
            <a:ext cx="1676400" cy="42068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b="0" dirty="0">
                <a:solidFill>
                  <a:srgbClr val="0000FF"/>
                </a:solidFill>
                <a:ea typeface="宋体" panose="02010600030101010101" pitchFamily="2" charset="-122"/>
              </a:rPr>
              <a:t>Answer b)</a:t>
            </a:r>
          </a:p>
        </p:txBody>
      </p:sp>
      <p:sp>
        <p:nvSpPr>
          <p:cNvPr id="252967" name="Text Box 1063"/>
          <p:cNvSpPr txBox="1"/>
          <p:nvPr/>
        </p:nvSpPr>
        <p:spPr>
          <a:xfrm>
            <a:off x="838200" y="3429000"/>
            <a:ext cx="7620000" cy="17716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>
              <a:spcBef>
                <a:spcPct val="50000"/>
              </a:spcBef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ea typeface="宋体" panose="02010600030101010101" pitchFamily="2" charset="-122"/>
              </a:rPr>
              <a:t>2.	Which of the following is not generally associated with flip-flops? </a:t>
            </a:r>
          </a:p>
          <a:p>
            <a:pPr marL="457200" lvl="0" indent="-457200">
              <a:spcBef>
                <a:spcPct val="50000"/>
              </a:spcBef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ea typeface="宋体" panose="02010600030101010101" pitchFamily="2" charset="-122"/>
              </a:rPr>
              <a:t>   a) Hold time ;    	b) Propagation delay time;</a:t>
            </a:r>
          </a:p>
          <a:p>
            <a:pPr marL="457200" lvl="0" indent="-457200">
              <a:spcBef>
                <a:spcPct val="50000"/>
              </a:spcBef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ea typeface="宋体" panose="02010600030101010101" pitchFamily="2" charset="-122"/>
              </a:rPr>
              <a:t>   c) Interval time ;	d) Set-up time  </a:t>
            </a:r>
          </a:p>
        </p:txBody>
      </p:sp>
      <p:sp>
        <p:nvSpPr>
          <p:cNvPr id="252969" name="Text Box 1065"/>
          <p:cNvSpPr txBox="1"/>
          <p:nvPr/>
        </p:nvSpPr>
        <p:spPr>
          <a:xfrm>
            <a:off x="1524000" y="5257800"/>
            <a:ext cx="1676400" cy="42068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SzTx/>
              <a:buNone/>
            </a:pPr>
            <a:r>
              <a:rPr lang="en-US" altLang="zh-CN" b="0" dirty="0">
                <a:solidFill>
                  <a:srgbClr val="0000FF"/>
                </a:solidFill>
                <a:ea typeface="宋体" panose="02010600030101010101" pitchFamily="2" charset="-122"/>
              </a:rPr>
              <a:t>Answer 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5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5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66" grpId="0"/>
      <p:bldP spid="252967" grpId="0"/>
      <p:bldP spid="25296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矩形 180227"/>
          <p:cNvSpPr/>
          <p:nvPr/>
        </p:nvSpPr>
        <p:spPr>
          <a:xfrm>
            <a:off x="20638" y="0"/>
            <a:ext cx="9155112" cy="6889750"/>
          </a:xfrm>
          <a:prstGeom prst="rect">
            <a:avLst/>
          </a:prstGeom>
          <a:noFill/>
          <a:ln w="76200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97987" name="文本框 180228"/>
          <p:cNvSpPr txBox="1"/>
          <p:nvPr/>
        </p:nvSpPr>
        <p:spPr>
          <a:xfrm>
            <a:off x="1447800" y="1479550"/>
            <a:ext cx="65532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191D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14C90"/>
              </a:buClr>
              <a:buFont typeface="Lucida Grande"/>
              <a:buChar char="-"/>
              <a:defRPr sz="2200">
                <a:solidFill>
                  <a:schemeClr val="tx1"/>
                </a:solidFill>
                <a:latin typeface="Verdana" panose="020B0604030504040204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latin typeface="Times" pitchFamily="18" charset="0"/>
              </a:rPr>
              <a:t> </a:t>
            </a:r>
            <a:endParaRPr lang="en-US" altLang="zh-CN" sz="2800" dirty="0">
              <a:latin typeface="Times" pitchFamily="18" charset="0"/>
              <a:ea typeface="Times New Roman" panose="02020603050405020304" charset="0"/>
            </a:endParaRPr>
          </a:p>
        </p:txBody>
      </p:sp>
      <p:sp>
        <p:nvSpPr>
          <p:cNvPr id="180228" name="文本框 180229"/>
          <p:cNvSpPr txBox="1">
            <a:spLocks noChangeArrowheads="1"/>
          </p:cNvSpPr>
          <p:nvPr/>
        </p:nvSpPr>
        <p:spPr bwMode="auto">
          <a:xfrm>
            <a:off x="1448435" y="1523683"/>
            <a:ext cx="6019800" cy="11988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4</a:t>
            </a:r>
            <a:r>
              <a:rPr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7</a:t>
            </a:r>
            <a:r>
              <a:rPr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8</a:t>
            </a:r>
            <a:r>
              <a:rPr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14</a:t>
            </a:r>
            <a:r>
              <a:rPr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16</a:t>
            </a:r>
            <a:r>
              <a:rPr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18</a:t>
            </a:r>
            <a:r>
              <a:rPr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21</a:t>
            </a:r>
            <a:r>
              <a:rPr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25</a:t>
            </a:r>
            <a:endParaRPr lang="zh-CN" altLang="en-US" b="1" dirty="0">
              <a:solidFill>
                <a:srgbClr val="000000">
                  <a:lumMod val="95000"/>
                  <a:lumOff val="5000"/>
                </a:srgb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" pitchFamily="18" charset="0"/>
              <a:ea typeface="MS PGothic" panose="020B0600070205080204" pitchFamily="34" charset="-128"/>
              <a:cs typeface="Times New Roman" panose="02020603050405020304" charset="0"/>
            </a:endParaRPr>
          </a:p>
        </p:txBody>
      </p:sp>
      <p:sp>
        <p:nvSpPr>
          <p:cNvPr id="66568" name="文本框 6148"/>
          <p:cNvSpPr txBox="1">
            <a:spLocks noChangeArrowheads="1"/>
          </p:cNvSpPr>
          <p:nvPr/>
        </p:nvSpPr>
        <p:spPr bwMode="auto">
          <a:xfrm>
            <a:off x="2438400" y="379413"/>
            <a:ext cx="3962400" cy="6413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600" b="1" kern="1200" cap="none" spc="0" normalizeH="0" baseline="0" noProof="0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55B9FF"/>
                    </a:outerShdw>
                  </a:cont>
                  <a:cont type="tree" name="">
                    <a:effect ref="fillLine"/>
                    <a:outerShdw dist="38100" dir="2700000" algn="tl">
                      <a:srgbClr val="004373"/>
                    </a:outerShdw>
                  </a:cont>
                  <a:effect ref="fillLine"/>
                </a:effectDag>
                <a:latin typeface="Times New Roman" panose="02020603050405020304" charset="0"/>
                <a:ea typeface="MS PGothic" panose="020B0600070205080204" pitchFamily="34" charset="-128"/>
                <a:cs typeface="+mn-cs"/>
              </a:rPr>
              <a:t>作业</a:t>
            </a:r>
            <a:endParaRPr kumimoji="0" lang="en-US" altLang="zh-CN" sz="3600" b="1" kern="1200" cap="none" spc="0" normalizeH="0" baseline="0" noProof="0" dirty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55B9FF"/>
                  </a:outerShdw>
                </a:cont>
                <a:cont type="tree" name="">
                  <a:effect ref="fillLine"/>
                  <a:outerShdw dist="38100" dir="2700000" algn="tl">
                    <a:srgbClr val="004373"/>
                  </a:outerShdw>
                </a:cont>
                <a:effect ref="fillLine"/>
              </a:effectDag>
              <a:latin typeface="Times New Roman" panose="020206030504050203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97990" name="灯片编号占位符 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en-US" sz="1800" dirty="0">
                <a:latin typeface="Arial" panose="020B0604020202020204" pitchFamily="34" charset="0"/>
              </a:rPr>
              <a:t>46</a:t>
            </a:fld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Tm="0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694f40a-614c-43c4-9f58-c56e7aad112d"/>
  <p:tag name="COMMONDATA" val="eyJoZGlkIjoiZmM5MjhlNjM1ZmU5ZTczOWU2YjljNDhmMDBlZDk1ZmYifQ=="/>
</p:tagLst>
</file>

<file path=ppt/theme/theme1.xml><?xml version="1.0" encoding="utf-8"?>
<a:theme xmlns:a="http://schemas.openxmlformats.org/drawingml/2006/main" name="aghayere_ib_design">
  <a:themeElements>
    <a:clrScheme name="Custom 8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3232C8"/>
      </a:hlink>
      <a:folHlink>
        <a:srgbClr val="9632C8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MS PGothic" panose="020B0600070205080204" pitchFamily="34" charset="-128"/>
            <a:cs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MS PGothic" panose="020B0600070205080204" pitchFamily="34" charset="-128"/>
            <a:cs typeface="MS PGothic" panose="020B0600070205080204" pitchFamily="3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2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7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4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7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31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33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楷体_GB2312" pitchFamily="49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1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4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6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7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0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1_EECS150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2_EECS150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EECS150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ECS150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ECS150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aghayere_ib_design.pot</Template>
  <TotalTime>665</TotalTime>
  <Words>2186</Words>
  <Application>Microsoft Office PowerPoint</Application>
  <PresentationFormat>全屏显示(4:3)</PresentationFormat>
  <Paragraphs>571</Paragraphs>
  <Slides>46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46</vt:i4>
      </vt:variant>
    </vt:vector>
  </HeadingPairs>
  <TitlesOfParts>
    <vt:vector size="96" baseType="lpstr">
      <vt:lpstr>Lucida Grande</vt:lpstr>
      <vt:lpstr>MS PGothic</vt:lpstr>
      <vt:lpstr>等线</vt:lpstr>
      <vt:lpstr>黑体</vt:lpstr>
      <vt:lpstr>华光大黑_CNKI</vt:lpstr>
      <vt:lpstr>楷体_GB2312</vt:lpstr>
      <vt:lpstr>宋体</vt:lpstr>
      <vt:lpstr>Arial</vt:lpstr>
      <vt:lpstr>Calibri</vt:lpstr>
      <vt:lpstr>Helvetica</vt:lpstr>
      <vt:lpstr>Impact</vt:lpstr>
      <vt:lpstr>Roboto</vt:lpstr>
      <vt:lpstr>Times</vt:lpstr>
      <vt:lpstr>Times New Roman</vt:lpstr>
      <vt:lpstr>Verdana</vt:lpstr>
      <vt:lpstr>Wingdings</vt:lpstr>
      <vt:lpstr>aghayere_ib_design</vt:lpstr>
      <vt:lpstr>2_EECS150-template</vt:lpstr>
      <vt:lpstr>万里长城</vt:lpstr>
      <vt:lpstr>3_万里长城</vt:lpstr>
      <vt:lpstr>4_万里长城</vt:lpstr>
      <vt:lpstr>6_万里长城</vt:lpstr>
      <vt:lpstr>7_万里长城</vt:lpstr>
      <vt:lpstr>8_万里长城</vt:lpstr>
      <vt:lpstr>9_万里长城</vt:lpstr>
      <vt:lpstr>10_万里长城</vt:lpstr>
      <vt:lpstr>12_万里长城</vt:lpstr>
      <vt:lpstr>17_万里长城</vt:lpstr>
      <vt:lpstr>21_万里长城</vt:lpstr>
      <vt:lpstr>24_万里长城</vt:lpstr>
      <vt:lpstr>27_万里长城</vt:lpstr>
      <vt:lpstr>31_万里长城</vt:lpstr>
      <vt:lpstr>33_万里长城</vt:lpstr>
      <vt:lpstr>3_EECS150-template</vt:lpstr>
      <vt:lpstr>4_EECS150-template</vt:lpstr>
      <vt:lpstr>5_EECS150-template</vt:lpstr>
      <vt:lpstr>6_EECS150-template</vt:lpstr>
      <vt:lpstr>7_EECS150-template</vt:lpstr>
      <vt:lpstr>8_EECS150-template</vt:lpstr>
      <vt:lpstr>9_EECS150-template</vt:lpstr>
      <vt:lpstr>21_EECS150-template</vt:lpstr>
      <vt:lpstr>24_EECS150-template</vt:lpstr>
      <vt:lpstr>26_EECS150-template</vt:lpstr>
      <vt:lpstr>27_EECS150-template</vt:lpstr>
      <vt:lpstr>28_EECS150-template</vt:lpstr>
      <vt:lpstr>30_EECS150-template</vt:lpstr>
      <vt:lpstr>31_EECS150-template</vt:lpstr>
      <vt:lpstr>CorelDRAW.Graphic.13</vt:lpstr>
      <vt:lpstr>Equation.3</vt:lpstr>
      <vt:lpstr>Paintbrush Picture</vt:lpstr>
      <vt:lpstr>PowerPoint 演示文稿</vt:lpstr>
      <vt:lpstr>PowerPoint 演示文稿</vt:lpstr>
      <vt:lpstr>  Sec.7.1  Latches（锁存器）</vt:lpstr>
      <vt:lpstr>PowerPoint 演示文稿</vt:lpstr>
      <vt:lpstr>  Sec.7.1  Latches（锁存器）</vt:lpstr>
      <vt:lpstr>  Sec.7.1  Latches</vt:lpstr>
      <vt:lpstr>  Sec.7.1  Latches</vt:lpstr>
      <vt:lpstr>PowerPoint 演示文稿</vt:lpstr>
      <vt:lpstr>  Sec.7.1  Latches</vt:lpstr>
      <vt:lpstr>  Sec.7.1  Latches</vt:lpstr>
      <vt:lpstr>PowerPoint 演示文稿</vt:lpstr>
      <vt:lpstr>  Sec.7.1  Latches</vt:lpstr>
      <vt:lpstr>  Sec.7.2  边沿触发器</vt:lpstr>
      <vt:lpstr>  Sec.7.2  边沿触发器</vt:lpstr>
      <vt:lpstr>PowerPoint 演示文稿</vt:lpstr>
      <vt:lpstr>  Sec.7.2  边沿触发器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Sec.7.2  边沿触发器</vt:lpstr>
      <vt:lpstr>PowerPoint 演示文稿</vt:lpstr>
      <vt:lpstr>  Sec.7.2  边沿触发器</vt:lpstr>
      <vt:lpstr>  Sec.7.2  边沿触发器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Test Your Understanding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Thomas Dunn</dc:creator>
  <cp:lastModifiedBy>Joe Shawn</cp:lastModifiedBy>
  <cp:revision>177</cp:revision>
  <dcterms:created xsi:type="dcterms:W3CDTF">2014-07-03T13:16:00Z</dcterms:created>
  <dcterms:modified xsi:type="dcterms:W3CDTF">2024-04-11T23:25:19Z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35F05936121143B6B7ECA42A95322524</vt:lpwstr>
  </property>
  <property fmtid="{D5CDD505-2E9C-101B-9397-08002B2CF9AE}" pid="3" name="KSOProductBuildVer">
    <vt:lpwstr>2052-11.1.0.13703</vt:lpwstr>
  </property>
</Properties>
</file>